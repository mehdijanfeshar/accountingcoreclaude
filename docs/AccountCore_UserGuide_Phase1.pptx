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Lst>
  <p:notesMasterIdLst>
    <p:notesMasterId r:id="rId2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مقدمه" id="{942266ab-de65-ac5a-afde-f28ed3dcfb5b}">
          <p14:sldIdLst>
            <p14:sldId id="256"/>
            <p14:sldId id="257"/>
          </p14:sldIdLst>
        </p14:section>
        <p14:section name="مبانی حسابداری و شروع کار" id="{6d7f4a0e-f660-3a6b-cec5-9193a52d48f5}">
          <p14:sldIdLst>
            <p14:sldId id="258"/>
          </p14:sldIdLst>
        </p14:section>
        <p14:section name="مبانی و شروع کار" id="{9d97f990-cd7f-4efd-eb3c-c70f5dd69815}">
          <p14:sldIdLst>
            <p14:sldId id="259"/>
            <p14:sldId id="260"/>
            <p14:sldId id="261"/>
            <p14:sldId id="262"/>
            <p14:sldId id="263"/>
            <p14:sldId id="264"/>
            <p14:sldId id="265"/>
            <p14:sldId id="266"/>
            <p14:sldId id="267"/>
            <p14:sldId id="268"/>
            <p14:sldId id="269"/>
          </p14:sldIdLst>
        </p14:section>
        <p14:section name="اطلاعات پایه" id="{20d9ab55-f645-3019-8115-586726b9c371}">
          <p14:sldIdLst>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Lst>
        </p14:section>
        <p14:section name="صدور سند و عملیات حسابداری" id="{983d629e-052b-79cf-bb3a-00f8b2993782}">
          <p14:sldIdLst>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Lst>
        </p14:section>
        <p14:section name="بانک، چک و اعلامیه" id="{03171018-90ae-4471-6be3-1277b5ec5171}">
          <p14:sldIdLst>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Lst>
        </p14:section>
        <p14:section name="گزارش‌ها" id="{4df66303-16f4-6e1c-61e9-198b5070e1c8}">
          <p14:sldIdLst>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Lst>
        </p14:section>
        <p14:section name="تنخواه‌گردان" id="{dd7024b1-cb2f-9de0-1eaa-40bd18272487}">
          <p14:sldIdLst>
            <p14:sldId id="362"/>
            <p14:sldId id="363"/>
            <p14:sldId id="364"/>
            <p14:sldId id="365"/>
            <p14:sldId id="366"/>
            <p14:sldId id="367"/>
            <p14:sldId id="368"/>
            <p14:sldId id="369"/>
            <p14:sldId id="370"/>
            <p14:sldId id="371"/>
            <p14:sldId id="372"/>
            <p14:sldId id="373"/>
            <p14:sldId id="374"/>
            <p14:sldId id="375"/>
            <p14:sldId id="376"/>
            <p14:sldId id="377"/>
            <p14:sldId id="378"/>
            <p14:sldId id="379"/>
            <p14:sldId id="380"/>
            <p14:sldId id="381"/>
            <p14:sldId id="382"/>
            <p14:sldId id="383"/>
            <p14:sldId id="384"/>
          </p14:sldIdLst>
        </p14:section>
        <p14:section name="دریافت و پرداخت (خزانه‌داری)" id="{b83f5cf8-3422-9ab0-58c1-7c78011c6819}">
          <p14:sldIdLst>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Lst>
        </p14:section>
        <p14:section name="فروش" id="{bb21ce9d-875c-bf3b-61aa-17cc729bb8d7}">
          <p14:sldIdLst>
            <p14:sldId id="405"/>
            <p14:sldId id="406"/>
            <p14:sldId id="407"/>
            <p14:sldId id="408"/>
            <p14:sldId id="409"/>
            <p14:sldId id="410"/>
            <p14:sldId id="411"/>
            <p14:sldId id="412"/>
            <p14:sldId id="413"/>
            <p14:sldId id="414"/>
            <p14:sldId id="415"/>
            <p14:sldId id="416"/>
            <p14:sldId id="417"/>
            <p14:sldId id="418"/>
            <p14:sldId id="419"/>
            <p14:sldId id="420"/>
            <p14:sldId id="421"/>
            <p14:sldId id="422"/>
            <p14:sldId id="423"/>
          </p14:sldIdLst>
        </p14:section>
        <p14:section name="حسابداری تعهدی" id="{731a068c-0a88-18a4-c109-0104dd7d58a4}">
          <p14:sldIdLst>
            <p14:sldId id="424"/>
            <p14:sldId id="425"/>
            <p14:sldId id="426"/>
            <p14:sldId id="427"/>
            <p14:sldId id="428"/>
            <p14:sldId id="429"/>
            <p14:sldId id="430"/>
            <p14:sldId id="431"/>
            <p14:sldId id="432"/>
          </p14:sldIdLst>
        </p14:section>
        <p14:section name="حسابیار" id="{09497a98-f0cd-9792-a81d-cd0330aa11b8}">
          <p14:sldIdLst>
            <p14:sldId id="433"/>
            <p14:sldId id="434"/>
            <p14:sldId id="435"/>
            <p14:sldId id="436"/>
            <p14:sldId id="437"/>
            <p14:sldId id="438"/>
            <p14:sldId id="439"/>
            <p14:sldId id="440"/>
            <p14:sldId id="441"/>
            <p14:sldId id="442"/>
            <p14:sldId id="443"/>
            <p14:sldId id="444"/>
            <p14:sldId id="445"/>
            <p14:sldId id="446"/>
            <p14:sldId id="447"/>
            <p14:sldId id="448"/>
            <p14:sldId id="449"/>
          </p14:sldIdLst>
        </p14:section>
        <p14:section name="صورت‌های مالی" id="{c3bbf5e6-ba03-9542-b40d-8d7eb45107b5}">
          <p14:sldIdLst>
            <p14:sldId id="450"/>
            <p14:sldId id="451"/>
            <p14:sldId id="452"/>
            <p14:sldId id="453"/>
            <p14:sldId id="454"/>
            <p14:sldId id="455"/>
            <p14:sldId id="456"/>
            <p14:sldId id="457"/>
            <p14:sldId id="458"/>
            <p14:sldId id="459"/>
            <p14:sldId id="460"/>
            <p14:sldId id="461"/>
            <p14:sldId id="462"/>
            <p14:sldId id="463"/>
            <p14:sldId id="464"/>
            <p14:sldId id="465"/>
            <p14:sldId id="466"/>
            <p14:sldId id="467"/>
            <p14:sldId id="468"/>
            <p14:sldId id="469"/>
            <p14:sldId id="470"/>
            <p14:sldId id="471"/>
            <p14:sldId id="472"/>
            <p14:sldId id="473"/>
            <p14:sldId id="474"/>
            <p14:sldId id="475"/>
            <p14:sldId id="476"/>
            <p14:sldId id="477"/>
            <p14:sldId id="478"/>
            <p14:sldId id="479"/>
            <p14:sldId id="480"/>
            <p14:sldId id="481"/>
          </p14:sldIdLst>
        </p14:section>
        <p14:section name="پیوست" id="{d2f14ad4-57ba-642c-d7c6-4f559755f6d0}">
          <p14:sldIdLst>
            <p14:sldId id="482"/>
            <p14:sldId id="4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notesMaster" Target="notesMasters/notesMaster1.xml"/><Relationship Id="rId231" Type="http://schemas.openxmlformats.org/officeDocument/2006/relationships/presProps" Target="presProps.xml"/><Relationship Id="rId232" Type="http://schemas.openxmlformats.org/officeDocument/2006/relationships/viewProps" Target="viewProps.xml"/><Relationship Id="rId233" Type="http://schemas.openxmlformats.org/officeDocument/2006/relationships/theme" Target="theme/theme1.xml"/><Relationship Id="rId2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راهنما بر اساس فرم‌های واقعی نسخهٔ جاری برنامه تهیه شده است. اعداد، نام‌ها و اشخاص در تصاویر و مثال‌ها ساختگی‌اند.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راهنما برای کسی نوشته شده که هیچ آشنایی قبلی با حسابداری ندارد. اگر تازه‌کارید، از فصل ۱ شروع کنید؛ هر فصل بعدی اول مفهوم را با مثال عددی توضیح می‌دهد و بعد فرم‌ها را گام‌به‌گام نشان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حسابداری یعنی ثبت منظم هر رویدادی که پول یا دارایی سازمان را تغییر می‌دهد؛ مثل یک دفتر خاطرات مالی که هر خط آن جواب می‌دهد: چه شد، چه زمانی، چقدر و از کجا به کجا.
1. رویداد مالی: هر اتفاقی که پول یا بدهی یا دارایی را تغییر دهد: پرداخت قبض، دریافت حق بیمه، خرید ملزومات.
2. ثبت: هر رویداد در یک «سند حسابداری» نوشته می‌شود؛ بدون سند، رویداد در حساب‌ها دیده نمی‌شود.
3. گزارش: از جمع سندها، گزارش‌ها و صورت‌های مالی ساخته می‌شود: چقدر داریم، چقدر بدهکاریم، چقدر خرج کردیم.
مثال: سه رویداد مالی و اثرشان: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همهٔ حساب‌ها در پنج دستهٔ ساده جا می‌گیرند. دانستن دستهٔ هر حساب کمک می‌کند بفهمید با هر رویداد زیاد می‌شود یا کم.
1. دارایی: چیزهایی که سازمان دارد یا طلبکار است: صندوق، بانک، طلب از کارفرما، ساختمان.
2. بدهی: چیزهایی که سازمان بدهکار است: بدهی به پیمانکار، مالیات پرداختنی.
3. خالص دارایی‌ها: آنچه پس از کم کردن بدهی‌ها از دارایی‌ها باقی می‌ماند.
4. درآمد و هزینه: درآمد مثل حق بیمه یا فروش؛ هزینه مثل حقوق، برق، اجاره.
مثال: همیشه برقرار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هر رویداد دست‌کم دو حساب را تغییر می‌دهد. یکی در ستون «بدهکار» و دیگری در ستون «بستانکار» نوشته می‌شود و جمع دو ستون همیشه برابر است.
1. بدهکار: دارایی یا هزینه زیاد شده است؛ یا بدهی کم شده است.
2. بستانکار: دارایی کم شده است؛ یا بدهی، درآمد یا خالص دارایی‌ها زیاد شده است.
3. تراز: جمع بدهکار = جمع بستانکار. سامانه سندی را که تراز نباشد قبول نمی‌کند.
مثال: بپرسید «پول یا ارزش به کجا رفت؟» آنجا بدهکار است؛ «از کجا آمد؟» آنجا بستانکار.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هر حساب یک کد عددی دارد که مثل آدرس پستی از کل به جزء می‌رود. کد را لازم نیست حفظ کنید؛ سامانه با جستجوی نام هم پیدا می‌کند، ولی دانستن ساختارش کار را راحت می‌کند.
1. گروه (۲ رقم): بزرگ‌ترین دسته؛ مثل 11 «موجودی نقد».
2. کل (۴ رقم): زیرمجموعهٔ گروه؛ مثل 1102 «بانک‌ها».
3. معین (۶ رقم): حسابی که در سند استفاده می‌شود؛ مثل 110201 «بانک‌ها — حساب جاری».
4. تفصیلی: جزئیات زیر معین؛ مثلاً کدام حساب بانکی یا کدام شرکت.
مثال: آدرس کامل حساب جاری بانک ملی: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سه مفهوم دیگر که از روز اول با آن‌ها سروکار دارید.
1. سال مالی: حساب‌ها سال‌به‌سال جدا نگه داشته می‌شوند (۱ فروردین تا ۲۹ اسفند). اول سال سند افتتاحیه و آخر سال سند اختتامیه زده می‌شود.
2. واحد: هر اداره کل و شعبه حساب‌های خودش را دارد؛ ستاد مرکزی می‌تواند همه را ببیند.
3. وضعیت سند: سند از «یادداشت» شروع می‌شود، «موقت» می‌شود و پس از بررسی «دائم» (قطعی) می‌شود؛ سند دائم دیگر تغییر نمی‌کند.
نکته: اسنادی که سامانه خودکار می‌سازد (خزانه، تنخواه، فروش، حسابیار) همه «موقت»‌اند و حسابدار آن‌ها را در کارتابل اسناد قطعی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رویداد — قبض، فاکتور، دریافت
2. سند — بدهکار و بستانکار
3. بررسی و تأیید — موقت ← دائم
4. دفترها — روزنامه و دفتر کل
5. تراز آزمایشی — کنترل جمع‌ها
6. صورتحساب ماه — بستن ماه
فصل‌های بعدی این راهنما همین مسیر را دنبال می‌کنند: اطلاعات پایه ← صدور سند ← گزارش‌ها، و سپس ماژول‌های تخصصی.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ورود: با دکمهٔ «ورود با حساب سازمانی» از سامانهٔ احراز هویت سازمان وارد شوید.
2. سال و واحد: در نوار بالا روی نام واحد و سال کلیک کنید و سال مالی و واحدی را که می‌خواهید انتخاب کنید.
3. اثر انتخاب: همهٔ فرم‌ها و گزارش‌ها فقط دادهٔ همین واحد و سال را نشان می‌دهند.
4. ستاد مرکزی: کاربر ستاد می‌تواند به جای هر واحد عمل کند و ترکیبی زیرمجموعه‌ها را ببیند.
5. نقش و منو: منوها بر اساس نقش شما نمایش داده می‌شوند؛ مدیر ستاد آن‌ها را در «دسترسی نقش‌ها» تعیین می‌کند.
مثال: پیش از هر کاری سال و واحد را نگاه کنید؛ بیشتر پیام‌های «یافت نشد» به‌خاطر انتخاب واحد یا سال اشتباه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زبانه: هر گزینهٔ منو در یک زبانهٔ جدا باز می‌شود (حداکثر ۱۰).
2. بستن: × یا کلیک وسط ماوس؛ برای فرم ذخیره‌نشده هشدار می‌دهد.
3. کلیک راست: نسخهٔ دیگر، نمایش کنار تب فعال، بستن بقیه یا همه.
4. کنار هم: دو فرم هم‌زمان؛ خط وسط را بکشید.
5. لایسنس: نوار آبی بالای صفحه یعنی لایسنس نزدیک انقضاست.
نکته: زبانه‌های پشتی باز می‌مانند و فرم نیمه‌پر از دست نمی‌رود؛ بعد از تازه‌سازی (F5) فقط فهرست زبانه‌ها برمی‌گردد.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مرتب‌سازی: روی سرستون کلیک کنید: صعودی ← نزولی ← ترتیب اصلی (فقط ردیف‌های همین صفحه).
2. ستون‌ها: دکمهٔ «ستون‌ها» فهرست تیک‌دار ستون‌ها را باز می‌کند؛ انتخاب شما به خاطر سپرده می‌شود.
3. نمایش همه: «نمایش همهٔ ستون‌ها» تنظیم را برمی‌گرداند؛ ستون «عملیات» همیشه می‌ماند.
4. تعداد ردیف: پایین جدول تعداد ردیف هر صفحه را عوض کنید و بین صفحه‌ها بروید.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سال مالی — سالی که سندها در آن ثبت می‌شوند
2. کدینگ — گروه ← کل ← معین
3. تفصیلی — گروه‌ها، سطوح و اقلام تفصیلی
4. ارتباط معین و تفصیلی — هر معین کدام تفصیلی را بخواهد
5. بانک، ویژگی، کارگاه — اطلاعات تکمیلی حساب‌ها
6. دسترسی‌ها و رابط‌ها — چه کسی چه چیزی ببیند؛ رابط پایان سال
این فصل به همین ترتیب جلو می‌رود. بیشتر این کارها یک بار و معمولاً توسط مدیر مالی ستاد انجام می‌شود؛ کاربر عادی بیشتر از آن‌ها «استفاده»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هر مبلغی که جابه‌جا می‌شود باید در «حسابی» نوشته شود. کدینگ فهرست مرتب همهٔ حساب‌هاست، در سه طبقه؛ درست مثل کمد بایگانی: کشو، پوشه، برگه.
1. گروه = کشو (۲ رقم): دسته‌های بزرگ مثل «موجودی نقد» یا «هزینه‌های اداری و عمومی».
2. کل = پوشه (۴ رقم): داخل هر گروه؛ دو رقم اولش کد گروه است، مثل ۱۱۰۲ «بانک‌ها» زیر ۱۱.
3. معین = برگه (۶ رقم): حسابی که در سند انتخاب می‌کنید؛ چهار رقم اولش کد کل است.
4. تفصیلی = نام روی برگه: دقیقاً «کدام» بانک، شخص یا مرکز هزینه؛ جدا تعریف و به معین وصل می‌شود.
مثال: وقتی ستاد مرکزی از حساب جاری بانک ملی پول می‌پردازد، این مسیر انتخاب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سازمان به ده‌ها پیمانکار بدهکار است. اگر برای هر کدام یک معین بسازیم، کدینگ شلوغ می‌شود. پس یک معین «پرداختنی‌های تجاری (پیمانکاران)» داریم و نام هر شرکت را «تفصیلی» آن می‌گذاریم.
1. گروه تفصیلی: دسته‌ای از تفصیلی‌های هم‌جنس؛ مثل «اشخاص و شرکت‌ها» یا «مراکز هزینه».
2. سطح تفصیلی: جایگاه پرسش در فرم سند: سطح ۱ «طرف حساب»، سطح ۲ «مرکز هزینه»، …
3. تفصیلی: خود قلم: «۵۰۰۱۳ — شرکت تأسیسات نوین ساختمان».
4. ارتباط معین: می‌گوید این معین در هر سطح، تفصیلی را از کدام گروه بخواهد.
مثال: بدهی ما به پیمانکاران، همه روی معین 310101 و جدا به تفکیک تفصیلی: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سال مالی یعنی چه؟: دورهٔ یک‌ساله (فروردین تا اسفند) که سندها در آن شماره می‌خورند و در پایان بسته می‌شوند.
2. وضعیت را بخوانید: بالای صفحه سال پیش‌فرض فعلی، سال قابل ایجاد و تعداد حساب‌های بانکی دیده می‌شود.
3. ایجاد سال: دکمهٔ «ایجاد سال مالی ۱۴۰۶» را بزنید و پیام تأیید را قبول کنید.
4. چه اتفاقی می‌افتد؟: سال تازه پیش‌فرض می‌شود و برای هر حساب بانکی یک دسته‌چک صوری (اعلامیهٔ صوری) ساخته می‌شود.
نکته: این صفحه فقط برای ستاد مرکزی است و هر سال یک بار در فروردین استفاده می‌شود. اگر شرایط فراهم نباشد، دلیلش در کادر زرد نوشته می‌شود و دکمه غیرفعال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کاشی‌های بالا: تعداد حساب‌های گروه، کل و معین را نشان می‌دهند؛ با کلیک روی هر کاشی تب همان سطح باز می‌شود.
2. تب «گروه»: سطح اول کدینگ؛ گروه حساب والد ندارد و معمولاً ۲ رقم است.
3. افزودن گروه: دکمهٔ «افزودن گروه» را بزنید، کد و عنوان را بنویسید و «ذخیره» کنید.
4. جستجو و ویرایش: با کادر «جستجو در کد یا عنوان» پیدا کنید؛ مداد = ویرایش، سطل = حذف.
مثال: گروه 82 «هزینه‌های اداری و عمومی» را می‌سازیم تا بعداً هزینهٔ حقوق، آب و برق و اجاره زیر آن قرار بگیرد.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کل (۴ رقم): در تب «کل» بزنید «افزودن کل» و یک حساب گروه را به‌عنوان والد انتخاب کنید.
2. معین (۶ رقم): در تب «معین» بزنید «افزودن معین» و والدش را از بین حساب‌های کل برگزینید.
3. والد را با «انتخاب» بگیرید: پنجرهٔ انتخاب فقط حساب‌های سطح بالاتر را نشان می‌دهد.
مثال: کل 1102 «بانک‌ها» زیر گروه 11؛ سپس معین 110201 «بانک‌ها — حساب جاری» زیر 1102.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کد و عنوان: «کد حساب» (معمولاً ۶ رقم) و «عنوان حساب» را بنویسید؛ کد تکراری پذیرفته نمی‌شود.
2. ماهیت حساب: بدهکار = معمولاً زیاد شدنش در ستون بدهکار است (دارایی، هزینه)؛ بستانکار = بدهی و درآمد.
3. موقت یا دائم: دائم: مانده به سال بعد می‌رود (بانک). موقت: پایان سال بسته می‌شود (درآمد، هزینه).
4. کنترل خلاف ماهیت: اگر مانده برخلاف ماهیت شد: «کنترل نشود»، «اخطار دهد» یا «ثبت نشود».
نکته: بدهکار و بستانکار دو ستون هر سند هستند: پولی که «به» حساب می‌آید و پولی که «از» آن می‌رود. بانک ما ماهیت بدهکار دارد، چون موجودی‌اش در ستون بدهکار جمع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فهرست گروه‌ها: هر گروه یک «کد گروه»، «عنوان گروه» و «نوع شخص» (حقیقی، حقوقی، سایر) دارد.
2. افزودن گروه: «افزودن گروه تفصیلی» را بزنید، کد و عنوان را بنویسید و نوع شخص را انتخاب کنید.
3. کاربرد: گروه‌ها بعداً به معین‌ها وصل می‌شوند تا هر معین فقط تفصیلی‌های مناسب را نشان دهد.
مثال: گروه 02 «اشخاص و شرکت‌ها» با نوع شخص «حقوقی» برای پیمانکاران و کارفرمایان؛ گروه 05 «کارکنان» با نوع «حقیقی».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سطح چیست؟: شمارهٔ جایگاه تفصیلی در فرم سند؛ یک معین می‌تواند تا ۷ سطح داشته باشد.
2. کد سطح: عددی از ۱ تا ۷؛ هر کد باید یکتا باشد وگرنه برچسب «تکراری» می‌خورد.
3. نام سطح: همان برچسبی که کاربر در فرم صدور سند بالای فیلد تفصیلی می‌بیند.
مثال: سطح ۱ «طرف حساب»، سطح ۲ «مرکز هزینه»، سطح ۳ «پروژه». در سند پرداخت به پیمانکار، این سه پرسش به ترتیب پرسیده می‌شوند.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افزودن تفصیلی: در تب «تفصیلی» دکمهٔ «افزودن تفصیلی» را بزنید (یا مداد کنار یک ردیف را برای ویرایش).
2. کد و عنوان: «کد تفصیلی» و «عنوان تفصیلی» الزامی‌اند؛ «توضیحات» اختیاری است.
3. گروه‌های تفصیلی: یک یا چند گروه انتخاب کنید؛ تفصیلی از طریق همین گروه‌ها در سند پیدا می‌شود.
4. دامنهٔ دیده‌شدن: تعیین می‌کند واحدهای دیگر (بیمه، درمان یا همه) هم این تفصیلی را ببینند یا نه.
مثال: تفصیلی 50013 «شرکت تأسیسات نوین ساختمان» در گروه 02؛ حالا هر سندی که معینش به گروه 02 وصل است، این شرکت را پیشنهاد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انتخاب معین: دکمهٔ «انتخاب معین» را بزنید و معین را جستجو و «انتخاب» کنید.
2. افزودن ارتباط: با «افزودن ارتباط» یک سطح تفصیلی و یک گروه تفصیلی را کنار هم بگذارید.
3. نتیجه در سند: هر سطحی که اینجا تعریف شود، در فرم صدور سند برای آن معین الزامی می‌شود.
مثال: معین 310101 پیمانکاران: سطح ۱ ← «اشخاص و شرکت‌ها»، سطح ۲ ← «مراکز هزینه»، سطح ۳ ← «پروژه‌ها». ثبت‌کنندهٔ سند باید هر سه را پر 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گاهی مبلغ و تفصیلی کافی نیست؛ مثلاً برای هزینهٔ برق می‌خواهیم بدانیم کدام اشتراک و کدام دوره. سامانه دو ابزار جدا برای این کار دارد.
1. ویژگی: به یک تفصیلی وصل می‌شود؛ اجزای «ثابت» یک بار ثبت و اجزای «متغیر» روی ردیف سند پر می‌شوند.
2. اجزای ثابت: مثل «شماره اشتراک» یا «شماره پلاک» که تغییر نمی‌کند.
3. اجزای متغیر: مثل «دورهٔ قبض» یا «کارکرد (کیلومتر)» که در هر سند فرق می‌کند.
4. حساب شناسه‌دار: روی خود معین تعریف می‌شود: تا ۱۰ جعبهٔ عدد یا تاریخ که در سند باید پر شود.
مثال: گروه ویژگی «قبوض برق ساختمان‌ها» به تفصیلی «ادارهٔ پشتیبانی» وصل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در تب «گروه ویژگی» با «افزودن گروه ویژگی» کد، شرح و تفصیلی مربوط را تعیین کنید.
2. در تب «اجزای ویژگی» گروه را انتخاب و با «افزودن جزء» نوع (ثابت/متغیر)، نوع مقدار و طول را بدهید.
3. در تب «ویژگی‌های ثبت‌شده» با «ثبت ویژگی» مقادیر ثابت هر مورد را وارد کنید (مثلاً هر اشتراک برق).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افزودن: «افزودن حساب شناسه‌دار» را بزنید و با «انتخاب حساب معین» معین را برگزینید.
2. شماره جعبه و طول: هر شناسه یک «شماره جعبه» (۰ تا ۹) و «طول شناسه» دارد.
3. نوع مقدار و کنترل: نوع: عدد یا تاریخ. کنترل: «غیرصفر» یا «تاریخ» برای جلوگیری از مقدار نادرست.
4. فیلترها: با سال مالی، «از معین/تا معین»، نوع مقدار و جمع‌پذیری فهرست را محدود کنید.
مثال: معین 310201 «مالیات تکلیفی پرداختنی»: جعبهٔ ۱ = شمارهٔ قرارداد (عدد، ۱۰ رقم)، جعبهٔ ۲ = تاریخ قرارداد. هر ردیف سند روی این معین این دو را می‌خواهد.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افزودن حساب: «افزودن حساب بانکی»؛ شماره حساب و صاحب حساب الزامی‌اند، کارت و شبا اختیاری.
2. اتصال به کدینگ: معین حساب (مثلاً 110201) را انتخاب کنید؛ سطح‌های تفصیلی آن خودکار ظاهر می‌شود.
3. تفصیلی حساب: تفصیلی همین حساب (مثلاً «بانک ملی — جاری») را برگزینید.
4. دسته‌چک: آیکن دفترچه در هر ردیف، دسته‌چک‌های همان حساب را باز می‌کند (فصل چک).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کارگاه چیست؟: محل کار بیمه‌شدگانِ یک کارفرما؛ هر کارگاه کد جدا دارد و ممکن است یک کارفرما چند کارگاه داشته باشد.
2. اطلاعات اصلی: «کد کارگاه» و «نام کارگاه» را بنویسید و با کلید «کارگاه فعال است» وضعیت را تعیین کنید.
3. ارتباط با سازمان: حساب معین (مثلاً مطالبات حق بیمه) و تفصیلی کارفرما را انتخاب کنید.
4. واحد سازمانی: با «انتخاب واحد» اداره یا شعبه‌ای را که کارگاه زیر نظر آن است برگزینید.
مثال: کارگاه 1023456789 «شرکت فولاد البرز — کارخانهٔ کرج»، معین 130101، تفصیلی کارفرما «شرکت فولاد البرز»، واحد «۲۰۰۰ — اداره کل تهران».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هدف: تعیین می‌کند هر معین را کدام «نوع واحد» (مثل بیمارستان یا اداره کل) در سند ببیند.
2. دسترسی جدید: حالت «مجاز کردن» یا «محدود کردن (ثبت سیستمی)»، بازهٔ تاریخ، معین‌ها و نوع واحدها را تیک بزنید.
3. سه وضعیت: مجاز: ثبت دستی آزاد. فقط سیستمی: فقط سندهای خودکار. غیرمجاز: در لیست سیاه.
4. عملیات ردیف: غیرفعال/فعال کردن، «تکثیر» برای ساخت ردیف مشابه، و حذف.
نکته: مثال: معین 610101 «درآمد حق بیمهٔ کارفرما» برای شعبه‌ها «فقط سیستمی» است تا فقط سامانهٔ وصول حق بیمه روی آن سند بزند، نه کاربر.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انتخاب نقش: روی نام نقش (حسابدار، مدیر مالی، …) کلیک کنید؛ «نقش تازه» نقش دیگری اضافه می‌کند.
2. سه سطح: برای هر منو: «بدون دسترسی»، «مشاهده» یا «ثبت و تغییر».
3. یکجا برای هر بخش: دکمه‌های «همه: …» در سطر سرگروه، همهٔ منوهای آن بخش را یکجا تنظیم می‌کنند.
4. تب‌ها و قابلیت‌ها: منوهای دارای تب (مثل کدینگ) باز می‌شوند تا هر تب را جدا تنظیم کنید؛ سپس «ذخیره».
مثال: نقش «حسابدار»: کدینگ را فقط «مشاهده» کند، ولی گروه تفصیلی و صدور سند را «ثبت و تغییر». این صفحه فقط برای مدیر ستاد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وضعیت: «فعال»، «مهلت ارفاقی» (منقضی شده ولی هنوز کار می‌کند) یا «فقط‌خواندنی».
2. تاریخ انقضا: تاریخ انقضا و «روز باقی‌مانده» را ببینید تا تمدید را به‌موقع انجام دهید.
3. تمدید: فایل لایسنس تازه (.lic) را با «بارگذاری فایل لایسنس» بفرستید؛ پیام «لایسنس جدید ثبت شد.» می‌آید.
نکته: پس از انقضا و پایان مهلت، سامانه فقط‌خواندنی می‌شود: گزارش‌ها دیده می‌شوند ولی سند تازه ثبت نمی‌شود. بارگذاری فقط برای مدیر ستاد مجاز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هر سند باید «تراز» باشد: جمع بدهکار = جمع بستانکار. بعضی سندها را سامانه خودش می‌سازد و یک طرفشان معلوم نیست؛ حساب رابط همان طرف دوم است که سند را تراز می‌کند.
1. رابط اعلامیه: وقتی ستاد به اداره کل پول «اعلام» می‌کند، سند هر طرف با حساب رابط تراز می‌شود.
2. رابط افتتاحیه/اختتامیه: سند پایان سال مانده‌ها را می‌بندد و سند اول سال آن‌ها را باز می‌کند.
3. رابط اختتامیه (۶، ۷، ۸): درآمدها و هزینه‌ها (حساب‌های موقت) در پایان سال روی این حساب بسته می‌شوند.
4. حساب‌های مستثنا: حساب‌هایی که برای یک نوع واحد نه بسته و نه به سال بعد منتقل می‌شوند.
مثال: اداره کل تهران امسال ۸۲۰ میلیون ریال هزینهٔ حقوق داشته است. سند اختتامیه: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رابط اعلامیه: «نوع اعلامیه» (صادره، رسیده، صادرهٔ درآمد) و «حساب رابط» را انتخاب و «افزودن» کنید.
2. افتتاحیه/اختتامیه: برای هر نوع یک معین «فقط سیستمی» کافی است تا کسی دستی روی آن سند نزند.
3. رابط اختتامیه: سال، نوع واحد، حساب‌ها (گروه، کل یا معین) و حساب رابط را تعیین کنید.
4. وضعیت: اگر برای یک نوع چند حساب باشد، فقط اولی به ترتیب کد «در حال استفاده»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«کد حساب تکراری است.»: این کد قبلاً در کدینگ هست. با جستجو پیدایش کنید یا کد دیگری بدهید.
حساب کل/معین در ستون والد «تعیین‌نشده» است: حساب را ویرایش کنید و با دکمهٔ «انتخاب» والد درست را برگزینید.
در سند، تفصیلی مورد نظر پیدا نمی‌شود: تفصیلی را در گروه درست بگذارید و ببینید آن گروه به معین وصل شده باشد (تب ارتباط).
برچسب «تکراری» کنار کد سطح: دو سطح یک کد دارند؛ یکی را ویرایش کنید. حداکثر ۷ سطح مجاز است.
«ابتدا در تب «گروه ویژگی» یک گروه بسازید.»: ترتیب را رعایت کنید: گروه ویژگی ← اجزا ← ثبت ویژگی.
«این مقداردهی در سند استفاده شده است و قابل ویرایش یا حذف نیست.»: ویژگی در سند به کار رفته؛ برای مقدار تازه یک ویژگی جدید ثبت کنید.
معین در فهرست سند یک واحد دیده نمی‌شود: در «دسترسی کدینگ حسابداری» برای نوع آن واحد وضعیت «مجاز» و تاریخ معتبر بدهید.
دکمهٔ «ایجاد سال مالی» غیرفعال است: دلیل در کادر زرد نوشته شده؛ معمولاً فقط در فروردین و فقط برای ستاد ممکن است.
«این صفحه فقط برای «مدیر ستاد» است.»: دسترسی نقش‌ها، لایسنس و سال مالی فقط برای مدیر ستاد باز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هر بار که پولی جابه‌جا می‌شود یا تعهدی به وجود می‌آید (پرداخت قبض، خرید نسیه، دریافت حق بیمه)، حسابدار آن را در یک «سند» ثبت می‌کند. سند، شناسنامهٔ آن رویداد مالی است.
1. سرسند: بالای سند: شمارهٔ سند، تاریخ، سال مالی و «شرح سند» که می‌گوید این سند دربارهٔ چیست.
2. ردیف‌ها: زیر سرسند: هر ردیف یک حساب را نام می‌برد و مبلغی را در ستون بدهکار یا بستانکار آن می‌نویسد.
3. حداقل دو ردیف: هر رویداد دست‌کم دو طرف دارد: جایی که پول به آن رفت و جایی که پول از آن آمد.
مثال: سرسند: ۱۴۰۵/۰۸/۰۸ — «خرید نوشت‌افزار از مؤسسهٔ چاپ و نشر آریا (نسیه)»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در حسابداری هر مبلغ دو بار نوشته می‌شود: یک بار در طرف «بدهکار» و یک بار در طرف «بستانکار». به همین دلیل جمع بدهکار هر سند باید دقیقاً با جمع بستانکارش برابر باشد؛ به این حالت «تراز» می‌گویند.
1. بدهکار: حسابی که چیزی گرفته: هزینه‌ای که انجام شد، یا پولی که به بانک واریز شد.
2. بستانکار: حسابی که چیزی داده: بانکی که از آن پول برداشتیم، یا پیمانکاری که از ما طلبکار شد.
3. تراز: اگر جمع دو طرف برابر نباشد، یعنی یک مبلغ جا افتاده یا اشتباه تایپ شده است.
نکته: سیستم جمع بدهکار، جمع بستانکار و «اختلاف» را همیشه پایین فرم نشان می‌دهد؛ برچسب سبز «تراز» یعنی سند درست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حساب‌ها درختی‌اند: گروه ← کل ← معین. در سند فقط «معین» انتخاب می‌شود. سپس سیستم بسته به معین، جزئیات بیشتری به نام «تفصیلی» می‌خواهد تا معلوم شود دقیقاً برای چه کسی یا کجا بوده است.
1. معین: نوع حساب، مثلاً «۸۲۰۳۰۱ — هزینهٔ آب، برق و گاز» یا «۳۱۰۱۰۱ — پرداختنی‌ها (پیمانکاران)».
2. تفصیلی: جزء دقیق‌تر: کدام مرکز هزینه؟ کدام پیمانکار؟ کدام حساب بانکی؟ با انتخاب معین خودش ظاهر می‌شود.
3. شناسه و ویژگی: برخی حساب‌ها یک کد اضافه (مثل شمارهٔ قرارداد) یا اطلاعات تکمیلی می‌خواهند؛ فرم خودش آن را می‌پرسد.
مثال: معین ۸۲۰۴۰۱ «هزینهٔ تعمیر و نگهداری» ← تفصیلی «مرکز هزینه: ۱۰۰۰۲ ادارهٔ پشتیبانی». معین ۳۱۰۱۰۱ «پیمانکاران» ← تفصیلی «۵۰۰۱۳ شرکت تأسیسات نوین ساختمان».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یادداشت — پیش‌نویس؛ قابل ویرایش و حذف. حتی ناتراز هم ذخیره می‌شود.
2. موقت — سند کامل و تراز؛ هنوز قابل ویرایش است.
3. بررسی‌شده — رسیدگی شده؛ دیگر قابل ویرایش نیست.
4. تأیید دائم — با «صورتحساب ماه» قطعی می‌شود؛ هیچ تغییری ممکن نیست.
سند تازه همیشه «یادداشت» است. جابه‌جایی بین وضعیت‌ها از «کارتابل اسناد» انجام می‌شود. برای خروج از یادداشت، سند باید تراز باشد. سند «تأیید دائم» را فقط با «معکوس سند» می‌توان خنثی کرد.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در پایان هر ماه، ستاد مرکزی اسناد «بررسی‌شدهٔ» واحدها را یکجا «تأیید دائم» می‌کند. به این کار «صورتحساب ماه» می‌گویند؛ یعنی دفاتر آن ماه بسته و قطعی شد.
1. شرط صورتحساب: واحدی که هنوز سند یادداشت/موقت یا اعلامیهٔ ارسال‌نشده دارد، صورتحساب نمی‌شود و دلیلش ثبت می‌شود.
2. چرا رمز ستاد؟: باز کردن ماهِ بسته یعنی دست بردن در دفاتر قطعی؛ پس فقط با رمز ۸ رقمیِ یک‌بارمصرف ستاد ممکن است.
3. برگشت: با رمز، اسناد تأیید دائم آن ماه به «بررسی‌شده» برمی‌گردند تا اصلاح شوند.
مثال: ادارهٔ کل فارس در صورتحساب مهر یک اعلامیهٔ ارسال‌نشده دارد ← «صورتحساب نشد». پس از ارسال اعلامیه، ستاد دوباره صورتحساب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کاشی‌ها: تعداد اسناد هر وضعیت در سال جاری. با کلیک روی هر کاشی، فقط اسناد آن وضعیت دیده می‌شود.
2. تب‌ها: همه، یادداشت، موقت، بررسی‌شده، تأیید دائم. ویرایش و حذف فقط در تب یک وضعیت مشخص فعال است.
3. فیلترها: سال مالی، از/تا شمارهٔ سند، از/تا تاریخ سند و نوع سند؛ روی همهٔ اسناد اعمال می‌شود.
4. ستون‌های مبلغ: جمع بدهکار و بستانکار هر سند؛ اگر برابر نباشند به رنگ هشدار دیده می‌شوند.
5. بالای صفحه: خروجی اکسل، چاپ / PDF، مرتب‌سازی اسناد، سندهای حذف‌شده و «صدور سند جدید».
مثال: سند ۱۸۹۴ (واریز حق بیمهٔ متفرقه) فقط جمع بدهکار دارد؛ یعنی ناتراز است و فعلاً فقط به‌صورت یادداشت می‌ماند.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تب وضعیت: تب مورد نظر (مثلاً «موقت») را باز کنید.
2. انتخاب گروهی: تیک اسنادی را که رسیدگی کرده‌اید بزنید؛ نوار «… سند انتخاب شده — انتقال به:» ظاهر می‌شود.
3. مقصد: دکمهٔ وضعیت مقصد را بزنید، مثلاً «بررسی‌شده». برای یک سند تنها از دکمهٔ «تغییر وضعیت سند» هم می‌شود.
4. ستون عملیات: نمایش، ویرایش، حذف، معکوس سند و تغییر وضعیت؛ برای اسناد قفل‌شده فقط نمایش و معکوس.
مثال: دو سند موقت ۱۸۹۰ و ۱۸۸۸ را تیک بزنید و «بررسی‌شده» را بزنید؛ هر دو به تب بررسی‌شده می‌روند.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شمارهٔ اسناد یک بازه را به ترتیب تاریخ از نو می‌زند. اگر حتی یک سندِ بازه بررسی‌شده یا تأیید دائم باشد، کل کار رد می‌شود.
2. سند حذف‌شده با «بازگردانی» در وضعیت یادداشت برمی‌گردد؛ اگر شماره‌اش گرفته شده باشد، شمارهٔ تازه می‌گیرد.
3. سند جدیدی در وضعیت یادداشت می‌سازد که بدهکار و بستانکارش جابه‌جاست؛ راه خنثی کردن سند تأیید دائم.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شماره سند: خودکار پیشنهاد می‌شود (آخرین شماره + ۱)؛ در صورت نیاز قابل تغییر است.
2. تاریخ سند: پیش‌فرض امروز است؛ تاریخ واقعی رویداد را بنویسید.
3. سال مالی و شرح: سال از نوار بالا می‌آید. در «شرح سند» خلاصهٔ رویداد را بنویسید؛ «پیوست» اختیاری است.
4. ورود ردیف: روی «حساب معین» کلیک کنید تا پنجرهٔ انتخاب حساب باز شود؛ با کد یا نام جستجو کنید و «انتخاب» بزنید.
نکته: کلید Enter شما را به فیلد بعدی می‌برد؛ ذخیره فقط با دکمهٔ «ذخیره سند» یا Ctrl+Enter انجام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تفصیلی: پس از انتخاب معین، فیلدهای تفصیلی لازم ظاهر می‌شوند (مثلاً «اشخاص و شرکت‌ها»). همه الزامی‌اند.
2. مبلغ: شرح ردیف را بنویسید و مبلغ را فقط در یکی از دو ستون بدهکار یا بستانکار وارد کنید.
3. ثبت ردیف: «ثبت ردیف» (یا Enter در مبلغ) ردیف را کنترل و به جدول «ردیف‌های ثبت‌شده» می‌برد.
4. تراز و ذخیره: پایین فرم جمع‌ها و «اختلاف» را ببینید. «ذخیره سند» آن را در وضعیت یادداشت ثبت می‌کند.
مثال: ردیف ۱: ۸۲۰۲۰۱ نوشت‌افزار، مرکز هزینه معاونت مالی، بدهکار ۱۲,۸۰۰,۰۰۰. ردیف ۲: ۳۱۰۱۰۱، مؤسسهٔ چاپ آریا، بستانکار همان مبلغ ← «تراز».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باز کردن: در کارتابل، تب یادداشت یا موقت، دکمهٔ مداد «ویرایش سند» را بزنید.
2. رفتن به ردیف: در جدول پایین، مداد هر ردیف آن را در کادر «ورود ردیف» باز می‌کند (کادر لحظه‌ای رنگی می‌شود).
3. شناسه: ستون «چک / فیش / شناسه» اطلاعات تکمیلی ردیف را نشان می‌دهد؛ مثلاً شناسهٔ قرارداد پیمانکار.
4. ذخیره تغییرات: همهٔ تغییرها با هم ذخیره می‌شوند؛ یا همه ثبت می‌شوند یا هیچ‌کدام.
مثال: سند ۱۸۹۱ تعمیر آسانسور: ردیف ۲ (پیمانکار، ۸۳,۱۲۵,۰۰۰) با شناسهٔ ۴۰۵۱۲۷ باز شده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نمایش: دکمهٔ چشم در کارتابل، سند را در هر وضعیتی فقط برای خواندن باز می‌کند.
2. هشدار قفل: برای سند بررسی‌شده یا تأیید دائم، پیام می‌دهد که قابل ویرایش یا حذف نیست.
3. جزئیات ردیف: زیر هر ردیف، تفصیلی‌ها، شناسه، فیش و چک آن نوشته می‌شود.
4. تراز: پایین جدول: جمع‌ها و برچسب «سند متوازن است» یا «سند متوازن نیست».
مثال: سند ۱۸۸۳ (قبض برق شهریور) بررسی‌شده است؛ ردیف بانک، شمارهٔ چک ۷۴۲۱۰۵۳ و «در وجه» را نشان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چاپ سند: در صفحهٔ نمایش، «چاپ سند» پنجرهٔ چاپ مرورگر را باز می‌کند؛ می‌توانید PDF هم بگیرید.
2. برگهٔ A4: سرسند، ردیف‌ها با جزئیات تفصیلی و چک، و جمع ردیف‌ها روی کاغذ می‌آید.
3. امضاها: پایین برگه جای امضای تنظیم‌کننده، رسیدگی‌کننده و تأییدکننده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فهرست: اسنادی که سیستم‌هایی مثل حقوق و دستمزد برای واحد فرستاده‌اند، با وضعیت «منتظر دریافت».
2. بررسی و دریافت: ردیف‌ها و ستون «کنترل» دیده می‌شود؛ ردیف خطادار باید در سیستم فرستنده یا کدینگ اصلاح شود.
3. دریافت و ساخت سند: یک سند یادداشت می‌سازد؛ بعد مثل بقیهٔ اسناد در کارتابل جلو می‌رود.
4. نمایش دریافت‌شده‌ها: با این تیک، اسناد قبلی هم با شمارهٔ سند ساخته‌شده دیده می‌شوند.
مثال: سند حقوق آبان (۶ ردیف، ۴,۹۶۲,۰۰۰,۰۰۰ ریال) همه «درست» است؛ «دریافت و ساخت سند» سند ۱۸۹۶ را می‌سازد.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دوره: سال مالی و ماه را انتخاب کنید.
2. دامنه: «گروه واحد» (درمانی، بیمه‌ای، ستادی یا همهٔ واحدها) یا «یک واحد» را انتخاب کنید.
3. صورتحساب: پس از تأیید، اسناد بررسی‌شده «تأیید دائم» می‌شوند و خلاصهٔ نتیجه بالای صفحه می‌آید.
4. لاگ: برای هر واحد نتیجه و دلیل؛ کاربر واحد در همین صفحه فقط لاگ واحد خودش را می‌بیند.
مثال: مهر ۱۴۰۵: از ۷ واحد، ۵ واحد صورتحساب شد (۸۱۴ سند)؛ خراسان رضوی ۳ سند موقت داشت و فارس یک اعلامیهٔ ارسال‌نشده.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فقط ستاد: این صفحه فقط برای مدیر ستاد در واحد ستاد مرکزی است.
2. انتخاب: واحد (کد یا نام)، سال مالی، ماه و در صورت تمایل «علت» را وارد کنید.
3. صدور رمز: رمز ۸ رقمی نمایش داده می‌شود؛ آن را به واحد اعلام کنید. تا مصرف نشده، صدور دوباره همان رمز را نشان می‌دهد.
4. سابقه: وضعیت هر رمز: صادرشده، استفاده‌شده، یا باطل (پس از ۵ ورود نادرست).
مثال: رمز ۴۸۲۰۷۳۱۵ برای شهریور ادارهٔ کل فارس (دفعهٔ ۲) صادر شد؛ رمز دفعهٔ ۱ با ۵ ورود نادرست باطل شده بود.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ماه: ماهی را که باید باز شود انتخاب کنید (واحد و سال از نوار بالا می‌آید).
2. رمز: رمز ۸ رقمی دریافتی از ستاد را وارد کنید و «برگشت صورتحساب» را بزنید.
3. نتیجه: اسناد تأیید دائم آن ماه «بررسی‌شده» می‌شوند؛ از کارتابل آن‌ها را به موقت ببرید و اصلاح کنید.
نکته: رمز یک‌بارمصرف است و پس از ۵ ورود نادرست باطل می‌شود. پس از اصلاح، ستاد باید دوباره صورتحساب 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تب: «سند اختتامیه» را باز کنید و «سال مالیِ بسته‌شونده» را بنویسید.
2. پیش‌نمایش: همهٔ ردیف‌ها پیش از ثبت دیده می‌شوند: مانده‌های گروه ۶، ۷ و ۸ معکوس می‌شوند.
3. حساب رابط: ردیف رنگی، حساب رابطی است که سند را تراز می‌کند.
4. صدور سند: اگر مشکلی گزارش نشده باشد فعال است؛ سند در وضعیت یادداشت ثبت می‌شود.
مثال: اختتامیهٔ ۱۴۰۴: درآمدها ۹۹,۶۵۰ میلیون بدهکار و هزینه‌ها بستانکار می‌شوند؛ مازاد ۳۵,۰۰۰ میلیون به حساب رابط می‌رود.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تب: «سند افتتاحیه» را باز کنید و «سال مالی جدید» را بنویسید.
2. پیش‌نمایش: ماندهٔ گروه‌های ۱، ۲، ۳، ۴، ۵ و ۹ سال قبل؛ برای هر گروه یک سند جدا.
3. هشدارها: هشدارها (مثل تفصیلی با ماندهٔ صفر) مانع صدور نیستند؛ «مشکلات» مانع‌اند.
4. صدور: «صدور ۲ سند»؛ اسناد در یادداشت ثبت و پس از بازبینی به موقت برده می‌شوند.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۱. اتصال: سرور سیستم قدیم و سال‌ها را تعریف و «بررسی اتصال» کنید.
2. ۲ و ۳. کدینگ: کاربرگ را بگیرید، کد ملی اشخاص را پر کنید، «بررسی» و سپس «ثبت نهایی».
3. ۴. اسناد: اول اطلاعات بانکی، بعد اسناد هر سال از قدیمی‌ترین؛ «شماره قدیم ← جدید» قابل دریافت است.
نکته: این صفحه یک‌بار، هنگام راه‌اندازی هر واحد، استفاده می‌شود. «بررسی» هیچ چیزی ثبت نمی‌کند.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دسترسی: این صفحه در منو نیست و فقط از نشانی مستقیم باز می‌شود.
2. فهرست: شماره، تاریخ، شرح، نوع (پرداخت/دریافت) و اینکه سند حسابداری آن «صادر شده» یا نه.
3. محدودیت: فقط سرسند نگهداری می‌شود و ردیف ندارد؛ برای ثبت حسابداری از «صدور سند» استفاده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«سند تراز نیست…»: جمع بدهکار و بستانکار برابر نیست. می‌توانید یادداشت ذخیره کنید، ولی برای موقت باید «اختلاف» صفر شود.
«انتخاب حساب معین الزامی است»: روی فیلد «حساب معین» کلیک کنید و از پنجره یک معین «انتخاب» کنید.
«… (تفصیلی سطح ۱) برای این حساب الزامی است»: برای هر تفصیلی که زیر معین ظاهر شده، یک مورد انتخاب کنید.
دکمهٔ ویرایش/حذف دیده نمی‌شود: در تب «همه» هستید یا سند بررسی‌شده/تأیید دائم است. تب یادداشت یا موقت را باز کنید.
«حداقل یک ردیف سند باید ثبت شود»: دست‌کم یک ردیف را کامل کنید و «ثبت ردیف» را بزنید.
سند تأیید دائم اشتباه است: یا «معکوس سند» بزنید و سند درست را ثبت کنید، یا با رمز ستاد صورتحساب ماه را برگردانید.
مرتب‌سازی رد شد: در بازه سند بررسی‌شده یا تأیید دائم هست؛ بازه را کوچک‌تر کنید.
«صدور ممکن نیست» در افتتاحیه/اختتامیه: مشکل گزارش‌شده (مثلاً تعریف‌نشدن حساب رابط در «تعریف رابط‌ها» یا صدور قبلی) را رفع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چک یک برگ کاغذ است که با آن به بانک دستور می‌دهیم از حساب جاری سازمان به کسی پول بدهد. بانک برای هر حساب جاری «دسته‌چک» می‌دهد: چند برگ با شماره‌های پشت‌سرهم. سیستم تک‌تک برگ‌ها را نگه می‌دارد.
1. چرا هر برگ ثبت می‌شود؟: تا معلوم باشد هر برگ کجا رفته: سفید مانده، در سند استفاده شده، چاپ شده یا باطل شده. برگ گم‌شده یا تکراری فوراً دیده می‌شود.
2. «در وجه» و «بابت»: «در وجه» یعنی گیرندهٔ پول؛ «بابت» یعنی دلیل پرداخت. هر دو هنگام ثبت سند روی برگ چک نوشته می‌شوند.
3. چک صوری (اعلامیهٔ بانک): برداشتی که برگ کاغذی ندارد، مثل انتقال بانکی. شماره‌اش خودکار است: سال + کد واحد + ۰۰۰۱ تا ۱۰۰۰.
نکته: تعریف حساب بانکی و ثبت سند (فصل‌های دیگر) پیش‌نیاز این فصل‌اند: دسته‌چک بدون حساب بانکی ثبت نمی‌شود.
مثال: بانک ملی به ستاد مرکزی یک دسته‌چک ۵۰ برگی داده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ثبت دسته‌چک — اطلاعات پایه ← بانک؛ برگ‌ها ساخته می‌شوند
2. ثبت سند پرداخت — برگ چک، در وجه و تاریخ در ردیف بانک سند
3. دستور پرداخت — حسابدار در «دفتر چک» صادر می‌کند
4. تأیید رئیس حسابداری — یا برگشت با ذکر علت
5. تأیید مدیر واحد — «تاییدیه چک» صادر می‌شود
6. چاپ و وصول — چاپ روی برگ چک؛ وصول در کارت حساب جاری
فقط چکی که «تاییدیه صادر شد» دارد دکمهٔ چاپ می‌گیرد. اگر چکی برگشت بخورد، دوباره در زبانهٔ «صدور دستور پرداخت» دیده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نکته: ردیف بستانکارِ حساب بانکی حتماً «چک» یا «اعلامیه صوری» لازم دارد؛ ردیف بدهکار (واریز) با فیش یا حواله ثبت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دو نفر حساب یک پول را نگه می‌دارند: ما در دفتر و بانک در صورت‌حساب. چون بعضی رویدادها در یکی زودتر ثبت می‌شوند، مانده‌ها معمولاً برابر نیستند. مغایرت‌گیری یعنی پیدا کردن و توضیح تک‌تک این تفاوت‌ها.
1. چک وصول‌نشده: چک را داده‌ایم و در دفتر کم کرده‌ایم، ولی گیرنده هنوز آن را به بانک نبرده است.
2. کارمزد یا واریز ثبت‌نشده: بانک چیزی کم یا زیاد کرده که ما هنوز سندش را نزده‌ایم.
3. فیش در راه: فیش واریز را در دفتر ثبت کرده‌ایم ولی هنوز در صورت‌حساب بانک نیامده.
نکته: اگر بعد از همهٔ این اقلام باز هم اختلاف ماند، احتمالاً خطای ثبت وجود دارد و باید پیگیری شود.
مثال: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وقتی ستاد مرکزی به اداره کل تهران پول می‌فرستد، هر دو واحد باید سند بزنند: یکی «فرستاد»، دیگری «دریافت کرد». «اعلامیه» همین خبر رسمی است و سیستم سند هر دو طرف را به هم وصل می‌کند.
1. اعلامیهٔ صادره: واحد فرستنده ثبت می‌کند: واحد گیرنده، شرح، ماهیت و ردیف‌های حساب.
2. اعلامیهٔ رسیده: با «تأیید نهایی و ارسال» فرستنده، خودکار در واحد گیرنده ساخته می‌شود.
3. حساب رابط: حساب واسطه‌ای که بدهی/طلب دو واحد را نگه می‌دارد. در «تعریف رابط‌ها» تعیین شده و خودکار در سند می‌آید.
4. اعلامیهٔ درآمد: درآمد شعبه (مثل حق بیمهٔ کارکنان) که پس از تأیید نهایی به سامانهٔ سبا (درآمد) ارسال می‌شود.
مثال: ستاد ۳,۰۰۰,۰۰۰,۰۰۰ ریال برای هزینه‌های جاری به اداره کل تهران می‌فرستد.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نکته: ردیف‌های دقیق سند واحد گیرنده را در زبانهٔ «سایر اعلامیه‌ها — رسیده» با دکمهٔ نمایش ببینید.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افزودن محیط چک جدید: برای هر نوع برگ چک بانک یک قالب بسازید؛ عنوان حداکثر ۲۵ حرف است.
2. طول و عرض برگ: اندازهٔ برگ چک را با خط‌کش به میلی‌متر بدهید (مثلاً ۸۵ و ۱۷۰).
3. حاشیهٔ بالا و چپ: جابه‌جایی چاپگر را جبران می‌کند؛ عدد منفی هم مجاز است.
4. آپلود تصویر چک: تصویر اسکن‌شدهٔ برگ (حداکثر ۲ مگابایت) فقط برای پیش‌نمایش است.
5. جای فیلدها روی چک: دکمهٔ میانی هر ردیف: جای تاریخ، مبلغ، در وجه و بابت را تنظیم می‌کند.
نکته: اگر قالبی تنظیم نشود، چاپ با اندازهٔ پیش‌فرض ۱۷۰×۸۵ میلی‌متر انجام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افزودن دسته‌چک: در زبانهٔ «دسته‌چک» دکمهٔ «افزودن دسته‌چک» را بزنید.
2. انتخاب حساب بانکی: با «انتخاب حساب بانکی» حسابی را که دسته‌چک برایش صادر شده برگزینید.
3. شماره‌ها و تاریخ: تاریخ صدور، شمارهٔ اولین و آخرین برگ و سریال را از روی دسته‌چک بنویسید.
4. صوری / واقعی: برای اعلامیه‌های بانکی «چک صوری» را بزنید؛ این انتخاب بعداً قابل تغییر نیست.
مثال: بانک ملی ستاد: برگ ۳۴۵۶۰۰۱ تا ۳۴۵۶۰۵۰، سریال ب/۳، نوع «چک صیادی بانک ملی» ← ذخیره ← ۵۰ برگ ساخته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باز کردن اوراق: در ستون عملیات دسته‌چک، آیکن «اوراق چک» (اولین آیکن آبی) را بزنید.
2. خلاصهٔ بالای جدول: تعداد برگ‌ها و تعداد استفاده‌شده، باطل و سفید را نشان می‌دهد.
3. فیلتر «نمایش»: فقط برگ‌های سفید، استفاده‌شده یا باطل را ببینید.
4. ستون سند: شماره و تاریخ سندی که برگ در آن استفاده شده؛ با کلیک، سند باز می‌شود.
5. ساخت اوراق: دسته‌چک قدیمیِ بی‌برگ پیام زرد دارد؛ «ساخت اوراق» برگ‌ها را می‌سازد.
مثال: دسته‌چک اول ملی: ۵۰ برگ — ۹ استفاده‌شده، ۱ باطل، ۴۰ سفید. برگ ۳۴۵۶۰۰۱ «چاپ‌شده» و «تاییدیه صادر شد»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زبانه‌ها: همهٔ چک‌ها، صدور دستور پرداخت، کارتابل رئیس حسابداری، کارتابل مدیر واحد، آمادهٔ چاپ.
2. فیلترها: حساب جاری، سررسید، ابطال، چاپ، شماره و مبلغ چک؛ سپس «اعمال فیلتر».
3. ستون وضعیت: مرحلهٔ گردش هر چک؛ «وارد نشده» قرمز یعنی «در وجه» خالی است.
4. آیکن‌های عملیات: چاپ (فقط چک تأییدشده)، تاریخچهٔ تأیید، و ابطال یا برگرداندن ابطال.
نکته: چکی که اشتباه نوشته شده را «ابطال» کنید؛ ابطال قابل برگشت است و برگ در اوراق «باطل» دیده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دستور پرداخت: حسابدار در زبانهٔ «صدور دستور پرداخت» چک‌ها را تیک می‌زند و دکمه را می‌زند.
2. تأیید رئیس حسابداری: در کارتابل خودش چک‌ها را انتخاب و «تأیید» را می‌زند؛ توضیح اختیاری است.
3. تأیید مدیر واحد: همان دکمه در کارتابل مدیر؛ پس از آن «تاییدیه صادر شد» می‌آید.
4. برگشت: هر مرحله می‌تواند برگرداند؛ نوشتن «علت برگشت» الزامی است.
مثال: چک‌های ۳۴۵۶۰۰۴ و ۳۴۵۶۰۰۵ با هم انتخاب و در یک مرحله تأیید شدند.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پیش‌نمایش: تاریخ عددی و حروفی، مبلغ به حروف و عدد، در وجه و بابت خودکار روی برگ می‌نشینند.
2. تصویر چک: کلید «تصویر چک در چاپ هم بیاید» معمولاً خاموش می‌ماند تا فقط متن چاپ شود.
3. چاپ چک: برگ چک را در چاپگر بگذارید و «چاپ چک» را بزنید؛ چک «چاپ شده» ثبت می‌شود.
مثال: چک ۳۴۵۶۰۰۲: «نهم مهر یک هزار و چهارصد و پنج»، «یک میلیارد و دویست و پنجاه میلیون ریال» در وجه شرکت تأسیسات نوین ساختمان.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حساب و ماه: حساب جاری و ماه را انتخاب کنید؛ ردیف‌های صورت‌حساب بانک می‌آیند.
2. ورود ردیف‌ها: دیسکت بانک (STM001) را بارگذاری کنید یا «ردیف جدید» را دستی بزنید.
3. مغایرت‌گیری: ردیف‌ها با شمارهٔ چک/فیش دفتر تطبیق و تاریخ وصول ثبت می‌شود.
4. ردیف‌های «باز»: در دفتر پیدا نشده‌اند؛ برای ردیف تطبیق‌شده «برگرداندن مغایرت‌گیری» هست.
نکته: ردیف تطبیق‌شده ویرایش و حذف ندارد؛ اول مغایرت‌گیری‌اش را برگردانید.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باز کردن: در کارت حساب جاری، دکمهٔ «صورت مغایرت» را بزنید.
2. مانده بانک: ماندهٔ پایان ماه را از صورت‌حساب کاغذی بانک در کادر بالا بنویسید.
3. خواندن جدول: از ماندهٔ دفتر، چهار گروه اقلام باز کم یا زیاد می‌شود تا «مانده تعدیل‌شده» بدست آید.
4. اختلاف: «اختلاف توضیح‌داده‌نشده» صفر (سبز) یعنی همه چیز روشن است.
5. چاپ / PDF: برای امضای تهیه‌کننده، رئیس حسابداری و مدیر مالی چاپ کنید.
مثال: ماندهٔ دفتر مهر ۸,۴۵۶,۳۰۰,۰۰۰ ریال است؛ با چهار گروه اقلام باز به ۹,۶۲۳,۵۵۰,۰۰۰ می‌رسد که دقیقاً ماندهٔ بانک است، پس اختلاف صفر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زبانه‌ها: سایر اعلامیه‌ها — صادره، سایر اعلامیه‌ها — رسیده، و اعلامیهٔ درآمد.
2. اعلامیهٔ جدید: دکمهٔ بالای صفحه؛ در زبانهٔ رسیده نیست چون رسیده‌ها خودکار می‌آیند.
3. آیکن‌ها به ترتیب: صدور سند ← تأیید اولیه (✓) ← تأیید نهایی و ارسال (✓✓).
4. حذف و ویرایش: فقط اعلامیهٔ «تهیه» که هنوز سند ندارد.
مثال: اعلامیهٔ ۱۴۰۵۰۰۱۵ برای اداره کل فارس هنوز «تهیه» است؛ ۱۴۰۵۰۰۱۳ «تأیید اولیه» شده و منتظر ارسال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سربرگ: تاریخ، ماهیت، واحد گیرنده و شرح را بدهید؛ دبیرخانه اختیاری است.
2. ماهیت: «بدهکار»: ردیف‌ها بستانکار و رابط بدهکار؛ «بستانکار» برعکس.
3. ردیف‌ها: معین، مبلغ و تفصیلی‌های لازم (مثل حساب بانکی) را برای هر ردیف وارد کنید.
4. جمع ردیف‌ها: پایین صفحه؛ رابط هنگام صدور سند به همین مبلغ ساخته می‌شود.
5. ثبت اعلامیه: سریال و حساب رابط خودکار تعیین می‌شوند.
مثال: تخصیص ملزومات فارس: ۳۰۰,۰۰۰,۰۰۰ از بانک ملی + ۱۲۰,۰۰۰,۰۰۰ از بانک رفاه = ۴۲۰,۰۰۰,۰۰۰ ریال.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تأیید نهایی: پس از تأیید اولیه، آیکن ✓✓ را بزنید؛ این کار برگشت‌پذیر نیست.
2. در واحد گیرنده: اعلامیهٔ رسیده با سند خودکار در زبانهٔ «رسیده» ظاهر می‌شود.
3. رسیدهٔ بدون سند: اگر وضعیت «دریافت» بود و سند نداشت، آیکن «صدور سند» را بزنید.
4. اعلامیهٔ درآمد: تأیید نهایی آن را به سامانهٔ سبا (درآمد) می‌فرستد.
نکته: اعلامیه‌ای که سند دارد یا ارسال شده فقط قابل مشاهده است (پیام آبی بالای فرم).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«دسته‌چکی با همین بازه شماره برای این حساب بانکی قبلاً ثبت شده است.»: شماره‌ها را با دسته‌چک کاغذی تطبیق دهید؛ احتمالاً دسته‌چک قبلاً ثبت شده است.
«شماره اولین/آخرین برگه چک الزامی است»: برای چک واقعی هر دو لازم است؛ برای چک صوری لازم نیست.
اوراق چک خالی است و پیام زرد دارد: دسته‌چک قدیمی است؛ «ساخت اوراق» را بزنید.
دکمهٔ چاپ کنار چک دیده نمی‌شود: چاپ فقط پس از تأیید مدیر واحد («تاییدیه صادر شد») و برای چک ابطال‌نشده فعال است.
در وجه «وارد نشده» است: در سند، ردیف بانک را باز کنید و «در وجه» را تکمیل کنید.
دکمهٔ «ثبت» برگشت غیرفعال است: «علت برگشت» را بنویسید؛ الزامی است.
«برای دسته‌چک این چک تنظیمات محیطی چک تعیین نشده»: در دسته‌چک «نوع دسته‌چک» را انتخاب کنید؛ تا آن موقع اندازهٔ ۱۷۰×۸۵ به کار می‌رود.
ردیف کارت حساب ویرایش/حذف ندارد: تطبیق‌شده است؛ اول «برگرداندن مغایرت‌گیری» را بزنید.
اعلامیهٔ رسیده نیامده است: واحد فرستنده باید «تأیید نهایی و ارسال» را زده باشد.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گزارش‌ها چیزی ثبت نمی‌کنند؛ فقط ردیف‌های اسنادی را که قبلاً ثبت شده، به شکل‌های مختلف مرتب و جمع می‌کنند. در همهٔ این فصل یک مثال ثابت داریم: پنج سند اداره کل تهران در مهر ۱۴۰۵.
1. بدهکار و بستانکار: هر سند دو طرف دارد: حسابی که «بدهکار» می‌شود (مثلاً پول به بانک آمد) و حسابی که «بستانکار» می‌شود (منبع آن پول).
2. یک داده، چند نما: دفتر روزنامه به ترتیب زمان، دفتر کل به تفکیک حساب و تراز آزمایشی جمع همه را نشان می‌دهد.
3. اعداد یکی است: چون همه از همان اسناد می‌آیند، جمع‌ها در همهٔ گزارش‌ها با هم می‌خواند.
مثال: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مثل کارت بانکی: «گردش» یعنی همهٔ پولی که در یک بازه وارد یا خارج شده؛ «مانده» یعنی آنچه آخر کار باقی مانده است. حسابداری برای ورود و خروج، دو ستون جدا دارد: بدهکار و بستانکار.
1. گردش بدهکار / بستانکار: جمع ستون بدهکار و جمع ستون بستانکار یک حساب در بازهٔ انتخابی (مثلاً مهر).
2. ماندهٔ بدهکار (بد): بدهکار بیشتر از بستانکار است؛ برای دارایی‌ها و هزینه‌ها طبیعی است (پول در بانک، طلب از دیگران).
3. ماندهٔ بستانکار (بس): بستانکار بیشتر است؛ برای بدهی‌ها و درآمدها طبیعی است (بدهی به پیمانکار، درآمد حق بیمه).
4. ماندهٔ ابتدا و پایان دوره: ماندهٔ پایان = ماندهٔ ابتدا + گردش بدهکار − گردش بستانکار.
مثال: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دفتر روزنامه مثل دفترچهٔ خاطرات است: هر سند به ترتیب تاریخ، با همهٔ ردیف‌هایش. دفتر کل همان ردیف‌ها را برمی‌دارد و برای هر حساب جدا می‌چیند تا ماندهٔ آن حساب بعد از هر سند معلوم شود.
1. دفتر روزنامه: سؤال: «در این ماه به ترتیب چه ثبت شد؟» — مرتب بر اساس تاریخ و شمارهٔ سند.
2. دفتر کل: سؤال: «این حساب چطور به این مانده رسید؟» — هر حساب کل، سند به سند، با ماندهٔ جاری.
مثال: اعداد به میلیون ریال: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تراز آزمایشی برای هر حساب یک سطر دارد: گردش بدهکار، گردش بستانکار و مانده. چون هر سند همیشه به همان اندازه که بدهکار دارد بستانکار هم دارد، جمع کل دو ستون باید برابر شود.
1. کنترل سلامت: اگر جمع بدهکار و بستانکار برابر نباشد، سندی ناقص یا نامتوازن در بازه هست.
2. سطح کدینگ: می‌توانید سطرها را در سطح گروه، کل یا معین ببینید (از کلی‌ترین تا جزئی‌ترین حساب).
3. برابر بودن ≠ درست بودن: سندی که به حساب اشتباه زده شده، تراز را به هم نمی‌زند؛ برای آن دفتر کل و مرور حساب‌ها را ببینید.
مثال: اعداد به میلیون ریال: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دامنهٔ واحد: «فقط واحد جاری»، «واحد جاری و زیرمجموعه» یا «همهٔ واحدهای کشور» (فقط نقش‌های سطح کشور).
2. استان و گروه: در دامنهٔ چندواحدی می‌توان «استان» و «گروه واحدها» (بیمه‌ای/درمانی/ستادی) را هم محدود کرد.
3. ستون‌ها و مرتب‌سازی: با «ستون‌ها» گروه ستون را پنهان کنید؛ با کلیک روی سرستون، جدول مرتب می‌شود.
4. اکسل و چاپ: «خروجی اکسل» فایل می‌سازد؛ «چاپ / PDF» نسخهٔ چاپی را با عنوان و فیلترها می‌دهد.
5. اعمال فیلتر: تغییر فیلتر تا زدن «اعمال فیلتر» یا «جستجو» در نتیجه اثر نمی‌گذارد.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نوع تراز: «۴ ستونی» گردش و مانده؛ «۶ ستونی» اول دوره را اضافه می‌کند؛ «۸ ستونی» جمع کل را.
2. فیلترها: سطح کدینگ، کد حساب، از/تا تاریخ (مثل ۱۴۰۵۰۷۰۱) و وضعیت سند را بدهید و «اعمال فیلتر».
3. کاشی «وضعیت تراز»: «تراز است» یعنی دو طرف برابرند؛ وگرنه «اختلاف» با مبلغش نمایش داده می‌شود.
4. رفتن به جزئیات: آیکون کنار نام حساب، همان حساب را در «مرور حساب‌ها» به تفکیک استان، واحد یا سند باز می‌کند.
نکته: وقتی بپرسید: «آخر مهر، مانده و گردش همهٔ حساب‌ها چقدر است و دفاتر تراز است؟» — مثال ما: ۷ معین، ۱,۴۸۵ = ۱,۴۸۵ میلیون.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فیلترها: تاریخ، از/تا کد کل، شمارهٔ سند و حداقل وضعیت سند؛ سپس «جستجو».
2. خلاصه: برای هر حساب کل: ماندهٔ ابتدای دوره، گردش بدهکار و بستانکار، ماندهٔ پایان دوره.
3. یک حساب: روی سطر یک حساب کلیک کنید تا فقط گردش همان کل بیاید (برچسب «فقط کل ۱۱»).
4. باز کردن سند: شمارهٔ آبی سند را بزنید تا خود سند باز شود؛ «چاپ» نسخهٔ کاغذی می‌دهد.
نکته: وقتی بپرسید: «موجودی نقد چطور از ۹۰۰ به ۱,۰۳۵ میلیون رسید؟» ستون «مانده» بعد از هر سند جواب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فیلترها: تاریخ، شمارهٔ سند، از/تا کد معین (کد ناقص مثل ۱۱ هم پذیرفته می‌شود)، وضعیت سند و شرح ردیف.
2. ترتیب: ردیف‌ها به ترتیب تاریخ و شمارهٔ سند؛ شماره و تاریخ فقط روی ردیف اول هر سند می‌آید.
3. جمع‌ها: کاشی‌ها و سطر «جمع کل» برای همهٔ ردیف‌های فیلترشده است، نه فقط این صفحه.
4. خروجی: «خروجی اکسل» و «چاپ / PDF» بالای صفحه.
مثال: مثال ما: ۱۲ ردیف از ۵ سند مهر؛ سند ۱۲۰۵ سه ردیف حقوق (به تفکیک اداره) و یک ردیف بانک دارد. جمع هر دو ستون ۱,۴۸۵,۰۰۰,۰۰۰ ریال.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هر سطر یک سند: تاریخ، شمارهٔ عطف، نوع سند، وضعیت، شرح و جمع بدهکار و بستانکار همان سند.
2. سند نامتوازن: کاشی «سند نامتوازن» تعداد را می‌گوید؛ سطر آن صورتی و با علامت هشدار کنار شماره است.
3. فیلترها: تاریخ، شمارهٔ سند، شمارهٔ عطف، وضعیت سند، نوع سند و «شرح سند شامل».
4. دیدن سند: آیکون چشم سند را باز می‌کند تا اصلاحش کنید.
مثال: وقتی تراز نمی‌شود: سند یادداشت ۱۲۰۶ (آب و برق) ۴۲ میلیون بدهکار و ۴۰ میلیون بستانکار دارد؛ همین ۲ میلیون اختلاف جمع‌ها را توضیح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سطح گزارش: گروه، کل یا معین؛ «سطح تفصیلی» و دکمه‌های استان، بیمه‌ای/درمانی، واحد و سند.
2. پیمایش: روی سطر کلیک کنید تا یک سطح پایین‌تر برود؛ مسیر بالای صفحه نشان می‌دهد کجایید.
3. برگشت: روی «کل واحد» یا هر قسمت مسیر بزنید، یا «یک سطح بالاتر».
4. جستجو: کادر «جستجو در کد یا عنوان» سطرهای همین نتیجه را محدود می‌کند.
مثال: در سطح معین همان ۷ حساب تراز آزمایشی را می‌بینید؛ با کلیک روی ۸۲۰۱۰۱ (حقوق) به مراکز هزینه می‌روید: معاونت مالی ۹۵، پشتیبانی ۱۱۰ و فناوری ۷۵ میلیون.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مسیر: بالای صفحه: «کل واحد ← معین ۱۱۰۲۰۱ بانک‌ها» و برچسب «سطح: سند».
2. سطرهای سند: هر سطر یک سند است با گردش همین حساب در آن سند.
3. باز کردن سند: آیکون کنار سطر، خود سند را نمایش می‌دهد.
4. از تراز و دفتر کل: آیکون درختی کنار نام حساب در تراز و دفتر کل، مستقیم همین صفحه را باز می‌کند.
مثال: پرسش «۱۳۵ میلیون ماندهٔ مهرِ بانک از کجاست؟»: سند ۱۲۰۲ با ۴۵۰ ورودی و اسناد ۱۲۰۳ و ۱۲۰۵ با ۳۵ و ۲۸۰ خروجی. کاشی «اختلاف» همان ماندهٔ ۱۳۵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دامنه: «همهٔ واحدهای کشور» یا «واحد جاری و زیرمجموعه» را انتخاب کنید؛ مبالغ جمع همهٔ واحدهاست.
2. تفکیک: دکمهٔ «استان»، سپس «بیمه‌ای / درمانی»، «واحد» و در آخر «سند».
3. محدود کردن: فیلترهای «استان» و «گروه واحدها» در نوار دامنهٔ واحد.
4. سطر به سطر: کلیک روی یک استان، همان استان را یک سطح پایین‌تر باز می‌کند.
مثال: معین ۱۳۰۱۰۱ مطالبات حق بیمه در مهر به تفکیک استان: سطر تهران همان ۶۰۰ و ۴۵۰ میلیون مثال ماست؛ استان‌های دیگر کنارش می‌آیند.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دو بُعد: «بُعد سطر» و «بُعد ستون» را از میان استان، واحد، گروه/کل/معین و تفصیلی‌ها انتخاب کنید.
2. جابه‌جایی: دکمهٔ فلش میان دو بُعد، جای سطر و ستون را عوض می‌کند.
3. فیلتر کد: «فیلتر سطر/ستون: کد … شروع با»؛ مثلاً ۸۲ فقط معین‌های هزینه را ستون می‌کند.
4. خانه‌ها: هر خانه بدهکار و بستانکار تقاطع است؛ ۰ یعنی گردشی ثبت نشده. «جمع سطر» و «جمع ستون» دارد.
مثال: تفصیلی ۱ (مرکز هزینه) × معین هزینه، مهر: ادارهٔ پشتیبانی ۱۱۰ حقوق + ۳۵ نوشت‌افزار + ۱۲۰ تعمیر = ۲۶۵ میلیون. «اختلاف» این‌جا طبیعی است چون فقط سمت هزینه فیلتر شده.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فیلترها: معین، سطح تفصیلی، گروه تفصیلی یا یک تفصیلی خاص؛ بدون فیلتر همه می‌آید.
2. هر سطر: یک معین، یکی از سطح‌های تفصیلی آن و گروه مجاز در آن سطح.
3. کاربرد: پیش از ثبت سند ببینید روی هر معین چه تفصیلی‌ای باید انتخاب شود.
مثال: تفصیلی (جزئی‌تر از معین) مثل مرکز هزینه یا نام شرکت است. معین ۳۱۰۱۰۱ پیمانکاران در سطح ۱ «اشخاص و شرکت‌ها» و در سطح ۲ «پروژه‌ها» می‌خواهد.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برخی معین‌ها علاوه بر تفصیلی، یک «شناسه» هم روی هر ردیف می‌گیرند؛ مثلاً کد کارگاه کارفرما یا شمارهٔ قرارداد. شناسه کمک می‌کند هر طلب یا بدهی را تا تسویه‌اش جدا دنبال کنیم.
1. جمع‌پذیر: ماندهٔ هر شناسه سرانجام باید صفر شود؛ مانده یعنی هنوز تسویه نشده.
2. جمع‌ناپذیر: علاوه بر صفر شدن، هر بدهکار باید با یک بستانکار هم‌مبلغ جفت شود.
3. ردیف بی‌شناسه: ردیفی که روی معین شناسه‌دار بدون شناسه ثبت شده، همیشه مغایرت است.
مثال: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معین‌ها: هر معین شناسه‌دار با حالت شناسه، گردش، مانده، تعداد شناسه و برچسب مغایرت.
2. ریز شناسه‌ها: این دکمه شناسه‌های همان معین را با وضعیت «تطبیق» یا علت مغایرت باز می‌کند.
3. ریز سند: ردیف‌های سندِ یک شناسه را با جمع بدهکار و بستانکار نشان می‌دهد؛ چشم، سند را باز می‌کند.
4. فقط مغایرها: این کلید فهرست را به معین‌ها و شناسه‌های مشکل‌دار محدود می‌کند.
مثال: مطالبات حق بیمه: شناسهٔ 1203458 «مانده صفر نیست» (۱۵۰ میلیون) و یک ردیف ۴۰ میلیونی «ردیف بدون شناسه» که باید کد کارگاهش اصلاح 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فیلترها: «معین شناسه‌دار» (چندانتخابی) و بازهٔ «از شناسه / تا شناسه»؛ سپس «جستجو».
2. سن: از سال شروع شناسه تا سال گزارش؛ شناسه‌های با سن حداکثر ۱۰ سال می‌آیند.
3. ستون‌های سال: ماندهٔ تجمعی هر سال؛ سال‌های پیش از شروع خالی است و شکل «هرم» می‌سازد.
مثال: وقتی بپرسید «کدام طلب‌ها قدیمی شده‌اند؟»: کارگاه 0987412 از ۱۳۹۹ مانده دارد و به ۲۰۵ میلیون رسیده؛ 1203458 امسال شروع شده (۱۵۰ میلیون).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سند افتتاحیه: اولین سند هر سال که مانده‌های پایان سال قبل را به سال جدید می‌آورد.
2. فقط مغایرها: فقط سطرهایی می‌آید که مبلغ افتتاحیه با ماندهٔ سال قبل همان معین/شناسه برابر نیست.
3. ستون‌ها: مبلغ در سند افتتاحیه، ماندهٔ سال قبل و «اختلاف».
4. بازخوانی: فیلتر جدا ندارد؛ سال مالی نوار بالا ملاک است. «بازخوانی» پس از اصلاح.
مثال: کارگاه 1187720 در سال قبل ۴۵۵ میلیون مانده داشت ولی در افتتاحیهٔ ۱۴۰۵ با ۴۸۰ میلیون آمده؛ ۲۵ میلیون اختلاف باید اصلاح شود. «مغایرتی یافت نشد.» یعنی همه درست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دسترسی: فقط نقش «مدیر مالی» می‌بیند؛ لاگ قابل اصلاح یا حذف نیست.
2. هر سطر: زمان، عملیات (ثبت/اصلاح/حذف/بازگردانی)، بخش، رکورد، فیلد، مقدار قبلی و جدید، کاربر، کد ملی، IP.
3. تاریخچهٔ کامل: روی شمارهٔ رکورد بزنید تا همهٔ تغییرات آن (مثلاً سند با ردیف‌ها) بیاید.
4. فیلترها: تاریخ، کد ملی کاربر، بخش، عملیات، «شمارهٔ سند / نام کاربر» و «با واحدهای زیرمجموعه».
مثال: سند ۱۲۰۵: مریم کریمی مبلغ ردیف را از ۷۰ به ۷۵ میلیون و بستانکار بانک را از ۲۷۵ به ۲۸۰ میلیون اصلاح کرد، سپس وضعیت را از یادداشت به موقت برد.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«برای مشاهدهٔ گزارش، ابتدا سال مالی را از نوار بالا انتخاب کنید.»: سال مالی و واحد را از نوار بالای صفحه انتخاب کنید.
«فیلترها تغییر کرده‌اند. برای دیدن نتیجه «اعمال فیلتر» را بزنید.»: جدول هنوز فیلتر قبلی را نشان می‌دهد؛ «اعمال فیلتر» را بزنید.
کاشی «اختلاف» به‌جای «تراز است»: در «مرور اسناد» سند نامتوازن را پیدا کنید؛ یا با «وضعیت سند: موقت و بالاتر» یادداشت‌ها را کنار بگذارید.
«سندی با این شرایط پیدا نشد…» در دفتر کل: بازهٔ تاریخ یا از/تا کد کل را بازتر کنید.
عدد گزارش با عدد همکار در واحد دیگر فرق دارد: دامنهٔ واحد را چک کنید: «فقط واحد جاری» با «زیرمجموعه» یا «کل کشور» فرق دارد.
ستونی از جدول دیده نمی‌شود: دکمهٔ «ستون‌ها» را باز کنید؛ احتمالاً پنهان شده است.
«لاگ تغییرات فقط برای نقش «مدیر مالی» قابل مشاهده است.»: از مدیر سامانه نقش مدیر مالی بخواهید.
«ساخت فایل اکسل ناموفق بود.»: فیلتر را محدودتر کنید و دوباره بزنید؛ اگر ادامه داشت از «چاپ / PDF» استفاده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تنخواه مبلغ نقدی است که سازمان به یک نفر (تنخواه‌دار) می‌سپارد تا هزینه‌های کوچک و فوری را بدون طی‌کردن مسیر طولانی پرداخت انجام دهد؛ مثل پول توجیبی ماهانه‌ای که با نشان‌دادن رسیدها دوباره پر می‌شود.
1. سقف تنخواه: حداکثر پولی که تنخواه‌دار در هر لحظه در اختیار دارد؛ مثلاً ۵۰۰ میلیون ریال.
2. صورت‌هزینه: برگه‌ای که تنخواه‌دار برای هر خرج با فاکتور یا رسید ثبت می‌کند تا بررسی و تأیید شود.
3. ترمیم (شارژ): پرداخت دوبارهٔ مبلغ هزینه‌های تأییدشده به تنخواه‌دار تا موجودی او به سقف نزدیک شود.
4. تسویهٔ دوره: در پایان ماه یا فصل، هزینه‌ها با یک سند حسابداری در دفاتر ثبت و دوره بسته می‌شود.
مثال: رضا احمدی تنخواه‌دار «TN-01 تنخواه اداری ستاد» با سقف ۵۰۰ میلیون ریال است. در مهر این خرج‌ها را کرده: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تعریف تنخواه — سقف، تنخواه‌دار، بررسی‌کنندگان و انواع هزینه
2. ثبت صورت‌هزینه — تنخواه‌دار + پیوست فاکتور
3. بررسی و تأیید — بازرس ← مدیر مالی / مدیرعامل
4. ترمیم (شارژ) — مدیر مالی ← خزانه‌دار
5. تسویهٔ دوره — شمارش صندوق + سند حسابداری
تراز تنخواه: سقف = موجودی نقد + تأییدشدهٔ منتظر ترمیم + اسناد در جریان بررسی. یعنی هر ریالی از سقف یا هنوز نقد است یا خرج شده و منتظر تأیید/ترمیم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فهرست: هر ردیف یک تنخواه است با کد، عنوان، تنخواه‌دار، سقف، سقف هر سند و موجودی نقد لحظه‌ای.
2. تنخواه جدید: دکمهٔ «تنخواه جدید» فرم تعریف را باز می‌کند (اسلاید بعد).
3. آیکون‌های ردیف: ویرایش، «بررسی‌کنندگان»، «تفصیلی‌های حساب معین» و حذف.
4. غیرفعال‌سازی: تنخواه غیرفعال صورت‌هزینهٔ جدید نمی‌پذیرد؛ حذف فقط وقتی ممکن است که هیچ صورت‌هزینه‌ای نداشته باشد.
مثال: ستاد سه تنخواه دارد: اداری ستاد (رضا احمدی)، خدمات عمومی (سارا کریمی) و پروژهٔ بازسازی که پروژه‌اش تمام شده و غیرفعال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کد و عنوان: کد در هر واحد یکتاست؛ مثلاً TN-01 «تنخواه اداری ستاد».
2. تنخواه‌دار: کد کاربری و نام مسئول تنخواه؛ فقط او می‌تواند صورت‌هزینه ثبت کند.
3. سقف‌ها: سقف تنخواه، سقف هر سند و سقف اختیار مدیر مالی (بالاتر از آن فقط مدیرعامل تأیید نهایی می‌کند).
4. هشدار و دوره: آستانهٔ هشدار (درصد)، دورهٔ تسویه (ماهانه/فصلی) و «ثبت‌کنندهٔ استرداد».
5. حساب معین و ذخیره: حساب «تنخواه‌گردان‌ها» را انتخاب، «فعال» را روشن و «ذخیره» کنید.
مثال: سقف ۵۰۰ میلیون، سقف هر سند ۵۰ میلیون، اختیار مدیر مالی ۴۰ میلیون، هشدار ۲۰٪: وقتی نقد زیر ۱۰۰ میلیون برود داشبورد هشدار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باز کردن: در فهرست تنخواه‌ها آیکون «بررسی‌کنندگان» را بزنید.
2. افزودن: کد کاربری، نام و نقش (بازرس مالی، مدیر مالی، مدیرعامل، حسابدار ارشد، خزانه‌دار) و «افزودن».
3. چند نقش: یک کاربر می‌تواند روی یک تنخواه بیش از یک نقش داشته باشد.
4. تفصیلی معین: از آیکون «تفصیلی‌های حساب معین» تفصیلی‌های خود تنخواه را برای سند تسویه تعیین کنید.
نکته: بدون بررسی‌کننده، اسناد ارسال‌شده در کارتابل کسی قابل اقدام نیستند؛ حداقل یک بازرس مالی و یک مدیر مالی تعریف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چرا؟: هر نوع هزینه یک گزینهٔ «حساب هزینه» در فرم صورت‌هزینه می‌شود.
2. افزودن هزینه: کد (حداکثر ۲ کاراکتر، یکتا)، عنوان، توضیحات و مبلغ پیش‌فرض اختیاری.
3. حساب معین: با «انتخاب حساب معین» حسابی که این هزینه در سند به آن می‌رود را وصل کنید.
4. تفصیلی‌ها: اگر معین تفصیلی لازم دارد (مثل مرکز هزینه)، همین‌جا انتخابش کنید.
مثال: «02 پذیرایی جلسات» به معین ۸۲۰۲۰۱ و مرکز هزینهٔ «معاونت مالی» وصل است؛ در تسویه، بدهکار همین حساب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تنخواه و تاریخ: کارت «ماندهٔ تنخواه» موجودی نقد و ماندهٔ پس از این سند را نشان می‌دهد.
2. فروشنده و فاکتور: نام و شناسهٔ ملی فروشنده، نوع مدرک، شماره و تاریخ فاکتور.
3. شرح و مبلغ: حساب هزینه، شرح، مبلغ قبل از مالیات و ارزش افزوده (پیش‌فرض ۱۰٪)؛ جمع خودکار.
4. کنترل‌ها: تیک سبز: در سقف هر سند، موجودی کافی، تاریخ معتبر.
5. ذخیره و ارسال: «ذخیرهٔ پیش‌نویس» یا «ارسال برای بررسی»؛ پیوست پس از اولین ذخیره.
مثال: تعمیر کولر: ۱۶,۸۱۸,۱۸۲ + ارزش افزوده ۱,۶۸۱,۸۱۸ = ۱۸,۵۰۰,۰۰۰ ریال.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زبانه‌ها: «در جریان»، جدید، در انتظار بررسی، برگشتی، تأییدشده، ردشده، پیش‌نویس و همه — با تعداد هر کدام.
2. جستجو و فیلتر: بر اساس تنخواه، شرح، فروشنده یا شمارهٔ فاکتور.
3. ستون عمر: روزهای گذشته از ارسال؛ عمر بیش از ۵ روز قرمز می‌شود.
4. اقدام‌ها: نمایش، شروع بررسی، تأیید کنترل، تأیید نهایی، برگشت و رد — فقط اقدام‌های مجاز نقش شما فعال است.
5. تأیید گروهی: اسناد کنترل‌شده را تیک بزنید و «تأیید گروهی» کنید؛ همه با هم تأیید می‌شوند یا هیچ‌کدام.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شروع بررسی: بازرس روی سند «جدید» «شروع بررسی» را می‌زند؛ وضعیت «در انتظار بررسی» می‌شود.
2. بررسی مدارک: فیلدها فقط‌خواندنی‌اند؛ پیوست‌ها را در پنل کناری باز و پیش‌نمایش کنید.
3. نوار اقدام: «تأیید نهایی»، «برگشت برای اصلاح» و «رد سند…»؛ برچسب آبی می‌گوید چه کسی و کی کنترل کرده.
4. میانبر: کلید A برای تأیید و R برای برگشت؛ با پیکان‌ها به سند قبلی/بعدی بروید.
مثال: علی نوری (بازرس) فاکتور تاکسی TH-00120 را با مبلغ سند مقایسه می‌کند؛ درست است، پس «تأیید کنترل» می‌زند.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تأیید کنترل: بازرس پس از بررسی، با یادداشت اختیاری ثبت می‌کند؛ وضعیت سند تغییر نمی‌کند.
2. تأیید نهایی: مدیر مالی (تا سقف اختیار) یا مدیرعامل (بالاتر) تأیید می‌کند ⇐ «تأییدشده».
3. قید: تأییدکنندهٔ نهایی نباید همان بازرس یا ثبت‌کنندهٔ سند باشد.
مثال: سند ۴٫۲ میلیونی را مریم صادقی (مدیر مالی، اختیار تا ۴۰ میلیون) نهایی می‌کند؛ سند ۴۵ میلیونی را مدیرعامل.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دلایل: یک یا چند دلیل: پیوست ناقص، حساب هزینه نادرست، مبلغ با مدرک مطابقت ندارد، شرح نیازمند توضیح، سایر.
2. مهلت: تاریخ مهلت اصلاح (بعد از امروز) الزامی است.
3. توضیح: متن «توضیح برای تنخواه‌دار» الزامی است.
4. قفل فیلدها: تنخواه‌دار فقط فیلدهای مرتبط با دلیل را تغییر می‌دهد؛ «پیوست ناقص» فقط پیوست را باز می‌کند.
5. رد سند: برای رد، دلیل بنویسید؛ سند ردشده پایانی است و ترمیم نمی‌شود.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کادر نارنجی: مهلت، دلایل و توضیح بررسی‌کننده بالای فرم نمایش داده می‌شود.
2. فیلدهای مجاز: فقط فیلدهای قاب‌دار رنگی قابل ویرایش‌اند؛ بقیه قفل‌اند.
3. ارسال دوباره: «ارسال برای بررسی» را بزنید؛ سند دوباره باید کنترل بازرس شود.
4. تاریخچه: پنل «تاریخچهٔ اقدامات» همهٔ رویدادها را با کاربر، زمان و IP نشان می‌دهد.
مثال: دلیل برگشت «مبلغ با مدرک مطابقت ندارد» است؛ فقط تاریخ و شمارهٔ فاکتور باز است. رضا آن‌ها را اصلاح و دوباره ارسال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کارت‌ها: موجودی نقد (و درصد از سقف)، تأییدشدهٔ منتظر ترمیم، در جریان بررسی و برگشتی‌ها.
2. تراز تنخواه: معادلهٔ سقف را با اعداد واقعی نشان می‌دهد؛ برچسب «متوازن» یعنی داده سالم است.
3. اقدامات امروز: اسناد منتظر اقدام؛ دکمهٔ «بررسی» یا «پیگیری» مستقیم سند را باز می‌کند.
4. هشدارها: اسناد معطل و مبلغ منتظر ترمیم؛ «ایجاد درخواست ترمیم» میانبر گام بعدی است.
مثال: نقد ۲۸۷,۴۰۰,۰۰۰ (۵۸٪ سقف) + منتظر ترمیم ۱۳۲,۶۰۰,۰۰۰ + در جریان ۸۰,۰۰۰,۰۰۰ = سقف ۵۰۰ میلیون ⇐ «متوازن».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انتخاب تنخواه: سامانه همهٔ صورت‌هزینه‌های تأییدشدهٔ ترمیم‌نشده را جمع می‌کند.
2. ریز حساب‌ها: جدول «مبلغ ترمیم بر اساس اسناد تأییدشده» جمع هر حساب هزینه و تعداد سند را نشان می‌دهد.
3. اطلاعات ترمیم: حساب بانکی مبدأ، روش پرداخت (پایا، چک، نقد، سایر)، تاریخ و یادداشت.
4. اثر ترمیم: موجودی قبل و بعد؛ کنترل «در حد سقف» و «هیچ سندی دو بار ترمیم نمی‌شود».
5. ارسال: «ارسال برای تأیید»: مسیر ۱. مدیر مالی ← ۲. خزانه‌دار.
مثال: ۶ سند تأییدشده جمعاً ۱۳۲,۶۰۰,۰۰۰ ریال؛ موجودی از ۲۸۷٫۴ به ۴۲۰ میلیون (۸۴٪ سقف) می‌رسد.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فهرست: در «شارژ و ترمیم» درخواست‌ها با وضعیت: پیش‌نویس، در انتظار مدیر مالی، در انتظار خزانه‌دار، پرداخت‌شده، ردشده.
2. تأیید مدیر مالی: مدیر مالی (غیر از سازنده) «تأیید» یا «رد» می‌کند.
3. ثبت پرداخت: خزانه‌دار پس از واریز، پرداخت را ثبت می‌کند ⇐ «پرداخت‌شده» و موجودی نقد بالا می‌رود.
4. مسیر تأیید: کارت «مسیر تأیید» مرحلهٔ جاری را نشان می‌دهد.
نکته: ترمیم‌های منتظر خزانه‌دار در «کارتابل تأیید» خزانه هم دیده می‌شوند (فصل بعد).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فیلتر: تنخواه، از تاریخ، تا تاریخ و نوع (ترمیم، هزینه، استرداد).
2. ستون‌ها: دریافت (ترمیم/استرداد)، پرداخت (هزینه) و ماندهٔ جاری پس از هر ردیف؛ کد مرجع سند مبدأ را باز می‌کند.
3. خروجی: دکمهٔ «خروجی اکسل» گزارش را با جمع‌ها ذخیره می‌کند.
4. استرداد: پایین صفحه «ثبت استرداد»: برگرداندن پول اضافه به تنخواه؛ فقط نقشی که در «ثبت‌کنندهٔ استرداد» آمده.
نکته: این گزارش حرکت واقعی وجه است؛ اسناد در جریان در آن نیستند، پس ماندهٔ پایان آن با موجودی نقد داشبورد به اندازهٔ اسناد در جریان فرق دارد.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تا وقتی دوره بسته نشده، هزینه‌های تنخواه فقط در خود ماژول دیده می‌شوند. در تسویه، صندوق شمرده می‌شود و یک سند، همهٔ هزینه‌های تأییدشدهٔ دوره را به حساب‌های هزینه می‌برد.
1. شمارش صندوق: پول نقد/حساب تنخواه‌دار را می‌شمارید؛ باید با ماندهٔ محاسبه‌شدهٔ سامانه برابر باشد.
2. اسناد در جریان: صورت‌هزینه‌های هنوز تأییدنشده در این دوره نمی‌آیند و به دورهٔ بعد منتقل می‌شوند.
3. سند تسویه: بدهکار: هر حساب هزینه (از «تعریف هزینه»)؛ بستانکار: حساب تنخواه‌گردان‌ها.
4. قفل دوره: پس از نهایی‌سازی، دوره قفل است و اصلاح فقط با سند اصلاحی ممکن است.
مثال: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دورهٔ جاری: بر اساس دورهٔ تسویهٔ تنخواه (ماهانه/فصلی) خودکار تعیین می‌شود.
2. کارت‌ها: ماندهٔ ابتدای دوره، ترمیم و استرداد، هزینهٔ تأییدشده و ماندهٔ نقد پایان دوره.
3. اسناد در جریان: به دورهٔ بعد منتقل می‌شوند؛ پیام آبی تعداد و مبلغ آن‌ها را می‌گوید.
4. شمارش: مبلغ شمارش‌شده را وارد و «ذخیرهٔ شمارش» کنید؛ باید با ماندهٔ محاسبه‌شده برابر باشد.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پیش‌نمایش سند: بدهکار هر حساب هزینه با تفصیلی‌ها، بستانکار حساب تنخواه؛ برچسب «متوازن».
2. کنترل‌ها: اسناد منظورشده، برابری شمارش، اسناد در جریان و نقش کاربر؛ هر مورد با تیک یا ضربدر.
3. تأیید انتقال: اگر سند در جریان هست، تیک انتقال آن‌ها به دورهٔ بعد را بزنید.
4. نهایی‌سازی: حسابدار ارشد «نهایی‌سازی و صدور سند» را می‌زند ⇐ سند موقت صادر و اسناد «تسویه‌شده» می‌شوند.
5. تاریخچه: دوره‌های نهایی‌شده با شمارهٔ سند در جدول «تاریخچهٔ دوره‌ها».
نکته: حذف استردادی که در دورهٔ نهایی‌شده است مجاز نیست.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خزانه‌داری یعنی مدیریت پولی که از حساب‌های بانکی سازمان خارج یا به آن وارد می‌شود. هیچ پرداختی مستقیم انجام نمی‌شود: اول «درخواست پرداخت» ثبت و تأیید می‌شود، بعد خزانه‌دار پول را می‌پردازد.
1. ذی‌نفع: کسی که پول را می‌گیرد: پیمانکار، تأمین‌کننده، کارمند یا سایر.
2. ارزش افزوده: مالیاتی که روی فاکتور می‌آید؛ سازمان آن را می‌پردازد و بعداً از اداره مالیات «اعتبار» می‌گیرد.
3. کسر بیمه: بخشی از مبلغ پیمانکار که سازمان تا ارائهٔ مفاصاحساب بیمه نگه می‌دارد و به او نمی‌دهد.
4. خالص قابل پرداخت: مبلغ قبل از مالیات + ارزش افزوده − کسر بیمه؛ همان چیزی که واقعاً واریز می‌شود.
مثال: شرکت نگهداری فضای سبز سبزینه برای مهر صورت‌وضعیت داده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ثبت درخواست — ثبت‌کننده
2. تأیید مدیر واحد — مرحلهٔ ۱
3. تأیید مدیر مالی — مرحلهٔ ۲
4. تأیید مدیرعامل — فقط بالای آستانه
5. آمادهٔ اجرا — سند ۱: شناسایی بدهی
6. اجرای پرداخت — خزانه‌دار — سند ۲: پرداخت
از هر مرحلهٔ «در انتظار» می‌توان برگشت (دلیل اجباری) یا رد داد. یک کاربر دو مرحلهٔ پشت‌سرهم را تأیید نمی‌کند و ثبت‌کننده تأییدکننده نیست.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آستانه‌ها: آستانهٔ تأیید مدیرعامل و سقف تأیید گروهی (مقدار پیش‌فرض ندارند؛ تا تعریف نشوند ارسال ممکن نیست).
2. تفصیلی ذی‌نفع: گروه تفصیلی تأمین‌کنندگان، برای شناسایی ذی‌نفع در درخواست.
3. حساب‌های سند خودکار: بستانکاران تجاری، اعتبار مالیات بر ارزش افزوده و کسور بیمه.
4. دریافت و انتقال: حساب دریافتنی، گروه تفصیلی مشتریان و سقف انتقال روزانه.
5. مغایرت بانکی: حساب کارمزد بانکی؛ سپس «ذخیره تنظیمات» (فقط مدیر مالی).
نکته: اگر حساب‌های سند خودکار خالی باشند، آخرین تأیید درخواست پرداخت انجام نمی‌شود.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نقش‌ها: مدیر واحد، مدیر مالی، مدیرعامل، حسابدار ارشد و خزانه‌دار — فهرستی جدا از نقش‌های تنخواه.
2. افزودن: کد کاربری، نقش و نام را وارد و «افزودن» کنید؛ «افزودن خودم» کاربر جاری را پر می‌کند.
3. اولین مدیر مالی: اگر واحد هنوز مدیر مالی ندارد هر کاربری اولین نقش را ثبت می‌کند؛ بعد از آن فقط مدیر مالی.
مثال: زهرا حیدری مدیر واحد، مریم صادقی مدیر مالی، حسین جعفری مدیرعامل و نرگس توکلی خزانه‌دار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زبانه‌های وضعیت: پیش‌نویس، در انتظار مدیر واحد/مالی/مدیرعامل، آمادهٔ اجرا، پرداخت شد، برگشتی، ردشده، معلق.
2. درخواست جدید: دکمهٔ «درخواست پرداخت جدید» در بالای صفحه.
3. اقدام ردیف: پیش‌نویس و برگشتی: ویرایش، ارسال و حذف؛ بقیه فقط نمایش.
مثال: PAY-000242 (۲٫۴۵ میلیارد) از آستانه بیشتر است، پس «در انتظار تأیید مدیرعامل» مانده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ذی‌نفع و فاکتور: نام، نوع، شناسه ملی، تفصیلی ذی‌نفع؛ شماره فاکتور و تیک «فاکتور تأیید شده».
2. حساب و مرکز هزینه: حساب هزینهٔ معین و تفصیلی‌های مرکز هزینه که آن معین لازم دارد.
3. مبلغ: مبلغ قبل از مالیات، درصد یا مبلغ ارزش افزوده و کسر بیمه؛ خالص خودکار حساب می‌شود.
4. سررسید و پرداخت: تاریخ سررسید (نه گذشته)، حساب بانکی و روش (ساتنا، پایا، چک، نقد).
5. ذخیره یا ارسال: «ذخیرهٔ پیش‌نویس» یا «ارسال برای تأیید».
مثال: سبزینه: ۲۰۰ میلیون، ارزش افزوده ۱۰٪، کسر بیمه ۵٪ ⇐ خالص ۲۱۰ میلیون؛ مرکز هزینه: ادارهٔ پشتیبانی.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یک کارتابل: درخواست‌های پرداخت، ترمیم‌های تنخواه منتظر خزانه‌دار و انتقال‌های وجه — قدیمی‌ترین در بالا.
2. منتظر شما: فقط مواردی که مرحلهٔ فعلی با نقش شماست اقدام‌پذیرند.
3. تأیید/برگشت/رد: برگشت و رد دلیل اجباری دارند؛ برگشتی دوباره از مدیر واحد شروع می‌شود.
4. تأیید گروهی: فقط برای مبالغ زیر «سقف تأیید گروهی».
نکته: در لحظهٔ آخرین تأیید (مدیر مالی یا مدیرعامل) سند «شناسایی بدهی» موقت و خودکار صادر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پرداخت در بانک: خزانه‌دار ابتدا وجه را در سامانهٔ بانک پرداخت می‌کند.
2. ثبت اجرا: شمارهٔ پیگیری بانک، تاریخ، شبای مقصد و روش را وارد و «اجرای پرداخت» کنید.
3. نتیجه: سند «پرداخت» موقت صادر و وضعیت «پرداخت شد» می‌شود؛ این کار قطعی است.
4. تعلیق: با دلیل، درخواست را معلق و بعداً «رفع تعلیق»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کجا؟: پایین صفحهٔ هر درخواست پرداخت، پنل «اسناد حسابداری».
2. سند شناسایی بدهی: شمارهٔ سند، تاریخ، ردیف‌ها با تفصیلی و برچسب «متوازن».
3. سند پرداخت: پس از اجرا اضافه می‌شود؛ کد دریافت/پرداخت (Legacy) هم بالای پنل می‌آید.
4. وضعیت: هر دو سند «موقت»اند و در کارتابل اسناد قطعی می‌شوند.
نکته: سند موقت هنوز قابل بررسی و اصلاح است؛ سند قطعی (دائم) دیگر تغییر نمی‌کند.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دو زبانه: «دریافت وجه» از مشتریان/کارفرمایان و «انتقال وجه» بین حساب‌های بانکی همین واحد.
2. وضعیت دریافت: پیش‌نویس ← ثبت‌شده (فقط خزانه‌دار) یا لغوشده.
3. وضعیت انتقال: پیش‌نویس ← در انتظار تأیید خزانه‌دار ← انجام‌شده؛ یا برگشتی/ردشده.
مثال: RCV-000118: کارفرما شرکت فولاد البرز ۱,۸۴۵,۰۰۰,۰۰۰ ریال حق بیمهٔ معوق را واریز کرده و ثبت شده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پرداخت‌کننده: تفصیلی مشتری از گروه تفصیلی مشتریان (الزامی).
2. مبلغ و حساب: مبلغ، حساب بانکی مقصد، روش، تاریخ و شمارهٔ پیگیری بانک (تکراری پذیرفته نمی‌شود).
3. ثبت: خزانه‌دار «ثبت» را می‌زند ⇐ سند دریافت موقت صادر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مبدأ و مقصد: دو حساب بانکی متفاوت از همین واحد؛ موجودی دفتری مبدأ نمایش داده می‌شود.
2. مبلغ و روش: مبلغ، تاریخ، روش انتقال و دلیل انتقال.
3. ارسال: «ارسال برای تأیید» به خزانه‌دار.
4. کنترل‌ها: موجودی کافی مبدأ و سقف انتقال روزانه؛ تأییدکننده نباید ثبت‌کننده باشد.
مثال: انتقال ۳٫۵ میلیارد از بانک ملی به بانک تجارت؛ پس از تأیید، سند: بدهکار بانک تجارت / بستانکار بانک ملی.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دفتر سازمان و صورت‌حساب بانک باید یک مانده نشان دهند، ولی معمولاً به‌خاطر زمان‌بندی فرق دارند؛ مثل مقایسهٔ دفترچهٔ خرج خانه با پیامک‌های بانک. مغایرت‌گیری یعنی ردیف‌به‌ردیف علت فرق را پیدا کنیم.
1. فقط در بانک: کارمزد یا واریزی که بانک ثبت کرده ولی هنوز در دفتر نیست ⇐ سند کارمزد یا اتصال به دریافت.
2. فقط در دفتر: چکی که صادر کرده‌ایم ولی ذی‌نفع هنوز وصول نکرده است.
3. تطبیق: ردیف‌هایی که در هر دو هستند (هم‌مبلغ، با شماره/مرجع یکسان) جفت می‌شوند.
مثال: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صورت‌حساب جدید: حساب بانکی، بازه و ماندهٔ بانک؛ ردیف‌ها دستی یا «بارگذاری فایل دیسکت».
2. تطبیق خودکار: بر اساس شمارهٔ چک/فیش، مرجع بانک و مبلغ در بازهٔ ±۳ روز.
3. تطبیق‌نیافته‌ها: تطبیق دستی، سند کارمزد، اتصال به دریافت یا «نادیده» با یادداشت.
4. بستن: وقتی مغایرت صفر شد صورت‌حساب را «بستن» کنید.
مثال: کارمزد ۴۵,۰۰۰ ریالی فقط در بانک است ⇐ سند کارمزد: بدهکار کارمزد بانکی / بستانکار بانک.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باز کردن: در جزئیات صورت‌حساب، دکمهٔ «صورت مغایرت» را بزنید.
2. ساختار: ماندهٔ دفتر ± اقلام فقط‌بانک و چک‌های وصول‌نشده = ماندهٔ تعدیل‌شده، در برابر ماندهٔ بانک.
3. اختلاف: سطر «اختلاف توضیح‌داده‌نشده» باید صفر شود؛ وگرنه ردیف‌های تطبیق‌نیافته را بررسی کنید.
4. ریز اقلام و امضا: هر گروه با تاریخ، مرجع، شرح، مبلغ و جمع؛ پایین برگه جای امضای مسئولان.
5. چاپ: دکمهٔ «چاپ /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موجودی کل: جمع و تفکیک موجودی دفتری حساب‌های بانکی.
2. تعهدات ۷ روز: درخواست‌های آمادهٔ اجرا و نسبت پوشش آن‌ها با موجودی.
3. انتظار تأیید و امروز: تعداد و مبلغ موارد منتظر تأیید؛ دریافت و پرداخت امروز.
4. اقلام باز و اقدام سریع: سررسیدها و هشدارها؛ دکمه‌های درخواست پرداخت، دریافت وجه و انتقال وجه.
مثال: موجودی ۷۹٫۶ میلیارد و تعهدات هفته ۳٫۱ میلیارد است؛ یعنی پرداخت‌های پیش‌رو با خیال راحت پوشش دارند.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وقتی سازمان کالا یا خدمتی به دیگری می‌دهد و پولش را بعداً می‌گیرد، چند «سند فروش» پشت سر هم صادر می‌شود. هر سند یک قدم از ماجراست؛ سامانه آن‌ها را به هم زنجیر می‌کند و در قدم‌های لازم سند حسابداری را خودش می‌سازد.
1. پیش‌فاکتور و سفارش: پیشنهاد قیمت به مشتری و قبول آن. هنوز چیزی تحویل نشده و هیچ سند حسابداری ساخته نمی‌شود.
2. حواله تحویل: کالا از انبار بیرون می‌رود؛ موجودی کم می‌شود و «بهای تمام‌شده» (قیمت خرید کالای فروخته‌شده) ثبت می‌شود.
3. فاکتور فروش: طلب از مشتری (دریافتنی)، درآمد فروش و مالیات بر ارزش افزوده ثبت می‌شود.
4. برگشت از فروش: اگر مشتری کالا را پس داد یا فاکتور اشتباه بود، تنها راه اصلاح فاکتور قطعی همین سند است.
مثال: اداره کل تهران قرار است ۱۰ دستگاه کارتخوان و خدمت نصب آن‌ها را به «بیمارستان نمونهٔ البرز» بفروشد: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پیش‌فاکتور — قیمت، تخفیف و اعتبار
2. سفارش فروش — تعهد به مشتری
3. حواله تحویل — خروج کالا و بهای تمام‌شده
4. فاکتور فروش — دریافتنی، درآمد و مالیات
5. برگشت از فروش — تنها راه اصلاح فاکتور قطعی
هر سند: پیش‌نویس ← (در انتظار تأیید) ← تأییدشده ← قطعی‌شده. فقط حواله، فاکتور و برگشت قطعی می‌شوند و سند حسابداری موقت می‌سازند.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تخفیف یعنی کم کردن از قیمت؛ «مالیات بر ارزش افزوده» مبلغی است که فروشنده روی فروش از مشتری می‌گیرد و بعداً به سازمان امور مالیاتی می‌دهد، پس درآمد سازمان نیست، بدهی است.
1. تخفیف ردیف و تخفیف کلی: هر ردیف «تخفیف ٪» دارد؛ «تخفیف کلی سند» (ریالی) به نسبت مبلغ ردیف‌ها بین آن‌ها سرشکن می‌شود.
2. مبلغ مشمول: مبلغ پس از تخفیف؛ مالیات روی همین عدد و در سطح هر ردیف حساب می‌شود.
3. نرخ مالیات: نرخ مؤثر در تاریخ سند (از «تنظیمات فروش»)؛ کالای «معاف» با نرخ صفر حساب می‌شود.
4. تخفیف زیاد: اگر تخفیف از آستانهٔ تنظیمات (مثلاً ۱۰٪) بیشتر شود، سند برای تأیید مدیر فروش ارجاع می‌شود.
مثال: ۱۰ دستگاه × فی ۵,۰۰۰,۰۰۰ ریال، تخفیف ۱۰٪، نرخ مالیات ۱۰٪: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قواعد کنترلی: آستانهٔ تخفیف نیازمند تأیید؛ «سیاست سقف اعتبار»: ارجاع به مدیر فروش، توقف یا هشدار.
2. گزینه‌ها: تفکیک وظایف، فاکتور کالا پیش از تحویل و اجازهٔ موجودی منفی.
3. حساب‌ها: برای ۹ نقش (دریافتنی، فروش، خدمات، تخفیف، مالیات، بهای تمام‌شده، موجودی و …) معین بدهید.
4. مالیات و مودیان: نرخ ارزش افزوده با «از تاریخ»؛ شناسهٔ ملی فروشنده و شناسهٔ حافظهٔ مالیاتی.
5. نقش‌ها: کد ملی کاربر و نقش او؛ در پایان «ذخیرهٔ تنظیمات».
نکته: «حساب‌های دریافتنی» الزامی است؛ بدون آن مشتری تعریف نمی‌شود.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کد و نوع: کد، نام، گروه و نوع (کالا یا خدمت) با واحد سنجش.
2. قیمت: قیمت فروش پیش‌فرض؛ برای کالا «بهای استاندارد» مبنای بهای تمام‌شده است.
3. مودیان: شناسهٔ ۱۳ رقمی و تیک «معاف از مالیات بر ارزش افزوده».
4. غیرفعال: کالای غیرفعال در سندهای تازه انتخاب نمی‌شود.
مثال: کارتخوان: نوع کالا، واحد «دستگاه»، قیمت ۵,۰۰۰,۰۰۰، بهای استاندارد ۳,۲۰۰,۰۰۰. موجودی اول دوره فقط هنگام تعریف؛ بعد فقط با حواله و برگشت تغییر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تفصیلی: شخص یا شرکت را از تفصیلی‌های حساب دریافتنی انتخاب کنید؛ تفصیلی تازه ساخته نمی‌شود.
2. هویت: حقیقی/حقوقی، شناسهٔ ملی یا کد ملی، کد اقتصادی و کد پستی.
3. مودیان: اطلاعات کامل ⇐ صورتحساب نوع اول؛ ناقص (قرمز/زرد) ⇐ نوع دوم.
4. اعتبار و مسدود: سقف اعتبار (صفر = بدون سقف)، مهلت پرداخت؛ برای مشتری مسدود سند تازه صادر نمی‌شود.
نکته: «تفصیلی» یعنی ریزِ یک حساب: حساب دریافتنی یکی است، ولی طلب از هر مشتری با تفصیلی خودش جدا نگه داشته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نقش شما: زیر عنوان صفحه نقش‌های فروش شما نمایش داده می‌شود.
2. کارتابل‌ها: «در انتظار تأیید من» برای مدیر فروش، «آمادهٔ قطعی‌سازی» برای حسابدار و «پیش‌نویس‌ها» برای کارشناس.
3. اقدام سریع: دکمه‌های «پیش‌فاکتور جدید» و «فاکتور مستقیم».
4. هشدار تنظیمات: اگر حساب دریافتنی تعریف نشده باشد، نوار زرد شما را به «تنظیمات فروش» می‌برد.
مثال: خانم رضایی (حسابدار فروش) هر صبح کارتابل «آمادهٔ قطعی‌سازی» را باز می‌کند و حواله‌ها و فاکتورهای تأییدشدهٔ دیروز را قطعی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زبانه‌ها: همهٔ اسناد، یا فقط پیش‌فاکتور، سفارش، حواله، فاکتور و برگشت.
2. جستجو و فیلتر: شمارهٔ سند، نام مشتری یا شمارهٔ سفارش مشتری؛ و فیلتر وضعیت.
3. صدور: «پیش‌فاکتور جدید»، «سفارش جدید» یا «فاکتور مستقیم».
4. بررسی: دکمهٔ «بررسی» جزئیات، زنجیره و اقدام‌های هر سند را باز می‌کند.
مثال: بیمارستان زنگ زده و شمارهٔ سفارش خودش (PO-7781) را می‌گوید: همان را در جستجو بنویسید تا سند فروش مربوط پیدا 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سربرگ: نوع سند، تاریخ، مهلت پرداخت، مشتری، نوع فروش، شمارهٔ سفارش مشتری و اعتبار پیش‌فاکتور.
2. وضعیت مشتری: نوار خط‌چین: مانده حساب، سفارش باز، سقف اعتبار و نوع صورتحساب مودیان.
3. ردیف‌ها: کالا/خدمت، تعداد، فی و درصد تخفیف؛ موجودی کالا زیر نامش دیده می‌شود.
4. جمع‌ها: ستون کنار: ناخالص، تخفیف کلی، مشمول، مالیات و قابل پرداخت.
5. ثبت: با هشدار تخفیف/اعتبار ⇐ «ثبت و ارسال برای تأیید»؛ بدون آن ⇐ «ثبت نهایی»؛ یا «ذخیرهٔ پیش‌نویس».
مثال: در تصویر تخفیف ۱۵٪ از آستانهٔ ۱۰٪ بیشتر است، پس دکمه «ثبت و ارسال برای تأیید» شده است. پیش‌نویس سند حسابداری نمی‌سازد.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مراحل: نوار بالا مرحلهٔ سند را نشان می‌دهد: پیش‌نویس، در انتظار تأیید، تأییدشده.
2. دلیل ارجاع: کادر زرد علت ارجاع را می‌گوید، مثل تخفیف بیش از آستانه.
3. تأیید: مدیر فروش «تأیید» می‌زند؛ با تفکیک وظایف، ایجادکننده سند خودش را تأیید نمی‌کند.
4. رد: «رد و بازگشت به پیش‌نویس» با دلیل اختیاری؛ کارشناس اصلاح و دوباره ثبت می‌کند.
5. زنجیره و تاریخچه: ستون کنار: کنترل‌ها، زنجیرهٔ اسناد مبدأ و مقصد، و تاریخچهٔ اقدام‌ها.
مثال: آقای کریمی (مدیر فروش) دلیل «تخفیف ۱۵٪» را می‌بیند؛ چون مشتری قدیمی است تأیید می‌کند. سندی که ارجاع لازم ندارد خودکار تأیید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دکمهٔ صدور: در سند تأییدشده «صدور …» را بزنید؛ دکمهٔ غیرفعال دلیلش را زیر نوار می‌گوید.
2. از مبدأ: مشتری، کالا و قیمت از سند مبدأ می‌آید؛ فقط مقدار را می‌شود کم کرد.
3. خدمات: خدمت مستقیم فاکتور می‌شود؛ کالا اول حواله می‌خواهد مگر «فاکتور پیش از تحویل» روشن باشد.
4. تحویل جزئی: مقدار را کم کنید؛ باقی‌مانده برای سند بعدی می‌ماند. بیش از باقی‌مانده پذیرفته نمی‌شود.
مثال: سفارش ۱۰ دستگاه است ولی انبار امروز ۶ تا دارد: حوالهٔ ۶ دستگاه صادر کنید؛ هفتهٔ بعد حوالهٔ ۴ دستگاه باقی‌مانده.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پیش‌نمایش: پیش از قطعی‌سازی، ردیف‌های سند با حساب، تفصیلی، شرح و برچسب «سند تراز است» دیده می‌شود.
2. کنترل‌ها: تراز سند، باز بودن دوره و سال مالی، و کافی بودن موجودی.
3. قطعی‌سازی: حسابدار فروش «قطعی‌سازی و ثبت حسابداری» را می‌زند و تأیید می‌کند.
4. نتیجه: شمارهٔ نهایی، سند حسابداری موقت و تغییر موجودی — همه با هم یا هیچ‌کدام.
نکته: «سند موقت» یعنی سند حسابداری ثبت شده ولی هنوز قابل بررسی است و بعداً در چرخهٔ اسناد، دائم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قفل: سند قطعی ویرایش یا ابطال نمی‌شود؛ پیام قفل بالای صفحه همین را می‌گوید.
2. سند حسابداری: «مشاهدهٔ سند حسابداری» سند موقت صادرشده را باز می‌کند.
3. برگشت: برای اصلاح، «صدور برگشت از فروش» را بزنید و ردیف‌ها و مقدار برگشتی را تعیین کنید.
4. ابطال: دکمهٔ «ابطال» فقط در سند قطعی‌نشده هست؛ سند باطل دیگر استفاده نمی‌شود.
مثال: در فاکتور INV-1405-0004 مبلغ مشمول ۱۰۰ میلیون و مالیات ۱۰٪ آن ۱۰ میلیون است؛ سند حسابداری: دریافتنی ۱۱۰ میلیون بدهکار، درآمد خدمات و مالیات بستانکار.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تنظیمات فروش این واحد کامل نیست…: در «تنظیمات فروش» حداقل «حساب‌های دریافتنی» را تعیین و «ذخیرهٔ تنظیمات» را بزنید.
برای کار با فروش، مدیر مالی واحد باید … نقش بدهد: از مدیر مالی بخواهید در بخش نقش‌های تنظیمات فروش، کد ملی شما را با نقش مناسب اضافه کند.
حساب دریافتنی سطح تفصیلی ندارد: حساب انتخاب‌شده برای دریافتنی باید سطح تفصیلی داشته باشد؛ نگاشت حساب را اصلاح کنید.
تخفیف … بیش از آستانه — نیاز به تأیید مدیر فروش: عادی است؛ «ثبت و ارسال برای تأیید» را بزنید یا تخفیف را تا آستانه کم کنید.
مشتری در فهرست سند نیست / مسدود: مشتری مسدود سند تازه نمی‌گیرد؛ مدیر فروش در «مشتریان» تیک «مسدود» را بردارد.
دکمهٔ «صدور …» غیرفعال است: دلیلش زیر نوار دکمه‌ها آمده؛ مثلاً سند هنوز تأیید نشده یا مقداری باقی نمانده است.
✗ سند تراز نیست / قطعی‌سازی غیرفعال: خطای زیر پیش‌نمایش سند را بخوانید؛ معمولاً حساب یکی از نقش‌ها (مثل مالیات) در تنظیمات خالی است.
این سند مبلغ حسابداری ندارد: مثلاً بهای استاندارد کالا صفر است؛ در «کالا و خدمات» بهای استاندارد را وارد کنید.
سند قطعی قابل ویرایش یا ابطال نیست: برای اصلاح «صدور برگشت از فروش» بزنید و در صورت نیاز فاکتور تازه صادر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در روش «نقدی» هزینه همان روزی ثبت می‌شود که پول پرداخت شده است. در روش «تعهدی» هزینه در ماهی ثبت می‌شود که از آن استفاده کرده‌ایم، حتی اگر پولش زودتر یا دیرتر پرداخت شود.
1. پیش‌پرداخت: پول را زودتر داده‌ایم (مثل اجارهٔ یک‌ساله)؛ هر ماه فقط سهم همان ماه هزینه می‌شود.
2. درآمد انتقالی (پیش‌دریافت): پول را زودتر گرفته‌ایم؛ هر ماه فقط سهم همان ماه درآمد می‌شود.
3. برآورد: خدمت را گرفته‌ایم ولی قبضش هنوز نیامده؛ آخر ماه مبلغ تقریبی ثبت و اول ماه بعد خودکار برگردانده می‌شود.
مثال: در آبان، اجارهٔ ۱۲ ماه یک‌جا پرداخت شد: ۱۲۰,۰۰۰,۰۰۰ ریال.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نکته: برآورد هم همین‌طور کار می‌کند: سندی که با الگوی «برگشت خودکار» ثبت شود، روز اول ماه بعد خودکار برعکس می‌شود. برآورد اسفند برگشت خودکار ندارد.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جمله: بنویسید چه شد؛ مثلاً «اجارهٔ ۱۲ ماههٔ ساختمان شعبهٔ ۲ تهران را ۱۲۰ میلیون از بانک ملی پیش‌پرداخت کردیم».
2. برداشت حسابیار: عملیات «پیش‌پرداخت اجاره یا بیمه (تقسیم ماهانه)»، مبلغ، بابت دوره، تعداد ماه و حساب بانکی را تأیید کنید.
3. جدول ماهانه: در پیش‌نویس، سهم هر ماه دیده می‌شود؛ جمع جدول برابر مبلغ اصلی است.
4. ارسال: «ارسال برای بررسی حسابدار»؛ سند «موقت» ثبت و زمان‌بندی ساخته می‌شود.
مثال: آبان ۱۲۰ میلیون، ۱۲ ماه ⇐ از آبان ۱۴۰۵ تا مهر ۱۴۰۶، هر ماه ۱۰,۰۰۰,۰۰۰ ریال.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کاشی‌ها: سررسید امروز یا گذشتهٔ اجرانشده، سررسید این ماه (باز)، اجراشده و لغوشدهٔ این ماه.
2. هشدار: تا اقلام سررسیدشده اجرا نشوند، صورتحساب این ماه انجام نمی‌شود.
3. نیاز به اقدام: هر سطر: نوع، شرح، سند اصلی، تاریخ سررسید و مبلغ.
4. اجرا الان: سند همان سطر را همین حالا می‌سازد؛ «جزئیات» همهٔ سطرهای سند اصلی را نشان می‌دهد.
نکته: سامانه سطرهای سررسیدشده را هر روز خودکار اجرا می‌کند؛ «اجرا الان» برای وقتی است که منتظر نمی‌مانید.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تأیید: با «اجرای الان» سند سهم آن ماه ساخته و شماره‌اش نمایش داده می‌شود.
2. تکرار بی‌خطر: سطری که قبلاً اجرا شده دوباره سند نمی‌سازد؛ همان سند قبلی را نشان می‌دهد.
3. جزئیات: همهٔ ماه‌ها با وضعیت باز، اجراشده یا لغو و سند ساخته‌شدهٔ هر سطر.
4. جمع: جمع کل سطرها همیشه برابر مبلغ سند اصلی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فیلتر: بر اساس وضعیت (باز، اجراشده، لغو)، نوع و بازهٔ سررسید.
2. سند ساخته‌شده: برای سطر اجراشده، شمارهٔ سندی که ساخته شده دیده می‌شود.
3. فسخ: اگر قرارداد زودتر تمام شد، در جزئیات «لغو باقی‌مانده‌ها» را بزنید و دلیل بنویسید.
4. اثر لغو: فقط سطرهای باز لغو می‌شوند؛ ماه‌های اجراشده دست نمی‌خورند.
مثال: اجاره از آبان فسخ شد: ۳ ماه اجرا شده، ۹ سطر باقی‌مانده با دلیل «فسخ قرارداد اجاره» لغو می‌شوند.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صورتحساب ماه انجام نمی‌شود: در میز کار تعهدی سطرهای سررسیدشدهٔ اجرانشده را «اجرا الان» کنید
سند سهم ماهانه ساخته نشد: تاریخ سررسید را ببینید؛ پیش از سررسید فقط با «اجرا الان» ساخته می‌شود
قرارداد زودتر تمام شد: در جزئیات زمان‌بندی «لغو باقی‌مانده‌ها» را با دلیل بزنید
برآورد اسفند برنگشت: برآورد اسفند برگشت خودکار ندارد؛ بعد از سند افتتاحیه دستی برگردانید
سند تعهدی را کجا ثبت کنم؟: از حسابیار، با الگوهای «پیش‌پرداخت» یا «برگشت خودکار» که ستاد تعریف کرده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لازم نیست بدانید کدام حساب بدهکار و کدام بستانکار است. کافی است بگویید چه اتفاقی افتاده؛ حسابیار عملیات را تشخیص می‌دهد، چند سؤال کوتاه می‌پرسد و سند را از روی «الگوی عملیات» ستاد می‌سازد.
1. الگوی عملیات: دستور ساخت سند برای یک کار روزمره؛ مثل «پرداخت قبض آب، برق و گاز» یا «پرداخت به پیمانکار».
2. شما فقط جواب می‌دهید: مبلغ، تاریخ، حساب بانکی و بابت؛ حساب‌ها و تفصیلی‌ها را الگو تعیین می‌کند.
3. حسابدار تأیید می‌کند: سند به‌صورت «موقت» ثبت و در صف بررسی حسابدار واحد قرار می‌گیرد.
مثال: جمله: «پرداخت قبض برق اداره کل تهران ۴۵ میلیون ریال از بانک ملی»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جمله — بگویید چه شد
2. برداشت حسابیار — عملیات و مبلغ را تأیید کنید
3. سؤال‌ها — تاریخ، بانک، بابت
4. پیش‌نویس — به زبان ساده و سند حسابداری
5. ارسال — ثبت موقت
6. بررسی حسابدار — تأیید یا برگرداندن
در هر مرحله می‌توانید جواب قبلی را با آیکون مداد عوض کنید یا «عملیات دیگری است» را بزنید.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کادر جمله: پایین گفت‌وگو بنویسید چه اتفاقی افتاده؛ به همان زبانی که به همکارتان می‌گویید.
2. سندهای سریع: کارهایی که زیاد تکرار می‌کنید را با یک کلیک شروع کنید.
3. سندهای من: سندهای اخیر شما و وضعیتشان؛ سند برگشت‌خورده هم اینجا دیده می‌شود.
4. الگوهای عملیات: دکمهٔ بالای صفحه فهرست کارهایی را نشان می‌دهد که حسابیار بلد است.
مثال: بنویسید: «پرداخت قبض برق اداره کل تهران ۴۵ میلیون ریال از بانک ملی» و Enter بزنید.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برداشت من: حسابیار عملیات، مبلغ (با حروف)، حساب بانکی و بابت را از جملهٔ شما بیرون کشیده است.
2. تأیید: «درست است»، یا «مبلغ را اصلاح کن» یا «عملیات دیگری است».
3. سؤال‌ها: هر چه در جمله نبود پرسیده می‌شود؛ مثلاً «سند به چه تاریخی ثبت شود؟».
4. پیشرفت: نوار پایین نشان می‌دهد چند سؤال مانده؛ «همهٔ فیلدها» همه را یک‌جا باز می‌کند.
نکته: برچسب «برداشت هوش مصنوعی» یعنی این مقدار از جملهٔ شما خوانده شده؛ اگر درست نیست با مداد عوضش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به زبان ساده: یک جمله که سند را توضیح می‌دهد، با مبلغ، طرف حساب، تاریخ و پیوست.
2. کنترل‌ها: تراز بدهکار و بستانکار، سقف مبلغ عملیات و مدرک؛ هشدار زرد یعنی کاری مانده است.
3. پیوست مدرک: تصویر قبض یا فاکتور را پیوست کنید تا حسابدار ببیند.
4. ارسال: «ارسال برای بررسی حسابدار» ⇐ سند موقت ثبت می‌شود؛ «ویرایش کامل» همهٔ فیلدهای سند را باز می‌کند.
مثال: قبض برق ۴۵ میلیون: کنترل «مدرک هنوز پیوست نشده» زرد است ⇐ «پیوست مدرک» ⇐ ارسال.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زبانهٔ سند حسابداری: ردیف‌های بدهکار و بستانکار که الگو ساخته، با معین و تفصیلی.
2. ریسک: برچسب ریسک (کم، متوسط…) و وضعیت «پس از ارسال: موقت» بالای پیش‌نویس است.
3. مبنا: زیر کنترل‌ها نوشته شده سند از کدام الگو و چند بار پیش‌تر استفاده شده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وضعیت: سندهای در انتظار بررسی، بررسی‌شده و برگشت‌خورده جدا دیده می‌شوند.
2. برگشت: اگر حسابدار سند را برگرداند، دلیلش را می‌بینید.
3. اصلاح: سند را ویرایش کنید یا به حسابدار پاسخ دهید و دوباره بفرستید.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فهرست: سندهای ثبت‌شده با حسابیار در واحد؛ زبانه‌های همه، کم‌ریسک و نیازمند توجه.
2. جزئیات: آنچه کاربر گفت، توضیح به زبان ساده، ردیف‌ها، منشأ، کنترل‌ها و مدرک پیوست.
3. تصمیم: «بررسی شد»، «برگرداندن به ثبت‌کننده» با دلیل، یا «ویرایش سند».
4. گروهی: «بررسی گروهی کم‌ریسک‌ها» چند سند کم‌ریسک را یک‌جا بررسی می‌کند.
نکته: ثبت‌کنندهٔ یک سند نمی‌تواند خودش آن را تأیید کند؛ تأیید باید با حسابدار دیگری باشد.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فهرست: همهٔ سندهایی که در واحد با حسابیار ساخته شده: زمان، شمارهٔ سند، الگو، نوع ثبت و کاربر.
2. نوع ثبت: «از الگو»، «از سوابق» (تکرار یک سند قبلی) یا «سند کامل».
3. فیلتر: بازهٔ تاریخ، الگو، نوع ثبت و «فقط سندهای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الگو: عملیات را انتخاب کنید؛ مثلاً «پرداخت به پیمانکار».
2. فایل نمونه: «دریافت فایل نمونه»، پر کردن سطرها در اکسل و «بارگذاری فایل پرشده».
3. بررسی سطرها: هر سطر وضعیت «آمادهٔ ثبت» یا خطا دارد؛ سطرهای خطادار ثبت نمی‌شوند.
4. ثبت: «هر سطر یک سند» یا «همه در یک سند»، سپس دکمهٔ ثبت.
مثال: پنج پرداخت پیمانکار در یک فایل: سه سطر سالم ثبت می‌شوند و دو سطر خطادار (پیمانکار ناشناخته، مبلغ خالی) را در اکسل اصلاح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سؤال: بنویسید چه گزارشی می‌خواهید؛ مثلاً «تراز ۶ ستونی سطح کل ماه قبل».
2. انتخاب حسابیار: گزارش و بازه را تشخیص می‌دهد؛ می‌توانید بازه را عوض کنید.
3. نمایش: «نمایش گزارش» همان گزارش همیشگی را با جمع‌ها و خروجی Excel باز می‌کند.
نکته: گزارش‌های پرتکرار را مدیر ستاد در «گزارش‌های ذخیره‌شده» با یک اسم ساده تعریف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تعریف: یک گزارش موجود با تنظیمات دلخواه و یک اسم ذخیره می‌شود.
2. تنظیمات: نوع گزارش، سطح، بازه و فیلترها؛ «هر بار از کاربر بپرس» برای بازه.
3. استفاده: کاربر فقط اسم را می‌گوید؛ مثلاً «هزینهٔ دارو ماه قبل».
4. دسترسی: تعریف و تغییر فقط برای ستاد مرکزی یا نقش دارای این قابلیت.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فهرست: هر الگو یک کار روزمره (خرید کالا، دریافت از مشتری، پرداخت حقوق…) را به یک سند استاندارد تبدیل می‌کند.
2. فعال/غیرفعال: الگوی غیرفعال در حسابیار پیشنهاد نمی‌شود.
3. دسترسی: تعریف و تغییر الگو فقط برای کاربر ستاد مرکزی یا نقشی که این قابلیت را دارد.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عملیات چیست؟: عنوان، کد، نوع و جمله‌های نمونه و کلمه‌های کلیدی برای تشخیص.
2. سؤال‌ها: از کاربر چه بپرسد: مبلغ، تاریخ، حساب بانکی، بابت.
3. سند: ردیف‌های بدهکار و بستانکار و تفصیلی هر ردیف؛ سقف مبلغ و پیوست الزامی.
4. تعهدی: برگشت خودکار ماه بعد یا تقسیم روی چند ماه (فصل حسابداری تعهدی).
5. آزمایش: با یک جمله امتحان کنید که درست تشخیص و سند درست ساخته 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بازسازی: حسابیار اسناد سال‌های انتخابی را بررسی می‌کند و کارهای تکراری را پیدا می‌کند.
2. پیشنهاد: برای هر کار تکراری: حساب‌ها، سمت، سهم و تعداد سندها و واحدها.
3. فیلتر: «فقط بدون الگو» کارهایی را نشان می‌دهد که هنوز الگو ندارند.
4. تبدیل: مدیر ستاد پیشنهاد را به الگوی تازه تبدیل یا حذف می‌کند.
مثال: ۲۱۴ سند «پرداخت قبض برق» در ۷ واحد پیدا شد ⇐ تبدیل به الگو تا از این به بعد با یک جمله ثبت 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حسابیار عملیات را اشتباه تشخیص داد: «عملیات دیگری است» را بزنید یا جمله را دقیق‌تر بنویسید
مبلغ اشتباه خوانده شد: «مبلغ را اصلاح کن» یا آیکون مداد کنار همان جواب
کنترل «مدرک هنوز پیوست نشده»: با «پیوست مدرک» تصویر قبض یا فاکتور را اضافه کنید
ثبت‌کنندهٔ این سند شما هستید…: تأیید را حسابدار دیگری انجام دهد
سطر اکسل ثبت نشد: خطای همان سطر را در اکسل اصلاح و فایل را دوباره بارگذاری کنید
الگوی کار من نیست: از مدیر ستاد بخواهید الگو را تعریف یا از «کشف الگو» بسازد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صورت‌های مالی چند گزارش رسمی و استاندارد است که در پایان دوره، خلاصهٔ همهٔ اسناد حسابداری را به زبان مدیران، حسابرس و نهادهای ناظر می‌گوید: چه داریم، چه بدهکاریم، امسال چه شد و پول نقد از کجا آمد و کجا رفت.
1. صورت وضعیت مالی / خالص دارایی‌ها: عکس یک لحظه (مثلاً پایان اسفند): دارایی‌ها منهای بدهی‌ها. در طرح بیمه‌ای «صورت خالص دارایی‌های طرح» نام دارد.
2. صورت سود و زیان / تغییرات: فیلم یک دوره: درآمدها منهای هزینه‌ها. در طرح بیمه‌ای «صورت تغییرات در خالص دارایی‌ها».
3. صورت جریان وجوه نقد: پول نقد (صندوق و بانک) در دوره از کجا وارد و به کجا خارج شد.
4. یادداشت‌ها: ریز و توضیح ردیف‌های صورت؛ مثلاً یادداشت ۵ «موجودی نقد» = صندوق + بانک + تنخواه.
مثال: اعداد ساده‌شده به میلیون ریال: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«تراز آزمایشی» فهرست ماندهٔ همهٔ حساب‌های معین است. صورت مالی هیچ عددی را دستی نمی‌گیرد؛ «قالب» می‌گوید کدام معین‌ها در کدام ردیف جمع شوند. به این اتصال «نگاشت» می‌گویند.
1. ردیف حساب: مثل A01 «موجودی نقد» با انتخاب‌گر 1101..1103: ماندهٔ معین‌های ۱۱۰۱ تا ۱۱۰۳ جمع می‌شود.
2. ردیف فرمول: مثل A99 «جمع دارایی‌ها» = SUM(A01:A07)؛ از ردیف‌های دیگر حساب می‌شود.
3. ماهیت: دارایی «بدهکار» و بدهی «بستانکار» است؛ قالب برای هر ردیف می‌گوید کدام طرف مثبت حساب شود.
4. خطر جا ماندن: معینی که در هیچ ردیفی نیاید، عددش از صورت حذف می‌شود؛ «نگاشت حساب‌ها» همین را نشان می‌دهد.
مثال: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صورت منتشرشده به بیرون سازمان می‌رود و نباید بعداً عوض شود. پس اول چند نفر آن را بررسی و تأیید می‌کنند و دورهٔ همهٔ واحدها قفل می‌شود؛ بعد منتشر می‌شود.
1. عکس ثابت: هر «اجرا» اعداد را در همان لحظه نگه می‌دارد؛ سند یا قالبی که بعداً عوض شود، اجرای قبلی را تغییر نمی‌دهد.
2. تأیید چندمرحله‌ای: بازبین ← مدیرکل ← معاون؛ تهیه‌کننده خودش تأیید و منتشر نمی‌کند (تفکیک وظایف).
3. بستن دوره: باز ← بستهٔ موقت ← قفل؛ انتشار فقط وقتی ممکن است که دورهٔ همهٔ واحدهای دامنه قفل باشد.
مثال: صورت ۱۴۰۵ با موجودی نقد ۸۸ میلیون منتشر شده است. فردای آن، اداره کل تهران سند ۵ میلیونی هزینهٔ بانکی را جا مانده می‌بیند و ثبت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سازمان چند واحد دارد (ستاد و ادارات کل). «صورت ترکیبی/تلفیقی» همه را یک‌جا جمع می‌کند. ولی طلب و بدهی واحدها به یکدیگر «فی‌مابین» است و برای کل سازمان نه طلب است نه بدهی؛ پس باید حذف شود.
1. حساب جاری: ستاد طلب از اداره کل را در «حساب جاری ادارات کل» و اداره کل بدهی را در «حساب جاری ستاد» نگه می‌دارد.
2. تطبیق: دو سو باید برابر باشند؛ اختلاف بیش از آستانه کنترل V-07 را مسدودکننده می‌کند.
3. شرکت تابعه: اگر شرکت تابعه هم تلفیق شود، تراز آزمایشی‌اش از Excel وارد و به ریال تسعیر می‌شود.
مثال: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قالب و نگاشت — نسخهٔ فعال؛ هیچ معینی جا نماند
2. تهیهٔ صورت‌ها — ویزارد سه‌مرحله‌ای
3. بررسی و ریز عدد — از ردیف صورت تا سند حسابداری
4. کنترل و یادداشت‌ها — ارجاع کنترل، متن یادداشت
5. تأیید مرحله‌ای — بازبین ← مدیرکل ← معاون
6. بستن دوره و انتشار — قفل دوره، PDF و XBRL
هر اجرا یک «عکس ثابت» از اعداد است؛ تغییر بعدی قالب یا اسناد، اجرای قبلی را عوض نمی‌کند — برای عدد تازه، اجرای جدید بگیرید.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قالب‌ها معمولاً از قبل آماده‌اند. برای دیدن و چاپ صورت‌ها همین چهار قدم کافی است؛ تنظیمات پیشرفته در اسلایدهای بعد آمده است.
نکته: اگر عددی عجیب است، روی آن کلیک کنید تا معین‌ها و اسناد سازندهٔ آن را ببینید (اسلاید «ریز عدد»).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شاخص‌ها: چهار نسبت اول از آخرین اجرای سال، در کنار مقدار سال قبل.
2. وضعیت بستن سال: کاشی هر زیرواحد با وضعیت دوره (باز، بستهٔ موقت، قفل)، تعداد خطا و درصد پیشرفت.
3. کارهای من: تأییدهای منتظر شما، کنترل‌های ارجاع‌شده، یادداشت‌های در بازبینی و درخواست‌های بازگشایی.
4. میانبرها: «تهیهٔ صورت‌ها»، «مشاهدهٔ صورت‌ها»، «تحلیل» و «یادداشت‌ها» در بالای صفحه.
مثال: مدیرکل امور مالی در «کارهای من» می‌بیند «تأیید مرحلهٔ مدیرکل — اجرای ۱۸» منتظر اوست؛ با یک کلیک به همان اجرا می‌رود.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هر ردیف یک اجرا: شماره، مجموعه، دوره، دامنه (ترکیبی/جداگانه)، وضعیت و تاریخ تهیه.
2. وضعیت‌ها: پیش‌نویس، در بازبینی، تأییدشده، منتشرشده، جایگزین‌شده.
3. تهیهٔ صورت‌ها: دکمهٔ بالای صفحه ویزارد را باز می‌کند.
4. حذف: فقط پیش‌نویس و جایگزین‌شده حذف می‌شوند.
مثال: برای دیدن صورت رسمی شش‌ماههٔ ۱۴۰۵، اجرای «منتشرشده» همان دوره را باز کنید، نه پیش‌نویس‌ها 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مجموعهٔ صورت (مثلاً طرح بیمه‌ای)، سال مالی و «پایان دوره»: از ابتدای سال تا پایان آن ماه؛ مثلاً پایان شهریور = شش‌ماهه.
2. صورت ترکیبی (همهٔ زیرمجموعه‌ها) یا جداگانه؛ در ترکیبی «گروه واحدها» (بیمه‌ای، درمانی یا ستادی). حداقل وضعیت سند: پیش‌فرض تأیید دائم.
3. ستون سال قبل، «تجدید ارائه‌شده»، تلفیق با شرکت‌های تابعه، اجرا در پس‌زمینه و شمارهٔ اولین یادداشت ⇐ «تهیهٔ صورت‌ها». «ذخیره به‌عنوان پیش‌فرض» تنظیمات را نگه می‌دارد.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قالب رسمی: عنوان سه‌سطری، ستون یادداشت، سال جاری و قبل، خط جمع و پرانتز برای منفی.
2. ابزارها: واحد مبلغ، تغییرات، تحلیل عمودی، فشرده و جستجو؛ خروجی Excel، Word یادداشت‌ها، XBRL و «بستهٔ رسمی / PDF».
3. زبانه‌ها: هر صورت، یادداشت‌ها، کنترل‌ها و «کاربرگ ترکیب / تلفیق».
4. اثر انگشت و یادداشت: کد اثر انگشت نشان می‌دهد اعداد تغییر نکرده؛ کلیک روی شمارهٔ یادداشت همان یادداشت را باز می‌کند.
مثال: واحد مبلغ را «میلیون ریال» کنید: موجودی نقد ۳۱,۲۴۵ میلیون دیده می‌شود؛ روی «۵» در ستون یادداشت بزنید تا ریز آن بیاید.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تحلیل عمودی: درصد هر ردیف از یک ردیف پایه (مثل جمع دارایی‌ها)؛ «فشرده» ردیف‌ها را نزدیک‌تر می‌کند.
2. میانبرها: ↑↓ حرکت بین ردیف‌ها، Enter ریز مبلغ، Esc بستن پنل، Ctrl+K جستجوی ردیف.
3. نظر روی ردیف: آیکون گفت‌وگو کنار عنوان ردیف؛ بازبین و تهیه‌کننده همان‌جا گفت‌وگو می‌کنند.
4. چاپ رسمی: «بستهٔ رسمی / PDF» صفحهٔ چاپ را باز می‌کند؛ «ذخیره به‌صورت PDF» را انتخاب کنید.
مثال: موجودی نقد ۳۱,۲۴۵ از جمع دارایی‌ها چند درصد است؟ تحلیل عمودی را روشن و «جمع دارایی‌ها» را پایه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سه بُعد: چه کسی، روی کدام واحد (و زیرمجموعه‌ها)، در کدام مجموعهٔ صورت، چه کاری انجام دهد.
2. عملیات: مشاهده، تهیه، تغییر قالب، فعال‌سازی، تأیید/برگشت، انتشار، بستن دوره و مدیریت دسترسی.
3. تفکیک وظایف: تهیه‌کننده و تأییدکننده، و ویرایشگر قالب و فعال‌کننده را به افراد جدا بدهید.
4. دسترسی جدید: کد کاربری، واحد، مجموعه و تیک عملیات‌ها؛ فقط دارندهٔ «مدیریت دسترسی» تغییر می‌دهد.
مثال: کارشناس اداره کل تهران: «مشاهده» و «تهیه» روی همان اداره کل؛ مدیرکل امور مالی ستاد: «تأیید/برگشت» روی ستاد با زیرمجموعه‌ها.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مجموعه‌ها: زبانه‌ها: طرح بیمه‌ای (استاندارد ۲۷)، واحد تجاری (استاندارد ۱)، بخش عمومی، مدیریتی.
2. قالب‌های پیش‌فرض: دکمهٔ «قالب‌های پیش‌فرض» صورت‌ها و یادداشت‌های نمونه را می‌سازد (فقط ستاد).
3. نسخه‌ها: هر قالب نسخه‌های فعال، پیش‌نویس و بازنشسته دارد؛ فقط پیش‌نویس ویرایش می‌شود.
4. مالکیت: «مشترک» برای همهٔ واحدها؛ قالب اختصاصی یک واحد، قالب مشترک هم‌کد را برای آن واحد جایگزین می‌کند.
5. قالب جدید: نوع صورت را انتخاب کنید؛ برای «یادداشت» صورت و ردیف والد را هم تعیین کنید.
نکته: استاندارد ۲۷ مخصوص طرح‌های مزایای بازنشستگی (صندوق‌ها) و استاندارد ۱ برای واحدهای تجاری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ستون‌ها: کد، عنوان، نوع، حساب/فرمول، ماهیت و مقدار، یادداشت.
2. انواع ردیف: عنوان، حساب، فرمول، مقدار دستی، متن و خالی.
3. ترتیب: پیکان‌های بالا/پایین، یا نمای «درخت»: کشیدن و رها کردن.
4. بررسی قالب: خطاها (مانع فعال‌سازی) و هشدارها را نشان می‌دهد.
5. فعال‌سازی: سال شروع اعتبار را بدهید؛ نسخهٔ فعال قبلی با همان سال بازنشسته می‌شود.
مثال: در تصویر ردیف A07 «دارایی‌های نامشهود» تازه اضافه شده، ولی جمع A99 هنوز SUM(A01:A06) است؛ آن را A01:A07 کنید، «بررسی قالب» و بعد «فعال‌سازی».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باز کردن: در صفحهٔ نسخهٔ پیش‌نویس، کلید «درخت» کنار «جدول» را بزنید.
2. جابه‌جایی: ردیف را با دستگیره بکشید؛ نیمهٔ بالا/پایین ⇐ پیش یا پس از ردیف، وسط «عنوان» ⇐ زیرمجموعهٔ آن.
3. زیرمجموعه: ردیف‌های زیر یک عنوان با هم جابه‌جا می‌شوند و تورفتگی خودکار تنظیم می‌شود.
4. جمع‌ها: فرمول‌های بازه‌ای مثل SUM(A01:A06) با ترتیب جدید حساب می‌شوند؛ بعد «بررسی قالب» را بزنید.
نکته: جابه‌جایی ردیف می‌تواند ردیفی را از بازهٔ یک جمع بیرون یا داخل ببرد؛ همیشه بعد از آن «بررسی قالب» بزنید.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انتخاب‌گر حساب: 1301 معین دقیق · 13* پیشوند · 1301..1309 بازه · !1305 استثنا · [D]/[C] فقط مانده بدهکار/بستانکار.
2. نوع مقدار: مانده پایان، مانده ابتدا، گردش خالص، گردش بدهکار یا بستانکار.
3. فرمول: مثل SUM(A01:A08)، A99+L99، ROUND، IF، PRIOR و STMT(صورت دیگر، ردیف).
4. قالب‌بندی: تورفتگی، پررنگ، خط بالا/دو خط زیر، ستون داخلی، پنهان اگر صفر، صفحهٔ جدید.
مثال: ردیف «سایر دریافتنی‌ها» با پیشوند 14* همهٔ معین‌های ۱۴ را می‌گیرد؛ اگر استثنای 1405 هم اضافه شود، معین ۱۴۰۵ کنار می‌رود.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کاربرد: پیش از فعال‌سازی، قالب پیش‌نویس را روی اسناد واقعی امتحان کنید؛ چیزی ذخیره نمی‌شود.
2. پارامترها: سال، پایان دوره، حداقل وضعیت سند، با زیرمجموعه‌ها و واحد مبلغ.
3. واترمارک: برچسب «آزمایشی» یعنی این عدد رسمی نیست.
مثال: بعد از افزودن A07، پیش‌نمایش را با پایان شهریور ۱۴۰۵ بگیرید و ببینید جمع دارایی‌ها همان شد که انتظار داشتید.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نمای حساب‌محور: هر معین کدینگ به کدام ردیف و صورت رفته است.
2. بدون نگاشت: معین‌هایی که در هیچ صورت اصلی نیستند (قرمز) — عددشان از صورت جا می‌ماند.
3. دوبار شمرده: معینی که در یک صورت در دو ردیف آمده (نارنجی).
4. اصلاح: کلیک روی ردیف ⇐ قالب؛ یا «ورود از Excel» و «اعمال پیشنهادها» روی پیش‌نویس، سپس فعال‌سازی.
مثال: معین تازهٔ 1104 «تنخواه پروژه» قرمز است. پیشنهاد سامانه ردیف A01 است (چون ۱۱۰۱ تا ۱۱۰۳ آن‌جا هستند)؛ اعمال کنید و قالب را فعال کنید.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شکل قاعده: عبارت چپ = عبارت راست با اختلاف مجاز؛ مثل «نقد صورت جریان = موجودی نقد خالص دارایی‌ها».
2. شدت: اطلاع، هشدار، یا مسدودکننده (مانع ارسال برای بازبینی).
3. کنترل‌های ثابت: تراز آزمایشی، پوشش حساب، مانده معکوس، جمع یادداشت، اسناد خارج از سال، حذف فی‌مابین (V-07) و قفل دوره (V-11) خودکار اجرا می‌شوند.
مثال: موجودی نقد پایان سال در صورت جریان وجوه نقد ۸۸ میلیون و در صورت خالص دارایی‌ها ۸۶ میلیون است؛ قاعدهٔ مسدودکننده جلوی ارسال را می‌گیرد تا اختلاف پیدا 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یادداشت: ریز ردیف صورت؛ مثلاً یادداشت ۵ «موجودی نقد» با صندوق، بانک و تنخواه.
2. شماره‌گذاری: خودکار به ترتیب ارائه؛ عنوان‌های داخل یادداشت ۵-۱، ۵-۲ می‌شوند.
3. کنترل V-08: برچسب سبز «جمع یادداشت = ردیف صورت»؛ قرمز یعنی مغایرت و مانع ارسال.
مثال: یادداشت ۵: صندوق ۵ + بانک ۸۰ + تنخواه ۳ = ۸۸ میلیون، برابر ردیف A01 صورت ⇐ برچسب سبز.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روی هر مبلغ ردیف «حساب» کلیک کنید (یا Enter)؛ پنل کناری سهم هر معین را نشان می‌دهد.
2. «به تفکیک واحد» سهم هر اداره کل را می‌دهد؛ با مسیر بالای پنل برگردید.
3. روی «اسناد …» بزنید: ریز اسناد با جمع بدهکار/بستانکار؛ آیکون کنار هر ردیف سند را باز می‌کند. هر سطح خروجی Excel دارد.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کنترل‌ها: هر کنترل با شدت، نتیجه و اختلاف؛ مسدودکنندهٔ ناموفق جلوی «ارسال برای بازبینی» را می‌گیرد.
2. مقادیر دستی: ردیف‌های «مقدار دستی» را با دلیل اجباری وارد کنید؛ اجرای تازه ساخته می‌شود.
3. گردش: پیش‌نویس ⇐ بازبینی ⇐ تأیید (یک یا چند مرحله) ⇐ انتشار؛ برگشت با دلیل.
4. انتشار: تهیه‌کننده تأیید و منتشر نمی‌کند؛ انتشار، نسخهٔ منتشرشدهٔ قبلی همان دوره را «جایگزین‌شده» می‌کند.
5. کهنگی و مقایسه: نوار زرد یعنی اسناد بعد از اجرا عوض شده؛ «مقایسه با اجرای دیگر» تفاوت ردیف‌ها را می‌دهد.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باز کردن: آیکون گفت‌وگو کنار عنوان ردیف را بزنید؛ عدد کنار آیکون تعداد نظرهاست.
2. گفت‌وگو: هر نظر با کد کاربر و زمان ثبت می‌شود؛ نظر خودتان را می‌توانید حذف کنید.
3. ثبت نظر: متن را در «نظر تازه» بنویسید و «ثبت نظر» را بزنید.
4. نظرهای کل اجرا: در زبانهٔ «کنترل‌ها»، دکمهٔ «نظرهای کل اجرا» همهٔ گفت‌وگوها را یک‌جا نشان می‌دهد.
مثال: بازبین روی «موجودی نقد» می‌نویسد: «افزایش ۵۰٪ نسبت به پارسال؟». تهیه‌کننده همان‌جا پاسخ می‌دهد: «سپرده‌های سررسیدشده به جاری منتقل 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مراحل تأیید: برای هر مجموعه مراحل (بازبین، مدیرکل، معاون…) را با کد کاربری تأییدکنندگان تعریف کنید.
2. مرحله‌به‌مرحله: دکمهٔ «تأیید» نام مرحلهٔ جاری را دارد؛ یک نفر دو مرحلهٔ یک اجرا را تأیید نمی‌کند.
3. بستن دوره: باز ⇐ بستهٔ موقت ⇐ قفل؛ قفل هر واحد زیرواحدهایش را هم قفل‌شده حساب می‌کند.
4. بازگشایی و تاریخچه: دورهٔ قفل با «درخواست بازگشایی» و تأیید ستاد؛ هر اقدام در «تاریخچه» ثبت می‌شود.
نکته: انتشار فقط وقتی ممکن است که دورهٔ همهٔ واحدهای دامنه «قفل» شده باشد (کنترل V-11). این قفل ثبت سند را نمی‌بندد.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نوع یادداشت: مستقل (تاریخچه، مبنا، رویه‌ها) یا همراه یک یادداشت عددی که زیر جدول آن می‌آید.
2. ویرایشگر: پررنگ، فهرست، عنوان و «درج متغیر»؛ پیش‌نمایش زنده با اعداد یک اجرای همان سال.
3. بازبینی: ارسال ⇐ تأیید (نه آخرین ویرایشگر) ⇐ برگشت با دلیل؛ نوار پیشرفت بالای فهرست.
4. نسخه و انتقال: هر ذخیره یک نسخه است؛ «انتقال از سال قبل» کپی می‌کند؛ با انتشار متن ثابت می‌شود.
نکته: متغیرها: مبلغ جاری، سال قبل و درصد تغییر — از اعداد همان اجرا. «Word یادداشت‌ها» در صفحهٔ صورت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تعریف نسبت‌ها: «نسبت‌های پیش‌فرض» ده نسبت رایج می‌سازد؛ هر نسبت یک صورت و یک مخرج دارد.
2. تحلیل: نسبت‌های اجرا کنار سال قبل، و مقایسه و سهم اقلام اصلی هر صورت.
3. روند: نسبت‌های پنج سال اخیر از آخرین اجرای منتشرشدهٔ هر سال.
4. داشبورد: چهار نسبت اول به‌عنوان شاخص در داشبورد صورت‌ها دیده می‌شوند.
نکته: صورت و مخرج نسبت با زبان فرمول قالب نوشته می‌شود؛ مثلاً جمع مصارف: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انتخاب اجرا: اجرای ترکیبی و واحد مبلغ؛ همین بخش در زبانهٔ «کاربرگ» اجرا هم هست.
2. کاشی‌ها و دامنه: پنج وضعیت تطبیق؛ زبانه‌های «همه»، «واحد اصلی ↔ زیرواحدها» و «بین زیرواحدها».
3. بررسی: ردیف‌های سند دو سو با شناسه و منبع تشخیص؛ آیکون کنار ردیف سند را باز می‌کند.
4. اصلاح: شناسهٔ ردیف یا سند اصلاحی را در واحد مربوط ثبت و صورت را دوباره تهیه کنید.
نکته: طرف مقابل از ۴ رقم اول شناسهٔ ردیف یا از اعلامیهٔ همان سند شناخته می‌شود؛ وگرنه «طرف مقابل نامعلوم»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کاربرگ: ستون هر واحد، ستون حذفیات و جمع صورت کنار هم؛ دکمهٔ Excel خروجی می‌دهد.
2. قاعدهٔ حذف: کد، عنوان، حساب‌های «سوی اول» و «سوی دوم» (مثل جاری ستاد ↔ ادارات کل) و آستانهٔ اختلاف.
3. نتیجه: جدول «حذف فی‌مابین» بالای کاربرگ: تطبیق کامل (سبز) یا عدم تطبیق با مبلغ اختلاف.
4. اصلاح: اختلاف را با سند اصلاحی در واحد مربوط رفع و صورت را دوباره تهیه کنید.
مثال: در کاربرگ، «سایر دریافتنی‌ها» و «پرداختنی‌ها» هر کدام (۱,۲۰۰) حذف دارند: طلب و بدهی ۱,۲۰۰ میلیونی واحدها به 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شرکت تابعه: کد، نام، ارز و درصد مالکیت؛ تراز هر دوره از Excel؛ تسعیر به ریال و سهم غیرکنترلی جدا.
2. جریان نقد: «حساب‌های نقد (انتخاب‌گر)»؛ ردیف‌های جریان نقد از طرف مقابل اسناد نقدی پر می‌شوند.
3. تعدیلات سنواتی: «حساب تعدیلات سنواتی» برای ستون سال قبلِ تجدید ارائه‌شده به کار می‌رود.
4. XBRL: آدرس طبقه‌بندی، فضای نام و طرح شناسهٔ واحد؛ در «نگاشت XBRL» ردیف‌ها را به عناصر وصل کنید.
نکته: XBRL قالب الکترونیکی استاندارد گزارش مالی برای نهادهای ناظر است؛ خروجی آن از دکمهٔ XBRL صفحهٔ اجرا گرفته 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«۱ خطای مسدودکننده» و ارسال برای بازبینی ممکن نیست: زبانهٔ «کنترل‌ها» را باز کنید؛ کنترل ناموفق را رفع یا با مهلت به مسئولش ارجاع دهید و اجرای تازه بگیرید.
معین در «نگاشت حساب‌ها» قرمز است: معین در هیچ ردیفی نیست؛ «اعمال پیشنهادها» یا اصلاح قالب پیش‌نویس، سپس فعال‌سازی.
V-08: جمع یادداشت ≠ ردیف صورت: انتخاب‌گر حساب ردیف صورت و ردیف‌های یادداشت را یکسان کنید.
V-07: عدم تطبیق حذف فی‌مابین: در «تلفیق و حذف فی‌مابین» جفت ناجور را «بررسی» و سند اصلاحی را در واحد مربوط ثبت کنید.
V-11: انتشار ممکن نیست: دورهٔ همهٔ واحدهای دامنه باید «قفل» باشد؛ از صفحهٔ «بستن دوره» پیگیری کنید.
نوار زرد کهنگی بالای اجرا: اسناد بعد از اجرا عوض شده‌اند؛ برای عدد تازه، اجرای جدید بگیرید.
ردیف قالب ویرایش نمی‌شود: فقط نسخهٔ پیش‌نویس ویرایش می‌شود؛ نسخهٔ فعال و بازنشسته فقط خواندنی‌اند.
دکمهٔ تأیید برای من نیست: نام مرحلهٔ جاری روی دکمه است؛ تهیه‌کننده یا تأییدکنندهٔ مرحلهٔ قبل همان اجرا مرحلهٔ بعد را تأیید نمی‌کند.
دورهٔ قفل باید باز شود: «درخواست بازگشایی» با دلیل؛ ستاد تأیید می‌کند و اقدام در «تاریخچه» می‌ماند.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C9A227"/>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A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image" Target="../media/image-28-3.jp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image" Target="../media/image-32-2.jp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3.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image" Target="../media/image-50-2.jpg"/><Relationship Id="rId3" Type="http://schemas.openxmlformats.org/officeDocument/2006/relationships/image" Target="../media/image-50-3.jpg"/><Relationship Id="rId4" Type="http://schemas.openxmlformats.org/officeDocument/2006/relationships/slideLayout" Target="../slideLayouts/slideLayout2.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image" Target="../media/image-62-2.jp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3.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image" Target="../media/image-73-2.jpg"/><Relationship Id="rId3" Type="http://schemas.openxmlformats.org/officeDocument/2006/relationships/slideLayout" Target="../slideLayouts/slideLayout2.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image" Target="../media/image-74-2.jpg"/><Relationship Id="rId3" Type="http://schemas.openxmlformats.org/officeDocument/2006/relationships/slideLayout" Target="../slideLayouts/slideLayout2.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image" Target="../media/image-77-2.jpg"/><Relationship Id="rId3" Type="http://schemas.openxmlformats.org/officeDocument/2006/relationships/slideLayout" Target="../slideLayouts/slideLayout2.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image" Target="../media/image-79-2.jpg"/><Relationship Id="rId3" Type="http://schemas.openxmlformats.org/officeDocument/2006/relationships/slideLayout" Target="../slideLayouts/slideLayout2.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g"/><Relationship Id="rId2" Type="http://schemas.openxmlformats.org/officeDocument/2006/relationships/image" Target="../media/image-83-2.jpg"/><Relationship Id="rId3" Type="http://schemas.openxmlformats.org/officeDocument/2006/relationships/slideLayout" Target="../slideLayouts/slideLayout2.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3.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image" Target="../media/image-91-2.jpg"/><Relationship Id="rId3" Type="http://schemas.openxmlformats.org/officeDocument/2006/relationships/slideLayout" Target="../slideLayouts/slideLayout2.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image" Target="../media/image-92-2.jpg"/><Relationship Id="rId3" Type="http://schemas.openxmlformats.org/officeDocument/2006/relationships/slideLayout" Target="../slideLayouts/slideLayout2.xml"/><Relationship Id="rId4"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image" Target="../media/image-93-2.jpg"/><Relationship Id="rId3" Type="http://schemas.openxmlformats.org/officeDocument/2006/relationships/slideLayout" Target="../slideLayouts/slideLayout2.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g"/><Relationship Id="rId2" Type="http://schemas.openxmlformats.org/officeDocument/2006/relationships/slideLayout" Target="../slideLayouts/slideLayout2.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jpg"/><Relationship Id="rId2" Type="http://schemas.openxmlformats.org/officeDocument/2006/relationships/slideLayout" Target="../slideLayouts/slideLayout2.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jp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jpg"/><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jp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jp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jpg"/><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jp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slideLayout" Target="../slideLayouts/slideLayout2.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3.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2.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slideLayout" Target="../slideLayouts/slideLayout2.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jpg"/><Relationship Id="rId2" Type="http://schemas.openxmlformats.org/officeDocument/2006/relationships/slideLayout" Target="../slideLayouts/slideLayout2.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jpg"/><Relationship Id="rId2" Type="http://schemas.openxmlformats.org/officeDocument/2006/relationships/image" Target="../media/image-114-2.jpg"/><Relationship Id="rId3" Type="http://schemas.openxmlformats.org/officeDocument/2006/relationships/slideLayout" Target="../slideLayouts/slideLayout2.xml"/><Relationship Id="rId4"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jpg"/><Relationship Id="rId2" Type="http://schemas.openxmlformats.org/officeDocument/2006/relationships/slideLayout" Target="../slideLayouts/slideLayout2.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jpg"/><Relationship Id="rId2" Type="http://schemas.openxmlformats.org/officeDocument/2006/relationships/slideLayout" Target="../slideLayouts/slideLayout2.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jpg"/><Relationship Id="rId2" Type="http://schemas.openxmlformats.org/officeDocument/2006/relationships/slideLayout" Target="../slideLayouts/slideLayout2.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image" Target="../media/image-118-2.jpg"/><Relationship Id="rId3" Type="http://schemas.openxmlformats.org/officeDocument/2006/relationships/slideLayout" Target="../slideLayouts/slideLayout2.xml"/><Relationship Id="rId4"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2.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2.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jpg"/><Relationship Id="rId2" Type="http://schemas.openxmlformats.org/officeDocument/2006/relationships/slideLayout" Target="../slideLayouts/slideLayout2.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jpg"/><Relationship Id="rId2" Type="http://schemas.openxmlformats.org/officeDocument/2006/relationships/slideLayout" Target="../slideLayouts/slideLayout2.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jpg"/><Relationship Id="rId2" Type="http://schemas.openxmlformats.org/officeDocument/2006/relationships/slideLayout" Target="../slideLayouts/slideLayout2.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jp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jpg"/><Relationship Id="rId2" Type="http://schemas.openxmlformats.org/officeDocument/2006/relationships/slideLayout" Target="../slideLayouts/slideLayout2.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jpg"/><Relationship Id="rId2" Type="http://schemas.openxmlformats.org/officeDocument/2006/relationships/slideLayout" Target="../slideLayouts/slideLayout2.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jpg"/><Relationship Id="rId2" Type="http://schemas.openxmlformats.org/officeDocument/2006/relationships/slideLayout" Target="../slideLayouts/slideLayout3.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jpg"/><Relationship Id="rId2" Type="http://schemas.openxmlformats.org/officeDocument/2006/relationships/slideLayout" Target="../slideLayouts/slideLayout2.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jpg"/><Relationship Id="rId2" Type="http://schemas.openxmlformats.org/officeDocument/2006/relationships/slideLayout" Target="../slideLayouts/slideLayout2.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jpg"/><Relationship Id="rId2" Type="http://schemas.openxmlformats.org/officeDocument/2006/relationships/slideLayout" Target="../slideLayouts/slideLayout2.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jpg"/><Relationship Id="rId2" Type="http://schemas.openxmlformats.org/officeDocument/2006/relationships/slideLayout" Target="../slideLayouts/slideLayout2.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jpg"/><Relationship Id="rId2" Type="http://schemas.openxmlformats.org/officeDocument/2006/relationships/slideLayout" Target="../slideLayouts/slideLayout2.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jpg"/><Relationship Id="rId2" Type="http://schemas.openxmlformats.org/officeDocument/2006/relationships/image" Target="../media/image-139-2.jpg"/><Relationship Id="rId3" Type="http://schemas.openxmlformats.org/officeDocument/2006/relationships/slideLayout" Target="../slideLayouts/slideLayout2.xml"/><Relationship Id="rId4"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jpg"/><Relationship Id="rId2" Type="http://schemas.openxmlformats.org/officeDocument/2006/relationships/slideLayout" Target="../slideLayouts/slideLayout2.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jpg"/><Relationship Id="rId2" Type="http://schemas.openxmlformats.org/officeDocument/2006/relationships/slideLayout" Target="../slideLayouts/slideLayout2.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jpg"/><Relationship Id="rId2" Type="http://schemas.openxmlformats.org/officeDocument/2006/relationships/image" Target="../media/image-143-2.jpg"/><Relationship Id="rId3" Type="http://schemas.openxmlformats.org/officeDocument/2006/relationships/slideLayout" Target="../slideLayouts/slideLayout2.xml"/><Relationship Id="rId4"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jpg"/><Relationship Id="rId2" Type="http://schemas.openxmlformats.org/officeDocument/2006/relationships/slideLayout" Target="../slideLayouts/slideLayout2.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image-147-1.jpg"/><Relationship Id="rId2" Type="http://schemas.openxmlformats.org/officeDocument/2006/relationships/image" Target="../media/image-147-2.jpg"/><Relationship Id="rId3" Type="http://schemas.openxmlformats.org/officeDocument/2006/relationships/slideLayout" Target="../slideLayouts/slideLayout2.xml"/><Relationship Id="rId4"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image-148-1.jpg"/><Relationship Id="rId2" Type="http://schemas.openxmlformats.org/officeDocument/2006/relationships/slideLayout" Target="../slideLayouts/slideLayout2.xml"/><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image-149-1.jpg"/><Relationship Id="rId2" Type="http://schemas.openxmlformats.org/officeDocument/2006/relationships/slideLayout" Target="../slideLayouts/slideLayout2.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jpg"/><Relationship Id="rId2" Type="http://schemas.openxmlformats.org/officeDocument/2006/relationships/slideLayout" Target="../slideLayouts/slideLayout3.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image-158-1.jpg"/><Relationship Id="rId2" Type="http://schemas.openxmlformats.org/officeDocument/2006/relationships/slideLayout" Target="../slideLayouts/slideLayout2.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image-159-1.jpg"/><Relationship Id="rId2" Type="http://schemas.openxmlformats.org/officeDocument/2006/relationships/image" Target="../media/image-159-2.jpg"/><Relationship Id="rId3" Type="http://schemas.openxmlformats.org/officeDocument/2006/relationships/slideLayout" Target="../slideLayouts/slideLayout2.xml"/><Relationship Id="rId4"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image-160-1.jpg"/><Relationship Id="rId2" Type="http://schemas.openxmlformats.org/officeDocument/2006/relationships/image" Target="../media/image-160-2.jpg"/><Relationship Id="rId3" Type="http://schemas.openxmlformats.org/officeDocument/2006/relationships/slideLayout" Target="../slideLayouts/slideLayout2.xml"/><Relationship Id="rId4"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image" Target="../media/image-161-1.jpg"/><Relationship Id="rId2" Type="http://schemas.openxmlformats.org/officeDocument/2006/relationships/slideLayout" Target="../slideLayouts/slideLayout2.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image-162-1.jpg"/><Relationship Id="rId2" Type="http://schemas.openxmlformats.org/officeDocument/2006/relationships/slideLayout" Target="../slideLayouts/slideLayout2.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image-163-1.jpg"/><Relationship Id="rId2" Type="http://schemas.openxmlformats.org/officeDocument/2006/relationships/slideLayout" Target="../slideLayouts/slideLayout2.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image-164-1.jpg"/><Relationship Id="rId2" Type="http://schemas.openxmlformats.org/officeDocument/2006/relationships/slideLayout" Target="../slideLayouts/slideLayout2.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jpg"/><Relationship Id="rId2" Type="http://schemas.openxmlformats.org/officeDocument/2006/relationships/image" Target="../media/image-165-2.jpg"/><Relationship Id="rId3" Type="http://schemas.openxmlformats.org/officeDocument/2006/relationships/slideLayout" Target="../slideLayouts/slideLayout2.xml"/><Relationship Id="rId4"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image-166-1.jpg"/><Relationship Id="rId2" Type="http://schemas.openxmlformats.org/officeDocument/2006/relationships/image" Target="../media/image-166-2.jpg"/><Relationship Id="rId3" Type="http://schemas.openxmlformats.org/officeDocument/2006/relationships/slideLayout" Target="../slideLayouts/slideLayout2.xml"/><Relationship Id="rId4"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image-167-1.jpg"/><Relationship Id="rId2" Type="http://schemas.openxmlformats.org/officeDocument/2006/relationships/slideLayout" Target="../slideLayouts/slideLayout2.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jpg"/><Relationship Id="rId2" Type="http://schemas.openxmlformats.org/officeDocument/2006/relationships/slideLayout" Target="../slideLayouts/slideLayout3.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jpg"/><Relationship Id="rId2" Type="http://schemas.openxmlformats.org/officeDocument/2006/relationships/slideLayout" Target="../slideLayouts/slideLayout2.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image-174-1.jpg"/><Relationship Id="rId2" Type="http://schemas.openxmlformats.org/officeDocument/2006/relationships/slideLayout" Target="../slideLayouts/slideLayout2.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image-175-1.jpg"/><Relationship Id="rId2" Type="http://schemas.openxmlformats.org/officeDocument/2006/relationships/image" Target="../media/image-175-2.jpg"/><Relationship Id="rId3" Type="http://schemas.openxmlformats.org/officeDocument/2006/relationships/slideLayout" Target="../slideLayouts/slideLayout2.xml"/><Relationship Id="rId4"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image-176-1.jpg"/><Relationship Id="rId2" Type="http://schemas.openxmlformats.org/officeDocument/2006/relationships/image" Target="../media/image-176-2.jpg"/><Relationship Id="rId3" Type="http://schemas.openxmlformats.org/officeDocument/2006/relationships/slideLayout" Target="../slideLayouts/slideLayout2.xml"/><Relationship Id="rId4"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jpg"/><Relationship Id="rId2" Type="http://schemas.openxmlformats.org/officeDocument/2006/relationships/slideLayout" Target="../slideLayouts/slideLayout3.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image" Target="../media/image-181-1.jpg"/><Relationship Id="rId2" Type="http://schemas.openxmlformats.org/officeDocument/2006/relationships/slideLayout" Target="../slideLayouts/slideLayout2.xml"/><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image-182-1.jpg"/><Relationship Id="rId2" Type="http://schemas.openxmlformats.org/officeDocument/2006/relationships/slideLayout" Target="../slideLayouts/slideLayout2.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image" Target="../media/image-183-1.jpg"/><Relationship Id="rId2" Type="http://schemas.openxmlformats.org/officeDocument/2006/relationships/slideLayout" Target="../slideLayouts/slideLayout2.xml"/><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image" Target="../media/image-184-1.jpg"/><Relationship Id="rId2" Type="http://schemas.openxmlformats.org/officeDocument/2006/relationships/slideLayout" Target="../slideLayouts/slideLayout2.xml"/><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image" Target="../media/image-185-1.jpg"/><Relationship Id="rId2" Type="http://schemas.openxmlformats.org/officeDocument/2006/relationships/image" Target="../media/image-185-2.jpg"/><Relationship Id="rId3" Type="http://schemas.openxmlformats.org/officeDocument/2006/relationships/slideLayout" Target="../slideLayouts/slideLayout2.xml"/><Relationship Id="rId4"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image" Target="../media/image-186-1.jpg"/><Relationship Id="rId2" Type="http://schemas.openxmlformats.org/officeDocument/2006/relationships/slideLayout" Target="../slideLayouts/slideLayout2.xml"/><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image" Target="../media/image-187-1.jpg"/><Relationship Id="rId2" Type="http://schemas.openxmlformats.org/officeDocument/2006/relationships/slideLayout" Target="../slideLayouts/slideLayout2.xml"/><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image-188-1.jpg"/><Relationship Id="rId2" Type="http://schemas.openxmlformats.org/officeDocument/2006/relationships/slideLayout" Target="../slideLayouts/slideLayout2.xml"/><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image" Target="../media/image-189-1.jpg"/><Relationship Id="rId2" Type="http://schemas.openxmlformats.org/officeDocument/2006/relationships/slideLayout" Target="../slideLayouts/slideLayout2.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image" Target="../media/image-190-1.jpg"/><Relationship Id="rId2" Type="http://schemas.openxmlformats.org/officeDocument/2006/relationships/image" Target="../media/image-190-2.jpg"/><Relationship Id="rId3" Type="http://schemas.openxmlformats.org/officeDocument/2006/relationships/slideLayout" Target="../slideLayouts/slideLayout2.xml"/><Relationship Id="rId4"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image-191-1.jpg"/><Relationship Id="rId2" Type="http://schemas.openxmlformats.org/officeDocument/2006/relationships/slideLayout" Target="../slideLayouts/slideLayout2.xml"/><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image-192-1.jpg"/><Relationship Id="rId2" Type="http://schemas.openxmlformats.org/officeDocument/2006/relationships/image" Target="../media/image-192-2.jpg"/><Relationship Id="rId3" Type="http://schemas.openxmlformats.org/officeDocument/2006/relationships/slideLayout" Target="../slideLayouts/slideLayout2.xml"/><Relationship Id="rId4"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image" Target="../media/image-193-1.jpg"/><Relationship Id="rId2" Type="http://schemas.openxmlformats.org/officeDocument/2006/relationships/slideLayout" Target="../slideLayouts/slideLayout2.xml"/><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image-195-1.jpg"/><Relationship Id="rId2" Type="http://schemas.openxmlformats.org/officeDocument/2006/relationships/slideLayout" Target="../slideLayouts/slideLayout3.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jpg"/><Relationship Id="rId2" Type="http://schemas.openxmlformats.org/officeDocument/2006/relationships/slideLayout" Target="../slideLayouts/slideLayout2.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image-203-1.jpg"/><Relationship Id="rId2" Type="http://schemas.openxmlformats.org/officeDocument/2006/relationships/slideLayout" Target="../slideLayouts/slideLayout2.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image-204-1.jpg"/><Relationship Id="rId2" Type="http://schemas.openxmlformats.org/officeDocument/2006/relationships/image" Target="../media/image-204-2.jpg"/><Relationship Id="rId3" Type="http://schemas.openxmlformats.org/officeDocument/2006/relationships/image" Target="../media/image-204-3.jpg"/><Relationship Id="rId4" Type="http://schemas.openxmlformats.org/officeDocument/2006/relationships/slideLayout" Target="../slideLayouts/slideLayout2.xml"/><Relationship Id="rId5"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205-1.jpg"/><Relationship Id="rId2" Type="http://schemas.openxmlformats.org/officeDocument/2006/relationships/slideLayout" Target="../slideLayouts/slideLayout2.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image" Target="../media/image-206-1.jpg"/><Relationship Id="rId2" Type="http://schemas.openxmlformats.org/officeDocument/2006/relationships/image" Target="../media/image-206-2.jpg"/><Relationship Id="rId3" Type="http://schemas.openxmlformats.org/officeDocument/2006/relationships/slideLayout" Target="../slideLayouts/slideLayout2.xml"/><Relationship Id="rId4"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image" Target="../media/image-208-1.jpg"/><Relationship Id="rId2" Type="http://schemas.openxmlformats.org/officeDocument/2006/relationships/slideLayout" Target="../slideLayouts/slideLayout2.xml"/><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image" Target="../media/image-209-1.jpg"/><Relationship Id="rId2" Type="http://schemas.openxmlformats.org/officeDocument/2006/relationships/slideLayout" Target="../slideLayouts/slideLayout2.xml"/><Relationship Id="rId3"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image" Target="../media/image-210-1.jpg"/><Relationship Id="rId2" Type="http://schemas.openxmlformats.org/officeDocument/2006/relationships/slideLayout" Target="../slideLayouts/slideLayout2.xml"/><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image" Target="../media/image-211-1.jpg"/><Relationship Id="rId2" Type="http://schemas.openxmlformats.org/officeDocument/2006/relationships/slideLayout" Target="../slideLayouts/slideLayout2.xml"/><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image" Target="../media/image-212-1.jpg"/><Relationship Id="rId2" Type="http://schemas.openxmlformats.org/officeDocument/2006/relationships/slideLayout" Target="../slideLayouts/slideLayout2.xml"/><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image" Target="../media/image-213-1.jpg"/><Relationship Id="rId2" Type="http://schemas.openxmlformats.org/officeDocument/2006/relationships/slideLayout" Target="../slideLayouts/slideLayout2.xml"/><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image" Target="../media/image-214-1.jpg"/><Relationship Id="rId2" Type="http://schemas.openxmlformats.org/officeDocument/2006/relationships/slideLayout" Target="../slideLayouts/slideLayout2.xml"/><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image" Target="../media/image-215-1.jpg"/><Relationship Id="rId2" Type="http://schemas.openxmlformats.org/officeDocument/2006/relationships/slideLayout" Target="../slideLayouts/slideLayout2.xml"/><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image" Target="../media/image-216-1.jpg"/><Relationship Id="rId2" Type="http://schemas.openxmlformats.org/officeDocument/2006/relationships/slideLayout" Target="../slideLayouts/slideLayout2.xml"/><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image" Target="../media/image-217-1.jpg"/><Relationship Id="rId2" Type="http://schemas.openxmlformats.org/officeDocument/2006/relationships/image" Target="../media/image-217-2.jpg"/><Relationship Id="rId3" Type="http://schemas.openxmlformats.org/officeDocument/2006/relationships/image" Target="../media/image-217-3.jpg"/><Relationship Id="rId4" Type="http://schemas.openxmlformats.org/officeDocument/2006/relationships/slideLayout" Target="../slideLayouts/slideLayout2.xml"/><Relationship Id="rId5"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image" Target="../media/image-218-1.jpg"/><Relationship Id="rId2" Type="http://schemas.openxmlformats.org/officeDocument/2006/relationships/slideLayout" Target="../slideLayouts/slideLayout2.xml"/><Relationship Id="rId3"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image" Target="../media/image-219-1.jpg"/><Relationship Id="rId2" Type="http://schemas.openxmlformats.org/officeDocument/2006/relationships/slideLayout" Target="../slideLayouts/slideLayout2.xml"/><Relationship Id="rId3"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image" Target="../media/image-220-1.jpg"/><Relationship Id="rId2" Type="http://schemas.openxmlformats.org/officeDocument/2006/relationships/image" Target="../media/image-220-2.jpg"/><Relationship Id="rId3" Type="http://schemas.openxmlformats.org/officeDocument/2006/relationships/slideLayout" Target="../slideLayouts/slideLayout2.xml"/><Relationship Id="rId4"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image" Target="../media/image-221-1.jpg"/><Relationship Id="rId2" Type="http://schemas.openxmlformats.org/officeDocument/2006/relationships/image" Target="../media/image-221-2.jpg"/><Relationship Id="rId3" Type="http://schemas.openxmlformats.org/officeDocument/2006/relationships/slideLayout" Target="../slideLayouts/slideLayout2.xml"/><Relationship Id="rId4"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image" Target="../media/image-222-1.jpg"/><Relationship Id="rId2" Type="http://schemas.openxmlformats.org/officeDocument/2006/relationships/image" Target="../media/image-222-2.jpg"/><Relationship Id="rId3" Type="http://schemas.openxmlformats.org/officeDocument/2006/relationships/slideLayout" Target="../slideLayouts/slideLayout2.xml"/><Relationship Id="rId4"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image" Target="../media/image-223-1.jpg"/><Relationship Id="rId2" Type="http://schemas.openxmlformats.org/officeDocument/2006/relationships/image" Target="../media/image-223-2.jpg"/><Relationship Id="rId3" Type="http://schemas.openxmlformats.org/officeDocument/2006/relationships/slideLayout" Target="../slideLayouts/slideLayout2.xml"/><Relationship Id="rId4"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image" Target="../media/image-224-1.jpg"/><Relationship Id="rId2" Type="http://schemas.openxmlformats.org/officeDocument/2006/relationships/image" Target="../media/image-224-2.jpg"/><Relationship Id="rId3" Type="http://schemas.openxmlformats.org/officeDocument/2006/relationships/slideLayout" Target="../slideLayouts/slideLayout2.xml"/><Relationship Id="rId4"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image" Target="../media/image-225-1.jpg"/><Relationship Id="rId2" Type="http://schemas.openxmlformats.org/officeDocument/2006/relationships/image" Target="../media/image-225-2.jpg"/><Relationship Id="rId3" Type="http://schemas.openxmlformats.org/officeDocument/2006/relationships/slideLayout" Target="../slideLayouts/slideLayout2.xml"/><Relationship Id="rId4"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011680" y="3291840"/>
            <a:ext cx="5669280" cy="5669280"/>
          </a:xfrm>
          <a:prstGeom prst="ellipse">
            <a:avLst/>
          </a:prstGeom>
          <a:solidFill>
            <a:srgbClr val="25385F"/>
          </a:solidFill>
          <a:ln w="12700">
            <a:solidFill>
              <a:srgbClr val="25385F"/>
            </a:solidFill>
            <a:prstDash val="solid"/>
          </a:ln>
        </p:spPr>
      </p:sp>
      <p:sp>
        <p:nvSpPr>
          <p:cNvPr id="3" name="Shape 1"/>
          <p:cNvSpPr/>
          <p:nvPr/>
        </p:nvSpPr>
        <p:spPr>
          <a:xfrm>
            <a:off x="822960" y="548640"/>
            <a:ext cx="1280160" cy="1280160"/>
          </a:xfrm>
          <a:prstGeom prst="ellipse">
            <a:avLst/>
          </a:prstGeom>
          <a:solidFill>
            <a:srgbClr val="C9A227"/>
          </a:solidFill>
          <a:ln w="12700">
            <a:solidFill>
              <a:srgbClr val="C9A227"/>
            </a:solidFill>
            <a:prstDash val="solid"/>
          </a:ln>
        </p:spPr>
      </p:sp>
      <p:sp>
        <p:nvSpPr>
          <p:cNvPr id="4" name="Text 2"/>
          <p:cNvSpPr/>
          <p:nvPr/>
        </p:nvSpPr>
        <p:spPr>
          <a:xfrm>
            <a:off x="2743200" y="822960"/>
            <a:ext cx="9052560" cy="548640"/>
          </a:xfrm>
          <a:prstGeom prst="rect">
            <a:avLst/>
          </a:prstGeom>
          <a:noFill/>
          <a:ln/>
        </p:spPr>
        <p:txBody>
          <a:bodyPr wrap="square" lIns="0" tIns="0" rIns="0" bIns="0" rtlCol="0" anchor="ctr"/>
          <a:lstStyle/>
          <a:p>
            <a:pPr rtl="1" algn="r" indent="0" marL="0">
              <a:buNone/>
            </a:pPr>
            <a:r>
              <a:rPr lang="en-US" sz="2200" b="1" dirty="0">
                <a:solidFill>
                  <a:srgbClr val="C9A227"/>
                </a:solidFill>
                <a:latin typeface="Tahoma" pitchFamily="34" charset="0"/>
                <a:ea typeface="Tahoma" pitchFamily="34" charset="-122"/>
                <a:cs typeface="Tahoma" pitchFamily="34" charset="-120"/>
              </a:rPr>
              <a:t>راهنمای کاربری</a:t>
            </a:r>
            <a:endParaRPr lang="en-US" sz="2200" dirty="0"/>
          </a:p>
        </p:txBody>
      </p:sp>
      <p:sp>
        <p:nvSpPr>
          <p:cNvPr id="5" name="Text 3"/>
          <p:cNvSpPr/>
          <p:nvPr/>
        </p:nvSpPr>
        <p:spPr>
          <a:xfrm>
            <a:off x="2743200" y="1371600"/>
            <a:ext cx="9052560" cy="914400"/>
          </a:xfrm>
          <a:prstGeom prst="rect">
            <a:avLst/>
          </a:prstGeom>
          <a:noFill/>
          <a:ln/>
        </p:spPr>
        <p:txBody>
          <a:bodyPr wrap="square" lIns="0" tIns="0" rIns="0" bIns="0" rtlCol="0" anchor="ctr"/>
          <a:lstStyle/>
          <a:p>
            <a:pPr rtl="1" algn="r" indent="0" marL="0">
              <a:buNone/>
            </a:pPr>
            <a:r>
              <a:rPr lang="en-US" sz="4400" b="1" dirty="0">
                <a:solidFill>
                  <a:srgbClr val="FFFFFF"/>
                </a:solidFill>
                <a:latin typeface="Tahoma" pitchFamily="34" charset="0"/>
                <a:ea typeface="Tahoma" pitchFamily="34" charset="-122"/>
                <a:cs typeface="Tahoma" pitchFamily="34" charset="-120"/>
              </a:rPr>
              <a:t>سامانهٔ جامع حسابداری</a:t>
            </a:r>
            <a:endParaRPr lang="en-US" sz="4400" dirty="0"/>
          </a:p>
        </p:txBody>
      </p:sp>
      <p:sp>
        <p:nvSpPr>
          <p:cNvPr id="6" name="Text 4"/>
          <p:cNvSpPr/>
          <p:nvPr/>
        </p:nvSpPr>
        <p:spPr>
          <a:xfrm>
            <a:off x="2743200" y="2331720"/>
            <a:ext cx="9052560" cy="502920"/>
          </a:xfrm>
          <a:prstGeom prst="rect">
            <a:avLst/>
          </a:prstGeom>
          <a:noFill/>
          <a:ln/>
        </p:spPr>
        <p:txBody>
          <a:bodyPr wrap="square" lIns="0" tIns="0" rIns="0" bIns="0" rtlCol="0" anchor="ctr"/>
          <a:lstStyle/>
          <a:p>
            <a:pPr rtl="1" algn="r" indent="0" marL="0">
              <a:buNone/>
            </a:pPr>
            <a:r>
              <a:rPr lang="en-US" sz="1800" dirty="0">
                <a:solidFill>
                  <a:srgbClr val="C9D3E6"/>
                </a:solidFill>
                <a:latin typeface="Tahoma" pitchFamily="34" charset="0"/>
                <a:ea typeface="Tahoma" pitchFamily="34" charset="-122"/>
                <a:cs typeface="Tahoma" pitchFamily="34" charset="-120"/>
              </a:rPr>
              <a:t>از صفر تا صد — برای کسی که تازه کار با حسابداری و این سامانه را شروع می‌کند</a:t>
            </a:r>
            <a:endParaRPr lang="en-US" sz="1800" dirty="0"/>
          </a:p>
        </p:txBody>
      </p:sp>
      <p:sp>
        <p:nvSpPr>
          <p:cNvPr id="7" name="Shape 5"/>
          <p:cNvSpPr/>
          <p:nvPr/>
        </p:nvSpPr>
        <p:spPr>
          <a:xfrm>
            <a:off x="10972800" y="3154680"/>
            <a:ext cx="365760" cy="365760"/>
          </a:xfrm>
          <a:prstGeom prst="ellipse">
            <a:avLst/>
          </a:prstGeom>
          <a:solidFill>
            <a:srgbClr val="C9A227"/>
          </a:solidFill>
          <a:ln w="12700">
            <a:solidFill>
              <a:srgbClr val="C9A227"/>
            </a:solidFill>
            <a:prstDash val="solid"/>
          </a:ln>
        </p:spPr>
      </p:sp>
      <p:sp>
        <p:nvSpPr>
          <p:cNvPr id="8" name="Text 6"/>
          <p:cNvSpPr/>
          <p:nvPr/>
        </p:nvSpPr>
        <p:spPr>
          <a:xfrm>
            <a:off x="10972800" y="3154680"/>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7"/>
          <p:cNvSpPr/>
          <p:nvPr/>
        </p:nvSpPr>
        <p:spPr>
          <a:xfrm>
            <a:off x="6400800" y="3154680"/>
            <a:ext cx="4434840" cy="365760"/>
          </a:xfrm>
          <a:prstGeom prst="rect">
            <a:avLst/>
          </a:prstGeom>
          <a:noFill/>
          <a:ln/>
        </p:spPr>
        <p:txBody>
          <a:bodyPr wrap="square" lIns="0" tIns="0" rIns="0" bIns="0" rtlCol="0" anchor="ctr"/>
          <a:lstStyle/>
          <a:p>
            <a:pPr rtl="1" algn="r" indent="0" marL="0">
              <a:buNone/>
            </a:pPr>
            <a:r>
              <a:rPr lang="en-US" sz="1550" dirty="0">
                <a:solidFill>
                  <a:srgbClr val="FFFFFF"/>
                </a:solidFill>
                <a:latin typeface="Tahoma" pitchFamily="34" charset="0"/>
                <a:ea typeface="Tahoma" pitchFamily="34" charset="-122"/>
                <a:cs typeface="Tahoma" pitchFamily="34" charset="-120"/>
              </a:rPr>
              <a:t>مبانی حسابداری و شروع کار</a:t>
            </a:r>
            <a:endParaRPr lang="en-US" sz="1550" dirty="0"/>
          </a:p>
        </p:txBody>
      </p:sp>
      <p:sp>
        <p:nvSpPr>
          <p:cNvPr id="10" name="Shape 8"/>
          <p:cNvSpPr/>
          <p:nvPr/>
        </p:nvSpPr>
        <p:spPr>
          <a:xfrm>
            <a:off x="5852160" y="3154680"/>
            <a:ext cx="365760" cy="365760"/>
          </a:xfrm>
          <a:prstGeom prst="ellipse">
            <a:avLst/>
          </a:prstGeom>
          <a:solidFill>
            <a:srgbClr val="C9A227"/>
          </a:solidFill>
          <a:ln w="12700">
            <a:solidFill>
              <a:srgbClr val="C9A227"/>
            </a:solidFill>
            <a:prstDash val="solid"/>
          </a:ln>
        </p:spPr>
      </p:sp>
      <p:sp>
        <p:nvSpPr>
          <p:cNvPr id="11" name="Text 9"/>
          <p:cNvSpPr/>
          <p:nvPr/>
        </p:nvSpPr>
        <p:spPr>
          <a:xfrm>
            <a:off x="5852160" y="3154680"/>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2" name="Text 10"/>
          <p:cNvSpPr/>
          <p:nvPr/>
        </p:nvSpPr>
        <p:spPr>
          <a:xfrm>
            <a:off x="1280160" y="3154680"/>
            <a:ext cx="4434840" cy="365760"/>
          </a:xfrm>
          <a:prstGeom prst="rect">
            <a:avLst/>
          </a:prstGeom>
          <a:noFill/>
          <a:ln/>
        </p:spPr>
        <p:txBody>
          <a:bodyPr wrap="square" lIns="0" tIns="0" rIns="0" bIns="0" rtlCol="0" anchor="ctr"/>
          <a:lstStyle/>
          <a:p>
            <a:pPr rtl="1" algn="r" indent="0" marL="0">
              <a:buNone/>
            </a:pPr>
            <a:r>
              <a:rPr lang="en-US" sz="1550" dirty="0">
                <a:solidFill>
                  <a:srgbClr val="FFFFFF"/>
                </a:solidFill>
                <a:latin typeface="Tahoma" pitchFamily="34" charset="0"/>
                <a:ea typeface="Tahoma" pitchFamily="34" charset="-122"/>
                <a:cs typeface="Tahoma" pitchFamily="34" charset="-120"/>
              </a:rPr>
              <a:t>اطلاعات پایه</a:t>
            </a:r>
            <a:endParaRPr lang="en-US" sz="1550" dirty="0"/>
          </a:p>
        </p:txBody>
      </p:sp>
      <p:sp>
        <p:nvSpPr>
          <p:cNvPr id="13" name="Shape 11"/>
          <p:cNvSpPr/>
          <p:nvPr/>
        </p:nvSpPr>
        <p:spPr>
          <a:xfrm>
            <a:off x="10972800" y="3666744"/>
            <a:ext cx="365760" cy="365760"/>
          </a:xfrm>
          <a:prstGeom prst="ellipse">
            <a:avLst/>
          </a:prstGeom>
          <a:solidFill>
            <a:srgbClr val="C9A227"/>
          </a:solidFill>
          <a:ln w="12700">
            <a:solidFill>
              <a:srgbClr val="C9A227"/>
            </a:solidFill>
            <a:prstDash val="solid"/>
          </a:ln>
        </p:spPr>
      </p:sp>
      <p:sp>
        <p:nvSpPr>
          <p:cNvPr id="14" name="Text 12"/>
          <p:cNvSpPr/>
          <p:nvPr/>
        </p:nvSpPr>
        <p:spPr>
          <a:xfrm>
            <a:off x="10972800" y="3666744"/>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6400800" y="3666744"/>
            <a:ext cx="4434840" cy="365760"/>
          </a:xfrm>
          <a:prstGeom prst="rect">
            <a:avLst/>
          </a:prstGeom>
          <a:noFill/>
          <a:ln/>
        </p:spPr>
        <p:txBody>
          <a:bodyPr wrap="square" lIns="0" tIns="0" rIns="0" bIns="0" rtlCol="0" anchor="ctr"/>
          <a:lstStyle/>
          <a:p>
            <a:pPr rtl="1" algn="r" indent="0" marL="0">
              <a:buNone/>
            </a:pPr>
            <a:r>
              <a:rPr lang="en-US" sz="1550" dirty="0">
                <a:solidFill>
                  <a:srgbClr val="FFFFFF"/>
                </a:solidFill>
                <a:latin typeface="Tahoma" pitchFamily="34" charset="0"/>
                <a:ea typeface="Tahoma" pitchFamily="34" charset="-122"/>
                <a:cs typeface="Tahoma" pitchFamily="34" charset="-120"/>
              </a:rPr>
              <a:t>صدور سند و عملیات حسابداری</a:t>
            </a:r>
            <a:endParaRPr lang="en-US" sz="1550" dirty="0"/>
          </a:p>
        </p:txBody>
      </p:sp>
      <p:sp>
        <p:nvSpPr>
          <p:cNvPr id="16" name="Shape 14"/>
          <p:cNvSpPr/>
          <p:nvPr/>
        </p:nvSpPr>
        <p:spPr>
          <a:xfrm>
            <a:off x="5852160" y="3666744"/>
            <a:ext cx="365760" cy="365760"/>
          </a:xfrm>
          <a:prstGeom prst="ellipse">
            <a:avLst/>
          </a:prstGeom>
          <a:solidFill>
            <a:srgbClr val="C9A227"/>
          </a:solidFill>
          <a:ln w="12700">
            <a:solidFill>
              <a:srgbClr val="C9A227"/>
            </a:solidFill>
            <a:prstDash val="solid"/>
          </a:ln>
        </p:spPr>
      </p:sp>
      <p:sp>
        <p:nvSpPr>
          <p:cNvPr id="17" name="Text 15"/>
          <p:cNvSpPr/>
          <p:nvPr/>
        </p:nvSpPr>
        <p:spPr>
          <a:xfrm>
            <a:off x="5852160" y="3666744"/>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8" name="Text 16"/>
          <p:cNvSpPr/>
          <p:nvPr/>
        </p:nvSpPr>
        <p:spPr>
          <a:xfrm>
            <a:off x="1280160" y="3666744"/>
            <a:ext cx="4434840" cy="365760"/>
          </a:xfrm>
          <a:prstGeom prst="rect">
            <a:avLst/>
          </a:prstGeom>
          <a:noFill/>
          <a:ln/>
        </p:spPr>
        <p:txBody>
          <a:bodyPr wrap="square" lIns="0" tIns="0" rIns="0" bIns="0" rtlCol="0" anchor="ctr"/>
          <a:lstStyle/>
          <a:p>
            <a:pPr rtl="1" algn="r" indent="0" marL="0">
              <a:buNone/>
            </a:pPr>
            <a:r>
              <a:rPr lang="en-US" sz="1550" dirty="0">
                <a:solidFill>
                  <a:srgbClr val="FFFFFF"/>
                </a:solidFill>
                <a:latin typeface="Tahoma" pitchFamily="34" charset="0"/>
                <a:ea typeface="Tahoma" pitchFamily="34" charset="-122"/>
                <a:cs typeface="Tahoma" pitchFamily="34" charset="-120"/>
              </a:rPr>
              <a:t>بانک، چک و اعلامیه</a:t>
            </a:r>
            <a:endParaRPr lang="en-US" sz="1550" dirty="0"/>
          </a:p>
        </p:txBody>
      </p:sp>
      <p:sp>
        <p:nvSpPr>
          <p:cNvPr id="19" name="Shape 17"/>
          <p:cNvSpPr/>
          <p:nvPr/>
        </p:nvSpPr>
        <p:spPr>
          <a:xfrm>
            <a:off x="10972800" y="4178808"/>
            <a:ext cx="365760" cy="365760"/>
          </a:xfrm>
          <a:prstGeom prst="ellipse">
            <a:avLst/>
          </a:prstGeom>
          <a:solidFill>
            <a:srgbClr val="C9A227"/>
          </a:solidFill>
          <a:ln w="12700">
            <a:solidFill>
              <a:srgbClr val="C9A227"/>
            </a:solidFill>
            <a:prstDash val="solid"/>
          </a:ln>
        </p:spPr>
      </p:sp>
      <p:sp>
        <p:nvSpPr>
          <p:cNvPr id="20" name="Text 18"/>
          <p:cNvSpPr/>
          <p:nvPr/>
        </p:nvSpPr>
        <p:spPr>
          <a:xfrm>
            <a:off x="10972800" y="4178808"/>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1" name="Text 19"/>
          <p:cNvSpPr/>
          <p:nvPr/>
        </p:nvSpPr>
        <p:spPr>
          <a:xfrm>
            <a:off x="6400800" y="4178808"/>
            <a:ext cx="4434840" cy="365760"/>
          </a:xfrm>
          <a:prstGeom prst="rect">
            <a:avLst/>
          </a:prstGeom>
          <a:noFill/>
          <a:ln/>
        </p:spPr>
        <p:txBody>
          <a:bodyPr wrap="square" lIns="0" tIns="0" rIns="0" bIns="0" rtlCol="0" anchor="ctr"/>
          <a:lstStyle/>
          <a:p>
            <a:pPr rtl="1" algn="r" indent="0" marL="0">
              <a:buNone/>
            </a:pPr>
            <a:r>
              <a:rPr lang="en-US" sz="1550" dirty="0">
                <a:solidFill>
                  <a:srgbClr val="FFFFFF"/>
                </a:solidFill>
                <a:latin typeface="Tahoma" pitchFamily="34" charset="0"/>
                <a:ea typeface="Tahoma" pitchFamily="34" charset="-122"/>
                <a:cs typeface="Tahoma" pitchFamily="34" charset="-120"/>
              </a:rPr>
              <a:t>گزارش‌ها</a:t>
            </a:r>
            <a:endParaRPr lang="en-US" sz="1550" dirty="0"/>
          </a:p>
        </p:txBody>
      </p:sp>
      <p:sp>
        <p:nvSpPr>
          <p:cNvPr id="22" name="Shape 20"/>
          <p:cNvSpPr/>
          <p:nvPr/>
        </p:nvSpPr>
        <p:spPr>
          <a:xfrm>
            <a:off x="5852160" y="4178808"/>
            <a:ext cx="365760" cy="365760"/>
          </a:xfrm>
          <a:prstGeom prst="ellipse">
            <a:avLst/>
          </a:prstGeom>
          <a:solidFill>
            <a:srgbClr val="C9A227"/>
          </a:solidFill>
          <a:ln w="12700">
            <a:solidFill>
              <a:srgbClr val="C9A227"/>
            </a:solidFill>
            <a:prstDash val="solid"/>
          </a:ln>
        </p:spPr>
      </p:sp>
      <p:sp>
        <p:nvSpPr>
          <p:cNvPr id="23" name="Text 21"/>
          <p:cNvSpPr/>
          <p:nvPr/>
        </p:nvSpPr>
        <p:spPr>
          <a:xfrm>
            <a:off x="5852160" y="4178808"/>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۶</a:t>
            </a:r>
            <a:endParaRPr lang="en-US" sz="1300" dirty="0"/>
          </a:p>
        </p:txBody>
      </p:sp>
      <p:sp>
        <p:nvSpPr>
          <p:cNvPr id="24" name="Text 22"/>
          <p:cNvSpPr/>
          <p:nvPr/>
        </p:nvSpPr>
        <p:spPr>
          <a:xfrm>
            <a:off x="1280160" y="4178808"/>
            <a:ext cx="4434840" cy="365760"/>
          </a:xfrm>
          <a:prstGeom prst="rect">
            <a:avLst/>
          </a:prstGeom>
          <a:noFill/>
          <a:ln/>
        </p:spPr>
        <p:txBody>
          <a:bodyPr wrap="square" lIns="0" tIns="0" rIns="0" bIns="0" rtlCol="0" anchor="ctr"/>
          <a:lstStyle/>
          <a:p>
            <a:pPr rtl="1" algn="r" indent="0" marL="0">
              <a:buNone/>
            </a:pPr>
            <a:r>
              <a:rPr lang="en-US" sz="1550" dirty="0">
                <a:solidFill>
                  <a:srgbClr val="FFFFFF"/>
                </a:solidFill>
                <a:latin typeface="Tahoma" pitchFamily="34" charset="0"/>
                <a:ea typeface="Tahoma" pitchFamily="34" charset="-122"/>
                <a:cs typeface="Tahoma" pitchFamily="34" charset="-120"/>
              </a:rPr>
              <a:t>تنخواه‌گردان</a:t>
            </a:r>
            <a:endParaRPr lang="en-US" sz="1550" dirty="0"/>
          </a:p>
        </p:txBody>
      </p:sp>
      <p:sp>
        <p:nvSpPr>
          <p:cNvPr id="25" name="Shape 23"/>
          <p:cNvSpPr/>
          <p:nvPr/>
        </p:nvSpPr>
        <p:spPr>
          <a:xfrm>
            <a:off x="10972800" y="4690872"/>
            <a:ext cx="365760" cy="365760"/>
          </a:xfrm>
          <a:prstGeom prst="ellipse">
            <a:avLst/>
          </a:prstGeom>
          <a:solidFill>
            <a:srgbClr val="C9A227"/>
          </a:solidFill>
          <a:ln w="12700">
            <a:solidFill>
              <a:srgbClr val="C9A227"/>
            </a:solidFill>
            <a:prstDash val="solid"/>
          </a:ln>
        </p:spPr>
      </p:sp>
      <p:sp>
        <p:nvSpPr>
          <p:cNvPr id="26" name="Text 24"/>
          <p:cNvSpPr/>
          <p:nvPr/>
        </p:nvSpPr>
        <p:spPr>
          <a:xfrm>
            <a:off x="10972800" y="4690872"/>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۷</a:t>
            </a:r>
            <a:endParaRPr lang="en-US" sz="1300" dirty="0"/>
          </a:p>
        </p:txBody>
      </p:sp>
      <p:sp>
        <p:nvSpPr>
          <p:cNvPr id="27" name="Text 25"/>
          <p:cNvSpPr/>
          <p:nvPr/>
        </p:nvSpPr>
        <p:spPr>
          <a:xfrm>
            <a:off x="6400800" y="4690872"/>
            <a:ext cx="4434840" cy="365760"/>
          </a:xfrm>
          <a:prstGeom prst="rect">
            <a:avLst/>
          </a:prstGeom>
          <a:noFill/>
          <a:ln/>
        </p:spPr>
        <p:txBody>
          <a:bodyPr wrap="square" lIns="0" tIns="0" rIns="0" bIns="0" rtlCol="0" anchor="ctr"/>
          <a:lstStyle/>
          <a:p>
            <a:pPr rtl="1" algn="r" indent="0" marL="0">
              <a:buNone/>
            </a:pPr>
            <a:r>
              <a:rPr lang="en-US" sz="1550" dirty="0">
                <a:solidFill>
                  <a:srgbClr val="FFFFFF"/>
                </a:solidFill>
                <a:latin typeface="Tahoma" pitchFamily="34" charset="0"/>
                <a:ea typeface="Tahoma" pitchFamily="34" charset="-122"/>
                <a:cs typeface="Tahoma" pitchFamily="34" charset="-120"/>
              </a:rPr>
              <a:t>دریافت و پرداخت (خزانه‌داری)</a:t>
            </a:r>
            <a:endParaRPr lang="en-US" sz="1550" dirty="0"/>
          </a:p>
        </p:txBody>
      </p:sp>
      <p:sp>
        <p:nvSpPr>
          <p:cNvPr id="28" name="Shape 26"/>
          <p:cNvSpPr/>
          <p:nvPr/>
        </p:nvSpPr>
        <p:spPr>
          <a:xfrm>
            <a:off x="5852160" y="4690872"/>
            <a:ext cx="365760" cy="365760"/>
          </a:xfrm>
          <a:prstGeom prst="ellipse">
            <a:avLst/>
          </a:prstGeom>
          <a:solidFill>
            <a:srgbClr val="C9A227"/>
          </a:solidFill>
          <a:ln w="12700">
            <a:solidFill>
              <a:srgbClr val="C9A227"/>
            </a:solidFill>
            <a:prstDash val="solid"/>
          </a:ln>
        </p:spPr>
      </p:sp>
      <p:sp>
        <p:nvSpPr>
          <p:cNvPr id="29" name="Text 27"/>
          <p:cNvSpPr/>
          <p:nvPr/>
        </p:nvSpPr>
        <p:spPr>
          <a:xfrm>
            <a:off x="5852160" y="4690872"/>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۸</a:t>
            </a:r>
            <a:endParaRPr lang="en-US" sz="1300" dirty="0"/>
          </a:p>
        </p:txBody>
      </p:sp>
      <p:sp>
        <p:nvSpPr>
          <p:cNvPr id="30" name="Text 28"/>
          <p:cNvSpPr/>
          <p:nvPr/>
        </p:nvSpPr>
        <p:spPr>
          <a:xfrm>
            <a:off x="1280160" y="4690872"/>
            <a:ext cx="4434840" cy="365760"/>
          </a:xfrm>
          <a:prstGeom prst="rect">
            <a:avLst/>
          </a:prstGeom>
          <a:noFill/>
          <a:ln/>
        </p:spPr>
        <p:txBody>
          <a:bodyPr wrap="square" lIns="0" tIns="0" rIns="0" bIns="0" rtlCol="0" anchor="ctr"/>
          <a:lstStyle/>
          <a:p>
            <a:pPr rtl="1" algn="r" indent="0" marL="0">
              <a:buNone/>
            </a:pPr>
            <a:r>
              <a:rPr lang="en-US" sz="1550" dirty="0">
                <a:solidFill>
                  <a:srgbClr val="FFFFFF"/>
                </a:solidFill>
                <a:latin typeface="Tahoma" pitchFamily="34" charset="0"/>
                <a:ea typeface="Tahoma" pitchFamily="34" charset="-122"/>
                <a:cs typeface="Tahoma" pitchFamily="34" charset="-120"/>
              </a:rPr>
              <a:t>فروش</a:t>
            </a:r>
            <a:endParaRPr lang="en-US" sz="1550" dirty="0"/>
          </a:p>
        </p:txBody>
      </p:sp>
      <p:sp>
        <p:nvSpPr>
          <p:cNvPr id="31" name="Shape 29"/>
          <p:cNvSpPr/>
          <p:nvPr/>
        </p:nvSpPr>
        <p:spPr>
          <a:xfrm>
            <a:off x="10972800" y="5202936"/>
            <a:ext cx="365760" cy="365760"/>
          </a:xfrm>
          <a:prstGeom prst="ellipse">
            <a:avLst/>
          </a:prstGeom>
          <a:solidFill>
            <a:srgbClr val="C9A227"/>
          </a:solidFill>
          <a:ln w="12700">
            <a:solidFill>
              <a:srgbClr val="C9A227"/>
            </a:solidFill>
            <a:prstDash val="solid"/>
          </a:ln>
        </p:spPr>
      </p:sp>
      <p:sp>
        <p:nvSpPr>
          <p:cNvPr id="32" name="Text 30"/>
          <p:cNvSpPr/>
          <p:nvPr/>
        </p:nvSpPr>
        <p:spPr>
          <a:xfrm>
            <a:off x="10972800" y="5202936"/>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۹</a:t>
            </a:r>
            <a:endParaRPr lang="en-US" sz="1300" dirty="0"/>
          </a:p>
        </p:txBody>
      </p:sp>
      <p:sp>
        <p:nvSpPr>
          <p:cNvPr id="33" name="Text 31"/>
          <p:cNvSpPr/>
          <p:nvPr/>
        </p:nvSpPr>
        <p:spPr>
          <a:xfrm>
            <a:off x="6400800" y="5202936"/>
            <a:ext cx="4434840" cy="365760"/>
          </a:xfrm>
          <a:prstGeom prst="rect">
            <a:avLst/>
          </a:prstGeom>
          <a:noFill/>
          <a:ln/>
        </p:spPr>
        <p:txBody>
          <a:bodyPr wrap="square" lIns="0" tIns="0" rIns="0" bIns="0" rtlCol="0" anchor="ctr"/>
          <a:lstStyle/>
          <a:p>
            <a:pPr rtl="1" algn="r" indent="0" marL="0">
              <a:buNone/>
            </a:pPr>
            <a:r>
              <a:rPr lang="en-US" sz="1550" dirty="0">
                <a:solidFill>
                  <a:srgbClr val="FFFFFF"/>
                </a:solidFill>
                <a:latin typeface="Tahoma" pitchFamily="34" charset="0"/>
                <a:ea typeface="Tahoma" pitchFamily="34" charset="-122"/>
                <a:cs typeface="Tahoma" pitchFamily="34" charset="-120"/>
              </a:rPr>
              <a:t>حسابداری تعهدی</a:t>
            </a:r>
            <a:endParaRPr lang="en-US" sz="1550" dirty="0"/>
          </a:p>
        </p:txBody>
      </p:sp>
      <p:sp>
        <p:nvSpPr>
          <p:cNvPr id="34" name="Shape 32"/>
          <p:cNvSpPr/>
          <p:nvPr/>
        </p:nvSpPr>
        <p:spPr>
          <a:xfrm>
            <a:off x="5852160" y="5202936"/>
            <a:ext cx="365760" cy="365760"/>
          </a:xfrm>
          <a:prstGeom prst="ellipse">
            <a:avLst/>
          </a:prstGeom>
          <a:solidFill>
            <a:srgbClr val="C9A227"/>
          </a:solidFill>
          <a:ln w="12700">
            <a:solidFill>
              <a:srgbClr val="C9A227"/>
            </a:solidFill>
            <a:prstDash val="solid"/>
          </a:ln>
        </p:spPr>
      </p:sp>
      <p:sp>
        <p:nvSpPr>
          <p:cNvPr id="35" name="Text 33"/>
          <p:cNvSpPr/>
          <p:nvPr/>
        </p:nvSpPr>
        <p:spPr>
          <a:xfrm>
            <a:off x="5852160" y="5202936"/>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۱۰</a:t>
            </a:r>
            <a:endParaRPr lang="en-US" sz="1300" dirty="0"/>
          </a:p>
        </p:txBody>
      </p:sp>
      <p:sp>
        <p:nvSpPr>
          <p:cNvPr id="36" name="Text 34"/>
          <p:cNvSpPr/>
          <p:nvPr/>
        </p:nvSpPr>
        <p:spPr>
          <a:xfrm>
            <a:off x="1280160" y="5202936"/>
            <a:ext cx="4434840" cy="365760"/>
          </a:xfrm>
          <a:prstGeom prst="rect">
            <a:avLst/>
          </a:prstGeom>
          <a:noFill/>
          <a:ln/>
        </p:spPr>
        <p:txBody>
          <a:bodyPr wrap="square" lIns="0" tIns="0" rIns="0" bIns="0" rtlCol="0" anchor="ctr"/>
          <a:lstStyle/>
          <a:p>
            <a:pPr rtl="1" algn="r" indent="0" marL="0">
              <a:buNone/>
            </a:pPr>
            <a:r>
              <a:rPr lang="en-US" sz="1550" dirty="0">
                <a:solidFill>
                  <a:srgbClr val="FFFFFF"/>
                </a:solidFill>
                <a:latin typeface="Tahoma" pitchFamily="34" charset="0"/>
                <a:ea typeface="Tahoma" pitchFamily="34" charset="-122"/>
                <a:cs typeface="Tahoma" pitchFamily="34" charset="-120"/>
              </a:rPr>
              <a:t>حسابیار</a:t>
            </a:r>
            <a:endParaRPr lang="en-US" sz="1550" dirty="0"/>
          </a:p>
        </p:txBody>
      </p:sp>
      <p:sp>
        <p:nvSpPr>
          <p:cNvPr id="37" name="Shape 35"/>
          <p:cNvSpPr/>
          <p:nvPr/>
        </p:nvSpPr>
        <p:spPr>
          <a:xfrm>
            <a:off x="10972800" y="5715000"/>
            <a:ext cx="365760" cy="365760"/>
          </a:xfrm>
          <a:prstGeom prst="ellipse">
            <a:avLst/>
          </a:prstGeom>
          <a:solidFill>
            <a:srgbClr val="C9A227"/>
          </a:solidFill>
          <a:ln w="12700">
            <a:solidFill>
              <a:srgbClr val="C9A227"/>
            </a:solidFill>
            <a:prstDash val="solid"/>
          </a:ln>
        </p:spPr>
      </p:sp>
      <p:sp>
        <p:nvSpPr>
          <p:cNvPr id="38" name="Text 36"/>
          <p:cNvSpPr/>
          <p:nvPr/>
        </p:nvSpPr>
        <p:spPr>
          <a:xfrm>
            <a:off x="10972800" y="5715000"/>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۱۱</a:t>
            </a:r>
            <a:endParaRPr lang="en-US" sz="1300" dirty="0"/>
          </a:p>
        </p:txBody>
      </p:sp>
      <p:sp>
        <p:nvSpPr>
          <p:cNvPr id="39" name="Text 37"/>
          <p:cNvSpPr/>
          <p:nvPr/>
        </p:nvSpPr>
        <p:spPr>
          <a:xfrm>
            <a:off x="6400800" y="5715000"/>
            <a:ext cx="4434840" cy="365760"/>
          </a:xfrm>
          <a:prstGeom prst="rect">
            <a:avLst/>
          </a:prstGeom>
          <a:noFill/>
          <a:ln/>
        </p:spPr>
        <p:txBody>
          <a:bodyPr wrap="square" lIns="0" tIns="0" rIns="0" bIns="0" rtlCol="0" anchor="ctr"/>
          <a:lstStyle/>
          <a:p>
            <a:pPr rtl="1" algn="r" indent="0" marL="0">
              <a:buNone/>
            </a:pPr>
            <a:r>
              <a:rPr lang="en-US" sz="1550" dirty="0">
                <a:solidFill>
                  <a:srgbClr val="FFFFFF"/>
                </a:solidFill>
                <a:latin typeface="Tahoma" pitchFamily="34" charset="0"/>
                <a:ea typeface="Tahoma" pitchFamily="34" charset="-122"/>
                <a:cs typeface="Tahoma" pitchFamily="34" charset="-120"/>
              </a:rPr>
              <a:t>صورت‌های مالی</a:t>
            </a:r>
            <a:endParaRPr lang="en-US" sz="1550" dirty="0"/>
          </a:p>
        </p:txBody>
      </p:sp>
      <p:sp>
        <p:nvSpPr>
          <p:cNvPr id="40" name="Text 38"/>
          <p:cNvSpPr/>
          <p:nvPr/>
        </p:nvSpPr>
        <p:spPr>
          <a:xfrm>
            <a:off x="2743200" y="6172200"/>
            <a:ext cx="9052560" cy="365760"/>
          </a:xfrm>
          <a:prstGeom prst="rect">
            <a:avLst/>
          </a:prstGeom>
          <a:noFill/>
          <a:ln/>
        </p:spPr>
        <p:txBody>
          <a:bodyPr wrap="square" lIns="0" tIns="0" rIns="0" bIns="0" rtlCol="0" anchor="ctr"/>
          <a:lstStyle/>
          <a:p>
            <a:pPr rtl="1" algn="r" indent="0" marL="0">
              <a:buNone/>
            </a:pPr>
            <a:r>
              <a:rPr lang="en-US" sz="1300" dirty="0">
                <a:solidFill>
                  <a:srgbClr val="A9B4C8"/>
                </a:solidFill>
                <a:latin typeface="Tahoma" pitchFamily="34" charset="0"/>
                <a:ea typeface="Tahoma" pitchFamily="34" charset="-122"/>
                <a:cs typeface="Tahoma" pitchFamily="34" charset="-120"/>
              </a:rPr>
              <a:t>نسخهٔ کامل  ·  آبان ۱۴۰۵</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این راهنما را چگونه بخوانید</a:t>
            </a:r>
            <a:endParaRPr lang="en-US" sz="2500" dirty="0"/>
          </a:p>
        </p:txBody>
      </p:sp>
      <p:sp>
        <p:nvSpPr>
          <p:cNvPr id="3" name="Text 1"/>
          <p:cNvSpPr/>
          <p:nvPr/>
        </p:nvSpPr>
        <p:spPr>
          <a:xfrm>
            <a:off x="411480" y="960120"/>
            <a:ext cx="11365992" cy="685800"/>
          </a:xfrm>
          <a:prstGeom prst="rect">
            <a:avLst/>
          </a:prstGeom>
          <a:noFill/>
          <a:ln/>
        </p:spPr>
        <p:txBody>
          <a:bodyPr wrap="square" lIns="0" tIns="0" rIns="0" bIns="0" rtlCol="0" anchor="t"/>
          <a:lstStyle/>
          <a:p>
            <a:pPr rtl="1" algn="r" indent="0" marL="0">
              <a:buNone/>
            </a:pPr>
            <a:r>
              <a:rPr lang="en-US" sz="1500" dirty="0">
                <a:solidFill>
                  <a:srgbClr val="5B6475"/>
                </a:solidFill>
                <a:latin typeface="Tahoma" pitchFamily="34" charset="0"/>
                <a:ea typeface="Tahoma" pitchFamily="34" charset="-122"/>
                <a:cs typeface="Tahoma" pitchFamily="34" charset="-120"/>
              </a:rPr>
              <a:t>این راهنما برای کسی نوشته شده که هیچ آشنایی قبلی با حسابداری ندارد. اگر تازه‌کارید، از فصل ۱ شروع کنید؛ هر فصل بعدی اول مفهوم را با مثال عددی توضیح می‌دهد و بعد فرم‌ها را گام‌به‌گام نشان می‌دهد.</a:t>
            </a:r>
            <a:endParaRPr lang="en-US" sz="1500" dirty="0"/>
          </a:p>
        </p:txBody>
      </p:sp>
      <p:sp>
        <p:nvSpPr>
          <p:cNvPr id="4" name="Shape 2"/>
          <p:cNvSpPr/>
          <p:nvPr/>
        </p:nvSpPr>
        <p:spPr>
          <a:xfrm>
            <a:off x="8122920" y="1783080"/>
            <a:ext cx="3654552" cy="1564081"/>
          </a:xfrm>
          <a:prstGeom prst="roundRect">
            <a:avLst>
              <a:gd name="adj" fmla="val 584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11228832" y="1965960"/>
            <a:ext cx="384048" cy="384048"/>
          </a:xfrm>
          <a:prstGeom prst="ellipse">
            <a:avLst/>
          </a:prstGeom>
          <a:solidFill>
            <a:srgbClr val="C9A227"/>
          </a:solidFill>
          <a:ln w="12700">
            <a:solidFill>
              <a:srgbClr val="C9A227"/>
            </a:solidFill>
            <a:prstDash val="solid"/>
          </a:ln>
        </p:spPr>
      </p:sp>
      <p:sp>
        <p:nvSpPr>
          <p:cNvPr id="6" name="Text 4"/>
          <p:cNvSpPr/>
          <p:nvPr/>
        </p:nvSpPr>
        <p:spPr>
          <a:xfrm>
            <a:off x="11228832" y="196596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8305800" y="1965960"/>
            <a:ext cx="2831592" cy="384048"/>
          </a:xfrm>
          <a:prstGeom prst="rect">
            <a:avLst/>
          </a:prstGeom>
          <a:noFill/>
          <a:ln/>
        </p:spPr>
        <p:txBody>
          <a:bodyPr wrap="square" lIns="0" tIns="0" rIns="0" bIns="0" rtlCol="0" anchor="ctr"/>
          <a:lstStyle/>
          <a:p>
            <a:pPr rtl="1" algn="r" indent="0" marL="0">
              <a:buNone/>
            </a:pPr>
            <a:r>
              <a:rPr lang="en-US" sz="1550" b="1" dirty="0">
                <a:solidFill>
                  <a:srgbClr val="1B2A49"/>
                </a:solidFill>
                <a:latin typeface="Tahoma" pitchFamily="34" charset="0"/>
                <a:ea typeface="Tahoma" pitchFamily="34" charset="-122"/>
                <a:cs typeface="Tahoma" pitchFamily="34" charset="-120"/>
              </a:rPr>
              <a:t>مفهوم</a:t>
            </a:r>
            <a:endParaRPr lang="en-US" sz="1550" dirty="0"/>
          </a:p>
        </p:txBody>
      </p:sp>
      <p:sp>
        <p:nvSpPr>
          <p:cNvPr id="8" name="Text 6"/>
          <p:cNvSpPr/>
          <p:nvPr/>
        </p:nvSpPr>
        <p:spPr>
          <a:xfrm>
            <a:off x="8324088" y="2468880"/>
            <a:ext cx="3252216" cy="7868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اسلایدهای «مفهوم» یک اصطلاح حسابداری را با مثال ساده توضیح می‌دهند.</a:t>
            </a:r>
            <a:endParaRPr lang="en-US" sz="1300" dirty="0"/>
          </a:p>
        </p:txBody>
      </p:sp>
      <p:sp>
        <p:nvSpPr>
          <p:cNvPr id="9" name="Shape 7"/>
          <p:cNvSpPr/>
          <p:nvPr/>
        </p:nvSpPr>
        <p:spPr>
          <a:xfrm>
            <a:off x="4267200" y="1783080"/>
            <a:ext cx="3654552" cy="1564081"/>
          </a:xfrm>
          <a:prstGeom prst="roundRect">
            <a:avLst>
              <a:gd name="adj" fmla="val 584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7373112" y="1965960"/>
            <a:ext cx="384048" cy="384048"/>
          </a:xfrm>
          <a:prstGeom prst="ellipse">
            <a:avLst/>
          </a:prstGeom>
          <a:solidFill>
            <a:srgbClr val="C9A227"/>
          </a:solidFill>
          <a:ln w="12700">
            <a:solidFill>
              <a:srgbClr val="C9A227"/>
            </a:solidFill>
            <a:prstDash val="solid"/>
          </a:ln>
        </p:spPr>
      </p:sp>
      <p:sp>
        <p:nvSpPr>
          <p:cNvPr id="11" name="Text 9"/>
          <p:cNvSpPr/>
          <p:nvPr/>
        </p:nvSpPr>
        <p:spPr>
          <a:xfrm>
            <a:off x="7373112" y="196596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2" name="Text 10"/>
          <p:cNvSpPr/>
          <p:nvPr/>
        </p:nvSpPr>
        <p:spPr>
          <a:xfrm>
            <a:off x="4450080" y="1965960"/>
            <a:ext cx="2831592" cy="384048"/>
          </a:xfrm>
          <a:prstGeom prst="rect">
            <a:avLst/>
          </a:prstGeom>
          <a:noFill/>
          <a:ln/>
        </p:spPr>
        <p:txBody>
          <a:bodyPr wrap="square" lIns="0" tIns="0" rIns="0" bIns="0" rtlCol="0" anchor="ctr"/>
          <a:lstStyle/>
          <a:p>
            <a:pPr rtl="1" algn="r" indent="0" marL="0">
              <a:buNone/>
            </a:pPr>
            <a:r>
              <a:rPr lang="en-US" sz="1550" b="1" dirty="0">
                <a:solidFill>
                  <a:srgbClr val="1B2A49"/>
                </a:solidFill>
                <a:latin typeface="Tahoma" pitchFamily="34" charset="0"/>
                <a:ea typeface="Tahoma" pitchFamily="34" charset="-122"/>
                <a:cs typeface="Tahoma" pitchFamily="34" charset="-120"/>
              </a:rPr>
              <a:t>سند نمونه</a:t>
            </a:r>
            <a:endParaRPr lang="en-US" sz="1550" dirty="0"/>
          </a:p>
        </p:txBody>
      </p:sp>
      <p:sp>
        <p:nvSpPr>
          <p:cNvPr id="13" name="Text 11"/>
          <p:cNvSpPr/>
          <p:nvPr/>
        </p:nvSpPr>
        <p:spPr>
          <a:xfrm>
            <a:off x="4468368" y="2468880"/>
            <a:ext cx="3252216" cy="7868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اسلایدهای «سند» نشان می‌دهند سامانه برای هر کار چه ردیف‌های بدهکار و بستانکاری می‌سازد.</a:t>
            </a:r>
            <a:endParaRPr lang="en-US" sz="1300" dirty="0"/>
          </a:p>
        </p:txBody>
      </p:sp>
      <p:sp>
        <p:nvSpPr>
          <p:cNvPr id="14" name="Shape 12"/>
          <p:cNvSpPr/>
          <p:nvPr/>
        </p:nvSpPr>
        <p:spPr>
          <a:xfrm>
            <a:off x="411480" y="1783080"/>
            <a:ext cx="3654552" cy="1564081"/>
          </a:xfrm>
          <a:prstGeom prst="roundRect">
            <a:avLst>
              <a:gd name="adj" fmla="val 584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5" name="Shape 13"/>
          <p:cNvSpPr/>
          <p:nvPr/>
        </p:nvSpPr>
        <p:spPr>
          <a:xfrm>
            <a:off x="3517392" y="1965960"/>
            <a:ext cx="384048" cy="384048"/>
          </a:xfrm>
          <a:prstGeom prst="ellipse">
            <a:avLst/>
          </a:prstGeom>
          <a:solidFill>
            <a:srgbClr val="C9A227"/>
          </a:solidFill>
          <a:ln w="12700">
            <a:solidFill>
              <a:srgbClr val="C9A227"/>
            </a:solidFill>
            <a:prstDash val="solid"/>
          </a:ln>
        </p:spPr>
      </p:sp>
      <p:sp>
        <p:nvSpPr>
          <p:cNvPr id="16" name="Text 14"/>
          <p:cNvSpPr/>
          <p:nvPr/>
        </p:nvSpPr>
        <p:spPr>
          <a:xfrm>
            <a:off x="3517392" y="196596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5"/>
          <p:cNvSpPr/>
          <p:nvPr/>
        </p:nvSpPr>
        <p:spPr>
          <a:xfrm>
            <a:off x="594360" y="1965960"/>
            <a:ext cx="2831592" cy="384048"/>
          </a:xfrm>
          <a:prstGeom prst="rect">
            <a:avLst/>
          </a:prstGeom>
          <a:noFill/>
          <a:ln/>
        </p:spPr>
        <p:txBody>
          <a:bodyPr wrap="square" lIns="0" tIns="0" rIns="0" bIns="0" rtlCol="0" anchor="ctr"/>
          <a:lstStyle/>
          <a:p>
            <a:pPr rtl="1" algn="r" indent="0" marL="0">
              <a:buNone/>
            </a:pPr>
            <a:r>
              <a:rPr lang="en-US" sz="1550" b="1" dirty="0">
                <a:solidFill>
                  <a:srgbClr val="1B2A49"/>
                </a:solidFill>
                <a:latin typeface="Tahoma" pitchFamily="34" charset="0"/>
                <a:ea typeface="Tahoma" pitchFamily="34" charset="-122"/>
                <a:cs typeface="Tahoma" pitchFamily="34" charset="-120"/>
              </a:rPr>
              <a:t>فرم</a:t>
            </a:r>
            <a:endParaRPr lang="en-US" sz="1550" dirty="0"/>
          </a:p>
        </p:txBody>
      </p:sp>
      <p:sp>
        <p:nvSpPr>
          <p:cNvPr id="18" name="Text 16"/>
          <p:cNvSpPr/>
          <p:nvPr/>
        </p:nvSpPr>
        <p:spPr>
          <a:xfrm>
            <a:off x="612648" y="2468880"/>
            <a:ext cx="3252216" cy="7868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تصویر واقعی فرم با گام‌های شماره‌دار؛ مسیر منو در کادر طلایی زیر عنوان آمده است.</a:t>
            </a:r>
            <a:endParaRPr lang="en-US" sz="1300" dirty="0"/>
          </a:p>
        </p:txBody>
      </p:sp>
      <p:sp>
        <p:nvSpPr>
          <p:cNvPr id="19" name="Shape 17"/>
          <p:cNvSpPr/>
          <p:nvPr/>
        </p:nvSpPr>
        <p:spPr>
          <a:xfrm>
            <a:off x="8122920" y="3548329"/>
            <a:ext cx="3654552" cy="1564081"/>
          </a:xfrm>
          <a:prstGeom prst="roundRect">
            <a:avLst>
              <a:gd name="adj" fmla="val 584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0" name="Shape 18"/>
          <p:cNvSpPr/>
          <p:nvPr/>
        </p:nvSpPr>
        <p:spPr>
          <a:xfrm>
            <a:off x="11228832" y="3731209"/>
            <a:ext cx="384048" cy="384048"/>
          </a:xfrm>
          <a:prstGeom prst="ellipse">
            <a:avLst/>
          </a:prstGeom>
          <a:solidFill>
            <a:srgbClr val="C9A227"/>
          </a:solidFill>
          <a:ln w="12700">
            <a:solidFill>
              <a:srgbClr val="C9A227"/>
            </a:solidFill>
            <a:prstDash val="solid"/>
          </a:ln>
        </p:spPr>
      </p:sp>
      <p:sp>
        <p:nvSpPr>
          <p:cNvPr id="21" name="Text 19"/>
          <p:cNvSpPr/>
          <p:nvPr/>
        </p:nvSpPr>
        <p:spPr>
          <a:xfrm>
            <a:off x="11228832" y="3731209"/>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20"/>
          <p:cNvSpPr/>
          <p:nvPr/>
        </p:nvSpPr>
        <p:spPr>
          <a:xfrm>
            <a:off x="8305800" y="3731209"/>
            <a:ext cx="2831592" cy="384048"/>
          </a:xfrm>
          <a:prstGeom prst="rect">
            <a:avLst/>
          </a:prstGeom>
          <a:noFill/>
          <a:ln/>
        </p:spPr>
        <p:txBody>
          <a:bodyPr wrap="square" lIns="0" tIns="0" rIns="0" bIns="0" rtlCol="0" anchor="ctr"/>
          <a:lstStyle/>
          <a:p>
            <a:pPr rtl="1" algn="r" indent="0" marL="0">
              <a:buNone/>
            </a:pPr>
            <a:r>
              <a:rPr lang="en-US" sz="1550" b="1" dirty="0">
                <a:solidFill>
                  <a:srgbClr val="1B2A49"/>
                </a:solidFill>
                <a:latin typeface="Tahoma" pitchFamily="34" charset="0"/>
                <a:ea typeface="Tahoma" pitchFamily="34" charset="-122"/>
                <a:cs typeface="Tahoma" pitchFamily="34" charset="-120"/>
              </a:rPr>
              <a:t>مثال</a:t>
            </a:r>
            <a:endParaRPr lang="en-US" sz="1550" dirty="0"/>
          </a:p>
        </p:txBody>
      </p:sp>
      <p:sp>
        <p:nvSpPr>
          <p:cNvPr id="23" name="Text 21"/>
          <p:cNvSpPr/>
          <p:nvPr/>
        </p:nvSpPr>
        <p:spPr>
          <a:xfrm>
            <a:off x="8324088" y="4234129"/>
            <a:ext cx="3252216" cy="7868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کادر سبز یک نمونهٔ واقعی کار با همان فرم است؛ نام‌ها و اعداد ساختگی‌اند.</a:t>
            </a:r>
            <a:endParaRPr lang="en-US" sz="1300" dirty="0"/>
          </a:p>
        </p:txBody>
      </p:sp>
      <p:sp>
        <p:nvSpPr>
          <p:cNvPr id="24" name="Text 2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a:t>
            </a:r>
            <a:endParaRPr lang="en-US" sz="1000" dirty="0"/>
          </a:p>
        </p:txBody>
      </p:sp>
      <p:sp>
        <p:nvSpPr>
          <p:cNvPr id="25" name="Text 2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مقدمه</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3" name="Image 0" descr="b0_menu">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۱</a:t>
            </a:r>
            <a:endParaRPr lang="en-US" sz="4000" dirty="0"/>
          </a:p>
        </p:txBody>
      </p:sp>
      <p:sp>
        <p:nvSpPr>
          <p:cNvPr id="6" name="Text 3"/>
          <p:cNvSpPr/>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۱</a:t>
            </a:r>
            <a:endParaRPr lang="en-US" sz="1800" dirty="0"/>
          </a:p>
        </p:txBody>
      </p:sp>
      <p:sp>
        <p:nvSpPr>
          <p:cNvPr id="7" name="Text 4"/>
          <p:cNvSpPr/>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600" b="1" dirty="0">
                <a:solidFill>
                  <a:srgbClr val="FFFFFF"/>
                </a:solidFill>
                <a:latin typeface="Tahoma" pitchFamily="34" charset="0"/>
                <a:ea typeface="Tahoma" pitchFamily="34" charset="-122"/>
                <a:cs typeface="Tahoma" pitchFamily="34" charset="-120"/>
              </a:rPr>
              <a:t>مبانی حسابداری و شروع کار</a:t>
            </a:r>
            <a:endParaRPr lang="en-US" sz="3600" dirty="0"/>
          </a:p>
        </p:txBody>
      </p:sp>
      <p:sp>
        <p:nvSpPr>
          <p:cNvPr id="8" name="Text 5"/>
          <p:cNvSpPr/>
          <p:nvPr/>
        </p:nvSpPr>
        <p:spPr>
          <a:xfrm>
            <a:off x="5120640" y="4206240"/>
            <a:ext cx="6629400" cy="1463040"/>
          </a:xfrm>
          <a:prstGeom prst="rect">
            <a:avLst/>
          </a:prstGeom>
          <a:noFill/>
          <a:ln/>
        </p:spPr>
        <p:txBody>
          <a:bodyPr wrap="square" lIns="0" tIns="0" rIns="0" bIns="0" rtlCol="0" anchor="t"/>
          <a:lstStyle/>
          <a:p>
            <a:pPr rtl="1" algn="r" indent="0" marL="0">
              <a:buNone/>
            </a:pPr>
            <a:r>
              <a:rPr lang="en-US" sz="1600" dirty="0">
                <a:solidFill>
                  <a:srgbClr val="C9D3E6"/>
                </a:solidFill>
                <a:latin typeface="Tahoma" pitchFamily="34" charset="0"/>
                <a:ea typeface="Tahoma" pitchFamily="34" charset="-122"/>
                <a:cs typeface="Tahoma" pitchFamily="34" charset="-120"/>
              </a:rPr>
              <a:t>اگر تا امروز با حسابداری کار نکرده‌اید از اینجا شروع کنید: سند، بدهکار و بستانکار، کدینگ و سال مالی به زبان ساده، و اولین ورود به سامانه</a:t>
            </a:r>
            <a:endParaRPr lang="en-US" sz="1600" dirty="0"/>
          </a:p>
        </p:txBody>
      </p:sp>
      <p:sp>
        <p:nvSpPr>
          <p:cNvPr id="9" name="Text 6"/>
          <p:cNvSpPr/>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حسابداری یعنی چه؟</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حسابداری یعنی ثبت منظم هر رویدادی که پول یا دارایی سازمان را تغییر می‌دهد؛ مثل یک دفتر خاطرات مالی که هر خط آن جواب می‌دهد: چه شد، چه زمانی، چقدر و از کجا به کجا.</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رویداد مالی</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اتفاقی که پول یا بدهی یا دارایی را تغییر دهد: پرداخت قبض، دریافت حق بیمه، خرید ملزومات.</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ثبت</a:t>
            </a:r>
            <a:endParaRPr lang="en-US" sz="1350" dirty="0"/>
          </a:p>
        </p:txBody>
      </p:sp>
      <p:sp>
        <p:nvSpPr>
          <p:cNvPr id="12" name="Text 10"/>
          <p:cNvSpPr/>
          <p:nvPr/>
        </p:nvSpPr>
        <p:spPr>
          <a:xfrm>
            <a:off x="5440680" y="352386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رویداد در یک «سند حسابداری» نوشته می‌شود؛ بدون سند، رویداد در حساب‌ها دیده نمی‌شود.</a:t>
            </a:r>
            <a:endParaRPr lang="en-US" sz="1300" dirty="0"/>
          </a:p>
        </p:txBody>
      </p:sp>
      <p:sp>
        <p:nvSpPr>
          <p:cNvPr id="13" name="Shape 11"/>
          <p:cNvSpPr/>
          <p:nvPr/>
        </p:nvSpPr>
        <p:spPr>
          <a:xfrm>
            <a:off x="11411712" y="4097198"/>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09719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097198"/>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گزارش</a:t>
            </a:r>
            <a:endParaRPr lang="en-US" sz="1350" dirty="0"/>
          </a:p>
        </p:txBody>
      </p:sp>
      <p:sp>
        <p:nvSpPr>
          <p:cNvPr id="16" name="Text 14"/>
          <p:cNvSpPr/>
          <p:nvPr/>
        </p:nvSpPr>
        <p:spPr>
          <a:xfrm>
            <a:off x="5440680" y="4426382"/>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از جمع سندها، گزارش‌ها و صورت‌های مالی ساخته می‌شود: چقدر داریم، چقدر بدهکاریم، چقدر خرج کردیم.</a:t>
            </a:r>
            <a:endParaRPr lang="en-US" sz="1300" dirty="0"/>
          </a:p>
        </p:txBody>
      </p:sp>
      <p:sp>
        <p:nvSpPr>
          <p:cNvPr id="17" name="Shape 15"/>
          <p:cNvSpPr/>
          <p:nvPr/>
        </p:nvSpPr>
        <p:spPr>
          <a:xfrm>
            <a:off x="411480" y="1097280"/>
            <a:ext cx="4754880" cy="3005861"/>
          </a:xfrm>
          <a:prstGeom prst="roundRect">
            <a:avLst>
              <a:gd name="adj" fmla="val 3042"/>
            </a:avLst>
          </a:prstGeom>
          <a:solidFill>
            <a:srgbClr val="E3F3EA"/>
          </a:solidFill>
          <a:ln w="9525">
            <a:solidFill>
              <a:srgbClr val="1E7A4C"/>
            </a:solidFill>
            <a:prstDash val="solid"/>
          </a:ln>
        </p:spPr>
      </p:sp>
      <p:sp>
        <p:nvSpPr>
          <p:cNvPr id="18" name="Text 16"/>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مثال — یک هفتهٔ اداره کل تهران</a:t>
            </a:r>
            <a:endParaRPr lang="en-US" sz="1500" dirty="0"/>
          </a:p>
        </p:txBody>
      </p:sp>
      <p:sp>
        <p:nvSpPr>
          <p:cNvPr id="19" name="Text 17"/>
          <p:cNvSpPr/>
          <p:nvPr/>
        </p:nvSpPr>
        <p:spPr>
          <a:xfrm>
            <a:off x="594360" y="1691640"/>
            <a:ext cx="4389120" cy="32324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سه رویداد مالی و اثرشان:</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94360" y="2152040"/>
          <a:ext cx="4389120" cy="914400"/>
        </p:xfrm>
        <a:graphic>
          <a:graphicData uri="http://schemas.openxmlformats.org/drawingml/2006/table">
            <a:tbl>
              <a:tblPr rtl="1"/>
              <a:tblGrid>
                <a:gridCol w="2194560"/>
                <a:gridCol w="1097280"/>
                <a:gridCol w="1097280"/>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رویداد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مبلغ (ریال)</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چه تغییر کرد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پرداخت قبض برق</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۴۵,۰۰۰,۰۰۰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بانک کم شد، هزینه زیاد شد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دریافت حق بیمه از کارفرما</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۲۵۰,۰۰۰,۰۰۰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بانک زیاد شد، طلب کم شد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خرید ملزومات نسیه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۱۸,۵۰۰,۰۰۰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هزینه زیاد شد، بدهی زیاد شد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bl>
          </a:graphicData>
        </a:graphic>
      </p:graphicFrame>
      <p:sp>
        <p:nvSpPr>
          <p:cNvPr id="21" name="Text 18"/>
          <p:cNvSpPr/>
          <p:nvPr/>
        </p:nvSpPr>
        <p:spPr>
          <a:xfrm>
            <a:off x="594360" y="3605936"/>
            <a:ext cx="4389120" cy="405765"/>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هر کدام از این سه، یک سند حسابداری می‌شود.</a:t>
            </a:r>
            <a:endParaRPr lang="en-US" sz="125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۴</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مبانی و شروع کار</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دسته‌های اصلی حساب‌ها</a:t>
            </a:r>
            <a:endParaRPr lang="en-US" sz="2500" dirty="0"/>
          </a:p>
        </p:txBody>
      </p:sp>
      <p:sp>
        <p:nvSpPr>
          <p:cNvPr id="3" name="Shape 1"/>
          <p:cNvSpPr/>
          <p:nvPr/>
        </p:nvSpPr>
        <p:spPr>
          <a:xfrm>
            <a:off x="11731752" y="1097280"/>
            <a:ext cx="45720" cy="689915"/>
          </a:xfrm>
          <a:prstGeom prst="rect">
            <a:avLst/>
          </a:prstGeom>
          <a:solidFill>
            <a:srgbClr val="C9A227"/>
          </a:solidFill>
          <a:ln w="12700">
            <a:solidFill>
              <a:srgbClr val="C9A227"/>
            </a:solidFill>
            <a:prstDash val="solid"/>
          </a:ln>
        </p:spPr>
      </p:sp>
      <p:sp>
        <p:nvSpPr>
          <p:cNvPr id="4" name="Text 2"/>
          <p:cNvSpPr/>
          <p:nvPr/>
        </p:nvSpPr>
        <p:spPr>
          <a:xfrm>
            <a:off x="5440680" y="1097280"/>
            <a:ext cx="6153912" cy="689915"/>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همهٔ حساب‌ها در پنج دستهٔ ساده جا می‌گیرند. دانستن دستهٔ هر حساب کمک می‌کند بفهمید با هر رویداد زیاد می‌شود یا کم.</a:t>
            </a:r>
            <a:endParaRPr lang="en-US" sz="1550" dirty="0"/>
          </a:p>
        </p:txBody>
      </p:sp>
      <p:sp>
        <p:nvSpPr>
          <p:cNvPr id="5" name="Shape 3"/>
          <p:cNvSpPr/>
          <p:nvPr/>
        </p:nvSpPr>
        <p:spPr>
          <a:xfrm>
            <a:off x="11411712" y="2015795"/>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01579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01579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دارایی</a:t>
            </a:r>
            <a:endParaRPr lang="en-US" sz="1350" dirty="0"/>
          </a:p>
        </p:txBody>
      </p:sp>
      <p:sp>
        <p:nvSpPr>
          <p:cNvPr id="8" name="Text 6"/>
          <p:cNvSpPr/>
          <p:nvPr/>
        </p:nvSpPr>
        <p:spPr>
          <a:xfrm>
            <a:off x="5440680" y="234497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چیزهایی که سازمان دارد یا طلبکار است: صندوق، بانک، طلب از کارفرما، ساختمان.</a:t>
            </a:r>
            <a:endParaRPr lang="en-US" sz="1300" dirty="0"/>
          </a:p>
        </p:txBody>
      </p:sp>
      <p:sp>
        <p:nvSpPr>
          <p:cNvPr id="9" name="Shape 7"/>
          <p:cNvSpPr/>
          <p:nvPr/>
        </p:nvSpPr>
        <p:spPr>
          <a:xfrm>
            <a:off x="11411712" y="2918308"/>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291830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2918308"/>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بدهی</a:t>
            </a:r>
            <a:endParaRPr lang="en-US" sz="1350" dirty="0"/>
          </a:p>
        </p:txBody>
      </p:sp>
      <p:sp>
        <p:nvSpPr>
          <p:cNvPr id="12" name="Text 10"/>
          <p:cNvSpPr/>
          <p:nvPr/>
        </p:nvSpPr>
        <p:spPr>
          <a:xfrm>
            <a:off x="5440680" y="3247492"/>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چیزهایی که سازمان بدهکار است: بدهی به پیمانکار، مالیات پرداختنی.</a:t>
            </a:r>
            <a:endParaRPr lang="en-US" sz="1300" dirty="0"/>
          </a:p>
        </p:txBody>
      </p:sp>
      <p:sp>
        <p:nvSpPr>
          <p:cNvPr id="13" name="Shape 11"/>
          <p:cNvSpPr/>
          <p:nvPr/>
        </p:nvSpPr>
        <p:spPr>
          <a:xfrm>
            <a:off x="11411712" y="3589020"/>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35890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3589020"/>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خالص دارایی‌ها</a:t>
            </a:r>
            <a:endParaRPr lang="en-US" sz="1350" dirty="0"/>
          </a:p>
        </p:txBody>
      </p:sp>
      <p:sp>
        <p:nvSpPr>
          <p:cNvPr id="16" name="Text 14"/>
          <p:cNvSpPr/>
          <p:nvPr/>
        </p:nvSpPr>
        <p:spPr>
          <a:xfrm>
            <a:off x="5440680" y="3918204"/>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آنچه پس از کم کردن بدهی‌ها از دارایی‌ها باقی می‌ماند.</a:t>
            </a:r>
            <a:endParaRPr lang="en-US" sz="1300" dirty="0"/>
          </a:p>
        </p:txBody>
      </p:sp>
      <p:sp>
        <p:nvSpPr>
          <p:cNvPr id="17" name="Shape 15"/>
          <p:cNvSpPr/>
          <p:nvPr/>
        </p:nvSpPr>
        <p:spPr>
          <a:xfrm>
            <a:off x="11411712" y="4259732"/>
            <a:ext cx="329184" cy="329184"/>
          </a:xfrm>
          <a:prstGeom prst="ellipse">
            <a:avLst/>
          </a:prstGeom>
          <a:solidFill>
            <a:srgbClr val="C9A227"/>
          </a:solidFill>
          <a:ln w="12700">
            <a:solidFill>
              <a:srgbClr val="C9A227"/>
            </a:solidFill>
            <a:prstDash val="solid"/>
          </a:ln>
        </p:spPr>
      </p:sp>
      <p:sp>
        <p:nvSpPr>
          <p:cNvPr id="18" name="Text 16"/>
          <p:cNvSpPr/>
          <p:nvPr/>
        </p:nvSpPr>
        <p:spPr>
          <a:xfrm>
            <a:off x="11411712" y="425973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7"/>
          <p:cNvSpPr/>
          <p:nvPr/>
        </p:nvSpPr>
        <p:spPr>
          <a:xfrm>
            <a:off x="5440680" y="425973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درآمد و هزینه</a:t>
            </a:r>
            <a:endParaRPr lang="en-US" sz="1350" dirty="0"/>
          </a:p>
        </p:txBody>
      </p:sp>
      <p:sp>
        <p:nvSpPr>
          <p:cNvPr id="20" name="Text 18"/>
          <p:cNvSpPr/>
          <p:nvPr/>
        </p:nvSpPr>
        <p:spPr>
          <a:xfrm>
            <a:off x="5440680" y="4588916"/>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درآمد مثل حق بیمه یا فروش؛ هزینه مثل حقوق، برق، اجاره.</a:t>
            </a:r>
            <a:endParaRPr lang="en-US" sz="1300" dirty="0"/>
          </a:p>
        </p:txBody>
      </p:sp>
      <p:sp>
        <p:nvSpPr>
          <p:cNvPr id="21" name="Shape 19"/>
          <p:cNvSpPr/>
          <p:nvPr/>
        </p:nvSpPr>
        <p:spPr>
          <a:xfrm>
            <a:off x="411480" y="1097280"/>
            <a:ext cx="4754880" cy="2377440"/>
          </a:xfrm>
          <a:prstGeom prst="roundRect">
            <a:avLst>
              <a:gd name="adj" fmla="val 3846"/>
            </a:avLst>
          </a:prstGeom>
          <a:solidFill>
            <a:srgbClr val="E3F3EA"/>
          </a:solidFill>
          <a:ln w="9525">
            <a:solidFill>
              <a:srgbClr val="1E7A4C"/>
            </a:solidFill>
            <a:prstDash val="solid"/>
          </a:ln>
        </p:spPr>
      </p:sp>
      <p:sp>
        <p:nvSpPr>
          <p:cNvPr id="22" name="Text 20"/>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معادلهٔ پایه</a:t>
            </a:r>
            <a:endParaRPr lang="en-US" sz="1500" dirty="0"/>
          </a:p>
        </p:txBody>
      </p:sp>
      <p:sp>
        <p:nvSpPr>
          <p:cNvPr id="23" name="Text 21"/>
          <p:cNvSpPr/>
          <p:nvPr/>
        </p:nvSpPr>
        <p:spPr>
          <a:xfrm>
            <a:off x="594360" y="1691640"/>
            <a:ext cx="4389120" cy="32324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همیشه برقرار است:</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4360" y="2152040"/>
          <a:ext cx="4389120" cy="914400"/>
        </p:xfrm>
        <a:graphic>
          <a:graphicData uri="http://schemas.openxmlformats.org/drawingml/2006/table">
            <a:tbl>
              <a:tblPr rtl="1"/>
              <a:tblGrid>
                <a:gridCol w="2194560"/>
                <a:gridCol w="1097280"/>
                <a:gridCol w="1097280"/>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دارایی‌ها</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بدهی‌ها + خالص دارایی‌ها</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۱,۰۰۰ میلیون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۳۰۰ میلیون + ۷۰۰ میلیون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bl>
          </a:graphicData>
        </a:graphic>
      </p:graphicFrame>
      <p:sp>
        <p:nvSpPr>
          <p:cNvPr id="25" name="Text 22"/>
          <p:cNvSpPr/>
          <p:nvPr/>
        </p:nvSpPr>
        <p:spPr>
          <a:xfrm>
            <a:off x="594360" y="2947568"/>
            <a:ext cx="4389120" cy="435712"/>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هر سند حسابداری این تعادل را حفظ می‌کند.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۵</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مبانی و شروع کار</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بدهکار و بستانکار؛ دو ستون هر سند</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هر رویداد دست‌کم دو حساب را تغییر می‌دهد. یکی در ستون «بدهکار» و دیگری در ستون «بستانکار» نوشته می‌شود و جمع دو ستون همیشه برابر است.</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بدهکار</a:t>
            </a:r>
            <a:endParaRPr lang="en-US" sz="1350" dirty="0"/>
          </a:p>
        </p:txBody>
      </p:sp>
      <p:sp>
        <p:nvSpPr>
          <p:cNvPr id="8" name="Text 6"/>
          <p:cNvSpPr/>
          <p:nvPr/>
        </p:nvSpPr>
        <p:spPr>
          <a:xfrm>
            <a:off x="5440680" y="2621356"/>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دارایی یا هزینه زیاد شده است؛ یا بدهی کم شده است.</a:t>
            </a:r>
            <a:endParaRPr lang="en-US" sz="1300" dirty="0"/>
          </a:p>
        </p:txBody>
      </p:sp>
      <p:sp>
        <p:nvSpPr>
          <p:cNvPr id="9" name="Shape 7"/>
          <p:cNvSpPr/>
          <p:nvPr/>
        </p:nvSpPr>
        <p:spPr>
          <a:xfrm>
            <a:off x="11411712" y="29628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29628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29628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بستانکار</a:t>
            </a:r>
            <a:endParaRPr lang="en-US" sz="1350" dirty="0"/>
          </a:p>
        </p:txBody>
      </p:sp>
      <p:sp>
        <p:nvSpPr>
          <p:cNvPr id="12" name="Text 10"/>
          <p:cNvSpPr/>
          <p:nvPr/>
        </p:nvSpPr>
        <p:spPr>
          <a:xfrm>
            <a:off x="5440680" y="3292069"/>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دارایی کم شده است؛ یا بدهی، درآمد یا خالص دارایی‌ها زیاد شده است.</a:t>
            </a:r>
            <a:endParaRPr lang="en-US" sz="1300" dirty="0"/>
          </a:p>
        </p:txBody>
      </p:sp>
      <p:sp>
        <p:nvSpPr>
          <p:cNvPr id="13" name="Shape 11"/>
          <p:cNvSpPr/>
          <p:nvPr/>
        </p:nvSpPr>
        <p:spPr>
          <a:xfrm>
            <a:off x="11411712" y="3633597"/>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363359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3633597"/>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تراز</a:t>
            </a:r>
            <a:endParaRPr lang="en-US" sz="1350" dirty="0"/>
          </a:p>
        </p:txBody>
      </p:sp>
      <p:sp>
        <p:nvSpPr>
          <p:cNvPr id="16" name="Text 14"/>
          <p:cNvSpPr/>
          <p:nvPr/>
        </p:nvSpPr>
        <p:spPr>
          <a:xfrm>
            <a:off x="5440680" y="3962781"/>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جمع بدهکار = جمع بستانکار. سامانه سندی را که تراز نباشد قبول نمی‌کند.</a:t>
            </a:r>
            <a:endParaRPr lang="en-US" sz="1300" dirty="0"/>
          </a:p>
        </p:txBody>
      </p:sp>
      <p:sp>
        <p:nvSpPr>
          <p:cNvPr id="17" name="Shape 15"/>
          <p:cNvSpPr/>
          <p:nvPr/>
        </p:nvSpPr>
        <p:spPr>
          <a:xfrm>
            <a:off x="411480" y="1097280"/>
            <a:ext cx="4754880" cy="2831897"/>
          </a:xfrm>
          <a:prstGeom prst="roundRect">
            <a:avLst>
              <a:gd name="adj" fmla="val 3229"/>
            </a:avLst>
          </a:prstGeom>
          <a:solidFill>
            <a:srgbClr val="E3F3EA"/>
          </a:solidFill>
          <a:ln w="9525">
            <a:solidFill>
              <a:srgbClr val="1E7A4C"/>
            </a:solidFill>
            <a:prstDash val="solid"/>
          </a:ln>
        </p:spPr>
      </p:sp>
      <p:sp>
        <p:nvSpPr>
          <p:cNvPr id="18" name="Text 16"/>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یک قاعدهٔ ساده برای به خاطر سپردن</a:t>
            </a:r>
            <a:endParaRPr lang="en-US" sz="1500" dirty="0"/>
          </a:p>
        </p:txBody>
      </p:sp>
      <p:sp>
        <p:nvSpPr>
          <p:cNvPr id="19" name="Text 17"/>
          <p:cNvSpPr/>
          <p:nvPr/>
        </p:nvSpPr>
        <p:spPr>
          <a:xfrm>
            <a:off x="594360" y="1691640"/>
            <a:ext cx="4389120" cy="5550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بپرسید «پول یا ارزش به کجا رفت؟» آنجا بدهکار است؛ «از کجا آمد؟» آنجا بستانکار.</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94360" y="2383841"/>
          <a:ext cx="4389120" cy="914400"/>
        </p:xfrm>
        <a:graphic>
          <a:graphicData uri="http://schemas.openxmlformats.org/drawingml/2006/table">
            <a:tbl>
              <a:tblPr rtl="1"/>
              <a:tblGrid>
                <a:gridCol w="2194560"/>
                <a:gridCol w="1097280"/>
                <a:gridCol w="1097280"/>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رویداد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بدهکار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بستانکار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پرداخت قبض برق از بانک</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هزینهٔ برق</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بانک</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دریافت حق بیمه به بانک</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بانک</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طلب از کارفرما</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خرید نسیهٔ ملزومات</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هزینهٔ ملزومات</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بدهی به فروشنده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bl>
          </a:graphicData>
        </a:graphic>
      </p:graphicFrame>
      <p:sp>
        <p:nvSpPr>
          <p:cNvPr id="21" name="Text 18"/>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۶</a:t>
            </a:r>
            <a:endParaRPr lang="en-US" sz="1000" dirty="0"/>
          </a:p>
        </p:txBody>
      </p:sp>
      <p:sp>
        <p:nvSpPr>
          <p:cNvPr id="22" name="Text 19"/>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مبانی و شروع کار</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اولین سند شما: پرداخت قبض برق</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اداره کل تهران قبض برق مهر ۱۴۰۵ را به مبلغ ۴۵ میلیون ریال از حساب جاری بانک ملی پرداخت کرد. هزینه زیاد شد (بدهکار) و موجودی بانک کم شد (بستانکار).</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820301 هزینهٔ آب، برق و گاز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قبض برق مهر ۱۴۰۵ — اداره کل تهران</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۴۵,۰۰۰,۰۰۰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110201 بانک‌ها — حساب جاری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پرداخت از بانک ملی — جاری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۴۵,۰۰۰,۰۰۰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۴۵,۰۰۰,۰۰۰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۴۵,۰۰۰,۰۰۰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3899916"/>
            <a:ext cx="11365992" cy="640080"/>
          </a:xfrm>
          <a:prstGeom prst="roundRect">
            <a:avLst>
              <a:gd name="adj" fmla="val 11429"/>
            </a:avLst>
          </a:prstGeom>
          <a:solidFill>
            <a:srgbClr val="F6EDCF"/>
          </a:solidFill>
          <a:ln w="9525">
            <a:solidFill>
              <a:srgbClr val="C9A227"/>
            </a:solidFill>
            <a:prstDash val="solid"/>
          </a:ln>
        </p:spPr>
      </p:sp>
      <p:sp>
        <p:nvSpPr>
          <p:cNvPr id="7" name="Text 4"/>
          <p:cNvSpPr/>
          <p:nvPr/>
        </p:nvSpPr>
        <p:spPr>
          <a:xfrm>
            <a:off x="10863072" y="3899916"/>
            <a:ext cx="822960" cy="64008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8" name="Text 5"/>
          <p:cNvSpPr/>
          <p:nvPr/>
        </p:nvSpPr>
        <p:spPr>
          <a:xfrm>
            <a:off x="548640" y="3899916"/>
            <a:ext cx="10241280" cy="64008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این دقیقاً همان سندی است که در فصل «صدور سند» با فرم و در فصل «حسابیار» فقط با یک جمله می‌سازید.</a:t>
            </a:r>
            <a:endParaRPr lang="en-US" sz="1250" dirty="0"/>
          </a:p>
        </p:txBody>
      </p:sp>
      <p:sp>
        <p:nvSpPr>
          <p:cNvPr id="9" name="Text 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۷</a:t>
            </a:r>
            <a:endParaRPr lang="en-US" sz="1000" dirty="0"/>
          </a:p>
        </p:txBody>
      </p:sp>
      <p:sp>
        <p:nvSpPr>
          <p:cNvPr id="10" name="Text 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مبانی و شروع کار</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کدینگ: آدرس هر حساب</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هر حساب یک کد عددی دارد که مثل آدرس پستی از کل به جزء می‌رود. کد را لازم نیست حفظ کنید؛ سامانه با جستجوی نام هم پیدا می‌کند، ولی دانستن ساختارش کار را راحت می‌کند.</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گروه (۲ رقم)</a:t>
            </a:r>
            <a:endParaRPr lang="en-US" sz="1350" dirty="0"/>
          </a:p>
        </p:txBody>
      </p:sp>
      <p:sp>
        <p:nvSpPr>
          <p:cNvPr id="8" name="Text 6"/>
          <p:cNvSpPr/>
          <p:nvPr/>
        </p:nvSpPr>
        <p:spPr>
          <a:xfrm>
            <a:off x="5440680" y="2621356"/>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بزرگ‌ترین دسته؛ مثل 11 «موجودی نقد».</a:t>
            </a:r>
            <a:endParaRPr lang="en-US" sz="1300" dirty="0"/>
          </a:p>
        </p:txBody>
      </p:sp>
      <p:sp>
        <p:nvSpPr>
          <p:cNvPr id="9" name="Shape 7"/>
          <p:cNvSpPr/>
          <p:nvPr/>
        </p:nvSpPr>
        <p:spPr>
          <a:xfrm>
            <a:off x="11411712" y="29628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29628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29628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کل (۴ رقم)</a:t>
            </a:r>
            <a:endParaRPr lang="en-US" sz="1350" dirty="0"/>
          </a:p>
        </p:txBody>
      </p:sp>
      <p:sp>
        <p:nvSpPr>
          <p:cNvPr id="12" name="Text 10"/>
          <p:cNvSpPr/>
          <p:nvPr/>
        </p:nvSpPr>
        <p:spPr>
          <a:xfrm>
            <a:off x="5440680" y="3292069"/>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زیرمجموعهٔ گروه؛ مثل 1102 «بانک‌ها».</a:t>
            </a:r>
            <a:endParaRPr lang="en-US" sz="1300" dirty="0"/>
          </a:p>
        </p:txBody>
      </p:sp>
      <p:sp>
        <p:nvSpPr>
          <p:cNvPr id="13" name="Shape 11"/>
          <p:cNvSpPr/>
          <p:nvPr/>
        </p:nvSpPr>
        <p:spPr>
          <a:xfrm>
            <a:off x="11411712" y="3633597"/>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363359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3633597"/>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معین (۶ رقم)</a:t>
            </a:r>
            <a:endParaRPr lang="en-US" sz="1350" dirty="0"/>
          </a:p>
        </p:txBody>
      </p:sp>
      <p:sp>
        <p:nvSpPr>
          <p:cNvPr id="16" name="Text 14"/>
          <p:cNvSpPr/>
          <p:nvPr/>
        </p:nvSpPr>
        <p:spPr>
          <a:xfrm>
            <a:off x="5440680" y="3962781"/>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حسابی که در سند استفاده می‌شود؛ مثل 110201 «بانک‌ها — حساب جاری».</a:t>
            </a:r>
            <a:endParaRPr lang="en-US" sz="1300" dirty="0"/>
          </a:p>
        </p:txBody>
      </p:sp>
      <p:sp>
        <p:nvSpPr>
          <p:cNvPr id="17" name="Shape 15"/>
          <p:cNvSpPr/>
          <p:nvPr/>
        </p:nvSpPr>
        <p:spPr>
          <a:xfrm>
            <a:off x="11411712" y="4304309"/>
            <a:ext cx="329184" cy="329184"/>
          </a:xfrm>
          <a:prstGeom prst="ellipse">
            <a:avLst/>
          </a:prstGeom>
          <a:solidFill>
            <a:srgbClr val="C9A227"/>
          </a:solidFill>
          <a:ln w="12700">
            <a:solidFill>
              <a:srgbClr val="C9A227"/>
            </a:solidFill>
            <a:prstDash val="solid"/>
          </a:ln>
        </p:spPr>
      </p:sp>
      <p:sp>
        <p:nvSpPr>
          <p:cNvPr id="18" name="Text 16"/>
          <p:cNvSpPr/>
          <p:nvPr/>
        </p:nvSpPr>
        <p:spPr>
          <a:xfrm>
            <a:off x="11411712" y="430430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7"/>
          <p:cNvSpPr/>
          <p:nvPr/>
        </p:nvSpPr>
        <p:spPr>
          <a:xfrm>
            <a:off x="5440680" y="4304309"/>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تفصیلی</a:t>
            </a:r>
            <a:endParaRPr lang="en-US" sz="1350" dirty="0"/>
          </a:p>
        </p:txBody>
      </p:sp>
      <p:sp>
        <p:nvSpPr>
          <p:cNvPr id="20" name="Text 18"/>
          <p:cNvSpPr/>
          <p:nvPr/>
        </p:nvSpPr>
        <p:spPr>
          <a:xfrm>
            <a:off x="5440680" y="4633493"/>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جزئیات زیر معین؛ مثلاً کدام حساب بانکی یا کدام شرکت.</a:t>
            </a:r>
            <a:endParaRPr lang="en-US" sz="1300" dirty="0"/>
          </a:p>
        </p:txBody>
      </p:sp>
      <p:sp>
        <p:nvSpPr>
          <p:cNvPr id="21" name="Shape 19"/>
          <p:cNvSpPr/>
          <p:nvPr/>
        </p:nvSpPr>
        <p:spPr>
          <a:xfrm>
            <a:off x="411480" y="1097280"/>
            <a:ext cx="4754880" cy="2929280"/>
          </a:xfrm>
          <a:prstGeom prst="roundRect">
            <a:avLst>
              <a:gd name="adj" fmla="val 3122"/>
            </a:avLst>
          </a:prstGeom>
          <a:solidFill>
            <a:srgbClr val="E3F3EA"/>
          </a:solidFill>
          <a:ln w="9525">
            <a:solidFill>
              <a:srgbClr val="1E7A4C"/>
            </a:solidFill>
            <a:prstDash val="solid"/>
          </a:ln>
        </p:spPr>
      </p:sp>
      <p:sp>
        <p:nvSpPr>
          <p:cNvPr id="22" name="Text 20"/>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مثال</a:t>
            </a:r>
            <a:endParaRPr lang="en-US" sz="1500" dirty="0"/>
          </a:p>
        </p:txBody>
      </p:sp>
      <p:sp>
        <p:nvSpPr>
          <p:cNvPr id="23" name="Text 21"/>
          <p:cNvSpPr/>
          <p:nvPr/>
        </p:nvSpPr>
        <p:spPr>
          <a:xfrm>
            <a:off x="594360" y="1691640"/>
            <a:ext cx="4389120" cy="32324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آدرس کامل حساب جاری بانک ملی:</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94360" y="2152040"/>
          <a:ext cx="4389120" cy="914400"/>
        </p:xfrm>
        <a:graphic>
          <a:graphicData uri="http://schemas.openxmlformats.org/drawingml/2006/table">
            <a:tbl>
              <a:tblPr rtl="1"/>
              <a:tblGrid>
                <a:gridCol w="2194560"/>
                <a:gridCol w="1097280"/>
                <a:gridCol w="1097280"/>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سطح</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کد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عنوان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گروه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11</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موجودی نقد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کل</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1102</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بانک‌ها</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معین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110201</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بانک‌ها — حساب جاری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تفصیلی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30001</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بانک ملی — جاری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bl>
          </a:graphicData>
        </a:graphic>
      </p:graphicFrame>
      <p:sp>
        <p:nvSpPr>
          <p:cNvPr id="25" name="Text 2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۸</a:t>
            </a:r>
            <a:endParaRPr lang="en-US" sz="1000" dirty="0"/>
          </a:p>
        </p:txBody>
      </p:sp>
      <p:sp>
        <p:nvSpPr>
          <p:cNvPr id="26" name="Text 2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مبانی و شروع کار</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سال مالی، واحد و وضعیت سند</a:t>
            </a:r>
            <a:endParaRPr lang="en-US" sz="2500" dirty="0"/>
          </a:p>
        </p:txBody>
      </p:sp>
      <p:sp>
        <p:nvSpPr>
          <p:cNvPr id="3" name="Shape 1"/>
          <p:cNvSpPr/>
          <p:nvPr/>
        </p:nvSpPr>
        <p:spPr>
          <a:xfrm>
            <a:off x="11731752" y="1097280"/>
            <a:ext cx="45720" cy="413537"/>
          </a:xfrm>
          <a:prstGeom prst="rect">
            <a:avLst/>
          </a:prstGeom>
          <a:solidFill>
            <a:srgbClr val="C9A227"/>
          </a:solidFill>
          <a:ln w="12700">
            <a:solidFill>
              <a:srgbClr val="C9A227"/>
            </a:solidFill>
            <a:prstDash val="solid"/>
          </a:ln>
        </p:spPr>
      </p:sp>
      <p:sp>
        <p:nvSpPr>
          <p:cNvPr id="4" name="Text 2"/>
          <p:cNvSpPr/>
          <p:nvPr/>
        </p:nvSpPr>
        <p:spPr>
          <a:xfrm>
            <a:off x="411480" y="1097280"/>
            <a:ext cx="11183112" cy="413537"/>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سه مفهوم دیگر که از روز اول با آن‌ها سروکار دارید.</a:t>
            </a:r>
            <a:endParaRPr lang="en-US" sz="1550" dirty="0"/>
          </a:p>
        </p:txBody>
      </p:sp>
      <p:sp>
        <p:nvSpPr>
          <p:cNvPr id="5" name="Shape 3"/>
          <p:cNvSpPr/>
          <p:nvPr/>
        </p:nvSpPr>
        <p:spPr>
          <a:xfrm>
            <a:off x="11411712" y="1739417"/>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173941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411480" y="1739417"/>
            <a:ext cx="108905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سال مالی</a:t>
            </a:r>
            <a:endParaRPr lang="en-US" sz="1350" dirty="0"/>
          </a:p>
        </p:txBody>
      </p:sp>
      <p:sp>
        <p:nvSpPr>
          <p:cNvPr id="8" name="Text 6"/>
          <p:cNvSpPr/>
          <p:nvPr/>
        </p:nvSpPr>
        <p:spPr>
          <a:xfrm>
            <a:off x="411480" y="2068601"/>
            <a:ext cx="108905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حساب‌ها سال‌به‌سال جدا نگه داشته می‌شوند (۱ فروردین تا ۲۹ اسفند). اول سال سند افتتاحیه و آخر سال سند اختتامیه زده می‌شود.</a:t>
            </a:r>
            <a:endParaRPr lang="en-US" sz="1300" dirty="0"/>
          </a:p>
        </p:txBody>
      </p:sp>
      <p:sp>
        <p:nvSpPr>
          <p:cNvPr id="9" name="Shape 7"/>
          <p:cNvSpPr/>
          <p:nvPr/>
        </p:nvSpPr>
        <p:spPr>
          <a:xfrm>
            <a:off x="11411712" y="2410130"/>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241013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411480" y="2410130"/>
            <a:ext cx="108905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واحد</a:t>
            </a:r>
            <a:endParaRPr lang="en-US" sz="1350" dirty="0"/>
          </a:p>
        </p:txBody>
      </p:sp>
      <p:sp>
        <p:nvSpPr>
          <p:cNvPr id="12" name="Text 10"/>
          <p:cNvSpPr/>
          <p:nvPr/>
        </p:nvSpPr>
        <p:spPr>
          <a:xfrm>
            <a:off x="411480" y="2739314"/>
            <a:ext cx="108905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اداره کل و شعبه حساب‌های خودش را دارد؛ ستاد مرکزی می‌تواند همه را ببیند.</a:t>
            </a:r>
            <a:endParaRPr lang="en-US" sz="1300" dirty="0"/>
          </a:p>
        </p:txBody>
      </p:sp>
      <p:sp>
        <p:nvSpPr>
          <p:cNvPr id="13" name="Shape 11"/>
          <p:cNvSpPr/>
          <p:nvPr/>
        </p:nvSpPr>
        <p:spPr>
          <a:xfrm>
            <a:off x="11411712" y="3080842"/>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308084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411480" y="3080842"/>
            <a:ext cx="108905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وضعیت سند</a:t>
            </a:r>
            <a:endParaRPr lang="en-US" sz="1350" dirty="0"/>
          </a:p>
        </p:txBody>
      </p:sp>
      <p:sp>
        <p:nvSpPr>
          <p:cNvPr id="16" name="Text 14"/>
          <p:cNvSpPr/>
          <p:nvPr/>
        </p:nvSpPr>
        <p:spPr>
          <a:xfrm>
            <a:off x="411480" y="3410026"/>
            <a:ext cx="108905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سند از «یادداشت» شروع می‌شود، «موقت» می‌شود و پس از بررسی «دائم» (قطعی) می‌شود؛ سند دائم دیگر تغییر نمی‌کند.</a:t>
            </a:r>
            <a:endParaRPr lang="en-US" sz="1300" dirty="0"/>
          </a:p>
        </p:txBody>
      </p:sp>
      <p:sp>
        <p:nvSpPr>
          <p:cNvPr id="17" name="Shape 15"/>
          <p:cNvSpPr/>
          <p:nvPr/>
        </p:nvSpPr>
        <p:spPr>
          <a:xfrm>
            <a:off x="411480" y="5665622"/>
            <a:ext cx="11365992" cy="689458"/>
          </a:xfrm>
          <a:prstGeom prst="roundRect">
            <a:avLst>
              <a:gd name="adj" fmla="val 10610"/>
            </a:avLst>
          </a:prstGeom>
          <a:solidFill>
            <a:srgbClr val="F6EDCF"/>
          </a:solidFill>
          <a:ln w="9525">
            <a:solidFill>
              <a:srgbClr val="C9A227"/>
            </a:solidFill>
            <a:prstDash val="solid"/>
          </a:ln>
        </p:spPr>
      </p:sp>
      <p:sp>
        <p:nvSpPr>
          <p:cNvPr id="18" name="Text 16"/>
          <p:cNvSpPr/>
          <p:nvPr/>
        </p:nvSpPr>
        <p:spPr>
          <a:xfrm>
            <a:off x="548640" y="5729630"/>
            <a:ext cx="1109167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19" name="Text 17"/>
          <p:cNvSpPr/>
          <p:nvPr/>
        </p:nvSpPr>
        <p:spPr>
          <a:xfrm>
            <a:off x="548640" y="6003950"/>
            <a:ext cx="11091672" cy="268834"/>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اسنادی که سامانه خودکار می‌سازد (خزانه، تنخواه، فروش، حسابیار) همه «موقت»‌اند و حسابدار آن‌ها را در کارتابل اسناد قطعی می‌کند.</a:t>
            </a:r>
            <a:endParaRPr lang="en-US" sz="1200" dirty="0"/>
          </a:p>
        </p:txBody>
      </p:sp>
      <p:sp>
        <p:nvSpPr>
          <p:cNvPr id="20" name="Text 18"/>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۹</a:t>
            </a:r>
            <a:endParaRPr lang="en-US" sz="1000" dirty="0"/>
          </a:p>
        </p:txBody>
      </p:sp>
      <p:sp>
        <p:nvSpPr>
          <p:cNvPr id="21" name="Text 19"/>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مبانی و شروع کار</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چرخهٔ کار یک ماه، از رویداد تا گزارش</a:t>
            </a:r>
            <a:endParaRPr lang="en-US" sz="2500" dirty="0"/>
          </a:p>
        </p:txBody>
      </p:sp>
      <p:sp>
        <p:nvSpPr>
          <p:cNvPr id="3" name="Shape 1"/>
          <p:cNvSpPr/>
          <p:nvPr/>
        </p:nvSpPr>
        <p:spPr>
          <a:xfrm>
            <a:off x="10157460"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10693146" y="1691640"/>
            <a:ext cx="548640" cy="548640"/>
          </a:xfrm>
          <a:prstGeom prst="ellipse">
            <a:avLst/>
          </a:prstGeom>
          <a:solidFill>
            <a:srgbClr val="C9A227"/>
          </a:solidFill>
          <a:ln w="12700">
            <a:solidFill>
              <a:srgbClr val="C9A227"/>
            </a:solidFill>
            <a:prstDash val="solid"/>
          </a:ln>
        </p:spPr>
      </p:sp>
      <p:sp>
        <p:nvSpPr>
          <p:cNvPr id="5" name="Text 3"/>
          <p:cNvSpPr/>
          <p:nvPr/>
        </p:nvSpPr>
        <p:spPr>
          <a:xfrm>
            <a:off x="1069314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p:nvPr/>
        </p:nvSpPr>
        <p:spPr>
          <a:xfrm>
            <a:off x="10248900"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رویداد</a:t>
            </a:r>
            <a:endParaRPr lang="en-US" sz="1550" dirty="0"/>
          </a:p>
        </p:txBody>
      </p:sp>
      <p:sp>
        <p:nvSpPr>
          <p:cNvPr id="7" name="Text 5"/>
          <p:cNvSpPr/>
          <p:nvPr/>
        </p:nvSpPr>
        <p:spPr>
          <a:xfrm>
            <a:off x="10248900"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قبض، فاکتور، دریافت</a:t>
            </a:r>
            <a:endParaRPr lang="en-US" sz="1200" dirty="0"/>
          </a:p>
        </p:txBody>
      </p:sp>
      <p:sp>
        <p:nvSpPr>
          <p:cNvPr id="8" name="Text 6"/>
          <p:cNvSpPr/>
          <p:nvPr/>
        </p:nvSpPr>
        <p:spPr>
          <a:xfrm>
            <a:off x="9828276"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9" name="Shape 7"/>
          <p:cNvSpPr/>
          <p:nvPr/>
        </p:nvSpPr>
        <p:spPr>
          <a:xfrm>
            <a:off x="8208264"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8743950" y="1691640"/>
            <a:ext cx="548640" cy="548640"/>
          </a:xfrm>
          <a:prstGeom prst="ellipse">
            <a:avLst/>
          </a:prstGeom>
          <a:solidFill>
            <a:srgbClr val="C9A227"/>
          </a:solidFill>
          <a:ln w="12700">
            <a:solidFill>
              <a:srgbClr val="C9A227"/>
            </a:solidFill>
            <a:prstDash val="solid"/>
          </a:ln>
        </p:spPr>
      </p:sp>
      <p:sp>
        <p:nvSpPr>
          <p:cNvPr id="11" name="Text 9"/>
          <p:cNvSpPr/>
          <p:nvPr/>
        </p:nvSpPr>
        <p:spPr>
          <a:xfrm>
            <a:off x="8743950"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2" name="Text 10"/>
          <p:cNvSpPr/>
          <p:nvPr/>
        </p:nvSpPr>
        <p:spPr>
          <a:xfrm>
            <a:off x="8299704"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سند</a:t>
            </a:r>
            <a:endParaRPr lang="en-US" sz="1550" dirty="0"/>
          </a:p>
        </p:txBody>
      </p:sp>
      <p:sp>
        <p:nvSpPr>
          <p:cNvPr id="13" name="Text 11"/>
          <p:cNvSpPr/>
          <p:nvPr/>
        </p:nvSpPr>
        <p:spPr>
          <a:xfrm>
            <a:off x="8299704"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بدهکار و بستانکار</a:t>
            </a:r>
            <a:endParaRPr lang="en-US" sz="1200" dirty="0"/>
          </a:p>
        </p:txBody>
      </p:sp>
      <p:sp>
        <p:nvSpPr>
          <p:cNvPr id="14" name="Text 12"/>
          <p:cNvSpPr/>
          <p:nvPr/>
        </p:nvSpPr>
        <p:spPr>
          <a:xfrm>
            <a:off x="7879080"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15" name="Shape 13"/>
          <p:cNvSpPr/>
          <p:nvPr/>
        </p:nvSpPr>
        <p:spPr>
          <a:xfrm>
            <a:off x="6259068"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6" name="Shape 14"/>
          <p:cNvSpPr/>
          <p:nvPr/>
        </p:nvSpPr>
        <p:spPr>
          <a:xfrm>
            <a:off x="6794754" y="1691640"/>
            <a:ext cx="548640" cy="548640"/>
          </a:xfrm>
          <a:prstGeom prst="ellipse">
            <a:avLst/>
          </a:prstGeom>
          <a:solidFill>
            <a:srgbClr val="C9A227"/>
          </a:solidFill>
          <a:ln w="12700">
            <a:solidFill>
              <a:srgbClr val="C9A227"/>
            </a:solidFill>
            <a:prstDash val="solid"/>
          </a:ln>
        </p:spPr>
      </p:sp>
      <p:sp>
        <p:nvSpPr>
          <p:cNvPr id="17" name="Text 15"/>
          <p:cNvSpPr/>
          <p:nvPr/>
        </p:nvSpPr>
        <p:spPr>
          <a:xfrm>
            <a:off x="6794754"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8" name="Text 16"/>
          <p:cNvSpPr/>
          <p:nvPr/>
        </p:nvSpPr>
        <p:spPr>
          <a:xfrm>
            <a:off x="6350508"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بررسی و تأیید</a:t>
            </a:r>
            <a:endParaRPr lang="en-US" sz="1550" dirty="0"/>
          </a:p>
        </p:txBody>
      </p:sp>
      <p:sp>
        <p:nvSpPr>
          <p:cNvPr id="19" name="Text 17"/>
          <p:cNvSpPr/>
          <p:nvPr/>
        </p:nvSpPr>
        <p:spPr>
          <a:xfrm>
            <a:off x="6350508"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موقت ← دائم</a:t>
            </a:r>
            <a:endParaRPr lang="en-US" sz="1200" dirty="0"/>
          </a:p>
        </p:txBody>
      </p:sp>
      <p:sp>
        <p:nvSpPr>
          <p:cNvPr id="20" name="Text 18"/>
          <p:cNvSpPr/>
          <p:nvPr/>
        </p:nvSpPr>
        <p:spPr>
          <a:xfrm>
            <a:off x="5929884"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1" name="Shape 19"/>
          <p:cNvSpPr/>
          <p:nvPr/>
        </p:nvSpPr>
        <p:spPr>
          <a:xfrm>
            <a:off x="4309872"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2" name="Shape 20"/>
          <p:cNvSpPr/>
          <p:nvPr/>
        </p:nvSpPr>
        <p:spPr>
          <a:xfrm>
            <a:off x="4845558" y="1691640"/>
            <a:ext cx="548640" cy="548640"/>
          </a:xfrm>
          <a:prstGeom prst="ellipse">
            <a:avLst/>
          </a:prstGeom>
          <a:solidFill>
            <a:srgbClr val="C9A227"/>
          </a:solidFill>
          <a:ln w="12700">
            <a:solidFill>
              <a:srgbClr val="C9A227"/>
            </a:solidFill>
            <a:prstDash val="solid"/>
          </a:ln>
        </p:spPr>
      </p:sp>
      <p:sp>
        <p:nvSpPr>
          <p:cNvPr id="23" name="Text 21"/>
          <p:cNvSpPr/>
          <p:nvPr/>
        </p:nvSpPr>
        <p:spPr>
          <a:xfrm>
            <a:off x="4845558"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۴</a:t>
            </a:r>
            <a:endParaRPr lang="en-US" sz="1800" dirty="0"/>
          </a:p>
        </p:txBody>
      </p:sp>
      <p:sp>
        <p:nvSpPr>
          <p:cNvPr id="24" name="Text 22"/>
          <p:cNvSpPr/>
          <p:nvPr/>
        </p:nvSpPr>
        <p:spPr>
          <a:xfrm>
            <a:off x="4401312"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دفترها</a:t>
            </a:r>
            <a:endParaRPr lang="en-US" sz="1550" dirty="0"/>
          </a:p>
        </p:txBody>
      </p:sp>
      <p:sp>
        <p:nvSpPr>
          <p:cNvPr id="25" name="Text 23"/>
          <p:cNvSpPr/>
          <p:nvPr/>
        </p:nvSpPr>
        <p:spPr>
          <a:xfrm>
            <a:off x="4401312"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روزنامه و دفتر کل</a:t>
            </a:r>
            <a:endParaRPr lang="en-US" sz="1200" dirty="0"/>
          </a:p>
        </p:txBody>
      </p:sp>
      <p:sp>
        <p:nvSpPr>
          <p:cNvPr id="26" name="Text 24"/>
          <p:cNvSpPr/>
          <p:nvPr/>
        </p:nvSpPr>
        <p:spPr>
          <a:xfrm>
            <a:off x="3980688"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7" name="Shape 25"/>
          <p:cNvSpPr/>
          <p:nvPr/>
        </p:nvSpPr>
        <p:spPr>
          <a:xfrm>
            <a:off x="2360676"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8" name="Shape 26"/>
          <p:cNvSpPr/>
          <p:nvPr/>
        </p:nvSpPr>
        <p:spPr>
          <a:xfrm>
            <a:off x="2896362" y="1691640"/>
            <a:ext cx="548640" cy="548640"/>
          </a:xfrm>
          <a:prstGeom prst="ellipse">
            <a:avLst/>
          </a:prstGeom>
          <a:solidFill>
            <a:srgbClr val="C9A227"/>
          </a:solidFill>
          <a:ln w="12700">
            <a:solidFill>
              <a:srgbClr val="C9A227"/>
            </a:solidFill>
            <a:prstDash val="solid"/>
          </a:ln>
        </p:spPr>
      </p:sp>
      <p:sp>
        <p:nvSpPr>
          <p:cNvPr id="29" name="Text 27"/>
          <p:cNvSpPr/>
          <p:nvPr/>
        </p:nvSpPr>
        <p:spPr>
          <a:xfrm>
            <a:off x="2896362"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۵</a:t>
            </a:r>
            <a:endParaRPr lang="en-US" sz="1800" dirty="0"/>
          </a:p>
        </p:txBody>
      </p:sp>
      <p:sp>
        <p:nvSpPr>
          <p:cNvPr id="30" name="Text 28"/>
          <p:cNvSpPr/>
          <p:nvPr/>
        </p:nvSpPr>
        <p:spPr>
          <a:xfrm>
            <a:off x="2452116"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تراز آزمایشی</a:t>
            </a:r>
            <a:endParaRPr lang="en-US" sz="1550" dirty="0"/>
          </a:p>
        </p:txBody>
      </p:sp>
      <p:sp>
        <p:nvSpPr>
          <p:cNvPr id="31" name="Text 29"/>
          <p:cNvSpPr/>
          <p:nvPr/>
        </p:nvSpPr>
        <p:spPr>
          <a:xfrm>
            <a:off x="2452116"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کنترل جمع‌ها</a:t>
            </a:r>
            <a:endParaRPr lang="en-US" sz="1200" dirty="0"/>
          </a:p>
        </p:txBody>
      </p:sp>
      <p:sp>
        <p:nvSpPr>
          <p:cNvPr id="32" name="Text 30"/>
          <p:cNvSpPr/>
          <p:nvPr/>
        </p:nvSpPr>
        <p:spPr>
          <a:xfrm>
            <a:off x="2031492"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33" name="Shape 31"/>
          <p:cNvSpPr/>
          <p:nvPr/>
        </p:nvSpPr>
        <p:spPr>
          <a:xfrm>
            <a:off x="411480" y="1965960"/>
            <a:ext cx="1620012" cy="2103120"/>
          </a:xfrm>
          <a:prstGeom prst="roundRect">
            <a:avLst>
              <a:gd name="adj" fmla="val 6773"/>
            </a:avLst>
          </a:prstGeom>
          <a:solidFill>
            <a:srgbClr val="1B2A49"/>
          </a:solidFill>
          <a:ln w="9525">
            <a:solidFill>
              <a:srgbClr val="1B2A49"/>
            </a:solidFill>
            <a:prstDash val="solid"/>
          </a:ln>
          <a:effectLst>
            <a:outerShdw sx="100000" sy="100000" kx="0" ky="0" algn="bl" rotWithShape="0" blurRad="76200" dist="25400" dir="5400000">
              <a:srgbClr val="000000">
                <a:alpha val="12000"/>
              </a:srgbClr>
            </a:outerShdw>
          </a:effectLst>
        </p:spPr>
      </p:sp>
      <p:sp>
        <p:nvSpPr>
          <p:cNvPr id="34" name="Shape 32"/>
          <p:cNvSpPr/>
          <p:nvPr/>
        </p:nvSpPr>
        <p:spPr>
          <a:xfrm>
            <a:off x="947166" y="1691640"/>
            <a:ext cx="548640" cy="548640"/>
          </a:xfrm>
          <a:prstGeom prst="ellipse">
            <a:avLst/>
          </a:prstGeom>
          <a:solidFill>
            <a:srgbClr val="C9A227"/>
          </a:solidFill>
          <a:ln w="12700">
            <a:solidFill>
              <a:srgbClr val="C9A227"/>
            </a:solidFill>
            <a:prstDash val="solid"/>
          </a:ln>
        </p:spPr>
      </p:sp>
      <p:sp>
        <p:nvSpPr>
          <p:cNvPr id="35" name="Text 33"/>
          <p:cNvSpPr/>
          <p:nvPr/>
        </p:nvSpPr>
        <p:spPr>
          <a:xfrm>
            <a:off x="94716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۶</a:t>
            </a:r>
            <a:endParaRPr lang="en-US" sz="1800" dirty="0"/>
          </a:p>
        </p:txBody>
      </p:sp>
      <p:sp>
        <p:nvSpPr>
          <p:cNvPr id="36" name="Text 34"/>
          <p:cNvSpPr/>
          <p:nvPr/>
        </p:nvSpPr>
        <p:spPr>
          <a:xfrm>
            <a:off x="502920" y="2377440"/>
            <a:ext cx="1437132" cy="731520"/>
          </a:xfrm>
          <a:prstGeom prst="rect">
            <a:avLst/>
          </a:prstGeom>
          <a:noFill/>
          <a:ln/>
        </p:spPr>
        <p:txBody>
          <a:bodyPr wrap="square" lIns="0" tIns="0" rIns="0" bIns="0" rtlCol="0" anchor="ctr"/>
          <a:lstStyle/>
          <a:p>
            <a:pPr rtl="1" algn="ctr" indent="0" marL="0">
              <a:buNone/>
            </a:pPr>
            <a:r>
              <a:rPr lang="en-US" sz="1550" b="1" dirty="0">
                <a:solidFill>
                  <a:srgbClr val="FFFFFF"/>
                </a:solidFill>
                <a:latin typeface="Tahoma" pitchFamily="34" charset="0"/>
                <a:ea typeface="Tahoma" pitchFamily="34" charset="-122"/>
                <a:cs typeface="Tahoma" pitchFamily="34" charset="-120"/>
              </a:rPr>
              <a:t>صورتحساب ماه</a:t>
            </a:r>
            <a:endParaRPr lang="en-US" sz="1550" dirty="0"/>
          </a:p>
        </p:txBody>
      </p:sp>
      <p:sp>
        <p:nvSpPr>
          <p:cNvPr id="37" name="Text 35"/>
          <p:cNvSpPr/>
          <p:nvPr/>
        </p:nvSpPr>
        <p:spPr>
          <a:xfrm>
            <a:off x="502920" y="3108960"/>
            <a:ext cx="1437132" cy="868680"/>
          </a:xfrm>
          <a:prstGeom prst="rect">
            <a:avLst/>
          </a:prstGeom>
          <a:noFill/>
          <a:ln/>
        </p:spPr>
        <p:txBody>
          <a:bodyPr wrap="square" lIns="0" tIns="0" rIns="0" bIns="0" rtlCol="0" anchor="t"/>
          <a:lstStyle/>
          <a:p>
            <a:pPr rtl="1" algn="ctr" indent="0" marL="0">
              <a:buNone/>
            </a:pPr>
            <a:r>
              <a:rPr lang="en-US" sz="1200" dirty="0">
                <a:solidFill>
                  <a:srgbClr val="C9D3E6"/>
                </a:solidFill>
                <a:latin typeface="Tahoma" pitchFamily="34" charset="0"/>
                <a:ea typeface="Tahoma" pitchFamily="34" charset="-122"/>
                <a:cs typeface="Tahoma" pitchFamily="34" charset="-120"/>
              </a:rPr>
              <a:t>بستن ماه</a:t>
            </a:r>
            <a:endParaRPr lang="en-US" sz="1200" dirty="0"/>
          </a:p>
        </p:txBody>
      </p:sp>
      <p:sp>
        <p:nvSpPr>
          <p:cNvPr id="38" name="Shape 36"/>
          <p:cNvSpPr/>
          <p:nvPr/>
        </p:nvSpPr>
        <p:spPr>
          <a:xfrm>
            <a:off x="411480" y="4526280"/>
            <a:ext cx="11365992" cy="914400"/>
          </a:xfrm>
          <a:prstGeom prst="roundRect">
            <a:avLst>
              <a:gd name="adj" fmla="val 8000"/>
            </a:avLst>
          </a:prstGeom>
          <a:solidFill>
            <a:srgbClr val="F6EDCF"/>
          </a:solidFill>
          <a:ln w="9525">
            <a:solidFill>
              <a:srgbClr val="C9A227"/>
            </a:solidFill>
            <a:prstDash val="solid"/>
          </a:ln>
        </p:spPr>
      </p:sp>
      <p:sp>
        <p:nvSpPr>
          <p:cNvPr id="39" name="Text 37"/>
          <p:cNvSpPr/>
          <p:nvPr/>
        </p:nvSpPr>
        <p:spPr>
          <a:xfrm>
            <a:off x="10863072" y="4526280"/>
            <a:ext cx="822960" cy="91440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40" name="Text 38"/>
          <p:cNvSpPr/>
          <p:nvPr/>
        </p:nvSpPr>
        <p:spPr>
          <a:xfrm>
            <a:off x="548640" y="4526280"/>
            <a:ext cx="10241280" cy="91440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فصل‌های بعدی این راهنما همین مسیر را دنبال می‌کنند: اطلاعات پایه ← صدور سند ← گزارش‌ها، و سپس ماژول‌های تخصصی.</a:t>
            </a:r>
            <a:endParaRPr lang="en-US" sz="1250" dirty="0"/>
          </a:p>
        </p:txBody>
      </p:sp>
      <p:sp>
        <p:nvSpPr>
          <p:cNvPr id="41" name="Text 3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۱۰</a:t>
            </a:r>
            <a:endParaRPr lang="en-US" sz="1000" dirty="0"/>
          </a:p>
        </p:txBody>
      </p:sp>
      <p:sp>
        <p:nvSpPr>
          <p:cNvPr id="42" name="Text 4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مبانی و شروع کار</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ورود، سال مالی و واحد سازمانی</a:t>
            </a:r>
            <a:endParaRPr lang="en-US" sz="2500" dirty="0"/>
          </a:p>
        </p:txBody>
      </p:sp>
      <p:sp>
        <p:nvSpPr>
          <p:cNvPr id="3" name="Shape 1"/>
          <p:cNvSpPr/>
          <p:nvPr/>
        </p:nvSpPr>
        <p:spPr>
          <a:xfrm>
            <a:off x="411480" y="1143000"/>
            <a:ext cx="11365992" cy="748142"/>
          </a:xfrm>
          <a:prstGeom prst="roundRect">
            <a:avLst>
              <a:gd name="adj" fmla="val 9778"/>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topbar">    </p:cNvPr>
          <p:cNvPicPr>
            <a:picLocks noChangeAspect="1"/>
          </p:cNvPicPr>
          <p:nvPr/>
        </p:nvPicPr>
        <p:blipFill>
          <a:blip r:embed="rId1"/>
          <a:stretch>
            <a:fillRect/>
          </a:stretch>
        </p:blipFill>
        <p:spPr>
          <a:xfrm>
            <a:off x="457200" y="1191362"/>
            <a:ext cx="11274552" cy="651419"/>
          </a:xfrm>
          <a:prstGeom prst="rect">
            <a:avLst/>
          </a:prstGeom>
        </p:spPr>
      </p:pic>
      <p:sp>
        <p:nvSpPr>
          <p:cNvPr id="5" name="Shape 2"/>
          <p:cNvSpPr/>
          <p:nvPr/>
        </p:nvSpPr>
        <p:spPr>
          <a:xfrm>
            <a:off x="9650578" y="2074022"/>
            <a:ext cx="2126894" cy="1801368"/>
          </a:xfrm>
          <a:prstGeom prst="roundRect">
            <a:avLst>
              <a:gd name="adj" fmla="val 5076"/>
            </a:avLst>
          </a:prstGeom>
          <a:solidFill>
            <a:srgbClr val="FFFFFF"/>
          </a:solidFill>
          <a:ln w="6350">
            <a:solidFill>
              <a:srgbClr val="D9DEE7"/>
            </a:solidFill>
            <a:prstDash val="solid"/>
          </a:ln>
        </p:spPr>
      </p:sp>
      <p:sp>
        <p:nvSpPr>
          <p:cNvPr id="6" name="Shape 3"/>
          <p:cNvSpPr/>
          <p:nvPr/>
        </p:nvSpPr>
        <p:spPr>
          <a:xfrm>
            <a:off x="11320272" y="2183750"/>
            <a:ext cx="329184" cy="329184"/>
          </a:xfrm>
          <a:prstGeom prst="ellipse">
            <a:avLst/>
          </a:prstGeom>
          <a:solidFill>
            <a:srgbClr val="C9A227"/>
          </a:solidFill>
          <a:ln w="12700">
            <a:solidFill>
              <a:srgbClr val="C9A227"/>
            </a:solidFill>
            <a:prstDash val="solid"/>
          </a:ln>
        </p:spPr>
      </p:sp>
      <p:sp>
        <p:nvSpPr>
          <p:cNvPr id="7" name="Text 4"/>
          <p:cNvSpPr/>
          <p:nvPr/>
        </p:nvSpPr>
        <p:spPr>
          <a:xfrm>
            <a:off x="11320272" y="21837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8" name="Text 5"/>
          <p:cNvSpPr/>
          <p:nvPr/>
        </p:nvSpPr>
        <p:spPr>
          <a:xfrm>
            <a:off x="9787738" y="2165462"/>
            <a:ext cx="1486814"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ورود</a:t>
            </a:r>
            <a:endParaRPr lang="en-US" sz="1350" dirty="0"/>
          </a:p>
        </p:txBody>
      </p:sp>
      <p:sp>
        <p:nvSpPr>
          <p:cNvPr id="9" name="Text 6"/>
          <p:cNvSpPr/>
          <p:nvPr/>
        </p:nvSpPr>
        <p:spPr>
          <a:xfrm>
            <a:off x="9787738" y="2604374"/>
            <a:ext cx="1852574" cy="1234440"/>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با دکمهٔ «ورود با حساب سازمانی» از سامانهٔ احراز هویت سازمان وارد شوید.</a:t>
            </a:r>
            <a:endParaRPr lang="en-US" sz="1200" dirty="0"/>
          </a:p>
        </p:txBody>
      </p:sp>
      <p:sp>
        <p:nvSpPr>
          <p:cNvPr id="10" name="Shape 7"/>
          <p:cNvSpPr/>
          <p:nvPr/>
        </p:nvSpPr>
        <p:spPr>
          <a:xfrm>
            <a:off x="7340803" y="2074022"/>
            <a:ext cx="2126894" cy="1801368"/>
          </a:xfrm>
          <a:prstGeom prst="roundRect">
            <a:avLst>
              <a:gd name="adj" fmla="val 5076"/>
            </a:avLst>
          </a:prstGeom>
          <a:solidFill>
            <a:srgbClr val="FFFFFF"/>
          </a:solidFill>
          <a:ln w="6350">
            <a:solidFill>
              <a:srgbClr val="D9DEE7"/>
            </a:solidFill>
            <a:prstDash val="solid"/>
          </a:ln>
        </p:spPr>
      </p:sp>
      <p:sp>
        <p:nvSpPr>
          <p:cNvPr id="11" name="Shape 8"/>
          <p:cNvSpPr/>
          <p:nvPr/>
        </p:nvSpPr>
        <p:spPr>
          <a:xfrm>
            <a:off x="9010498" y="2183750"/>
            <a:ext cx="329184" cy="329184"/>
          </a:xfrm>
          <a:prstGeom prst="ellipse">
            <a:avLst/>
          </a:prstGeom>
          <a:solidFill>
            <a:srgbClr val="C9A227"/>
          </a:solidFill>
          <a:ln w="12700">
            <a:solidFill>
              <a:srgbClr val="C9A227"/>
            </a:solidFill>
            <a:prstDash val="solid"/>
          </a:ln>
        </p:spPr>
      </p:sp>
      <p:sp>
        <p:nvSpPr>
          <p:cNvPr id="12" name="Text 9"/>
          <p:cNvSpPr/>
          <p:nvPr/>
        </p:nvSpPr>
        <p:spPr>
          <a:xfrm>
            <a:off x="9010498" y="21837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p:nvPr/>
        </p:nvSpPr>
        <p:spPr>
          <a:xfrm>
            <a:off x="7477963" y="2165462"/>
            <a:ext cx="1486814"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سال و واحد</a:t>
            </a:r>
            <a:endParaRPr lang="en-US" sz="1350" dirty="0"/>
          </a:p>
        </p:txBody>
      </p:sp>
      <p:sp>
        <p:nvSpPr>
          <p:cNvPr id="14" name="Text 11"/>
          <p:cNvSpPr/>
          <p:nvPr/>
        </p:nvSpPr>
        <p:spPr>
          <a:xfrm>
            <a:off x="7477963" y="2604374"/>
            <a:ext cx="1852574" cy="1234440"/>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در نوار بالا روی نام واحد و سال کلیک کنید و سال مالی و واحدی را که می‌خواهید انتخاب کنید.</a:t>
            </a:r>
            <a:endParaRPr lang="en-US" sz="1200" dirty="0"/>
          </a:p>
        </p:txBody>
      </p:sp>
      <p:sp>
        <p:nvSpPr>
          <p:cNvPr id="15" name="Shape 12"/>
          <p:cNvSpPr/>
          <p:nvPr/>
        </p:nvSpPr>
        <p:spPr>
          <a:xfrm>
            <a:off x="5031029" y="2074022"/>
            <a:ext cx="2126894" cy="1801368"/>
          </a:xfrm>
          <a:prstGeom prst="roundRect">
            <a:avLst>
              <a:gd name="adj" fmla="val 5076"/>
            </a:avLst>
          </a:prstGeom>
          <a:solidFill>
            <a:srgbClr val="FFFFFF"/>
          </a:solidFill>
          <a:ln w="6350">
            <a:solidFill>
              <a:srgbClr val="D9DEE7"/>
            </a:solidFill>
            <a:prstDash val="solid"/>
          </a:ln>
        </p:spPr>
      </p:sp>
      <p:sp>
        <p:nvSpPr>
          <p:cNvPr id="16" name="Shape 13"/>
          <p:cNvSpPr/>
          <p:nvPr/>
        </p:nvSpPr>
        <p:spPr>
          <a:xfrm>
            <a:off x="6700723" y="2183750"/>
            <a:ext cx="329184" cy="329184"/>
          </a:xfrm>
          <a:prstGeom prst="ellipse">
            <a:avLst/>
          </a:prstGeom>
          <a:solidFill>
            <a:srgbClr val="C9A227"/>
          </a:solidFill>
          <a:ln w="12700">
            <a:solidFill>
              <a:srgbClr val="C9A227"/>
            </a:solidFill>
            <a:prstDash val="solid"/>
          </a:ln>
        </p:spPr>
      </p:sp>
      <p:sp>
        <p:nvSpPr>
          <p:cNvPr id="17" name="Text 14"/>
          <p:cNvSpPr/>
          <p:nvPr/>
        </p:nvSpPr>
        <p:spPr>
          <a:xfrm>
            <a:off x="6700723" y="21837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5168189" y="2165462"/>
            <a:ext cx="1486814"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اثر انتخاب</a:t>
            </a:r>
            <a:endParaRPr lang="en-US" sz="1350" dirty="0"/>
          </a:p>
        </p:txBody>
      </p:sp>
      <p:sp>
        <p:nvSpPr>
          <p:cNvPr id="19" name="Text 16"/>
          <p:cNvSpPr/>
          <p:nvPr/>
        </p:nvSpPr>
        <p:spPr>
          <a:xfrm>
            <a:off x="5168189" y="2604374"/>
            <a:ext cx="1852574" cy="1234440"/>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همهٔ فرم‌ها و گزارش‌ها فقط دادهٔ همین واحد و سال را نشان می‌دهند.</a:t>
            </a:r>
            <a:endParaRPr lang="en-US" sz="1200" dirty="0"/>
          </a:p>
        </p:txBody>
      </p:sp>
      <p:sp>
        <p:nvSpPr>
          <p:cNvPr id="20" name="Shape 17"/>
          <p:cNvSpPr/>
          <p:nvPr/>
        </p:nvSpPr>
        <p:spPr>
          <a:xfrm>
            <a:off x="2721254" y="2074022"/>
            <a:ext cx="2126894" cy="1801368"/>
          </a:xfrm>
          <a:prstGeom prst="roundRect">
            <a:avLst>
              <a:gd name="adj" fmla="val 5076"/>
            </a:avLst>
          </a:prstGeom>
          <a:solidFill>
            <a:srgbClr val="FFFFFF"/>
          </a:solidFill>
          <a:ln w="6350">
            <a:solidFill>
              <a:srgbClr val="D9DEE7"/>
            </a:solidFill>
            <a:prstDash val="solid"/>
          </a:ln>
        </p:spPr>
      </p:sp>
      <p:sp>
        <p:nvSpPr>
          <p:cNvPr id="21" name="Shape 18"/>
          <p:cNvSpPr/>
          <p:nvPr/>
        </p:nvSpPr>
        <p:spPr>
          <a:xfrm>
            <a:off x="4390949" y="2183750"/>
            <a:ext cx="329184" cy="329184"/>
          </a:xfrm>
          <a:prstGeom prst="ellipse">
            <a:avLst/>
          </a:prstGeom>
          <a:solidFill>
            <a:srgbClr val="C9A227"/>
          </a:solidFill>
          <a:ln w="12700">
            <a:solidFill>
              <a:srgbClr val="C9A227"/>
            </a:solidFill>
            <a:prstDash val="solid"/>
          </a:ln>
        </p:spPr>
      </p:sp>
      <p:sp>
        <p:nvSpPr>
          <p:cNvPr id="22" name="Text 19"/>
          <p:cNvSpPr/>
          <p:nvPr/>
        </p:nvSpPr>
        <p:spPr>
          <a:xfrm>
            <a:off x="4390949" y="21837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3" name="Text 20"/>
          <p:cNvSpPr/>
          <p:nvPr/>
        </p:nvSpPr>
        <p:spPr>
          <a:xfrm>
            <a:off x="2858414" y="2165462"/>
            <a:ext cx="1486814"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ستاد مرکزی</a:t>
            </a:r>
            <a:endParaRPr lang="en-US" sz="1350" dirty="0"/>
          </a:p>
        </p:txBody>
      </p:sp>
      <p:sp>
        <p:nvSpPr>
          <p:cNvPr id="24" name="Text 21"/>
          <p:cNvSpPr/>
          <p:nvPr/>
        </p:nvSpPr>
        <p:spPr>
          <a:xfrm>
            <a:off x="2858414" y="2604374"/>
            <a:ext cx="1852574" cy="1234440"/>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کاربر ستاد می‌تواند به جای هر واحد عمل کند و ترکیبی زیرمجموعه‌ها را ببیند.</a:t>
            </a:r>
            <a:endParaRPr lang="en-US" sz="1200" dirty="0"/>
          </a:p>
        </p:txBody>
      </p:sp>
      <p:sp>
        <p:nvSpPr>
          <p:cNvPr id="25" name="Shape 22"/>
          <p:cNvSpPr/>
          <p:nvPr/>
        </p:nvSpPr>
        <p:spPr>
          <a:xfrm>
            <a:off x="411480" y="2074022"/>
            <a:ext cx="2126894" cy="1801368"/>
          </a:xfrm>
          <a:prstGeom prst="roundRect">
            <a:avLst>
              <a:gd name="adj" fmla="val 5076"/>
            </a:avLst>
          </a:prstGeom>
          <a:solidFill>
            <a:srgbClr val="FFFFFF"/>
          </a:solidFill>
          <a:ln w="6350">
            <a:solidFill>
              <a:srgbClr val="D9DEE7"/>
            </a:solidFill>
            <a:prstDash val="solid"/>
          </a:ln>
        </p:spPr>
      </p:sp>
      <p:sp>
        <p:nvSpPr>
          <p:cNvPr id="26" name="Shape 23"/>
          <p:cNvSpPr/>
          <p:nvPr/>
        </p:nvSpPr>
        <p:spPr>
          <a:xfrm>
            <a:off x="2081174" y="2183750"/>
            <a:ext cx="329184" cy="329184"/>
          </a:xfrm>
          <a:prstGeom prst="ellipse">
            <a:avLst/>
          </a:prstGeom>
          <a:solidFill>
            <a:srgbClr val="C9A227"/>
          </a:solidFill>
          <a:ln w="12700">
            <a:solidFill>
              <a:srgbClr val="C9A227"/>
            </a:solidFill>
            <a:prstDash val="solid"/>
          </a:ln>
        </p:spPr>
      </p:sp>
      <p:sp>
        <p:nvSpPr>
          <p:cNvPr id="27" name="Text 24"/>
          <p:cNvSpPr/>
          <p:nvPr/>
        </p:nvSpPr>
        <p:spPr>
          <a:xfrm>
            <a:off x="2081174" y="21837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8" name="Text 25"/>
          <p:cNvSpPr/>
          <p:nvPr/>
        </p:nvSpPr>
        <p:spPr>
          <a:xfrm>
            <a:off x="548640" y="2165462"/>
            <a:ext cx="1486814"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نقش و منو</a:t>
            </a:r>
            <a:endParaRPr lang="en-US" sz="1350" dirty="0"/>
          </a:p>
        </p:txBody>
      </p:sp>
      <p:sp>
        <p:nvSpPr>
          <p:cNvPr id="29" name="Text 26"/>
          <p:cNvSpPr/>
          <p:nvPr/>
        </p:nvSpPr>
        <p:spPr>
          <a:xfrm>
            <a:off x="548640" y="2604374"/>
            <a:ext cx="1852574" cy="1234440"/>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منوها بر اساس نقش شما نمایش داده می‌شوند؛ مدیر ستاد آن‌ها را در «دسترسی نقش‌ها» تعیین می‌کند.</a:t>
            </a:r>
            <a:endParaRPr lang="en-US" sz="1200" dirty="0"/>
          </a:p>
        </p:txBody>
      </p:sp>
      <p:sp>
        <p:nvSpPr>
          <p:cNvPr id="30" name="Shape 27"/>
          <p:cNvSpPr/>
          <p:nvPr/>
        </p:nvSpPr>
        <p:spPr>
          <a:xfrm>
            <a:off x="411480" y="5669280"/>
            <a:ext cx="11365992" cy="685800"/>
          </a:xfrm>
          <a:prstGeom prst="roundRect">
            <a:avLst>
              <a:gd name="adj" fmla="val 10667"/>
            </a:avLst>
          </a:prstGeom>
          <a:solidFill>
            <a:srgbClr val="E3F3EA"/>
          </a:solidFill>
          <a:ln w="9525">
            <a:solidFill>
              <a:srgbClr val="1E7A4C"/>
            </a:solidFill>
            <a:prstDash val="solid"/>
          </a:ln>
        </p:spPr>
      </p:sp>
      <p:sp>
        <p:nvSpPr>
          <p:cNvPr id="31" name="Text 28"/>
          <p:cNvSpPr/>
          <p:nvPr/>
        </p:nvSpPr>
        <p:spPr>
          <a:xfrm>
            <a:off x="10863072" y="5669280"/>
            <a:ext cx="822960" cy="685800"/>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32" name="Text 29"/>
          <p:cNvSpPr/>
          <p:nvPr/>
        </p:nvSpPr>
        <p:spPr>
          <a:xfrm>
            <a:off x="548640" y="5669280"/>
            <a:ext cx="10241280" cy="68580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پیش از هر کاری سال و واحد را نگاه کنید؛ بیشتر پیام‌های «یافت نشد» به‌خاطر انتخاب واحد یا سال اشتباه است.</a:t>
            </a:r>
            <a:endParaRPr lang="en-US" sz="1250" dirty="0"/>
          </a:p>
        </p:txBody>
      </p:sp>
      <p:sp>
        <p:nvSpPr>
          <p:cNvPr id="33"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۱۱</a:t>
            </a:r>
            <a:endParaRPr lang="en-US" sz="1000" dirty="0"/>
          </a:p>
        </p:txBody>
      </p:sp>
      <p:sp>
        <p:nvSpPr>
          <p:cNvPr id="34"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مبانی و شروع کار</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محیط کار — زبانه‌ها و نمای کنار هم</a:t>
            </a:r>
            <a:endParaRPr lang="en-US" sz="2500" dirty="0"/>
          </a:p>
        </p:txBody>
      </p:sp>
      <p:sp>
        <p:nvSpPr>
          <p:cNvPr id="3" name="Text 1"/>
          <p:cNvSpPr/>
          <p:nvPr/>
        </p:nvSpPr>
        <p:spPr>
          <a:xfrm>
            <a:off x="6208776"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هر گزینهٔ منو یک زبانه؛ کلیک راست روی زبانه</a:t>
            </a:r>
            <a:endParaRPr lang="en-US" sz="1200" dirty="0"/>
          </a:p>
        </p:txBody>
      </p:sp>
      <p:sp>
        <p:nvSpPr>
          <p:cNvPr id="4" name="Shape 2"/>
          <p:cNvSpPr/>
          <p:nvPr/>
        </p:nvSpPr>
        <p:spPr>
          <a:xfrm>
            <a:off x="6208776" y="1435608"/>
            <a:ext cx="5568696" cy="2649245"/>
          </a:xfrm>
          <a:prstGeom prst="roundRect">
            <a:avLst>
              <a:gd name="adj" fmla="val 276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5" name="Image 0" descr="ws01s">    </p:cNvPr>
          <p:cNvPicPr>
            <a:picLocks noChangeAspect="1"/>
          </p:cNvPicPr>
          <p:nvPr/>
        </p:nvPicPr>
        <p:blipFill>
          <a:blip r:embed="rId1"/>
          <a:stretch>
            <a:fillRect/>
          </a:stretch>
        </p:blipFill>
        <p:spPr>
          <a:xfrm>
            <a:off x="6254496" y="1499280"/>
            <a:ext cx="5477256" cy="2521902"/>
          </a:xfrm>
          <a:prstGeom prst="rect">
            <a:avLst/>
          </a:prstGeom>
        </p:spPr>
      </p:pic>
      <p:sp>
        <p:nvSpPr>
          <p:cNvPr id="6" name="Text 3"/>
          <p:cNvSpPr/>
          <p:nvPr/>
        </p:nvSpPr>
        <p:spPr>
          <a:xfrm>
            <a:off x="411480"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دو زبانه کنار هم</a:t>
            </a:r>
            <a:endParaRPr lang="en-US" sz="1200" dirty="0"/>
          </a:p>
        </p:txBody>
      </p:sp>
      <p:sp>
        <p:nvSpPr>
          <p:cNvPr id="7" name="Shape 4"/>
          <p:cNvSpPr/>
          <p:nvPr/>
        </p:nvSpPr>
        <p:spPr>
          <a:xfrm>
            <a:off x="411480" y="1435608"/>
            <a:ext cx="5568696" cy="2649245"/>
          </a:xfrm>
          <a:prstGeom prst="roundRect">
            <a:avLst>
              <a:gd name="adj" fmla="val 276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8" name="Image 1" descr="ws02s">    </p:cNvPr>
          <p:cNvPicPr>
            <a:picLocks noChangeAspect="1"/>
          </p:cNvPicPr>
          <p:nvPr/>
        </p:nvPicPr>
        <p:blipFill>
          <a:blip r:embed="rId2"/>
          <a:stretch>
            <a:fillRect/>
          </a:stretch>
        </p:blipFill>
        <p:spPr>
          <a:xfrm>
            <a:off x="856782" y="1481328"/>
            <a:ext cx="4678091" cy="2557805"/>
          </a:xfrm>
          <a:prstGeom prst="rect">
            <a:avLst/>
          </a:prstGeom>
        </p:spPr>
      </p:pic>
      <p:sp>
        <p:nvSpPr>
          <p:cNvPr id="9" name="Shape 5"/>
          <p:cNvSpPr/>
          <p:nvPr/>
        </p:nvSpPr>
        <p:spPr>
          <a:xfrm>
            <a:off x="9614002" y="4267733"/>
            <a:ext cx="2163470" cy="1291819"/>
          </a:xfrm>
          <a:prstGeom prst="roundRect">
            <a:avLst>
              <a:gd name="adj" fmla="val 5663"/>
            </a:avLst>
          </a:prstGeom>
          <a:solidFill>
            <a:srgbClr val="FFFFFF"/>
          </a:solidFill>
          <a:ln w="6350">
            <a:solidFill>
              <a:srgbClr val="D9DEE7"/>
            </a:solidFill>
            <a:prstDash val="solid"/>
          </a:ln>
        </p:spPr>
      </p:sp>
      <p:sp>
        <p:nvSpPr>
          <p:cNvPr id="10" name="Shape 6"/>
          <p:cNvSpPr/>
          <p:nvPr/>
        </p:nvSpPr>
        <p:spPr>
          <a:xfrm>
            <a:off x="11356848" y="4359173"/>
            <a:ext cx="329184" cy="329184"/>
          </a:xfrm>
          <a:prstGeom prst="ellipse">
            <a:avLst/>
          </a:prstGeom>
          <a:solidFill>
            <a:srgbClr val="C9A227"/>
          </a:solidFill>
          <a:ln w="12700">
            <a:solidFill>
              <a:srgbClr val="C9A227"/>
            </a:solidFill>
            <a:prstDash val="solid"/>
          </a:ln>
        </p:spPr>
      </p:sp>
      <p:sp>
        <p:nvSpPr>
          <p:cNvPr id="11" name="Text 7"/>
          <p:cNvSpPr/>
          <p:nvPr/>
        </p:nvSpPr>
        <p:spPr>
          <a:xfrm>
            <a:off x="1135684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8"/>
          <p:cNvSpPr/>
          <p:nvPr/>
        </p:nvSpPr>
        <p:spPr>
          <a:xfrm>
            <a:off x="9705442" y="4340885"/>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زبانه</a:t>
            </a:r>
            <a:endParaRPr lang="en-US" sz="1300" dirty="0"/>
          </a:p>
        </p:txBody>
      </p:sp>
      <p:sp>
        <p:nvSpPr>
          <p:cNvPr id="13" name="Text 9"/>
          <p:cNvSpPr/>
          <p:nvPr/>
        </p:nvSpPr>
        <p:spPr>
          <a:xfrm>
            <a:off x="9723730" y="4743221"/>
            <a:ext cx="1944014"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هر گزینهٔ منو در یک زبانهٔ جدا باز می‌شود (حداکثر ۱۰).</a:t>
            </a:r>
            <a:endParaRPr lang="en-US" sz="1150" dirty="0"/>
          </a:p>
        </p:txBody>
      </p:sp>
      <p:sp>
        <p:nvSpPr>
          <p:cNvPr id="14" name="Shape 10"/>
          <p:cNvSpPr/>
          <p:nvPr/>
        </p:nvSpPr>
        <p:spPr>
          <a:xfrm>
            <a:off x="7313371" y="4267733"/>
            <a:ext cx="2163470" cy="1291819"/>
          </a:xfrm>
          <a:prstGeom prst="roundRect">
            <a:avLst>
              <a:gd name="adj" fmla="val 5663"/>
            </a:avLst>
          </a:prstGeom>
          <a:solidFill>
            <a:srgbClr val="FFFFFF"/>
          </a:solidFill>
          <a:ln w="6350">
            <a:solidFill>
              <a:srgbClr val="D9DEE7"/>
            </a:solidFill>
            <a:prstDash val="solid"/>
          </a:ln>
        </p:spPr>
      </p:sp>
      <p:sp>
        <p:nvSpPr>
          <p:cNvPr id="15" name="Shape 11"/>
          <p:cNvSpPr/>
          <p:nvPr/>
        </p:nvSpPr>
        <p:spPr>
          <a:xfrm>
            <a:off x="9056218" y="4359173"/>
            <a:ext cx="329184" cy="329184"/>
          </a:xfrm>
          <a:prstGeom prst="ellipse">
            <a:avLst/>
          </a:prstGeom>
          <a:solidFill>
            <a:srgbClr val="C9A227"/>
          </a:solidFill>
          <a:ln w="12700">
            <a:solidFill>
              <a:srgbClr val="C9A227"/>
            </a:solidFill>
            <a:prstDash val="solid"/>
          </a:ln>
        </p:spPr>
      </p:sp>
      <p:sp>
        <p:nvSpPr>
          <p:cNvPr id="16" name="Text 12"/>
          <p:cNvSpPr/>
          <p:nvPr/>
        </p:nvSpPr>
        <p:spPr>
          <a:xfrm>
            <a:off x="905621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7" name="Text 13"/>
          <p:cNvSpPr/>
          <p:nvPr/>
        </p:nvSpPr>
        <p:spPr>
          <a:xfrm>
            <a:off x="7404811" y="4340885"/>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بستن</a:t>
            </a:r>
            <a:endParaRPr lang="en-US" sz="1300" dirty="0"/>
          </a:p>
        </p:txBody>
      </p:sp>
      <p:sp>
        <p:nvSpPr>
          <p:cNvPr id="18" name="Text 14"/>
          <p:cNvSpPr/>
          <p:nvPr/>
        </p:nvSpPr>
        <p:spPr>
          <a:xfrm>
            <a:off x="7423099" y="4743221"/>
            <a:ext cx="1944014"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 یا کلیک وسط ماوس؛ برای فرم ذخیره‌نشده هشدار می‌دهد.</a:t>
            </a:r>
            <a:endParaRPr lang="en-US" sz="1150" dirty="0"/>
          </a:p>
        </p:txBody>
      </p:sp>
      <p:sp>
        <p:nvSpPr>
          <p:cNvPr id="19" name="Shape 15"/>
          <p:cNvSpPr/>
          <p:nvPr/>
        </p:nvSpPr>
        <p:spPr>
          <a:xfrm>
            <a:off x="5012741" y="4267733"/>
            <a:ext cx="2163470" cy="1291819"/>
          </a:xfrm>
          <a:prstGeom prst="roundRect">
            <a:avLst>
              <a:gd name="adj" fmla="val 5663"/>
            </a:avLst>
          </a:prstGeom>
          <a:solidFill>
            <a:srgbClr val="FFFFFF"/>
          </a:solidFill>
          <a:ln w="6350">
            <a:solidFill>
              <a:srgbClr val="D9DEE7"/>
            </a:solidFill>
            <a:prstDash val="solid"/>
          </a:ln>
        </p:spPr>
      </p:sp>
      <p:sp>
        <p:nvSpPr>
          <p:cNvPr id="20" name="Shape 16"/>
          <p:cNvSpPr/>
          <p:nvPr/>
        </p:nvSpPr>
        <p:spPr>
          <a:xfrm>
            <a:off x="6755587" y="4359173"/>
            <a:ext cx="329184" cy="329184"/>
          </a:xfrm>
          <a:prstGeom prst="ellipse">
            <a:avLst/>
          </a:prstGeom>
          <a:solidFill>
            <a:srgbClr val="C9A227"/>
          </a:solidFill>
          <a:ln w="12700">
            <a:solidFill>
              <a:srgbClr val="C9A227"/>
            </a:solidFill>
            <a:prstDash val="solid"/>
          </a:ln>
        </p:spPr>
      </p:sp>
      <p:sp>
        <p:nvSpPr>
          <p:cNvPr id="21" name="Text 17"/>
          <p:cNvSpPr/>
          <p:nvPr/>
        </p:nvSpPr>
        <p:spPr>
          <a:xfrm>
            <a:off x="6755587"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2" name="Text 18"/>
          <p:cNvSpPr/>
          <p:nvPr/>
        </p:nvSpPr>
        <p:spPr>
          <a:xfrm>
            <a:off x="5104181" y="4340885"/>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کلیک راست</a:t>
            </a:r>
            <a:endParaRPr lang="en-US" sz="1300" dirty="0"/>
          </a:p>
        </p:txBody>
      </p:sp>
      <p:sp>
        <p:nvSpPr>
          <p:cNvPr id="23" name="Text 19"/>
          <p:cNvSpPr/>
          <p:nvPr/>
        </p:nvSpPr>
        <p:spPr>
          <a:xfrm>
            <a:off x="5122469" y="4743221"/>
            <a:ext cx="1944014"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نسخهٔ دیگر، نمایش کنار تب فعال، بستن بقیه یا همه.</a:t>
            </a:r>
            <a:endParaRPr lang="en-US" sz="1150" dirty="0"/>
          </a:p>
        </p:txBody>
      </p:sp>
      <p:sp>
        <p:nvSpPr>
          <p:cNvPr id="24" name="Shape 20"/>
          <p:cNvSpPr/>
          <p:nvPr/>
        </p:nvSpPr>
        <p:spPr>
          <a:xfrm>
            <a:off x="2712110" y="4267733"/>
            <a:ext cx="2163470" cy="1291819"/>
          </a:xfrm>
          <a:prstGeom prst="roundRect">
            <a:avLst>
              <a:gd name="adj" fmla="val 5663"/>
            </a:avLst>
          </a:prstGeom>
          <a:solidFill>
            <a:srgbClr val="FFFFFF"/>
          </a:solidFill>
          <a:ln w="6350">
            <a:solidFill>
              <a:srgbClr val="D9DEE7"/>
            </a:solidFill>
            <a:prstDash val="solid"/>
          </a:ln>
        </p:spPr>
      </p:sp>
      <p:sp>
        <p:nvSpPr>
          <p:cNvPr id="25" name="Shape 21"/>
          <p:cNvSpPr/>
          <p:nvPr/>
        </p:nvSpPr>
        <p:spPr>
          <a:xfrm>
            <a:off x="4454957" y="4359173"/>
            <a:ext cx="329184" cy="329184"/>
          </a:xfrm>
          <a:prstGeom prst="ellipse">
            <a:avLst/>
          </a:prstGeom>
          <a:solidFill>
            <a:srgbClr val="C9A227"/>
          </a:solidFill>
          <a:ln w="12700">
            <a:solidFill>
              <a:srgbClr val="C9A227"/>
            </a:solidFill>
            <a:prstDash val="solid"/>
          </a:ln>
        </p:spPr>
      </p:sp>
      <p:sp>
        <p:nvSpPr>
          <p:cNvPr id="26" name="Text 22"/>
          <p:cNvSpPr/>
          <p:nvPr/>
        </p:nvSpPr>
        <p:spPr>
          <a:xfrm>
            <a:off x="4454957"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7" name="Text 23"/>
          <p:cNvSpPr/>
          <p:nvPr/>
        </p:nvSpPr>
        <p:spPr>
          <a:xfrm>
            <a:off x="2803550" y="4340885"/>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کنار هم</a:t>
            </a:r>
            <a:endParaRPr lang="en-US" sz="1300" dirty="0"/>
          </a:p>
        </p:txBody>
      </p:sp>
      <p:sp>
        <p:nvSpPr>
          <p:cNvPr id="28" name="Text 24"/>
          <p:cNvSpPr/>
          <p:nvPr/>
        </p:nvSpPr>
        <p:spPr>
          <a:xfrm>
            <a:off x="2821838" y="4743221"/>
            <a:ext cx="1944014"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دو فرم هم‌زمان؛ خط وسط را بکشید.</a:t>
            </a:r>
            <a:endParaRPr lang="en-US" sz="1150" dirty="0"/>
          </a:p>
        </p:txBody>
      </p:sp>
      <p:sp>
        <p:nvSpPr>
          <p:cNvPr id="29" name="Shape 25"/>
          <p:cNvSpPr/>
          <p:nvPr/>
        </p:nvSpPr>
        <p:spPr>
          <a:xfrm>
            <a:off x="411480" y="4267733"/>
            <a:ext cx="2163470" cy="1291819"/>
          </a:xfrm>
          <a:prstGeom prst="roundRect">
            <a:avLst>
              <a:gd name="adj" fmla="val 5663"/>
            </a:avLst>
          </a:prstGeom>
          <a:solidFill>
            <a:srgbClr val="FFFFFF"/>
          </a:solidFill>
          <a:ln w="6350">
            <a:solidFill>
              <a:srgbClr val="D9DEE7"/>
            </a:solidFill>
            <a:prstDash val="solid"/>
          </a:ln>
        </p:spPr>
      </p:sp>
      <p:sp>
        <p:nvSpPr>
          <p:cNvPr id="30" name="Shape 26"/>
          <p:cNvSpPr/>
          <p:nvPr/>
        </p:nvSpPr>
        <p:spPr>
          <a:xfrm>
            <a:off x="2154326" y="4359173"/>
            <a:ext cx="329184" cy="329184"/>
          </a:xfrm>
          <a:prstGeom prst="ellipse">
            <a:avLst/>
          </a:prstGeom>
          <a:solidFill>
            <a:srgbClr val="C9A227"/>
          </a:solidFill>
          <a:ln w="12700">
            <a:solidFill>
              <a:srgbClr val="C9A227"/>
            </a:solidFill>
            <a:prstDash val="solid"/>
          </a:ln>
        </p:spPr>
      </p:sp>
      <p:sp>
        <p:nvSpPr>
          <p:cNvPr id="31" name="Text 27"/>
          <p:cNvSpPr/>
          <p:nvPr/>
        </p:nvSpPr>
        <p:spPr>
          <a:xfrm>
            <a:off x="2154326"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2" name="Text 28"/>
          <p:cNvSpPr/>
          <p:nvPr/>
        </p:nvSpPr>
        <p:spPr>
          <a:xfrm>
            <a:off x="502920" y="4340885"/>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لایسنس</a:t>
            </a:r>
            <a:endParaRPr lang="en-US" sz="1300" dirty="0"/>
          </a:p>
        </p:txBody>
      </p:sp>
      <p:sp>
        <p:nvSpPr>
          <p:cNvPr id="33" name="Text 29"/>
          <p:cNvSpPr/>
          <p:nvPr/>
        </p:nvSpPr>
        <p:spPr>
          <a:xfrm>
            <a:off x="521208" y="4743221"/>
            <a:ext cx="1944014"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نوار آبی بالای صفحه یعنی لایسنس نزدیک انقضاست.</a:t>
            </a:r>
            <a:endParaRPr lang="en-US" sz="1150" dirty="0"/>
          </a:p>
        </p:txBody>
      </p:sp>
      <p:sp>
        <p:nvSpPr>
          <p:cNvPr id="34" name="Shape 30"/>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5" name="Text 31"/>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6" name="Text 32"/>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زبانه‌های پشتی باز می‌مانند و فرم نیمه‌پر از دست نمی‌رود؛ بعد از تازه‌سازی (F5) فقط فهرست زبانه‌ها برمی‌گردد.</a:t>
            </a:r>
            <a:endParaRPr lang="en-US" sz="1250" dirty="0"/>
          </a:p>
        </p:txBody>
      </p:sp>
      <p:sp>
        <p:nvSpPr>
          <p:cNvPr id="37" name="Text 3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۱۲</a:t>
            </a:r>
            <a:endParaRPr lang="en-US" sz="1000" dirty="0"/>
          </a:p>
        </p:txBody>
      </p:sp>
      <p:sp>
        <p:nvSpPr>
          <p:cNvPr id="38" name="Text 3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مبانی و شروع کار</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جدول‌ها — مرتب‌سازی، ستون‌ها و تعداد ردیف</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ws03">    </p:cNvPr>
          <p:cNvPicPr>
            <a:picLocks noChangeAspect="1"/>
          </p:cNvPicPr>
          <p:nvPr/>
        </p:nvPicPr>
        <p:blipFill>
          <a:blip r:embed="rId1"/>
          <a:stretch>
            <a:fillRect/>
          </a:stretch>
        </p:blipFill>
        <p:spPr>
          <a:xfrm>
            <a:off x="484632" y="1364331"/>
            <a:ext cx="7077456" cy="4769419"/>
          </a:xfrm>
          <a:prstGeom prst="rect">
            <a:avLst/>
          </a:prstGeom>
        </p:spPr>
      </p:pic>
      <p:sp>
        <p:nvSpPr>
          <p:cNvPr id="5" name="Shape 2"/>
          <p:cNvSpPr/>
          <p:nvPr/>
        </p:nvSpPr>
        <p:spPr>
          <a:xfrm>
            <a:off x="11411712" y="1188720"/>
            <a:ext cx="329184" cy="329184"/>
          </a:xfrm>
          <a:prstGeom prst="ellipse">
            <a:avLst/>
          </a:prstGeom>
          <a:solidFill>
            <a:srgbClr val="C9A227"/>
          </a:solidFill>
          <a:ln w="12700">
            <a:solidFill>
              <a:srgbClr val="C9A227"/>
            </a:solidFill>
            <a:prstDash val="solid"/>
          </a:ln>
        </p:spPr>
      </p:sp>
      <p:sp>
        <p:nvSpPr>
          <p:cNvPr id="6" name="Text 3"/>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مرتب‌سازی</a:t>
            </a:r>
            <a:endParaRPr lang="en-US" sz="1350" dirty="0"/>
          </a:p>
        </p:txBody>
      </p:sp>
      <p:sp>
        <p:nvSpPr>
          <p:cNvPr id="8" name="Text 5"/>
          <p:cNvSpPr/>
          <p:nvPr/>
        </p:nvSpPr>
        <p:spPr>
          <a:xfrm>
            <a:off x="7909560" y="151790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روی سرستون کلیک کنید: صعودی ← نزولی ← ترتیب اصلی (فقط ردیف‌های همین صفحه).</a:t>
            </a:r>
            <a:endParaRPr lang="en-US" sz="1300" dirty="0"/>
          </a:p>
        </p:txBody>
      </p:sp>
      <p:sp>
        <p:nvSpPr>
          <p:cNvPr id="9" name="Shape 6"/>
          <p:cNvSpPr/>
          <p:nvPr/>
        </p:nvSpPr>
        <p:spPr>
          <a:xfrm>
            <a:off x="11411712" y="2091233"/>
            <a:ext cx="329184" cy="329184"/>
          </a:xfrm>
          <a:prstGeom prst="ellipse">
            <a:avLst/>
          </a:prstGeom>
          <a:solidFill>
            <a:srgbClr val="C9A227"/>
          </a:solidFill>
          <a:ln w="12700">
            <a:solidFill>
              <a:srgbClr val="C9A227"/>
            </a:solidFill>
            <a:prstDash val="solid"/>
          </a:ln>
        </p:spPr>
      </p:sp>
      <p:sp>
        <p:nvSpPr>
          <p:cNvPr id="10" name="Text 7"/>
          <p:cNvSpPr/>
          <p:nvPr/>
        </p:nvSpPr>
        <p:spPr>
          <a:xfrm>
            <a:off x="11411712" y="20912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p:nvPr/>
        </p:nvSpPr>
        <p:spPr>
          <a:xfrm>
            <a:off x="7909560" y="209123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ستون‌ها</a:t>
            </a:r>
            <a:endParaRPr lang="en-US" sz="1350" dirty="0"/>
          </a:p>
        </p:txBody>
      </p:sp>
      <p:sp>
        <p:nvSpPr>
          <p:cNvPr id="12" name="Text 9"/>
          <p:cNvSpPr/>
          <p:nvPr/>
        </p:nvSpPr>
        <p:spPr>
          <a:xfrm>
            <a:off x="7909560" y="2420417"/>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دکمهٔ «ستون‌ها» فهرست تیک‌دار ستون‌ها را باز می‌کند؛ انتخاب شما به خاطر سپرده می‌شود.</a:t>
            </a:r>
            <a:endParaRPr lang="en-US" sz="1300" dirty="0"/>
          </a:p>
        </p:txBody>
      </p:sp>
      <p:sp>
        <p:nvSpPr>
          <p:cNvPr id="13" name="Shape 10"/>
          <p:cNvSpPr/>
          <p:nvPr/>
        </p:nvSpPr>
        <p:spPr>
          <a:xfrm>
            <a:off x="11411712" y="3225546"/>
            <a:ext cx="329184" cy="329184"/>
          </a:xfrm>
          <a:prstGeom prst="ellipse">
            <a:avLst/>
          </a:prstGeom>
          <a:solidFill>
            <a:srgbClr val="C9A227"/>
          </a:solidFill>
          <a:ln w="12700">
            <a:solidFill>
              <a:srgbClr val="C9A227"/>
            </a:solidFill>
            <a:prstDash val="solid"/>
          </a:ln>
        </p:spPr>
      </p:sp>
      <p:sp>
        <p:nvSpPr>
          <p:cNvPr id="14" name="Text 11"/>
          <p:cNvSpPr/>
          <p:nvPr/>
        </p:nvSpPr>
        <p:spPr>
          <a:xfrm>
            <a:off x="11411712" y="32255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p:nvPr/>
        </p:nvSpPr>
        <p:spPr>
          <a:xfrm>
            <a:off x="7909560" y="32255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نمایش همه</a:t>
            </a:r>
            <a:endParaRPr lang="en-US" sz="1350" dirty="0"/>
          </a:p>
        </p:txBody>
      </p:sp>
      <p:sp>
        <p:nvSpPr>
          <p:cNvPr id="16" name="Text 13"/>
          <p:cNvSpPr/>
          <p:nvPr/>
        </p:nvSpPr>
        <p:spPr>
          <a:xfrm>
            <a:off x="7909560" y="355473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«نمایش همهٔ ستون‌ها» تنظیم را برمی‌گرداند؛ ستون «عملیات» همیشه می‌ماند.</a:t>
            </a:r>
            <a:endParaRPr lang="en-US" sz="1300" dirty="0"/>
          </a:p>
        </p:txBody>
      </p:sp>
      <p:sp>
        <p:nvSpPr>
          <p:cNvPr id="17" name="Shape 14"/>
          <p:cNvSpPr/>
          <p:nvPr/>
        </p:nvSpPr>
        <p:spPr>
          <a:xfrm>
            <a:off x="11411712" y="4128059"/>
            <a:ext cx="329184" cy="329184"/>
          </a:xfrm>
          <a:prstGeom prst="ellipse">
            <a:avLst/>
          </a:prstGeom>
          <a:solidFill>
            <a:srgbClr val="C9A227"/>
          </a:solidFill>
          <a:ln w="12700">
            <a:solidFill>
              <a:srgbClr val="C9A227"/>
            </a:solidFill>
            <a:prstDash val="solid"/>
          </a:ln>
        </p:spPr>
      </p:sp>
      <p:sp>
        <p:nvSpPr>
          <p:cNvPr id="18" name="Text 15"/>
          <p:cNvSpPr/>
          <p:nvPr/>
        </p:nvSpPr>
        <p:spPr>
          <a:xfrm>
            <a:off x="11411712" y="412805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p:nvPr/>
        </p:nvSpPr>
        <p:spPr>
          <a:xfrm>
            <a:off x="7909560" y="412805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تعداد ردیف</a:t>
            </a:r>
            <a:endParaRPr lang="en-US" sz="1350" dirty="0"/>
          </a:p>
        </p:txBody>
      </p:sp>
      <p:sp>
        <p:nvSpPr>
          <p:cNvPr id="20" name="Text 17"/>
          <p:cNvSpPr/>
          <p:nvPr/>
        </p:nvSpPr>
        <p:spPr>
          <a:xfrm>
            <a:off x="7909560" y="4457243"/>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پایین جدول تعداد ردیف هر صفحه را عوض کنید و بین صفحه‌ها بروید.</a:t>
            </a:r>
            <a:endParaRPr lang="en-US" sz="1300" dirty="0"/>
          </a:p>
        </p:txBody>
      </p:sp>
      <p:sp>
        <p:nvSpPr>
          <p:cNvPr id="21" name="Text 18"/>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۱۳</a:t>
            </a:r>
            <a:endParaRPr lang="en-US" sz="1000" dirty="0"/>
          </a:p>
        </p:txBody>
      </p:sp>
      <p:sp>
        <p:nvSpPr>
          <p:cNvPr id="22" name="Text 19"/>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مبانی و شروع کار</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قراردادهای مشترک همهٔ فرم‌ها</a:t>
            </a:r>
            <a:endParaRPr lang="en-US" sz="2500" dirty="0"/>
          </a:p>
        </p:txBody>
      </p:sp>
      <p:sp>
        <p:nvSpPr>
          <p:cNvPr id="3" name="Shape 1"/>
          <p:cNvSpPr/>
          <p:nvPr/>
        </p:nvSpPr>
        <p:spPr>
          <a:xfrm>
            <a:off x="8122920" y="1280160"/>
            <a:ext cx="3654552" cy="1371600"/>
          </a:xfrm>
          <a:prstGeom prst="roundRect">
            <a:avLst>
              <a:gd name="adj" fmla="val 6667"/>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11228832" y="1463040"/>
            <a:ext cx="384048" cy="384048"/>
          </a:xfrm>
          <a:prstGeom prst="ellipse">
            <a:avLst/>
          </a:prstGeom>
          <a:solidFill>
            <a:srgbClr val="C9A227"/>
          </a:solidFill>
          <a:ln w="12700">
            <a:solidFill>
              <a:srgbClr val="C9A227"/>
            </a:solidFill>
            <a:prstDash val="solid"/>
          </a:ln>
        </p:spPr>
      </p:sp>
      <p:sp>
        <p:nvSpPr>
          <p:cNvPr id="5" name="Text 3"/>
          <p:cNvSpPr/>
          <p:nvPr/>
        </p:nvSpPr>
        <p:spPr>
          <a:xfrm>
            <a:off x="11228832" y="146304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6" name="Text 4"/>
          <p:cNvSpPr/>
          <p:nvPr/>
        </p:nvSpPr>
        <p:spPr>
          <a:xfrm>
            <a:off x="8305800" y="1463040"/>
            <a:ext cx="2831592" cy="384048"/>
          </a:xfrm>
          <a:prstGeom prst="rect">
            <a:avLst/>
          </a:prstGeom>
          <a:noFill/>
          <a:ln/>
        </p:spPr>
        <p:txBody>
          <a:bodyPr wrap="square" lIns="0" tIns="0" rIns="0" bIns="0" rtlCol="0" anchor="ctr"/>
          <a:lstStyle/>
          <a:p>
            <a:pPr rtl="1" algn="r" indent="0" marL="0">
              <a:buNone/>
            </a:pPr>
            <a:r>
              <a:rPr lang="en-US" sz="1550" b="1" dirty="0">
                <a:solidFill>
                  <a:srgbClr val="1B2A49"/>
                </a:solidFill>
                <a:latin typeface="Tahoma" pitchFamily="34" charset="0"/>
                <a:ea typeface="Tahoma" pitchFamily="34" charset="-122"/>
                <a:cs typeface="Tahoma" pitchFamily="34" charset="-120"/>
              </a:rPr>
              <a:t>ستاره (*)</a:t>
            </a:r>
            <a:endParaRPr lang="en-US" sz="1550" dirty="0"/>
          </a:p>
        </p:txBody>
      </p:sp>
      <p:sp>
        <p:nvSpPr>
          <p:cNvPr id="7" name="Text 5"/>
          <p:cNvSpPr/>
          <p:nvPr/>
        </p:nvSpPr>
        <p:spPr>
          <a:xfrm>
            <a:off x="8324088" y="1965960"/>
            <a:ext cx="3252216" cy="594360"/>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فیلد الزامی است؛ بدون آن ذخیره انجام نمی‌شود.</a:t>
            </a:r>
            <a:endParaRPr lang="en-US" sz="1200" dirty="0"/>
          </a:p>
        </p:txBody>
      </p:sp>
      <p:sp>
        <p:nvSpPr>
          <p:cNvPr id="8" name="Shape 6"/>
          <p:cNvSpPr/>
          <p:nvPr/>
        </p:nvSpPr>
        <p:spPr>
          <a:xfrm>
            <a:off x="4267200" y="1280160"/>
            <a:ext cx="3654552" cy="1371600"/>
          </a:xfrm>
          <a:prstGeom prst="roundRect">
            <a:avLst>
              <a:gd name="adj" fmla="val 6667"/>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7373112" y="1463040"/>
            <a:ext cx="384048" cy="384048"/>
          </a:xfrm>
          <a:prstGeom prst="ellipse">
            <a:avLst/>
          </a:prstGeom>
          <a:solidFill>
            <a:srgbClr val="C9A227"/>
          </a:solidFill>
          <a:ln w="12700">
            <a:solidFill>
              <a:srgbClr val="C9A227"/>
            </a:solidFill>
            <a:prstDash val="solid"/>
          </a:ln>
        </p:spPr>
      </p:sp>
      <p:sp>
        <p:nvSpPr>
          <p:cNvPr id="10" name="Text 8"/>
          <p:cNvSpPr/>
          <p:nvPr/>
        </p:nvSpPr>
        <p:spPr>
          <a:xfrm>
            <a:off x="7373112" y="146304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4450080" y="1463040"/>
            <a:ext cx="2831592" cy="384048"/>
          </a:xfrm>
          <a:prstGeom prst="rect">
            <a:avLst/>
          </a:prstGeom>
          <a:noFill/>
          <a:ln/>
        </p:spPr>
        <p:txBody>
          <a:bodyPr wrap="square" lIns="0" tIns="0" rIns="0" bIns="0" rtlCol="0" anchor="ctr"/>
          <a:lstStyle/>
          <a:p>
            <a:pPr rtl="1" algn="r" indent="0" marL="0">
              <a:buNone/>
            </a:pPr>
            <a:r>
              <a:rPr lang="en-US" sz="1550" b="1" dirty="0">
                <a:solidFill>
                  <a:srgbClr val="1B2A49"/>
                </a:solidFill>
                <a:latin typeface="Tahoma" pitchFamily="34" charset="0"/>
                <a:ea typeface="Tahoma" pitchFamily="34" charset="-122"/>
                <a:cs typeface="Tahoma" pitchFamily="34" charset="-120"/>
              </a:rPr>
              <a:t>پیش‌نویس</a:t>
            </a:r>
            <a:endParaRPr lang="en-US" sz="1550" dirty="0"/>
          </a:p>
        </p:txBody>
      </p:sp>
      <p:sp>
        <p:nvSpPr>
          <p:cNvPr id="12" name="Text 10"/>
          <p:cNvSpPr/>
          <p:nvPr/>
        </p:nvSpPr>
        <p:spPr>
          <a:xfrm>
            <a:off x="4468368" y="1965960"/>
            <a:ext cx="3252216" cy="594360"/>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ذخیره شده ولی ارسال نشده؛ معمولاً تنها وضعیت قابل حذف.</a:t>
            </a:r>
            <a:endParaRPr lang="en-US" sz="1200" dirty="0"/>
          </a:p>
        </p:txBody>
      </p:sp>
      <p:sp>
        <p:nvSpPr>
          <p:cNvPr id="13" name="Shape 11"/>
          <p:cNvSpPr/>
          <p:nvPr/>
        </p:nvSpPr>
        <p:spPr>
          <a:xfrm>
            <a:off x="411480" y="1280160"/>
            <a:ext cx="3654552" cy="1371600"/>
          </a:xfrm>
          <a:prstGeom prst="roundRect">
            <a:avLst>
              <a:gd name="adj" fmla="val 6667"/>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4" name="Shape 12"/>
          <p:cNvSpPr/>
          <p:nvPr/>
        </p:nvSpPr>
        <p:spPr>
          <a:xfrm>
            <a:off x="3517392" y="1463040"/>
            <a:ext cx="384048" cy="384048"/>
          </a:xfrm>
          <a:prstGeom prst="ellipse">
            <a:avLst/>
          </a:prstGeom>
          <a:solidFill>
            <a:srgbClr val="C9A227"/>
          </a:solidFill>
          <a:ln w="12700">
            <a:solidFill>
              <a:srgbClr val="C9A227"/>
            </a:solidFill>
            <a:prstDash val="solid"/>
          </a:ln>
        </p:spPr>
      </p:sp>
      <p:sp>
        <p:nvSpPr>
          <p:cNvPr id="15" name="Text 13"/>
          <p:cNvSpPr/>
          <p:nvPr/>
        </p:nvSpPr>
        <p:spPr>
          <a:xfrm>
            <a:off x="3517392" y="146304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6" name="Text 14"/>
          <p:cNvSpPr/>
          <p:nvPr/>
        </p:nvSpPr>
        <p:spPr>
          <a:xfrm>
            <a:off x="594360" y="1463040"/>
            <a:ext cx="2831592" cy="384048"/>
          </a:xfrm>
          <a:prstGeom prst="rect">
            <a:avLst/>
          </a:prstGeom>
          <a:noFill/>
          <a:ln/>
        </p:spPr>
        <p:txBody>
          <a:bodyPr wrap="square" lIns="0" tIns="0" rIns="0" bIns="0" rtlCol="0" anchor="ctr"/>
          <a:lstStyle/>
          <a:p>
            <a:pPr rtl="1" algn="r" indent="0" marL="0">
              <a:buNone/>
            </a:pPr>
            <a:r>
              <a:rPr lang="en-US" sz="1550" b="1" dirty="0">
                <a:solidFill>
                  <a:srgbClr val="1B2A49"/>
                </a:solidFill>
                <a:latin typeface="Tahoma" pitchFamily="34" charset="0"/>
                <a:ea typeface="Tahoma" pitchFamily="34" charset="-122"/>
                <a:cs typeface="Tahoma" pitchFamily="34" charset="-120"/>
              </a:rPr>
              <a:t>برگشتی</a:t>
            </a:r>
            <a:endParaRPr lang="en-US" sz="1550" dirty="0"/>
          </a:p>
        </p:txBody>
      </p:sp>
      <p:sp>
        <p:nvSpPr>
          <p:cNvPr id="17" name="Text 15"/>
          <p:cNvSpPr/>
          <p:nvPr/>
        </p:nvSpPr>
        <p:spPr>
          <a:xfrm>
            <a:off x="612648" y="1965960"/>
            <a:ext cx="3252216" cy="594360"/>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برای اصلاح برگشت خورده؛ دلیلش را بخوانید، اصلاح و دوباره ارسال کنید.</a:t>
            </a:r>
            <a:endParaRPr lang="en-US" sz="1200" dirty="0"/>
          </a:p>
        </p:txBody>
      </p:sp>
      <p:sp>
        <p:nvSpPr>
          <p:cNvPr id="18" name="Shape 16"/>
          <p:cNvSpPr/>
          <p:nvPr/>
        </p:nvSpPr>
        <p:spPr>
          <a:xfrm>
            <a:off x="8122920" y="2852928"/>
            <a:ext cx="3654552" cy="1371600"/>
          </a:xfrm>
          <a:prstGeom prst="roundRect">
            <a:avLst>
              <a:gd name="adj" fmla="val 6667"/>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9" name="Shape 17"/>
          <p:cNvSpPr/>
          <p:nvPr/>
        </p:nvSpPr>
        <p:spPr>
          <a:xfrm>
            <a:off x="11228832" y="3035808"/>
            <a:ext cx="384048" cy="384048"/>
          </a:xfrm>
          <a:prstGeom prst="ellipse">
            <a:avLst/>
          </a:prstGeom>
          <a:solidFill>
            <a:srgbClr val="C9A227"/>
          </a:solidFill>
          <a:ln w="12700">
            <a:solidFill>
              <a:srgbClr val="C9A227"/>
            </a:solidFill>
            <a:prstDash val="solid"/>
          </a:ln>
        </p:spPr>
      </p:sp>
      <p:sp>
        <p:nvSpPr>
          <p:cNvPr id="20" name="Text 18"/>
          <p:cNvSpPr/>
          <p:nvPr/>
        </p:nvSpPr>
        <p:spPr>
          <a:xfrm>
            <a:off x="11228832" y="3035808"/>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9"/>
          <p:cNvSpPr/>
          <p:nvPr/>
        </p:nvSpPr>
        <p:spPr>
          <a:xfrm>
            <a:off x="8305800" y="3035808"/>
            <a:ext cx="2831592" cy="384048"/>
          </a:xfrm>
          <a:prstGeom prst="rect">
            <a:avLst/>
          </a:prstGeom>
          <a:noFill/>
          <a:ln/>
        </p:spPr>
        <p:txBody>
          <a:bodyPr wrap="square" lIns="0" tIns="0" rIns="0" bIns="0" rtlCol="0" anchor="ctr"/>
          <a:lstStyle/>
          <a:p>
            <a:pPr rtl="1" algn="r" indent="0" marL="0">
              <a:buNone/>
            </a:pPr>
            <a:r>
              <a:rPr lang="en-US" sz="1550" b="1" dirty="0">
                <a:solidFill>
                  <a:srgbClr val="1B2A49"/>
                </a:solidFill>
                <a:latin typeface="Tahoma" pitchFamily="34" charset="0"/>
                <a:ea typeface="Tahoma" pitchFamily="34" charset="-122"/>
                <a:cs typeface="Tahoma" pitchFamily="34" charset="-120"/>
              </a:rPr>
              <a:t>تفکیک وظایف</a:t>
            </a:r>
            <a:endParaRPr lang="en-US" sz="1550" dirty="0"/>
          </a:p>
        </p:txBody>
      </p:sp>
      <p:sp>
        <p:nvSpPr>
          <p:cNvPr id="22" name="Text 20"/>
          <p:cNvSpPr/>
          <p:nvPr/>
        </p:nvSpPr>
        <p:spPr>
          <a:xfrm>
            <a:off x="8324088" y="3538728"/>
            <a:ext cx="3252216" cy="594360"/>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ثبت‌کنندهٔ یک سند نمی‌تواند خودش آن را تأیید کند.</a:t>
            </a:r>
            <a:endParaRPr lang="en-US" sz="1200" dirty="0"/>
          </a:p>
        </p:txBody>
      </p:sp>
      <p:sp>
        <p:nvSpPr>
          <p:cNvPr id="23" name="Shape 21"/>
          <p:cNvSpPr/>
          <p:nvPr/>
        </p:nvSpPr>
        <p:spPr>
          <a:xfrm>
            <a:off x="4267200" y="2852928"/>
            <a:ext cx="3654552" cy="1371600"/>
          </a:xfrm>
          <a:prstGeom prst="roundRect">
            <a:avLst>
              <a:gd name="adj" fmla="val 6667"/>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4" name="Shape 22"/>
          <p:cNvSpPr/>
          <p:nvPr/>
        </p:nvSpPr>
        <p:spPr>
          <a:xfrm>
            <a:off x="7373112" y="3035808"/>
            <a:ext cx="384048" cy="384048"/>
          </a:xfrm>
          <a:prstGeom prst="ellipse">
            <a:avLst/>
          </a:prstGeom>
          <a:solidFill>
            <a:srgbClr val="C9A227"/>
          </a:solidFill>
          <a:ln w="12700">
            <a:solidFill>
              <a:srgbClr val="C9A227"/>
            </a:solidFill>
            <a:prstDash val="solid"/>
          </a:ln>
        </p:spPr>
      </p:sp>
      <p:sp>
        <p:nvSpPr>
          <p:cNvPr id="25" name="Text 23"/>
          <p:cNvSpPr/>
          <p:nvPr/>
        </p:nvSpPr>
        <p:spPr>
          <a:xfrm>
            <a:off x="7373112" y="3035808"/>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6" name="Text 24"/>
          <p:cNvSpPr/>
          <p:nvPr/>
        </p:nvSpPr>
        <p:spPr>
          <a:xfrm>
            <a:off x="4450080" y="3035808"/>
            <a:ext cx="2831592" cy="384048"/>
          </a:xfrm>
          <a:prstGeom prst="rect">
            <a:avLst/>
          </a:prstGeom>
          <a:noFill/>
          <a:ln/>
        </p:spPr>
        <p:txBody>
          <a:bodyPr wrap="square" lIns="0" tIns="0" rIns="0" bIns="0" rtlCol="0" anchor="ctr"/>
          <a:lstStyle/>
          <a:p>
            <a:pPr rtl="1" algn="r" indent="0" marL="0">
              <a:buNone/>
            </a:pPr>
            <a:r>
              <a:rPr lang="en-US" sz="1550" b="1" dirty="0">
                <a:solidFill>
                  <a:srgbClr val="1B2A49"/>
                </a:solidFill>
                <a:latin typeface="Tahoma" pitchFamily="34" charset="0"/>
                <a:ea typeface="Tahoma" pitchFamily="34" charset="-122"/>
                <a:cs typeface="Tahoma" pitchFamily="34" charset="-120"/>
              </a:rPr>
              <a:t>تاریخ و مبلغ</a:t>
            </a:r>
            <a:endParaRPr lang="en-US" sz="1550" dirty="0"/>
          </a:p>
        </p:txBody>
      </p:sp>
      <p:sp>
        <p:nvSpPr>
          <p:cNvPr id="27" name="Text 25"/>
          <p:cNvSpPr/>
          <p:nvPr/>
        </p:nvSpPr>
        <p:spPr>
          <a:xfrm>
            <a:off x="4468368" y="3538728"/>
            <a:ext cx="3252216" cy="594360"/>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تاریخ‌ها شمسی و مبالغ به ریال‌اند، مگر خلافش نوشته شده باشد.</a:t>
            </a:r>
            <a:endParaRPr lang="en-US" sz="1200" dirty="0"/>
          </a:p>
        </p:txBody>
      </p:sp>
      <p:sp>
        <p:nvSpPr>
          <p:cNvPr id="28" name="Shape 26"/>
          <p:cNvSpPr/>
          <p:nvPr/>
        </p:nvSpPr>
        <p:spPr>
          <a:xfrm>
            <a:off x="411480" y="2852928"/>
            <a:ext cx="3654552" cy="1371600"/>
          </a:xfrm>
          <a:prstGeom prst="roundRect">
            <a:avLst>
              <a:gd name="adj" fmla="val 6667"/>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9" name="Shape 27"/>
          <p:cNvSpPr/>
          <p:nvPr/>
        </p:nvSpPr>
        <p:spPr>
          <a:xfrm>
            <a:off x="3517392" y="3035808"/>
            <a:ext cx="384048" cy="384048"/>
          </a:xfrm>
          <a:prstGeom prst="ellipse">
            <a:avLst/>
          </a:prstGeom>
          <a:solidFill>
            <a:srgbClr val="C9A227"/>
          </a:solidFill>
          <a:ln w="12700">
            <a:solidFill>
              <a:srgbClr val="C9A227"/>
            </a:solidFill>
            <a:prstDash val="solid"/>
          </a:ln>
        </p:spPr>
      </p:sp>
      <p:sp>
        <p:nvSpPr>
          <p:cNvPr id="30" name="Text 28"/>
          <p:cNvSpPr/>
          <p:nvPr/>
        </p:nvSpPr>
        <p:spPr>
          <a:xfrm>
            <a:off x="3517392" y="3035808"/>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۶</a:t>
            </a:r>
            <a:endParaRPr lang="en-US" sz="1300" dirty="0"/>
          </a:p>
        </p:txBody>
      </p:sp>
      <p:sp>
        <p:nvSpPr>
          <p:cNvPr id="31" name="Text 29"/>
          <p:cNvSpPr/>
          <p:nvPr/>
        </p:nvSpPr>
        <p:spPr>
          <a:xfrm>
            <a:off x="594360" y="3035808"/>
            <a:ext cx="2831592" cy="384048"/>
          </a:xfrm>
          <a:prstGeom prst="rect">
            <a:avLst/>
          </a:prstGeom>
          <a:noFill/>
          <a:ln/>
        </p:spPr>
        <p:txBody>
          <a:bodyPr wrap="square" lIns="0" tIns="0" rIns="0" bIns="0" rtlCol="0" anchor="ctr"/>
          <a:lstStyle/>
          <a:p>
            <a:pPr rtl="1" algn="r" indent="0" marL="0">
              <a:buNone/>
            </a:pPr>
            <a:r>
              <a:rPr lang="en-US" sz="1550" b="1" dirty="0">
                <a:solidFill>
                  <a:srgbClr val="1B2A49"/>
                </a:solidFill>
                <a:latin typeface="Tahoma" pitchFamily="34" charset="0"/>
                <a:ea typeface="Tahoma" pitchFamily="34" charset="-122"/>
                <a:cs typeface="Tahoma" pitchFamily="34" charset="-120"/>
              </a:rPr>
              <a:t>دکمهٔ غیرفعال</a:t>
            </a:r>
            <a:endParaRPr lang="en-US" sz="1550" dirty="0"/>
          </a:p>
        </p:txBody>
      </p:sp>
      <p:sp>
        <p:nvSpPr>
          <p:cNvPr id="32" name="Text 30"/>
          <p:cNvSpPr/>
          <p:nvPr/>
        </p:nvSpPr>
        <p:spPr>
          <a:xfrm>
            <a:off x="612648" y="3538728"/>
            <a:ext cx="3252216" cy="594360"/>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نشانگر را روی آن نگه دارید تا علت غیرفعال بودنش را ببینید.</a:t>
            </a:r>
            <a:endParaRPr lang="en-US" sz="1200" dirty="0"/>
          </a:p>
        </p:txBody>
      </p:sp>
      <p:sp>
        <p:nvSpPr>
          <p:cNvPr id="33" name="Text 3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۱۴</a:t>
            </a:r>
            <a:endParaRPr lang="en-US" sz="1000" dirty="0"/>
          </a:p>
        </p:txBody>
      </p:sp>
      <p:sp>
        <p:nvSpPr>
          <p:cNvPr id="34" name="Text 3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مبانی و شروع کار</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3" name="Image 0" descr="bs_menu">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۲</a:t>
            </a:r>
            <a:endParaRPr lang="en-US" sz="4000" dirty="0"/>
          </a:p>
        </p:txBody>
      </p:sp>
      <p:sp>
        <p:nvSpPr>
          <p:cNvPr id="6" name="Text 3"/>
          <p:cNvSpPr/>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۲</a:t>
            </a:r>
            <a:endParaRPr lang="en-US" sz="1800" dirty="0"/>
          </a:p>
        </p:txBody>
      </p:sp>
      <p:sp>
        <p:nvSpPr>
          <p:cNvPr id="7" name="Text 4"/>
          <p:cNvSpPr/>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600" b="1" dirty="0">
                <a:solidFill>
                  <a:srgbClr val="FFFFFF"/>
                </a:solidFill>
                <a:latin typeface="Tahoma" pitchFamily="34" charset="0"/>
                <a:ea typeface="Tahoma" pitchFamily="34" charset="-122"/>
                <a:cs typeface="Tahoma" pitchFamily="34" charset="-120"/>
              </a:rPr>
              <a:t>اطلاعات پایه</a:t>
            </a:r>
            <a:endParaRPr lang="en-US" sz="3600" dirty="0"/>
          </a:p>
        </p:txBody>
      </p:sp>
      <p:sp>
        <p:nvSpPr>
          <p:cNvPr id="8" name="Text 5"/>
          <p:cNvSpPr/>
          <p:nvPr/>
        </p:nvSpPr>
        <p:spPr>
          <a:xfrm>
            <a:off x="5120640" y="4206240"/>
            <a:ext cx="6629400" cy="1463040"/>
          </a:xfrm>
          <a:prstGeom prst="rect">
            <a:avLst/>
          </a:prstGeom>
          <a:noFill/>
          <a:ln/>
        </p:spPr>
        <p:txBody>
          <a:bodyPr wrap="square" lIns="0" tIns="0" rIns="0" bIns="0" rtlCol="0" anchor="t"/>
          <a:lstStyle/>
          <a:p>
            <a:pPr rtl="1" algn="r" indent="0" marL="0">
              <a:buNone/>
            </a:pPr>
            <a:r>
              <a:rPr lang="en-US" sz="1600" dirty="0">
                <a:solidFill>
                  <a:srgbClr val="C9D3E6"/>
                </a:solidFill>
                <a:latin typeface="Tahoma" pitchFamily="34" charset="0"/>
                <a:ea typeface="Tahoma" pitchFamily="34" charset="-122"/>
                <a:cs typeface="Tahoma" pitchFamily="34" charset="-120"/>
              </a:rPr>
              <a:t>پیش از ثبت اولین سند، «شناسنامهٔ» حساب‌های سازمان را می‌سازیم: سال مالی، کدینگ، تفصیلی‌ها، بانک و دسترسی‌ها.</a:t>
            </a:r>
            <a:endParaRPr lang="en-US" sz="1600" dirty="0"/>
          </a:p>
        </p:txBody>
      </p:sp>
      <p:sp>
        <p:nvSpPr>
          <p:cNvPr id="9" name="Text 6"/>
          <p:cNvSpPr/>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ترتیب راه‌اندازی یک سازمان تازه</a:t>
            </a:r>
            <a:endParaRPr lang="en-US" sz="2500" dirty="0"/>
          </a:p>
        </p:txBody>
      </p:sp>
      <p:sp>
        <p:nvSpPr>
          <p:cNvPr id="3" name="Shape 1"/>
          <p:cNvSpPr/>
          <p:nvPr/>
        </p:nvSpPr>
        <p:spPr>
          <a:xfrm>
            <a:off x="10157460"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10693146" y="1691640"/>
            <a:ext cx="548640" cy="548640"/>
          </a:xfrm>
          <a:prstGeom prst="ellipse">
            <a:avLst/>
          </a:prstGeom>
          <a:solidFill>
            <a:srgbClr val="C9A227"/>
          </a:solidFill>
          <a:ln w="12700">
            <a:solidFill>
              <a:srgbClr val="C9A227"/>
            </a:solidFill>
            <a:prstDash val="solid"/>
          </a:ln>
        </p:spPr>
      </p:sp>
      <p:sp>
        <p:nvSpPr>
          <p:cNvPr id="5" name="Text 3"/>
          <p:cNvSpPr/>
          <p:nvPr/>
        </p:nvSpPr>
        <p:spPr>
          <a:xfrm>
            <a:off x="1069314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p:nvPr/>
        </p:nvSpPr>
        <p:spPr>
          <a:xfrm>
            <a:off x="10248900"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سال مالی</a:t>
            </a:r>
            <a:endParaRPr lang="en-US" sz="1550" dirty="0"/>
          </a:p>
        </p:txBody>
      </p:sp>
      <p:sp>
        <p:nvSpPr>
          <p:cNvPr id="7" name="Text 5"/>
          <p:cNvSpPr/>
          <p:nvPr/>
        </p:nvSpPr>
        <p:spPr>
          <a:xfrm>
            <a:off x="10248900"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سالی که سندها در آن ثبت می‌شوند</a:t>
            </a:r>
            <a:endParaRPr lang="en-US" sz="1200" dirty="0"/>
          </a:p>
        </p:txBody>
      </p:sp>
      <p:sp>
        <p:nvSpPr>
          <p:cNvPr id="8" name="Text 6"/>
          <p:cNvSpPr/>
          <p:nvPr/>
        </p:nvSpPr>
        <p:spPr>
          <a:xfrm>
            <a:off x="9828276"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9" name="Shape 7"/>
          <p:cNvSpPr/>
          <p:nvPr/>
        </p:nvSpPr>
        <p:spPr>
          <a:xfrm>
            <a:off x="8208264"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8743950" y="1691640"/>
            <a:ext cx="548640" cy="548640"/>
          </a:xfrm>
          <a:prstGeom prst="ellipse">
            <a:avLst/>
          </a:prstGeom>
          <a:solidFill>
            <a:srgbClr val="C9A227"/>
          </a:solidFill>
          <a:ln w="12700">
            <a:solidFill>
              <a:srgbClr val="C9A227"/>
            </a:solidFill>
            <a:prstDash val="solid"/>
          </a:ln>
        </p:spPr>
      </p:sp>
      <p:sp>
        <p:nvSpPr>
          <p:cNvPr id="11" name="Text 9"/>
          <p:cNvSpPr/>
          <p:nvPr/>
        </p:nvSpPr>
        <p:spPr>
          <a:xfrm>
            <a:off x="8743950"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2" name="Text 10"/>
          <p:cNvSpPr/>
          <p:nvPr/>
        </p:nvSpPr>
        <p:spPr>
          <a:xfrm>
            <a:off x="8299704"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کدینگ</a:t>
            </a:r>
            <a:endParaRPr lang="en-US" sz="1550" dirty="0"/>
          </a:p>
        </p:txBody>
      </p:sp>
      <p:sp>
        <p:nvSpPr>
          <p:cNvPr id="13" name="Text 11"/>
          <p:cNvSpPr/>
          <p:nvPr/>
        </p:nvSpPr>
        <p:spPr>
          <a:xfrm>
            <a:off x="8299704"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گروه ← کل ← معین</a:t>
            </a:r>
            <a:endParaRPr lang="en-US" sz="1200" dirty="0"/>
          </a:p>
        </p:txBody>
      </p:sp>
      <p:sp>
        <p:nvSpPr>
          <p:cNvPr id="14" name="Text 12"/>
          <p:cNvSpPr/>
          <p:nvPr/>
        </p:nvSpPr>
        <p:spPr>
          <a:xfrm>
            <a:off x="7879080"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15" name="Shape 13"/>
          <p:cNvSpPr/>
          <p:nvPr/>
        </p:nvSpPr>
        <p:spPr>
          <a:xfrm>
            <a:off x="6259068"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6" name="Shape 14"/>
          <p:cNvSpPr/>
          <p:nvPr/>
        </p:nvSpPr>
        <p:spPr>
          <a:xfrm>
            <a:off x="6794754" y="1691640"/>
            <a:ext cx="548640" cy="548640"/>
          </a:xfrm>
          <a:prstGeom prst="ellipse">
            <a:avLst/>
          </a:prstGeom>
          <a:solidFill>
            <a:srgbClr val="C9A227"/>
          </a:solidFill>
          <a:ln w="12700">
            <a:solidFill>
              <a:srgbClr val="C9A227"/>
            </a:solidFill>
            <a:prstDash val="solid"/>
          </a:ln>
        </p:spPr>
      </p:sp>
      <p:sp>
        <p:nvSpPr>
          <p:cNvPr id="17" name="Text 15"/>
          <p:cNvSpPr/>
          <p:nvPr/>
        </p:nvSpPr>
        <p:spPr>
          <a:xfrm>
            <a:off x="6794754"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8" name="Text 16"/>
          <p:cNvSpPr/>
          <p:nvPr/>
        </p:nvSpPr>
        <p:spPr>
          <a:xfrm>
            <a:off x="6350508"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تفصیلی</a:t>
            </a:r>
            <a:endParaRPr lang="en-US" sz="1550" dirty="0"/>
          </a:p>
        </p:txBody>
      </p:sp>
      <p:sp>
        <p:nvSpPr>
          <p:cNvPr id="19" name="Text 17"/>
          <p:cNvSpPr/>
          <p:nvPr/>
        </p:nvSpPr>
        <p:spPr>
          <a:xfrm>
            <a:off x="6350508"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گروه‌ها، سطوح و اقلام تفصیلی</a:t>
            </a:r>
            <a:endParaRPr lang="en-US" sz="1200" dirty="0"/>
          </a:p>
        </p:txBody>
      </p:sp>
      <p:sp>
        <p:nvSpPr>
          <p:cNvPr id="20" name="Text 18"/>
          <p:cNvSpPr/>
          <p:nvPr/>
        </p:nvSpPr>
        <p:spPr>
          <a:xfrm>
            <a:off x="5929884"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1" name="Shape 19"/>
          <p:cNvSpPr/>
          <p:nvPr/>
        </p:nvSpPr>
        <p:spPr>
          <a:xfrm>
            <a:off x="4309872"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2" name="Shape 20"/>
          <p:cNvSpPr/>
          <p:nvPr/>
        </p:nvSpPr>
        <p:spPr>
          <a:xfrm>
            <a:off x="4845558" y="1691640"/>
            <a:ext cx="548640" cy="548640"/>
          </a:xfrm>
          <a:prstGeom prst="ellipse">
            <a:avLst/>
          </a:prstGeom>
          <a:solidFill>
            <a:srgbClr val="C9A227"/>
          </a:solidFill>
          <a:ln w="12700">
            <a:solidFill>
              <a:srgbClr val="C9A227"/>
            </a:solidFill>
            <a:prstDash val="solid"/>
          </a:ln>
        </p:spPr>
      </p:sp>
      <p:sp>
        <p:nvSpPr>
          <p:cNvPr id="23" name="Text 21"/>
          <p:cNvSpPr/>
          <p:nvPr/>
        </p:nvSpPr>
        <p:spPr>
          <a:xfrm>
            <a:off x="4845558"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۴</a:t>
            </a:r>
            <a:endParaRPr lang="en-US" sz="1800" dirty="0"/>
          </a:p>
        </p:txBody>
      </p:sp>
      <p:sp>
        <p:nvSpPr>
          <p:cNvPr id="24" name="Text 22"/>
          <p:cNvSpPr/>
          <p:nvPr/>
        </p:nvSpPr>
        <p:spPr>
          <a:xfrm>
            <a:off x="4401312"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ارتباط معین و تفصیلی</a:t>
            </a:r>
            <a:endParaRPr lang="en-US" sz="1550" dirty="0"/>
          </a:p>
        </p:txBody>
      </p:sp>
      <p:sp>
        <p:nvSpPr>
          <p:cNvPr id="25" name="Text 23"/>
          <p:cNvSpPr/>
          <p:nvPr/>
        </p:nvSpPr>
        <p:spPr>
          <a:xfrm>
            <a:off x="4401312"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هر معین کدام تفصیلی را بخواهد</a:t>
            </a:r>
            <a:endParaRPr lang="en-US" sz="1200" dirty="0"/>
          </a:p>
        </p:txBody>
      </p:sp>
      <p:sp>
        <p:nvSpPr>
          <p:cNvPr id="26" name="Text 24"/>
          <p:cNvSpPr/>
          <p:nvPr/>
        </p:nvSpPr>
        <p:spPr>
          <a:xfrm>
            <a:off x="3980688"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7" name="Shape 25"/>
          <p:cNvSpPr/>
          <p:nvPr/>
        </p:nvSpPr>
        <p:spPr>
          <a:xfrm>
            <a:off x="2360676"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8" name="Shape 26"/>
          <p:cNvSpPr/>
          <p:nvPr/>
        </p:nvSpPr>
        <p:spPr>
          <a:xfrm>
            <a:off x="2896362" y="1691640"/>
            <a:ext cx="548640" cy="548640"/>
          </a:xfrm>
          <a:prstGeom prst="ellipse">
            <a:avLst/>
          </a:prstGeom>
          <a:solidFill>
            <a:srgbClr val="C9A227"/>
          </a:solidFill>
          <a:ln w="12700">
            <a:solidFill>
              <a:srgbClr val="C9A227"/>
            </a:solidFill>
            <a:prstDash val="solid"/>
          </a:ln>
        </p:spPr>
      </p:sp>
      <p:sp>
        <p:nvSpPr>
          <p:cNvPr id="29" name="Text 27"/>
          <p:cNvSpPr/>
          <p:nvPr/>
        </p:nvSpPr>
        <p:spPr>
          <a:xfrm>
            <a:off x="2896362"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۵</a:t>
            </a:r>
            <a:endParaRPr lang="en-US" sz="1800" dirty="0"/>
          </a:p>
        </p:txBody>
      </p:sp>
      <p:sp>
        <p:nvSpPr>
          <p:cNvPr id="30" name="Text 28"/>
          <p:cNvSpPr/>
          <p:nvPr/>
        </p:nvSpPr>
        <p:spPr>
          <a:xfrm>
            <a:off x="2452116"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بانک، ویژگی، کارگاه</a:t>
            </a:r>
            <a:endParaRPr lang="en-US" sz="1550" dirty="0"/>
          </a:p>
        </p:txBody>
      </p:sp>
      <p:sp>
        <p:nvSpPr>
          <p:cNvPr id="31" name="Text 29"/>
          <p:cNvSpPr/>
          <p:nvPr/>
        </p:nvSpPr>
        <p:spPr>
          <a:xfrm>
            <a:off x="2452116"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اطلاعات تکمیلی حساب‌ها</a:t>
            </a:r>
            <a:endParaRPr lang="en-US" sz="1200" dirty="0"/>
          </a:p>
        </p:txBody>
      </p:sp>
      <p:sp>
        <p:nvSpPr>
          <p:cNvPr id="32" name="Text 30"/>
          <p:cNvSpPr/>
          <p:nvPr/>
        </p:nvSpPr>
        <p:spPr>
          <a:xfrm>
            <a:off x="2031492"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33" name="Shape 31"/>
          <p:cNvSpPr/>
          <p:nvPr/>
        </p:nvSpPr>
        <p:spPr>
          <a:xfrm>
            <a:off x="411480" y="1965960"/>
            <a:ext cx="1620012" cy="2103120"/>
          </a:xfrm>
          <a:prstGeom prst="roundRect">
            <a:avLst>
              <a:gd name="adj" fmla="val 6773"/>
            </a:avLst>
          </a:prstGeom>
          <a:solidFill>
            <a:srgbClr val="1B2A49"/>
          </a:solidFill>
          <a:ln w="9525">
            <a:solidFill>
              <a:srgbClr val="1B2A49"/>
            </a:solidFill>
            <a:prstDash val="solid"/>
          </a:ln>
          <a:effectLst>
            <a:outerShdw sx="100000" sy="100000" kx="0" ky="0" algn="bl" rotWithShape="0" blurRad="76200" dist="25400" dir="5400000">
              <a:srgbClr val="000000">
                <a:alpha val="12000"/>
              </a:srgbClr>
            </a:outerShdw>
          </a:effectLst>
        </p:spPr>
      </p:sp>
      <p:sp>
        <p:nvSpPr>
          <p:cNvPr id="34" name="Shape 32"/>
          <p:cNvSpPr/>
          <p:nvPr/>
        </p:nvSpPr>
        <p:spPr>
          <a:xfrm>
            <a:off x="947166" y="1691640"/>
            <a:ext cx="548640" cy="548640"/>
          </a:xfrm>
          <a:prstGeom prst="ellipse">
            <a:avLst/>
          </a:prstGeom>
          <a:solidFill>
            <a:srgbClr val="C9A227"/>
          </a:solidFill>
          <a:ln w="12700">
            <a:solidFill>
              <a:srgbClr val="C9A227"/>
            </a:solidFill>
            <a:prstDash val="solid"/>
          </a:ln>
        </p:spPr>
      </p:sp>
      <p:sp>
        <p:nvSpPr>
          <p:cNvPr id="35" name="Text 33"/>
          <p:cNvSpPr/>
          <p:nvPr/>
        </p:nvSpPr>
        <p:spPr>
          <a:xfrm>
            <a:off x="94716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۶</a:t>
            </a:r>
            <a:endParaRPr lang="en-US" sz="1800" dirty="0"/>
          </a:p>
        </p:txBody>
      </p:sp>
      <p:sp>
        <p:nvSpPr>
          <p:cNvPr id="36" name="Text 34"/>
          <p:cNvSpPr/>
          <p:nvPr/>
        </p:nvSpPr>
        <p:spPr>
          <a:xfrm>
            <a:off x="502920" y="2377440"/>
            <a:ext cx="1437132" cy="731520"/>
          </a:xfrm>
          <a:prstGeom prst="rect">
            <a:avLst/>
          </a:prstGeom>
          <a:noFill/>
          <a:ln/>
        </p:spPr>
        <p:txBody>
          <a:bodyPr wrap="square" lIns="0" tIns="0" rIns="0" bIns="0" rtlCol="0" anchor="ctr"/>
          <a:lstStyle/>
          <a:p>
            <a:pPr rtl="1" algn="ctr" indent="0" marL="0">
              <a:buNone/>
            </a:pPr>
            <a:r>
              <a:rPr lang="en-US" sz="1550" b="1" dirty="0">
                <a:solidFill>
                  <a:srgbClr val="FFFFFF"/>
                </a:solidFill>
                <a:latin typeface="Tahoma" pitchFamily="34" charset="0"/>
                <a:ea typeface="Tahoma" pitchFamily="34" charset="-122"/>
                <a:cs typeface="Tahoma" pitchFamily="34" charset="-120"/>
              </a:rPr>
              <a:t>دسترسی‌ها و رابط‌ها</a:t>
            </a:r>
            <a:endParaRPr lang="en-US" sz="1550" dirty="0"/>
          </a:p>
        </p:txBody>
      </p:sp>
      <p:sp>
        <p:nvSpPr>
          <p:cNvPr id="37" name="Text 35"/>
          <p:cNvSpPr/>
          <p:nvPr/>
        </p:nvSpPr>
        <p:spPr>
          <a:xfrm>
            <a:off x="502920" y="3108960"/>
            <a:ext cx="1437132" cy="868680"/>
          </a:xfrm>
          <a:prstGeom prst="rect">
            <a:avLst/>
          </a:prstGeom>
          <a:noFill/>
          <a:ln/>
        </p:spPr>
        <p:txBody>
          <a:bodyPr wrap="square" lIns="0" tIns="0" rIns="0" bIns="0" rtlCol="0" anchor="t"/>
          <a:lstStyle/>
          <a:p>
            <a:pPr rtl="1" algn="ctr" indent="0" marL="0">
              <a:buNone/>
            </a:pPr>
            <a:r>
              <a:rPr lang="en-US" sz="1200" dirty="0">
                <a:solidFill>
                  <a:srgbClr val="C9D3E6"/>
                </a:solidFill>
                <a:latin typeface="Tahoma" pitchFamily="34" charset="0"/>
                <a:ea typeface="Tahoma" pitchFamily="34" charset="-122"/>
                <a:cs typeface="Tahoma" pitchFamily="34" charset="-120"/>
              </a:rPr>
              <a:t>چه کسی چه چیزی ببیند؛ رابط پایان سال</a:t>
            </a:r>
            <a:endParaRPr lang="en-US" sz="1200" dirty="0"/>
          </a:p>
        </p:txBody>
      </p:sp>
      <p:sp>
        <p:nvSpPr>
          <p:cNvPr id="38" name="Shape 36"/>
          <p:cNvSpPr/>
          <p:nvPr/>
        </p:nvSpPr>
        <p:spPr>
          <a:xfrm>
            <a:off x="411480" y="4526280"/>
            <a:ext cx="11365992" cy="914400"/>
          </a:xfrm>
          <a:prstGeom prst="roundRect">
            <a:avLst>
              <a:gd name="adj" fmla="val 8000"/>
            </a:avLst>
          </a:prstGeom>
          <a:solidFill>
            <a:srgbClr val="F6EDCF"/>
          </a:solidFill>
          <a:ln w="9525">
            <a:solidFill>
              <a:srgbClr val="C9A227"/>
            </a:solidFill>
            <a:prstDash val="solid"/>
          </a:ln>
        </p:spPr>
      </p:sp>
      <p:sp>
        <p:nvSpPr>
          <p:cNvPr id="39" name="Text 37"/>
          <p:cNvSpPr/>
          <p:nvPr/>
        </p:nvSpPr>
        <p:spPr>
          <a:xfrm>
            <a:off x="10863072" y="4526280"/>
            <a:ext cx="822960" cy="91440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40" name="Text 38"/>
          <p:cNvSpPr/>
          <p:nvPr/>
        </p:nvSpPr>
        <p:spPr>
          <a:xfrm>
            <a:off x="548640" y="4526280"/>
            <a:ext cx="10241280" cy="91440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این فصل به همین ترتیب جلو می‌رود. بیشتر این کارها یک بار و معمولاً توسط مدیر مالی ستاد انجام می‌شود؛ کاربر عادی بیشتر از آن‌ها «استفاده» می‌کند.</a:t>
            </a:r>
            <a:endParaRPr lang="en-US" sz="1250" dirty="0"/>
          </a:p>
        </p:txBody>
      </p:sp>
      <p:sp>
        <p:nvSpPr>
          <p:cNvPr id="41" name="Text 3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۱۶</a:t>
            </a:r>
            <a:endParaRPr lang="en-US" sz="1000" dirty="0"/>
          </a:p>
        </p:txBody>
      </p:sp>
      <p:sp>
        <p:nvSpPr>
          <p:cNvPr id="42" name="Text 4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کدینگ حسابداری؛ مثل یک کمد بایگانی</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هر مبلغی که جابه‌جا می‌شود باید در «حسابی» نوشته شود. کدینگ فهرست مرتب همهٔ حساب‌هاست، در سه طبقه؛ درست مثل کمد بایگانی: کشو، پوشه، برگه.</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گروه = کشو (۲ رقم)</a:t>
            </a:r>
            <a:endParaRPr lang="en-US" sz="1350" dirty="0"/>
          </a:p>
        </p:txBody>
      </p:sp>
      <p:sp>
        <p:nvSpPr>
          <p:cNvPr id="8" name="Text 6"/>
          <p:cNvSpPr/>
          <p:nvPr/>
        </p:nvSpPr>
        <p:spPr>
          <a:xfrm>
            <a:off x="5440680" y="2621356"/>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دسته‌های بزرگ مثل «موجودی نقد» یا «هزینه‌های اداری و عمومی».</a:t>
            </a:r>
            <a:endParaRPr lang="en-US" sz="1300" dirty="0"/>
          </a:p>
        </p:txBody>
      </p:sp>
      <p:sp>
        <p:nvSpPr>
          <p:cNvPr id="9" name="Shape 7"/>
          <p:cNvSpPr/>
          <p:nvPr/>
        </p:nvSpPr>
        <p:spPr>
          <a:xfrm>
            <a:off x="11411712" y="29628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29628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29628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کل = پوشه (۴ رقم)</a:t>
            </a:r>
            <a:endParaRPr lang="en-US" sz="1350" dirty="0"/>
          </a:p>
        </p:txBody>
      </p:sp>
      <p:sp>
        <p:nvSpPr>
          <p:cNvPr id="12" name="Text 10"/>
          <p:cNvSpPr/>
          <p:nvPr/>
        </p:nvSpPr>
        <p:spPr>
          <a:xfrm>
            <a:off x="5440680" y="3292069"/>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داخل هر گروه؛ دو رقم اولش کد گروه است، مثل ۱۱۰۲ «بانک‌ها» زیر ۱۱.</a:t>
            </a:r>
            <a:endParaRPr lang="en-US" sz="1300" dirty="0"/>
          </a:p>
        </p:txBody>
      </p:sp>
      <p:sp>
        <p:nvSpPr>
          <p:cNvPr id="13" name="Shape 11"/>
          <p:cNvSpPr/>
          <p:nvPr/>
        </p:nvSpPr>
        <p:spPr>
          <a:xfrm>
            <a:off x="11411712" y="3633597"/>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363359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3633597"/>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معین = برگه (۶ رقم)</a:t>
            </a:r>
            <a:endParaRPr lang="en-US" sz="1350" dirty="0"/>
          </a:p>
        </p:txBody>
      </p:sp>
      <p:sp>
        <p:nvSpPr>
          <p:cNvPr id="16" name="Text 14"/>
          <p:cNvSpPr/>
          <p:nvPr/>
        </p:nvSpPr>
        <p:spPr>
          <a:xfrm>
            <a:off x="5440680" y="3962781"/>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حسابی که در سند انتخاب می‌کنید؛ چهار رقم اولش کد کل است.</a:t>
            </a:r>
            <a:endParaRPr lang="en-US" sz="1300" dirty="0"/>
          </a:p>
        </p:txBody>
      </p:sp>
      <p:sp>
        <p:nvSpPr>
          <p:cNvPr id="17" name="Shape 15"/>
          <p:cNvSpPr/>
          <p:nvPr/>
        </p:nvSpPr>
        <p:spPr>
          <a:xfrm>
            <a:off x="11411712" y="4304309"/>
            <a:ext cx="329184" cy="329184"/>
          </a:xfrm>
          <a:prstGeom prst="ellipse">
            <a:avLst/>
          </a:prstGeom>
          <a:solidFill>
            <a:srgbClr val="C9A227"/>
          </a:solidFill>
          <a:ln w="12700">
            <a:solidFill>
              <a:srgbClr val="C9A227"/>
            </a:solidFill>
            <a:prstDash val="solid"/>
          </a:ln>
        </p:spPr>
      </p:sp>
      <p:sp>
        <p:nvSpPr>
          <p:cNvPr id="18" name="Text 16"/>
          <p:cNvSpPr/>
          <p:nvPr/>
        </p:nvSpPr>
        <p:spPr>
          <a:xfrm>
            <a:off x="11411712" y="430430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7"/>
          <p:cNvSpPr/>
          <p:nvPr/>
        </p:nvSpPr>
        <p:spPr>
          <a:xfrm>
            <a:off x="5440680" y="4304309"/>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تفصیلی = نام روی برگه</a:t>
            </a:r>
            <a:endParaRPr lang="en-US" sz="1350" dirty="0"/>
          </a:p>
        </p:txBody>
      </p:sp>
      <p:sp>
        <p:nvSpPr>
          <p:cNvPr id="20" name="Text 18"/>
          <p:cNvSpPr/>
          <p:nvPr/>
        </p:nvSpPr>
        <p:spPr>
          <a:xfrm>
            <a:off x="5440680" y="4633493"/>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دقیقاً «کدام» بانک، شخص یا مرکز هزینه؛ جدا تعریف و به معین وصل می‌شود.</a:t>
            </a:r>
            <a:endParaRPr lang="en-US" sz="1300" dirty="0"/>
          </a:p>
        </p:txBody>
      </p:sp>
      <p:sp>
        <p:nvSpPr>
          <p:cNvPr id="21" name="Shape 19"/>
          <p:cNvSpPr/>
          <p:nvPr/>
        </p:nvSpPr>
        <p:spPr>
          <a:xfrm>
            <a:off x="411480" y="1097280"/>
            <a:ext cx="4754880" cy="3161081"/>
          </a:xfrm>
          <a:prstGeom prst="roundRect">
            <a:avLst>
              <a:gd name="adj" fmla="val 2893"/>
            </a:avLst>
          </a:prstGeom>
          <a:solidFill>
            <a:srgbClr val="E3F3EA"/>
          </a:solidFill>
          <a:ln w="9525">
            <a:solidFill>
              <a:srgbClr val="1E7A4C"/>
            </a:solidFill>
            <a:prstDash val="solid"/>
          </a:ln>
        </p:spPr>
      </p:sp>
      <p:sp>
        <p:nvSpPr>
          <p:cNvPr id="22" name="Text 20"/>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مثال: حساب جاری ستاد در بانک ملی</a:t>
            </a:r>
            <a:endParaRPr lang="en-US" sz="1500" dirty="0"/>
          </a:p>
        </p:txBody>
      </p:sp>
      <p:sp>
        <p:nvSpPr>
          <p:cNvPr id="23" name="Text 21"/>
          <p:cNvSpPr/>
          <p:nvPr/>
        </p:nvSpPr>
        <p:spPr>
          <a:xfrm>
            <a:off x="594360" y="1691640"/>
            <a:ext cx="4389120" cy="5550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وقتی ستاد مرکزی از حساب جاری بانک ملی پول می‌پردازد، این مسیر انتخاب می‌شود:</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94360" y="2383841"/>
          <a:ext cx="4389120" cy="914400"/>
        </p:xfrm>
        <a:graphic>
          <a:graphicData uri="http://schemas.openxmlformats.org/drawingml/2006/table">
            <a:tbl>
              <a:tblPr rtl="1"/>
              <a:tblGrid>
                <a:gridCol w="2194560"/>
                <a:gridCol w="1097280"/>
                <a:gridCol w="1097280"/>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سطح</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کد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عنوان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گروه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11</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موجودی نقد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کل</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1102</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بانک‌ها</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معین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110201</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بانک‌ها — حساب جاری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تفصیلی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30001</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بانک ملی — جاری ۰۱۰۵۴۷۸۹۱۲۳۴</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bl>
          </a:graphicData>
        </a:graphic>
      </p:graphicFrame>
      <p:sp>
        <p:nvSpPr>
          <p:cNvPr id="25" name="Text 2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۱۷</a:t>
            </a:r>
            <a:endParaRPr lang="en-US" sz="1000" dirty="0"/>
          </a:p>
        </p:txBody>
      </p:sp>
      <p:sp>
        <p:nvSpPr>
          <p:cNvPr id="26" name="Text 2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چرا «تفصیلی» لازم است؟</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سازمان به ده‌ها پیمانکار بدهکار است. اگر برای هر کدام یک معین بسازیم، کدینگ شلوغ می‌شود. پس یک معین «پرداختنی‌های تجاری (پیمانکاران)» داریم و نام هر شرکت را «تفصیلی» آن می‌گذاریم.</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گروه تفصیلی</a:t>
            </a:r>
            <a:endParaRPr lang="en-US" sz="1350" dirty="0"/>
          </a:p>
        </p:txBody>
      </p:sp>
      <p:sp>
        <p:nvSpPr>
          <p:cNvPr id="8" name="Text 6"/>
          <p:cNvSpPr/>
          <p:nvPr/>
        </p:nvSpPr>
        <p:spPr>
          <a:xfrm>
            <a:off x="5440680" y="2621356"/>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دسته‌ای از تفصیلی‌های هم‌جنس؛ مثل «اشخاص و شرکت‌ها» یا «مراکز هزینه».</a:t>
            </a:r>
            <a:endParaRPr lang="en-US" sz="1300" dirty="0"/>
          </a:p>
        </p:txBody>
      </p:sp>
      <p:sp>
        <p:nvSpPr>
          <p:cNvPr id="9" name="Shape 7"/>
          <p:cNvSpPr/>
          <p:nvPr/>
        </p:nvSpPr>
        <p:spPr>
          <a:xfrm>
            <a:off x="11411712" y="29628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29628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29628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سطح تفصیلی</a:t>
            </a:r>
            <a:endParaRPr lang="en-US" sz="1350" dirty="0"/>
          </a:p>
        </p:txBody>
      </p:sp>
      <p:sp>
        <p:nvSpPr>
          <p:cNvPr id="12" name="Text 10"/>
          <p:cNvSpPr/>
          <p:nvPr/>
        </p:nvSpPr>
        <p:spPr>
          <a:xfrm>
            <a:off x="5440680" y="3292069"/>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جایگاه پرسش در فرم سند: سطح ۱ «طرف حساب»، سطح ۲ «مرکز هزینه»، …</a:t>
            </a:r>
            <a:endParaRPr lang="en-US" sz="1300" dirty="0"/>
          </a:p>
        </p:txBody>
      </p:sp>
      <p:sp>
        <p:nvSpPr>
          <p:cNvPr id="13" name="Shape 11"/>
          <p:cNvSpPr/>
          <p:nvPr/>
        </p:nvSpPr>
        <p:spPr>
          <a:xfrm>
            <a:off x="11411712" y="3633597"/>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363359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3633597"/>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تفصیلی</a:t>
            </a:r>
            <a:endParaRPr lang="en-US" sz="1350" dirty="0"/>
          </a:p>
        </p:txBody>
      </p:sp>
      <p:sp>
        <p:nvSpPr>
          <p:cNvPr id="16" name="Text 14"/>
          <p:cNvSpPr/>
          <p:nvPr/>
        </p:nvSpPr>
        <p:spPr>
          <a:xfrm>
            <a:off x="5440680" y="3962781"/>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خود قلم: «۵۰۰۱۳ — شرکت تأسیسات نوین ساختمان».</a:t>
            </a:r>
            <a:endParaRPr lang="en-US" sz="1300" dirty="0"/>
          </a:p>
        </p:txBody>
      </p:sp>
      <p:sp>
        <p:nvSpPr>
          <p:cNvPr id="17" name="Shape 15"/>
          <p:cNvSpPr/>
          <p:nvPr/>
        </p:nvSpPr>
        <p:spPr>
          <a:xfrm>
            <a:off x="11411712" y="4304309"/>
            <a:ext cx="329184" cy="329184"/>
          </a:xfrm>
          <a:prstGeom prst="ellipse">
            <a:avLst/>
          </a:prstGeom>
          <a:solidFill>
            <a:srgbClr val="C9A227"/>
          </a:solidFill>
          <a:ln w="12700">
            <a:solidFill>
              <a:srgbClr val="C9A227"/>
            </a:solidFill>
            <a:prstDash val="solid"/>
          </a:ln>
        </p:spPr>
      </p:sp>
      <p:sp>
        <p:nvSpPr>
          <p:cNvPr id="18" name="Text 16"/>
          <p:cNvSpPr/>
          <p:nvPr/>
        </p:nvSpPr>
        <p:spPr>
          <a:xfrm>
            <a:off x="11411712" y="430430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7"/>
          <p:cNvSpPr/>
          <p:nvPr/>
        </p:nvSpPr>
        <p:spPr>
          <a:xfrm>
            <a:off x="5440680" y="4304309"/>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ارتباط معین</a:t>
            </a:r>
            <a:endParaRPr lang="en-US" sz="1350" dirty="0"/>
          </a:p>
        </p:txBody>
      </p:sp>
      <p:sp>
        <p:nvSpPr>
          <p:cNvPr id="20" name="Text 18"/>
          <p:cNvSpPr/>
          <p:nvPr/>
        </p:nvSpPr>
        <p:spPr>
          <a:xfrm>
            <a:off x="5440680" y="4633493"/>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می‌گوید این معین در هر سطح، تفصیلی را از کدام گروه بخواهد.</a:t>
            </a:r>
            <a:endParaRPr lang="en-US" sz="1300" dirty="0"/>
          </a:p>
        </p:txBody>
      </p:sp>
      <p:sp>
        <p:nvSpPr>
          <p:cNvPr id="21" name="Shape 19"/>
          <p:cNvSpPr/>
          <p:nvPr/>
        </p:nvSpPr>
        <p:spPr>
          <a:xfrm>
            <a:off x="411480" y="1097280"/>
            <a:ext cx="4754880" cy="3460547"/>
          </a:xfrm>
          <a:prstGeom prst="roundRect">
            <a:avLst>
              <a:gd name="adj" fmla="val 2642"/>
            </a:avLst>
          </a:prstGeom>
          <a:solidFill>
            <a:srgbClr val="E3F3EA"/>
          </a:solidFill>
          <a:ln w="9525">
            <a:solidFill>
              <a:srgbClr val="1E7A4C"/>
            </a:solidFill>
            <a:prstDash val="solid"/>
          </a:ln>
        </p:spPr>
      </p:sp>
      <p:sp>
        <p:nvSpPr>
          <p:cNvPr id="22" name="Text 20"/>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یک معین، چند طرف حساب</a:t>
            </a:r>
            <a:endParaRPr lang="en-US" sz="1500" dirty="0"/>
          </a:p>
        </p:txBody>
      </p:sp>
      <p:sp>
        <p:nvSpPr>
          <p:cNvPr id="23" name="Text 21"/>
          <p:cNvSpPr/>
          <p:nvPr/>
        </p:nvSpPr>
        <p:spPr>
          <a:xfrm>
            <a:off x="594360" y="1691640"/>
            <a:ext cx="4389120" cy="5550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بدهی ما به پیمانکاران، همه روی معین 310101 و جدا به تفکیک تفصیلی:</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94360" y="2383841"/>
          <a:ext cx="4389120" cy="914400"/>
        </p:xfrm>
        <a:graphic>
          <a:graphicData uri="http://schemas.openxmlformats.org/drawingml/2006/table">
            <a:tbl>
              <a:tblPr rtl="1"/>
              <a:tblGrid>
                <a:gridCol w="2194560"/>
                <a:gridCol w="1097280"/>
                <a:gridCol w="1097280"/>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معین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تفصیلی (سطح 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مانده بستانکار (ریال)</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310101</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شرکت خدمات رایانه‌ای پارس</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۴۹,۰۰۰,۰۰۰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310101</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شرکت تأسیسات نوین ساختمان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۲۱۵,۰۰۰,۰۰۰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310101</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مؤسسهٔ چاپ و نشر آریا</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۱۲,۵۰۰,۰۰۰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bl>
          </a:graphicData>
        </a:graphic>
      </p:graphicFrame>
      <p:sp>
        <p:nvSpPr>
          <p:cNvPr id="25" name="Text 22"/>
          <p:cNvSpPr/>
          <p:nvPr/>
        </p:nvSpPr>
        <p:spPr>
          <a:xfrm>
            <a:off x="594360" y="3837737"/>
            <a:ext cx="4389120" cy="62865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جمع معین ۲۷۶٬۵۰۰٬۰۰۰ ریال است و هر شرکت هم ماندهٔ جداگانهٔ خودش را دارد.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۱۸</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 — سال مالی تازه</a:t>
            </a:r>
            <a:endParaRPr lang="en-US" sz="2500" dirty="0"/>
          </a:p>
        </p:txBody>
      </p:sp>
      <p:sp>
        <p:nvSpPr>
          <p:cNvPr id="3" name="Shape 1"/>
          <p:cNvSpPr/>
          <p:nvPr/>
        </p:nvSpPr>
        <p:spPr>
          <a:xfrm>
            <a:off x="9349740" y="896112"/>
            <a:ext cx="242773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459468" y="896112"/>
            <a:ext cx="220827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سال مالی</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s_fy">    </p:cNvPr>
          <p:cNvPicPr>
            <a:picLocks noChangeAspect="1"/>
          </p:cNvPicPr>
          <p:nvPr/>
        </p:nvPicPr>
        <p:blipFill>
          <a:blip r:embed="rId1"/>
          <a:stretch>
            <a:fillRect/>
          </a:stretch>
        </p:blipFill>
        <p:spPr>
          <a:xfrm>
            <a:off x="484632" y="2228393"/>
            <a:ext cx="7077456" cy="3224174"/>
          </a:xfrm>
          <a:prstGeom prst="rect">
            <a:avLst/>
          </a:prstGeom>
        </p:spPr>
      </p:pic>
      <p:sp>
        <p:nvSpPr>
          <p:cNvPr id="7" name="Shape 4"/>
          <p:cNvSpPr/>
          <p:nvPr/>
        </p:nvSpPr>
        <p:spPr>
          <a:xfrm>
            <a:off x="7909560" y="5023714"/>
            <a:ext cx="3867912" cy="1331366"/>
          </a:xfrm>
          <a:prstGeom prst="roundRect">
            <a:avLst>
              <a:gd name="adj" fmla="val 5495"/>
            </a:avLst>
          </a:prstGeom>
          <a:solidFill>
            <a:srgbClr val="F6EDCF"/>
          </a:solidFill>
          <a:ln w="9525">
            <a:solidFill>
              <a:srgbClr val="C9A227"/>
            </a:solidFill>
            <a:prstDash val="solid"/>
          </a:ln>
        </p:spPr>
      </p:sp>
      <p:sp>
        <p:nvSpPr>
          <p:cNvPr id="8" name="Text 5"/>
          <p:cNvSpPr/>
          <p:nvPr/>
        </p:nvSpPr>
        <p:spPr>
          <a:xfrm>
            <a:off x="8046720" y="5087722"/>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9" name="Text 6"/>
          <p:cNvSpPr/>
          <p:nvPr/>
        </p:nvSpPr>
        <p:spPr>
          <a:xfrm>
            <a:off x="8046720" y="5362042"/>
            <a:ext cx="3593592" cy="910742"/>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این صفحه فقط برای ستاد مرکزی است و هر سال یک بار در فروردین استفاده می‌شود. اگر شرایط فراهم نباشد، دلیلش در کادر زرد نوشته می‌شود و دکمه غیرفعال است.</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سال مالی یعنی چه؟</a:t>
            </a:r>
            <a:endParaRPr lang="en-US" sz="1350" dirty="0"/>
          </a:p>
        </p:txBody>
      </p:sp>
      <p:sp>
        <p:nvSpPr>
          <p:cNvPr id="13" name="Text 10"/>
          <p:cNvSpPr/>
          <p:nvPr/>
        </p:nvSpPr>
        <p:spPr>
          <a:xfrm>
            <a:off x="7909560" y="1700784"/>
            <a:ext cx="3392424" cy="46497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دورهٔ یک‌ساله (فروردین تا اسفند) که سندها در آن شماره می‌خورند و در پایان بسته می‌شوند.</a:t>
            </a:r>
            <a:endParaRPr lang="en-US" sz="1150" dirty="0"/>
          </a:p>
        </p:txBody>
      </p:sp>
      <p:sp>
        <p:nvSpPr>
          <p:cNvPr id="14" name="Shape 11"/>
          <p:cNvSpPr/>
          <p:nvPr/>
        </p:nvSpPr>
        <p:spPr>
          <a:xfrm>
            <a:off x="11411712" y="2220620"/>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206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206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وضعیت را بخوانید</a:t>
            </a:r>
            <a:endParaRPr lang="en-US" sz="1350" dirty="0"/>
          </a:p>
        </p:txBody>
      </p:sp>
      <p:sp>
        <p:nvSpPr>
          <p:cNvPr id="17" name="Text 14"/>
          <p:cNvSpPr/>
          <p:nvPr/>
        </p:nvSpPr>
        <p:spPr>
          <a:xfrm>
            <a:off x="7909560" y="2549804"/>
            <a:ext cx="3392424" cy="46497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بالای صفحه سال پیش‌فرض فعلی، سال قابل ایجاد و تعداد حساب‌های بانکی دیده می‌شود.</a:t>
            </a:r>
            <a:endParaRPr lang="en-US" sz="1150" dirty="0"/>
          </a:p>
        </p:txBody>
      </p:sp>
      <p:sp>
        <p:nvSpPr>
          <p:cNvPr id="18" name="Shape 15"/>
          <p:cNvSpPr/>
          <p:nvPr/>
        </p:nvSpPr>
        <p:spPr>
          <a:xfrm>
            <a:off x="11411712" y="3069641"/>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06964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06964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ایجاد سال</a:t>
            </a:r>
            <a:endParaRPr lang="en-US" sz="1350" dirty="0"/>
          </a:p>
        </p:txBody>
      </p:sp>
      <p:sp>
        <p:nvSpPr>
          <p:cNvPr id="21" name="Text 18"/>
          <p:cNvSpPr/>
          <p:nvPr/>
        </p:nvSpPr>
        <p:spPr>
          <a:xfrm>
            <a:off x="7909560" y="3398825"/>
            <a:ext cx="3392424" cy="46497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دکمهٔ «ایجاد سال مالی ۱۴۰۶» را بزنید و پیام تأیید را قبول کنید.</a:t>
            </a:r>
            <a:endParaRPr lang="en-US" sz="1150" dirty="0"/>
          </a:p>
        </p:txBody>
      </p:sp>
      <p:sp>
        <p:nvSpPr>
          <p:cNvPr id="22" name="Shape 19"/>
          <p:cNvSpPr/>
          <p:nvPr/>
        </p:nvSpPr>
        <p:spPr>
          <a:xfrm>
            <a:off x="11411712" y="3918661"/>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91866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91866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چه اتفاقی می‌افتد؟</a:t>
            </a:r>
            <a:endParaRPr lang="en-US" sz="1350" dirty="0"/>
          </a:p>
        </p:txBody>
      </p:sp>
      <p:sp>
        <p:nvSpPr>
          <p:cNvPr id="25" name="Text 22"/>
          <p:cNvSpPr/>
          <p:nvPr/>
        </p:nvSpPr>
        <p:spPr>
          <a:xfrm>
            <a:off x="7909560" y="4247845"/>
            <a:ext cx="3392424" cy="46497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سال تازه پیش‌فرض می‌شود و برای هر حساب بانکی یک دسته‌چک صوری (اعلامیهٔ صوری) ساخته می‌شود.</a:t>
            </a:r>
            <a:endParaRPr lang="en-US" sz="11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۱۹</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۲ — تعریف حساب‌های گروه</a:t>
            </a:r>
            <a:endParaRPr lang="en-US" sz="2500" dirty="0"/>
          </a:p>
        </p:txBody>
      </p:sp>
      <p:sp>
        <p:nvSpPr>
          <p:cNvPr id="3" name="Shape 1"/>
          <p:cNvSpPr/>
          <p:nvPr/>
        </p:nvSpPr>
        <p:spPr>
          <a:xfrm>
            <a:off x="8883396" y="896112"/>
            <a:ext cx="289407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993124" y="896112"/>
            <a:ext cx="267462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کدینگ حسابداری</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s_grp">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گروه 82 «هزینه‌های اداری و عمومی» را می‌سازیم تا بعداً هزینهٔ حقوق، آب و برق و اجاره زیر آن قرار بگیرد.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کاشی‌های بالا</a:t>
            </a:r>
            <a:endParaRPr lang="en-US" sz="1350" dirty="0"/>
          </a:p>
        </p:txBody>
      </p:sp>
      <p:sp>
        <p:nvSpPr>
          <p:cNvPr id="13" name="Text 10"/>
          <p:cNvSpPr/>
          <p:nvPr/>
        </p:nvSpPr>
        <p:spPr>
          <a:xfrm>
            <a:off x="7909560" y="1700784"/>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تعداد حساب‌های گروه، کل و معین را نشان می‌دهند؛ با کلیک روی هر کاشی تب همان سطح باز می‌شود.</a:t>
            </a:r>
            <a:endParaRPr lang="en-US" sz="1250" dirty="0"/>
          </a:p>
        </p:txBody>
      </p:sp>
      <p:sp>
        <p:nvSpPr>
          <p:cNvPr id="14" name="Shape 11"/>
          <p:cNvSpPr/>
          <p:nvPr/>
        </p:nvSpPr>
        <p:spPr>
          <a:xfrm>
            <a:off x="11411712" y="2479167"/>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47916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479167"/>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تب «گروه»</a:t>
            </a:r>
            <a:endParaRPr lang="en-US" sz="1350" dirty="0"/>
          </a:p>
        </p:txBody>
      </p:sp>
      <p:sp>
        <p:nvSpPr>
          <p:cNvPr id="17" name="Text 14"/>
          <p:cNvSpPr/>
          <p:nvPr/>
        </p:nvSpPr>
        <p:spPr>
          <a:xfrm>
            <a:off x="7909560" y="2808351"/>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سطح اول کدینگ؛ گروه حساب والد ندارد و معمولاً ۲ رقم است.</a:t>
            </a:r>
            <a:endParaRPr lang="en-US" sz="1250" dirty="0"/>
          </a:p>
        </p:txBody>
      </p:sp>
      <p:sp>
        <p:nvSpPr>
          <p:cNvPr id="18" name="Shape 15"/>
          <p:cNvSpPr/>
          <p:nvPr/>
        </p:nvSpPr>
        <p:spPr>
          <a:xfrm>
            <a:off x="11411712" y="3363849"/>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36384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36384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افزودن گروه</a:t>
            </a:r>
            <a:endParaRPr lang="en-US" sz="1350" dirty="0"/>
          </a:p>
        </p:txBody>
      </p:sp>
      <p:sp>
        <p:nvSpPr>
          <p:cNvPr id="21" name="Text 18"/>
          <p:cNvSpPr/>
          <p:nvPr/>
        </p:nvSpPr>
        <p:spPr>
          <a:xfrm>
            <a:off x="7909560" y="3693033"/>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دکمهٔ «افزودن گروه» را بزنید، کد و عنوان را بنویسید و «ذخیره» کنید.</a:t>
            </a:r>
            <a:endParaRPr lang="en-US" sz="1250" dirty="0"/>
          </a:p>
        </p:txBody>
      </p:sp>
      <p:sp>
        <p:nvSpPr>
          <p:cNvPr id="22" name="Shape 19"/>
          <p:cNvSpPr/>
          <p:nvPr/>
        </p:nvSpPr>
        <p:spPr>
          <a:xfrm>
            <a:off x="11411712" y="4248531"/>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24853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24853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جستجو و ویرایش</a:t>
            </a:r>
            <a:endParaRPr lang="en-US" sz="1350" dirty="0"/>
          </a:p>
        </p:txBody>
      </p:sp>
      <p:sp>
        <p:nvSpPr>
          <p:cNvPr id="25" name="Text 22"/>
          <p:cNvSpPr/>
          <p:nvPr/>
        </p:nvSpPr>
        <p:spPr>
          <a:xfrm>
            <a:off x="7909560" y="4577715"/>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با کادر «جستجو در کد یا عنوان» پیدا کنید؛ مداد = ویرایش، سطل = حذف.</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۲۰</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۳ — حساب‌های کل و معین</a:t>
            </a:r>
            <a:endParaRPr lang="en-US" sz="2500" dirty="0"/>
          </a:p>
        </p:txBody>
      </p:sp>
      <p:sp>
        <p:nvSpPr>
          <p:cNvPr id="3" name="Shape 1"/>
          <p:cNvSpPr/>
          <p:nvPr/>
        </p:nvSpPr>
        <p:spPr>
          <a:xfrm>
            <a:off x="8883396" y="896112"/>
            <a:ext cx="289407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993124" y="896112"/>
            <a:ext cx="267462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کدینگ حسابداری</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تب «کل»: ستون «حساب گروه» والد هر کل است</a:t>
            </a:r>
            <a:endParaRPr lang="en-US" sz="1200" dirty="0"/>
          </a:p>
        </p:txBody>
      </p:sp>
      <p:sp>
        <p:nvSpPr>
          <p:cNvPr id="6" name="Shape 4"/>
          <p:cNvSpPr/>
          <p:nvPr/>
        </p:nvSpPr>
        <p:spPr>
          <a:xfrm>
            <a:off x="6208776" y="1618488"/>
            <a:ext cx="5568696" cy="2671420"/>
          </a:xfrm>
          <a:prstGeom prst="roundRect">
            <a:avLst>
              <a:gd name="adj" fmla="val 2738"/>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bs_kol_s">    </p:cNvPr>
          <p:cNvPicPr>
            <a:picLocks noChangeAspect="1"/>
          </p:cNvPicPr>
          <p:nvPr/>
        </p:nvPicPr>
        <p:blipFill>
          <a:blip r:embed="rId1"/>
          <a:stretch>
            <a:fillRect/>
          </a:stretch>
        </p:blipFill>
        <p:spPr>
          <a:xfrm>
            <a:off x="6354509" y="1664208"/>
            <a:ext cx="5277231" cy="2579980"/>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تب «معین»: ستون «حساب کل» والد هر معین است</a:t>
            </a:r>
            <a:endParaRPr lang="en-US" sz="1200" dirty="0"/>
          </a:p>
        </p:txBody>
      </p:sp>
      <p:sp>
        <p:nvSpPr>
          <p:cNvPr id="9" name="Shape 6"/>
          <p:cNvSpPr/>
          <p:nvPr/>
        </p:nvSpPr>
        <p:spPr>
          <a:xfrm>
            <a:off x="411480" y="1618488"/>
            <a:ext cx="5568696" cy="2671420"/>
          </a:xfrm>
          <a:prstGeom prst="roundRect">
            <a:avLst>
              <a:gd name="adj" fmla="val 2738"/>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bs_moin_s">    </p:cNvPr>
          <p:cNvPicPr>
            <a:picLocks noChangeAspect="1"/>
          </p:cNvPicPr>
          <p:nvPr/>
        </p:nvPicPr>
        <p:blipFill>
          <a:blip r:embed="rId2"/>
          <a:stretch>
            <a:fillRect/>
          </a:stretch>
        </p:blipFill>
        <p:spPr>
          <a:xfrm>
            <a:off x="557213" y="1664208"/>
            <a:ext cx="5277231" cy="2579980"/>
          </a:xfrm>
          <a:prstGeom prst="rect">
            <a:avLst/>
          </a:prstGeom>
        </p:spPr>
      </p:pic>
      <p:sp>
        <p:nvSpPr>
          <p:cNvPr id="11" name="Shape 7"/>
          <p:cNvSpPr/>
          <p:nvPr/>
        </p:nvSpPr>
        <p:spPr>
          <a:xfrm>
            <a:off x="8080248" y="4472788"/>
            <a:ext cx="3697224" cy="1086764"/>
          </a:xfrm>
          <a:prstGeom prst="roundRect">
            <a:avLst>
              <a:gd name="adj" fmla="val 6731"/>
            </a:avLst>
          </a:prstGeom>
          <a:solidFill>
            <a:srgbClr val="FFFFFF"/>
          </a:solidFill>
          <a:ln w="6350">
            <a:solidFill>
              <a:srgbClr val="D9DEE7"/>
            </a:solidFill>
            <a:prstDash val="solid"/>
          </a:ln>
        </p:spPr>
      </p:sp>
      <p:sp>
        <p:nvSpPr>
          <p:cNvPr id="12" name="Shape 8"/>
          <p:cNvSpPr/>
          <p:nvPr/>
        </p:nvSpPr>
        <p:spPr>
          <a:xfrm>
            <a:off x="11356848" y="4564228"/>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56422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8171688" y="4545940"/>
            <a:ext cx="3130296"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کل (۴ رقم)</a:t>
            </a:r>
            <a:endParaRPr lang="en-US" sz="1300" dirty="0"/>
          </a:p>
        </p:txBody>
      </p:sp>
      <p:sp>
        <p:nvSpPr>
          <p:cNvPr id="15" name="Text 11"/>
          <p:cNvSpPr/>
          <p:nvPr/>
        </p:nvSpPr>
        <p:spPr>
          <a:xfrm>
            <a:off x="8189976" y="4948276"/>
            <a:ext cx="3477768"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در تب «کل» بزنید «افزودن کل» و یک حساب گروه را به‌عنوان والد انتخاب کنید.</a:t>
            </a:r>
            <a:endParaRPr lang="en-US" sz="1150" dirty="0"/>
          </a:p>
        </p:txBody>
      </p:sp>
      <p:sp>
        <p:nvSpPr>
          <p:cNvPr id="16" name="Shape 12"/>
          <p:cNvSpPr/>
          <p:nvPr/>
        </p:nvSpPr>
        <p:spPr>
          <a:xfrm>
            <a:off x="4245864" y="4472788"/>
            <a:ext cx="3697224" cy="1086764"/>
          </a:xfrm>
          <a:prstGeom prst="roundRect">
            <a:avLst>
              <a:gd name="adj" fmla="val 6731"/>
            </a:avLst>
          </a:prstGeom>
          <a:solidFill>
            <a:srgbClr val="FFFFFF"/>
          </a:solidFill>
          <a:ln w="6350">
            <a:solidFill>
              <a:srgbClr val="D9DEE7"/>
            </a:solidFill>
            <a:prstDash val="solid"/>
          </a:ln>
        </p:spPr>
      </p:sp>
      <p:sp>
        <p:nvSpPr>
          <p:cNvPr id="17" name="Shape 13"/>
          <p:cNvSpPr/>
          <p:nvPr/>
        </p:nvSpPr>
        <p:spPr>
          <a:xfrm>
            <a:off x="7522464" y="4564228"/>
            <a:ext cx="329184" cy="329184"/>
          </a:xfrm>
          <a:prstGeom prst="ellipse">
            <a:avLst/>
          </a:prstGeom>
          <a:solidFill>
            <a:srgbClr val="C9A227"/>
          </a:solidFill>
          <a:ln w="12700">
            <a:solidFill>
              <a:srgbClr val="C9A227"/>
            </a:solidFill>
            <a:prstDash val="solid"/>
          </a:ln>
        </p:spPr>
      </p:sp>
      <p:sp>
        <p:nvSpPr>
          <p:cNvPr id="18" name="Text 14"/>
          <p:cNvSpPr/>
          <p:nvPr/>
        </p:nvSpPr>
        <p:spPr>
          <a:xfrm>
            <a:off x="7522464" y="456422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4337304" y="4545940"/>
            <a:ext cx="3130296"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معین (۶ رقم)</a:t>
            </a:r>
            <a:endParaRPr lang="en-US" sz="1300" dirty="0"/>
          </a:p>
        </p:txBody>
      </p:sp>
      <p:sp>
        <p:nvSpPr>
          <p:cNvPr id="20" name="Text 16"/>
          <p:cNvSpPr/>
          <p:nvPr/>
        </p:nvSpPr>
        <p:spPr>
          <a:xfrm>
            <a:off x="4355592" y="4948276"/>
            <a:ext cx="3477768"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در تب «معین» بزنید «افزودن معین» و والدش را از بین حساب‌های کل برگزینید.</a:t>
            </a:r>
            <a:endParaRPr lang="en-US" sz="1150" dirty="0"/>
          </a:p>
        </p:txBody>
      </p:sp>
      <p:sp>
        <p:nvSpPr>
          <p:cNvPr id="21" name="Shape 17"/>
          <p:cNvSpPr/>
          <p:nvPr/>
        </p:nvSpPr>
        <p:spPr>
          <a:xfrm>
            <a:off x="411480" y="4472788"/>
            <a:ext cx="3697224" cy="1086764"/>
          </a:xfrm>
          <a:prstGeom prst="roundRect">
            <a:avLst>
              <a:gd name="adj" fmla="val 6731"/>
            </a:avLst>
          </a:prstGeom>
          <a:solidFill>
            <a:srgbClr val="FFFFFF"/>
          </a:solidFill>
          <a:ln w="6350">
            <a:solidFill>
              <a:srgbClr val="D9DEE7"/>
            </a:solidFill>
            <a:prstDash val="solid"/>
          </a:ln>
        </p:spPr>
      </p:sp>
      <p:sp>
        <p:nvSpPr>
          <p:cNvPr id="22" name="Shape 18"/>
          <p:cNvSpPr/>
          <p:nvPr/>
        </p:nvSpPr>
        <p:spPr>
          <a:xfrm>
            <a:off x="3688080" y="4564228"/>
            <a:ext cx="329184" cy="329184"/>
          </a:xfrm>
          <a:prstGeom prst="ellipse">
            <a:avLst/>
          </a:prstGeom>
          <a:solidFill>
            <a:srgbClr val="C9A227"/>
          </a:solidFill>
          <a:ln w="12700">
            <a:solidFill>
              <a:srgbClr val="C9A227"/>
            </a:solidFill>
            <a:prstDash val="solid"/>
          </a:ln>
        </p:spPr>
      </p:sp>
      <p:sp>
        <p:nvSpPr>
          <p:cNvPr id="23" name="Text 19"/>
          <p:cNvSpPr/>
          <p:nvPr/>
        </p:nvSpPr>
        <p:spPr>
          <a:xfrm>
            <a:off x="3688080" y="456422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502920" y="4545940"/>
            <a:ext cx="3130296"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والد را با «انتخاب» بگیرید</a:t>
            </a:r>
            <a:endParaRPr lang="en-US" sz="1300" dirty="0"/>
          </a:p>
        </p:txBody>
      </p:sp>
      <p:sp>
        <p:nvSpPr>
          <p:cNvPr id="25" name="Text 21"/>
          <p:cNvSpPr/>
          <p:nvPr/>
        </p:nvSpPr>
        <p:spPr>
          <a:xfrm>
            <a:off x="521208" y="4948276"/>
            <a:ext cx="3477768"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پنجرهٔ انتخاب فقط حساب‌های سطح بالاتر را نشان می‌دهد.</a:t>
            </a:r>
            <a:endParaRPr lang="en-US" sz="1150" dirty="0"/>
          </a:p>
        </p:txBody>
      </p:sp>
      <p:sp>
        <p:nvSpPr>
          <p:cNvPr id="26" name="Shape 22"/>
          <p:cNvSpPr/>
          <p:nvPr/>
        </p:nvSpPr>
        <p:spPr>
          <a:xfrm>
            <a:off x="411480" y="5696712"/>
            <a:ext cx="11365992" cy="658368"/>
          </a:xfrm>
          <a:prstGeom prst="roundRect">
            <a:avLst>
              <a:gd name="adj" fmla="val 11111"/>
            </a:avLst>
          </a:prstGeom>
          <a:solidFill>
            <a:srgbClr val="E3F3EA"/>
          </a:solidFill>
          <a:ln w="9525">
            <a:solidFill>
              <a:srgbClr val="1E7A4C"/>
            </a:solidFill>
            <a:prstDash val="solid"/>
          </a:ln>
        </p:spPr>
      </p:sp>
      <p:sp>
        <p:nvSpPr>
          <p:cNvPr id="27" name="Text 23"/>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28" name="Text 24"/>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کل 1102 «بانک‌ها» زیر گروه 11؛ سپس معین 110201 «بانک‌ها — حساب جاری» زیر 1102.</a:t>
            </a:r>
            <a:endParaRPr lang="en-US" sz="1250" dirty="0"/>
          </a:p>
        </p:txBody>
      </p:sp>
      <p:sp>
        <p:nvSpPr>
          <p:cNvPr id="29" name="Text 25"/>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۲۱</a:t>
            </a:r>
            <a:endParaRPr lang="en-US" sz="1000" dirty="0"/>
          </a:p>
        </p:txBody>
      </p:sp>
      <p:sp>
        <p:nvSpPr>
          <p:cNvPr id="30" name="Text 26"/>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۴ — فرم معین و ماهیت حساب</a:t>
            </a:r>
            <a:endParaRPr lang="en-US" sz="2500" dirty="0"/>
          </a:p>
        </p:txBody>
      </p:sp>
      <p:sp>
        <p:nvSpPr>
          <p:cNvPr id="3" name="Shape 1"/>
          <p:cNvSpPr/>
          <p:nvPr/>
        </p:nvSpPr>
        <p:spPr>
          <a:xfrm>
            <a:off x="8106156" y="896112"/>
            <a:ext cx="367131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215884" y="896112"/>
            <a:ext cx="345186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کدینگ حسابداری ← تب معین</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s_moin_edit">    </p:cNvPr>
          <p:cNvPicPr>
            <a:picLocks noChangeAspect="1"/>
          </p:cNvPicPr>
          <p:nvPr/>
        </p:nvPicPr>
        <p:blipFill>
          <a:blip r:embed="rId1"/>
          <a:stretch>
            <a:fillRect/>
          </a:stretch>
        </p:blipFill>
        <p:spPr>
          <a:xfrm>
            <a:off x="683993" y="1399032"/>
            <a:ext cx="6678733" cy="4882896"/>
          </a:xfrm>
          <a:prstGeom prst="rect">
            <a:avLst/>
          </a:prstGeom>
        </p:spPr>
      </p:pic>
      <p:sp>
        <p:nvSpPr>
          <p:cNvPr id="7" name="Shape 4"/>
          <p:cNvSpPr/>
          <p:nvPr/>
        </p:nvSpPr>
        <p:spPr>
          <a:xfrm>
            <a:off x="7909560" y="5023714"/>
            <a:ext cx="3867912" cy="1331366"/>
          </a:xfrm>
          <a:prstGeom prst="roundRect">
            <a:avLst>
              <a:gd name="adj" fmla="val 5495"/>
            </a:avLst>
          </a:prstGeom>
          <a:solidFill>
            <a:srgbClr val="F6EDCF"/>
          </a:solidFill>
          <a:ln w="9525">
            <a:solidFill>
              <a:srgbClr val="C9A227"/>
            </a:solidFill>
            <a:prstDash val="solid"/>
          </a:ln>
        </p:spPr>
      </p:sp>
      <p:sp>
        <p:nvSpPr>
          <p:cNvPr id="8" name="Text 5"/>
          <p:cNvSpPr/>
          <p:nvPr/>
        </p:nvSpPr>
        <p:spPr>
          <a:xfrm>
            <a:off x="8046720" y="5087722"/>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9" name="Text 6"/>
          <p:cNvSpPr/>
          <p:nvPr/>
        </p:nvSpPr>
        <p:spPr>
          <a:xfrm>
            <a:off x="8046720" y="5362042"/>
            <a:ext cx="3593592" cy="910742"/>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بدهکار و بستانکار دو ستون هر سند هستند: پولی که «به» حساب می‌آید و پولی که «از» آن می‌رود. بانک ما ماهیت بدهکار دارد، چون موجودی‌اش در ستون بدهکار جمع می‌شود.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کد و عنوان</a:t>
            </a:r>
            <a:endParaRPr lang="en-US" sz="1350" dirty="0"/>
          </a:p>
        </p:txBody>
      </p:sp>
      <p:sp>
        <p:nvSpPr>
          <p:cNvPr id="13" name="Text 10"/>
          <p:cNvSpPr/>
          <p:nvPr/>
        </p:nvSpPr>
        <p:spPr>
          <a:xfrm>
            <a:off x="7909560" y="1700784"/>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«کد حساب» (معمولاً ۶ رقم) و «عنوان حساب» را بنویسید؛ کد تکراری پذیرفته نمی‌شود.</a:t>
            </a:r>
            <a:endParaRPr lang="en-US" sz="1200" dirty="0"/>
          </a:p>
        </p:txBody>
      </p:sp>
      <p:sp>
        <p:nvSpPr>
          <p:cNvPr id="14" name="Shape 11"/>
          <p:cNvSpPr/>
          <p:nvPr/>
        </p:nvSpPr>
        <p:spPr>
          <a:xfrm>
            <a:off x="11411712" y="2238451"/>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3845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3845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ماهیت حساب</a:t>
            </a:r>
            <a:endParaRPr lang="en-US" sz="1350" dirty="0"/>
          </a:p>
        </p:txBody>
      </p:sp>
      <p:sp>
        <p:nvSpPr>
          <p:cNvPr id="17" name="Text 14"/>
          <p:cNvSpPr/>
          <p:nvPr/>
        </p:nvSpPr>
        <p:spPr>
          <a:xfrm>
            <a:off x="7909560" y="2567635"/>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بدهکار = معمولاً زیاد شدنش در ستون بدهکار است (دارایی، هزینه)؛ بستانکار = بدهی و درآمد.</a:t>
            </a:r>
            <a:endParaRPr lang="en-US" sz="1200" dirty="0"/>
          </a:p>
        </p:txBody>
      </p:sp>
      <p:sp>
        <p:nvSpPr>
          <p:cNvPr id="18" name="Shape 15"/>
          <p:cNvSpPr/>
          <p:nvPr/>
        </p:nvSpPr>
        <p:spPr>
          <a:xfrm>
            <a:off x="11411712" y="3105302"/>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0530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0530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موقت یا دائم</a:t>
            </a:r>
            <a:endParaRPr lang="en-US" sz="1350" dirty="0"/>
          </a:p>
        </p:txBody>
      </p:sp>
      <p:sp>
        <p:nvSpPr>
          <p:cNvPr id="21" name="Text 18"/>
          <p:cNvSpPr/>
          <p:nvPr/>
        </p:nvSpPr>
        <p:spPr>
          <a:xfrm>
            <a:off x="7909560" y="3434486"/>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دائم: مانده به سال بعد می‌رود (بانک). موقت: پایان سال بسته می‌شود (درآمد، هزینه).</a:t>
            </a:r>
            <a:endParaRPr lang="en-US" sz="1200" dirty="0"/>
          </a:p>
        </p:txBody>
      </p:sp>
      <p:sp>
        <p:nvSpPr>
          <p:cNvPr id="22" name="Shape 19"/>
          <p:cNvSpPr/>
          <p:nvPr/>
        </p:nvSpPr>
        <p:spPr>
          <a:xfrm>
            <a:off x="11411712" y="3972154"/>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97215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97215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کنترل خلاف ماهیت</a:t>
            </a:r>
            <a:endParaRPr lang="en-US" sz="1350" dirty="0"/>
          </a:p>
        </p:txBody>
      </p:sp>
      <p:sp>
        <p:nvSpPr>
          <p:cNvPr id="25" name="Text 22"/>
          <p:cNvSpPr/>
          <p:nvPr/>
        </p:nvSpPr>
        <p:spPr>
          <a:xfrm>
            <a:off x="7909560" y="4301338"/>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اگر مانده برخلاف ماهیت شد: «کنترل نشود»، «اخطار دهد» یا «ثبت نشود».</a:t>
            </a:r>
            <a:endParaRPr lang="en-US" sz="12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۲۲</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۵ — گروه‌های تفصیلی</a:t>
            </a:r>
            <a:endParaRPr lang="en-US" sz="2500" dirty="0"/>
          </a:p>
        </p:txBody>
      </p:sp>
      <p:sp>
        <p:nvSpPr>
          <p:cNvPr id="3" name="Shape 1"/>
          <p:cNvSpPr/>
          <p:nvPr/>
        </p:nvSpPr>
        <p:spPr>
          <a:xfrm>
            <a:off x="9116568" y="896112"/>
            <a:ext cx="266090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226296" y="896112"/>
            <a:ext cx="244144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گروه تفصیلی</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s_tg">    </p:cNvPr>
          <p:cNvPicPr>
            <a:picLocks noChangeAspect="1"/>
          </p:cNvPicPr>
          <p:nvPr/>
        </p:nvPicPr>
        <p:blipFill>
          <a:blip r:embed="rId1"/>
          <a:stretch>
            <a:fillRect/>
          </a:stretch>
        </p:blipFill>
        <p:spPr>
          <a:xfrm>
            <a:off x="484632" y="2051456"/>
            <a:ext cx="7077456" cy="3578047"/>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گروه 02 «اشخاص و شرکت‌ها» با نوع شخص «حقوقی» برای پیمانکاران و کارفرمایان؛ گروه 05 «کارکنان» با نوع «حقیقی».</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فهرست گروه‌ها</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گروه یک «کد گروه»، «عنوان گروه» و «نوع شخص» (حقیقی، حقوقی، سایر) دارد.</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افزودن گروه</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«افزودن گروه تفصیلی» را بزنید، کد و عنوان را بنویسید و نوع شخص را انتخاب کنید.</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کاربرد</a:t>
            </a:r>
            <a:endParaRPr lang="en-US" sz="1350" dirty="0"/>
          </a:p>
        </p:txBody>
      </p:sp>
      <p:sp>
        <p:nvSpPr>
          <p:cNvPr id="21" name="Text 18"/>
          <p:cNvSpPr/>
          <p:nvPr/>
        </p:nvSpPr>
        <p:spPr>
          <a:xfrm>
            <a:off x="7909560" y="3505810"/>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گروه‌ها بعداً به معین‌ها وصل می‌شوند تا هر معین فقط تفصیلی‌های مناسب را نشان دهد.</a:t>
            </a:r>
            <a:endParaRPr lang="en-US" sz="130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۲۳</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۶ — سطوح تفصیلی</a:t>
            </a:r>
            <a:endParaRPr lang="en-US" sz="2500" dirty="0"/>
          </a:p>
        </p:txBody>
      </p:sp>
      <p:sp>
        <p:nvSpPr>
          <p:cNvPr id="3" name="Shape 1"/>
          <p:cNvSpPr/>
          <p:nvPr/>
        </p:nvSpPr>
        <p:spPr>
          <a:xfrm>
            <a:off x="9116568" y="896112"/>
            <a:ext cx="266090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226296" y="896112"/>
            <a:ext cx="244144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سطوح تفصیلی</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s_lv">    </p:cNvPr>
          <p:cNvPicPr>
            <a:picLocks noChangeAspect="1"/>
          </p:cNvPicPr>
          <p:nvPr/>
        </p:nvPicPr>
        <p:blipFill>
          <a:blip r:embed="rId1"/>
          <a:stretch>
            <a:fillRect/>
          </a:stretch>
        </p:blipFill>
        <p:spPr>
          <a:xfrm>
            <a:off x="484632" y="2196937"/>
            <a:ext cx="7077456" cy="3287085"/>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سطح ۱ «طرف حساب»، سطح ۲ «مرکز هزینه»، سطح ۳ «پروژه». در سند پرداخت به پیمانکار، این سه پرسش به ترتیب پرسیده می‌شوند.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سطح چیست؟</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شمارهٔ جایگاه تفصیلی در فرم سند؛ یک معین می‌تواند تا ۷ سطح داشته باشد.</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کد سطح</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عددی از ۱ تا ۷؛ هر کد باید یکتا باشد وگرنه برچسب «تکراری» می‌خورد.</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نام سطح</a:t>
            </a:r>
            <a:endParaRPr lang="en-US" sz="1350" dirty="0"/>
          </a:p>
        </p:txBody>
      </p:sp>
      <p:sp>
        <p:nvSpPr>
          <p:cNvPr id="21" name="Text 18"/>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همان برچسبی که کاربر در فرم صدور سند بالای فیلد تفصیلی می‌بیند.</a:t>
            </a:r>
            <a:endParaRPr lang="en-US" sz="130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۲۴</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۷ — تعریف حساب‌های تفصیلی</a:t>
            </a:r>
            <a:endParaRPr lang="en-US" sz="2500" dirty="0"/>
          </a:p>
        </p:txBody>
      </p:sp>
      <p:sp>
        <p:nvSpPr>
          <p:cNvPr id="3" name="Shape 1"/>
          <p:cNvSpPr/>
          <p:nvPr/>
        </p:nvSpPr>
        <p:spPr>
          <a:xfrm>
            <a:off x="7950708" y="896112"/>
            <a:ext cx="382676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060436" y="896112"/>
            <a:ext cx="360730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کدینگ حسابداری ← تب تفصیلی</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s_tf_dlg">    </p:cNvPr>
          <p:cNvPicPr>
            <a:picLocks noChangeAspect="1"/>
          </p:cNvPicPr>
          <p:nvPr/>
        </p:nvPicPr>
        <p:blipFill>
          <a:blip r:embed="rId1"/>
          <a:stretch>
            <a:fillRect/>
          </a:stretch>
        </p:blipFill>
        <p:spPr>
          <a:xfrm>
            <a:off x="777713" y="1399032"/>
            <a:ext cx="6491295"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تفصیلی 50013 «شرکت تأسیسات نوین ساختمان» در گروه 02؛ حالا هر سندی که معینش به گروه 02 وصل است، این شرکت را پیشنهاد می‌دهد.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افزودن تفصیلی</a:t>
            </a:r>
            <a:endParaRPr lang="en-US" sz="1350" dirty="0"/>
          </a:p>
        </p:txBody>
      </p:sp>
      <p:sp>
        <p:nvSpPr>
          <p:cNvPr id="13" name="Text 10"/>
          <p:cNvSpPr/>
          <p:nvPr/>
        </p:nvSpPr>
        <p:spPr>
          <a:xfrm>
            <a:off x="7909560" y="170078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در تب «تفصیلی» دکمهٔ «افزودن تفصیلی» را بزنید (یا مداد کنار یک ردیف را برای ویرایش).</a:t>
            </a:r>
            <a:endParaRPr lang="en-US" sz="1250" dirty="0"/>
          </a:p>
        </p:txBody>
      </p:sp>
      <p:sp>
        <p:nvSpPr>
          <p:cNvPr id="14" name="Shape 11"/>
          <p:cNvSpPr/>
          <p:nvPr/>
        </p:nvSpPr>
        <p:spPr>
          <a:xfrm>
            <a:off x="11411712" y="225628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5628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5628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کد و عنوان</a:t>
            </a:r>
            <a:endParaRPr lang="en-US" sz="1350" dirty="0"/>
          </a:p>
        </p:txBody>
      </p:sp>
      <p:sp>
        <p:nvSpPr>
          <p:cNvPr id="17" name="Text 14"/>
          <p:cNvSpPr/>
          <p:nvPr/>
        </p:nvSpPr>
        <p:spPr>
          <a:xfrm>
            <a:off x="7909560" y="2585466"/>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«کد تفصیلی» و «عنوان تفصیلی» الزامی‌اند؛ «توضیحات» اختیاری است.</a:t>
            </a:r>
            <a:endParaRPr lang="en-US" sz="1250" dirty="0"/>
          </a:p>
        </p:txBody>
      </p:sp>
      <p:sp>
        <p:nvSpPr>
          <p:cNvPr id="18" name="Shape 15"/>
          <p:cNvSpPr/>
          <p:nvPr/>
        </p:nvSpPr>
        <p:spPr>
          <a:xfrm>
            <a:off x="11411712" y="3140964"/>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409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4096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گروه‌های تفصیلی</a:t>
            </a:r>
            <a:endParaRPr lang="en-US" sz="1350" dirty="0"/>
          </a:p>
        </p:txBody>
      </p:sp>
      <p:sp>
        <p:nvSpPr>
          <p:cNvPr id="21" name="Text 18"/>
          <p:cNvSpPr/>
          <p:nvPr/>
        </p:nvSpPr>
        <p:spPr>
          <a:xfrm>
            <a:off x="7909560" y="3470148"/>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یک یا چند گروه انتخاب کنید؛ تفصیلی از طریق همین گروه‌ها در سند پیدا می‌شود.</a:t>
            </a:r>
            <a:endParaRPr lang="en-US" sz="1250" dirty="0"/>
          </a:p>
        </p:txBody>
      </p:sp>
      <p:sp>
        <p:nvSpPr>
          <p:cNvPr id="22" name="Shape 19"/>
          <p:cNvSpPr/>
          <p:nvPr/>
        </p:nvSpPr>
        <p:spPr>
          <a:xfrm>
            <a:off x="11411712" y="402564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256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256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دامنهٔ دیده‌شدن</a:t>
            </a:r>
            <a:endParaRPr lang="en-US" sz="1350" dirty="0"/>
          </a:p>
        </p:txBody>
      </p:sp>
      <p:sp>
        <p:nvSpPr>
          <p:cNvPr id="25" name="Text 22"/>
          <p:cNvSpPr/>
          <p:nvPr/>
        </p:nvSpPr>
        <p:spPr>
          <a:xfrm>
            <a:off x="7909560" y="4354830"/>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تعیین می‌کند واحدهای دیگر (بیمه، درمان یا همه) هم این تفصیلی را ببینند یا نه.</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۲۵</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۸ — ارتباط معین با گروه تفصیلی</a:t>
            </a:r>
            <a:endParaRPr lang="en-US" sz="2500" dirty="0"/>
          </a:p>
        </p:txBody>
      </p:sp>
      <p:sp>
        <p:nvSpPr>
          <p:cNvPr id="3" name="Shape 1"/>
          <p:cNvSpPr/>
          <p:nvPr/>
        </p:nvSpPr>
        <p:spPr>
          <a:xfrm>
            <a:off x="6396228" y="896112"/>
            <a:ext cx="538124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6505956" y="896112"/>
            <a:ext cx="516178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کدینگ حسابداری ← تب ارتباط معین با گروه تفصیلی</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s_link">    </p:cNvPr>
          <p:cNvPicPr>
            <a:picLocks noChangeAspect="1"/>
          </p:cNvPicPr>
          <p:nvPr/>
        </p:nvPicPr>
        <p:blipFill>
          <a:blip r:embed="rId1"/>
          <a:stretch>
            <a:fillRect/>
          </a:stretch>
        </p:blipFill>
        <p:spPr>
          <a:xfrm>
            <a:off x="484632" y="1685788"/>
            <a:ext cx="7077456" cy="4309384"/>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معین 310101 پیمانکاران: سطح ۱ ← «اشخاص و شرکت‌ها»، سطح ۲ ← «مراکز هزینه»، سطح ۳ ← «پروژه‌ها». ثبت‌کنندهٔ سند باید هر سه را پر کند.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انتخاب معین</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دکمهٔ «انتخاب معین» را بزنید و معین را جستجو و «انتخاب» کنید.</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افزودن ارتباط</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با «افزودن ارتباط» یک سطح تفصیلی و یک گروه تفصیلی را کنار هم بگذارید.</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نتیجه در سند</a:t>
            </a:r>
            <a:endParaRPr lang="en-US" sz="1350" dirty="0"/>
          </a:p>
        </p:txBody>
      </p:sp>
      <p:sp>
        <p:nvSpPr>
          <p:cNvPr id="21" name="Text 18"/>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سطحی که اینجا تعریف شود، در فرم صدور سند برای آن معین الزامی می‌شود.</a:t>
            </a:r>
            <a:endParaRPr lang="en-US" sz="130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۲۶</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ویژگی و حساب شناسه‌دار؛ اطلاعات کنار مبلغ</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گاهی مبلغ و تفصیلی کافی نیست؛ مثلاً برای هزینهٔ برق می‌خواهیم بدانیم کدام اشتراک و کدام دوره. سامانه دو ابزار جدا برای این کار دارد.</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ویژگی</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به یک تفصیلی وصل می‌شود؛ اجزای «ثابت» یک بار ثبت و اجزای «متغیر» روی ردیف سند پر می‌شوند.</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اجزای ثابت</a:t>
            </a:r>
            <a:endParaRPr lang="en-US" sz="1350" dirty="0"/>
          </a:p>
        </p:txBody>
      </p:sp>
      <p:sp>
        <p:nvSpPr>
          <p:cNvPr id="12" name="Text 10"/>
          <p:cNvSpPr/>
          <p:nvPr/>
        </p:nvSpPr>
        <p:spPr>
          <a:xfrm>
            <a:off x="5440680" y="3523869"/>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مثل «شماره اشتراک» یا «شماره پلاک» که تغییر نمی‌کند.</a:t>
            </a:r>
            <a:endParaRPr lang="en-US" sz="1300" dirty="0"/>
          </a:p>
        </p:txBody>
      </p:sp>
      <p:sp>
        <p:nvSpPr>
          <p:cNvPr id="13" name="Shape 11"/>
          <p:cNvSpPr/>
          <p:nvPr/>
        </p:nvSpPr>
        <p:spPr>
          <a:xfrm>
            <a:off x="11411712" y="3865397"/>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386539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3865397"/>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اجزای متغیر</a:t>
            </a:r>
            <a:endParaRPr lang="en-US" sz="1350" dirty="0"/>
          </a:p>
        </p:txBody>
      </p:sp>
      <p:sp>
        <p:nvSpPr>
          <p:cNvPr id="16" name="Text 14"/>
          <p:cNvSpPr/>
          <p:nvPr/>
        </p:nvSpPr>
        <p:spPr>
          <a:xfrm>
            <a:off x="5440680" y="4194581"/>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مثل «دورهٔ قبض» یا «کارکرد (کیلومتر)» که در هر سند فرق می‌کند.</a:t>
            </a:r>
            <a:endParaRPr lang="en-US" sz="1300" dirty="0"/>
          </a:p>
        </p:txBody>
      </p:sp>
      <p:sp>
        <p:nvSpPr>
          <p:cNvPr id="17" name="Shape 15"/>
          <p:cNvSpPr/>
          <p:nvPr/>
        </p:nvSpPr>
        <p:spPr>
          <a:xfrm>
            <a:off x="11411712" y="4536110"/>
            <a:ext cx="329184" cy="329184"/>
          </a:xfrm>
          <a:prstGeom prst="ellipse">
            <a:avLst/>
          </a:prstGeom>
          <a:solidFill>
            <a:srgbClr val="C9A227"/>
          </a:solidFill>
          <a:ln w="12700">
            <a:solidFill>
              <a:srgbClr val="C9A227"/>
            </a:solidFill>
            <a:prstDash val="solid"/>
          </a:ln>
        </p:spPr>
      </p:sp>
      <p:sp>
        <p:nvSpPr>
          <p:cNvPr id="18" name="Text 16"/>
          <p:cNvSpPr/>
          <p:nvPr/>
        </p:nvSpPr>
        <p:spPr>
          <a:xfrm>
            <a:off x="11411712" y="453611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7"/>
          <p:cNvSpPr/>
          <p:nvPr/>
        </p:nvSpPr>
        <p:spPr>
          <a:xfrm>
            <a:off x="5440680" y="4536110"/>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حساب شناسه‌دار</a:t>
            </a:r>
            <a:endParaRPr lang="en-US" sz="1350" dirty="0"/>
          </a:p>
        </p:txBody>
      </p:sp>
      <p:sp>
        <p:nvSpPr>
          <p:cNvPr id="20" name="Text 18"/>
          <p:cNvSpPr/>
          <p:nvPr/>
        </p:nvSpPr>
        <p:spPr>
          <a:xfrm>
            <a:off x="5440680" y="4865294"/>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روی خود معین تعریف می‌شود: تا ۱۰ جعبهٔ عدد یا تاریخ که در سند باید پر شود.</a:t>
            </a:r>
            <a:endParaRPr lang="en-US" sz="1300" dirty="0"/>
          </a:p>
        </p:txBody>
      </p:sp>
      <p:sp>
        <p:nvSpPr>
          <p:cNvPr id="21" name="Shape 19"/>
          <p:cNvSpPr/>
          <p:nvPr/>
        </p:nvSpPr>
        <p:spPr>
          <a:xfrm>
            <a:off x="411480" y="1097280"/>
            <a:ext cx="4754880" cy="3161081"/>
          </a:xfrm>
          <a:prstGeom prst="roundRect">
            <a:avLst>
              <a:gd name="adj" fmla="val 2893"/>
            </a:avLst>
          </a:prstGeom>
          <a:solidFill>
            <a:srgbClr val="E3F3EA"/>
          </a:solidFill>
          <a:ln w="9525">
            <a:solidFill>
              <a:srgbClr val="1E7A4C"/>
            </a:solidFill>
            <a:prstDash val="solid"/>
          </a:ln>
        </p:spPr>
      </p:sp>
      <p:sp>
        <p:nvSpPr>
          <p:cNvPr id="22" name="Text 20"/>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مثال: قبض برق ساختمان ستاد</a:t>
            </a:r>
            <a:endParaRPr lang="en-US" sz="1500" dirty="0"/>
          </a:p>
        </p:txBody>
      </p:sp>
      <p:sp>
        <p:nvSpPr>
          <p:cNvPr id="23" name="Text 21"/>
          <p:cNvSpPr/>
          <p:nvPr/>
        </p:nvSpPr>
        <p:spPr>
          <a:xfrm>
            <a:off x="594360" y="1691640"/>
            <a:ext cx="4389120" cy="5550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گروه ویژگی «قبوض برق ساختمان‌ها» به تفصیلی «ادارهٔ پشتیبانی» وصل است:</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94360" y="2383841"/>
          <a:ext cx="4389120" cy="914400"/>
        </p:xfrm>
        <a:graphic>
          <a:graphicData uri="http://schemas.openxmlformats.org/drawingml/2006/table">
            <a:tbl>
              <a:tblPr rtl="1"/>
              <a:tblGrid>
                <a:gridCol w="2194560"/>
                <a:gridCol w="1097280"/>
                <a:gridCol w="1097280"/>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جزء</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نوع</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مقدار نمونه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شماره اشتراک</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ثابت — عدد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4521873690125</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نشانی ساختمان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ثابت — حروف فارسی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تهران، خیابان آزادی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دورهٔ قبض</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متغیر — تاریخ</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۱۴۰۵/۰۶/۳۱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مصرف (کیلووات‌ساعت)</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متغیر — عدد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۱۸,۴۰۰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bl>
          </a:graphicData>
        </a:graphic>
      </p:graphicFrame>
      <p:sp>
        <p:nvSpPr>
          <p:cNvPr id="25" name="Text 2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۲۷</a:t>
            </a:r>
            <a:endParaRPr lang="en-US" sz="1000" dirty="0"/>
          </a:p>
        </p:txBody>
      </p:sp>
      <p:sp>
        <p:nvSpPr>
          <p:cNvPr id="26" name="Text 2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۹ — تعریف ویژگی در سه تب</a:t>
            </a:r>
            <a:endParaRPr lang="en-US" sz="2500" dirty="0"/>
          </a:p>
        </p:txBody>
      </p:sp>
      <p:sp>
        <p:nvSpPr>
          <p:cNvPr id="3" name="Shape 1"/>
          <p:cNvSpPr/>
          <p:nvPr/>
        </p:nvSpPr>
        <p:spPr>
          <a:xfrm>
            <a:off x="11393424" y="1188720"/>
            <a:ext cx="384048" cy="384048"/>
          </a:xfrm>
          <a:prstGeom prst="ellipse">
            <a:avLst/>
          </a:prstGeom>
          <a:solidFill>
            <a:srgbClr val="C9A227"/>
          </a:solidFill>
          <a:ln w="12700">
            <a:solidFill>
              <a:srgbClr val="C9A227"/>
            </a:solidFill>
            <a:prstDash val="solid"/>
          </a:ln>
        </p:spPr>
      </p:sp>
      <p:sp>
        <p:nvSpPr>
          <p:cNvPr id="4" name="Text 2"/>
          <p:cNvSpPr/>
          <p:nvPr/>
        </p:nvSpPr>
        <p:spPr>
          <a:xfrm>
            <a:off x="11393424"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5" name="Text 3"/>
          <p:cNvSpPr/>
          <p:nvPr/>
        </p:nvSpPr>
        <p:spPr>
          <a:xfrm>
            <a:off x="8119872" y="1188720"/>
            <a:ext cx="3154680" cy="384048"/>
          </a:xfrm>
          <a:prstGeom prst="rect">
            <a:avLst/>
          </a:prstGeom>
          <a:noFill/>
          <a:ln/>
        </p:spPr>
        <p:txBody>
          <a:bodyPr wrap="square" lIns="0" tIns="0" rIns="0" bIns="0" rtlCol="0" anchor="ctr"/>
          <a:lstStyle/>
          <a:p>
            <a:pPr rtl="1" algn="r" indent="0" marL="0">
              <a:buNone/>
            </a:pPr>
            <a:r>
              <a:rPr lang="en-US" sz="1450" b="1" dirty="0">
                <a:solidFill>
                  <a:srgbClr val="1B2A49"/>
                </a:solidFill>
                <a:latin typeface="Tahoma" pitchFamily="34" charset="0"/>
                <a:ea typeface="Tahoma" pitchFamily="34" charset="-122"/>
                <a:cs typeface="Tahoma" pitchFamily="34" charset="-120"/>
              </a:rPr>
              <a:t>۱. گروه ویژگی</a:t>
            </a:r>
            <a:endParaRPr lang="en-US" sz="1450" dirty="0"/>
          </a:p>
        </p:txBody>
      </p:sp>
      <p:sp>
        <p:nvSpPr>
          <p:cNvPr id="6" name="Shape 4"/>
          <p:cNvSpPr/>
          <p:nvPr/>
        </p:nvSpPr>
        <p:spPr>
          <a:xfrm>
            <a:off x="8119872" y="1691640"/>
            <a:ext cx="3657600" cy="2788920"/>
          </a:xfrm>
          <a:prstGeom prst="roundRect">
            <a:avLst>
              <a:gd name="adj" fmla="val 262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bs_feat_g">    </p:cNvPr>
          <p:cNvPicPr>
            <a:picLocks noChangeAspect="1"/>
          </p:cNvPicPr>
          <p:nvPr/>
        </p:nvPicPr>
        <p:blipFill>
          <a:blip r:embed="rId1"/>
          <a:stretch>
            <a:fillRect/>
          </a:stretch>
        </p:blipFill>
        <p:spPr>
          <a:xfrm>
            <a:off x="8165592" y="2210410"/>
            <a:ext cx="3566160" cy="1751381"/>
          </a:xfrm>
          <a:prstGeom prst="rect">
            <a:avLst/>
          </a:prstGeom>
        </p:spPr>
      </p:pic>
      <p:sp>
        <p:nvSpPr>
          <p:cNvPr id="8" name="Text 5"/>
          <p:cNvSpPr/>
          <p:nvPr/>
        </p:nvSpPr>
        <p:spPr>
          <a:xfrm>
            <a:off x="8119872" y="4617720"/>
            <a:ext cx="3657600" cy="169164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در تب «گروه ویژگی» با «افزودن گروه ویژگی» کد، شرح و تفصیلی مربوط را تعیین کنید.</a:t>
            </a:r>
            <a:endParaRPr lang="en-US" sz="1250" dirty="0"/>
          </a:p>
        </p:txBody>
      </p:sp>
      <p:sp>
        <p:nvSpPr>
          <p:cNvPr id="9" name="Shape 6"/>
          <p:cNvSpPr/>
          <p:nvPr/>
        </p:nvSpPr>
        <p:spPr>
          <a:xfrm>
            <a:off x="7539228" y="1188720"/>
            <a:ext cx="384048" cy="384048"/>
          </a:xfrm>
          <a:prstGeom prst="ellipse">
            <a:avLst/>
          </a:prstGeom>
          <a:solidFill>
            <a:srgbClr val="C9A227"/>
          </a:solidFill>
          <a:ln w="12700">
            <a:solidFill>
              <a:srgbClr val="C9A227"/>
            </a:solidFill>
            <a:prstDash val="solid"/>
          </a:ln>
        </p:spPr>
      </p:sp>
      <p:sp>
        <p:nvSpPr>
          <p:cNvPr id="10" name="Text 7"/>
          <p:cNvSpPr/>
          <p:nvPr/>
        </p:nvSpPr>
        <p:spPr>
          <a:xfrm>
            <a:off x="7539228"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p:nvPr/>
        </p:nvSpPr>
        <p:spPr>
          <a:xfrm>
            <a:off x="4265676" y="1188720"/>
            <a:ext cx="3154680" cy="384048"/>
          </a:xfrm>
          <a:prstGeom prst="rect">
            <a:avLst/>
          </a:prstGeom>
          <a:noFill/>
          <a:ln/>
        </p:spPr>
        <p:txBody>
          <a:bodyPr wrap="square" lIns="0" tIns="0" rIns="0" bIns="0" rtlCol="0" anchor="ctr"/>
          <a:lstStyle/>
          <a:p>
            <a:pPr rtl="1" algn="r" indent="0" marL="0">
              <a:buNone/>
            </a:pPr>
            <a:r>
              <a:rPr lang="en-US" sz="1450" b="1" dirty="0">
                <a:solidFill>
                  <a:srgbClr val="1B2A49"/>
                </a:solidFill>
                <a:latin typeface="Tahoma" pitchFamily="34" charset="0"/>
                <a:ea typeface="Tahoma" pitchFamily="34" charset="-122"/>
                <a:cs typeface="Tahoma" pitchFamily="34" charset="-120"/>
              </a:rPr>
              <a:t>۲. اجزای ویژگی</a:t>
            </a:r>
            <a:endParaRPr lang="en-US" sz="1450" dirty="0"/>
          </a:p>
        </p:txBody>
      </p:sp>
      <p:sp>
        <p:nvSpPr>
          <p:cNvPr id="12" name="Shape 9"/>
          <p:cNvSpPr/>
          <p:nvPr/>
        </p:nvSpPr>
        <p:spPr>
          <a:xfrm>
            <a:off x="4265676" y="1691640"/>
            <a:ext cx="3657600" cy="2788920"/>
          </a:xfrm>
          <a:prstGeom prst="roundRect">
            <a:avLst>
              <a:gd name="adj" fmla="val 262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3" name="Image 1" descr="bs_feat_p">    </p:cNvPr>
          <p:cNvPicPr>
            <a:picLocks noChangeAspect="1"/>
          </p:cNvPicPr>
          <p:nvPr/>
        </p:nvPicPr>
        <p:blipFill>
          <a:blip r:embed="rId2"/>
          <a:stretch>
            <a:fillRect/>
          </a:stretch>
        </p:blipFill>
        <p:spPr>
          <a:xfrm>
            <a:off x="4311396" y="2034083"/>
            <a:ext cx="3566160" cy="2104034"/>
          </a:xfrm>
          <a:prstGeom prst="rect">
            <a:avLst/>
          </a:prstGeom>
        </p:spPr>
      </p:pic>
      <p:sp>
        <p:nvSpPr>
          <p:cNvPr id="14" name="Text 10"/>
          <p:cNvSpPr/>
          <p:nvPr/>
        </p:nvSpPr>
        <p:spPr>
          <a:xfrm>
            <a:off x="4265676" y="4617720"/>
            <a:ext cx="3657600" cy="169164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در تب «اجزای ویژگی» گروه را انتخاب و با «افزودن جزء» نوع (ثابت/متغیر)، نوع مقدار و طول را بدهید.</a:t>
            </a:r>
            <a:endParaRPr lang="en-US" sz="1250" dirty="0"/>
          </a:p>
        </p:txBody>
      </p:sp>
      <p:sp>
        <p:nvSpPr>
          <p:cNvPr id="15" name="Shape 11"/>
          <p:cNvSpPr/>
          <p:nvPr/>
        </p:nvSpPr>
        <p:spPr>
          <a:xfrm>
            <a:off x="3685032" y="1188720"/>
            <a:ext cx="384048" cy="384048"/>
          </a:xfrm>
          <a:prstGeom prst="ellipse">
            <a:avLst/>
          </a:prstGeom>
          <a:solidFill>
            <a:srgbClr val="C9A227"/>
          </a:solidFill>
          <a:ln w="12700">
            <a:solidFill>
              <a:srgbClr val="C9A227"/>
            </a:solidFill>
            <a:prstDash val="solid"/>
          </a:ln>
        </p:spPr>
      </p:sp>
      <p:sp>
        <p:nvSpPr>
          <p:cNvPr id="16" name="Text 12"/>
          <p:cNvSpPr/>
          <p:nvPr/>
        </p:nvSpPr>
        <p:spPr>
          <a:xfrm>
            <a:off x="3685032"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3"/>
          <p:cNvSpPr/>
          <p:nvPr/>
        </p:nvSpPr>
        <p:spPr>
          <a:xfrm>
            <a:off x="411480" y="1188720"/>
            <a:ext cx="3154680" cy="384048"/>
          </a:xfrm>
          <a:prstGeom prst="rect">
            <a:avLst/>
          </a:prstGeom>
          <a:noFill/>
          <a:ln/>
        </p:spPr>
        <p:txBody>
          <a:bodyPr wrap="square" lIns="0" tIns="0" rIns="0" bIns="0" rtlCol="0" anchor="ctr"/>
          <a:lstStyle/>
          <a:p>
            <a:pPr rtl="1" algn="r" indent="0" marL="0">
              <a:buNone/>
            </a:pPr>
            <a:r>
              <a:rPr lang="en-US" sz="1450" b="1" dirty="0">
                <a:solidFill>
                  <a:srgbClr val="1B2A49"/>
                </a:solidFill>
                <a:latin typeface="Tahoma" pitchFamily="34" charset="0"/>
                <a:ea typeface="Tahoma" pitchFamily="34" charset="-122"/>
                <a:cs typeface="Tahoma" pitchFamily="34" charset="-120"/>
              </a:rPr>
              <a:t>۳. ویژگی‌های ثبت‌شده</a:t>
            </a:r>
            <a:endParaRPr lang="en-US" sz="1450" dirty="0"/>
          </a:p>
        </p:txBody>
      </p:sp>
      <p:sp>
        <p:nvSpPr>
          <p:cNvPr id="18" name="Shape 14"/>
          <p:cNvSpPr/>
          <p:nvPr/>
        </p:nvSpPr>
        <p:spPr>
          <a:xfrm>
            <a:off x="411480" y="1691640"/>
            <a:ext cx="3657600" cy="2788920"/>
          </a:xfrm>
          <a:prstGeom prst="roundRect">
            <a:avLst>
              <a:gd name="adj" fmla="val 262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9" name="Image 2" descr="bs_feat_r">    </p:cNvPr>
          <p:cNvPicPr>
            <a:picLocks noChangeAspect="1"/>
          </p:cNvPicPr>
          <p:nvPr/>
        </p:nvPicPr>
        <p:blipFill>
          <a:blip r:embed="rId3"/>
          <a:stretch>
            <a:fillRect/>
          </a:stretch>
        </p:blipFill>
        <p:spPr>
          <a:xfrm>
            <a:off x="457200" y="2092528"/>
            <a:ext cx="3566160" cy="1987144"/>
          </a:xfrm>
          <a:prstGeom prst="rect">
            <a:avLst/>
          </a:prstGeom>
        </p:spPr>
      </p:pic>
      <p:sp>
        <p:nvSpPr>
          <p:cNvPr id="20" name="Text 15"/>
          <p:cNvSpPr/>
          <p:nvPr/>
        </p:nvSpPr>
        <p:spPr>
          <a:xfrm>
            <a:off x="411480" y="4617720"/>
            <a:ext cx="3657600" cy="169164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در تب «ویژگی‌های ثبت‌شده» با «ثبت ویژگی» مقادیر ثابت هر مورد را وارد کنید (مثلاً هر اشتراک برق).</a:t>
            </a:r>
            <a:endParaRPr lang="en-US" sz="1250" dirty="0"/>
          </a:p>
        </p:txBody>
      </p:sp>
      <p:sp>
        <p:nvSpPr>
          <p:cNvPr id="21" name="Text 1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۲۸</a:t>
            </a:r>
            <a:endParaRPr lang="en-US" sz="1000" dirty="0"/>
          </a:p>
        </p:txBody>
      </p:sp>
      <p:sp>
        <p:nvSpPr>
          <p:cNvPr id="22" name="Text 1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۱۰ — حساب‌های شناسه‌دار</a:t>
            </a:r>
            <a:endParaRPr lang="en-US" sz="2500" dirty="0"/>
          </a:p>
        </p:txBody>
      </p:sp>
      <p:sp>
        <p:nvSpPr>
          <p:cNvPr id="3" name="Shape 1"/>
          <p:cNvSpPr/>
          <p:nvPr/>
        </p:nvSpPr>
        <p:spPr>
          <a:xfrm>
            <a:off x="8572500" y="896112"/>
            <a:ext cx="320497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682228" y="896112"/>
            <a:ext cx="298551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حساب‌های شناسه‌دار</a:t>
            </a:r>
            <a:endParaRPr lang="en-US" sz="1100" dirty="0"/>
          </a:p>
        </p:txBody>
      </p:sp>
      <p:sp>
        <p:nvSpPr>
          <p:cNvPr id="5" name="Shape 3"/>
          <p:cNvSpPr/>
          <p:nvPr/>
        </p:nvSpPr>
        <p:spPr>
          <a:xfrm>
            <a:off x="411480" y="1325880"/>
            <a:ext cx="11365992" cy="2585923"/>
          </a:xfrm>
          <a:prstGeom prst="roundRect">
            <a:avLst>
              <a:gd name="adj" fmla="val 2829"/>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s_attr">    </p:cNvPr>
          <p:cNvPicPr>
            <a:picLocks noChangeAspect="1"/>
          </p:cNvPicPr>
          <p:nvPr/>
        </p:nvPicPr>
        <p:blipFill>
          <a:blip r:embed="rId1"/>
          <a:stretch>
            <a:fillRect/>
          </a:stretch>
        </p:blipFill>
        <p:spPr>
          <a:xfrm>
            <a:off x="3048296" y="1371600"/>
            <a:ext cx="6092361" cy="2494483"/>
          </a:xfrm>
          <a:prstGeom prst="rect">
            <a:avLst/>
          </a:prstGeom>
        </p:spPr>
      </p:pic>
      <p:sp>
        <p:nvSpPr>
          <p:cNvPr id="7" name="Shape 4"/>
          <p:cNvSpPr/>
          <p:nvPr/>
        </p:nvSpPr>
        <p:spPr>
          <a:xfrm>
            <a:off x="9073134" y="4094683"/>
            <a:ext cx="2704338" cy="1373429"/>
          </a:xfrm>
          <a:prstGeom prst="roundRect">
            <a:avLst>
              <a:gd name="adj" fmla="val 6658"/>
            </a:avLst>
          </a:prstGeom>
          <a:solidFill>
            <a:srgbClr val="FFFFFF"/>
          </a:solidFill>
          <a:ln w="6350">
            <a:solidFill>
              <a:srgbClr val="D9DEE7"/>
            </a:solidFill>
            <a:prstDash val="solid"/>
          </a:ln>
        </p:spPr>
      </p:sp>
      <p:sp>
        <p:nvSpPr>
          <p:cNvPr id="8" name="Shape 5"/>
          <p:cNvSpPr/>
          <p:nvPr/>
        </p:nvSpPr>
        <p:spPr>
          <a:xfrm>
            <a:off x="11320272" y="4204411"/>
            <a:ext cx="329184" cy="329184"/>
          </a:xfrm>
          <a:prstGeom prst="ellipse">
            <a:avLst/>
          </a:prstGeom>
          <a:solidFill>
            <a:srgbClr val="C9A227"/>
          </a:solidFill>
          <a:ln w="12700">
            <a:solidFill>
              <a:srgbClr val="C9A227"/>
            </a:solidFill>
            <a:prstDash val="solid"/>
          </a:ln>
        </p:spPr>
      </p:sp>
      <p:sp>
        <p:nvSpPr>
          <p:cNvPr id="9" name="Text 6"/>
          <p:cNvSpPr/>
          <p:nvPr/>
        </p:nvSpPr>
        <p:spPr>
          <a:xfrm>
            <a:off x="11320272" y="420441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9210294" y="4186123"/>
            <a:ext cx="2064258"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افزودن</a:t>
            </a:r>
            <a:endParaRPr lang="en-US" sz="1350" dirty="0"/>
          </a:p>
        </p:txBody>
      </p:sp>
      <p:sp>
        <p:nvSpPr>
          <p:cNvPr id="11" name="Text 8"/>
          <p:cNvSpPr/>
          <p:nvPr/>
        </p:nvSpPr>
        <p:spPr>
          <a:xfrm>
            <a:off x="9210294" y="4625035"/>
            <a:ext cx="2430018" cy="806501"/>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«افزودن حساب شناسه‌دار» را بزنید و با «انتخاب حساب معین» معین را برگزینید.</a:t>
            </a:r>
            <a:endParaRPr lang="en-US" sz="1200" dirty="0"/>
          </a:p>
        </p:txBody>
      </p:sp>
      <p:sp>
        <p:nvSpPr>
          <p:cNvPr id="12" name="Shape 9"/>
          <p:cNvSpPr/>
          <p:nvPr/>
        </p:nvSpPr>
        <p:spPr>
          <a:xfrm>
            <a:off x="6185916" y="4094683"/>
            <a:ext cx="2704338" cy="1373429"/>
          </a:xfrm>
          <a:prstGeom prst="roundRect">
            <a:avLst>
              <a:gd name="adj" fmla="val 6658"/>
            </a:avLst>
          </a:prstGeom>
          <a:solidFill>
            <a:srgbClr val="FFFFFF"/>
          </a:solidFill>
          <a:ln w="6350">
            <a:solidFill>
              <a:srgbClr val="D9DEE7"/>
            </a:solidFill>
            <a:prstDash val="solid"/>
          </a:ln>
        </p:spPr>
      </p:sp>
      <p:sp>
        <p:nvSpPr>
          <p:cNvPr id="13" name="Shape 10"/>
          <p:cNvSpPr/>
          <p:nvPr/>
        </p:nvSpPr>
        <p:spPr>
          <a:xfrm>
            <a:off x="8433054" y="4204411"/>
            <a:ext cx="329184" cy="329184"/>
          </a:xfrm>
          <a:prstGeom prst="ellipse">
            <a:avLst/>
          </a:prstGeom>
          <a:solidFill>
            <a:srgbClr val="C9A227"/>
          </a:solidFill>
          <a:ln w="12700">
            <a:solidFill>
              <a:srgbClr val="C9A227"/>
            </a:solidFill>
            <a:prstDash val="solid"/>
          </a:ln>
        </p:spPr>
      </p:sp>
      <p:sp>
        <p:nvSpPr>
          <p:cNvPr id="14" name="Text 11"/>
          <p:cNvSpPr/>
          <p:nvPr/>
        </p:nvSpPr>
        <p:spPr>
          <a:xfrm>
            <a:off x="8433054" y="420441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5" name="Text 12"/>
          <p:cNvSpPr/>
          <p:nvPr/>
        </p:nvSpPr>
        <p:spPr>
          <a:xfrm>
            <a:off x="6323076" y="4186123"/>
            <a:ext cx="2064258"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شماره جعبه و طول</a:t>
            </a:r>
            <a:endParaRPr lang="en-US" sz="1350" dirty="0"/>
          </a:p>
        </p:txBody>
      </p:sp>
      <p:sp>
        <p:nvSpPr>
          <p:cNvPr id="16" name="Text 13"/>
          <p:cNvSpPr/>
          <p:nvPr/>
        </p:nvSpPr>
        <p:spPr>
          <a:xfrm>
            <a:off x="6323076" y="4625035"/>
            <a:ext cx="2430018" cy="806501"/>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هر شناسه یک «شماره جعبه» (۰ تا ۹) و «طول شناسه» دارد.</a:t>
            </a:r>
            <a:endParaRPr lang="en-US" sz="1200" dirty="0"/>
          </a:p>
        </p:txBody>
      </p:sp>
      <p:sp>
        <p:nvSpPr>
          <p:cNvPr id="17" name="Shape 14"/>
          <p:cNvSpPr/>
          <p:nvPr/>
        </p:nvSpPr>
        <p:spPr>
          <a:xfrm>
            <a:off x="3298698" y="4094683"/>
            <a:ext cx="2704338" cy="1373429"/>
          </a:xfrm>
          <a:prstGeom prst="roundRect">
            <a:avLst>
              <a:gd name="adj" fmla="val 6658"/>
            </a:avLst>
          </a:prstGeom>
          <a:solidFill>
            <a:srgbClr val="FFFFFF"/>
          </a:solidFill>
          <a:ln w="6350">
            <a:solidFill>
              <a:srgbClr val="D9DEE7"/>
            </a:solidFill>
            <a:prstDash val="solid"/>
          </a:ln>
        </p:spPr>
      </p:sp>
      <p:sp>
        <p:nvSpPr>
          <p:cNvPr id="18" name="Shape 15"/>
          <p:cNvSpPr/>
          <p:nvPr/>
        </p:nvSpPr>
        <p:spPr>
          <a:xfrm>
            <a:off x="5545836" y="4204411"/>
            <a:ext cx="329184" cy="329184"/>
          </a:xfrm>
          <a:prstGeom prst="ellipse">
            <a:avLst/>
          </a:prstGeom>
          <a:solidFill>
            <a:srgbClr val="C9A227"/>
          </a:solidFill>
          <a:ln w="12700">
            <a:solidFill>
              <a:srgbClr val="C9A227"/>
            </a:solidFill>
            <a:prstDash val="solid"/>
          </a:ln>
        </p:spPr>
      </p:sp>
      <p:sp>
        <p:nvSpPr>
          <p:cNvPr id="19" name="Text 16"/>
          <p:cNvSpPr/>
          <p:nvPr/>
        </p:nvSpPr>
        <p:spPr>
          <a:xfrm>
            <a:off x="5545836" y="420441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3435858" y="4186123"/>
            <a:ext cx="2064258"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نوع مقدار و کنترل</a:t>
            </a:r>
            <a:endParaRPr lang="en-US" sz="1350" dirty="0"/>
          </a:p>
        </p:txBody>
      </p:sp>
      <p:sp>
        <p:nvSpPr>
          <p:cNvPr id="21" name="Text 18"/>
          <p:cNvSpPr/>
          <p:nvPr/>
        </p:nvSpPr>
        <p:spPr>
          <a:xfrm>
            <a:off x="3435858" y="4625035"/>
            <a:ext cx="2430018" cy="806501"/>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نوع: عدد یا تاریخ. کنترل: «غیرصفر» یا «تاریخ» برای جلوگیری از مقدار نادرست.</a:t>
            </a:r>
            <a:endParaRPr lang="en-US" sz="1200" dirty="0"/>
          </a:p>
        </p:txBody>
      </p:sp>
      <p:sp>
        <p:nvSpPr>
          <p:cNvPr id="22" name="Shape 19"/>
          <p:cNvSpPr/>
          <p:nvPr/>
        </p:nvSpPr>
        <p:spPr>
          <a:xfrm>
            <a:off x="411480" y="4094683"/>
            <a:ext cx="2704338" cy="1373429"/>
          </a:xfrm>
          <a:prstGeom prst="roundRect">
            <a:avLst>
              <a:gd name="adj" fmla="val 6658"/>
            </a:avLst>
          </a:prstGeom>
          <a:solidFill>
            <a:srgbClr val="FFFFFF"/>
          </a:solidFill>
          <a:ln w="6350">
            <a:solidFill>
              <a:srgbClr val="D9DEE7"/>
            </a:solidFill>
            <a:prstDash val="solid"/>
          </a:ln>
        </p:spPr>
      </p:sp>
      <p:sp>
        <p:nvSpPr>
          <p:cNvPr id="23" name="Shape 20"/>
          <p:cNvSpPr/>
          <p:nvPr/>
        </p:nvSpPr>
        <p:spPr>
          <a:xfrm>
            <a:off x="2658618" y="4204411"/>
            <a:ext cx="329184" cy="329184"/>
          </a:xfrm>
          <a:prstGeom prst="ellipse">
            <a:avLst/>
          </a:prstGeom>
          <a:solidFill>
            <a:srgbClr val="C9A227"/>
          </a:solidFill>
          <a:ln w="12700">
            <a:solidFill>
              <a:srgbClr val="C9A227"/>
            </a:solidFill>
            <a:prstDash val="solid"/>
          </a:ln>
        </p:spPr>
      </p:sp>
      <p:sp>
        <p:nvSpPr>
          <p:cNvPr id="24" name="Text 21"/>
          <p:cNvSpPr/>
          <p:nvPr/>
        </p:nvSpPr>
        <p:spPr>
          <a:xfrm>
            <a:off x="2658618" y="420441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5" name="Text 22"/>
          <p:cNvSpPr/>
          <p:nvPr/>
        </p:nvSpPr>
        <p:spPr>
          <a:xfrm>
            <a:off x="548640" y="4186123"/>
            <a:ext cx="2064258"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فیلترها</a:t>
            </a:r>
            <a:endParaRPr lang="en-US" sz="1350" dirty="0"/>
          </a:p>
        </p:txBody>
      </p:sp>
      <p:sp>
        <p:nvSpPr>
          <p:cNvPr id="26" name="Text 23"/>
          <p:cNvSpPr/>
          <p:nvPr/>
        </p:nvSpPr>
        <p:spPr>
          <a:xfrm>
            <a:off x="548640" y="4625035"/>
            <a:ext cx="2430018" cy="806501"/>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با سال مالی، «از معین/تا معین»، نوع مقدار و جمع‌پذیری فهرست را محدود کنید.</a:t>
            </a:r>
            <a:endParaRPr lang="en-US" sz="1200" dirty="0"/>
          </a:p>
        </p:txBody>
      </p:sp>
      <p:sp>
        <p:nvSpPr>
          <p:cNvPr id="27" name="Shape 24"/>
          <p:cNvSpPr/>
          <p:nvPr/>
        </p:nvSpPr>
        <p:spPr>
          <a:xfrm>
            <a:off x="411480" y="5669280"/>
            <a:ext cx="11365992" cy="685800"/>
          </a:xfrm>
          <a:prstGeom prst="roundRect">
            <a:avLst>
              <a:gd name="adj" fmla="val 10667"/>
            </a:avLst>
          </a:prstGeom>
          <a:solidFill>
            <a:srgbClr val="E3F3EA"/>
          </a:solidFill>
          <a:ln w="9525">
            <a:solidFill>
              <a:srgbClr val="1E7A4C"/>
            </a:solidFill>
            <a:prstDash val="solid"/>
          </a:ln>
        </p:spPr>
      </p:sp>
      <p:sp>
        <p:nvSpPr>
          <p:cNvPr id="28" name="Text 25"/>
          <p:cNvSpPr/>
          <p:nvPr/>
        </p:nvSpPr>
        <p:spPr>
          <a:xfrm>
            <a:off x="10863072" y="5669280"/>
            <a:ext cx="822960" cy="685800"/>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29" name="Text 26"/>
          <p:cNvSpPr/>
          <p:nvPr/>
        </p:nvSpPr>
        <p:spPr>
          <a:xfrm>
            <a:off x="548640" y="5669280"/>
            <a:ext cx="10241280" cy="68580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معین 310201 «مالیات تکلیفی پرداختنی»: جعبهٔ ۱ = شمارهٔ قرارداد (عدد، ۱۰ رقم)، جعبهٔ ۲ = تاریخ قرارداد. هر ردیف سند روی این معین این دو را می‌خواهد.</a:t>
            </a:r>
            <a:endParaRPr lang="en-US" sz="1250" dirty="0"/>
          </a:p>
        </p:txBody>
      </p:sp>
      <p:sp>
        <p:nvSpPr>
          <p:cNvPr id="30"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۲۹</a:t>
            </a:r>
            <a:endParaRPr lang="en-US" sz="1000" dirty="0"/>
          </a:p>
        </p:txBody>
      </p:sp>
      <p:sp>
        <p:nvSpPr>
          <p:cNvPr id="31"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۱۱ — حساب‌های بانکی</a:t>
            </a:r>
            <a:endParaRPr lang="en-US" sz="2500" dirty="0"/>
          </a:p>
        </p:txBody>
      </p:sp>
      <p:sp>
        <p:nvSpPr>
          <p:cNvPr id="3" name="Shape 1"/>
          <p:cNvSpPr/>
          <p:nvPr/>
        </p:nvSpPr>
        <p:spPr>
          <a:xfrm>
            <a:off x="9660636" y="896112"/>
            <a:ext cx="211683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770364" y="896112"/>
            <a:ext cx="189738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بانک</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تب «حساب‌های بانکی»</a:t>
            </a:r>
            <a:endParaRPr lang="en-US" sz="1200" dirty="0"/>
          </a:p>
        </p:txBody>
      </p:sp>
      <p:sp>
        <p:nvSpPr>
          <p:cNvPr id="6" name="Shape 4"/>
          <p:cNvSpPr/>
          <p:nvPr/>
        </p:nvSpPr>
        <p:spPr>
          <a:xfrm>
            <a:off x="6208776" y="1618488"/>
            <a:ext cx="5568696" cy="2690165"/>
          </a:xfrm>
          <a:prstGeom prst="roundRect">
            <a:avLst>
              <a:gd name="adj" fmla="val 2719"/>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bs_bank_s">    </p:cNvPr>
          <p:cNvPicPr>
            <a:picLocks noChangeAspect="1"/>
          </p:cNvPicPr>
          <p:nvPr/>
        </p:nvPicPr>
        <p:blipFill>
          <a:blip r:embed="rId1"/>
          <a:stretch>
            <a:fillRect/>
          </a:stretch>
        </p:blipFill>
        <p:spPr>
          <a:xfrm>
            <a:off x="6254496" y="2081124"/>
            <a:ext cx="5477256" cy="1764894"/>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فرم حساب بانکی و تفصیلی آن</a:t>
            </a:r>
            <a:endParaRPr lang="en-US" sz="1200" dirty="0"/>
          </a:p>
        </p:txBody>
      </p:sp>
      <p:sp>
        <p:nvSpPr>
          <p:cNvPr id="9" name="Shape 6"/>
          <p:cNvSpPr/>
          <p:nvPr/>
        </p:nvSpPr>
        <p:spPr>
          <a:xfrm>
            <a:off x="411480" y="1618488"/>
            <a:ext cx="5568696" cy="2690165"/>
          </a:xfrm>
          <a:prstGeom prst="roundRect">
            <a:avLst>
              <a:gd name="adj" fmla="val 2719"/>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bs_bank_fs">    </p:cNvPr>
          <p:cNvPicPr>
            <a:picLocks noChangeAspect="1"/>
          </p:cNvPicPr>
          <p:nvPr/>
        </p:nvPicPr>
        <p:blipFill>
          <a:blip r:embed="rId2"/>
          <a:stretch>
            <a:fillRect/>
          </a:stretch>
        </p:blipFill>
        <p:spPr>
          <a:xfrm>
            <a:off x="457200" y="1685544"/>
            <a:ext cx="5477256" cy="2556053"/>
          </a:xfrm>
          <a:prstGeom prst="rect">
            <a:avLst/>
          </a:prstGeom>
        </p:spPr>
      </p:pic>
      <p:sp>
        <p:nvSpPr>
          <p:cNvPr id="11" name="Shape 7"/>
          <p:cNvSpPr/>
          <p:nvPr/>
        </p:nvSpPr>
        <p:spPr>
          <a:xfrm>
            <a:off x="9038844" y="4491533"/>
            <a:ext cx="2738628" cy="1863547"/>
          </a:xfrm>
          <a:prstGeom prst="roundRect">
            <a:avLst>
              <a:gd name="adj" fmla="val 3925"/>
            </a:avLst>
          </a:prstGeom>
          <a:solidFill>
            <a:srgbClr val="FFFFFF"/>
          </a:solidFill>
          <a:ln w="6350">
            <a:solidFill>
              <a:srgbClr val="D9DEE7"/>
            </a:solidFill>
            <a:prstDash val="solid"/>
          </a:ln>
        </p:spPr>
      </p:sp>
      <p:sp>
        <p:nvSpPr>
          <p:cNvPr id="12" name="Shape 8"/>
          <p:cNvSpPr/>
          <p:nvPr/>
        </p:nvSpPr>
        <p:spPr>
          <a:xfrm>
            <a:off x="11356848" y="4582973"/>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5829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5646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افزودن حساب</a:t>
            </a:r>
            <a:endParaRPr lang="en-US" sz="1300" dirty="0"/>
          </a:p>
        </p:txBody>
      </p:sp>
      <p:sp>
        <p:nvSpPr>
          <p:cNvPr id="15" name="Text 11"/>
          <p:cNvSpPr/>
          <p:nvPr/>
        </p:nvSpPr>
        <p:spPr>
          <a:xfrm>
            <a:off x="9148572" y="4967021"/>
            <a:ext cx="2519172" cy="1333195"/>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«افزودن حساب بانکی»؛ شماره حساب و صاحب حساب الزامی‌اند، کارت و شبا اختیاری.</a:t>
            </a:r>
            <a:endParaRPr lang="en-US" sz="1150" dirty="0"/>
          </a:p>
        </p:txBody>
      </p:sp>
      <p:sp>
        <p:nvSpPr>
          <p:cNvPr id="16" name="Shape 12"/>
          <p:cNvSpPr/>
          <p:nvPr/>
        </p:nvSpPr>
        <p:spPr>
          <a:xfrm>
            <a:off x="6163056" y="4491533"/>
            <a:ext cx="2738628" cy="1863547"/>
          </a:xfrm>
          <a:prstGeom prst="roundRect">
            <a:avLst>
              <a:gd name="adj" fmla="val 3925"/>
            </a:avLst>
          </a:prstGeom>
          <a:solidFill>
            <a:srgbClr val="FFFFFF"/>
          </a:solidFill>
          <a:ln w="6350">
            <a:solidFill>
              <a:srgbClr val="D9DEE7"/>
            </a:solidFill>
            <a:prstDash val="solid"/>
          </a:ln>
        </p:spPr>
      </p:sp>
      <p:sp>
        <p:nvSpPr>
          <p:cNvPr id="17" name="Shape 13"/>
          <p:cNvSpPr/>
          <p:nvPr/>
        </p:nvSpPr>
        <p:spPr>
          <a:xfrm>
            <a:off x="8481060" y="4582973"/>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5829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5646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اتصال به کدینگ</a:t>
            </a:r>
            <a:endParaRPr lang="en-US" sz="1300" dirty="0"/>
          </a:p>
        </p:txBody>
      </p:sp>
      <p:sp>
        <p:nvSpPr>
          <p:cNvPr id="20" name="Text 16"/>
          <p:cNvSpPr/>
          <p:nvPr/>
        </p:nvSpPr>
        <p:spPr>
          <a:xfrm>
            <a:off x="6272784" y="4967021"/>
            <a:ext cx="2519172" cy="1333195"/>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معین حساب (مثلاً 110201) را انتخاب کنید؛ سطح‌های تفصیلی آن خودکار ظاهر می‌شود.</a:t>
            </a:r>
            <a:endParaRPr lang="en-US" sz="1150" dirty="0"/>
          </a:p>
        </p:txBody>
      </p:sp>
      <p:sp>
        <p:nvSpPr>
          <p:cNvPr id="21" name="Shape 17"/>
          <p:cNvSpPr/>
          <p:nvPr/>
        </p:nvSpPr>
        <p:spPr>
          <a:xfrm>
            <a:off x="3287268" y="4491533"/>
            <a:ext cx="2738628" cy="1863547"/>
          </a:xfrm>
          <a:prstGeom prst="roundRect">
            <a:avLst>
              <a:gd name="adj" fmla="val 3925"/>
            </a:avLst>
          </a:prstGeom>
          <a:solidFill>
            <a:srgbClr val="FFFFFF"/>
          </a:solidFill>
          <a:ln w="6350">
            <a:solidFill>
              <a:srgbClr val="D9DEE7"/>
            </a:solidFill>
            <a:prstDash val="solid"/>
          </a:ln>
        </p:spPr>
      </p:sp>
      <p:sp>
        <p:nvSpPr>
          <p:cNvPr id="22" name="Shape 18"/>
          <p:cNvSpPr/>
          <p:nvPr/>
        </p:nvSpPr>
        <p:spPr>
          <a:xfrm>
            <a:off x="5605272" y="4582973"/>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5829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5646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تفصیلی حساب</a:t>
            </a:r>
            <a:endParaRPr lang="en-US" sz="1300" dirty="0"/>
          </a:p>
        </p:txBody>
      </p:sp>
      <p:sp>
        <p:nvSpPr>
          <p:cNvPr id="25" name="Text 21"/>
          <p:cNvSpPr/>
          <p:nvPr/>
        </p:nvSpPr>
        <p:spPr>
          <a:xfrm>
            <a:off x="3396996" y="4967021"/>
            <a:ext cx="2519172" cy="1333195"/>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تفصیلی همین حساب (مثلاً «بانک ملی — جاری») را برگزینید.</a:t>
            </a:r>
            <a:endParaRPr lang="en-US" sz="1150" dirty="0"/>
          </a:p>
        </p:txBody>
      </p:sp>
      <p:sp>
        <p:nvSpPr>
          <p:cNvPr id="26" name="Shape 22"/>
          <p:cNvSpPr/>
          <p:nvPr/>
        </p:nvSpPr>
        <p:spPr>
          <a:xfrm>
            <a:off x="411480" y="4491533"/>
            <a:ext cx="2738628" cy="1863547"/>
          </a:xfrm>
          <a:prstGeom prst="roundRect">
            <a:avLst>
              <a:gd name="adj" fmla="val 3925"/>
            </a:avLst>
          </a:prstGeom>
          <a:solidFill>
            <a:srgbClr val="FFFFFF"/>
          </a:solidFill>
          <a:ln w="6350">
            <a:solidFill>
              <a:srgbClr val="D9DEE7"/>
            </a:solidFill>
            <a:prstDash val="solid"/>
          </a:ln>
        </p:spPr>
      </p:sp>
      <p:sp>
        <p:nvSpPr>
          <p:cNvPr id="27" name="Shape 23"/>
          <p:cNvSpPr/>
          <p:nvPr/>
        </p:nvSpPr>
        <p:spPr>
          <a:xfrm>
            <a:off x="2729484" y="4582973"/>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5829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5646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دسته‌چک</a:t>
            </a:r>
            <a:endParaRPr lang="en-US" sz="1300" dirty="0"/>
          </a:p>
        </p:txBody>
      </p:sp>
      <p:sp>
        <p:nvSpPr>
          <p:cNvPr id="30" name="Text 26"/>
          <p:cNvSpPr/>
          <p:nvPr/>
        </p:nvSpPr>
        <p:spPr>
          <a:xfrm>
            <a:off x="521208" y="4967021"/>
            <a:ext cx="2519172" cy="1333195"/>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آیکن دفترچه در هر ردیف، دسته‌چک‌های همان حساب را باز می‌کند (فصل چک).</a:t>
            </a:r>
            <a:endParaRPr lang="en-US" sz="1150" dirty="0"/>
          </a:p>
        </p:txBody>
      </p:sp>
      <p:sp>
        <p:nvSpPr>
          <p:cNvPr id="31"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۳۰</a:t>
            </a:r>
            <a:endParaRPr lang="en-US" sz="1000" dirty="0"/>
          </a:p>
        </p:txBody>
      </p:sp>
      <p:sp>
        <p:nvSpPr>
          <p:cNvPr id="32"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۱۲ — کارگاه‌ها</a:t>
            </a:r>
            <a:endParaRPr lang="en-US" sz="2500" dirty="0"/>
          </a:p>
        </p:txBody>
      </p:sp>
      <p:sp>
        <p:nvSpPr>
          <p:cNvPr id="3" name="Shape 1"/>
          <p:cNvSpPr/>
          <p:nvPr/>
        </p:nvSpPr>
        <p:spPr>
          <a:xfrm>
            <a:off x="9505188" y="896112"/>
            <a:ext cx="227228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614916" y="896112"/>
            <a:ext cx="205282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کارگاه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s_ws_f">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کارگاه 1023456789 «شرکت فولاد البرز — کارخانهٔ کرج»، معین 130101، تفصیلی کارفرما «شرکت فولاد البرز»، واحد «۲۰۰۰ — اداره کل تهران».</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کارگاه چیست؟</a:t>
            </a:r>
            <a:endParaRPr lang="en-US" sz="1350" dirty="0"/>
          </a:p>
        </p:txBody>
      </p:sp>
      <p:sp>
        <p:nvSpPr>
          <p:cNvPr id="13" name="Text 10"/>
          <p:cNvSpPr/>
          <p:nvPr/>
        </p:nvSpPr>
        <p:spPr>
          <a:xfrm>
            <a:off x="7909560" y="1700784"/>
            <a:ext cx="3392424"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محل کار بیمه‌شدگانِ یک کارفرما؛ هر کارگاه کد جدا دارد و ممکن است یک کارفرما چند کارگاه داشته باشد.</a:t>
            </a:r>
            <a:endParaRPr lang="en-US" sz="1200" dirty="0"/>
          </a:p>
        </p:txBody>
      </p:sp>
      <p:sp>
        <p:nvSpPr>
          <p:cNvPr id="14" name="Shape 11"/>
          <p:cNvSpPr/>
          <p:nvPr/>
        </p:nvSpPr>
        <p:spPr>
          <a:xfrm>
            <a:off x="11411712" y="2452421"/>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45242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45242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اطلاعات اصلی</a:t>
            </a:r>
            <a:endParaRPr lang="en-US" sz="1350" dirty="0"/>
          </a:p>
        </p:txBody>
      </p:sp>
      <p:sp>
        <p:nvSpPr>
          <p:cNvPr id="17" name="Text 14"/>
          <p:cNvSpPr/>
          <p:nvPr/>
        </p:nvSpPr>
        <p:spPr>
          <a:xfrm>
            <a:off x="7909560" y="2781605"/>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«کد کارگاه» و «نام کارگاه» را بنویسید و با کلید «کارگاه فعال است» وضعیت را تعیین کنید.</a:t>
            </a:r>
            <a:endParaRPr lang="en-US" sz="1200" dirty="0"/>
          </a:p>
        </p:txBody>
      </p:sp>
      <p:sp>
        <p:nvSpPr>
          <p:cNvPr id="18" name="Shape 15"/>
          <p:cNvSpPr/>
          <p:nvPr/>
        </p:nvSpPr>
        <p:spPr>
          <a:xfrm>
            <a:off x="11411712" y="3319272"/>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3192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31927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ارتباط با سازمان</a:t>
            </a:r>
            <a:endParaRPr lang="en-US" sz="1350" dirty="0"/>
          </a:p>
        </p:txBody>
      </p:sp>
      <p:sp>
        <p:nvSpPr>
          <p:cNvPr id="21" name="Text 18"/>
          <p:cNvSpPr/>
          <p:nvPr/>
        </p:nvSpPr>
        <p:spPr>
          <a:xfrm>
            <a:off x="7909560" y="3648456"/>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حساب معین (مثلاً مطالبات حق بیمه) و تفصیلی کارفرما را انتخاب کنید.</a:t>
            </a:r>
            <a:endParaRPr lang="en-US" sz="1200" dirty="0"/>
          </a:p>
        </p:txBody>
      </p:sp>
      <p:sp>
        <p:nvSpPr>
          <p:cNvPr id="22" name="Shape 19"/>
          <p:cNvSpPr/>
          <p:nvPr/>
        </p:nvSpPr>
        <p:spPr>
          <a:xfrm>
            <a:off x="11411712" y="4186123"/>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18612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18612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واحد سازمانی</a:t>
            </a:r>
            <a:endParaRPr lang="en-US" sz="1350" dirty="0"/>
          </a:p>
        </p:txBody>
      </p:sp>
      <p:sp>
        <p:nvSpPr>
          <p:cNvPr id="25" name="Text 22"/>
          <p:cNvSpPr/>
          <p:nvPr/>
        </p:nvSpPr>
        <p:spPr>
          <a:xfrm>
            <a:off x="7909560" y="4515307"/>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با «انتخاب واحد» اداره یا شعبه‌ای را که کارگاه زیر نظر آن است برگزینید.</a:t>
            </a:r>
            <a:endParaRPr lang="en-US" sz="12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۳۱</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۱۳ — دسترسی کدینگ حسابداری</a:t>
            </a:r>
            <a:endParaRPr lang="en-US" sz="2500" dirty="0"/>
          </a:p>
        </p:txBody>
      </p:sp>
      <p:sp>
        <p:nvSpPr>
          <p:cNvPr id="3" name="Shape 1"/>
          <p:cNvSpPr/>
          <p:nvPr/>
        </p:nvSpPr>
        <p:spPr>
          <a:xfrm>
            <a:off x="8339328" y="896112"/>
            <a:ext cx="343814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449056" y="896112"/>
            <a:ext cx="321868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دسترسی کدینگ حسابداری</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فهرست دسترسی‌ها و وضعیت هر کدام</a:t>
            </a:r>
            <a:endParaRPr lang="en-US" sz="1200" dirty="0"/>
          </a:p>
        </p:txBody>
      </p:sp>
      <p:sp>
        <p:nvSpPr>
          <p:cNvPr id="6" name="Shape 4"/>
          <p:cNvSpPr/>
          <p:nvPr/>
        </p:nvSpPr>
        <p:spPr>
          <a:xfrm>
            <a:off x="6208776"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bs_perm_s">    </p:cNvPr>
          <p:cNvPicPr>
            <a:picLocks noChangeAspect="1"/>
          </p:cNvPicPr>
          <p:nvPr/>
        </p:nvPicPr>
        <p:blipFill>
          <a:blip r:embed="rId1"/>
          <a:stretch>
            <a:fillRect/>
          </a:stretch>
        </p:blipFill>
        <p:spPr>
          <a:xfrm>
            <a:off x="6254496" y="1695361"/>
            <a:ext cx="5477256" cy="2312619"/>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پنجرهٔ «دسترسی جدید»: چند معین × چند نوع واحد</a:t>
            </a:r>
            <a:endParaRPr lang="en-US" sz="1200" dirty="0"/>
          </a:p>
        </p:txBody>
      </p:sp>
      <p:sp>
        <p:nvSpPr>
          <p:cNvPr id="9" name="Shape 6"/>
          <p:cNvSpPr/>
          <p:nvPr/>
        </p:nvSpPr>
        <p:spPr>
          <a:xfrm>
            <a:off x="411480"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bs_perm_dlg">    </p:cNvPr>
          <p:cNvPicPr>
            <a:picLocks noChangeAspect="1"/>
          </p:cNvPicPr>
          <p:nvPr/>
        </p:nvPicPr>
        <p:blipFill>
          <a:blip r:embed="rId2"/>
          <a:stretch>
            <a:fillRect/>
          </a:stretch>
        </p:blipFill>
        <p:spPr>
          <a:xfrm>
            <a:off x="1160178" y="1664208"/>
            <a:ext cx="4071301" cy="2374925"/>
          </a:xfrm>
          <a:prstGeom prst="rect">
            <a:avLst/>
          </a:prstGeom>
        </p:spPr>
      </p:pic>
      <p:sp>
        <p:nvSpPr>
          <p:cNvPr id="11" name="Shape 7"/>
          <p:cNvSpPr/>
          <p:nvPr/>
        </p:nvSpPr>
        <p:spPr>
          <a:xfrm>
            <a:off x="9038844" y="4267733"/>
            <a:ext cx="2738628" cy="1291819"/>
          </a:xfrm>
          <a:prstGeom prst="roundRect">
            <a:avLst>
              <a:gd name="adj" fmla="val 5663"/>
            </a:avLst>
          </a:prstGeom>
          <a:solidFill>
            <a:srgbClr val="FFFFFF"/>
          </a:solidFill>
          <a:ln w="6350">
            <a:solidFill>
              <a:srgbClr val="D9DEE7"/>
            </a:solidFill>
            <a:prstDash val="solid"/>
          </a:ln>
        </p:spPr>
      </p:sp>
      <p:sp>
        <p:nvSpPr>
          <p:cNvPr id="12" name="Shape 8"/>
          <p:cNvSpPr/>
          <p:nvPr/>
        </p:nvSpPr>
        <p:spPr>
          <a:xfrm>
            <a:off x="11356848" y="4359173"/>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هدف</a:t>
            </a:r>
            <a:endParaRPr lang="en-US" sz="1300" dirty="0"/>
          </a:p>
        </p:txBody>
      </p:sp>
      <p:sp>
        <p:nvSpPr>
          <p:cNvPr id="15" name="Text 11"/>
          <p:cNvSpPr/>
          <p:nvPr/>
        </p:nvSpPr>
        <p:spPr>
          <a:xfrm>
            <a:off x="9148572"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تعیین می‌کند هر معین را کدام «نوع واحد» (مثل بیمارستان یا اداره کل) در سند ببیند.</a:t>
            </a:r>
            <a:endParaRPr lang="en-US" sz="1150" dirty="0"/>
          </a:p>
        </p:txBody>
      </p:sp>
      <p:sp>
        <p:nvSpPr>
          <p:cNvPr id="16" name="Shape 12"/>
          <p:cNvSpPr/>
          <p:nvPr/>
        </p:nvSpPr>
        <p:spPr>
          <a:xfrm>
            <a:off x="6163056" y="4267733"/>
            <a:ext cx="2738628" cy="1291819"/>
          </a:xfrm>
          <a:prstGeom prst="roundRect">
            <a:avLst>
              <a:gd name="adj" fmla="val 5663"/>
            </a:avLst>
          </a:prstGeom>
          <a:solidFill>
            <a:srgbClr val="FFFFFF"/>
          </a:solidFill>
          <a:ln w="6350">
            <a:solidFill>
              <a:srgbClr val="D9DEE7"/>
            </a:solidFill>
            <a:prstDash val="solid"/>
          </a:ln>
        </p:spPr>
      </p:sp>
      <p:sp>
        <p:nvSpPr>
          <p:cNvPr id="17" name="Shape 13"/>
          <p:cNvSpPr/>
          <p:nvPr/>
        </p:nvSpPr>
        <p:spPr>
          <a:xfrm>
            <a:off x="8481060" y="4359173"/>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دسترسی جدید</a:t>
            </a:r>
            <a:endParaRPr lang="en-US" sz="1300" dirty="0"/>
          </a:p>
        </p:txBody>
      </p:sp>
      <p:sp>
        <p:nvSpPr>
          <p:cNvPr id="20" name="Text 16"/>
          <p:cNvSpPr/>
          <p:nvPr/>
        </p:nvSpPr>
        <p:spPr>
          <a:xfrm>
            <a:off x="6272784"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حالت «مجاز کردن» یا «محدود کردن (ثبت سیستمی)»، بازهٔ تاریخ، معین‌ها و نوع واحدها را تیک بزنید.</a:t>
            </a:r>
            <a:endParaRPr lang="en-US" sz="1150" dirty="0"/>
          </a:p>
        </p:txBody>
      </p:sp>
      <p:sp>
        <p:nvSpPr>
          <p:cNvPr id="21" name="Shape 17"/>
          <p:cNvSpPr/>
          <p:nvPr/>
        </p:nvSpPr>
        <p:spPr>
          <a:xfrm>
            <a:off x="3287268" y="4267733"/>
            <a:ext cx="2738628" cy="1291819"/>
          </a:xfrm>
          <a:prstGeom prst="roundRect">
            <a:avLst>
              <a:gd name="adj" fmla="val 5663"/>
            </a:avLst>
          </a:prstGeom>
          <a:solidFill>
            <a:srgbClr val="FFFFFF"/>
          </a:solidFill>
          <a:ln w="6350">
            <a:solidFill>
              <a:srgbClr val="D9DEE7"/>
            </a:solidFill>
            <a:prstDash val="solid"/>
          </a:ln>
        </p:spPr>
      </p:sp>
      <p:sp>
        <p:nvSpPr>
          <p:cNvPr id="22" name="Shape 18"/>
          <p:cNvSpPr/>
          <p:nvPr/>
        </p:nvSpPr>
        <p:spPr>
          <a:xfrm>
            <a:off x="5605272" y="4359173"/>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سه وضعیت</a:t>
            </a:r>
            <a:endParaRPr lang="en-US" sz="1300" dirty="0"/>
          </a:p>
        </p:txBody>
      </p:sp>
      <p:sp>
        <p:nvSpPr>
          <p:cNvPr id="25" name="Text 21"/>
          <p:cNvSpPr/>
          <p:nvPr/>
        </p:nvSpPr>
        <p:spPr>
          <a:xfrm>
            <a:off x="3396996"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مجاز: ثبت دستی آزاد. فقط سیستمی: فقط سندهای خودکار. غیرمجاز: در لیست سیاه.</a:t>
            </a:r>
            <a:endParaRPr lang="en-US" sz="1150" dirty="0"/>
          </a:p>
        </p:txBody>
      </p:sp>
      <p:sp>
        <p:nvSpPr>
          <p:cNvPr id="26" name="Shape 22"/>
          <p:cNvSpPr/>
          <p:nvPr/>
        </p:nvSpPr>
        <p:spPr>
          <a:xfrm>
            <a:off x="411480" y="4267733"/>
            <a:ext cx="2738628" cy="1291819"/>
          </a:xfrm>
          <a:prstGeom prst="roundRect">
            <a:avLst>
              <a:gd name="adj" fmla="val 5663"/>
            </a:avLst>
          </a:prstGeom>
          <a:solidFill>
            <a:srgbClr val="FFFFFF"/>
          </a:solidFill>
          <a:ln w="6350">
            <a:solidFill>
              <a:srgbClr val="D9DEE7"/>
            </a:solidFill>
            <a:prstDash val="solid"/>
          </a:ln>
        </p:spPr>
      </p:sp>
      <p:sp>
        <p:nvSpPr>
          <p:cNvPr id="27" name="Shape 23"/>
          <p:cNvSpPr/>
          <p:nvPr/>
        </p:nvSpPr>
        <p:spPr>
          <a:xfrm>
            <a:off x="2729484" y="4359173"/>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عملیات ردیف</a:t>
            </a:r>
            <a:endParaRPr lang="en-US" sz="1300" dirty="0"/>
          </a:p>
        </p:txBody>
      </p:sp>
      <p:sp>
        <p:nvSpPr>
          <p:cNvPr id="30" name="Text 26"/>
          <p:cNvSpPr/>
          <p:nvPr/>
        </p:nvSpPr>
        <p:spPr>
          <a:xfrm>
            <a:off x="521208"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غیرفعال/فعال کردن، «تکثیر» برای ساخت ردیف مشابه، و حذف.</a:t>
            </a:r>
            <a:endParaRPr lang="en-US" sz="1150" dirty="0"/>
          </a:p>
        </p:txBody>
      </p:sp>
      <p:sp>
        <p:nvSpPr>
          <p:cNvPr id="31" name="Shape 27"/>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مثال: معین 610101 «درآمد حق بیمهٔ کارفرما» برای شعبه‌ها «فقط سیستمی» است تا فقط سامانهٔ وصول حق بیمه روی آن سند بزند، نه کاربر.</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۳۲</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۱۴ — دسترسی نقش‌ها</a:t>
            </a:r>
            <a:endParaRPr lang="en-US" sz="2500" dirty="0"/>
          </a:p>
        </p:txBody>
      </p:sp>
      <p:sp>
        <p:nvSpPr>
          <p:cNvPr id="3" name="Shape 1"/>
          <p:cNvSpPr/>
          <p:nvPr/>
        </p:nvSpPr>
        <p:spPr>
          <a:xfrm>
            <a:off x="8961120" y="896112"/>
            <a:ext cx="281635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070848" y="896112"/>
            <a:ext cx="259689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دسترسی نقش‌ها</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s_role">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نقش «حسابدار»: کدینگ را فقط «مشاهده» کند، ولی گروه تفصیلی و صدور سند را «ثبت و تغییر». این صفحه فقط برای مدیر ستاد است.</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انتخاب نقش</a:t>
            </a:r>
            <a:endParaRPr lang="en-US" sz="1350" dirty="0"/>
          </a:p>
        </p:txBody>
      </p:sp>
      <p:sp>
        <p:nvSpPr>
          <p:cNvPr id="13" name="Text 10"/>
          <p:cNvSpPr/>
          <p:nvPr/>
        </p:nvSpPr>
        <p:spPr>
          <a:xfrm>
            <a:off x="7909560" y="170078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روی نام نقش (حسابدار، مدیر مالی، …) کلیک کنید؛ «نقش تازه» نقش دیگری اضافه می‌کند.</a:t>
            </a:r>
            <a:endParaRPr lang="en-US" sz="1250" dirty="0"/>
          </a:p>
        </p:txBody>
      </p:sp>
      <p:sp>
        <p:nvSpPr>
          <p:cNvPr id="14" name="Shape 11"/>
          <p:cNvSpPr/>
          <p:nvPr/>
        </p:nvSpPr>
        <p:spPr>
          <a:xfrm>
            <a:off x="11411712" y="225628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5628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5628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سه سطح</a:t>
            </a:r>
            <a:endParaRPr lang="en-US" sz="1350" dirty="0"/>
          </a:p>
        </p:txBody>
      </p:sp>
      <p:sp>
        <p:nvSpPr>
          <p:cNvPr id="17" name="Text 14"/>
          <p:cNvSpPr/>
          <p:nvPr/>
        </p:nvSpPr>
        <p:spPr>
          <a:xfrm>
            <a:off x="7909560" y="2585466"/>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برای هر منو: «بدون دسترسی»، «مشاهده» یا «ثبت و تغییر».</a:t>
            </a:r>
            <a:endParaRPr lang="en-US" sz="1250" dirty="0"/>
          </a:p>
        </p:txBody>
      </p:sp>
      <p:sp>
        <p:nvSpPr>
          <p:cNvPr id="18" name="Shape 15"/>
          <p:cNvSpPr/>
          <p:nvPr/>
        </p:nvSpPr>
        <p:spPr>
          <a:xfrm>
            <a:off x="11411712" y="3140964"/>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409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4096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یکجا برای هر بخش</a:t>
            </a:r>
            <a:endParaRPr lang="en-US" sz="1350" dirty="0"/>
          </a:p>
        </p:txBody>
      </p:sp>
      <p:sp>
        <p:nvSpPr>
          <p:cNvPr id="21" name="Text 18"/>
          <p:cNvSpPr/>
          <p:nvPr/>
        </p:nvSpPr>
        <p:spPr>
          <a:xfrm>
            <a:off x="7909560" y="3470148"/>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دکمه‌های «همه: …» در سطر سرگروه، همهٔ منوهای آن بخش را یکجا تنظیم می‌کنند.</a:t>
            </a:r>
            <a:endParaRPr lang="en-US" sz="1250" dirty="0"/>
          </a:p>
        </p:txBody>
      </p:sp>
      <p:sp>
        <p:nvSpPr>
          <p:cNvPr id="22" name="Shape 19"/>
          <p:cNvSpPr/>
          <p:nvPr/>
        </p:nvSpPr>
        <p:spPr>
          <a:xfrm>
            <a:off x="11411712" y="402564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256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256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تب‌ها و قابلیت‌ها</a:t>
            </a:r>
            <a:endParaRPr lang="en-US" sz="1350" dirty="0"/>
          </a:p>
        </p:txBody>
      </p:sp>
      <p:sp>
        <p:nvSpPr>
          <p:cNvPr id="25" name="Text 22"/>
          <p:cNvSpPr/>
          <p:nvPr/>
        </p:nvSpPr>
        <p:spPr>
          <a:xfrm>
            <a:off x="7909560" y="4354830"/>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منوهای دارای تب (مثل کدینگ) باز می‌شوند تا هر تب را جدا تنظیم کنید؛ سپس «ذخیره».</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۳۳</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۱۵ — لایسنس سامانه</a:t>
            </a:r>
            <a:endParaRPr lang="en-US" sz="2500" dirty="0"/>
          </a:p>
        </p:txBody>
      </p:sp>
      <p:sp>
        <p:nvSpPr>
          <p:cNvPr id="3" name="Shape 1"/>
          <p:cNvSpPr/>
          <p:nvPr/>
        </p:nvSpPr>
        <p:spPr>
          <a:xfrm>
            <a:off x="9505188" y="896112"/>
            <a:ext cx="227228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614916" y="896112"/>
            <a:ext cx="205282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لایسنس</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s_lic">    </p:cNvPr>
          <p:cNvPicPr>
            <a:picLocks noChangeAspect="1"/>
          </p:cNvPicPr>
          <p:nvPr/>
        </p:nvPicPr>
        <p:blipFill>
          <a:blip r:embed="rId1"/>
          <a:stretch>
            <a:fillRect/>
          </a:stretch>
        </p:blipFill>
        <p:spPr>
          <a:xfrm>
            <a:off x="694113" y="1399032"/>
            <a:ext cx="6658495"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F6EDCF"/>
          </a:solidFill>
          <a:ln w="9525">
            <a:solidFill>
              <a:srgbClr val="C9A227"/>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پس از انقضا و پایان مهلت، سامانه فقط‌خواندنی می‌شود: گزارش‌ها دیده می‌شوند ولی سند تازه ثبت نمی‌شود. بارگذاری فقط برای مدیر ستاد مجاز است.</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وضعیت</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«فعال»، «مهلت ارفاقی» (منقضی شده ولی هنوز کار می‌کند) یا «فقط‌خواندنی».</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تاریخ انقضا</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تاریخ انقضا و «روز باقی‌مانده» را ببینید تا تمدید را به‌موقع انجام دهید.</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تمدید</a:t>
            </a:r>
            <a:endParaRPr lang="en-US" sz="1350" dirty="0"/>
          </a:p>
        </p:txBody>
      </p:sp>
      <p:sp>
        <p:nvSpPr>
          <p:cNvPr id="21" name="Text 18"/>
          <p:cNvSpPr/>
          <p:nvPr/>
        </p:nvSpPr>
        <p:spPr>
          <a:xfrm>
            <a:off x="7909560" y="3505810"/>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فایل لایسنس تازه (.lic) را با «بارگذاری فایل لایسنس» بفرستید؛ پیام «لایسنس جدید ثبت شد.» می‌آید.</a:t>
            </a:r>
            <a:endParaRPr lang="en-US" sz="130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۳۴</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حساب رابط به زبان ساده</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هر سند باید «تراز» باشد: جمع بدهکار = جمع بستانکار. بعضی سندها را سامانه خودش می‌سازد و یک طرفشان معلوم نیست؛ حساب رابط همان طرف دوم است که سند را تراز می‌کند.</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رابط اعلامیه</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وقتی ستاد به اداره کل پول «اعلام» می‌کند، سند هر طرف با حساب رابط تراز می‌شود.</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رابط افتتاحیه/اختتامیه</a:t>
            </a:r>
            <a:endParaRPr lang="en-US" sz="1350" dirty="0"/>
          </a:p>
        </p:txBody>
      </p:sp>
      <p:sp>
        <p:nvSpPr>
          <p:cNvPr id="12" name="Text 10"/>
          <p:cNvSpPr/>
          <p:nvPr/>
        </p:nvSpPr>
        <p:spPr>
          <a:xfrm>
            <a:off x="5440680" y="3523869"/>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سند پایان سال مانده‌ها را می‌بندد و سند اول سال آن‌ها را باز می‌کند.</a:t>
            </a:r>
            <a:endParaRPr lang="en-US" sz="1300" dirty="0"/>
          </a:p>
        </p:txBody>
      </p:sp>
      <p:sp>
        <p:nvSpPr>
          <p:cNvPr id="13" name="Shape 11"/>
          <p:cNvSpPr/>
          <p:nvPr/>
        </p:nvSpPr>
        <p:spPr>
          <a:xfrm>
            <a:off x="11411712" y="3865397"/>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386539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3865397"/>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رابط اختتامیه (۶، ۷، ۸)</a:t>
            </a:r>
            <a:endParaRPr lang="en-US" sz="1350" dirty="0"/>
          </a:p>
        </p:txBody>
      </p:sp>
      <p:sp>
        <p:nvSpPr>
          <p:cNvPr id="16" name="Text 14"/>
          <p:cNvSpPr/>
          <p:nvPr/>
        </p:nvSpPr>
        <p:spPr>
          <a:xfrm>
            <a:off x="5440680" y="4194581"/>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درآمدها و هزینه‌ها (حساب‌های موقت) در پایان سال روی این حساب بسته می‌شوند.</a:t>
            </a:r>
            <a:endParaRPr lang="en-US" sz="1300" dirty="0"/>
          </a:p>
        </p:txBody>
      </p:sp>
      <p:sp>
        <p:nvSpPr>
          <p:cNvPr id="17" name="Shape 15"/>
          <p:cNvSpPr/>
          <p:nvPr/>
        </p:nvSpPr>
        <p:spPr>
          <a:xfrm>
            <a:off x="11411712" y="4767910"/>
            <a:ext cx="329184" cy="329184"/>
          </a:xfrm>
          <a:prstGeom prst="ellipse">
            <a:avLst/>
          </a:prstGeom>
          <a:solidFill>
            <a:srgbClr val="C9A227"/>
          </a:solidFill>
          <a:ln w="12700">
            <a:solidFill>
              <a:srgbClr val="C9A227"/>
            </a:solidFill>
            <a:prstDash val="solid"/>
          </a:ln>
        </p:spPr>
      </p:sp>
      <p:sp>
        <p:nvSpPr>
          <p:cNvPr id="18" name="Text 16"/>
          <p:cNvSpPr/>
          <p:nvPr/>
        </p:nvSpPr>
        <p:spPr>
          <a:xfrm>
            <a:off x="11411712" y="476791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7"/>
          <p:cNvSpPr/>
          <p:nvPr/>
        </p:nvSpPr>
        <p:spPr>
          <a:xfrm>
            <a:off x="5440680" y="4767910"/>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حساب‌های مستثنا</a:t>
            </a:r>
            <a:endParaRPr lang="en-US" sz="1350" dirty="0"/>
          </a:p>
        </p:txBody>
      </p:sp>
      <p:sp>
        <p:nvSpPr>
          <p:cNvPr id="20" name="Text 18"/>
          <p:cNvSpPr/>
          <p:nvPr/>
        </p:nvSpPr>
        <p:spPr>
          <a:xfrm>
            <a:off x="5440680" y="5097094"/>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حساب‌هایی که برای یک نوع واحد نه بسته و نه به سال بعد منتقل می‌شوند.</a:t>
            </a:r>
            <a:endParaRPr lang="en-US" sz="1300" dirty="0"/>
          </a:p>
        </p:txBody>
      </p:sp>
      <p:sp>
        <p:nvSpPr>
          <p:cNvPr id="21" name="Shape 19"/>
          <p:cNvSpPr/>
          <p:nvPr/>
        </p:nvSpPr>
        <p:spPr>
          <a:xfrm>
            <a:off x="411480" y="1097280"/>
            <a:ext cx="4754880" cy="2908478"/>
          </a:xfrm>
          <a:prstGeom prst="roundRect">
            <a:avLst>
              <a:gd name="adj" fmla="val 3144"/>
            </a:avLst>
          </a:prstGeom>
          <a:solidFill>
            <a:srgbClr val="E3F3EA"/>
          </a:solidFill>
          <a:ln w="9525">
            <a:solidFill>
              <a:srgbClr val="1E7A4C"/>
            </a:solidFill>
            <a:prstDash val="solid"/>
          </a:ln>
        </p:spPr>
      </p:sp>
      <p:sp>
        <p:nvSpPr>
          <p:cNvPr id="22" name="Text 20"/>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بستن هزینه‌ها در پایان سال ۱۴۰۵</a:t>
            </a:r>
            <a:endParaRPr lang="en-US" sz="1500" dirty="0"/>
          </a:p>
        </p:txBody>
      </p:sp>
      <p:sp>
        <p:nvSpPr>
          <p:cNvPr id="23" name="Text 21"/>
          <p:cNvSpPr/>
          <p:nvPr/>
        </p:nvSpPr>
        <p:spPr>
          <a:xfrm>
            <a:off x="594360" y="1691640"/>
            <a:ext cx="4389120" cy="5550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اداره کل تهران امسال ۸۲۰ میلیون ریال هزینهٔ حقوق داشته است. سند اختتامیه:</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94360" y="2383841"/>
          <a:ext cx="4389120" cy="914400"/>
        </p:xfrm>
        <a:graphic>
          <a:graphicData uri="http://schemas.openxmlformats.org/drawingml/2006/table">
            <a:tbl>
              <a:tblPr rtl="1"/>
              <a:tblGrid>
                <a:gridCol w="2194560"/>
                <a:gridCol w="1097280"/>
                <a:gridCol w="1097280"/>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حساب</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بدهکار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بستانکار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910202 خلاصهٔ درآمد و هزینه (رابط)</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۸۲۰,۰۰۰,۰۰۰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820101 هزینهٔ حقوق و دستمزد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۸۲۰,۰۰۰,۰۰۰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bl>
          </a:graphicData>
        </a:graphic>
      </p:graphicFrame>
      <p:sp>
        <p:nvSpPr>
          <p:cNvPr id="25" name="Text 22"/>
          <p:cNvSpPr/>
          <p:nvPr/>
        </p:nvSpPr>
        <p:spPr>
          <a:xfrm>
            <a:off x="594360" y="3508553"/>
            <a:ext cx="4389120" cy="405765"/>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ماندهٔ هزینه صفر می‌شود و سال بعد از صفر شروع می‌کند.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۳۵</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۱۶ — تعریف رابط‌ها</a:t>
            </a:r>
            <a:endParaRPr lang="en-US" sz="2500" dirty="0"/>
          </a:p>
        </p:txBody>
      </p:sp>
      <p:sp>
        <p:nvSpPr>
          <p:cNvPr id="3" name="Shape 1"/>
          <p:cNvSpPr/>
          <p:nvPr/>
        </p:nvSpPr>
        <p:spPr>
          <a:xfrm>
            <a:off x="8961120" y="896112"/>
            <a:ext cx="281635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070848" y="896112"/>
            <a:ext cx="259689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تعریف رابط‌ها</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تب «رابط اعلامیه»</a:t>
            </a:r>
            <a:endParaRPr lang="en-US" sz="1200" dirty="0"/>
          </a:p>
        </p:txBody>
      </p:sp>
      <p:sp>
        <p:nvSpPr>
          <p:cNvPr id="6" name="Shape 4"/>
          <p:cNvSpPr/>
          <p:nvPr/>
        </p:nvSpPr>
        <p:spPr>
          <a:xfrm>
            <a:off x="6208776" y="1618488"/>
            <a:ext cx="5568696" cy="2445761"/>
          </a:xfrm>
          <a:prstGeom prst="roundRect">
            <a:avLst>
              <a:gd name="adj" fmla="val 299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bs_ye_elam_s">    </p:cNvPr>
          <p:cNvPicPr>
            <a:picLocks noChangeAspect="1"/>
          </p:cNvPicPr>
          <p:nvPr/>
        </p:nvPicPr>
        <p:blipFill>
          <a:blip r:embed="rId1"/>
          <a:stretch>
            <a:fillRect/>
          </a:stretch>
        </p:blipFill>
        <p:spPr>
          <a:xfrm>
            <a:off x="6254496" y="1683537"/>
            <a:ext cx="5477256" cy="2315662"/>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تب «رابط اختتامیه (گروه ۶، ۷، ۸)»</a:t>
            </a:r>
            <a:endParaRPr lang="en-US" sz="1200" dirty="0"/>
          </a:p>
        </p:txBody>
      </p:sp>
      <p:sp>
        <p:nvSpPr>
          <p:cNvPr id="9" name="Shape 6"/>
          <p:cNvSpPr/>
          <p:nvPr/>
        </p:nvSpPr>
        <p:spPr>
          <a:xfrm>
            <a:off x="411480" y="1618488"/>
            <a:ext cx="5568696" cy="2445761"/>
          </a:xfrm>
          <a:prstGeom prst="roundRect">
            <a:avLst>
              <a:gd name="adj" fmla="val 299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bs_ye_rabet_s">    </p:cNvPr>
          <p:cNvPicPr>
            <a:picLocks noChangeAspect="1"/>
          </p:cNvPicPr>
          <p:nvPr/>
        </p:nvPicPr>
        <p:blipFill>
          <a:blip r:embed="rId2"/>
          <a:stretch>
            <a:fillRect/>
          </a:stretch>
        </p:blipFill>
        <p:spPr>
          <a:xfrm>
            <a:off x="457200" y="1917842"/>
            <a:ext cx="5477256" cy="1847052"/>
          </a:xfrm>
          <a:prstGeom prst="rect">
            <a:avLst/>
          </a:prstGeom>
        </p:spPr>
      </p:pic>
      <p:sp>
        <p:nvSpPr>
          <p:cNvPr id="11" name="Shape 7"/>
          <p:cNvSpPr/>
          <p:nvPr/>
        </p:nvSpPr>
        <p:spPr>
          <a:xfrm>
            <a:off x="9038844" y="4247129"/>
            <a:ext cx="2738628" cy="2107951"/>
          </a:xfrm>
          <a:prstGeom prst="roundRect">
            <a:avLst>
              <a:gd name="adj" fmla="val 3470"/>
            </a:avLst>
          </a:prstGeom>
          <a:solidFill>
            <a:srgbClr val="FFFFFF"/>
          </a:solidFill>
          <a:ln w="6350">
            <a:solidFill>
              <a:srgbClr val="D9DEE7"/>
            </a:solidFill>
            <a:prstDash val="solid"/>
          </a:ln>
        </p:spPr>
      </p:sp>
      <p:sp>
        <p:nvSpPr>
          <p:cNvPr id="12" name="Shape 8"/>
          <p:cNvSpPr/>
          <p:nvPr/>
        </p:nvSpPr>
        <p:spPr>
          <a:xfrm>
            <a:off x="11356848" y="4338569"/>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3856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320281"/>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رابط اعلامیه</a:t>
            </a:r>
            <a:endParaRPr lang="en-US" sz="1300" dirty="0"/>
          </a:p>
        </p:txBody>
      </p:sp>
      <p:sp>
        <p:nvSpPr>
          <p:cNvPr id="15" name="Text 11"/>
          <p:cNvSpPr/>
          <p:nvPr/>
        </p:nvSpPr>
        <p:spPr>
          <a:xfrm>
            <a:off x="9148572" y="4722617"/>
            <a:ext cx="2519172" cy="1577599"/>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«نوع اعلامیه» (صادره، رسیده، صادرهٔ درآمد) و «حساب رابط» را انتخاب و «افزودن» کنید.</a:t>
            </a:r>
            <a:endParaRPr lang="en-US" sz="1150" dirty="0"/>
          </a:p>
        </p:txBody>
      </p:sp>
      <p:sp>
        <p:nvSpPr>
          <p:cNvPr id="16" name="Shape 12"/>
          <p:cNvSpPr/>
          <p:nvPr/>
        </p:nvSpPr>
        <p:spPr>
          <a:xfrm>
            <a:off x="6163056" y="4247129"/>
            <a:ext cx="2738628" cy="2107951"/>
          </a:xfrm>
          <a:prstGeom prst="roundRect">
            <a:avLst>
              <a:gd name="adj" fmla="val 3470"/>
            </a:avLst>
          </a:prstGeom>
          <a:solidFill>
            <a:srgbClr val="FFFFFF"/>
          </a:solidFill>
          <a:ln w="6350">
            <a:solidFill>
              <a:srgbClr val="D9DEE7"/>
            </a:solidFill>
            <a:prstDash val="solid"/>
          </a:ln>
        </p:spPr>
      </p:sp>
      <p:sp>
        <p:nvSpPr>
          <p:cNvPr id="17" name="Shape 13"/>
          <p:cNvSpPr/>
          <p:nvPr/>
        </p:nvSpPr>
        <p:spPr>
          <a:xfrm>
            <a:off x="8481060" y="4338569"/>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33856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320281"/>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افتتاحیه/اختتامیه</a:t>
            </a:r>
            <a:endParaRPr lang="en-US" sz="1300" dirty="0"/>
          </a:p>
        </p:txBody>
      </p:sp>
      <p:sp>
        <p:nvSpPr>
          <p:cNvPr id="20" name="Text 16"/>
          <p:cNvSpPr/>
          <p:nvPr/>
        </p:nvSpPr>
        <p:spPr>
          <a:xfrm>
            <a:off x="6272784" y="4722617"/>
            <a:ext cx="2519172" cy="1577599"/>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برای هر نوع یک معین «فقط سیستمی» کافی است تا کسی دستی روی آن سند نزند.</a:t>
            </a:r>
            <a:endParaRPr lang="en-US" sz="1150" dirty="0"/>
          </a:p>
        </p:txBody>
      </p:sp>
      <p:sp>
        <p:nvSpPr>
          <p:cNvPr id="21" name="Shape 17"/>
          <p:cNvSpPr/>
          <p:nvPr/>
        </p:nvSpPr>
        <p:spPr>
          <a:xfrm>
            <a:off x="3287268" y="4247129"/>
            <a:ext cx="2738628" cy="2107951"/>
          </a:xfrm>
          <a:prstGeom prst="roundRect">
            <a:avLst>
              <a:gd name="adj" fmla="val 3470"/>
            </a:avLst>
          </a:prstGeom>
          <a:solidFill>
            <a:srgbClr val="FFFFFF"/>
          </a:solidFill>
          <a:ln w="6350">
            <a:solidFill>
              <a:srgbClr val="D9DEE7"/>
            </a:solidFill>
            <a:prstDash val="solid"/>
          </a:ln>
        </p:spPr>
      </p:sp>
      <p:sp>
        <p:nvSpPr>
          <p:cNvPr id="22" name="Shape 18"/>
          <p:cNvSpPr/>
          <p:nvPr/>
        </p:nvSpPr>
        <p:spPr>
          <a:xfrm>
            <a:off x="5605272" y="4338569"/>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33856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320281"/>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رابط اختتامیه</a:t>
            </a:r>
            <a:endParaRPr lang="en-US" sz="1300" dirty="0"/>
          </a:p>
        </p:txBody>
      </p:sp>
      <p:sp>
        <p:nvSpPr>
          <p:cNvPr id="25" name="Text 21"/>
          <p:cNvSpPr/>
          <p:nvPr/>
        </p:nvSpPr>
        <p:spPr>
          <a:xfrm>
            <a:off x="3396996" y="4722617"/>
            <a:ext cx="2519172" cy="1577599"/>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سال، نوع واحد، حساب‌ها (گروه، کل یا معین) و حساب رابط را تعیین کنید.</a:t>
            </a:r>
            <a:endParaRPr lang="en-US" sz="1150" dirty="0"/>
          </a:p>
        </p:txBody>
      </p:sp>
      <p:sp>
        <p:nvSpPr>
          <p:cNvPr id="26" name="Shape 22"/>
          <p:cNvSpPr/>
          <p:nvPr/>
        </p:nvSpPr>
        <p:spPr>
          <a:xfrm>
            <a:off x="411480" y="4247129"/>
            <a:ext cx="2738628" cy="2107951"/>
          </a:xfrm>
          <a:prstGeom prst="roundRect">
            <a:avLst>
              <a:gd name="adj" fmla="val 3470"/>
            </a:avLst>
          </a:prstGeom>
          <a:solidFill>
            <a:srgbClr val="FFFFFF"/>
          </a:solidFill>
          <a:ln w="6350">
            <a:solidFill>
              <a:srgbClr val="D9DEE7"/>
            </a:solidFill>
            <a:prstDash val="solid"/>
          </a:ln>
        </p:spPr>
      </p:sp>
      <p:sp>
        <p:nvSpPr>
          <p:cNvPr id="27" name="Shape 23"/>
          <p:cNvSpPr/>
          <p:nvPr/>
        </p:nvSpPr>
        <p:spPr>
          <a:xfrm>
            <a:off x="2729484" y="4338569"/>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33856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320281"/>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وضعیت</a:t>
            </a:r>
            <a:endParaRPr lang="en-US" sz="1300" dirty="0"/>
          </a:p>
        </p:txBody>
      </p:sp>
      <p:sp>
        <p:nvSpPr>
          <p:cNvPr id="30" name="Text 26"/>
          <p:cNvSpPr/>
          <p:nvPr/>
        </p:nvSpPr>
        <p:spPr>
          <a:xfrm>
            <a:off x="521208" y="4722617"/>
            <a:ext cx="2519172" cy="1577599"/>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اگر برای یک نوع چند حساب باشد، فقط اولی به ترتیب کد «در حال استفاده» است.</a:t>
            </a:r>
            <a:endParaRPr lang="en-US" sz="1150" dirty="0"/>
          </a:p>
        </p:txBody>
      </p:sp>
      <p:sp>
        <p:nvSpPr>
          <p:cNvPr id="31"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۳۶</a:t>
            </a:r>
            <a:endParaRPr lang="en-US" sz="1000" dirty="0"/>
          </a:p>
        </p:txBody>
      </p:sp>
      <p:sp>
        <p:nvSpPr>
          <p:cNvPr id="32"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پیام‌ها و مشکلات رایج اطلاعات پایه</a:t>
            </a:r>
            <a:endParaRPr lang="en-US" sz="25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11365992" cy="914400"/>
        </p:xfrm>
        <a:graphic>
          <a:graphicData uri="http://schemas.openxmlformats.org/drawingml/2006/table">
            <a:tbl>
              <a:tblPr rtl="1"/>
              <a:tblGrid>
                <a:gridCol w="4389120"/>
                <a:gridCol w="6976872"/>
              </a:tblGrid>
              <a:tr h="502920">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پیام یا مشکل</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چه باید کرد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«کد حساب تکراری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این کد قبلاً در کدینگ هست. با جستجو پیدایش کنید یا کد دیگری بدهید.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حساب کل/معین در ستون والد «تعیین‌نشده»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حساب را ویرایش کنید و با دکمهٔ «انتخاب» والد درست را برگزینید.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در سند، تفصیلی مورد نظر پیدا نمی‌شود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تفصیلی را در گروه درست بگذارید و ببینید آن گروه به معین وصل شده باشد (تب ارتباط).</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برچسب «تکراری» کنار کد سطح</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دو سطح یک کد دارند؛ یکی را ویرایش کنید. حداکثر ۷ سطح مجاز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«ابتدا در تب «گروه ویژگی» یک گروه بسازید.»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ترتیب را رعایت کنید: گروه ویژگی ← اجزا ← ثبت ویژگی.</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«این مقداردهی در سند استفاده شده است و قابل ویرایش یا حذف نیست.»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ویژگی در سند به کار رفته؛ برای مقدار تازه یک ویژگی جدید ثبت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معین در فهرست سند یک واحد دیده نمی‌شود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در «دسترسی کدینگ حسابداری» برای نوع آن واحد وضعیت «مجاز» و تاریخ معتبر بدهید.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دکمهٔ «ایجاد سال مالی» غیرفعال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دلیل در کادر زرد نوشته شده؛ معمولاً فقط در فروردین و فقط برای ستاد ممکن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«این صفحه فقط برای «مدیر ستاد»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دسترسی نقش‌ها، لایسنس و سال مالی فقط برای مدیر ستاد باز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bl>
          </a:graphicData>
        </a:graphic>
      </p:graphicFrame>
      <p:sp>
        <p:nvSpPr>
          <p:cNvPr id="4" name="Text 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۳۷</a:t>
            </a:r>
            <a:endParaRPr lang="en-US" sz="1000" dirty="0"/>
          </a:p>
        </p:txBody>
      </p:sp>
      <p:sp>
        <p:nvSpPr>
          <p:cNvPr id="5" name="Text 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اطلاعات پایه</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3" name="Image 0" descr="op_menu">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۳</a:t>
            </a:r>
            <a:endParaRPr lang="en-US" sz="4000" dirty="0"/>
          </a:p>
        </p:txBody>
      </p:sp>
      <p:sp>
        <p:nvSpPr>
          <p:cNvPr id="6" name="Text 3"/>
          <p:cNvSpPr/>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۳</a:t>
            </a:r>
            <a:endParaRPr lang="en-US" sz="1800" dirty="0"/>
          </a:p>
        </p:txBody>
      </p:sp>
      <p:sp>
        <p:nvSpPr>
          <p:cNvPr id="7" name="Text 4"/>
          <p:cNvSpPr/>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600" b="1" dirty="0">
                <a:solidFill>
                  <a:srgbClr val="FFFFFF"/>
                </a:solidFill>
                <a:latin typeface="Tahoma" pitchFamily="34" charset="0"/>
                <a:ea typeface="Tahoma" pitchFamily="34" charset="-122"/>
                <a:cs typeface="Tahoma" pitchFamily="34" charset="-120"/>
              </a:rPr>
              <a:t>صدور سند و عملیات حسابداری</a:t>
            </a:r>
            <a:endParaRPr lang="en-US" sz="3600" dirty="0"/>
          </a:p>
        </p:txBody>
      </p:sp>
      <p:sp>
        <p:nvSpPr>
          <p:cNvPr id="8" name="Text 5"/>
          <p:cNvSpPr/>
          <p:nvPr/>
        </p:nvSpPr>
        <p:spPr>
          <a:xfrm>
            <a:off x="5120640" y="4206240"/>
            <a:ext cx="6629400" cy="1463040"/>
          </a:xfrm>
          <a:prstGeom prst="rect">
            <a:avLst/>
          </a:prstGeom>
          <a:noFill/>
          <a:ln/>
        </p:spPr>
        <p:txBody>
          <a:bodyPr wrap="square" lIns="0" tIns="0" rIns="0" bIns="0" rtlCol="0" anchor="t"/>
          <a:lstStyle/>
          <a:p>
            <a:pPr rtl="1" algn="r" indent="0" marL="0">
              <a:buNone/>
            </a:pPr>
            <a:r>
              <a:rPr lang="en-US" sz="1600" dirty="0">
                <a:solidFill>
                  <a:srgbClr val="C9D3E6"/>
                </a:solidFill>
                <a:latin typeface="Tahoma" pitchFamily="34" charset="0"/>
                <a:ea typeface="Tahoma" pitchFamily="34" charset="-122"/>
                <a:cs typeface="Tahoma" pitchFamily="34" charset="-120"/>
              </a:rPr>
              <a:t>سند چیست، چطور ثبت می‌شود، چه مراحلی را طی می‌کند و در پایان ماه و سال چه می‌شود</a:t>
            </a:r>
            <a:endParaRPr lang="en-US" sz="1600" dirty="0"/>
          </a:p>
        </p:txBody>
      </p:sp>
      <p:sp>
        <p:nvSpPr>
          <p:cNvPr id="9" name="Text 6"/>
          <p:cNvSpPr/>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حسابداری یعنی چه؟</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هر بار که پولی جابه‌جا می‌شود یا تعهدی به وجود می‌آید (پرداخت قبض، خرید نسیه، دریافت حق بیمه)، حسابدار آن را در یک «سند» ثبت می‌کند. سند، شناسنامهٔ آن رویداد مالی است.</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سرسند</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بالای سند: شمارهٔ سند، تاریخ، سال مالی و «شرح سند» که می‌گوید این سند دربارهٔ چیست.</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ردیف‌ها</a:t>
            </a:r>
            <a:endParaRPr lang="en-US" sz="1350" dirty="0"/>
          </a:p>
        </p:txBody>
      </p:sp>
      <p:sp>
        <p:nvSpPr>
          <p:cNvPr id="12" name="Text 10"/>
          <p:cNvSpPr/>
          <p:nvPr/>
        </p:nvSpPr>
        <p:spPr>
          <a:xfrm>
            <a:off x="5440680" y="352386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زیر سرسند: هر ردیف یک حساب را نام می‌برد و مبلغی را در ستون بدهکار یا بستانکار آن می‌نویسد.</a:t>
            </a:r>
            <a:endParaRPr lang="en-US" sz="1300" dirty="0"/>
          </a:p>
        </p:txBody>
      </p:sp>
      <p:sp>
        <p:nvSpPr>
          <p:cNvPr id="13" name="Shape 11"/>
          <p:cNvSpPr/>
          <p:nvPr/>
        </p:nvSpPr>
        <p:spPr>
          <a:xfrm>
            <a:off x="11411712" y="4097198"/>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09719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097198"/>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حداقل دو ردیف</a:t>
            </a:r>
            <a:endParaRPr lang="en-US" sz="1350" dirty="0"/>
          </a:p>
        </p:txBody>
      </p:sp>
      <p:sp>
        <p:nvSpPr>
          <p:cNvPr id="16" name="Text 14"/>
          <p:cNvSpPr/>
          <p:nvPr/>
        </p:nvSpPr>
        <p:spPr>
          <a:xfrm>
            <a:off x="5440680" y="4426382"/>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رویداد دست‌کم دو طرف دارد: جایی که پول به آن رفت و جایی که پول از آن آمد.</a:t>
            </a:r>
            <a:endParaRPr lang="en-US" sz="1300" dirty="0"/>
          </a:p>
        </p:txBody>
      </p:sp>
      <p:sp>
        <p:nvSpPr>
          <p:cNvPr id="17" name="Shape 15"/>
          <p:cNvSpPr/>
          <p:nvPr/>
        </p:nvSpPr>
        <p:spPr>
          <a:xfrm>
            <a:off x="411480" y="1097280"/>
            <a:ext cx="4754880" cy="2502713"/>
          </a:xfrm>
          <a:prstGeom prst="roundRect">
            <a:avLst>
              <a:gd name="adj" fmla="val 3654"/>
            </a:avLst>
          </a:prstGeom>
          <a:solidFill>
            <a:srgbClr val="E3F3EA"/>
          </a:solidFill>
          <a:ln w="9525">
            <a:solidFill>
              <a:srgbClr val="1E7A4C"/>
            </a:solidFill>
            <a:prstDash val="solid"/>
          </a:ln>
        </p:spPr>
      </p:sp>
      <p:sp>
        <p:nvSpPr>
          <p:cNvPr id="18" name="Text 16"/>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نمونه: سند شمارهٔ ۱۸۹۶</a:t>
            </a:r>
            <a:endParaRPr lang="en-US" sz="1500" dirty="0"/>
          </a:p>
        </p:txBody>
      </p:sp>
      <p:sp>
        <p:nvSpPr>
          <p:cNvPr id="19" name="Text 17"/>
          <p:cNvSpPr/>
          <p:nvPr/>
        </p:nvSpPr>
        <p:spPr>
          <a:xfrm>
            <a:off x="594360" y="1691640"/>
            <a:ext cx="4389120" cy="5550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سرسند: ۱۴۰۵/۰۸/۰۸ — «خرید نوشت‌افزار از مؤسسهٔ چاپ و نشر آریا (نسیه)»</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94360" y="2383841"/>
          <a:ext cx="4389120" cy="914400"/>
        </p:xfrm>
        <a:graphic>
          <a:graphicData uri="http://schemas.openxmlformats.org/drawingml/2006/table">
            <a:tbl>
              <a:tblPr rtl="1"/>
              <a:tblGrid>
                <a:gridCol w="1097280"/>
                <a:gridCol w="1097280"/>
                <a:gridCol w="1097280"/>
                <a:gridCol w="1097280"/>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ردیف</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حساب</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بدهکار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بستانکار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هزینهٔ ملزومات و نوشت‌افزار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۱۲,۸۰۰,۰۰۰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۲</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پرداختنی‌ها (پیمانکاران)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۱۲,۸۰۰,۰۰۰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bl>
          </a:graphicData>
        </a:graphic>
      </p:graphicFrame>
      <p:sp>
        <p:nvSpPr>
          <p:cNvPr id="21" name="Text 18"/>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۳۹</a:t>
            </a:r>
            <a:endParaRPr lang="en-US" sz="1000" dirty="0"/>
          </a:p>
        </p:txBody>
      </p:sp>
      <p:sp>
        <p:nvSpPr>
          <p:cNvPr id="22" name="Text 19"/>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بدهکار و بستانکار؛ چرا جمع‌ها باید برابر باشند؟</a:t>
            </a:r>
            <a:endParaRPr lang="en-US" sz="2500" dirty="0"/>
          </a:p>
        </p:txBody>
      </p:sp>
      <p:sp>
        <p:nvSpPr>
          <p:cNvPr id="3" name="Shape 1"/>
          <p:cNvSpPr/>
          <p:nvPr/>
        </p:nvSpPr>
        <p:spPr>
          <a:xfrm>
            <a:off x="11731752" y="1097280"/>
            <a:ext cx="45720" cy="689915"/>
          </a:xfrm>
          <a:prstGeom prst="rect">
            <a:avLst/>
          </a:prstGeom>
          <a:solidFill>
            <a:srgbClr val="C9A227"/>
          </a:solidFill>
          <a:ln w="12700">
            <a:solidFill>
              <a:srgbClr val="C9A227"/>
            </a:solidFill>
            <a:prstDash val="solid"/>
          </a:ln>
        </p:spPr>
      </p:sp>
      <p:sp>
        <p:nvSpPr>
          <p:cNvPr id="4" name="Text 2"/>
          <p:cNvSpPr/>
          <p:nvPr/>
        </p:nvSpPr>
        <p:spPr>
          <a:xfrm>
            <a:off x="411480" y="1097280"/>
            <a:ext cx="11183112" cy="689915"/>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در حسابداری هر مبلغ دو بار نوشته می‌شود: یک بار در طرف «بدهکار» و یک بار در طرف «بستانکار». به همین دلیل جمع بدهکار هر سند باید دقیقاً با جمع بستانکارش برابر باشد؛ به این حالت «تراز» می‌گویند.</a:t>
            </a:r>
            <a:endParaRPr lang="en-US" sz="1550" dirty="0"/>
          </a:p>
        </p:txBody>
      </p:sp>
      <p:sp>
        <p:nvSpPr>
          <p:cNvPr id="5" name="Shape 3"/>
          <p:cNvSpPr/>
          <p:nvPr/>
        </p:nvSpPr>
        <p:spPr>
          <a:xfrm>
            <a:off x="11411712" y="2015795"/>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01579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411480" y="2015795"/>
            <a:ext cx="108905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بدهکار</a:t>
            </a:r>
            <a:endParaRPr lang="en-US" sz="1350" dirty="0"/>
          </a:p>
        </p:txBody>
      </p:sp>
      <p:sp>
        <p:nvSpPr>
          <p:cNvPr id="8" name="Text 6"/>
          <p:cNvSpPr/>
          <p:nvPr/>
        </p:nvSpPr>
        <p:spPr>
          <a:xfrm>
            <a:off x="411480" y="2344979"/>
            <a:ext cx="108905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حسابی که چیزی گرفته: هزینه‌ای که انجام شد، یا پولی که به بانک واریز شد.</a:t>
            </a:r>
            <a:endParaRPr lang="en-US" sz="1300" dirty="0"/>
          </a:p>
        </p:txBody>
      </p:sp>
      <p:sp>
        <p:nvSpPr>
          <p:cNvPr id="9" name="Shape 7"/>
          <p:cNvSpPr/>
          <p:nvPr/>
        </p:nvSpPr>
        <p:spPr>
          <a:xfrm>
            <a:off x="11411712" y="2686507"/>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268650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411480" y="2686507"/>
            <a:ext cx="108905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بستانکار</a:t>
            </a:r>
            <a:endParaRPr lang="en-US" sz="1350" dirty="0"/>
          </a:p>
        </p:txBody>
      </p:sp>
      <p:sp>
        <p:nvSpPr>
          <p:cNvPr id="12" name="Text 10"/>
          <p:cNvSpPr/>
          <p:nvPr/>
        </p:nvSpPr>
        <p:spPr>
          <a:xfrm>
            <a:off x="411480" y="3015691"/>
            <a:ext cx="108905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حسابی که چیزی داده: بانکی که از آن پول برداشتیم، یا پیمانکاری که از ما طلبکار شد.</a:t>
            </a:r>
            <a:endParaRPr lang="en-US" sz="1300" dirty="0"/>
          </a:p>
        </p:txBody>
      </p:sp>
      <p:sp>
        <p:nvSpPr>
          <p:cNvPr id="13" name="Shape 11"/>
          <p:cNvSpPr/>
          <p:nvPr/>
        </p:nvSpPr>
        <p:spPr>
          <a:xfrm>
            <a:off x="11411712" y="3357220"/>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33572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411480" y="3357220"/>
            <a:ext cx="108905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تراز</a:t>
            </a:r>
            <a:endParaRPr lang="en-US" sz="1350" dirty="0"/>
          </a:p>
        </p:txBody>
      </p:sp>
      <p:sp>
        <p:nvSpPr>
          <p:cNvPr id="16" name="Text 14"/>
          <p:cNvSpPr/>
          <p:nvPr/>
        </p:nvSpPr>
        <p:spPr>
          <a:xfrm>
            <a:off x="411480" y="3686404"/>
            <a:ext cx="108905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اگر جمع دو طرف برابر نباشد، یعنی یک مبلغ جا افتاده یا اشتباه تایپ شده است.</a:t>
            </a:r>
            <a:endParaRPr lang="en-US" sz="1300" dirty="0"/>
          </a:p>
        </p:txBody>
      </p:sp>
      <p:sp>
        <p:nvSpPr>
          <p:cNvPr id="17" name="Shape 15"/>
          <p:cNvSpPr/>
          <p:nvPr/>
        </p:nvSpPr>
        <p:spPr>
          <a:xfrm>
            <a:off x="411480" y="5665622"/>
            <a:ext cx="11365992" cy="689458"/>
          </a:xfrm>
          <a:prstGeom prst="roundRect">
            <a:avLst>
              <a:gd name="adj" fmla="val 10610"/>
            </a:avLst>
          </a:prstGeom>
          <a:solidFill>
            <a:srgbClr val="F6EDCF"/>
          </a:solidFill>
          <a:ln w="9525">
            <a:solidFill>
              <a:srgbClr val="C9A227"/>
            </a:solidFill>
            <a:prstDash val="solid"/>
          </a:ln>
        </p:spPr>
      </p:sp>
      <p:sp>
        <p:nvSpPr>
          <p:cNvPr id="18" name="Text 16"/>
          <p:cNvSpPr/>
          <p:nvPr/>
        </p:nvSpPr>
        <p:spPr>
          <a:xfrm>
            <a:off x="548640" y="5729630"/>
            <a:ext cx="1109167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19" name="Text 17"/>
          <p:cNvSpPr/>
          <p:nvPr/>
        </p:nvSpPr>
        <p:spPr>
          <a:xfrm>
            <a:off x="548640" y="6003950"/>
            <a:ext cx="11091672" cy="268834"/>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سیستم جمع بدهکار، جمع بستانکار و «اختلاف» را همیشه پایین فرم نشان می‌دهد؛ برچسب سبز «تراز» یعنی سند درست است.</a:t>
            </a:r>
            <a:endParaRPr lang="en-US" sz="1200" dirty="0"/>
          </a:p>
        </p:txBody>
      </p:sp>
      <p:sp>
        <p:nvSpPr>
          <p:cNvPr id="20" name="Text 18"/>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۴۰</a:t>
            </a:r>
            <a:endParaRPr lang="en-US" sz="1000" dirty="0"/>
          </a:p>
        </p:txBody>
      </p:sp>
      <p:sp>
        <p:nvSpPr>
          <p:cNvPr id="21" name="Text 19"/>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معین، تفصیلی، شناسه و ویژگی</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حساب‌ها درختی‌اند: گروه ← کل ← معین. در سند فقط «معین» انتخاب می‌شود. سپس سیستم بسته به معین، جزئیات بیشتری به نام «تفصیلی» می‌خواهد تا معلوم شود دقیقاً برای چه کسی یا کجا بوده است.</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معین</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نوع حساب، مثلاً «۸۲۰۳۰۱ — هزینهٔ آب، برق و گاز» یا «۳۱۰۱۰۱ — پرداختنی‌ها (پیمانکاران)».</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تفصیلی</a:t>
            </a:r>
            <a:endParaRPr lang="en-US" sz="1350" dirty="0"/>
          </a:p>
        </p:txBody>
      </p:sp>
      <p:sp>
        <p:nvSpPr>
          <p:cNvPr id="12" name="Text 10"/>
          <p:cNvSpPr/>
          <p:nvPr/>
        </p:nvSpPr>
        <p:spPr>
          <a:xfrm>
            <a:off x="5440680" y="352386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جزء دقیق‌تر: کدام مرکز هزینه؟ کدام پیمانکار؟ کدام حساب بانکی؟ با انتخاب معین خودش ظاهر می‌شود.</a:t>
            </a:r>
            <a:endParaRPr lang="en-US" sz="1300" dirty="0"/>
          </a:p>
        </p:txBody>
      </p:sp>
      <p:sp>
        <p:nvSpPr>
          <p:cNvPr id="13" name="Shape 11"/>
          <p:cNvSpPr/>
          <p:nvPr/>
        </p:nvSpPr>
        <p:spPr>
          <a:xfrm>
            <a:off x="11411712" y="4097198"/>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09719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097198"/>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شناسه و ویژگی</a:t>
            </a:r>
            <a:endParaRPr lang="en-US" sz="1350" dirty="0"/>
          </a:p>
        </p:txBody>
      </p:sp>
      <p:sp>
        <p:nvSpPr>
          <p:cNvPr id="16" name="Text 14"/>
          <p:cNvSpPr/>
          <p:nvPr/>
        </p:nvSpPr>
        <p:spPr>
          <a:xfrm>
            <a:off x="5440680" y="4426382"/>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برخی حساب‌ها یک کد اضافه (مثل شمارهٔ قرارداد) یا اطلاعات تکمیلی می‌خواهند؛ فرم خودش آن را می‌پرسد.</a:t>
            </a:r>
            <a:endParaRPr lang="en-US" sz="1300" dirty="0"/>
          </a:p>
        </p:txBody>
      </p:sp>
      <p:sp>
        <p:nvSpPr>
          <p:cNvPr id="17" name="Shape 15"/>
          <p:cNvSpPr/>
          <p:nvPr/>
        </p:nvSpPr>
        <p:spPr>
          <a:xfrm>
            <a:off x="411480" y="1097280"/>
            <a:ext cx="4754880" cy="2377440"/>
          </a:xfrm>
          <a:prstGeom prst="roundRect">
            <a:avLst>
              <a:gd name="adj" fmla="val 3846"/>
            </a:avLst>
          </a:prstGeom>
          <a:solidFill>
            <a:srgbClr val="E3F3EA"/>
          </a:solidFill>
          <a:ln w="9525">
            <a:solidFill>
              <a:srgbClr val="1E7A4C"/>
            </a:solidFill>
            <a:prstDash val="solid"/>
          </a:ln>
        </p:spPr>
      </p:sp>
      <p:sp>
        <p:nvSpPr>
          <p:cNvPr id="18" name="Text 16"/>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نمونه</a:t>
            </a:r>
            <a:endParaRPr lang="en-US" sz="1500" dirty="0"/>
          </a:p>
        </p:txBody>
      </p:sp>
      <p:sp>
        <p:nvSpPr>
          <p:cNvPr id="19" name="Text 17"/>
          <p:cNvSpPr/>
          <p:nvPr/>
        </p:nvSpPr>
        <p:spPr>
          <a:xfrm>
            <a:off x="594360" y="1691640"/>
            <a:ext cx="4389120" cy="7868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معین ۸۲۰۴۰۱ «هزینهٔ تعمیر و نگهداری» ← تفصیلی «مرکز هزینه: ۱۰۰۰۲ ادارهٔ پشتیبانی». معین ۳۱۰۱۰۱ «پیمانکاران» ← تفصیلی «۵۰۰۱۳ شرکت تأسیسات نوین ساختمان».</a:t>
            </a:r>
            <a:endParaRPr lang="en-US" sz="1300" dirty="0"/>
          </a:p>
        </p:txBody>
      </p:sp>
      <p:sp>
        <p:nvSpPr>
          <p:cNvPr id="20" name="Text 18"/>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۴۱</a:t>
            </a:r>
            <a:endParaRPr lang="en-US" sz="1000" dirty="0"/>
          </a:p>
        </p:txBody>
      </p:sp>
      <p:sp>
        <p:nvSpPr>
          <p:cNvPr id="21" name="Text 19"/>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چرخهٔ عمر یک سند</a:t>
            </a:r>
            <a:endParaRPr lang="en-US" sz="2500" dirty="0"/>
          </a:p>
        </p:txBody>
      </p:sp>
      <p:sp>
        <p:nvSpPr>
          <p:cNvPr id="3" name="Shape 1"/>
          <p:cNvSpPr/>
          <p:nvPr/>
        </p:nvSpPr>
        <p:spPr>
          <a:xfrm>
            <a:off x="9182862" y="1965960"/>
            <a:ext cx="2594610" cy="2103120"/>
          </a:xfrm>
          <a:prstGeom prst="roundRect">
            <a:avLst>
              <a:gd name="adj" fmla="val 5217"/>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10205847" y="1691640"/>
            <a:ext cx="548640" cy="548640"/>
          </a:xfrm>
          <a:prstGeom prst="ellipse">
            <a:avLst/>
          </a:prstGeom>
          <a:solidFill>
            <a:srgbClr val="C9A227"/>
          </a:solidFill>
          <a:ln w="12700">
            <a:solidFill>
              <a:srgbClr val="C9A227"/>
            </a:solidFill>
            <a:prstDash val="solid"/>
          </a:ln>
        </p:spPr>
      </p:sp>
      <p:sp>
        <p:nvSpPr>
          <p:cNvPr id="5" name="Text 3"/>
          <p:cNvSpPr/>
          <p:nvPr/>
        </p:nvSpPr>
        <p:spPr>
          <a:xfrm>
            <a:off x="10205847"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p:nvPr/>
        </p:nvSpPr>
        <p:spPr>
          <a:xfrm>
            <a:off x="9274302" y="2377440"/>
            <a:ext cx="2411730"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یادداشت</a:t>
            </a:r>
            <a:endParaRPr lang="en-US" sz="1550" dirty="0"/>
          </a:p>
        </p:txBody>
      </p:sp>
      <p:sp>
        <p:nvSpPr>
          <p:cNvPr id="7" name="Text 5"/>
          <p:cNvSpPr/>
          <p:nvPr/>
        </p:nvSpPr>
        <p:spPr>
          <a:xfrm>
            <a:off x="9274302" y="3108960"/>
            <a:ext cx="2411730"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پیش‌نویس؛ قابل ویرایش و حذف. حتی ناتراز هم ذخیره می‌شود.</a:t>
            </a:r>
            <a:endParaRPr lang="en-US" sz="1200" dirty="0"/>
          </a:p>
        </p:txBody>
      </p:sp>
      <p:sp>
        <p:nvSpPr>
          <p:cNvPr id="8" name="Text 6"/>
          <p:cNvSpPr/>
          <p:nvPr/>
        </p:nvSpPr>
        <p:spPr>
          <a:xfrm>
            <a:off x="8853678"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9" name="Shape 7"/>
          <p:cNvSpPr/>
          <p:nvPr/>
        </p:nvSpPr>
        <p:spPr>
          <a:xfrm>
            <a:off x="6259068" y="1965960"/>
            <a:ext cx="2594610" cy="2103120"/>
          </a:xfrm>
          <a:prstGeom prst="roundRect">
            <a:avLst>
              <a:gd name="adj" fmla="val 5217"/>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7282053" y="1691640"/>
            <a:ext cx="548640" cy="548640"/>
          </a:xfrm>
          <a:prstGeom prst="ellipse">
            <a:avLst/>
          </a:prstGeom>
          <a:solidFill>
            <a:srgbClr val="C9A227"/>
          </a:solidFill>
          <a:ln w="12700">
            <a:solidFill>
              <a:srgbClr val="C9A227"/>
            </a:solidFill>
            <a:prstDash val="solid"/>
          </a:ln>
        </p:spPr>
      </p:sp>
      <p:sp>
        <p:nvSpPr>
          <p:cNvPr id="11" name="Text 9"/>
          <p:cNvSpPr/>
          <p:nvPr/>
        </p:nvSpPr>
        <p:spPr>
          <a:xfrm>
            <a:off x="7282053"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2" name="Text 10"/>
          <p:cNvSpPr/>
          <p:nvPr/>
        </p:nvSpPr>
        <p:spPr>
          <a:xfrm>
            <a:off x="6350508" y="2377440"/>
            <a:ext cx="2411730"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موقت</a:t>
            </a:r>
            <a:endParaRPr lang="en-US" sz="1550" dirty="0"/>
          </a:p>
        </p:txBody>
      </p:sp>
      <p:sp>
        <p:nvSpPr>
          <p:cNvPr id="13" name="Text 11"/>
          <p:cNvSpPr/>
          <p:nvPr/>
        </p:nvSpPr>
        <p:spPr>
          <a:xfrm>
            <a:off x="6350508" y="3108960"/>
            <a:ext cx="2411730"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سند کامل و تراز؛ هنوز قابل ویرایش است.</a:t>
            </a:r>
            <a:endParaRPr lang="en-US" sz="1200" dirty="0"/>
          </a:p>
        </p:txBody>
      </p:sp>
      <p:sp>
        <p:nvSpPr>
          <p:cNvPr id="14" name="Text 12"/>
          <p:cNvSpPr/>
          <p:nvPr/>
        </p:nvSpPr>
        <p:spPr>
          <a:xfrm>
            <a:off x="5929884"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15" name="Shape 13"/>
          <p:cNvSpPr/>
          <p:nvPr/>
        </p:nvSpPr>
        <p:spPr>
          <a:xfrm>
            <a:off x="3335274" y="1965960"/>
            <a:ext cx="2594610" cy="2103120"/>
          </a:xfrm>
          <a:prstGeom prst="roundRect">
            <a:avLst>
              <a:gd name="adj" fmla="val 5217"/>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6" name="Shape 14"/>
          <p:cNvSpPr/>
          <p:nvPr/>
        </p:nvSpPr>
        <p:spPr>
          <a:xfrm>
            <a:off x="4358259" y="1691640"/>
            <a:ext cx="548640" cy="548640"/>
          </a:xfrm>
          <a:prstGeom prst="ellipse">
            <a:avLst/>
          </a:prstGeom>
          <a:solidFill>
            <a:srgbClr val="C9A227"/>
          </a:solidFill>
          <a:ln w="12700">
            <a:solidFill>
              <a:srgbClr val="C9A227"/>
            </a:solidFill>
            <a:prstDash val="solid"/>
          </a:ln>
        </p:spPr>
      </p:sp>
      <p:sp>
        <p:nvSpPr>
          <p:cNvPr id="17" name="Text 15"/>
          <p:cNvSpPr/>
          <p:nvPr/>
        </p:nvSpPr>
        <p:spPr>
          <a:xfrm>
            <a:off x="4358259"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8" name="Text 16"/>
          <p:cNvSpPr/>
          <p:nvPr/>
        </p:nvSpPr>
        <p:spPr>
          <a:xfrm>
            <a:off x="3426714" y="2377440"/>
            <a:ext cx="2411730"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بررسی‌شده</a:t>
            </a:r>
            <a:endParaRPr lang="en-US" sz="1550" dirty="0"/>
          </a:p>
        </p:txBody>
      </p:sp>
      <p:sp>
        <p:nvSpPr>
          <p:cNvPr id="19" name="Text 17"/>
          <p:cNvSpPr/>
          <p:nvPr/>
        </p:nvSpPr>
        <p:spPr>
          <a:xfrm>
            <a:off x="3426714" y="3108960"/>
            <a:ext cx="2411730"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رسیدگی شده؛ دیگر قابل ویرایش نیست.</a:t>
            </a:r>
            <a:endParaRPr lang="en-US" sz="1200" dirty="0"/>
          </a:p>
        </p:txBody>
      </p:sp>
      <p:sp>
        <p:nvSpPr>
          <p:cNvPr id="20" name="Text 18"/>
          <p:cNvSpPr/>
          <p:nvPr/>
        </p:nvSpPr>
        <p:spPr>
          <a:xfrm>
            <a:off x="3006090"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1" name="Shape 19"/>
          <p:cNvSpPr/>
          <p:nvPr/>
        </p:nvSpPr>
        <p:spPr>
          <a:xfrm>
            <a:off x="411480" y="1965960"/>
            <a:ext cx="2594610" cy="2103120"/>
          </a:xfrm>
          <a:prstGeom prst="roundRect">
            <a:avLst>
              <a:gd name="adj" fmla="val 5217"/>
            </a:avLst>
          </a:prstGeom>
          <a:solidFill>
            <a:srgbClr val="1B2A49"/>
          </a:solidFill>
          <a:ln w="9525">
            <a:solidFill>
              <a:srgbClr val="1B2A49"/>
            </a:solidFill>
            <a:prstDash val="solid"/>
          </a:ln>
          <a:effectLst>
            <a:outerShdw sx="100000" sy="100000" kx="0" ky="0" algn="bl" rotWithShape="0" blurRad="76200" dist="25400" dir="5400000">
              <a:srgbClr val="000000">
                <a:alpha val="12000"/>
              </a:srgbClr>
            </a:outerShdw>
          </a:effectLst>
        </p:spPr>
      </p:sp>
      <p:sp>
        <p:nvSpPr>
          <p:cNvPr id="22" name="Shape 20"/>
          <p:cNvSpPr/>
          <p:nvPr/>
        </p:nvSpPr>
        <p:spPr>
          <a:xfrm>
            <a:off x="1434465" y="1691640"/>
            <a:ext cx="548640" cy="548640"/>
          </a:xfrm>
          <a:prstGeom prst="ellipse">
            <a:avLst/>
          </a:prstGeom>
          <a:solidFill>
            <a:srgbClr val="C9A227"/>
          </a:solidFill>
          <a:ln w="12700">
            <a:solidFill>
              <a:srgbClr val="C9A227"/>
            </a:solidFill>
            <a:prstDash val="solid"/>
          </a:ln>
        </p:spPr>
      </p:sp>
      <p:sp>
        <p:nvSpPr>
          <p:cNvPr id="23" name="Text 21"/>
          <p:cNvSpPr/>
          <p:nvPr/>
        </p:nvSpPr>
        <p:spPr>
          <a:xfrm>
            <a:off x="1434465"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۴</a:t>
            </a:r>
            <a:endParaRPr lang="en-US" sz="1800" dirty="0"/>
          </a:p>
        </p:txBody>
      </p:sp>
      <p:sp>
        <p:nvSpPr>
          <p:cNvPr id="24" name="Text 22"/>
          <p:cNvSpPr/>
          <p:nvPr/>
        </p:nvSpPr>
        <p:spPr>
          <a:xfrm>
            <a:off x="502920" y="2377440"/>
            <a:ext cx="2411730" cy="731520"/>
          </a:xfrm>
          <a:prstGeom prst="rect">
            <a:avLst/>
          </a:prstGeom>
          <a:noFill/>
          <a:ln/>
        </p:spPr>
        <p:txBody>
          <a:bodyPr wrap="square" lIns="0" tIns="0" rIns="0" bIns="0" rtlCol="0" anchor="ctr"/>
          <a:lstStyle/>
          <a:p>
            <a:pPr rtl="1" algn="ctr" indent="0" marL="0">
              <a:buNone/>
            </a:pPr>
            <a:r>
              <a:rPr lang="en-US" sz="1550" b="1" dirty="0">
                <a:solidFill>
                  <a:srgbClr val="FFFFFF"/>
                </a:solidFill>
                <a:latin typeface="Tahoma" pitchFamily="34" charset="0"/>
                <a:ea typeface="Tahoma" pitchFamily="34" charset="-122"/>
                <a:cs typeface="Tahoma" pitchFamily="34" charset="-120"/>
              </a:rPr>
              <a:t>تأیید دائم</a:t>
            </a:r>
            <a:endParaRPr lang="en-US" sz="1550" dirty="0"/>
          </a:p>
        </p:txBody>
      </p:sp>
      <p:sp>
        <p:nvSpPr>
          <p:cNvPr id="25" name="Text 23"/>
          <p:cNvSpPr/>
          <p:nvPr/>
        </p:nvSpPr>
        <p:spPr>
          <a:xfrm>
            <a:off x="502920" y="3108960"/>
            <a:ext cx="2411730" cy="868680"/>
          </a:xfrm>
          <a:prstGeom prst="rect">
            <a:avLst/>
          </a:prstGeom>
          <a:noFill/>
          <a:ln/>
        </p:spPr>
        <p:txBody>
          <a:bodyPr wrap="square" lIns="0" tIns="0" rIns="0" bIns="0" rtlCol="0" anchor="t"/>
          <a:lstStyle/>
          <a:p>
            <a:pPr rtl="1" algn="ctr" indent="0" marL="0">
              <a:buNone/>
            </a:pPr>
            <a:r>
              <a:rPr lang="en-US" sz="1200" dirty="0">
                <a:solidFill>
                  <a:srgbClr val="C9D3E6"/>
                </a:solidFill>
                <a:latin typeface="Tahoma" pitchFamily="34" charset="0"/>
                <a:ea typeface="Tahoma" pitchFamily="34" charset="-122"/>
                <a:cs typeface="Tahoma" pitchFamily="34" charset="-120"/>
              </a:rPr>
              <a:t>با «صورتحساب ماه» قطعی می‌شود؛ هیچ تغییری ممکن نیست.</a:t>
            </a:r>
            <a:endParaRPr lang="en-US" sz="1200" dirty="0"/>
          </a:p>
        </p:txBody>
      </p:sp>
      <p:sp>
        <p:nvSpPr>
          <p:cNvPr id="26" name="Shape 24"/>
          <p:cNvSpPr/>
          <p:nvPr/>
        </p:nvSpPr>
        <p:spPr>
          <a:xfrm>
            <a:off x="411480" y="4526280"/>
            <a:ext cx="11365992" cy="914400"/>
          </a:xfrm>
          <a:prstGeom prst="roundRect">
            <a:avLst>
              <a:gd name="adj" fmla="val 8000"/>
            </a:avLst>
          </a:prstGeom>
          <a:solidFill>
            <a:srgbClr val="F6EDCF"/>
          </a:solidFill>
          <a:ln w="9525">
            <a:solidFill>
              <a:srgbClr val="C9A227"/>
            </a:solidFill>
            <a:prstDash val="solid"/>
          </a:ln>
        </p:spPr>
      </p:sp>
      <p:sp>
        <p:nvSpPr>
          <p:cNvPr id="27" name="Text 25"/>
          <p:cNvSpPr/>
          <p:nvPr/>
        </p:nvSpPr>
        <p:spPr>
          <a:xfrm>
            <a:off x="10863072" y="4526280"/>
            <a:ext cx="822960" cy="91440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28" name="Text 26"/>
          <p:cNvSpPr/>
          <p:nvPr/>
        </p:nvSpPr>
        <p:spPr>
          <a:xfrm>
            <a:off x="548640" y="4526280"/>
            <a:ext cx="10241280" cy="91440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سند تازه همیشه «یادداشت» است. جابه‌جایی بین وضعیت‌ها از «کارتابل اسناد» انجام می‌شود. برای خروج از یادداشت، سند باید تراز باشد. سند «تأیید دائم» را فقط با «معکوس سند» می‌توان خنثی کرد.</a:t>
            </a:r>
            <a:endParaRPr lang="en-US" sz="1250" dirty="0"/>
          </a:p>
        </p:txBody>
      </p:sp>
      <p:sp>
        <p:nvSpPr>
          <p:cNvPr id="29"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۴۲</a:t>
            </a:r>
            <a:endParaRPr lang="en-US" sz="1000" dirty="0"/>
          </a:p>
        </p:txBody>
      </p:sp>
      <p:sp>
        <p:nvSpPr>
          <p:cNvPr id="30"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مثال ۱: پرداخت قبض برق از بانک</a:t>
            </a:r>
            <a:endParaRPr lang="en-US" sz="2500" dirty="0"/>
          </a:p>
        </p:txBody>
      </p:sp>
      <p:sp>
        <p:nvSpPr>
          <p:cNvPr id="3" name="Shape 1"/>
          <p:cNvSpPr/>
          <p:nvPr/>
        </p:nvSpPr>
        <p:spPr>
          <a:xfrm>
            <a:off x="411480" y="1097280"/>
            <a:ext cx="11365992" cy="541782"/>
          </a:xfrm>
          <a:prstGeom prst="roundRect">
            <a:avLst>
              <a:gd name="adj" fmla="val 13502"/>
            </a:avLst>
          </a:prstGeom>
          <a:solidFill>
            <a:srgbClr val="E6EEFB"/>
          </a:solidFill>
          <a:ln w="12700">
            <a:solidFill>
              <a:srgbClr val="E6EEFB"/>
            </a:solidFill>
            <a:prstDash val="solid"/>
          </a:ln>
        </p:spPr>
      </p:sp>
      <p:sp>
        <p:nvSpPr>
          <p:cNvPr id="4" name="Text 2"/>
          <p:cNvSpPr/>
          <p:nvPr/>
        </p:nvSpPr>
        <p:spPr>
          <a:xfrm>
            <a:off x="594360" y="1143000"/>
            <a:ext cx="11000232" cy="450342"/>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ادارهٔ پشتیبانی ستاد مرکزی قبض برق شهریور را به مبلغ ۴۸,۶۰۰,۰۰۰ ریال با چک از حساب جاری بانک ملی پرداخت کرد.</a:t>
            </a:r>
            <a:endParaRPr lang="en-US" sz="15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1867662"/>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۸۲۰۳۰۱ هزینهٔ آب، برق و گاز — مرکز هزینه: ادارهٔ پشتیبانی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قبض برق شهریور ۱۴۰۵</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۴۸,۶۰۰,۰۰۰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۱۱۰۲۰۱ بانک‌ها — حساب جاری — تفصیلی: بانک ملی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پرداخت با چک ۷۴۲۱۰۵۳</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۴۸,۶۰۰,۰۰۰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۴۸,۶۰۰,۰۰۰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۴۸,۶۰۰,۰۰۰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3632454"/>
            <a:ext cx="11365992" cy="640080"/>
          </a:xfrm>
          <a:prstGeom prst="roundRect">
            <a:avLst>
              <a:gd name="adj" fmla="val 11429"/>
            </a:avLst>
          </a:prstGeom>
          <a:solidFill>
            <a:srgbClr val="F6EDCF"/>
          </a:solidFill>
          <a:ln w="9525">
            <a:solidFill>
              <a:srgbClr val="C9A227"/>
            </a:solidFill>
            <a:prstDash val="solid"/>
          </a:ln>
        </p:spPr>
      </p:sp>
      <p:sp>
        <p:nvSpPr>
          <p:cNvPr id="7" name="Text 4"/>
          <p:cNvSpPr/>
          <p:nvPr/>
        </p:nvSpPr>
        <p:spPr>
          <a:xfrm>
            <a:off x="10863072" y="3632454"/>
            <a:ext cx="822960" cy="64008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8" name="Text 5"/>
          <p:cNvSpPr/>
          <p:nvPr/>
        </p:nvSpPr>
        <p:spPr>
          <a:xfrm>
            <a:off x="548640" y="3632454"/>
            <a:ext cx="10241280" cy="64008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هزینه زیاد شد، پس بدهکار است؛ پول از بانک خارج شد، پس بانک بستانکار است. ردیف بستانکارِ بانک در فرم، انتخاب چک را هم می‌خواهد.</a:t>
            </a:r>
            <a:endParaRPr lang="en-US" sz="1250" dirty="0"/>
          </a:p>
        </p:txBody>
      </p:sp>
      <p:sp>
        <p:nvSpPr>
          <p:cNvPr id="9" name="Text 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۴۳</a:t>
            </a:r>
            <a:endParaRPr lang="en-US" sz="1000" dirty="0"/>
          </a:p>
        </p:txBody>
      </p:sp>
      <p:sp>
        <p:nvSpPr>
          <p:cNvPr id="10" name="Text 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مثال ۲: صورت‌حساب پیمانکار (پرداخت‌نشده)</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شرکت تأسیسات نوین ساختمان آسانسور ساختمان مرکزی را تعمیر کرد و صورت‌حساب ۸۷,۵۰۰,۰۰۰ ریالی داد. هنوز پولی پرداخت نشده و ۵٪ مالیات تکلیفی کسر می‌شود.</a:t>
            </a:r>
            <a:endParaRPr lang="en-US" sz="15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۸۲۰۴۰۱ هزینهٔ تعمیر و نگهداری — ادارهٔ پشتیبانی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تعمیر آسانسور — مهر ۱۴۰۵</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۸۷,۵۰۰,۰۰۰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۳۱۰۱۰۱ پرداختنی‌ها (پیمانکاران) — شرکت تأسیسات نوین</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طلب پیمانکار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۸۳,۱۲۵,۰۰۰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۳</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۳۱۰۲۰۱ مالیات تکلیفی پرداختنی — شرکت تأسیسات نوین</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کسر ۵٪ مالیات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۴,۳۷۵,۰۰۰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۸۷,۵۰۰,۰۰۰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۸۷,۵۰۰,۰۰۰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4283964"/>
            <a:ext cx="11365992" cy="640080"/>
          </a:xfrm>
          <a:prstGeom prst="roundRect">
            <a:avLst>
              <a:gd name="adj" fmla="val 11429"/>
            </a:avLst>
          </a:prstGeom>
          <a:solidFill>
            <a:srgbClr val="F6EDCF"/>
          </a:solidFill>
          <a:ln w="9525">
            <a:solidFill>
              <a:srgbClr val="C9A227"/>
            </a:solidFill>
            <a:prstDash val="solid"/>
          </a:ln>
        </p:spPr>
      </p:sp>
      <p:sp>
        <p:nvSpPr>
          <p:cNvPr id="7" name="Text 4"/>
          <p:cNvSpPr/>
          <p:nvPr/>
        </p:nvSpPr>
        <p:spPr>
          <a:xfrm>
            <a:off x="10863072" y="4283964"/>
            <a:ext cx="822960" cy="64008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8" name="Text 5"/>
          <p:cNvSpPr/>
          <p:nvPr/>
        </p:nvSpPr>
        <p:spPr>
          <a:xfrm>
            <a:off x="548640" y="4283964"/>
            <a:ext cx="10241280" cy="64008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هزینه همین حالا ثبت می‌شود، حتی اگر پول بعداً پرداخت شود؛ در عوض پیمانکار و ادارهٔ مالیات «طلبکار» (بستانکار) می‌شوند.</a:t>
            </a:r>
            <a:endParaRPr lang="en-US" sz="1250" dirty="0"/>
          </a:p>
        </p:txBody>
      </p:sp>
      <p:sp>
        <p:nvSpPr>
          <p:cNvPr id="9" name="Text 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۴۴</a:t>
            </a:r>
            <a:endParaRPr lang="en-US" sz="1000" dirty="0"/>
          </a:p>
        </p:txBody>
      </p:sp>
      <p:sp>
        <p:nvSpPr>
          <p:cNvPr id="10" name="Text 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مثال ۳: دریافت حق بیمه از کارفرما</a:t>
            </a:r>
            <a:endParaRPr lang="en-US" sz="2500" dirty="0"/>
          </a:p>
        </p:txBody>
      </p:sp>
      <p:sp>
        <p:nvSpPr>
          <p:cNvPr id="3" name="Shape 1"/>
          <p:cNvSpPr/>
          <p:nvPr/>
        </p:nvSpPr>
        <p:spPr>
          <a:xfrm>
            <a:off x="411480" y="1097280"/>
            <a:ext cx="11365992" cy="541782"/>
          </a:xfrm>
          <a:prstGeom prst="roundRect">
            <a:avLst>
              <a:gd name="adj" fmla="val 13502"/>
            </a:avLst>
          </a:prstGeom>
          <a:solidFill>
            <a:srgbClr val="E6EEFB"/>
          </a:solidFill>
          <a:ln w="12700">
            <a:solidFill>
              <a:srgbClr val="E6EEFB"/>
            </a:solidFill>
            <a:prstDash val="solid"/>
          </a:ln>
        </p:spPr>
      </p:sp>
      <p:sp>
        <p:nvSpPr>
          <p:cNvPr id="4" name="Text 2"/>
          <p:cNvSpPr/>
          <p:nvPr/>
        </p:nvSpPr>
        <p:spPr>
          <a:xfrm>
            <a:off x="594360" y="1143000"/>
            <a:ext cx="11000232" cy="450342"/>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شرکت فولاد البرز حق بیمهٔ مهرماه کارکنانش را به مبلغ ۹۳۵,۰۰۰,۰۰۰ ریال به حساب درآمد سازمان در بانک رفاه واریز کرد.</a:t>
            </a:r>
            <a:endParaRPr lang="en-US" sz="15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11480" y="1867662"/>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۱۱۰۲۰۱ بانک‌ها — تفصیلی: بانک رفاه (حساب درآمد)</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واریز با فیش بانکی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۹۳۵,۰۰۰,۰۰۰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۱۳۰۱۰۱ مطالبات حق بیمه از کارفرمایان — فولاد البرز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وصول حق بیمهٔ مهر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۹۳۵,۰۰۰,۰۰۰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۹۳۵,۰۰۰,۰۰۰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۹۳۵,۰۰۰,۰۰۰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3632454"/>
            <a:ext cx="11365992" cy="720090"/>
          </a:xfrm>
          <a:prstGeom prst="roundRect">
            <a:avLst>
              <a:gd name="adj" fmla="val 10159"/>
            </a:avLst>
          </a:prstGeom>
          <a:solidFill>
            <a:srgbClr val="F6EDCF"/>
          </a:solidFill>
          <a:ln w="9525">
            <a:solidFill>
              <a:srgbClr val="C9A227"/>
            </a:solidFill>
            <a:prstDash val="solid"/>
          </a:ln>
        </p:spPr>
      </p:sp>
      <p:sp>
        <p:nvSpPr>
          <p:cNvPr id="7" name="Text 4"/>
          <p:cNvSpPr/>
          <p:nvPr/>
        </p:nvSpPr>
        <p:spPr>
          <a:xfrm>
            <a:off x="10863072" y="3632454"/>
            <a:ext cx="822960" cy="72009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8" name="Text 5"/>
          <p:cNvSpPr/>
          <p:nvPr/>
        </p:nvSpPr>
        <p:spPr>
          <a:xfrm>
            <a:off x="548640" y="3632454"/>
            <a:ext cx="10241280" cy="72009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پول وارد بانک شد (بدهکار) و طلب سازمان از کارفرما به همان اندازه کم شد (بستانکار). برای واریز به بانک، فرم شماره و تاریخ فیش را می‌خواهد.</a:t>
            </a:r>
            <a:endParaRPr lang="en-US" sz="1250" dirty="0"/>
          </a:p>
        </p:txBody>
      </p:sp>
      <p:sp>
        <p:nvSpPr>
          <p:cNvPr id="9" name="Text 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۴۵</a:t>
            </a:r>
            <a:endParaRPr lang="en-US" sz="1000" dirty="0"/>
          </a:p>
        </p:txBody>
      </p:sp>
      <p:sp>
        <p:nvSpPr>
          <p:cNvPr id="10" name="Text 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صورتحساب ماه و رمز برگشت</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در پایان هر ماه، ستاد مرکزی اسناد «بررسی‌شدهٔ» واحدها را یکجا «تأیید دائم» می‌کند. به این کار «صورتحساب ماه» می‌گویند؛ یعنی دفاتر آن ماه بسته و قطعی شد.</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شرط صورتحساب</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واحدی که هنوز سند یادداشت/موقت یا اعلامیهٔ ارسال‌نشده دارد، صورتحساب نمی‌شود و دلیلش ثبت می‌شود.</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چرا رمز ستاد؟</a:t>
            </a:r>
            <a:endParaRPr lang="en-US" sz="1350" dirty="0"/>
          </a:p>
        </p:txBody>
      </p:sp>
      <p:sp>
        <p:nvSpPr>
          <p:cNvPr id="12" name="Text 10"/>
          <p:cNvSpPr/>
          <p:nvPr/>
        </p:nvSpPr>
        <p:spPr>
          <a:xfrm>
            <a:off x="5440680" y="352386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باز کردن ماهِ بسته یعنی دست بردن در دفاتر قطعی؛ پس فقط با رمز ۸ رقمیِ یک‌بارمصرف ستاد ممکن است.</a:t>
            </a:r>
            <a:endParaRPr lang="en-US" sz="1300" dirty="0"/>
          </a:p>
        </p:txBody>
      </p:sp>
      <p:sp>
        <p:nvSpPr>
          <p:cNvPr id="13" name="Shape 11"/>
          <p:cNvSpPr/>
          <p:nvPr/>
        </p:nvSpPr>
        <p:spPr>
          <a:xfrm>
            <a:off x="11411712" y="4097198"/>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09719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097198"/>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برگشت</a:t>
            </a:r>
            <a:endParaRPr lang="en-US" sz="1350" dirty="0"/>
          </a:p>
        </p:txBody>
      </p:sp>
      <p:sp>
        <p:nvSpPr>
          <p:cNvPr id="16" name="Text 14"/>
          <p:cNvSpPr/>
          <p:nvPr/>
        </p:nvSpPr>
        <p:spPr>
          <a:xfrm>
            <a:off x="5440680" y="4426382"/>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با رمز، اسناد تأیید دائم آن ماه به «بررسی‌شده» برمی‌گردند تا اصلاح شوند.</a:t>
            </a:r>
            <a:endParaRPr lang="en-US" sz="1300" dirty="0"/>
          </a:p>
        </p:txBody>
      </p:sp>
      <p:sp>
        <p:nvSpPr>
          <p:cNvPr id="17" name="Shape 15"/>
          <p:cNvSpPr/>
          <p:nvPr/>
        </p:nvSpPr>
        <p:spPr>
          <a:xfrm>
            <a:off x="411480" y="1097280"/>
            <a:ext cx="4754880" cy="2377440"/>
          </a:xfrm>
          <a:prstGeom prst="roundRect">
            <a:avLst>
              <a:gd name="adj" fmla="val 3846"/>
            </a:avLst>
          </a:prstGeom>
          <a:solidFill>
            <a:srgbClr val="E3F3EA"/>
          </a:solidFill>
          <a:ln w="9525">
            <a:solidFill>
              <a:srgbClr val="1E7A4C"/>
            </a:solidFill>
            <a:prstDash val="solid"/>
          </a:ln>
        </p:spPr>
      </p:sp>
      <p:sp>
        <p:nvSpPr>
          <p:cNvPr id="18" name="Text 16"/>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نمونه</a:t>
            </a:r>
            <a:endParaRPr lang="en-US" sz="1500" dirty="0"/>
          </a:p>
        </p:txBody>
      </p:sp>
      <p:sp>
        <p:nvSpPr>
          <p:cNvPr id="19" name="Text 17"/>
          <p:cNvSpPr/>
          <p:nvPr/>
        </p:nvSpPr>
        <p:spPr>
          <a:xfrm>
            <a:off x="594360" y="1691640"/>
            <a:ext cx="4389120" cy="7868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ادارهٔ کل فارس در صورتحساب مهر یک اعلامیهٔ ارسال‌نشده دارد ← «صورتحساب نشد». پس از ارسال اعلامیه، ستاد دوباره صورتحساب می‌کند.</a:t>
            </a:r>
            <a:endParaRPr lang="en-US" sz="1300" dirty="0"/>
          </a:p>
        </p:txBody>
      </p:sp>
      <p:sp>
        <p:nvSpPr>
          <p:cNvPr id="20" name="Text 18"/>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۴۶</a:t>
            </a:r>
            <a:endParaRPr lang="en-US" sz="1000" dirty="0"/>
          </a:p>
        </p:txBody>
      </p:sp>
      <p:sp>
        <p:nvSpPr>
          <p:cNvPr id="21" name="Text 19"/>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مثال ۴: سند افتتاحیهٔ اول سال</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اول فروردین ۱۴۰۵ ماندهٔ دارایی‌های ستاد از پایان ۱۴۰۴ به سال جدید منتقل می‌شود. سیستم این سند را خودش از روی مانده‌ها می‌سازد (صفحهٔ «سند افتتاحیه و اختتامیه»).</a:t>
            </a:r>
            <a:endParaRPr lang="en-US" sz="15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۱۱۰۲۰۱ بانک‌ها — بانک ملی جاری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ماندهٔ پایان ۱۴۰۴</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۸,۴۲۰,۰۰۰,۰۰۰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۱۱۰۲۰۱ بانک‌ها — بانک رفاه درآمد</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ماندهٔ پایان ۱۴۰۴</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۳,۶۱۵,۰۰۰,۰۰۰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۳</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۱۳۰۱۰۱ مطالبات حق بیمه — فولاد البرز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ماندهٔ پایان ۱۴۰۴</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۱,۸۴۰,۰۰۰,۰۰۰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۴</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۱۴۰۳۰۱ پیش‌پرداخت‌ها</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ماندهٔ پایان ۱۴۰۴</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۶۰۰,۰۰۰,۰۰۰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۵</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۵۹۰۱۰۱ حساب رابط افتتاحیه</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تراز کردن سند</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۱۴,۴۷۵,۰۰۰,۰۰۰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۱۴,۴۷۵,۰۰۰,۰۰۰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۱۴,۴۷۵,۰۰۰,۰۰۰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5052060"/>
            <a:ext cx="11365992" cy="640080"/>
          </a:xfrm>
          <a:prstGeom prst="roundRect">
            <a:avLst>
              <a:gd name="adj" fmla="val 11429"/>
            </a:avLst>
          </a:prstGeom>
          <a:solidFill>
            <a:srgbClr val="F6EDCF"/>
          </a:solidFill>
          <a:ln w="9525">
            <a:solidFill>
              <a:srgbClr val="C9A227"/>
            </a:solidFill>
            <a:prstDash val="solid"/>
          </a:ln>
        </p:spPr>
      </p:sp>
      <p:sp>
        <p:nvSpPr>
          <p:cNvPr id="7" name="Text 4"/>
          <p:cNvSpPr/>
          <p:nvPr/>
        </p:nvSpPr>
        <p:spPr>
          <a:xfrm>
            <a:off x="10863072" y="5052060"/>
            <a:ext cx="822960" cy="64008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8" name="Text 5"/>
          <p:cNvSpPr/>
          <p:nvPr/>
        </p:nvSpPr>
        <p:spPr>
          <a:xfrm>
            <a:off x="548640" y="5052060"/>
            <a:ext cx="10241280" cy="64008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پیش از آن، «سند اختتامیه» در آخر ۱۴۰۴ حساب‌های درآمد و هزینه را صفر کرده است؛ چون آن‌ها فقط عملکرد همان سال را نشان می‌دهند.</a:t>
            </a:r>
            <a:endParaRPr lang="en-US" sz="1250" dirty="0"/>
          </a:p>
        </p:txBody>
      </p:sp>
      <p:sp>
        <p:nvSpPr>
          <p:cNvPr id="9" name="Text 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۴۷</a:t>
            </a:r>
            <a:endParaRPr lang="en-US" sz="1000" dirty="0"/>
          </a:p>
        </p:txBody>
      </p:sp>
      <p:sp>
        <p:nvSpPr>
          <p:cNvPr id="10" name="Text 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 — کارتابل اسناد</a:t>
            </a:r>
            <a:endParaRPr lang="en-US" sz="2500" dirty="0"/>
          </a:p>
        </p:txBody>
      </p:sp>
      <p:sp>
        <p:nvSpPr>
          <p:cNvPr id="3" name="Shape 1"/>
          <p:cNvSpPr/>
          <p:nvPr/>
        </p:nvSpPr>
        <p:spPr>
          <a:xfrm>
            <a:off x="9427464" y="896112"/>
            <a:ext cx="235000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537192" y="896112"/>
            <a:ext cx="213055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کارتابل اسناد</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op_list">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سند ۱۸۹۴ (واریز حق بیمهٔ متفرقه) فقط جمع بدهکار دارد؛ یعنی ناتراز است و فعلاً فقط به‌صورت یادداشت می‌ماند.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کاشی‌ها</a:t>
            </a:r>
            <a:endParaRPr lang="en-US" sz="1350" dirty="0"/>
          </a:p>
        </p:txBody>
      </p:sp>
      <p:sp>
        <p:nvSpPr>
          <p:cNvPr id="13" name="Text 10"/>
          <p:cNvSpPr/>
          <p:nvPr/>
        </p:nvSpPr>
        <p:spPr>
          <a:xfrm>
            <a:off x="7909560" y="1700784"/>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تعداد اسناد هر وضعیت در سال جاری. با کلیک روی هر کاشی، فقط اسناد آن وضعیت دیده می‌شود.</a:t>
            </a:r>
            <a:endParaRPr lang="en-US" sz="1050" dirty="0"/>
          </a:p>
        </p:txBody>
      </p:sp>
      <p:sp>
        <p:nvSpPr>
          <p:cNvPr id="14" name="Shape 11"/>
          <p:cNvSpPr/>
          <p:nvPr/>
        </p:nvSpPr>
        <p:spPr>
          <a:xfrm>
            <a:off x="11411712" y="2184959"/>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18495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18495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تب‌ها</a:t>
            </a:r>
            <a:endParaRPr lang="en-US" sz="1350" dirty="0"/>
          </a:p>
        </p:txBody>
      </p:sp>
      <p:sp>
        <p:nvSpPr>
          <p:cNvPr id="17" name="Text 14"/>
          <p:cNvSpPr/>
          <p:nvPr/>
        </p:nvSpPr>
        <p:spPr>
          <a:xfrm>
            <a:off x="7909560" y="2514143"/>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همه، یادداشت، موقت، بررسی‌شده، تأیید دائم. ویرایش و حذف فقط در تب یک وضعیت مشخص فعال است.</a:t>
            </a:r>
            <a:endParaRPr lang="en-US" sz="1050" dirty="0"/>
          </a:p>
        </p:txBody>
      </p:sp>
      <p:sp>
        <p:nvSpPr>
          <p:cNvPr id="18" name="Shape 15"/>
          <p:cNvSpPr/>
          <p:nvPr/>
        </p:nvSpPr>
        <p:spPr>
          <a:xfrm>
            <a:off x="11411712" y="2998318"/>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299831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299831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فیلترها</a:t>
            </a:r>
            <a:endParaRPr lang="en-US" sz="1350" dirty="0"/>
          </a:p>
        </p:txBody>
      </p:sp>
      <p:sp>
        <p:nvSpPr>
          <p:cNvPr id="21" name="Text 18"/>
          <p:cNvSpPr/>
          <p:nvPr/>
        </p:nvSpPr>
        <p:spPr>
          <a:xfrm>
            <a:off x="7909560" y="3327502"/>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سال مالی، از/تا شمارهٔ سند، از/تا تاریخ سند و نوع سند؛ روی همهٔ اسناد اعمال می‌شود.</a:t>
            </a:r>
            <a:endParaRPr lang="en-US" sz="1050" dirty="0"/>
          </a:p>
        </p:txBody>
      </p:sp>
      <p:sp>
        <p:nvSpPr>
          <p:cNvPr id="22" name="Shape 19"/>
          <p:cNvSpPr/>
          <p:nvPr/>
        </p:nvSpPr>
        <p:spPr>
          <a:xfrm>
            <a:off x="11411712" y="381167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81167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81167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ستون‌های مبلغ</a:t>
            </a:r>
            <a:endParaRPr lang="en-US" sz="1350" dirty="0"/>
          </a:p>
        </p:txBody>
      </p:sp>
      <p:sp>
        <p:nvSpPr>
          <p:cNvPr id="25" name="Text 22"/>
          <p:cNvSpPr/>
          <p:nvPr/>
        </p:nvSpPr>
        <p:spPr>
          <a:xfrm>
            <a:off x="7909560" y="4140860"/>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جمع بدهکار و بستانکار هر سند؛ اگر برابر نباشند به رنگ هشدار دیده می‌شوند.</a:t>
            </a:r>
            <a:endParaRPr lang="en-US" sz="1050" dirty="0"/>
          </a:p>
        </p:txBody>
      </p:sp>
      <p:sp>
        <p:nvSpPr>
          <p:cNvPr id="26" name="Shape 23"/>
          <p:cNvSpPr/>
          <p:nvPr/>
        </p:nvSpPr>
        <p:spPr>
          <a:xfrm>
            <a:off x="11411712" y="4625035"/>
            <a:ext cx="329184" cy="329184"/>
          </a:xfrm>
          <a:prstGeom prst="ellipse">
            <a:avLst/>
          </a:prstGeom>
          <a:solidFill>
            <a:srgbClr val="C9A227"/>
          </a:solidFill>
          <a:ln w="12700">
            <a:solidFill>
              <a:srgbClr val="C9A227"/>
            </a:solidFill>
            <a:prstDash val="solid"/>
          </a:ln>
        </p:spPr>
      </p:sp>
      <p:sp>
        <p:nvSpPr>
          <p:cNvPr id="27" name="Text 24"/>
          <p:cNvSpPr/>
          <p:nvPr/>
        </p:nvSpPr>
        <p:spPr>
          <a:xfrm>
            <a:off x="11411712" y="462503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8" name="Text 25"/>
          <p:cNvSpPr/>
          <p:nvPr/>
        </p:nvSpPr>
        <p:spPr>
          <a:xfrm>
            <a:off x="7909560" y="4625035"/>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بالای صفحه</a:t>
            </a:r>
            <a:endParaRPr lang="en-US" sz="1350" dirty="0"/>
          </a:p>
        </p:txBody>
      </p:sp>
      <p:sp>
        <p:nvSpPr>
          <p:cNvPr id="29" name="Text 26"/>
          <p:cNvSpPr/>
          <p:nvPr/>
        </p:nvSpPr>
        <p:spPr>
          <a:xfrm>
            <a:off x="7909560" y="4954219"/>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خروجی اکسل، چاپ / PDF، مرتب‌سازی اسناد، سندهای حذف‌شده و «صدور سند جدید».</a:t>
            </a:r>
            <a:endParaRPr lang="en-US" sz="1050" dirty="0"/>
          </a:p>
        </p:txBody>
      </p:sp>
      <p:sp>
        <p:nvSpPr>
          <p:cNvPr id="30"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۴۸</a:t>
            </a:r>
            <a:endParaRPr lang="en-US" sz="1000" dirty="0"/>
          </a:p>
        </p:txBody>
      </p:sp>
      <p:sp>
        <p:nvSpPr>
          <p:cNvPr id="31"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۲ — بردن سند به وضعیت بعدی</a:t>
            </a:r>
            <a:endParaRPr lang="en-US" sz="2500" dirty="0"/>
          </a:p>
        </p:txBody>
      </p:sp>
      <p:sp>
        <p:nvSpPr>
          <p:cNvPr id="3" name="Shape 1"/>
          <p:cNvSpPr/>
          <p:nvPr/>
        </p:nvSpPr>
        <p:spPr>
          <a:xfrm>
            <a:off x="9427464" y="896112"/>
            <a:ext cx="235000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537192" y="896112"/>
            <a:ext cx="213055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کارتابل اسناد</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op_list_tmp">    </p:cNvPr>
          <p:cNvPicPr>
            <a:picLocks noChangeAspect="1"/>
          </p:cNvPicPr>
          <p:nvPr/>
        </p:nvPicPr>
        <p:blipFill>
          <a:blip r:embed="rId1"/>
          <a:stretch>
            <a:fillRect/>
          </a:stretch>
        </p:blipFill>
        <p:spPr>
          <a:xfrm>
            <a:off x="484632" y="1748699"/>
            <a:ext cx="7077456" cy="4183563"/>
          </a:xfrm>
          <a:prstGeom prst="rect">
            <a:avLst/>
          </a:prstGeom>
        </p:spPr>
      </p:pic>
      <p:sp>
        <p:nvSpPr>
          <p:cNvPr id="7" name="Shape 4"/>
          <p:cNvSpPr/>
          <p:nvPr/>
        </p:nvSpPr>
        <p:spPr>
          <a:xfrm>
            <a:off x="7909560" y="5451653"/>
            <a:ext cx="3867912" cy="903427"/>
          </a:xfrm>
          <a:prstGeom prst="roundRect">
            <a:avLst>
              <a:gd name="adj" fmla="val 8097"/>
            </a:avLst>
          </a:prstGeom>
          <a:solidFill>
            <a:srgbClr val="E3F3EA"/>
          </a:solidFill>
          <a:ln w="9525">
            <a:solidFill>
              <a:srgbClr val="1E7A4C"/>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دو سند موقت ۱۸۹۰ و ۱۸۸۸ را تیک بزنید و «بررسی‌شده» را بزنید؛ هر دو به تب بررسی‌شده می‌روند.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تب وضعیت</a:t>
            </a:r>
            <a:endParaRPr lang="en-US" sz="1350" dirty="0"/>
          </a:p>
        </p:txBody>
      </p:sp>
      <p:sp>
        <p:nvSpPr>
          <p:cNvPr id="13" name="Text 10"/>
          <p:cNvSpPr/>
          <p:nvPr/>
        </p:nvSpPr>
        <p:spPr>
          <a:xfrm>
            <a:off x="7909560" y="1700784"/>
            <a:ext cx="3392424" cy="27774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تب مورد نظر (مثلاً «موقت») را باز کنید.</a:t>
            </a:r>
            <a:endParaRPr lang="en-US" sz="1250" dirty="0"/>
          </a:p>
        </p:txBody>
      </p:sp>
      <p:sp>
        <p:nvSpPr>
          <p:cNvPr id="14" name="Shape 11"/>
          <p:cNvSpPr/>
          <p:nvPr/>
        </p:nvSpPr>
        <p:spPr>
          <a:xfrm>
            <a:off x="11411712" y="2033397"/>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03339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033397"/>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انتخاب گروهی</a:t>
            </a:r>
            <a:endParaRPr lang="en-US" sz="1350" dirty="0"/>
          </a:p>
        </p:txBody>
      </p:sp>
      <p:sp>
        <p:nvSpPr>
          <p:cNvPr id="17" name="Text 14"/>
          <p:cNvSpPr/>
          <p:nvPr/>
        </p:nvSpPr>
        <p:spPr>
          <a:xfrm>
            <a:off x="7909560" y="2362581"/>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تیک اسنادی را که رسیدگی کرده‌اید بزنید؛ نوار «… سند انتخاب شده — انتقال به:» ظاهر می‌شود.</a:t>
            </a:r>
            <a:endParaRPr lang="en-US" sz="1250" dirty="0"/>
          </a:p>
        </p:txBody>
      </p:sp>
      <p:sp>
        <p:nvSpPr>
          <p:cNvPr id="18" name="Shape 15"/>
          <p:cNvSpPr/>
          <p:nvPr/>
        </p:nvSpPr>
        <p:spPr>
          <a:xfrm>
            <a:off x="11411712" y="3140964"/>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409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4096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مقصد</a:t>
            </a:r>
            <a:endParaRPr lang="en-US" sz="1350" dirty="0"/>
          </a:p>
        </p:txBody>
      </p:sp>
      <p:sp>
        <p:nvSpPr>
          <p:cNvPr id="21" name="Text 18"/>
          <p:cNvSpPr/>
          <p:nvPr/>
        </p:nvSpPr>
        <p:spPr>
          <a:xfrm>
            <a:off x="7909560" y="3470148"/>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دکمهٔ وضعیت مقصد را بزنید، مثلاً «بررسی‌شده». برای یک سند تنها از دکمهٔ «تغییر وضعیت سند» هم می‌شود.</a:t>
            </a:r>
            <a:endParaRPr lang="en-US" sz="1250" dirty="0"/>
          </a:p>
        </p:txBody>
      </p:sp>
      <p:sp>
        <p:nvSpPr>
          <p:cNvPr id="22" name="Shape 19"/>
          <p:cNvSpPr/>
          <p:nvPr/>
        </p:nvSpPr>
        <p:spPr>
          <a:xfrm>
            <a:off x="11411712" y="4248531"/>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24853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24853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ستون عملیات</a:t>
            </a:r>
            <a:endParaRPr lang="en-US" sz="1350" dirty="0"/>
          </a:p>
        </p:txBody>
      </p:sp>
      <p:sp>
        <p:nvSpPr>
          <p:cNvPr id="25" name="Text 22"/>
          <p:cNvSpPr/>
          <p:nvPr/>
        </p:nvSpPr>
        <p:spPr>
          <a:xfrm>
            <a:off x="7909560" y="4577715"/>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نمایش، ویرایش، حذف، معکوس سند و تغییر وضعیت؛ برای اسناد قفل‌شده فقط نمایش و معکوس.</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۴۹</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ابزارهای کارتابل</a:t>
            </a:r>
            <a:endParaRPr lang="en-US" sz="2500" dirty="0"/>
          </a:p>
        </p:txBody>
      </p:sp>
      <p:sp>
        <p:nvSpPr>
          <p:cNvPr id="3" name="Shape 1"/>
          <p:cNvSpPr/>
          <p:nvPr/>
        </p:nvSpPr>
        <p:spPr>
          <a:xfrm>
            <a:off x="11393424" y="1188720"/>
            <a:ext cx="384048" cy="384048"/>
          </a:xfrm>
          <a:prstGeom prst="ellipse">
            <a:avLst/>
          </a:prstGeom>
          <a:solidFill>
            <a:srgbClr val="C9A227"/>
          </a:solidFill>
          <a:ln w="12700">
            <a:solidFill>
              <a:srgbClr val="C9A227"/>
            </a:solidFill>
            <a:prstDash val="solid"/>
          </a:ln>
        </p:spPr>
      </p:sp>
      <p:sp>
        <p:nvSpPr>
          <p:cNvPr id="4" name="Text 2"/>
          <p:cNvSpPr/>
          <p:nvPr/>
        </p:nvSpPr>
        <p:spPr>
          <a:xfrm>
            <a:off x="11393424"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5" name="Text 3"/>
          <p:cNvSpPr/>
          <p:nvPr/>
        </p:nvSpPr>
        <p:spPr>
          <a:xfrm>
            <a:off x="8119872" y="1188720"/>
            <a:ext cx="3154680" cy="384048"/>
          </a:xfrm>
          <a:prstGeom prst="rect">
            <a:avLst/>
          </a:prstGeom>
          <a:noFill/>
          <a:ln/>
        </p:spPr>
        <p:txBody>
          <a:bodyPr wrap="square" lIns="0" tIns="0" rIns="0" bIns="0" rtlCol="0" anchor="ctr"/>
          <a:lstStyle/>
          <a:p>
            <a:pPr rtl="1" algn="r" indent="0" marL="0">
              <a:buNone/>
            </a:pPr>
            <a:r>
              <a:rPr lang="en-US" sz="1450" b="1" dirty="0">
                <a:solidFill>
                  <a:srgbClr val="1B2A49"/>
                </a:solidFill>
                <a:latin typeface="Tahoma" pitchFamily="34" charset="0"/>
                <a:ea typeface="Tahoma" pitchFamily="34" charset="-122"/>
                <a:cs typeface="Tahoma" pitchFamily="34" charset="-120"/>
              </a:rPr>
              <a:t>مرتب‌سازی اسناد</a:t>
            </a:r>
            <a:endParaRPr lang="en-US" sz="1450" dirty="0"/>
          </a:p>
        </p:txBody>
      </p:sp>
      <p:sp>
        <p:nvSpPr>
          <p:cNvPr id="6" name="Shape 4"/>
          <p:cNvSpPr/>
          <p:nvPr/>
        </p:nvSpPr>
        <p:spPr>
          <a:xfrm>
            <a:off x="8119872" y="1691640"/>
            <a:ext cx="3657600" cy="3566160"/>
          </a:xfrm>
          <a:prstGeom prst="roundRect">
            <a:avLst>
              <a:gd name="adj" fmla="val 205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op_sort">    </p:cNvPr>
          <p:cNvPicPr>
            <a:picLocks noChangeAspect="1"/>
          </p:cNvPicPr>
          <p:nvPr/>
        </p:nvPicPr>
        <p:blipFill>
          <a:blip r:embed="rId1"/>
          <a:stretch>
            <a:fillRect/>
          </a:stretch>
        </p:blipFill>
        <p:spPr>
          <a:xfrm>
            <a:off x="8165592" y="2030425"/>
            <a:ext cx="3566160" cy="2888590"/>
          </a:xfrm>
          <a:prstGeom prst="rect">
            <a:avLst/>
          </a:prstGeom>
        </p:spPr>
      </p:pic>
      <p:sp>
        <p:nvSpPr>
          <p:cNvPr id="8" name="Text 5"/>
          <p:cNvSpPr/>
          <p:nvPr/>
        </p:nvSpPr>
        <p:spPr>
          <a:xfrm>
            <a:off x="8119872" y="5394960"/>
            <a:ext cx="3657600" cy="91440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شمارهٔ اسناد یک بازه را به ترتیب تاریخ از نو می‌زند. اگر حتی یک سندِ بازه بررسی‌شده یا تأیید دائم باشد، کل کار رد می‌شود.</a:t>
            </a:r>
            <a:endParaRPr lang="en-US" sz="1250" dirty="0"/>
          </a:p>
        </p:txBody>
      </p:sp>
      <p:sp>
        <p:nvSpPr>
          <p:cNvPr id="9" name="Shape 6"/>
          <p:cNvSpPr/>
          <p:nvPr/>
        </p:nvSpPr>
        <p:spPr>
          <a:xfrm>
            <a:off x="7539228" y="1188720"/>
            <a:ext cx="384048" cy="384048"/>
          </a:xfrm>
          <a:prstGeom prst="ellipse">
            <a:avLst/>
          </a:prstGeom>
          <a:solidFill>
            <a:srgbClr val="C9A227"/>
          </a:solidFill>
          <a:ln w="12700">
            <a:solidFill>
              <a:srgbClr val="C9A227"/>
            </a:solidFill>
            <a:prstDash val="solid"/>
          </a:ln>
        </p:spPr>
      </p:sp>
      <p:sp>
        <p:nvSpPr>
          <p:cNvPr id="10" name="Text 7"/>
          <p:cNvSpPr/>
          <p:nvPr/>
        </p:nvSpPr>
        <p:spPr>
          <a:xfrm>
            <a:off x="7539228"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p:nvPr/>
        </p:nvSpPr>
        <p:spPr>
          <a:xfrm>
            <a:off x="4265676" y="1188720"/>
            <a:ext cx="3154680" cy="384048"/>
          </a:xfrm>
          <a:prstGeom prst="rect">
            <a:avLst/>
          </a:prstGeom>
          <a:noFill/>
          <a:ln/>
        </p:spPr>
        <p:txBody>
          <a:bodyPr wrap="square" lIns="0" tIns="0" rIns="0" bIns="0" rtlCol="0" anchor="ctr"/>
          <a:lstStyle/>
          <a:p>
            <a:pPr rtl="1" algn="r" indent="0" marL="0">
              <a:buNone/>
            </a:pPr>
            <a:r>
              <a:rPr lang="en-US" sz="1450" b="1" dirty="0">
                <a:solidFill>
                  <a:srgbClr val="1B2A49"/>
                </a:solidFill>
                <a:latin typeface="Tahoma" pitchFamily="34" charset="0"/>
                <a:ea typeface="Tahoma" pitchFamily="34" charset="-122"/>
                <a:cs typeface="Tahoma" pitchFamily="34" charset="-120"/>
              </a:rPr>
              <a:t>سندهای حذف‌شده</a:t>
            </a:r>
            <a:endParaRPr lang="en-US" sz="1450" dirty="0"/>
          </a:p>
        </p:txBody>
      </p:sp>
      <p:sp>
        <p:nvSpPr>
          <p:cNvPr id="12" name="Shape 9"/>
          <p:cNvSpPr/>
          <p:nvPr/>
        </p:nvSpPr>
        <p:spPr>
          <a:xfrm>
            <a:off x="4265676" y="1691640"/>
            <a:ext cx="3657600" cy="3566160"/>
          </a:xfrm>
          <a:prstGeom prst="roundRect">
            <a:avLst>
              <a:gd name="adj" fmla="val 205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3" name="Image 1" descr="op_deleted">    </p:cNvPr>
          <p:cNvPicPr>
            <a:picLocks noChangeAspect="1"/>
          </p:cNvPicPr>
          <p:nvPr/>
        </p:nvPicPr>
        <p:blipFill>
          <a:blip r:embed="rId2"/>
          <a:stretch>
            <a:fillRect/>
          </a:stretch>
        </p:blipFill>
        <p:spPr>
          <a:xfrm>
            <a:off x="4311396" y="2877388"/>
            <a:ext cx="3566160" cy="1194664"/>
          </a:xfrm>
          <a:prstGeom prst="rect">
            <a:avLst/>
          </a:prstGeom>
        </p:spPr>
      </p:pic>
      <p:sp>
        <p:nvSpPr>
          <p:cNvPr id="14" name="Text 10"/>
          <p:cNvSpPr/>
          <p:nvPr/>
        </p:nvSpPr>
        <p:spPr>
          <a:xfrm>
            <a:off x="4265676" y="5394960"/>
            <a:ext cx="3657600" cy="91440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سند حذف‌شده با «بازگردانی» در وضعیت یادداشت برمی‌گردد؛ اگر شماره‌اش گرفته شده باشد، شمارهٔ تازه می‌گیرد.</a:t>
            </a:r>
            <a:endParaRPr lang="en-US" sz="1250" dirty="0"/>
          </a:p>
        </p:txBody>
      </p:sp>
      <p:sp>
        <p:nvSpPr>
          <p:cNvPr id="15" name="Shape 11"/>
          <p:cNvSpPr/>
          <p:nvPr/>
        </p:nvSpPr>
        <p:spPr>
          <a:xfrm>
            <a:off x="3685032" y="1188720"/>
            <a:ext cx="384048" cy="384048"/>
          </a:xfrm>
          <a:prstGeom prst="ellipse">
            <a:avLst/>
          </a:prstGeom>
          <a:solidFill>
            <a:srgbClr val="C9A227"/>
          </a:solidFill>
          <a:ln w="12700">
            <a:solidFill>
              <a:srgbClr val="C9A227"/>
            </a:solidFill>
            <a:prstDash val="solid"/>
          </a:ln>
        </p:spPr>
      </p:sp>
      <p:sp>
        <p:nvSpPr>
          <p:cNvPr id="16" name="Text 12"/>
          <p:cNvSpPr/>
          <p:nvPr/>
        </p:nvSpPr>
        <p:spPr>
          <a:xfrm>
            <a:off x="3685032"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3"/>
          <p:cNvSpPr/>
          <p:nvPr/>
        </p:nvSpPr>
        <p:spPr>
          <a:xfrm>
            <a:off x="411480" y="1188720"/>
            <a:ext cx="3154680" cy="384048"/>
          </a:xfrm>
          <a:prstGeom prst="rect">
            <a:avLst/>
          </a:prstGeom>
          <a:noFill/>
          <a:ln/>
        </p:spPr>
        <p:txBody>
          <a:bodyPr wrap="square" lIns="0" tIns="0" rIns="0" bIns="0" rtlCol="0" anchor="ctr"/>
          <a:lstStyle/>
          <a:p>
            <a:pPr rtl="1" algn="r" indent="0" marL="0">
              <a:buNone/>
            </a:pPr>
            <a:r>
              <a:rPr lang="en-US" sz="1450" b="1" dirty="0">
                <a:solidFill>
                  <a:srgbClr val="1B2A49"/>
                </a:solidFill>
                <a:latin typeface="Tahoma" pitchFamily="34" charset="0"/>
                <a:ea typeface="Tahoma" pitchFamily="34" charset="-122"/>
                <a:cs typeface="Tahoma" pitchFamily="34" charset="-120"/>
              </a:rPr>
              <a:t>معکوس سند</a:t>
            </a:r>
            <a:endParaRPr lang="en-US" sz="1450" dirty="0"/>
          </a:p>
        </p:txBody>
      </p:sp>
      <p:sp>
        <p:nvSpPr>
          <p:cNvPr id="18" name="Shape 14"/>
          <p:cNvSpPr/>
          <p:nvPr/>
        </p:nvSpPr>
        <p:spPr>
          <a:xfrm>
            <a:off x="411480" y="1691640"/>
            <a:ext cx="3657600" cy="3566160"/>
          </a:xfrm>
          <a:prstGeom prst="roundRect">
            <a:avLst>
              <a:gd name="adj" fmla="val 205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9" name="Image 2" descr="op_reverse">    </p:cNvPr>
          <p:cNvPicPr>
            <a:picLocks noChangeAspect="1"/>
          </p:cNvPicPr>
          <p:nvPr/>
        </p:nvPicPr>
        <p:blipFill>
          <a:blip r:embed="rId3"/>
          <a:stretch>
            <a:fillRect/>
          </a:stretch>
        </p:blipFill>
        <p:spPr>
          <a:xfrm>
            <a:off x="457200" y="2422542"/>
            <a:ext cx="3566160" cy="2104356"/>
          </a:xfrm>
          <a:prstGeom prst="rect">
            <a:avLst/>
          </a:prstGeom>
        </p:spPr>
      </p:pic>
      <p:sp>
        <p:nvSpPr>
          <p:cNvPr id="20" name="Text 15"/>
          <p:cNvSpPr/>
          <p:nvPr/>
        </p:nvSpPr>
        <p:spPr>
          <a:xfrm>
            <a:off x="411480" y="5394960"/>
            <a:ext cx="3657600" cy="91440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سند جدیدی در وضعیت یادداشت می‌سازد که بدهکار و بستانکارش جابه‌جاست؛ راه خنثی کردن سند تأیید دائم.</a:t>
            </a:r>
            <a:endParaRPr lang="en-US" sz="1250" dirty="0"/>
          </a:p>
        </p:txBody>
      </p:sp>
      <p:sp>
        <p:nvSpPr>
          <p:cNvPr id="21" name="Text 1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۵۰</a:t>
            </a:r>
            <a:endParaRPr lang="en-US" sz="1000" dirty="0"/>
          </a:p>
        </p:txBody>
      </p:sp>
      <p:sp>
        <p:nvSpPr>
          <p:cNvPr id="22" name="Text 1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۳ — صدور سند: سرسند</a:t>
            </a:r>
            <a:endParaRPr lang="en-US" sz="2500" dirty="0"/>
          </a:p>
        </p:txBody>
      </p:sp>
      <p:sp>
        <p:nvSpPr>
          <p:cNvPr id="3" name="Shape 1"/>
          <p:cNvSpPr/>
          <p:nvPr/>
        </p:nvSpPr>
        <p:spPr>
          <a:xfrm>
            <a:off x="8417052" y="896112"/>
            <a:ext cx="3360420"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526780" y="896112"/>
            <a:ext cx="314096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صدور سند (تفصیلی داینامیک)</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op_new">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F6EDCF"/>
          </a:solidFill>
          <a:ln w="9525">
            <a:solidFill>
              <a:srgbClr val="C9A227"/>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کلید Enter شما را به فیلد بعدی می‌برد؛ ذخیره فقط با دکمهٔ «ذخیره سند» یا Ctrl+Enter انجام می‌شود.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شماره سند</a:t>
            </a:r>
            <a:endParaRPr lang="en-US" sz="1350" dirty="0"/>
          </a:p>
        </p:txBody>
      </p:sp>
      <p:sp>
        <p:nvSpPr>
          <p:cNvPr id="13" name="Text 10"/>
          <p:cNvSpPr/>
          <p:nvPr/>
        </p:nvSpPr>
        <p:spPr>
          <a:xfrm>
            <a:off x="7909560" y="170078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خودکار پیشنهاد می‌شود (آخرین شماره + ۱)؛ در صورت نیاز قابل تغییر است.</a:t>
            </a:r>
            <a:endParaRPr lang="en-US" sz="1250" dirty="0"/>
          </a:p>
        </p:txBody>
      </p:sp>
      <p:sp>
        <p:nvSpPr>
          <p:cNvPr id="14" name="Shape 11"/>
          <p:cNvSpPr/>
          <p:nvPr/>
        </p:nvSpPr>
        <p:spPr>
          <a:xfrm>
            <a:off x="11411712" y="225628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5628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5628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تاریخ سند</a:t>
            </a:r>
            <a:endParaRPr lang="en-US" sz="1350" dirty="0"/>
          </a:p>
        </p:txBody>
      </p:sp>
      <p:sp>
        <p:nvSpPr>
          <p:cNvPr id="17" name="Text 14"/>
          <p:cNvSpPr/>
          <p:nvPr/>
        </p:nvSpPr>
        <p:spPr>
          <a:xfrm>
            <a:off x="7909560" y="2585466"/>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پیش‌فرض امروز است؛ تاریخ واقعی رویداد را بنویسید.</a:t>
            </a:r>
            <a:endParaRPr lang="en-US" sz="1250" dirty="0"/>
          </a:p>
        </p:txBody>
      </p:sp>
      <p:sp>
        <p:nvSpPr>
          <p:cNvPr id="18" name="Shape 15"/>
          <p:cNvSpPr/>
          <p:nvPr/>
        </p:nvSpPr>
        <p:spPr>
          <a:xfrm>
            <a:off x="11411712" y="3140964"/>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409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4096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سال مالی و شرح</a:t>
            </a:r>
            <a:endParaRPr lang="en-US" sz="1350" dirty="0"/>
          </a:p>
        </p:txBody>
      </p:sp>
      <p:sp>
        <p:nvSpPr>
          <p:cNvPr id="21" name="Text 18"/>
          <p:cNvSpPr/>
          <p:nvPr/>
        </p:nvSpPr>
        <p:spPr>
          <a:xfrm>
            <a:off x="7909560" y="3470148"/>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سال از نوار بالا می‌آید. در «شرح سند» خلاصهٔ رویداد را بنویسید؛ «پیوست» اختیاری است.</a:t>
            </a:r>
            <a:endParaRPr lang="en-US" sz="1250" dirty="0"/>
          </a:p>
        </p:txBody>
      </p:sp>
      <p:sp>
        <p:nvSpPr>
          <p:cNvPr id="22" name="Shape 19"/>
          <p:cNvSpPr/>
          <p:nvPr/>
        </p:nvSpPr>
        <p:spPr>
          <a:xfrm>
            <a:off x="11411712" y="402564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256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256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ورود ردیف</a:t>
            </a:r>
            <a:endParaRPr lang="en-US" sz="1350" dirty="0"/>
          </a:p>
        </p:txBody>
      </p:sp>
      <p:sp>
        <p:nvSpPr>
          <p:cNvPr id="25" name="Text 22"/>
          <p:cNvSpPr/>
          <p:nvPr/>
        </p:nvSpPr>
        <p:spPr>
          <a:xfrm>
            <a:off x="7909560" y="4354830"/>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روی «حساب معین» کلیک کنید تا پنجرهٔ انتخاب حساب باز شود؛ با کد یا نام جستجو کنید و «انتخاب» بزنید.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۵۱</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۴ — ثبت ردیف‌ها و کنترل تراز</a:t>
            </a:r>
            <a:endParaRPr lang="en-US" sz="2500" dirty="0"/>
          </a:p>
        </p:txBody>
      </p:sp>
      <p:sp>
        <p:nvSpPr>
          <p:cNvPr id="3" name="Shape 1"/>
          <p:cNvSpPr/>
          <p:nvPr/>
        </p:nvSpPr>
        <p:spPr>
          <a:xfrm>
            <a:off x="8417052" y="896112"/>
            <a:ext cx="3360420"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526780" y="896112"/>
            <a:ext cx="314096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صدور سند (تفصیلی داینامیک)</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op_new2">    </p:cNvPr>
          <p:cNvPicPr>
            <a:picLocks noChangeAspect="1"/>
          </p:cNvPicPr>
          <p:nvPr/>
        </p:nvPicPr>
        <p:blipFill>
          <a:blip r:embed="rId1"/>
          <a:stretch>
            <a:fillRect/>
          </a:stretch>
        </p:blipFill>
        <p:spPr>
          <a:xfrm>
            <a:off x="706676" y="1399032"/>
            <a:ext cx="6633368"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ردیف ۱: ۸۲۰۲۰۱ نوشت‌افزار، مرکز هزینه معاونت مالی، بدهکار ۱۲,۸۰۰,۰۰۰. ردیف ۲: ۳۱۰۱۰۱، مؤسسهٔ چاپ آریا، بستانکار همان مبلغ ← «تراز».</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تفصیلی</a:t>
            </a:r>
            <a:endParaRPr lang="en-US" sz="1350" dirty="0"/>
          </a:p>
        </p:txBody>
      </p:sp>
      <p:sp>
        <p:nvSpPr>
          <p:cNvPr id="13" name="Text 10"/>
          <p:cNvSpPr/>
          <p:nvPr/>
        </p:nvSpPr>
        <p:spPr>
          <a:xfrm>
            <a:off x="7909560" y="1700784"/>
            <a:ext cx="3392424"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پس از انتخاب معین، فیلدهای تفصیلی لازم ظاهر می‌شوند (مثلاً «اشخاص و شرکت‌ها»). همه الزامی‌اند.</a:t>
            </a:r>
            <a:endParaRPr lang="en-US" sz="1200" dirty="0"/>
          </a:p>
        </p:txBody>
      </p:sp>
      <p:sp>
        <p:nvSpPr>
          <p:cNvPr id="14" name="Shape 11"/>
          <p:cNvSpPr/>
          <p:nvPr/>
        </p:nvSpPr>
        <p:spPr>
          <a:xfrm>
            <a:off x="11411712" y="2452421"/>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45242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45242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مبلغ</a:t>
            </a:r>
            <a:endParaRPr lang="en-US" sz="1350" dirty="0"/>
          </a:p>
        </p:txBody>
      </p:sp>
      <p:sp>
        <p:nvSpPr>
          <p:cNvPr id="17" name="Text 14"/>
          <p:cNvSpPr/>
          <p:nvPr/>
        </p:nvSpPr>
        <p:spPr>
          <a:xfrm>
            <a:off x="7909560" y="2781605"/>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شرح ردیف را بنویسید و مبلغ را فقط در یکی از دو ستون بدهکار یا بستانکار وارد کنید.</a:t>
            </a:r>
            <a:endParaRPr lang="en-US" sz="1200" dirty="0"/>
          </a:p>
        </p:txBody>
      </p:sp>
      <p:sp>
        <p:nvSpPr>
          <p:cNvPr id="18" name="Shape 15"/>
          <p:cNvSpPr/>
          <p:nvPr/>
        </p:nvSpPr>
        <p:spPr>
          <a:xfrm>
            <a:off x="11411712" y="3319272"/>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3192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31927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ثبت ردیف</a:t>
            </a:r>
            <a:endParaRPr lang="en-US" sz="1350" dirty="0"/>
          </a:p>
        </p:txBody>
      </p:sp>
      <p:sp>
        <p:nvSpPr>
          <p:cNvPr id="21" name="Text 18"/>
          <p:cNvSpPr/>
          <p:nvPr/>
        </p:nvSpPr>
        <p:spPr>
          <a:xfrm>
            <a:off x="7909560" y="3648456"/>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«ثبت ردیف» (یا Enter در مبلغ) ردیف را کنترل و به جدول «ردیف‌های ثبت‌شده» می‌برد.</a:t>
            </a:r>
            <a:endParaRPr lang="en-US" sz="1200" dirty="0"/>
          </a:p>
        </p:txBody>
      </p:sp>
      <p:sp>
        <p:nvSpPr>
          <p:cNvPr id="22" name="Shape 19"/>
          <p:cNvSpPr/>
          <p:nvPr/>
        </p:nvSpPr>
        <p:spPr>
          <a:xfrm>
            <a:off x="11411712" y="4186123"/>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18612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18612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تراز و ذخیره</a:t>
            </a:r>
            <a:endParaRPr lang="en-US" sz="1350" dirty="0"/>
          </a:p>
        </p:txBody>
      </p:sp>
      <p:sp>
        <p:nvSpPr>
          <p:cNvPr id="25" name="Text 22"/>
          <p:cNvSpPr/>
          <p:nvPr/>
        </p:nvSpPr>
        <p:spPr>
          <a:xfrm>
            <a:off x="7909560" y="4515307"/>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پایین فرم جمع‌ها و «اختلاف» را ببینید. «ذخیره سند» آن را در وضعیت یادداشت ثبت می‌کند.</a:t>
            </a:r>
            <a:endParaRPr lang="en-US" sz="12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۵۲</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۵ — ویرایش سند یادداشت یا موقت</a:t>
            </a:r>
            <a:endParaRPr lang="en-US" sz="2500" dirty="0"/>
          </a:p>
        </p:txBody>
      </p:sp>
      <p:sp>
        <p:nvSpPr>
          <p:cNvPr id="3" name="Shape 1"/>
          <p:cNvSpPr/>
          <p:nvPr/>
        </p:nvSpPr>
        <p:spPr>
          <a:xfrm>
            <a:off x="8417052" y="896112"/>
            <a:ext cx="3360420"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526780" y="896112"/>
            <a:ext cx="314096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کارتابل اسناد ← ویرایش سند</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op_edit">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451653"/>
            <a:ext cx="3867912" cy="903427"/>
          </a:xfrm>
          <a:prstGeom prst="roundRect">
            <a:avLst>
              <a:gd name="adj" fmla="val 8097"/>
            </a:avLst>
          </a:prstGeom>
          <a:solidFill>
            <a:srgbClr val="E3F3EA"/>
          </a:solidFill>
          <a:ln w="9525">
            <a:solidFill>
              <a:srgbClr val="1E7A4C"/>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سند ۱۸۹۱ تعمیر آسانسور: ردیف ۲ (پیمانکار، ۸۳,۱۲۵,۰۰۰) با شناسهٔ ۴۰۵۱۲۷ باز شده است.</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باز کردن</a:t>
            </a:r>
            <a:endParaRPr lang="en-US" sz="1350" dirty="0"/>
          </a:p>
        </p:txBody>
      </p:sp>
      <p:sp>
        <p:nvSpPr>
          <p:cNvPr id="13" name="Text 10"/>
          <p:cNvSpPr/>
          <p:nvPr/>
        </p:nvSpPr>
        <p:spPr>
          <a:xfrm>
            <a:off x="7909560" y="170078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در کارتابل، تب یادداشت یا موقت، دکمهٔ مداد «ویرایش سند» را بزنید.</a:t>
            </a:r>
            <a:endParaRPr lang="en-US" sz="1250" dirty="0"/>
          </a:p>
        </p:txBody>
      </p:sp>
      <p:sp>
        <p:nvSpPr>
          <p:cNvPr id="14" name="Shape 11"/>
          <p:cNvSpPr/>
          <p:nvPr/>
        </p:nvSpPr>
        <p:spPr>
          <a:xfrm>
            <a:off x="11411712" y="225628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5628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5628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رفتن به ردیف</a:t>
            </a:r>
            <a:endParaRPr lang="en-US" sz="1350" dirty="0"/>
          </a:p>
        </p:txBody>
      </p:sp>
      <p:sp>
        <p:nvSpPr>
          <p:cNvPr id="17" name="Text 14"/>
          <p:cNvSpPr/>
          <p:nvPr/>
        </p:nvSpPr>
        <p:spPr>
          <a:xfrm>
            <a:off x="7909560" y="2585466"/>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در جدول پایین، مداد هر ردیف آن را در کادر «ورود ردیف» باز می‌کند (کادر لحظه‌ای رنگی می‌شود).</a:t>
            </a:r>
            <a:endParaRPr lang="en-US" sz="1250" dirty="0"/>
          </a:p>
        </p:txBody>
      </p:sp>
      <p:sp>
        <p:nvSpPr>
          <p:cNvPr id="18" name="Shape 15"/>
          <p:cNvSpPr/>
          <p:nvPr/>
        </p:nvSpPr>
        <p:spPr>
          <a:xfrm>
            <a:off x="11411712" y="3363849"/>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36384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36384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شناسه</a:t>
            </a:r>
            <a:endParaRPr lang="en-US" sz="1350" dirty="0"/>
          </a:p>
        </p:txBody>
      </p:sp>
      <p:sp>
        <p:nvSpPr>
          <p:cNvPr id="21" name="Text 18"/>
          <p:cNvSpPr/>
          <p:nvPr/>
        </p:nvSpPr>
        <p:spPr>
          <a:xfrm>
            <a:off x="7909560" y="3693033"/>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ستون «چک / فیش / شناسه» اطلاعات تکمیلی ردیف را نشان می‌دهد؛ مثلاً شناسهٔ قرارداد پیمانکار.</a:t>
            </a:r>
            <a:endParaRPr lang="en-US" sz="1250" dirty="0"/>
          </a:p>
        </p:txBody>
      </p:sp>
      <p:sp>
        <p:nvSpPr>
          <p:cNvPr id="22" name="Shape 19"/>
          <p:cNvSpPr/>
          <p:nvPr/>
        </p:nvSpPr>
        <p:spPr>
          <a:xfrm>
            <a:off x="11411712" y="447141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47141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47141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ذخیره تغییرات</a:t>
            </a:r>
            <a:endParaRPr lang="en-US" sz="1350" dirty="0"/>
          </a:p>
        </p:txBody>
      </p:sp>
      <p:sp>
        <p:nvSpPr>
          <p:cNvPr id="25" name="Text 22"/>
          <p:cNvSpPr/>
          <p:nvPr/>
        </p:nvSpPr>
        <p:spPr>
          <a:xfrm>
            <a:off x="7909560" y="4800600"/>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همهٔ تغییرها با هم ذخیره می‌شوند؛ یا همه ثبت می‌شوند یا هیچ‌کدام.</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۵۳</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۶ — مشاهدهٔ سند</a:t>
            </a:r>
            <a:endParaRPr lang="en-US" sz="2500" dirty="0"/>
          </a:p>
        </p:txBody>
      </p:sp>
      <p:sp>
        <p:nvSpPr>
          <p:cNvPr id="3" name="Shape 1"/>
          <p:cNvSpPr/>
          <p:nvPr/>
        </p:nvSpPr>
        <p:spPr>
          <a:xfrm>
            <a:off x="8494776" y="896112"/>
            <a:ext cx="328269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604504" y="896112"/>
            <a:ext cx="306324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کارتابل اسناد ← نمایش سند</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op_view">    </p:cNvPr>
          <p:cNvPicPr>
            <a:picLocks noChangeAspect="1"/>
          </p:cNvPicPr>
          <p:nvPr/>
        </p:nvPicPr>
        <p:blipFill>
          <a:blip r:embed="rId1"/>
          <a:stretch>
            <a:fillRect/>
          </a:stretch>
        </p:blipFill>
        <p:spPr>
          <a:xfrm>
            <a:off x="1166009" y="1399032"/>
            <a:ext cx="5714703"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سند ۱۸۸۳ (قبض برق شهریور) بررسی‌شده است؛ ردیف بانک، شمارهٔ چک ۷۴۲۱۰۵۳ و «در وجه» را نشان می‌دهد.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نمایش</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دکمهٔ چشم در کارتابل، سند را در هر وضعیتی فقط برای خواندن باز می‌کند.</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هشدار قفل</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برای سند بررسی‌شده یا تأیید دائم، پیام می‌دهد که قابل ویرایش یا حذف نیست.</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جزئیات ردیف</a:t>
            </a:r>
            <a:endParaRPr lang="en-US" sz="1350" dirty="0"/>
          </a:p>
        </p:txBody>
      </p:sp>
      <p:sp>
        <p:nvSpPr>
          <p:cNvPr id="21" name="Text 18"/>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زیر هر ردیف، تفصیلی‌ها، شناسه، فیش و چک آن نوشته می‌شود.</a:t>
            </a:r>
            <a:endParaRPr lang="en-US" sz="1300" dirty="0"/>
          </a:p>
        </p:txBody>
      </p:sp>
      <p:sp>
        <p:nvSpPr>
          <p:cNvPr id="22" name="Shape 19"/>
          <p:cNvSpPr/>
          <p:nvPr/>
        </p:nvSpPr>
        <p:spPr>
          <a:xfrm>
            <a:off x="11411712" y="4079138"/>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791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791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تراز</a:t>
            </a:r>
            <a:endParaRPr lang="en-US" sz="1350" dirty="0"/>
          </a:p>
        </p:txBody>
      </p:sp>
      <p:sp>
        <p:nvSpPr>
          <p:cNvPr id="25" name="Text 22"/>
          <p:cNvSpPr/>
          <p:nvPr/>
        </p:nvSpPr>
        <p:spPr>
          <a:xfrm>
            <a:off x="7909560" y="4408322"/>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پایین جدول: جمع‌ها و برچسب «سند متوازن است» یا «سند متوازن نیست».</a:t>
            </a:r>
            <a:endParaRPr lang="en-US" sz="13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۵۴</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چاپ سند</a:t>
            </a:r>
            <a:endParaRPr lang="en-US" sz="2500" dirty="0"/>
          </a:p>
        </p:txBody>
      </p:sp>
      <p:sp>
        <p:nvSpPr>
          <p:cNvPr id="3" name="Shape 1"/>
          <p:cNvSpPr/>
          <p:nvPr/>
        </p:nvSpPr>
        <p:spPr>
          <a:xfrm>
            <a:off x="9660636" y="896112"/>
            <a:ext cx="211683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770364" y="896112"/>
            <a:ext cx="189738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نمایش سند ← چاپ سند</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op_print">    </p:cNvPr>
          <p:cNvPicPr>
            <a:picLocks noChangeAspect="1"/>
          </p:cNvPicPr>
          <p:nvPr/>
        </p:nvPicPr>
        <p:blipFill>
          <a:blip r:embed="rId1"/>
          <a:stretch>
            <a:fillRect/>
          </a:stretch>
        </p:blipFill>
        <p:spPr>
          <a:xfrm>
            <a:off x="484632" y="2115583"/>
            <a:ext cx="7077456" cy="3449794"/>
          </a:xfrm>
          <a:prstGeom prst="rect">
            <a:avLst/>
          </a:prstGeom>
        </p:spPr>
      </p:pic>
      <p:sp>
        <p:nvSpPr>
          <p:cNvPr id="7" name="Shape 4"/>
          <p:cNvSpPr/>
          <p:nvPr/>
        </p:nvSpPr>
        <p:spPr>
          <a:xfrm>
            <a:off x="11411712" y="1371600"/>
            <a:ext cx="329184" cy="329184"/>
          </a:xfrm>
          <a:prstGeom prst="ellipse">
            <a:avLst/>
          </a:prstGeom>
          <a:solidFill>
            <a:srgbClr val="C9A227"/>
          </a:solidFill>
          <a:ln w="12700">
            <a:solidFill>
              <a:srgbClr val="C9A227"/>
            </a:solidFill>
            <a:prstDash val="solid"/>
          </a:ln>
        </p:spPr>
      </p:sp>
      <p:sp>
        <p:nvSpPr>
          <p:cNvPr id="8" name="Text 5"/>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چاپ سند</a:t>
            </a:r>
            <a:endParaRPr lang="en-US" sz="1350" dirty="0"/>
          </a:p>
        </p:txBody>
      </p:sp>
      <p:sp>
        <p:nvSpPr>
          <p:cNvPr id="10" name="Text 7"/>
          <p:cNvSpPr/>
          <p:nvPr/>
        </p:nvSpPr>
        <p:spPr>
          <a:xfrm>
            <a:off x="7909560" y="1700784"/>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 صفحهٔ نمایش، «چاپ سند» پنجرهٔ چاپ مرورگر را باز می‌کند؛ می‌توانید PDF هم بگیرید.</a:t>
            </a:r>
            <a:endParaRPr lang="en-US" sz="1300" dirty="0"/>
          </a:p>
        </p:txBody>
      </p:sp>
      <p:sp>
        <p:nvSpPr>
          <p:cNvPr id="11" name="Shape 8"/>
          <p:cNvSpPr/>
          <p:nvPr/>
        </p:nvSpPr>
        <p:spPr>
          <a:xfrm>
            <a:off x="11411712" y="2505913"/>
            <a:ext cx="329184" cy="329184"/>
          </a:xfrm>
          <a:prstGeom prst="ellipse">
            <a:avLst/>
          </a:prstGeom>
          <a:solidFill>
            <a:srgbClr val="C9A227"/>
          </a:solidFill>
          <a:ln w="12700">
            <a:solidFill>
              <a:srgbClr val="C9A227"/>
            </a:solidFill>
            <a:prstDash val="solid"/>
          </a:ln>
        </p:spPr>
      </p:sp>
      <p:sp>
        <p:nvSpPr>
          <p:cNvPr id="12" name="Text 9"/>
          <p:cNvSpPr/>
          <p:nvPr/>
        </p:nvSpPr>
        <p:spPr>
          <a:xfrm>
            <a:off x="11411712" y="25059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p:nvPr/>
        </p:nvSpPr>
        <p:spPr>
          <a:xfrm>
            <a:off x="7909560" y="25059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برگهٔ A4</a:t>
            </a:r>
            <a:endParaRPr lang="en-US" sz="1350" dirty="0"/>
          </a:p>
        </p:txBody>
      </p:sp>
      <p:sp>
        <p:nvSpPr>
          <p:cNvPr id="14" name="Text 11"/>
          <p:cNvSpPr/>
          <p:nvPr/>
        </p:nvSpPr>
        <p:spPr>
          <a:xfrm>
            <a:off x="7909560" y="28350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سرسند، ردیف‌ها با جزئیات تفصیلی و چک، و جمع ردیف‌ها روی کاغذ می‌آید.</a:t>
            </a:r>
            <a:endParaRPr lang="en-US" sz="1300" dirty="0"/>
          </a:p>
        </p:txBody>
      </p:sp>
      <p:sp>
        <p:nvSpPr>
          <p:cNvPr id="15" name="Shape 12"/>
          <p:cNvSpPr/>
          <p:nvPr/>
        </p:nvSpPr>
        <p:spPr>
          <a:xfrm>
            <a:off x="11411712" y="3408426"/>
            <a:ext cx="329184" cy="329184"/>
          </a:xfrm>
          <a:prstGeom prst="ellipse">
            <a:avLst/>
          </a:prstGeom>
          <a:solidFill>
            <a:srgbClr val="C9A227"/>
          </a:solidFill>
          <a:ln w="12700">
            <a:solidFill>
              <a:srgbClr val="C9A227"/>
            </a:solidFill>
            <a:prstDash val="solid"/>
          </a:ln>
        </p:spPr>
      </p:sp>
      <p:sp>
        <p:nvSpPr>
          <p:cNvPr id="16" name="Text 13"/>
          <p:cNvSpPr/>
          <p:nvPr/>
        </p:nvSpPr>
        <p:spPr>
          <a:xfrm>
            <a:off x="11411712" y="34084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p:nvPr/>
        </p:nvSpPr>
        <p:spPr>
          <a:xfrm>
            <a:off x="7909560" y="34084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امضاها</a:t>
            </a:r>
            <a:endParaRPr lang="en-US" sz="1350" dirty="0"/>
          </a:p>
        </p:txBody>
      </p:sp>
      <p:sp>
        <p:nvSpPr>
          <p:cNvPr id="18" name="Text 15"/>
          <p:cNvSpPr/>
          <p:nvPr/>
        </p:nvSpPr>
        <p:spPr>
          <a:xfrm>
            <a:off x="7909560" y="37376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پایین برگه جای امضای تنظیم‌کننده، رسیدگی‌کننده و تأییدکننده است.</a:t>
            </a:r>
            <a:endParaRPr lang="en-US" sz="1300" dirty="0"/>
          </a:p>
        </p:txBody>
      </p:sp>
      <p:sp>
        <p:nvSpPr>
          <p:cNvPr id="19" name="Text 1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۵۵</a:t>
            </a:r>
            <a:endParaRPr lang="en-US" sz="1000" dirty="0"/>
          </a:p>
        </p:txBody>
      </p:sp>
      <p:sp>
        <p:nvSpPr>
          <p:cNvPr id="20" name="Text 1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دریافت اسناد از سایر سیستم‌ها</a:t>
            </a:r>
            <a:endParaRPr lang="en-US" sz="2500" dirty="0"/>
          </a:p>
        </p:txBody>
      </p:sp>
      <p:sp>
        <p:nvSpPr>
          <p:cNvPr id="3" name="Shape 1"/>
          <p:cNvSpPr/>
          <p:nvPr/>
        </p:nvSpPr>
        <p:spPr>
          <a:xfrm>
            <a:off x="8183880" y="896112"/>
            <a:ext cx="359359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293608" y="896112"/>
            <a:ext cx="337413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دریافت اسناد از سایر سیستم‌ها</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op_inbox_dlg">    </p:cNvPr>
          <p:cNvPicPr>
            <a:picLocks noChangeAspect="1"/>
          </p:cNvPicPr>
          <p:nvPr/>
        </p:nvPicPr>
        <p:blipFill>
          <a:blip r:embed="rId1"/>
          <a:stretch>
            <a:fillRect/>
          </a:stretch>
        </p:blipFill>
        <p:spPr>
          <a:xfrm>
            <a:off x="484632" y="1994444"/>
            <a:ext cx="7077456" cy="3692073"/>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سند حقوق آبان (۶ ردیف، ۴,۹۶۲,۰۰۰,۰۰۰ ریال) همه «درست» است؛ «دریافت و ساخت سند» سند ۱۸۹۶ را می‌سازد.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فهرست</a:t>
            </a:r>
            <a:endParaRPr lang="en-US" sz="1350" dirty="0"/>
          </a:p>
        </p:txBody>
      </p:sp>
      <p:sp>
        <p:nvSpPr>
          <p:cNvPr id="13" name="Text 10"/>
          <p:cNvSpPr/>
          <p:nvPr/>
        </p:nvSpPr>
        <p:spPr>
          <a:xfrm>
            <a:off x="7909560" y="1700784"/>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اسنادی که سیستم‌هایی مثل حقوق و دستمزد برای واحد فرستاده‌اند، با وضعیت «منتظر دریافت».</a:t>
            </a:r>
            <a:endParaRPr lang="en-US" sz="1200" dirty="0"/>
          </a:p>
        </p:txBody>
      </p:sp>
      <p:sp>
        <p:nvSpPr>
          <p:cNvPr id="14" name="Shape 11"/>
          <p:cNvSpPr/>
          <p:nvPr/>
        </p:nvSpPr>
        <p:spPr>
          <a:xfrm>
            <a:off x="11411712" y="2238451"/>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3845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3845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بررسی و دریافت</a:t>
            </a:r>
            <a:endParaRPr lang="en-US" sz="1350" dirty="0"/>
          </a:p>
        </p:txBody>
      </p:sp>
      <p:sp>
        <p:nvSpPr>
          <p:cNvPr id="17" name="Text 14"/>
          <p:cNvSpPr/>
          <p:nvPr/>
        </p:nvSpPr>
        <p:spPr>
          <a:xfrm>
            <a:off x="7909560" y="2567635"/>
            <a:ext cx="3392424"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ردیف‌ها و ستون «کنترل» دیده می‌شود؛ ردیف خطادار باید در سیستم فرستنده یا کدینگ اصلاح شود.</a:t>
            </a:r>
            <a:endParaRPr lang="en-US" sz="1200" dirty="0"/>
          </a:p>
        </p:txBody>
      </p:sp>
      <p:sp>
        <p:nvSpPr>
          <p:cNvPr id="18" name="Shape 15"/>
          <p:cNvSpPr/>
          <p:nvPr/>
        </p:nvSpPr>
        <p:spPr>
          <a:xfrm>
            <a:off x="11411712" y="3319272"/>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3192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31927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دریافت و ساخت سند</a:t>
            </a:r>
            <a:endParaRPr lang="en-US" sz="1350" dirty="0"/>
          </a:p>
        </p:txBody>
      </p:sp>
      <p:sp>
        <p:nvSpPr>
          <p:cNvPr id="21" name="Text 18"/>
          <p:cNvSpPr/>
          <p:nvPr/>
        </p:nvSpPr>
        <p:spPr>
          <a:xfrm>
            <a:off x="7909560" y="3648456"/>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یک سند یادداشت می‌سازد؛ بعد مثل بقیهٔ اسناد در کارتابل جلو می‌رود.</a:t>
            </a:r>
            <a:endParaRPr lang="en-US" sz="1200" dirty="0"/>
          </a:p>
        </p:txBody>
      </p:sp>
      <p:sp>
        <p:nvSpPr>
          <p:cNvPr id="22" name="Shape 19"/>
          <p:cNvSpPr/>
          <p:nvPr/>
        </p:nvSpPr>
        <p:spPr>
          <a:xfrm>
            <a:off x="11411712" y="4186123"/>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18612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18612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نمایش دریافت‌شده‌ها</a:t>
            </a:r>
            <a:endParaRPr lang="en-US" sz="1350" dirty="0"/>
          </a:p>
        </p:txBody>
      </p:sp>
      <p:sp>
        <p:nvSpPr>
          <p:cNvPr id="25" name="Text 22"/>
          <p:cNvSpPr/>
          <p:nvPr/>
        </p:nvSpPr>
        <p:spPr>
          <a:xfrm>
            <a:off x="7909560" y="4515307"/>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با این تیک، اسناد قبلی هم با شمارهٔ سند ساخته‌شده دیده می‌شوند.</a:t>
            </a:r>
            <a:endParaRPr lang="en-US" sz="12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۵۶</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صورتحساب ماه (ستاد مرکزی)</a:t>
            </a:r>
            <a:endParaRPr lang="en-US" sz="2500" dirty="0"/>
          </a:p>
        </p:txBody>
      </p:sp>
      <p:sp>
        <p:nvSpPr>
          <p:cNvPr id="3" name="Shape 1"/>
          <p:cNvSpPr/>
          <p:nvPr/>
        </p:nvSpPr>
        <p:spPr>
          <a:xfrm>
            <a:off x="9505188" y="896112"/>
            <a:ext cx="227228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614916" y="896112"/>
            <a:ext cx="205282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صورتحساب ماه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op_monthclose_run">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مهر ۱۴۰۵: از ۷ واحد، ۵ واحد صورتحساب شد (۸۱۴ سند)؛ خراسان رضوی ۳ سند موقت داشت و فارس یک اعلامیهٔ ارسال‌نشده.</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دوره</a:t>
            </a:r>
            <a:endParaRPr lang="en-US" sz="1350" dirty="0"/>
          </a:p>
        </p:txBody>
      </p:sp>
      <p:sp>
        <p:nvSpPr>
          <p:cNvPr id="13" name="Text 10"/>
          <p:cNvSpPr/>
          <p:nvPr/>
        </p:nvSpPr>
        <p:spPr>
          <a:xfrm>
            <a:off x="7909560" y="1700784"/>
            <a:ext cx="339242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سال مالی و ماه را انتخاب کنید.</a:t>
            </a:r>
            <a:endParaRPr lang="en-US" sz="1300" dirty="0"/>
          </a:p>
        </p:txBody>
      </p:sp>
      <p:sp>
        <p:nvSpPr>
          <p:cNvPr id="14" name="Shape 11"/>
          <p:cNvSpPr/>
          <p:nvPr/>
        </p:nvSpPr>
        <p:spPr>
          <a:xfrm>
            <a:off x="11411712" y="204231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04231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04231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دامنه</a:t>
            </a:r>
            <a:endParaRPr lang="en-US" sz="1350" dirty="0"/>
          </a:p>
        </p:txBody>
      </p:sp>
      <p:sp>
        <p:nvSpPr>
          <p:cNvPr id="17" name="Text 14"/>
          <p:cNvSpPr/>
          <p:nvPr/>
        </p:nvSpPr>
        <p:spPr>
          <a:xfrm>
            <a:off x="7909560" y="2371496"/>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«گروه واحد» (درمانی، بیمه‌ای، ستادی یا همهٔ واحدها) یا «یک واحد» را انتخاب کنید.</a:t>
            </a:r>
            <a:endParaRPr lang="en-US" sz="1300" dirty="0"/>
          </a:p>
        </p:txBody>
      </p:sp>
      <p:sp>
        <p:nvSpPr>
          <p:cNvPr id="18" name="Shape 15"/>
          <p:cNvSpPr/>
          <p:nvPr/>
        </p:nvSpPr>
        <p:spPr>
          <a:xfrm>
            <a:off x="11411712" y="2944825"/>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294482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2944825"/>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صورتحساب</a:t>
            </a:r>
            <a:endParaRPr lang="en-US" sz="1350" dirty="0"/>
          </a:p>
        </p:txBody>
      </p:sp>
      <p:sp>
        <p:nvSpPr>
          <p:cNvPr id="21" name="Text 18"/>
          <p:cNvSpPr/>
          <p:nvPr/>
        </p:nvSpPr>
        <p:spPr>
          <a:xfrm>
            <a:off x="7909560" y="3274009"/>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پس از تأیید، اسناد بررسی‌شده «تأیید دائم» می‌شوند و خلاصهٔ نتیجه بالای صفحه می‌آید.</a:t>
            </a:r>
            <a:endParaRPr lang="en-US" sz="1300" dirty="0"/>
          </a:p>
        </p:txBody>
      </p:sp>
      <p:sp>
        <p:nvSpPr>
          <p:cNvPr id="22" name="Shape 19"/>
          <p:cNvSpPr/>
          <p:nvPr/>
        </p:nvSpPr>
        <p:spPr>
          <a:xfrm>
            <a:off x="11411712" y="4079138"/>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791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791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لاگ</a:t>
            </a:r>
            <a:endParaRPr lang="en-US" sz="1350" dirty="0"/>
          </a:p>
        </p:txBody>
      </p:sp>
      <p:sp>
        <p:nvSpPr>
          <p:cNvPr id="25" name="Text 22"/>
          <p:cNvSpPr/>
          <p:nvPr/>
        </p:nvSpPr>
        <p:spPr>
          <a:xfrm>
            <a:off x="7909560" y="4408322"/>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برای هر واحد نتیجه و دلیل؛ کاربر واحد در همین صفحه فقط لاگ واحد خودش را می‌بیند.</a:t>
            </a:r>
            <a:endParaRPr lang="en-US" sz="13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۵۷</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صدور رمز برگشت صورتحساب</a:t>
            </a:r>
            <a:endParaRPr lang="en-US" sz="2500" dirty="0"/>
          </a:p>
        </p:txBody>
      </p:sp>
      <p:sp>
        <p:nvSpPr>
          <p:cNvPr id="3" name="Shape 1"/>
          <p:cNvSpPr/>
          <p:nvPr/>
        </p:nvSpPr>
        <p:spPr>
          <a:xfrm>
            <a:off x="8650224" y="896112"/>
            <a:ext cx="312724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759952" y="896112"/>
            <a:ext cx="290779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صدور رمز برگشت صورتحساب</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op_issue">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رمز ۴۸۲۰۷۳۱۵ برای شهریور ادارهٔ کل فارس (دفعهٔ ۲) صادر شد؛ رمز دفعهٔ ۱ با ۵ ورود نادرست باطل شده بود.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فقط ستاد</a:t>
            </a:r>
            <a:endParaRPr lang="en-US" sz="1350" dirty="0"/>
          </a:p>
        </p:txBody>
      </p:sp>
      <p:sp>
        <p:nvSpPr>
          <p:cNvPr id="13" name="Text 10"/>
          <p:cNvSpPr/>
          <p:nvPr/>
        </p:nvSpPr>
        <p:spPr>
          <a:xfrm>
            <a:off x="7909560" y="170078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این صفحه فقط برای مدیر ستاد در واحد ستاد مرکزی است.</a:t>
            </a:r>
            <a:endParaRPr lang="en-US" sz="1250" dirty="0"/>
          </a:p>
        </p:txBody>
      </p:sp>
      <p:sp>
        <p:nvSpPr>
          <p:cNvPr id="14" name="Shape 11"/>
          <p:cNvSpPr/>
          <p:nvPr/>
        </p:nvSpPr>
        <p:spPr>
          <a:xfrm>
            <a:off x="11411712" y="225628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5628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5628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انتخاب</a:t>
            </a:r>
            <a:endParaRPr lang="en-US" sz="1350" dirty="0"/>
          </a:p>
        </p:txBody>
      </p:sp>
      <p:sp>
        <p:nvSpPr>
          <p:cNvPr id="17" name="Text 14"/>
          <p:cNvSpPr/>
          <p:nvPr/>
        </p:nvSpPr>
        <p:spPr>
          <a:xfrm>
            <a:off x="7909560" y="2585466"/>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واحد (کد یا نام)، سال مالی، ماه و در صورت تمایل «علت» را وارد کنید.</a:t>
            </a:r>
            <a:endParaRPr lang="en-US" sz="1250" dirty="0"/>
          </a:p>
        </p:txBody>
      </p:sp>
      <p:sp>
        <p:nvSpPr>
          <p:cNvPr id="18" name="Shape 15"/>
          <p:cNvSpPr/>
          <p:nvPr/>
        </p:nvSpPr>
        <p:spPr>
          <a:xfrm>
            <a:off x="11411712" y="3140964"/>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409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4096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صدور رمز</a:t>
            </a:r>
            <a:endParaRPr lang="en-US" sz="1350" dirty="0"/>
          </a:p>
        </p:txBody>
      </p:sp>
      <p:sp>
        <p:nvSpPr>
          <p:cNvPr id="21" name="Text 18"/>
          <p:cNvSpPr/>
          <p:nvPr/>
        </p:nvSpPr>
        <p:spPr>
          <a:xfrm>
            <a:off x="7909560" y="3470148"/>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رمز ۸ رقمی نمایش داده می‌شود؛ آن را به واحد اعلام کنید. تا مصرف نشده، صدور دوباره همان رمز را نشان می‌دهد.</a:t>
            </a:r>
            <a:endParaRPr lang="en-US" sz="1250" dirty="0"/>
          </a:p>
        </p:txBody>
      </p:sp>
      <p:sp>
        <p:nvSpPr>
          <p:cNvPr id="22" name="Shape 19"/>
          <p:cNvSpPr/>
          <p:nvPr/>
        </p:nvSpPr>
        <p:spPr>
          <a:xfrm>
            <a:off x="11411712" y="4248531"/>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24853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24853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سابقه</a:t>
            </a:r>
            <a:endParaRPr lang="en-US" sz="1350" dirty="0"/>
          </a:p>
        </p:txBody>
      </p:sp>
      <p:sp>
        <p:nvSpPr>
          <p:cNvPr id="25" name="Text 22"/>
          <p:cNvSpPr/>
          <p:nvPr/>
        </p:nvSpPr>
        <p:spPr>
          <a:xfrm>
            <a:off x="7909560" y="4577715"/>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وضعیت هر رمز: صادرشده، استفاده‌شده، یا باطل (پس از ۵ ورود نادرست).</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۵۸</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برگشت صورتحساب ماه (واحد)</a:t>
            </a:r>
            <a:endParaRPr lang="en-US" sz="2500" dirty="0"/>
          </a:p>
        </p:txBody>
      </p:sp>
      <p:sp>
        <p:nvSpPr>
          <p:cNvPr id="3" name="Shape 1"/>
          <p:cNvSpPr/>
          <p:nvPr/>
        </p:nvSpPr>
        <p:spPr>
          <a:xfrm>
            <a:off x="9038844" y="896112"/>
            <a:ext cx="273862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148572" y="896112"/>
            <a:ext cx="251917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برگشت صورتحساب ماه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op_reopen">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237683"/>
            <a:ext cx="3867912" cy="1117397"/>
          </a:xfrm>
          <a:prstGeom prst="roundRect">
            <a:avLst>
              <a:gd name="adj" fmla="val 6547"/>
            </a:avLst>
          </a:prstGeom>
          <a:solidFill>
            <a:srgbClr val="F6EDCF"/>
          </a:solidFill>
          <a:ln w="9525">
            <a:solidFill>
              <a:srgbClr val="C9A227"/>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رمز یک‌بارمصرف است و پس از ۵ ورود نادرست باطل می‌شود. پس از اصلاح، ستاد باید دوباره صورتحساب کند.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ماه</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ماهی را که باید باز شود انتخاب کنید (واحد و سال از نوار بالا می‌آید).</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رمز</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رمز ۸ رقمی دریافتی از ستاد را وارد کنید و «برگشت صورتحساب» را بزنید.</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نتیجه</a:t>
            </a:r>
            <a:endParaRPr lang="en-US" sz="1350" dirty="0"/>
          </a:p>
        </p:txBody>
      </p:sp>
      <p:sp>
        <p:nvSpPr>
          <p:cNvPr id="21" name="Text 18"/>
          <p:cNvSpPr/>
          <p:nvPr/>
        </p:nvSpPr>
        <p:spPr>
          <a:xfrm>
            <a:off x="7909560" y="3505810"/>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اسناد تأیید دائم آن ماه «بررسی‌شده» می‌شوند؛ از کارتابل آن‌ها را به موقت ببرید و اصلاح کنید.</a:t>
            </a:r>
            <a:endParaRPr lang="en-US" sz="130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۵۹</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اختتامیه (پایان سال)</a:t>
            </a:r>
            <a:endParaRPr lang="en-US" sz="2500" dirty="0"/>
          </a:p>
        </p:txBody>
      </p:sp>
      <p:sp>
        <p:nvSpPr>
          <p:cNvPr id="3" name="Shape 1"/>
          <p:cNvSpPr/>
          <p:nvPr/>
        </p:nvSpPr>
        <p:spPr>
          <a:xfrm>
            <a:off x="8650224" y="896112"/>
            <a:ext cx="312724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759952" y="896112"/>
            <a:ext cx="290779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سند افتتاحیه و اختتامیه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op_yearend">    </p:cNvPr>
          <p:cNvPicPr>
            <a:picLocks noChangeAspect="1"/>
          </p:cNvPicPr>
          <p:nvPr/>
        </p:nvPicPr>
        <p:blipFill>
          <a:blip r:embed="rId1"/>
          <a:stretch>
            <a:fillRect/>
          </a:stretch>
        </p:blipFill>
        <p:spPr>
          <a:xfrm>
            <a:off x="854934" y="1399032"/>
            <a:ext cx="6336851"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اختتامیهٔ ۱۴۰۴: درآمدها ۹۹,۶۵۰ میلیون بدهکار و هزینه‌ها بستانکار می‌شوند؛ مازاد ۳۵,۰۰۰ میلیون به حساب رابط می‌رود.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تب</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«سند اختتامیه» را باز کنید و «سال مالیِ بسته‌شونده» را بنویسید.</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پیش‌نمایش</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همهٔ ردیف‌ها پیش از ثبت دیده می‌شوند: مانده‌های گروه ۶، ۷ و ۸ معکوس می‌شوند.</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حساب رابط</a:t>
            </a:r>
            <a:endParaRPr lang="en-US" sz="1350" dirty="0"/>
          </a:p>
        </p:txBody>
      </p:sp>
      <p:sp>
        <p:nvSpPr>
          <p:cNvPr id="21" name="Text 18"/>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ردیف رنگی، حساب رابطی است که سند را تراز می‌کند.</a:t>
            </a:r>
            <a:endParaRPr lang="en-US" sz="1300" dirty="0"/>
          </a:p>
        </p:txBody>
      </p:sp>
      <p:sp>
        <p:nvSpPr>
          <p:cNvPr id="22" name="Shape 19"/>
          <p:cNvSpPr/>
          <p:nvPr/>
        </p:nvSpPr>
        <p:spPr>
          <a:xfrm>
            <a:off x="11411712" y="4079138"/>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791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791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صدور سند</a:t>
            </a:r>
            <a:endParaRPr lang="en-US" sz="1350" dirty="0"/>
          </a:p>
        </p:txBody>
      </p:sp>
      <p:sp>
        <p:nvSpPr>
          <p:cNvPr id="25" name="Text 22"/>
          <p:cNvSpPr/>
          <p:nvPr/>
        </p:nvSpPr>
        <p:spPr>
          <a:xfrm>
            <a:off x="7909560" y="4408322"/>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اگر مشکلی گزارش نشده باشد فعال است؛ سند در وضعیت یادداشت ثبت می‌شود.</a:t>
            </a:r>
            <a:endParaRPr lang="en-US" sz="13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۶۰</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افتتاحیه (شروع سال)</a:t>
            </a:r>
            <a:endParaRPr lang="en-US" sz="2500" dirty="0"/>
          </a:p>
        </p:txBody>
      </p:sp>
      <p:sp>
        <p:nvSpPr>
          <p:cNvPr id="3" name="Shape 1"/>
          <p:cNvSpPr/>
          <p:nvPr/>
        </p:nvSpPr>
        <p:spPr>
          <a:xfrm>
            <a:off x="8650224" y="896112"/>
            <a:ext cx="312724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759952" y="896112"/>
            <a:ext cx="290779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سند افتتاحیه و اختتامیه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op_opening">    </p:cNvPr>
          <p:cNvPicPr>
            <a:picLocks noChangeAspect="1"/>
          </p:cNvPicPr>
          <p:nvPr/>
        </p:nvPicPr>
        <p:blipFill>
          <a:blip r:embed="rId1"/>
          <a:stretch>
            <a:fillRect/>
          </a:stretch>
        </p:blipFill>
        <p:spPr>
          <a:xfrm>
            <a:off x="1553092" y="1399032"/>
            <a:ext cx="4940536" cy="4882896"/>
          </a:xfrm>
          <a:prstGeom prst="rect">
            <a:avLst/>
          </a:prstGeom>
        </p:spPr>
      </p:pic>
      <p:sp>
        <p:nvSpPr>
          <p:cNvPr id="7" name="Shape 4"/>
          <p:cNvSpPr/>
          <p:nvPr/>
        </p:nvSpPr>
        <p:spPr>
          <a:xfrm>
            <a:off x="11411712" y="1371600"/>
            <a:ext cx="329184" cy="329184"/>
          </a:xfrm>
          <a:prstGeom prst="ellipse">
            <a:avLst/>
          </a:prstGeom>
          <a:solidFill>
            <a:srgbClr val="C9A227"/>
          </a:solidFill>
          <a:ln w="12700">
            <a:solidFill>
              <a:srgbClr val="C9A227"/>
            </a:solidFill>
            <a:prstDash val="solid"/>
          </a:ln>
        </p:spPr>
      </p:sp>
      <p:sp>
        <p:nvSpPr>
          <p:cNvPr id="8" name="Text 5"/>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تب</a:t>
            </a:r>
            <a:endParaRPr lang="en-US" sz="1350" dirty="0"/>
          </a:p>
        </p:txBody>
      </p:sp>
      <p:sp>
        <p:nvSpPr>
          <p:cNvPr id="10" name="Text 7"/>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«سند افتتاحیه» را باز کنید و «سال مالی جدید» را بنویسید.</a:t>
            </a:r>
            <a:endParaRPr lang="en-US" sz="1300" dirty="0"/>
          </a:p>
        </p:txBody>
      </p:sp>
      <p:sp>
        <p:nvSpPr>
          <p:cNvPr id="11" name="Shape 8"/>
          <p:cNvSpPr/>
          <p:nvPr/>
        </p:nvSpPr>
        <p:spPr>
          <a:xfrm>
            <a:off x="11411712" y="2274113"/>
            <a:ext cx="329184" cy="329184"/>
          </a:xfrm>
          <a:prstGeom prst="ellipse">
            <a:avLst/>
          </a:prstGeom>
          <a:solidFill>
            <a:srgbClr val="C9A227"/>
          </a:solidFill>
          <a:ln w="12700">
            <a:solidFill>
              <a:srgbClr val="C9A227"/>
            </a:solidFill>
            <a:prstDash val="solid"/>
          </a:ln>
        </p:spPr>
      </p:sp>
      <p:sp>
        <p:nvSpPr>
          <p:cNvPr id="12" name="Text 9"/>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پیش‌نمایش</a:t>
            </a:r>
            <a:endParaRPr lang="en-US" sz="1350" dirty="0"/>
          </a:p>
        </p:txBody>
      </p:sp>
      <p:sp>
        <p:nvSpPr>
          <p:cNvPr id="14" name="Text 11"/>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ماندهٔ گروه‌های ۱، ۲، ۳، ۴، ۵ و ۹ سال قبل؛ برای هر گروه یک سند جدا.</a:t>
            </a:r>
            <a:endParaRPr lang="en-US" sz="1300" dirty="0"/>
          </a:p>
        </p:txBody>
      </p:sp>
      <p:sp>
        <p:nvSpPr>
          <p:cNvPr id="15" name="Shape 12"/>
          <p:cNvSpPr/>
          <p:nvPr/>
        </p:nvSpPr>
        <p:spPr>
          <a:xfrm>
            <a:off x="11411712" y="3176626"/>
            <a:ext cx="329184" cy="329184"/>
          </a:xfrm>
          <a:prstGeom prst="ellipse">
            <a:avLst/>
          </a:prstGeom>
          <a:solidFill>
            <a:srgbClr val="C9A227"/>
          </a:solidFill>
          <a:ln w="12700">
            <a:solidFill>
              <a:srgbClr val="C9A227"/>
            </a:solidFill>
            <a:prstDash val="solid"/>
          </a:ln>
        </p:spPr>
      </p:sp>
      <p:sp>
        <p:nvSpPr>
          <p:cNvPr id="16" name="Text 13"/>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هشدارها</a:t>
            </a:r>
            <a:endParaRPr lang="en-US" sz="1350" dirty="0"/>
          </a:p>
        </p:txBody>
      </p:sp>
      <p:sp>
        <p:nvSpPr>
          <p:cNvPr id="18" name="Text 15"/>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هشدارها (مثل تفصیلی با ماندهٔ صفر) مانع صدور نیستند؛ «مشکلات» مانع‌اند.</a:t>
            </a:r>
            <a:endParaRPr lang="en-US" sz="1300" dirty="0"/>
          </a:p>
        </p:txBody>
      </p:sp>
      <p:sp>
        <p:nvSpPr>
          <p:cNvPr id="19" name="Shape 16"/>
          <p:cNvSpPr/>
          <p:nvPr/>
        </p:nvSpPr>
        <p:spPr>
          <a:xfrm>
            <a:off x="11411712" y="4079138"/>
            <a:ext cx="329184" cy="329184"/>
          </a:xfrm>
          <a:prstGeom prst="ellipse">
            <a:avLst/>
          </a:prstGeom>
          <a:solidFill>
            <a:srgbClr val="C9A227"/>
          </a:solidFill>
          <a:ln w="12700">
            <a:solidFill>
              <a:srgbClr val="C9A227"/>
            </a:solidFill>
            <a:prstDash val="solid"/>
          </a:ln>
        </p:spPr>
      </p:sp>
      <p:sp>
        <p:nvSpPr>
          <p:cNvPr id="20" name="Text 17"/>
          <p:cNvSpPr/>
          <p:nvPr/>
        </p:nvSpPr>
        <p:spPr>
          <a:xfrm>
            <a:off x="11411712" y="40791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p:nvPr/>
        </p:nvSpPr>
        <p:spPr>
          <a:xfrm>
            <a:off x="7909560" y="40791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صدور</a:t>
            </a:r>
            <a:endParaRPr lang="en-US" sz="1350" dirty="0"/>
          </a:p>
        </p:txBody>
      </p:sp>
      <p:sp>
        <p:nvSpPr>
          <p:cNvPr id="22" name="Text 19"/>
          <p:cNvSpPr/>
          <p:nvPr/>
        </p:nvSpPr>
        <p:spPr>
          <a:xfrm>
            <a:off x="7909560" y="4408322"/>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«صدور ۲ سند»؛ اسناد در یادداشت ثبت و پس از بازبینی به موقت برده می‌شوند.</a:t>
            </a:r>
            <a:endParaRPr lang="en-US" sz="1300" dirty="0"/>
          </a:p>
        </p:txBody>
      </p:sp>
      <p:sp>
        <p:nvSpPr>
          <p:cNvPr id="23" name="Text 2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۶۱</a:t>
            </a:r>
            <a:endParaRPr lang="en-US" sz="1000" dirty="0"/>
          </a:p>
        </p:txBody>
      </p:sp>
      <p:sp>
        <p:nvSpPr>
          <p:cNvPr id="24" name="Text 2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انتقال از سیستم قدیم</a:t>
            </a:r>
            <a:endParaRPr lang="en-US" sz="2500" dirty="0"/>
          </a:p>
        </p:txBody>
      </p:sp>
      <p:sp>
        <p:nvSpPr>
          <p:cNvPr id="3" name="Shape 1"/>
          <p:cNvSpPr/>
          <p:nvPr/>
        </p:nvSpPr>
        <p:spPr>
          <a:xfrm>
            <a:off x="8883396" y="896112"/>
            <a:ext cx="289407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993124" y="896112"/>
            <a:ext cx="267462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انتقال از سیستم قدیم</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اتصال و کاربرگ کدینگ</a:t>
            </a:r>
            <a:endParaRPr lang="en-US" sz="1200" dirty="0"/>
          </a:p>
        </p:txBody>
      </p:sp>
      <p:sp>
        <p:nvSpPr>
          <p:cNvPr id="6" name="Shape 4"/>
          <p:cNvSpPr/>
          <p:nvPr/>
        </p:nvSpPr>
        <p:spPr>
          <a:xfrm>
            <a:off x="6208776" y="1618488"/>
            <a:ext cx="5568696" cy="2671420"/>
          </a:xfrm>
          <a:prstGeom prst="roundRect">
            <a:avLst>
              <a:gd name="adj" fmla="val 2738"/>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op_legacy_a">    </p:cNvPr>
          <p:cNvPicPr>
            <a:picLocks noChangeAspect="1"/>
          </p:cNvPicPr>
          <p:nvPr/>
        </p:nvPicPr>
        <p:blipFill>
          <a:blip r:embed="rId1"/>
          <a:stretch>
            <a:fillRect/>
          </a:stretch>
        </p:blipFill>
        <p:spPr>
          <a:xfrm>
            <a:off x="7025343" y="1664208"/>
            <a:ext cx="3935562" cy="2579980"/>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انتقال اسناد سال‌به‌سال</a:t>
            </a:r>
            <a:endParaRPr lang="en-US" sz="1200" dirty="0"/>
          </a:p>
        </p:txBody>
      </p:sp>
      <p:sp>
        <p:nvSpPr>
          <p:cNvPr id="9" name="Shape 6"/>
          <p:cNvSpPr/>
          <p:nvPr/>
        </p:nvSpPr>
        <p:spPr>
          <a:xfrm>
            <a:off x="411480" y="1618488"/>
            <a:ext cx="5568696" cy="2671420"/>
          </a:xfrm>
          <a:prstGeom prst="roundRect">
            <a:avLst>
              <a:gd name="adj" fmla="val 2738"/>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op_legacy_b">    </p:cNvPr>
          <p:cNvPicPr>
            <a:picLocks noChangeAspect="1"/>
          </p:cNvPicPr>
          <p:nvPr/>
        </p:nvPicPr>
        <p:blipFill>
          <a:blip r:embed="rId2"/>
          <a:stretch>
            <a:fillRect/>
          </a:stretch>
        </p:blipFill>
        <p:spPr>
          <a:xfrm>
            <a:off x="495849" y="1664208"/>
            <a:ext cx="5399957" cy="2579980"/>
          </a:xfrm>
          <a:prstGeom prst="rect">
            <a:avLst/>
          </a:prstGeom>
        </p:spPr>
      </p:pic>
      <p:sp>
        <p:nvSpPr>
          <p:cNvPr id="11" name="Shape 7"/>
          <p:cNvSpPr/>
          <p:nvPr/>
        </p:nvSpPr>
        <p:spPr>
          <a:xfrm>
            <a:off x="8080248" y="4472788"/>
            <a:ext cx="3697224" cy="1086764"/>
          </a:xfrm>
          <a:prstGeom prst="roundRect">
            <a:avLst>
              <a:gd name="adj" fmla="val 6731"/>
            </a:avLst>
          </a:prstGeom>
          <a:solidFill>
            <a:srgbClr val="FFFFFF"/>
          </a:solidFill>
          <a:ln w="6350">
            <a:solidFill>
              <a:srgbClr val="D9DEE7"/>
            </a:solidFill>
            <a:prstDash val="solid"/>
          </a:ln>
        </p:spPr>
      </p:sp>
      <p:sp>
        <p:nvSpPr>
          <p:cNvPr id="12" name="Shape 8"/>
          <p:cNvSpPr/>
          <p:nvPr/>
        </p:nvSpPr>
        <p:spPr>
          <a:xfrm>
            <a:off x="11356848" y="4564228"/>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56422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8171688" y="4545940"/>
            <a:ext cx="3130296"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۱. اتصال</a:t>
            </a:r>
            <a:endParaRPr lang="en-US" sz="1300" dirty="0"/>
          </a:p>
        </p:txBody>
      </p:sp>
      <p:sp>
        <p:nvSpPr>
          <p:cNvPr id="15" name="Text 11"/>
          <p:cNvSpPr/>
          <p:nvPr/>
        </p:nvSpPr>
        <p:spPr>
          <a:xfrm>
            <a:off x="8189976" y="4948276"/>
            <a:ext cx="3477768"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سرور سیستم قدیم و سال‌ها را تعریف و «بررسی اتصال» کنید.</a:t>
            </a:r>
            <a:endParaRPr lang="en-US" sz="1150" dirty="0"/>
          </a:p>
        </p:txBody>
      </p:sp>
      <p:sp>
        <p:nvSpPr>
          <p:cNvPr id="16" name="Shape 12"/>
          <p:cNvSpPr/>
          <p:nvPr/>
        </p:nvSpPr>
        <p:spPr>
          <a:xfrm>
            <a:off x="4245864" y="4472788"/>
            <a:ext cx="3697224" cy="1086764"/>
          </a:xfrm>
          <a:prstGeom prst="roundRect">
            <a:avLst>
              <a:gd name="adj" fmla="val 6731"/>
            </a:avLst>
          </a:prstGeom>
          <a:solidFill>
            <a:srgbClr val="FFFFFF"/>
          </a:solidFill>
          <a:ln w="6350">
            <a:solidFill>
              <a:srgbClr val="D9DEE7"/>
            </a:solidFill>
            <a:prstDash val="solid"/>
          </a:ln>
        </p:spPr>
      </p:sp>
      <p:sp>
        <p:nvSpPr>
          <p:cNvPr id="17" name="Shape 13"/>
          <p:cNvSpPr/>
          <p:nvPr/>
        </p:nvSpPr>
        <p:spPr>
          <a:xfrm>
            <a:off x="7522464" y="4564228"/>
            <a:ext cx="329184" cy="329184"/>
          </a:xfrm>
          <a:prstGeom prst="ellipse">
            <a:avLst/>
          </a:prstGeom>
          <a:solidFill>
            <a:srgbClr val="C9A227"/>
          </a:solidFill>
          <a:ln w="12700">
            <a:solidFill>
              <a:srgbClr val="C9A227"/>
            </a:solidFill>
            <a:prstDash val="solid"/>
          </a:ln>
        </p:spPr>
      </p:sp>
      <p:sp>
        <p:nvSpPr>
          <p:cNvPr id="18" name="Text 14"/>
          <p:cNvSpPr/>
          <p:nvPr/>
        </p:nvSpPr>
        <p:spPr>
          <a:xfrm>
            <a:off x="7522464" y="456422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4337304" y="4545940"/>
            <a:ext cx="3130296"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۲ و ۳. کدینگ</a:t>
            </a:r>
            <a:endParaRPr lang="en-US" sz="1300" dirty="0"/>
          </a:p>
        </p:txBody>
      </p:sp>
      <p:sp>
        <p:nvSpPr>
          <p:cNvPr id="20" name="Text 16"/>
          <p:cNvSpPr/>
          <p:nvPr/>
        </p:nvSpPr>
        <p:spPr>
          <a:xfrm>
            <a:off x="4355592" y="4948276"/>
            <a:ext cx="3477768"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کاربرگ را بگیرید، کد ملی اشخاص را پر کنید، «بررسی» و سپس «ثبت نهایی».</a:t>
            </a:r>
            <a:endParaRPr lang="en-US" sz="1150" dirty="0"/>
          </a:p>
        </p:txBody>
      </p:sp>
      <p:sp>
        <p:nvSpPr>
          <p:cNvPr id="21" name="Shape 17"/>
          <p:cNvSpPr/>
          <p:nvPr/>
        </p:nvSpPr>
        <p:spPr>
          <a:xfrm>
            <a:off x="411480" y="4472788"/>
            <a:ext cx="3697224" cy="1086764"/>
          </a:xfrm>
          <a:prstGeom prst="roundRect">
            <a:avLst>
              <a:gd name="adj" fmla="val 6731"/>
            </a:avLst>
          </a:prstGeom>
          <a:solidFill>
            <a:srgbClr val="FFFFFF"/>
          </a:solidFill>
          <a:ln w="6350">
            <a:solidFill>
              <a:srgbClr val="D9DEE7"/>
            </a:solidFill>
            <a:prstDash val="solid"/>
          </a:ln>
        </p:spPr>
      </p:sp>
      <p:sp>
        <p:nvSpPr>
          <p:cNvPr id="22" name="Shape 18"/>
          <p:cNvSpPr/>
          <p:nvPr/>
        </p:nvSpPr>
        <p:spPr>
          <a:xfrm>
            <a:off x="3688080" y="4564228"/>
            <a:ext cx="329184" cy="329184"/>
          </a:xfrm>
          <a:prstGeom prst="ellipse">
            <a:avLst/>
          </a:prstGeom>
          <a:solidFill>
            <a:srgbClr val="C9A227"/>
          </a:solidFill>
          <a:ln w="12700">
            <a:solidFill>
              <a:srgbClr val="C9A227"/>
            </a:solidFill>
            <a:prstDash val="solid"/>
          </a:ln>
        </p:spPr>
      </p:sp>
      <p:sp>
        <p:nvSpPr>
          <p:cNvPr id="23" name="Text 19"/>
          <p:cNvSpPr/>
          <p:nvPr/>
        </p:nvSpPr>
        <p:spPr>
          <a:xfrm>
            <a:off x="3688080" y="456422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502920" y="4545940"/>
            <a:ext cx="3130296"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۴. اسناد</a:t>
            </a:r>
            <a:endParaRPr lang="en-US" sz="1300" dirty="0"/>
          </a:p>
        </p:txBody>
      </p:sp>
      <p:sp>
        <p:nvSpPr>
          <p:cNvPr id="25" name="Text 21"/>
          <p:cNvSpPr/>
          <p:nvPr/>
        </p:nvSpPr>
        <p:spPr>
          <a:xfrm>
            <a:off x="521208" y="4948276"/>
            <a:ext cx="3477768"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اول اطلاعات بانکی، بعد اسناد هر سال از قدیمی‌ترین؛ «شماره قدیم ← جدید» قابل دریافت است.</a:t>
            </a:r>
            <a:endParaRPr lang="en-US" sz="1150" dirty="0"/>
          </a:p>
        </p:txBody>
      </p:sp>
      <p:sp>
        <p:nvSpPr>
          <p:cNvPr id="26" name="Shape 22"/>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27" name="Text 23"/>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28" name="Text 24"/>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این صفحه یک‌بار، هنگام راه‌اندازی هر واحد، استفاده می‌شود. «بررسی» هیچ چیزی ثبت نمی‌کند.</a:t>
            </a:r>
            <a:endParaRPr lang="en-US" sz="1250" dirty="0"/>
          </a:p>
        </p:txBody>
      </p:sp>
      <p:sp>
        <p:nvSpPr>
          <p:cNvPr id="29" name="Text 25"/>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۶۲</a:t>
            </a:r>
            <a:endParaRPr lang="en-US" sz="1000" dirty="0"/>
          </a:p>
        </p:txBody>
      </p:sp>
      <p:sp>
        <p:nvSpPr>
          <p:cNvPr id="30" name="Text 26"/>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دریافت و پرداخت (صفحهٔ جانبی)</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op_payrec">    </p:cNvPr>
          <p:cNvPicPr>
            <a:picLocks noChangeAspect="1"/>
          </p:cNvPicPr>
          <p:nvPr/>
        </p:nvPicPr>
        <p:blipFill>
          <a:blip r:embed="rId1"/>
          <a:stretch>
            <a:fillRect/>
          </a:stretch>
        </p:blipFill>
        <p:spPr>
          <a:xfrm>
            <a:off x="484632" y="1364331"/>
            <a:ext cx="7077456" cy="4769419"/>
          </a:xfrm>
          <a:prstGeom prst="rect">
            <a:avLst/>
          </a:prstGeom>
        </p:spPr>
      </p:pic>
      <p:sp>
        <p:nvSpPr>
          <p:cNvPr id="5" name="Shape 2"/>
          <p:cNvSpPr/>
          <p:nvPr/>
        </p:nvSpPr>
        <p:spPr>
          <a:xfrm>
            <a:off x="11411712" y="1188720"/>
            <a:ext cx="329184" cy="329184"/>
          </a:xfrm>
          <a:prstGeom prst="ellipse">
            <a:avLst/>
          </a:prstGeom>
          <a:solidFill>
            <a:srgbClr val="C9A227"/>
          </a:solidFill>
          <a:ln w="12700">
            <a:solidFill>
              <a:srgbClr val="C9A227"/>
            </a:solidFill>
            <a:prstDash val="solid"/>
          </a:ln>
        </p:spPr>
      </p:sp>
      <p:sp>
        <p:nvSpPr>
          <p:cNvPr id="6" name="Text 3"/>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دسترسی</a:t>
            </a:r>
            <a:endParaRPr lang="en-US" sz="1350" dirty="0"/>
          </a:p>
        </p:txBody>
      </p:sp>
      <p:sp>
        <p:nvSpPr>
          <p:cNvPr id="8" name="Text 5"/>
          <p:cNvSpPr/>
          <p:nvPr/>
        </p:nvSpPr>
        <p:spPr>
          <a:xfrm>
            <a:off x="7909560" y="151790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این صفحه در منو نیست و فقط از نشانی مستقیم باز می‌شود.</a:t>
            </a:r>
            <a:endParaRPr lang="en-US" sz="1300" dirty="0"/>
          </a:p>
        </p:txBody>
      </p:sp>
      <p:sp>
        <p:nvSpPr>
          <p:cNvPr id="9" name="Shape 6"/>
          <p:cNvSpPr/>
          <p:nvPr/>
        </p:nvSpPr>
        <p:spPr>
          <a:xfrm>
            <a:off x="11411712" y="2091233"/>
            <a:ext cx="329184" cy="329184"/>
          </a:xfrm>
          <a:prstGeom prst="ellipse">
            <a:avLst/>
          </a:prstGeom>
          <a:solidFill>
            <a:srgbClr val="C9A227"/>
          </a:solidFill>
          <a:ln w="12700">
            <a:solidFill>
              <a:srgbClr val="C9A227"/>
            </a:solidFill>
            <a:prstDash val="solid"/>
          </a:ln>
        </p:spPr>
      </p:sp>
      <p:sp>
        <p:nvSpPr>
          <p:cNvPr id="10" name="Text 7"/>
          <p:cNvSpPr/>
          <p:nvPr/>
        </p:nvSpPr>
        <p:spPr>
          <a:xfrm>
            <a:off x="11411712" y="20912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p:nvPr/>
        </p:nvSpPr>
        <p:spPr>
          <a:xfrm>
            <a:off x="7909560" y="209123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فهرست</a:t>
            </a:r>
            <a:endParaRPr lang="en-US" sz="1350" dirty="0"/>
          </a:p>
        </p:txBody>
      </p:sp>
      <p:sp>
        <p:nvSpPr>
          <p:cNvPr id="12" name="Text 9"/>
          <p:cNvSpPr/>
          <p:nvPr/>
        </p:nvSpPr>
        <p:spPr>
          <a:xfrm>
            <a:off x="7909560" y="242041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شماره، تاریخ، شرح، نوع (پرداخت/دریافت) و اینکه سند حسابداری آن «صادر شده» یا نه.</a:t>
            </a:r>
            <a:endParaRPr lang="en-US" sz="1300" dirty="0"/>
          </a:p>
        </p:txBody>
      </p:sp>
      <p:sp>
        <p:nvSpPr>
          <p:cNvPr id="13" name="Shape 10"/>
          <p:cNvSpPr/>
          <p:nvPr/>
        </p:nvSpPr>
        <p:spPr>
          <a:xfrm>
            <a:off x="11411712" y="2993746"/>
            <a:ext cx="329184" cy="329184"/>
          </a:xfrm>
          <a:prstGeom prst="ellipse">
            <a:avLst/>
          </a:prstGeom>
          <a:solidFill>
            <a:srgbClr val="C9A227"/>
          </a:solidFill>
          <a:ln w="12700">
            <a:solidFill>
              <a:srgbClr val="C9A227"/>
            </a:solidFill>
            <a:prstDash val="solid"/>
          </a:ln>
        </p:spPr>
      </p:sp>
      <p:sp>
        <p:nvSpPr>
          <p:cNvPr id="14" name="Text 11"/>
          <p:cNvSpPr/>
          <p:nvPr/>
        </p:nvSpPr>
        <p:spPr>
          <a:xfrm>
            <a:off x="11411712" y="29937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p:nvPr/>
        </p:nvSpPr>
        <p:spPr>
          <a:xfrm>
            <a:off x="7909560" y="29937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محدودیت</a:t>
            </a:r>
            <a:endParaRPr lang="en-US" sz="1350" dirty="0"/>
          </a:p>
        </p:txBody>
      </p:sp>
      <p:sp>
        <p:nvSpPr>
          <p:cNvPr id="16" name="Text 13"/>
          <p:cNvSpPr/>
          <p:nvPr/>
        </p:nvSpPr>
        <p:spPr>
          <a:xfrm>
            <a:off x="7909560" y="3322930"/>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فقط سرسند نگهداری می‌شود و ردیف ندارد؛ برای ثبت حسابداری از «صدور سند» استفاده کنید.</a:t>
            </a:r>
            <a:endParaRPr lang="en-US" sz="1300" dirty="0"/>
          </a:p>
        </p:txBody>
      </p:sp>
      <p:sp>
        <p:nvSpPr>
          <p:cNvPr id="17" name="Text 14"/>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۶۳</a:t>
            </a:r>
            <a:endParaRPr lang="en-US" sz="1000" dirty="0"/>
          </a:p>
        </p:txBody>
      </p:sp>
      <p:sp>
        <p:nvSpPr>
          <p:cNvPr id="18" name="Text 15"/>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پیام‌ها و مشکلات رایج</a:t>
            </a:r>
            <a:endParaRPr lang="en-US" sz="25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11365992" cy="914400"/>
        </p:xfrm>
        <a:graphic>
          <a:graphicData uri="http://schemas.openxmlformats.org/drawingml/2006/table">
            <a:tbl>
              <a:tblPr rtl="1"/>
              <a:tblGrid>
                <a:gridCol w="4389120"/>
                <a:gridCol w="6976872"/>
              </a:tblGrid>
              <a:tr h="502920">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پیام یا مشکل</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چه باید کرد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«سند تراز نیست…»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جمع بدهکار و بستانکار برابر نیست. می‌توانید یادداشت ذخیره کنید، ولی برای موقت باید «اختلاف» صفر شود.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«انتخاب حساب معین الزامی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روی فیلد «حساب معین» کلیک کنید و از پنجره یک معین «انتخاب»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 (تفصیلی سطح ۱) برای این حساب الزامی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برای هر تفصیلی که زیر معین ظاهر شده، یک مورد انتخاب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دکمهٔ ویرایش/حذف دیده نمی‌شود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در تب «همه» هستید یا سند بررسی‌شده/تأیید دائم است. تب یادداشت یا موقت را باز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«حداقل یک ردیف سند باید ثبت شود»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دست‌کم یک ردیف را کامل کنید و «ثبت ردیف» را بزنید.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سند تأیید دائم اشتباه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یا «معکوس سند» بزنید و سند درست را ثبت کنید، یا با رمز ستاد صورتحساب ماه را برگردانید.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مرتب‌سازی رد شد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در بازه سند بررسی‌شده یا تأیید دائم هست؛ بازه را کوچک‌تر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«صدور ممکن نیست» در افتتاحیه/اختتامیه</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مشکل گزارش‌شده (مثلاً تعریف‌نشدن حساب رابط در «تعریف رابط‌ها» یا صدور قبلی) را رفع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bl>
          </a:graphicData>
        </a:graphic>
      </p:graphicFrame>
      <p:sp>
        <p:nvSpPr>
          <p:cNvPr id="4" name="Text 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۶۴</a:t>
            </a:r>
            <a:endParaRPr lang="en-US" sz="1000" dirty="0"/>
          </a:p>
        </p:txBody>
      </p:sp>
      <p:sp>
        <p:nvSpPr>
          <p:cNvPr id="5" name="Text 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صدور سند و عملیات حسابداری</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3" name="Image 0" descr="bk_menu">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۴</a:t>
            </a:r>
            <a:endParaRPr lang="en-US" sz="4000" dirty="0"/>
          </a:p>
        </p:txBody>
      </p:sp>
      <p:sp>
        <p:nvSpPr>
          <p:cNvPr id="6" name="Text 3"/>
          <p:cNvSpPr/>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۴</a:t>
            </a:r>
            <a:endParaRPr lang="en-US" sz="1800" dirty="0"/>
          </a:p>
        </p:txBody>
      </p:sp>
      <p:sp>
        <p:nvSpPr>
          <p:cNvPr id="7" name="Text 4"/>
          <p:cNvSpPr/>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600" b="1" dirty="0">
                <a:solidFill>
                  <a:srgbClr val="FFFFFF"/>
                </a:solidFill>
                <a:latin typeface="Tahoma" pitchFamily="34" charset="0"/>
                <a:ea typeface="Tahoma" pitchFamily="34" charset="-122"/>
                <a:cs typeface="Tahoma" pitchFamily="34" charset="-120"/>
              </a:rPr>
              <a:t>بانک، چک و اعلامیه</a:t>
            </a:r>
            <a:endParaRPr lang="en-US" sz="3600" dirty="0"/>
          </a:p>
        </p:txBody>
      </p:sp>
      <p:sp>
        <p:nvSpPr>
          <p:cNvPr id="8" name="Text 5"/>
          <p:cNvSpPr/>
          <p:nvPr/>
        </p:nvSpPr>
        <p:spPr>
          <a:xfrm>
            <a:off x="5120640" y="4206240"/>
            <a:ext cx="6629400" cy="1463040"/>
          </a:xfrm>
          <a:prstGeom prst="rect">
            <a:avLst/>
          </a:prstGeom>
          <a:noFill/>
          <a:ln/>
        </p:spPr>
        <p:txBody>
          <a:bodyPr wrap="square" lIns="0" tIns="0" rIns="0" bIns="0" rtlCol="0" anchor="t"/>
          <a:lstStyle/>
          <a:p>
            <a:pPr rtl="1" algn="r" indent="0" marL="0">
              <a:buNone/>
            </a:pPr>
            <a:r>
              <a:rPr lang="en-US" sz="1600" dirty="0">
                <a:solidFill>
                  <a:srgbClr val="C9D3E6"/>
                </a:solidFill>
                <a:latin typeface="Tahoma" pitchFamily="34" charset="0"/>
                <a:ea typeface="Tahoma" pitchFamily="34" charset="-122"/>
                <a:cs typeface="Tahoma" pitchFamily="34" charset="-120"/>
              </a:rPr>
              <a:t>دسته‌چک و برگ‌های چک، تنظیم چاپ چک، دفتر چک و کارتابل دستور پرداخت، کارت حساب جاری و مغایرت‌گیری بانکی، و اعلامیه‌های بین واحدها.</a:t>
            </a:r>
            <a:endParaRPr lang="en-US" sz="1600" dirty="0"/>
          </a:p>
        </p:txBody>
      </p:sp>
      <p:sp>
        <p:nvSpPr>
          <p:cNvPr id="9" name="Text 6"/>
          <p:cNvSpPr/>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چک، دسته‌چک و چک صوری به زبان ساده</a:t>
            </a:r>
            <a:endParaRPr lang="en-US" sz="2500" dirty="0"/>
          </a:p>
        </p:txBody>
      </p:sp>
      <p:sp>
        <p:nvSpPr>
          <p:cNvPr id="3" name="Shape 1"/>
          <p:cNvSpPr/>
          <p:nvPr/>
        </p:nvSpPr>
        <p:spPr>
          <a:xfrm>
            <a:off x="11731752" y="1097280"/>
            <a:ext cx="45720" cy="1242670"/>
          </a:xfrm>
          <a:prstGeom prst="rect">
            <a:avLst/>
          </a:prstGeom>
          <a:solidFill>
            <a:srgbClr val="C9A227"/>
          </a:solidFill>
          <a:ln w="12700">
            <a:solidFill>
              <a:srgbClr val="C9A227"/>
            </a:solidFill>
            <a:prstDash val="solid"/>
          </a:ln>
        </p:spPr>
      </p:sp>
      <p:sp>
        <p:nvSpPr>
          <p:cNvPr id="4" name="Text 2"/>
          <p:cNvSpPr/>
          <p:nvPr/>
        </p:nvSpPr>
        <p:spPr>
          <a:xfrm>
            <a:off x="5440680" y="1097280"/>
            <a:ext cx="6153912" cy="1242670"/>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چک یک برگ کاغذ است که با آن به بانک دستور می‌دهیم از حساب جاری سازمان به کسی پول بدهد. بانک برای هر حساب جاری «دسته‌چک» می‌دهد: چند برگ با شماره‌های پشت‌سرهم. سیستم تک‌تک برگ‌ها را نگه می‌دارد.</a:t>
            </a:r>
            <a:endParaRPr lang="en-US" sz="1550" dirty="0"/>
          </a:p>
        </p:txBody>
      </p:sp>
      <p:sp>
        <p:nvSpPr>
          <p:cNvPr id="5" name="Shape 3"/>
          <p:cNvSpPr/>
          <p:nvPr/>
        </p:nvSpPr>
        <p:spPr>
          <a:xfrm>
            <a:off x="11411712" y="2568550"/>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5685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568550"/>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چرا هر برگ ثبت می‌شود؟</a:t>
            </a:r>
            <a:endParaRPr lang="en-US" sz="1350" dirty="0"/>
          </a:p>
        </p:txBody>
      </p:sp>
      <p:sp>
        <p:nvSpPr>
          <p:cNvPr id="8" name="Text 6"/>
          <p:cNvSpPr/>
          <p:nvPr/>
        </p:nvSpPr>
        <p:spPr>
          <a:xfrm>
            <a:off x="5440680" y="2897734"/>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تا معلوم باشد هر برگ کجا رفته: سفید مانده، در سند استفاده شده، چاپ شده یا باطل شده. برگ گم‌شده یا تکراری فوراً دیده می‌شود.</a:t>
            </a:r>
            <a:endParaRPr lang="en-US" sz="1300" dirty="0"/>
          </a:p>
        </p:txBody>
      </p:sp>
      <p:sp>
        <p:nvSpPr>
          <p:cNvPr id="9" name="Shape 7"/>
          <p:cNvSpPr/>
          <p:nvPr/>
        </p:nvSpPr>
        <p:spPr>
          <a:xfrm>
            <a:off x="11411712" y="3471062"/>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47106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47106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«در وجه» و «بابت»</a:t>
            </a:r>
            <a:endParaRPr lang="en-US" sz="1350" dirty="0"/>
          </a:p>
        </p:txBody>
      </p:sp>
      <p:sp>
        <p:nvSpPr>
          <p:cNvPr id="12" name="Text 10"/>
          <p:cNvSpPr/>
          <p:nvPr/>
        </p:nvSpPr>
        <p:spPr>
          <a:xfrm>
            <a:off x="5440680" y="380024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 وجه» یعنی گیرندهٔ پول؛ «بابت» یعنی دلیل پرداخت. هر دو هنگام ثبت سند روی برگ چک نوشته می‌شوند.</a:t>
            </a:r>
            <a:endParaRPr lang="en-US" sz="1300" dirty="0"/>
          </a:p>
        </p:txBody>
      </p:sp>
      <p:sp>
        <p:nvSpPr>
          <p:cNvPr id="13" name="Shape 11"/>
          <p:cNvSpPr/>
          <p:nvPr/>
        </p:nvSpPr>
        <p:spPr>
          <a:xfrm>
            <a:off x="11411712" y="4373575"/>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37357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37357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چک صوری (اعلامیهٔ بانک)</a:t>
            </a:r>
            <a:endParaRPr lang="en-US" sz="1350" dirty="0"/>
          </a:p>
        </p:txBody>
      </p:sp>
      <p:sp>
        <p:nvSpPr>
          <p:cNvPr id="16" name="Text 14"/>
          <p:cNvSpPr/>
          <p:nvPr/>
        </p:nvSpPr>
        <p:spPr>
          <a:xfrm>
            <a:off x="5440680" y="470275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برداشتی که برگ کاغذی ندارد، مثل انتقال بانکی. شماره‌اش خودکار است: سال + کد واحد + ۰۰۰۱ تا ۱۰۰۰.</a:t>
            </a:r>
            <a:endParaRPr lang="en-US" sz="1300" dirty="0"/>
          </a:p>
        </p:txBody>
      </p:sp>
      <p:sp>
        <p:nvSpPr>
          <p:cNvPr id="17" name="Shape 15"/>
          <p:cNvSpPr/>
          <p:nvPr/>
        </p:nvSpPr>
        <p:spPr>
          <a:xfrm>
            <a:off x="5440680" y="5451653"/>
            <a:ext cx="6336792" cy="903427"/>
          </a:xfrm>
          <a:prstGeom prst="roundRect">
            <a:avLst>
              <a:gd name="adj" fmla="val 8097"/>
            </a:avLst>
          </a:prstGeom>
          <a:solidFill>
            <a:srgbClr val="F6EDCF"/>
          </a:solidFill>
          <a:ln w="9525">
            <a:solidFill>
              <a:srgbClr val="C9A227"/>
            </a:solidFill>
            <a:prstDash val="solid"/>
          </a:ln>
        </p:spPr>
      </p:sp>
      <p:sp>
        <p:nvSpPr>
          <p:cNvPr id="18" name="Text 16"/>
          <p:cNvSpPr/>
          <p:nvPr/>
        </p:nvSpPr>
        <p:spPr>
          <a:xfrm>
            <a:off x="5577840" y="5515661"/>
            <a:ext cx="606247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19" name="Text 17"/>
          <p:cNvSpPr/>
          <p:nvPr/>
        </p:nvSpPr>
        <p:spPr>
          <a:xfrm>
            <a:off x="5577840" y="5789981"/>
            <a:ext cx="606247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تعریف حساب بانکی و ثبت سند (فصل‌های دیگر) پیش‌نیاز این فصل‌اند: دسته‌چک بدون حساب بانکی ثبت نمی‌شود.</a:t>
            </a:r>
            <a:endParaRPr lang="en-US" sz="1200" dirty="0"/>
          </a:p>
        </p:txBody>
      </p:sp>
      <p:sp>
        <p:nvSpPr>
          <p:cNvPr id="20" name="Shape 18"/>
          <p:cNvSpPr/>
          <p:nvPr/>
        </p:nvSpPr>
        <p:spPr>
          <a:xfrm>
            <a:off x="411480" y="1097280"/>
            <a:ext cx="4754880" cy="3557930"/>
          </a:xfrm>
          <a:prstGeom prst="roundRect">
            <a:avLst>
              <a:gd name="adj" fmla="val 2570"/>
            </a:avLst>
          </a:prstGeom>
          <a:solidFill>
            <a:srgbClr val="E3F3EA"/>
          </a:solidFill>
          <a:ln w="9525">
            <a:solidFill>
              <a:srgbClr val="1E7A4C"/>
            </a:solidFill>
            <a:prstDash val="solid"/>
          </a:ln>
        </p:spPr>
      </p:sp>
      <p:sp>
        <p:nvSpPr>
          <p:cNvPr id="21" name="Text 19"/>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دسته‌چک ستاد</a:t>
            </a:r>
            <a:endParaRPr lang="en-US" sz="1500" dirty="0"/>
          </a:p>
        </p:txBody>
      </p:sp>
      <p:sp>
        <p:nvSpPr>
          <p:cNvPr id="22" name="Text 20"/>
          <p:cNvSpPr/>
          <p:nvPr/>
        </p:nvSpPr>
        <p:spPr>
          <a:xfrm>
            <a:off x="594360" y="1691640"/>
            <a:ext cx="4389120" cy="32324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بانک ملی به ستاد مرکزی یک دسته‌چک ۵۰ برگی داده است:</a:t>
            </a:r>
            <a:endParaRPr lang="en-US" sz="13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594360" y="2152040"/>
          <a:ext cx="4389120" cy="914400"/>
        </p:xfrm>
        <a:graphic>
          <a:graphicData uri="http://schemas.openxmlformats.org/drawingml/2006/table">
            <a:tbl>
              <a:tblPr rtl="1"/>
              <a:tblGrid>
                <a:gridCol w="2633472"/>
                <a:gridCol w="1755648"/>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مشخصه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مقدار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اولین برگ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3456001</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آخرین برگ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3456050</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برگ‌های ساخته‌شده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۵۰ برگ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دسته‌چک صوری ۱۴۰۵</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140510000001 تا 140510001000</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bl>
          </a:graphicData>
        </a:graphic>
      </p:graphicFrame>
      <p:sp>
        <p:nvSpPr>
          <p:cNvPr id="24" name="Text 21"/>
          <p:cNvSpPr/>
          <p:nvPr/>
        </p:nvSpPr>
        <p:spPr>
          <a:xfrm>
            <a:off x="594360" y="3935120"/>
            <a:ext cx="4389120" cy="62865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برای دسته‌چک صوری برگی از پیش ساخته نمی‌شود؛ هر شماره هنگام ثبت سند صادر می‌شود.</a:t>
            </a:r>
            <a:endParaRPr lang="en-US" sz="1250" dirty="0"/>
          </a:p>
        </p:txBody>
      </p:sp>
      <p:sp>
        <p:nvSpPr>
          <p:cNvPr id="25" name="Text 2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۶۶</a:t>
            </a:r>
            <a:endParaRPr lang="en-US" sz="1000" dirty="0"/>
          </a:p>
        </p:txBody>
      </p:sp>
      <p:sp>
        <p:nvSpPr>
          <p:cNvPr id="26" name="Text 2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مسیر یک چک از دسته‌چک تا بانک</a:t>
            </a:r>
            <a:endParaRPr lang="en-US" sz="2500" dirty="0"/>
          </a:p>
        </p:txBody>
      </p:sp>
      <p:sp>
        <p:nvSpPr>
          <p:cNvPr id="3" name="Shape 1"/>
          <p:cNvSpPr/>
          <p:nvPr/>
        </p:nvSpPr>
        <p:spPr>
          <a:xfrm>
            <a:off x="10157460"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10693146" y="1691640"/>
            <a:ext cx="548640" cy="548640"/>
          </a:xfrm>
          <a:prstGeom prst="ellipse">
            <a:avLst/>
          </a:prstGeom>
          <a:solidFill>
            <a:srgbClr val="C9A227"/>
          </a:solidFill>
          <a:ln w="12700">
            <a:solidFill>
              <a:srgbClr val="C9A227"/>
            </a:solidFill>
            <a:prstDash val="solid"/>
          </a:ln>
        </p:spPr>
      </p:sp>
      <p:sp>
        <p:nvSpPr>
          <p:cNvPr id="5" name="Text 3"/>
          <p:cNvSpPr/>
          <p:nvPr/>
        </p:nvSpPr>
        <p:spPr>
          <a:xfrm>
            <a:off x="1069314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p:nvPr/>
        </p:nvSpPr>
        <p:spPr>
          <a:xfrm>
            <a:off x="10248900"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ثبت دسته‌چک</a:t>
            </a:r>
            <a:endParaRPr lang="en-US" sz="1550" dirty="0"/>
          </a:p>
        </p:txBody>
      </p:sp>
      <p:sp>
        <p:nvSpPr>
          <p:cNvPr id="7" name="Text 5"/>
          <p:cNvSpPr/>
          <p:nvPr/>
        </p:nvSpPr>
        <p:spPr>
          <a:xfrm>
            <a:off x="10248900"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اطلاعات پایه ← بانک؛ برگ‌ها ساخته می‌شوند</a:t>
            </a:r>
            <a:endParaRPr lang="en-US" sz="1200" dirty="0"/>
          </a:p>
        </p:txBody>
      </p:sp>
      <p:sp>
        <p:nvSpPr>
          <p:cNvPr id="8" name="Text 6"/>
          <p:cNvSpPr/>
          <p:nvPr/>
        </p:nvSpPr>
        <p:spPr>
          <a:xfrm>
            <a:off x="9828276"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9" name="Shape 7"/>
          <p:cNvSpPr/>
          <p:nvPr/>
        </p:nvSpPr>
        <p:spPr>
          <a:xfrm>
            <a:off x="8208264"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8743950" y="1691640"/>
            <a:ext cx="548640" cy="548640"/>
          </a:xfrm>
          <a:prstGeom prst="ellipse">
            <a:avLst/>
          </a:prstGeom>
          <a:solidFill>
            <a:srgbClr val="C9A227"/>
          </a:solidFill>
          <a:ln w="12700">
            <a:solidFill>
              <a:srgbClr val="C9A227"/>
            </a:solidFill>
            <a:prstDash val="solid"/>
          </a:ln>
        </p:spPr>
      </p:sp>
      <p:sp>
        <p:nvSpPr>
          <p:cNvPr id="11" name="Text 9"/>
          <p:cNvSpPr/>
          <p:nvPr/>
        </p:nvSpPr>
        <p:spPr>
          <a:xfrm>
            <a:off x="8743950"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2" name="Text 10"/>
          <p:cNvSpPr/>
          <p:nvPr/>
        </p:nvSpPr>
        <p:spPr>
          <a:xfrm>
            <a:off x="8299704"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ثبت سند پرداخت</a:t>
            </a:r>
            <a:endParaRPr lang="en-US" sz="1550" dirty="0"/>
          </a:p>
        </p:txBody>
      </p:sp>
      <p:sp>
        <p:nvSpPr>
          <p:cNvPr id="13" name="Text 11"/>
          <p:cNvSpPr/>
          <p:nvPr/>
        </p:nvSpPr>
        <p:spPr>
          <a:xfrm>
            <a:off x="8299704"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برگ چک، در وجه و تاریخ در ردیف بانک سند</a:t>
            </a:r>
            <a:endParaRPr lang="en-US" sz="1200" dirty="0"/>
          </a:p>
        </p:txBody>
      </p:sp>
      <p:sp>
        <p:nvSpPr>
          <p:cNvPr id="14" name="Text 12"/>
          <p:cNvSpPr/>
          <p:nvPr/>
        </p:nvSpPr>
        <p:spPr>
          <a:xfrm>
            <a:off x="7879080"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15" name="Shape 13"/>
          <p:cNvSpPr/>
          <p:nvPr/>
        </p:nvSpPr>
        <p:spPr>
          <a:xfrm>
            <a:off x="6259068"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6" name="Shape 14"/>
          <p:cNvSpPr/>
          <p:nvPr/>
        </p:nvSpPr>
        <p:spPr>
          <a:xfrm>
            <a:off x="6794754" y="1691640"/>
            <a:ext cx="548640" cy="548640"/>
          </a:xfrm>
          <a:prstGeom prst="ellipse">
            <a:avLst/>
          </a:prstGeom>
          <a:solidFill>
            <a:srgbClr val="C9A227"/>
          </a:solidFill>
          <a:ln w="12700">
            <a:solidFill>
              <a:srgbClr val="C9A227"/>
            </a:solidFill>
            <a:prstDash val="solid"/>
          </a:ln>
        </p:spPr>
      </p:sp>
      <p:sp>
        <p:nvSpPr>
          <p:cNvPr id="17" name="Text 15"/>
          <p:cNvSpPr/>
          <p:nvPr/>
        </p:nvSpPr>
        <p:spPr>
          <a:xfrm>
            <a:off x="6794754"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8" name="Text 16"/>
          <p:cNvSpPr/>
          <p:nvPr/>
        </p:nvSpPr>
        <p:spPr>
          <a:xfrm>
            <a:off x="6350508"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دستور پرداخت</a:t>
            </a:r>
            <a:endParaRPr lang="en-US" sz="1550" dirty="0"/>
          </a:p>
        </p:txBody>
      </p:sp>
      <p:sp>
        <p:nvSpPr>
          <p:cNvPr id="19" name="Text 17"/>
          <p:cNvSpPr/>
          <p:nvPr/>
        </p:nvSpPr>
        <p:spPr>
          <a:xfrm>
            <a:off x="6350508"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حسابدار در «دفتر چک» صادر می‌کند</a:t>
            </a:r>
            <a:endParaRPr lang="en-US" sz="1200" dirty="0"/>
          </a:p>
        </p:txBody>
      </p:sp>
      <p:sp>
        <p:nvSpPr>
          <p:cNvPr id="20" name="Text 18"/>
          <p:cNvSpPr/>
          <p:nvPr/>
        </p:nvSpPr>
        <p:spPr>
          <a:xfrm>
            <a:off x="5929884"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1" name="Shape 19"/>
          <p:cNvSpPr/>
          <p:nvPr/>
        </p:nvSpPr>
        <p:spPr>
          <a:xfrm>
            <a:off x="4309872"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2" name="Shape 20"/>
          <p:cNvSpPr/>
          <p:nvPr/>
        </p:nvSpPr>
        <p:spPr>
          <a:xfrm>
            <a:off x="4845558" y="1691640"/>
            <a:ext cx="548640" cy="548640"/>
          </a:xfrm>
          <a:prstGeom prst="ellipse">
            <a:avLst/>
          </a:prstGeom>
          <a:solidFill>
            <a:srgbClr val="C9A227"/>
          </a:solidFill>
          <a:ln w="12700">
            <a:solidFill>
              <a:srgbClr val="C9A227"/>
            </a:solidFill>
            <a:prstDash val="solid"/>
          </a:ln>
        </p:spPr>
      </p:sp>
      <p:sp>
        <p:nvSpPr>
          <p:cNvPr id="23" name="Text 21"/>
          <p:cNvSpPr/>
          <p:nvPr/>
        </p:nvSpPr>
        <p:spPr>
          <a:xfrm>
            <a:off x="4845558"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۴</a:t>
            </a:r>
            <a:endParaRPr lang="en-US" sz="1800" dirty="0"/>
          </a:p>
        </p:txBody>
      </p:sp>
      <p:sp>
        <p:nvSpPr>
          <p:cNvPr id="24" name="Text 22"/>
          <p:cNvSpPr/>
          <p:nvPr/>
        </p:nvSpPr>
        <p:spPr>
          <a:xfrm>
            <a:off x="4401312"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تأیید رئیس حسابداری</a:t>
            </a:r>
            <a:endParaRPr lang="en-US" sz="1550" dirty="0"/>
          </a:p>
        </p:txBody>
      </p:sp>
      <p:sp>
        <p:nvSpPr>
          <p:cNvPr id="25" name="Text 23"/>
          <p:cNvSpPr/>
          <p:nvPr/>
        </p:nvSpPr>
        <p:spPr>
          <a:xfrm>
            <a:off x="4401312"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یا برگشت با ذکر علت</a:t>
            </a:r>
            <a:endParaRPr lang="en-US" sz="1200" dirty="0"/>
          </a:p>
        </p:txBody>
      </p:sp>
      <p:sp>
        <p:nvSpPr>
          <p:cNvPr id="26" name="Text 24"/>
          <p:cNvSpPr/>
          <p:nvPr/>
        </p:nvSpPr>
        <p:spPr>
          <a:xfrm>
            <a:off x="3980688"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7" name="Shape 25"/>
          <p:cNvSpPr/>
          <p:nvPr/>
        </p:nvSpPr>
        <p:spPr>
          <a:xfrm>
            <a:off x="2360676"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8" name="Shape 26"/>
          <p:cNvSpPr/>
          <p:nvPr/>
        </p:nvSpPr>
        <p:spPr>
          <a:xfrm>
            <a:off x="2896362" y="1691640"/>
            <a:ext cx="548640" cy="548640"/>
          </a:xfrm>
          <a:prstGeom prst="ellipse">
            <a:avLst/>
          </a:prstGeom>
          <a:solidFill>
            <a:srgbClr val="C9A227"/>
          </a:solidFill>
          <a:ln w="12700">
            <a:solidFill>
              <a:srgbClr val="C9A227"/>
            </a:solidFill>
            <a:prstDash val="solid"/>
          </a:ln>
        </p:spPr>
      </p:sp>
      <p:sp>
        <p:nvSpPr>
          <p:cNvPr id="29" name="Text 27"/>
          <p:cNvSpPr/>
          <p:nvPr/>
        </p:nvSpPr>
        <p:spPr>
          <a:xfrm>
            <a:off x="2896362"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۵</a:t>
            </a:r>
            <a:endParaRPr lang="en-US" sz="1800" dirty="0"/>
          </a:p>
        </p:txBody>
      </p:sp>
      <p:sp>
        <p:nvSpPr>
          <p:cNvPr id="30" name="Text 28"/>
          <p:cNvSpPr/>
          <p:nvPr/>
        </p:nvSpPr>
        <p:spPr>
          <a:xfrm>
            <a:off x="2452116"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تأیید مدیر واحد</a:t>
            </a:r>
            <a:endParaRPr lang="en-US" sz="1550" dirty="0"/>
          </a:p>
        </p:txBody>
      </p:sp>
      <p:sp>
        <p:nvSpPr>
          <p:cNvPr id="31" name="Text 29"/>
          <p:cNvSpPr/>
          <p:nvPr/>
        </p:nvSpPr>
        <p:spPr>
          <a:xfrm>
            <a:off x="2452116"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«تاییدیه چک» صادر می‌شود</a:t>
            </a:r>
            <a:endParaRPr lang="en-US" sz="1200" dirty="0"/>
          </a:p>
        </p:txBody>
      </p:sp>
      <p:sp>
        <p:nvSpPr>
          <p:cNvPr id="32" name="Text 30"/>
          <p:cNvSpPr/>
          <p:nvPr/>
        </p:nvSpPr>
        <p:spPr>
          <a:xfrm>
            <a:off x="2031492"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33" name="Shape 31"/>
          <p:cNvSpPr/>
          <p:nvPr/>
        </p:nvSpPr>
        <p:spPr>
          <a:xfrm>
            <a:off x="411480" y="1965960"/>
            <a:ext cx="1620012" cy="2103120"/>
          </a:xfrm>
          <a:prstGeom prst="roundRect">
            <a:avLst>
              <a:gd name="adj" fmla="val 6773"/>
            </a:avLst>
          </a:prstGeom>
          <a:solidFill>
            <a:srgbClr val="1B2A49"/>
          </a:solidFill>
          <a:ln w="9525">
            <a:solidFill>
              <a:srgbClr val="1B2A49"/>
            </a:solidFill>
            <a:prstDash val="solid"/>
          </a:ln>
          <a:effectLst>
            <a:outerShdw sx="100000" sy="100000" kx="0" ky="0" algn="bl" rotWithShape="0" blurRad="76200" dist="25400" dir="5400000">
              <a:srgbClr val="000000">
                <a:alpha val="12000"/>
              </a:srgbClr>
            </a:outerShdw>
          </a:effectLst>
        </p:spPr>
      </p:sp>
      <p:sp>
        <p:nvSpPr>
          <p:cNvPr id="34" name="Shape 32"/>
          <p:cNvSpPr/>
          <p:nvPr/>
        </p:nvSpPr>
        <p:spPr>
          <a:xfrm>
            <a:off x="947166" y="1691640"/>
            <a:ext cx="548640" cy="548640"/>
          </a:xfrm>
          <a:prstGeom prst="ellipse">
            <a:avLst/>
          </a:prstGeom>
          <a:solidFill>
            <a:srgbClr val="C9A227"/>
          </a:solidFill>
          <a:ln w="12700">
            <a:solidFill>
              <a:srgbClr val="C9A227"/>
            </a:solidFill>
            <a:prstDash val="solid"/>
          </a:ln>
        </p:spPr>
      </p:sp>
      <p:sp>
        <p:nvSpPr>
          <p:cNvPr id="35" name="Text 33"/>
          <p:cNvSpPr/>
          <p:nvPr/>
        </p:nvSpPr>
        <p:spPr>
          <a:xfrm>
            <a:off x="94716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۶</a:t>
            </a:r>
            <a:endParaRPr lang="en-US" sz="1800" dirty="0"/>
          </a:p>
        </p:txBody>
      </p:sp>
      <p:sp>
        <p:nvSpPr>
          <p:cNvPr id="36" name="Text 34"/>
          <p:cNvSpPr/>
          <p:nvPr/>
        </p:nvSpPr>
        <p:spPr>
          <a:xfrm>
            <a:off x="502920" y="2377440"/>
            <a:ext cx="1437132" cy="731520"/>
          </a:xfrm>
          <a:prstGeom prst="rect">
            <a:avLst/>
          </a:prstGeom>
          <a:noFill/>
          <a:ln/>
        </p:spPr>
        <p:txBody>
          <a:bodyPr wrap="square" lIns="0" tIns="0" rIns="0" bIns="0" rtlCol="0" anchor="ctr"/>
          <a:lstStyle/>
          <a:p>
            <a:pPr rtl="1" algn="ctr" indent="0" marL="0">
              <a:buNone/>
            </a:pPr>
            <a:r>
              <a:rPr lang="en-US" sz="1550" b="1" dirty="0">
                <a:solidFill>
                  <a:srgbClr val="FFFFFF"/>
                </a:solidFill>
                <a:latin typeface="Tahoma" pitchFamily="34" charset="0"/>
                <a:ea typeface="Tahoma" pitchFamily="34" charset="-122"/>
                <a:cs typeface="Tahoma" pitchFamily="34" charset="-120"/>
              </a:rPr>
              <a:t>چاپ و وصول</a:t>
            </a:r>
            <a:endParaRPr lang="en-US" sz="1550" dirty="0"/>
          </a:p>
        </p:txBody>
      </p:sp>
      <p:sp>
        <p:nvSpPr>
          <p:cNvPr id="37" name="Text 35"/>
          <p:cNvSpPr/>
          <p:nvPr/>
        </p:nvSpPr>
        <p:spPr>
          <a:xfrm>
            <a:off x="502920" y="3108960"/>
            <a:ext cx="1437132" cy="868680"/>
          </a:xfrm>
          <a:prstGeom prst="rect">
            <a:avLst/>
          </a:prstGeom>
          <a:noFill/>
          <a:ln/>
        </p:spPr>
        <p:txBody>
          <a:bodyPr wrap="square" lIns="0" tIns="0" rIns="0" bIns="0" rtlCol="0" anchor="t"/>
          <a:lstStyle/>
          <a:p>
            <a:pPr rtl="1" algn="ctr" indent="0" marL="0">
              <a:buNone/>
            </a:pPr>
            <a:r>
              <a:rPr lang="en-US" sz="1200" dirty="0">
                <a:solidFill>
                  <a:srgbClr val="C9D3E6"/>
                </a:solidFill>
                <a:latin typeface="Tahoma" pitchFamily="34" charset="0"/>
                <a:ea typeface="Tahoma" pitchFamily="34" charset="-122"/>
                <a:cs typeface="Tahoma" pitchFamily="34" charset="-120"/>
              </a:rPr>
              <a:t>چاپ روی برگ چک؛ وصول در کارت حساب جاری</a:t>
            </a:r>
            <a:endParaRPr lang="en-US" sz="1200" dirty="0"/>
          </a:p>
        </p:txBody>
      </p:sp>
      <p:sp>
        <p:nvSpPr>
          <p:cNvPr id="38" name="Shape 36"/>
          <p:cNvSpPr/>
          <p:nvPr/>
        </p:nvSpPr>
        <p:spPr>
          <a:xfrm>
            <a:off x="411480" y="4526280"/>
            <a:ext cx="11365992" cy="914400"/>
          </a:xfrm>
          <a:prstGeom prst="roundRect">
            <a:avLst>
              <a:gd name="adj" fmla="val 8000"/>
            </a:avLst>
          </a:prstGeom>
          <a:solidFill>
            <a:srgbClr val="F6EDCF"/>
          </a:solidFill>
          <a:ln w="9525">
            <a:solidFill>
              <a:srgbClr val="C9A227"/>
            </a:solidFill>
            <a:prstDash val="solid"/>
          </a:ln>
        </p:spPr>
      </p:sp>
      <p:sp>
        <p:nvSpPr>
          <p:cNvPr id="39" name="Text 37"/>
          <p:cNvSpPr/>
          <p:nvPr/>
        </p:nvSpPr>
        <p:spPr>
          <a:xfrm>
            <a:off x="10863072" y="4526280"/>
            <a:ext cx="822960" cy="91440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40" name="Text 38"/>
          <p:cNvSpPr/>
          <p:nvPr/>
        </p:nvSpPr>
        <p:spPr>
          <a:xfrm>
            <a:off x="548640" y="4526280"/>
            <a:ext cx="10241280" cy="91440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فقط چکی که «تاییدیه صادر شد» دارد دکمهٔ چاپ می‌گیرد. اگر چکی برگشت بخورد، دوباره در زبانهٔ «صدور دستور پرداخت» دیده می‌شود.</a:t>
            </a:r>
            <a:endParaRPr lang="en-US" sz="1250" dirty="0"/>
          </a:p>
        </p:txBody>
      </p:sp>
      <p:sp>
        <p:nvSpPr>
          <p:cNvPr id="41" name="Shape 39"/>
          <p:cNvSpPr/>
          <p:nvPr/>
        </p:nvSpPr>
        <p:spPr>
          <a:xfrm>
            <a:off x="411480" y="5550408"/>
            <a:ext cx="11365992" cy="777240"/>
          </a:xfrm>
          <a:prstGeom prst="roundRect">
            <a:avLst>
              <a:gd name="adj" fmla="val 9412"/>
            </a:avLst>
          </a:prstGeom>
          <a:solidFill>
            <a:srgbClr val="E3F3EA"/>
          </a:solidFill>
          <a:ln w="9525">
            <a:solidFill>
              <a:srgbClr val="1E7A4C"/>
            </a:solidFill>
            <a:prstDash val="solid"/>
          </a:ln>
        </p:spPr>
      </p:sp>
      <p:sp>
        <p:nvSpPr>
          <p:cNvPr id="42" name="Text 40"/>
          <p:cNvSpPr/>
          <p:nvPr/>
        </p:nvSpPr>
        <p:spPr>
          <a:xfrm>
            <a:off x="10863072" y="5550408"/>
            <a:ext cx="822960" cy="777240"/>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43" name="Text 41"/>
          <p:cNvSpPr/>
          <p:nvPr/>
        </p:nvSpPr>
        <p:spPr>
          <a:xfrm>
            <a:off x="548640" y="5550408"/>
            <a:ext cx="10241280" cy="77724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چک ۳۴۵۶۰۰۲ به مبلغ ۱,۲۵۰,۰۰۰,۰۰۰ ریال در وجه «شرکت تأسیسات نوین ساختمان»: سند ۱۷۳۴ ← دستور پرداخت ← دو تأیید ← چاپ.</a:t>
            </a:r>
            <a:endParaRPr lang="en-US" sz="1250" dirty="0"/>
          </a:p>
        </p:txBody>
      </p:sp>
      <p:sp>
        <p:nvSpPr>
          <p:cNvPr id="44" name="Text 4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۶۷</a:t>
            </a:r>
            <a:endParaRPr lang="en-US" sz="1000" dirty="0"/>
          </a:p>
        </p:txBody>
      </p:sp>
      <p:sp>
        <p:nvSpPr>
          <p:cNvPr id="45" name="Text 4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نمونه: پرداخت بدهی پیمانکار با چک</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ستاد مرکزی بابت صورت‌وضعیت شمارهٔ ۳ قرارداد پشتیبانی، ۴۸۵,۰۰۰,۰۰۰ ریال به «شرکت خدمات رایانه‌ای پارس» بدهکار است و آن را با چک ۳۴۵۶۰۰۱ از حساب جاری بانک ملی می‌پردازد.</a:t>
            </a:r>
            <a:endParaRPr lang="en-US" sz="15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310101 پرداختنی‌های تجاری (پیمانکاران)</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تفصیلی: شرکت خدمات رایانه‌ای پارس — تسویهٔ صورت‌وضعیت ۳</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۴۸۵,۰۰۰,۰۰۰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110201 بانک‌ها — حساب جاری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تفصیلی: بانک ملی — چک ۳۴۵۶۰۰۱ در وجه شرکت پارس</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۴۸۵,۰۰۰,۰۰۰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۴۸۵,۰۰۰,۰۰۰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۴۸۵,۰۰۰,۰۰۰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3899916"/>
            <a:ext cx="11365992" cy="640080"/>
          </a:xfrm>
          <a:prstGeom prst="roundRect">
            <a:avLst>
              <a:gd name="adj" fmla="val 11429"/>
            </a:avLst>
          </a:prstGeom>
          <a:solidFill>
            <a:srgbClr val="F6EDCF"/>
          </a:solidFill>
          <a:ln w="9525">
            <a:solidFill>
              <a:srgbClr val="C9A227"/>
            </a:solidFill>
            <a:prstDash val="solid"/>
          </a:ln>
        </p:spPr>
      </p:sp>
      <p:sp>
        <p:nvSpPr>
          <p:cNvPr id="7" name="Text 4"/>
          <p:cNvSpPr/>
          <p:nvPr/>
        </p:nvSpPr>
        <p:spPr>
          <a:xfrm>
            <a:off x="10863072" y="3899916"/>
            <a:ext cx="822960" cy="64008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8" name="Text 5"/>
          <p:cNvSpPr/>
          <p:nvPr/>
        </p:nvSpPr>
        <p:spPr>
          <a:xfrm>
            <a:off x="548640" y="3899916"/>
            <a:ext cx="10241280" cy="64008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ردیف بستانکارِ حساب بانکی حتماً «چک» یا «اعلامیه صوری» لازم دارد؛ ردیف بدهکار (واریز) با فیش یا حواله ثبت می‌شود.</a:t>
            </a:r>
            <a:endParaRPr lang="en-US" sz="1250" dirty="0"/>
          </a:p>
        </p:txBody>
      </p:sp>
      <p:sp>
        <p:nvSpPr>
          <p:cNvPr id="9" name="Shape 6"/>
          <p:cNvSpPr/>
          <p:nvPr/>
        </p:nvSpPr>
        <p:spPr>
          <a:xfrm>
            <a:off x="411480" y="4649724"/>
            <a:ext cx="11365992" cy="720090"/>
          </a:xfrm>
          <a:prstGeom prst="roundRect">
            <a:avLst>
              <a:gd name="adj" fmla="val 10159"/>
            </a:avLst>
          </a:prstGeom>
          <a:solidFill>
            <a:srgbClr val="F6EDCF"/>
          </a:solidFill>
          <a:ln w="9525">
            <a:solidFill>
              <a:srgbClr val="C9A227"/>
            </a:solidFill>
            <a:prstDash val="solid"/>
          </a:ln>
        </p:spPr>
      </p:sp>
      <p:sp>
        <p:nvSpPr>
          <p:cNvPr id="10" name="Text 7"/>
          <p:cNvSpPr/>
          <p:nvPr/>
        </p:nvSpPr>
        <p:spPr>
          <a:xfrm>
            <a:off x="10863072" y="4649724"/>
            <a:ext cx="822960" cy="72009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11" name="Text 8"/>
          <p:cNvSpPr/>
          <p:nvPr/>
        </p:nvSpPr>
        <p:spPr>
          <a:xfrm>
            <a:off x="548640" y="4649724"/>
            <a:ext cx="10241280" cy="72009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بدهی ما به پیمانکار کم می‌شود، پس حساب پرداختنی «بدهکار» (طرف چپ دفتر) می‌شود؛ پول از بانک بیرون می‌رود، پس بانک «بستانکار» می‌شود. برگ چک در ردیف بستانکار بانک انتخاب می‌شود.</a:t>
            </a:r>
            <a:endParaRPr lang="en-US" sz="1250" dirty="0"/>
          </a:p>
        </p:txBody>
      </p:sp>
      <p:sp>
        <p:nvSpPr>
          <p:cNvPr id="12" name="Text 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۶۸</a:t>
            </a:r>
            <a:endParaRPr lang="en-US" sz="1000" dirty="0"/>
          </a:p>
        </p:txBody>
      </p:sp>
      <p:sp>
        <p:nvSpPr>
          <p:cNvPr id="13" name="Text 1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مغایرت‌گیری بانکی یعنی چه؟</a:t>
            </a:r>
            <a:endParaRPr lang="en-US" sz="2500" dirty="0"/>
          </a:p>
        </p:txBody>
      </p:sp>
      <p:sp>
        <p:nvSpPr>
          <p:cNvPr id="3" name="Shape 1"/>
          <p:cNvSpPr/>
          <p:nvPr/>
        </p:nvSpPr>
        <p:spPr>
          <a:xfrm>
            <a:off x="11731752" y="1097280"/>
            <a:ext cx="45720" cy="1242670"/>
          </a:xfrm>
          <a:prstGeom prst="rect">
            <a:avLst/>
          </a:prstGeom>
          <a:solidFill>
            <a:srgbClr val="C9A227"/>
          </a:solidFill>
          <a:ln w="12700">
            <a:solidFill>
              <a:srgbClr val="C9A227"/>
            </a:solidFill>
            <a:prstDash val="solid"/>
          </a:ln>
        </p:spPr>
      </p:sp>
      <p:sp>
        <p:nvSpPr>
          <p:cNvPr id="4" name="Text 2"/>
          <p:cNvSpPr/>
          <p:nvPr/>
        </p:nvSpPr>
        <p:spPr>
          <a:xfrm>
            <a:off x="5440680" y="1097280"/>
            <a:ext cx="6153912" cy="1242670"/>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دو نفر حساب یک پول را نگه می‌دارند: ما در دفتر و بانک در صورت‌حساب. چون بعضی رویدادها در یکی زودتر ثبت می‌شوند، مانده‌ها معمولاً برابر نیستند. مغایرت‌گیری یعنی پیدا کردن و توضیح تک‌تک این تفاوت‌ها.</a:t>
            </a:r>
            <a:endParaRPr lang="en-US" sz="1550" dirty="0"/>
          </a:p>
        </p:txBody>
      </p:sp>
      <p:sp>
        <p:nvSpPr>
          <p:cNvPr id="5" name="Shape 3"/>
          <p:cNvSpPr/>
          <p:nvPr/>
        </p:nvSpPr>
        <p:spPr>
          <a:xfrm>
            <a:off x="11411712" y="2568550"/>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5685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568550"/>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چک وصول‌نشده</a:t>
            </a:r>
            <a:endParaRPr lang="en-US" sz="1350" dirty="0"/>
          </a:p>
        </p:txBody>
      </p:sp>
      <p:sp>
        <p:nvSpPr>
          <p:cNvPr id="8" name="Text 6"/>
          <p:cNvSpPr/>
          <p:nvPr/>
        </p:nvSpPr>
        <p:spPr>
          <a:xfrm>
            <a:off x="5440680" y="2897734"/>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چک را داده‌ایم و در دفتر کم کرده‌ایم، ولی گیرنده هنوز آن را به بانک نبرده است.</a:t>
            </a:r>
            <a:endParaRPr lang="en-US" sz="1300" dirty="0"/>
          </a:p>
        </p:txBody>
      </p:sp>
      <p:sp>
        <p:nvSpPr>
          <p:cNvPr id="9" name="Shape 7"/>
          <p:cNvSpPr/>
          <p:nvPr/>
        </p:nvSpPr>
        <p:spPr>
          <a:xfrm>
            <a:off x="11411712" y="3471062"/>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47106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47106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کارمزد یا واریز ثبت‌نشده</a:t>
            </a:r>
            <a:endParaRPr lang="en-US" sz="1350" dirty="0"/>
          </a:p>
        </p:txBody>
      </p:sp>
      <p:sp>
        <p:nvSpPr>
          <p:cNvPr id="12" name="Text 10"/>
          <p:cNvSpPr/>
          <p:nvPr/>
        </p:nvSpPr>
        <p:spPr>
          <a:xfrm>
            <a:off x="5440680" y="3800246"/>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بانک چیزی کم یا زیاد کرده که ما هنوز سندش را نزده‌ایم.</a:t>
            </a:r>
            <a:endParaRPr lang="en-US" sz="1300" dirty="0"/>
          </a:p>
        </p:txBody>
      </p:sp>
      <p:sp>
        <p:nvSpPr>
          <p:cNvPr id="13" name="Shape 11"/>
          <p:cNvSpPr/>
          <p:nvPr/>
        </p:nvSpPr>
        <p:spPr>
          <a:xfrm>
            <a:off x="11411712" y="4141775"/>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14177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14177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فیش در راه</a:t>
            </a:r>
            <a:endParaRPr lang="en-US" sz="1350" dirty="0"/>
          </a:p>
        </p:txBody>
      </p:sp>
      <p:sp>
        <p:nvSpPr>
          <p:cNvPr id="16" name="Text 14"/>
          <p:cNvSpPr/>
          <p:nvPr/>
        </p:nvSpPr>
        <p:spPr>
          <a:xfrm>
            <a:off x="5440680" y="4470959"/>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فیش واریز را در دفتر ثبت کرده‌ایم ولی هنوز در صورت‌حساب بانک نیامده.</a:t>
            </a:r>
            <a:endParaRPr lang="en-US" sz="1300" dirty="0"/>
          </a:p>
        </p:txBody>
      </p:sp>
      <p:sp>
        <p:nvSpPr>
          <p:cNvPr id="17" name="Shape 15"/>
          <p:cNvSpPr/>
          <p:nvPr/>
        </p:nvSpPr>
        <p:spPr>
          <a:xfrm>
            <a:off x="5440680" y="5451653"/>
            <a:ext cx="6336792" cy="903427"/>
          </a:xfrm>
          <a:prstGeom prst="roundRect">
            <a:avLst>
              <a:gd name="adj" fmla="val 8097"/>
            </a:avLst>
          </a:prstGeom>
          <a:solidFill>
            <a:srgbClr val="F6EDCF"/>
          </a:solidFill>
          <a:ln w="9525">
            <a:solidFill>
              <a:srgbClr val="C9A227"/>
            </a:solidFill>
            <a:prstDash val="solid"/>
          </a:ln>
        </p:spPr>
      </p:sp>
      <p:sp>
        <p:nvSpPr>
          <p:cNvPr id="18" name="Text 16"/>
          <p:cNvSpPr/>
          <p:nvPr/>
        </p:nvSpPr>
        <p:spPr>
          <a:xfrm>
            <a:off x="5577840" y="5515661"/>
            <a:ext cx="606247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19" name="Text 17"/>
          <p:cNvSpPr/>
          <p:nvPr/>
        </p:nvSpPr>
        <p:spPr>
          <a:xfrm>
            <a:off x="5577840" y="5789981"/>
            <a:ext cx="606247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اگر بعد از همهٔ این اقلام باز هم اختلاف ماند، احتمالاً خطای ثبت وجود دارد و باید پیگیری شود.</a:t>
            </a:r>
            <a:endParaRPr lang="en-US" sz="1200" dirty="0"/>
          </a:p>
        </p:txBody>
      </p:sp>
      <p:sp>
        <p:nvSpPr>
          <p:cNvPr id="20" name="Shape 18"/>
          <p:cNvSpPr/>
          <p:nvPr/>
        </p:nvSpPr>
        <p:spPr>
          <a:xfrm>
            <a:off x="411480" y="1097280"/>
            <a:ext cx="4754880" cy="3203829"/>
          </a:xfrm>
          <a:prstGeom prst="roundRect">
            <a:avLst>
              <a:gd name="adj" fmla="val 2854"/>
            </a:avLst>
          </a:prstGeom>
          <a:solidFill>
            <a:srgbClr val="E3F3EA"/>
          </a:solidFill>
          <a:ln w="9525">
            <a:solidFill>
              <a:srgbClr val="1E7A4C"/>
            </a:solidFill>
            <a:prstDash val="solid"/>
          </a:ln>
        </p:spPr>
      </p:sp>
      <p:sp>
        <p:nvSpPr>
          <p:cNvPr id="21" name="Text 19"/>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پایان مهر</a:t>
            </a:r>
            <a:endParaRPr lang="en-US" sz="15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94360" y="1691640"/>
          <a:ext cx="4389120" cy="914400"/>
        </p:xfrm>
        <a:graphic>
          <a:graphicData uri="http://schemas.openxmlformats.org/drawingml/2006/table">
            <a:tbl>
              <a:tblPr rtl="1"/>
              <a:tblGrid>
                <a:gridCol w="2721254"/>
                <a:gridCol w="1667866"/>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قلم</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ریال</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مانده طبق دفتر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۵۰۰,۰۰۰,۰۰۰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 چک ۳۴۵۶۰۰۳ هنوز وصول نشده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۱۵۰,۰۰۰,۰۰۰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 کارمزد بانک، ثبت‌نشده در دفتر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۳۰,۰۰۰,۰۰۰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 مانده تعدیل‌شده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۶۲۰,۰۰۰,۰۰۰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مانده صورت‌حساب بانک</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۶۲۰,۰۰۰,۰۰۰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bl>
          </a:graphicData>
        </a:graphic>
      </p:graphicFrame>
      <p:sp>
        <p:nvSpPr>
          <p:cNvPr id="23" name="Text 20"/>
          <p:cNvSpPr/>
          <p:nvPr/>
        </p:nvSpPr>
        <p:spPr>
          <a:xfrm>
            <a:off x="594360" y="3803904"/>
            <a:ext cx="4389120" cy="405765"/>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دو عدد آخر برابرند، پس اختلاف توضیح‌داده‌نشده صفر است.</a:t>
            </a:r>
            <a:endParaRPr lang="en-US" sz="1250" dirty="0"/>
          </a:p>
        </p:txBody>
      </p:sp>
      <p:sp>
        <p:nvSpPr>
          <p:cNvPr id="24" name="Text 2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۶۹</a:t>
            </a:r>
            <a:endParaRPr lang="en-US" sz="1000" dirty="0"/>
          </a:p>
        </p:txBody>
      </p:sp>
      <p:sp>
        <p:nvSpPr>
          <p:cNvPr id="25" name="Text 2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اعلامیه: جابه‌جایی پول بین دو واحد</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وقتی ستاد مرکزی به اداره کل تهران پول می‌فرستد، هر دو واحد باید سند بزنند: یکی «فرستاد»، دیگری «دریافت کرد». «اعلامیه» همین خبر رسمی است و سیستم سند هر دو طرف را به هم وصل می‌کند.</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اعلامیهٔ صادره</a:t>
            </a:r>
            <a:endParaRPr lang="en-US" sz="1350" dirty="0"/>
          </a:p>
        </p:txBody>
      </p:sp>
      <p:sp>
        <p:nvSpPr>
          <p:cNvPr id="8" name="Text 6"/>
          <p:cNvSpPr/>
          <p:nvPr/>
        </p:nvSpPr>
        <p:spPr>
          <a:xfrm>
            <a:off x="5440680" y="2621356"/>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واحد فرستنده ثبت می‌کند: واحد گیرنده، شرح، ماهیت و ردیف‌های حساب.</a:t>
            </a:r>
            <a:endParaRPr lang="en-US" sz="1300" dirty="0"/>
          </a:p>
        </p:txBody>
      </p:sp>
      <p:sp>
        <p:nvSpPr>
          <p:cNvPr id="9" name="Shape 7"/>
          <p:cNvSpPr/>
          <p:nvPr/>
        </p:nvSpPr>
        <p:spPr>
          <a:xfrm>
            <a:off x="11411712" y="29628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29628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29628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اعلامیهٔ رسیده</a:t>
            </a:r>
            <a:endParaRPr lang="en-US" sz="1350" dirty="0"/>
          </a:p>
        </p:txBody>
      </p:sp>
      <p:sp>
        <p:nvSpPr>
          <p:cNvPr id="12" name="Text 10"/>
          <p:cNvSpPr/>
          <p:nvPr/>
        </p:nvSpPr>
        <p:spPr>
          <a:xfrm>
            <a:off x="5440680" y="3292069"/>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با «تأیید نهایی و ارسال» فرستنده، خودکار در واحد گیرنده ساخته می‌شود.</a:t>
            </a:r>
            <a:endParaRPr lang="en-US" sz="1300" dirty="0"/>
          </a:p>
        </p:txBody>
      </p:sp>
      <p:sp>
        <p:nvSpPr>
          <p:cNvPr id="13" name="Shape 11"/>
          <p:cNvSpPr/>
          <p:nvPr/>
        </p:nvSpPr>
        <p:spPr>
          <a:xfrm>
            <a:off x="11411712" y="3633597"/>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363359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3633597"/>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حساب رابط</a:t>
            </a:r>
            <a:endParaRPr lang="en-US" sz="1350" dirty="0"/>
          </a:p>
        </p:txBody>
      </p:sp>
      <p:sp>
        <p:nvSpPr>
          <p:cNvPr id="16" name="Text 14"/>
          <p:cNvSpPr/>
          <p:nvPr/>
        </p:nvSpPr>
        <p:spPr>
          <a:xfrm>
            <a:off x="5440680" y="3962781"/>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حساب واسطه‌ای که بدهی/طلب دو واحد را نگه می‌دارد. در «تعریف رابط‌ها» تعیین شده و خودکار در سند می‌آید.</a:t>
            </a:r>
            <a:endParaRPr lang="en-US" sz="1300" dirty="0"/>
          </a:p>
        </p:txBody>
      </p:sp>
      <p:sp>
        <p:nvSpPr>
          <p:cNvPr id="17" name="Shape 15"/>
          <p:cNvSpPr/>
          <p:nvPr/>
        </p:nvSpPr>
        <p:spPr>
          <a:xfrm>
            <a:off x="11411712" y="4536110"/>
            <a:ext cx="329184" cy="329184"/>
          </a:xfrm>
          <a:prstGeom prst="ellipse">
            <a:avLst/>
          </a:prstGeom>
          <a:solidFill>
            <a:srgbClr val="C9A227"/>
          </a:solidFill>
          <a:ln w="12700">
            <a:solidFill>
              <a:srgbClr val="C9A227"/>
            </a:solidFill>
            <a:prstDash val="solid"/>
          </a:ln>
        </p:spPr>
      </p:sp>
      <p:sp>
        <p:nvSpPr>
          <p:cNvPr id="18" name="Text 16"/>
          <p:cNvSpPr/>
          <p:nvPr/>
        </p:nvSpPr>
        <p:spPr>
          <a:xfrm>
            <a:off x="11411712" y="453611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7"/>
          <p:cNvSpPr/>
          <p:nvPr/>
        </p:nvSpPr>
        <p:spPr>
          <a:xfrm>
            <a:off x="5440680" y="4536110"/>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اعلامیهٔ درآمد</a:t>
            </a:r>
            <a:endParaRPr lang="en-US" sz="1350" dirty="0"/>
          </a:p>
        </p:txBody>
      </p:sp>
      <p:sp>
        <p:nvSpPr>
          <p:cNvPr id="20" name="Text 18"/>
          <p:cNvSpPr/>
          <p:nvPr/>
        </p:nvSpPr>
        <p:spPr>
          <a:xfrm>
            <a:off x="5440680" y="4865294"/>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درآمد شعبه (مثل حق بیمهٔ کارکنان) که پس از تأیید نهایی به سامانهٔ سبا (درآمد) ارسال می‌شود.</a:t>
            </a:r>
            <a:endParaRPr lang="en-US" sz="1300" dirty="0"/>
          </a:p>
        </p:txBody>
      </p:sp>
      <p:sp>
        <p:nvSpPr>
          <p:cNvPr id="21" name="Shape 19"/>
          <p:cNvSpPr/>
          <p:nvPr/>
        </p:nvSpPr>
        <p:spPr>
          <a:xfrm>
            <a:off x="411480" y="1097280"/>
            <a:ext cx="4754880" cy="3490265"/>
          </a:xfrm>
          <a:prstGeom prst="roundRect">
            <a:avLst>
              <a:gd name="adj" fmla="val 2620"/>
            </a:avLst>
          </a:prstGeom>
          <a:solidFill>
            <a:srgbClr val="E3F3EA"/>
          </a:solidFill>
          <a:ln w="9525">
            <a:solidFill>
              <a:srgbClr val="1E7A4C"/>
            </a:solidFill>
            <a:prstDash val="solid"/>
          </a:ln>
        </p:spPr>
      </p:sp>
      <p:sp>
        <p:nvSpPr>
          <p:cNvPr id="22" name="Text 20"/>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تخصیص مهرماه</a:t>
            </a:r>
            <a:endParaRPr lang="en-US" sz="1500" dirty="0"/>
          </a:p>
        </p:txBody>
      </p:sp>
      <p:sp>
        <p:nvSpPr>
          <p:cNvPr id="23" name="Text 21"/>
          <p:cNvSpPr/>
          <p:nvPr/>
        </p:nvSpPr>
        <p:spPr>
          <a:xfrm>
            <a:off x="594360" y="1691640"/>
            <a:ext cx="4389120" cy="5550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ستاد ۳,۰۰۰,۰۰۰,۰۰۰ ریال برای هزینه‌های جاری به اداره کل تهران می‌فرستد.</a:t>
            </a:r>
            <a:endParaRPr lang="en-US" sz="13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94360" y="2383841"/>
          <a:ext cx="4389120" cy="914400"/>
        </p:xfrm>
        <a:graphic>
          <a:graphicData uri="http://schemas.openxmlformats.org/drawingml/2006/table">
            <a:tbl>
              <a:tblPr rtl="1"/>
              <a:tblGrid>
                <a:gridCol w="2633472"/>
                <a:gridCol w="1755648"/>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مرحله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وضعیت</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ثبت اعلامیه در ستاد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تهیه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صدور سند موقت</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صدور سند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بررسی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تأیید اولیه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ارسال</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تأیید نهایی و ارسال</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در تهران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تأیید دریافت و صدور سند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bl>
          </a:graphicData>
        </a:graphic>
      </p:graphicFrame>
      <p:sp>
        <p:nvSpPr>
          <p:cNvPr id="25" name="Text 2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۷۰</a:t>
            </a:r>
            <a:endParaRPr lang="en-US" sz="1000" dirty="0"/>
          </a:p>
        </p:txBody>
      </p:sp>
      <p:sp>
        <p:nvSpPr>
          <p:cNvPr id="26" name="Text 2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اعلامیه در واحد فرستنده (ستاد)</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اعلامیهٔ صادرهٔ ۱۴۰۵۰۰۱۲ با ماهیت «بدهکار»: ستاد ۳,۰۰۰,۰۰۰,۰۰۰ ریال از حساب جاری بانک ملی به اداره کل تهران منتقل می‌کند. ردیف بانک را کاربر وارد می‌کند و ردیف حساب رابط را سیستم هنگام «صدور سند» می‌سازد.</a:t>
            </a:r>
            <a:endParaRPr lang="en-US" sz="15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حساب رابط (330101) — اداره کل تهران</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طلب ستاد از اداره کل تهران — ساخت خودکار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۳,۰۰۰,۰۰۰,۰۰۰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110201 بانک‌ها — حساب جاری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تفصیلی: بانک ملی — انتقال تخصیص مهرماه</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۳,۰۰۰,۰۰۰,۰۰۰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۳,۰۰۰,۰۰۰,۰۰۰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۳,۰۰۰,۰۰۰,۰۰۰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3899916"/>
            <a:ext cx="11365992" cy="720090"/>
          </a:xfrm>
          <a:prstGeom prst="roundRect">
            <a:avLst>
              <a:gd name="adj" fmla="val 10159"/>
            </a:avLst>
          </a:prstGeom>
          <a:solidFill>
            <a:srgbClr val="F6EDCF"/>
          </a:solidFill>
          <a:ln w="9525">
            <a:solidFill>
              <a:srgbClr val="C9A227"/>
            </a:solidFill>
            <a:prstDash val="solid"/>
          </a:ln>
        </p:spPr>
      </p:sp>
      <p:sp>
        <p:nvSpPr>
          <p:cNvPr id="7" name="Text 4"/>
          <p:cNvSpPr/>
          <p:nvPr/>
        </p:nvSpPr>
        <p:spPr>
          <a:xfrm>
            <a:off x="10863072" y="3899916"/>
            <a:ext cx="822960" cy="72009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8" name="Text 5"/>
          <p:cNvSpPr/>
          <p:nvPr/>
        </p:nvSpPr>
        <p:spPr>
          <a:xfrm>
            <a:off x="548640" y="3899916"/>
            <a:ext cx="10241280" cy="72009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ماهیت «بدهکار» یعنی ردیف‌هایی که شما وارد می‌کنید بستانکار و رابط بدهکار می‌شود (ماهیت «بستانکار» برعکس است). پول از بانک ستاد کم شد و در عوض ستاد از تهران «طلب» پیدا کرد.</a:t>
            </a:r>
            <a:endParaRPr lang="en-US" sz="1250" dirty="0"/>
          </a:p>
        </p:txBody>
      </p:sp>
      <p:sp>
        <p:nvSpPr>
          <p:cNvPr id="9" name="Text 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۷۱</a:t>
            </a:r>
            <a:endParaRPr lang="en-US" sz="1000" dirty="0"/>
          </a:p>
        </p:txBody>
      </p:sp>
      <p:sp>
        <p:nvSpPr>
          <p:cNvPr id="10" name="Text 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اعلامیه در واحد گیرنده (اداره کل تهران)</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پس از «تأیید نهایی و ارسال» در ستاد، اعلامیهٔ رسیده و سند آن خودکار در اداره کل تهران ساخته می‌شود؛ تصویر آینه‌ای سند ستاد. نمونهٔ معمول آن:</a:t>
            </a:r>
            <a:endParaRPr lang="en-US" sz="15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110201 بانک‌ها — حساب جاری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حساب جاری اداره کل تهران — دریافت تخصیص مهرماه</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۳,۰۰۰,۰۰۰,۰۰۰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حساب رابط — ستاد مرکزی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بدهی اداره کل تهران به ستاد — ساخت خودکار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۳,۰۰۰,۰۰۰,۰۰۰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۳,۰۰۰,۰۰۰,۰۰۰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۳,۰۰۰,۰۰۰,۰۰۰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3899916"/>
            <a:ext cx="11365992" cy="640080"/>
          </a:xfrm>
          <a:prstGeom prst="roundRect">
            <a:avLst>
              <a:gd name="adj" fmla="val 11429"/>
            </a:avLst>
          </a:prstGeom>
          <a:solidFill>
            <a:srgbClr val="F6EDCF"/>
          </a:solidFill>
          <a:ln w="9525">
            <a:solidFill>
              <a:srgbClr val="C9A227"/>
            </a:solidFill>
            <a:prstDash val="solid"/>
          </a:ln>
        </p:spPr>
      </p:sp>
      <p:sp>
        <p:nvSpPr>
          <p:cNvPr id="7" name="Text 4"/>
          <p:cNvSpPr/>
          <p:nvPr/>
        </p:nvSpPr>
        <p:spPr>
          <a:xfrm>
            <a:off x="10863072" y="3899916"/>
            <a:ext cx="822960" cy="64008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8" name="Text 5"/>
          <p:cNvSpPr/>
          <p:nvPr/>
        </p:nvSpPr>
        <p:spPr>
          <a:xfrm>
            <a:off x="548640" y="3899916"/>
            <a:ext cx="10241280" cy="64008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ردیف‌های دقیق سند واحد گیرنده را در زبانهٔ «سایر اعلامیه‌ها — رسیده» با دکمهٔ نمایش ببینید.</a:t>
            </a:r>
            <a:endParaRPr lang="en-US" sz="1250" dirty="0"/>
          </a:p>
        </p:txBody>
      </p:sp>
      <p:sp>
        <p:nvSpPr>
          <p:cNvPr id="9" name="Shape 6"/>
          <p:cNvSpPr/>
          <p:nvPr/>
        </p:nvSpPr>
        <p:spPr>
          <a:xfrm>
            <a:off x="411480" y="4649724"/>
            <a:ext cx="11365992" cy="720090"/>
          </a:xfrm>
          <a:prstGeom prst="roundRect">
            <a:avLst>
              <a:gd name="adj" fmla="val 10159"/>
            </a:avLst>
          </a:prstGeom>
          <a:solidFill>
            <a:srgbClr val="F6EDCF"/>
          </a:solidFill>
          <a:ln w="9525">
            <a:solidFill>
              <a:srgbClr val="C9A227"/>
            </a:solidFill>
            <a:prstDash val="solid"/>
          </a:ln>
        </p:spPr>
      </p:sp>
      <p:sp>
        <p:nvSpPr>
          <p:cNvPr id="10" name="Text 7"/>
          <p:cNvSpPr/>
          <p:nvPr/>
        </p:nvSpPr>
        <p:spPr>
          <a:xfrm>
            <a:off x="10863072" y="4649724"/>
            <a:ext cx="822960" cy="72009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11" name="Text 8"/>
          <p:cNvSpPr/>
          <p:nvPr/>
        </p:nvSpPr>
        <p:spPr>
          <a:xfrm>
            <a:off x="548640" y="4649724"/>
            <a:ext cx="10241280" cy="72009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در تهران پول بانک زیاد شد (بدهکار) و در مقابل، بدهی به ستاد ثبت شد (بستانکار). جمع رابط ستاد و رابط تهران همیشه هم را خنثی می‌کنند.</a:t>
            </a:r>
            <a:endParaRPr lang="en-US" sz="1250" dirty="0"/>
          </a:p>
        </p:txBody>
      </p:sp>
      <p:sp>
        <p:nvSpPr>
          <p:cNvPr id="12" name="Text 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۷۲</a:t>
            </a:r>
            <a:endParaRPr lang="en-US" sz="1000" dirty="0"/>
          </a:p>
        </p:txBody>
      </p:sp>
      <p:sp>
        <p:nvSpPr>
          <p:cNvPr id="13" name="Text 1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 — تنظیمات محیطی چک</a:t>
            </a:r>
            <a:endParaRPr lang="en-US" sz="2500" dirty="0"/>
          </a:p>
        </p:txBody>
      </p:sp>
      <p:sp>
        <p:nvSpPr>
          <p:cNvPr id="3" name="Shape 1"/>
          <p:cNvSpPr/>
          <p:nvPr/>
        </p:nvSpPr>
        <p:spPr>
          <a:xfrm>
            <a:off x="8183880" y="896112"/>
            <a:ext cx="359359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293608" y="896112"/>
            <a:ext cx="337413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بانک ← تنظیمات محیطی چک</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فهرست قالب‌های چک</a:t>
            </a:r>
            <a:endParaRPr lang="en-US" sz="1200" dirty="0"/>
          </a:p>
        </p:txBody>
      </p:sp>
      <p:sp>
        <p:nvSpPr>
          <p:cNvPr id="6" name="Shape 4"/>
          <p:cNvSpPr/>
          <p:nvPr/>
        </p:nvSpPr>
        <p:spPr>
          <a:xfrm>
            <a:off x="6208776"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bk04s">    </p:cNvPr>
          <p:cNvPicPr>
            <a:picLocks noChangeAspect="1"/>
          </p:cNvPicPr>
          <p:nvPr/>
        </p:nvPicPr>
        <p:blipFill>
          <a:blip r:embed="rId1"/>
          <a:stretch>
            <a:fillRect/>
          </a:stretch>
        </p:blipFill>
        <p:spPr>
          <a:xfrm>
            <a:off x="6254496" y="1695361"/>
            <a:ext cx="5477256" cy="2312619"/>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ویرایش: اندازه، حاشیه و تصویر چک</a:t>
            </a:r>
            <a:endParaRPr lang="en-US" sz="1200" dirty="0"/>
          </a:p>
        </p:txBody>
      </p:sp>
      <p:sp>
        <p:nvSpPr>
          <p:cNvPr id="9" name="Shape 6"/>
          <p:cNvSpPr/>
          <p:nvPr/>
        </p:nvSpPr>
        <p:spPr>
          <a:xfrm>
            <a:off x="411480"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bk04e">    </p:cNvPr>
          <p:cNvPicPr>
            <a:picLocks noChangeAspect="1"/>
          </p:cNvPicPr>
          <p:nvPr/>
        </p:nvPicPr>
        <p:blipFill>
          <a:blip r:embed="rId2"/>
          <a:stretch>
            <a:fillRect/>
          </a:stretch>
        </p:blipFill>
        <p:spPr>
          <a:xfrm>
            <a:off x="1898055" y="1664208"/>
            <a:ext cx="2595547" cy="2374925"/>
          </a:xfrm>
          <a:prstGeom prst="rect">
            <a:avLst/>
          </a:prstGeom>
        </p:spPr>
      </p:pic>
      <p:sp>
        <p:nvSpPr>
          <p:cNvPr id="11" name="Shape 7"/>
          <p:cNvSpPr/>
          <p:nvPr/>
        </p:nvSpPr>
        <p:spPr>
          <a:xfrm>
            <a:off x="9614002" y="4267733"/>
            <a:ext cx="2163470" cy="1291819"/>
          </a:xfrm>
          <a:prstGeom prst="roundRect">
            <a:avLst>
              <a:gd name="adj" fmla="val 5663"/>
            </a:avLst>
          </a:prstGeom>
          <a:solidFill>
            <a:srgbClr val="FFFFFF"/>
          </a:solidFill>
          <a:ln w="6350">
            <a:solidFill>
              <a:srgbClr val="D9DEE7"/>
            </a:solidFill>
            <a:prstDash val="solid"/>
          </a:ln>
        </p:spPr>
      </p:sp>
      <p:sp>
        <p:nvSpPr>
          <p:cNvPr id="12" name="Shape 8"/>
          <p:cNvSpPr/>
          <p:nvPr/>
        </p:nvSpPr>
        <p:spPr>
          <a:xfrm>
            <a:off x="11356848" y="4359173"/>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705442" y="4340885"/>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افزودن محیط چک جدید</a:t>
            </a:r>
            <a:endParaRPr lang="en-US" sz="1300" dirty="0"/>
          </a:p>
        </p:txBody>
      </p:sp>
      <p:sp>
        <p:nvSpPr>
          <p:cNvPr id="15" name="Text 11"/>
          <p:cNvSpPr/>
          <p:nvPr/>
        </p:nvSpPr>
        <p:spPr>
          <a:xfrm>
            <a:off x="9723730" y="4743221"/>
            <a:ext cx="1944014"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برای هر نوع برگ چک بانک یک قالب بسازید؛ عنوان حداکثر ۲۵ حرف است.</a:t>
            </a:r>
            <a:endParaRPr lang="en-US" sz="1150" dirty="0"/>
          </a:p>
        </p:txBody>
      </p:sp>
      <p:sp>
        <p:nvSpPr>
          <p:cNvPr id="16" name="Shape 12"/>
          <p:cNvSpPr/>
          <p:nvPr/>
        </p:nvSpPr>
        <p:spPr>
          <a:xfrm>
            <a:off x="7313371" y="4267733"/>
            <a:ext cx="2163470" cy="1291819"/>
          </a:xfrm>
          <a:prstGeom prst="roundRect">
            <a:avLst>
              <a:gd name="adj" fmla="val 5663"/>
            </a:avLst>
          </a:prstGeom>
          <a:solidFill>
            <a:srgbClr val="FFFFFF"/>
          </a:solidFill>
          <a:ln w="6350">
            <a:solidFill>
              <a:srgbClr val="D9DEE7"/>
            </a:solidFill>
            <a:prstDash val="solid"/>
          </a:ln>
        </p:spPr>
      </p:sp>
      <p:sp>
        <p:nvSpPr>
          <p:cNvPr id="17" name="Shape 13"/>
          <p:cNvSpPr/>
          <p:nvPr/>
        </p:nvSpPr>
        <p:spPr>
          <a:xfrm>
            <a:off x="9056218" y="4359173"/>
            <a:ext cx="329184" cy="329184"/>
          </a:xfrm>
          <a:prstGeom prst="ellipse">
            <a:avLst/>
          </a:prstGeom>
          <a:solidFill>
            <a:srgbClr val="C9A227"/>
          </a:solidFill>
          <a:ln w="12700">
            <a:solidFill>
              <a:srgbClr val="C9A227"/>
            </a:solidFill>
            <a:prstDash val="solid"/>
          </a:ln>
        </p:spPr>
      </p:sp>
      <p:sp>
        <p:nvSpPr>
          <p:cNvPr id="18" name="Text 14"/>
          <p:cNvSpPr/>
          <p:nvPr/>
        </p:nvSpPr>
        <p:spPr>
          <a:xfrm>
            <a:off x="905621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7404811" y="4340885"/>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طول و عرض برگ</a:t>
            </a:r>
            <a:endParaRPr lang="en-US" sz="1300" dirty="0"/>
          </a:p>
        </p:txBody>
      </p:sp>
      <p:sp>
        <p:nvSpPr>
          <p:cNvPr id="20" name="Text 16"/>
          <p:cNvSpPr/>
          <p:nvPr/>
        </p:nvSpPr>
        <p:spPr>
          <a:xfrm>
            <a:off x="7423099" y="4743221"/>
            <a:ext cx="1944014"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اندازهٔ برگ چک را با خط‌کش به میلی‌متر بدهید (مثلاً ۸۵ و ۱۷۰).</a:t>
            </a:r>
            <a:endParaRPr lang="en-US" sz="1150" dirty="0"/>
          </a:p>
        </p:txBody>
      </p:sp>
      <p:sp>
        <p:nvSpPr>
          <p:cNvPr id="21" name="Shape 17"/>
          <p:cNvSpPr/>
          <p:nvPr/>
        </p:nvSpPr>
        <p:spPr>
          <a:xfrm>
            <a:off x="5012741" y="4267733"/>
            <a:ext cx="2163470" cy="1291819"/>
          </a:xfrm>
          <a:prstGeom prst="roundRect">
            <a:avLst>
              <a:gd name="adj" fmla="val 5663"/>
            </a:avLst>
          </a:prstGeom>
          <a:solidFill>
            <a:srgbClr val="FFFFFF"/>
          </a:solidFill>
          <a:ln w="6350">
            <a:solidFill>
              <a:srgbClr val="D9DEE7"/>
            </a:solidFill>
            <a:prstDash val="solid"/>
          </a:ln>
        </p:spPr>
      </p:sp>
      <p:sp>
        <p:nvSpPr>
          <p:cNvPr id="22" name="Shape 18"/>
          <p:cNvSpPr/>
          <p:nvPr/>
        </p:nvSpPr>
        <p:spPr>
          <a:xfrm>
            <a:off x="6755587" y="4359173"/>
            <a:ext cx="329184" cy="329184"/>
          </a:xfrm>
          <a:prstGeom prst="ellipse">
            <a:avLst/>
          </a:prstGeom>
          <a:solidFill>
            <a:srgbClr val="C9A227"/>
          </a:solidFill>
          <a:ln w="12700">
            <a:solidFill>
              <a:srgbClr val="C9A227"/>
            </a:solidFill>
            <a:prstDash val="solid"/>
          </a:ln>
        </p:spPr>
      </p:sp>
      <p:sp>
        <p:nvSpPr>
          <p:cNvPr id="23" name="Text 19"/>
          <p:cNvSpPr/>
          <p:nvPr/>
        </p:nvSpPr>
        <p:spPr>
          <a:xfrm>
            <a:off x="6755587"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5104181" y="4340885"/>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حاشیهٔ بالا و چپ</a:t>
            </a:r>
            <a:endParaRPr lang="en-US" sz="1300" dirty="0"/>
          </a:p>
        </p:txBody>
      </p:sp>
      <p:sp>
        <p:nvSpPr>
          <p:cNvPr id="25" name="Text 21"/>
          <p:cNvSpPr/>
          <p:nvPr/>
        </p:nvSpPr>
        <p:spPr>
          <a:xfrm>
            <a:off x="5122469" y="4743221"/>
            <a:ext cx="1944014"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جابه‌جایی چاپگر را جبران می‌کند؛ عدد منفی هم مجاز است.</a:t>
            </a:r>
            <a:endParaRPr lang="en-US" sz="1150" dirty="0"/>
          </a:p>
        </p:txBody>
      </p:sp>
      <p:sp>
        <p:nvSpPr>
          <p:cNvPr id="26" name="Shape 22"/>
          <p:cNvSpPr/>
          <p:nvPr/>
        </p:nvSpPr>
        <p:spPr>
          <a:xfrm>
            <a:off x="2712110" y="4267733"/>
            <a:ext cx="2163470" cy="1291819"/>
          </a:xfrm>
          <a:prstGeom prst="roundRect">
            <a:avLst>
              <a:gd name="adj" fmla="val 5663"/>
            </a:avLst>
          </a:prstGeom>
          <a:solidFill>
            <a:srgbClr val="FFFFFF"/>
          </a:solidFill>
          <a:ln w="6350">
            <a:solidFill>
              <a:srgbClr val="D9DEE7"/>
            </a:solidFill>
            <a:prstDash val="solid"/>
          </a:ln>
        </p:spPr>
      </p:sp>
      <p:sp>
        <p:nvSpPr>
          <p:cNvPr id="27" name="Shape 23"/>
          <p:cNvSpPr/>
          <p:nvPr/>
        </p:nvSpPr>
        <p:spPr>
          <a:xfrm>
            <a:off x="4454957" y="4359173"/>
            <a:ext cx="329184" cy="329184"/>
          </a:xfrm>
          <a:prstGeom prst="ellipse">
            <a:avLst/>
          </a:prstGeom>
          <a:solidFill>
            <a:srgbClr val="C9A227"/>
          </a:solidFill>
          <a:ln w="12700">
            <a:solidFill>
              <a:srgbClr val="C9A227"/>
            </a:solidFill>
            <a:prstDash val="solid"/>
          </a:ln>
        </p:spPr>
      </p:sp>
      <p:sp>
        <p:nvSpPr>
          <p:cNvPr id="28" name="Text 24"/>
          <p:cNvSpPr/>
          <p:nvPr/>
        </p:nvSpPr>
        <p:spPr>
          <a:xfrm>
            <a:off x="4454957"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2803550" y="4340885"/>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آپلود تصویر چک</a:t>
            </a:r>
            <a:endParaRPr lang="en-US" sz="1300" dirty="0"/>
          </a:p>
        </p:txBody>
      </p:sp>
      <p:sp>
        <p:nvSpPr>
          <p:cNvPr id="30" name="Text 26"/>
          <p:cNvSpPr/>
          <p:nvPr/>
        </p:nvSpPr>
        <p:spPr>
          <a:xfrm>
            <a:off x="2821838" y="4743221"/>
            <a:ext cx="1944014"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تصویر اسکن‌شدهٔ برگ (حداکثر ۲ مگابایت) فقط برای پیش‌نمایش است.</a:t>
            </a:r>
            <a:endParaRPr lang="en-US" sz="1150" dirty="0"/>
          </a:p>
        </p:txBody>
      </p:sp>
      <p:sp>
        <p:nvSpPr>
          <p:cNvPr id="31" name="Shape 27"/>
          <p:cNvSpPr/>
          <p:nvPr/>
        </p:nvSpPr>
        <p:spPr>
          <a:xfrm>
            <a:off x="411480" y="4267733"/>
            <a:ext cx="2163470" cy="1291819"/>
          </a:xfrm>
          <a:prstGeom prst="roundRect">
            <a:avLst>
              <a:gd name="adj" fmla="val 5663"/>
            </a:avLst>
          </a:prstGeom>
          <a:solidFill>
            <a:srgbClr val="FFFFFF"/>
          </a:solidFill>
          <a:ln w="6350">
            <a:solidFill>
              <a:srgbClr val="D9DEE7"/>
            </a:solidFill>
            <a:prstDash val="solid"/>
          </a:ln>
        </p:spPr>
      </p:sp>
      <p:sp>
        <p:nvSpPr>
          <p:cNvPr id="32" name="Shape 28"/>
          <p:cNvSpPr/>
          <p:nvPr/>
        </p:nvSpPr>
        <p:spPr>
          <a:xfrm>
            <a:off x="2154326" y="4359173"/>
            <a:ext cx="329184" cy="329184"/>
          </a:xfrm>
          <a:prstGeom prst="ellipse">
            <a:avLst/>
          </a:prstGeom>
          <a:solidFill>
            <a:srgbClr val="C9A227"/>
          </a:solidFill>
          <a:ln w="12700">
            <a:solidFill>
              <a:srgbClr val="C9A227"/>
            </a:solidFill>
            <a:prstDash val="solid"/>
          </a:ln>
        </p:spPr>
      </p:sp>
      <p:sp>
        <p:nvSpPr>
          <p:cNvPr id="33" name="Text 29"/>
          <p:cNvSpPr/>
          <p:nvPr/>
        </p:nvSpPr>
        <p:spPr>
          <a:xfrm>
            <a:off x="2154326"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4" name="Text 30"/>
          <p:cNvSpPr/>
          <p:nvPr/>
        </p:nvSpPr>
        <p:spPr>
          <a:xfrm>
            <a:off x="502920" y="4340885"/>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جای فیلدها روی چک</a:t>
            </a:r>
            <a:endParaRPr lang="en-US" sz="1300" dirty="0"/>
          </a:p>
        </p:txBody>
      </p:sp>
      <p:sp>
        <p:nvSpPr>
          <p:cNvPr id="35" name="Text 31"/>
          <p:cNvSpPr/>
          <p:nvPr/>
        </p:nvSpPr>
        <p:spPr>
          <a:xfrm>
            <a:off x="521208" y="4743221"/>
            <a:ext cx="1944014"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دکمهٔ میانی هر ردیف: جای تاریخ، مبلغ، در وجه و بابت را تنظیم می‌کند.</a:t>
            </a:r>
            <a:endParaRPr lang="en-US" sz="1150" dirty="0"/>
          </a:p>
        </p:txBody>
      </p:sp>
      <p:sp>
        <p:nvSpPr>
          <p:cNvPr id="36" name="Shape 32"/>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7" name="Text 33"/>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8" name="Text 34"/>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اگر قالبی تنظیم نشود، چاپ با اندازهٔ پیش‌فرض ۱۷۰×۸۵ میلی‌متر انجام می‌شود.</a:t>
            </a:r>
            <a:endParaRPr lang="en-US" sz="1250" dirty="0"/>
          </a:p>
        </p:txBody>
      </p:sp>
      <p:sp>
        <p:nvSpPr>
          <p:cNvPr id="39" name="Text 35"/>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۷۳</a:t>
            </a:r>
            <a:endParaRPr lang="en-US" sz="1000" dirty="0"/>
          </a:p>
        </p:txBody>
      </p:sp>
      <p:sp>
        <p:nvSpPr>
          <p:cNvPr id="40" name="Text 36"/>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۲ — ثبت دسته‌چک</a:t>
            </a:r>
            <a:endParaRPr lang="en-US" sz="2500" dirty="0"/>
          </a:p>
        </p:txBody>
      </p:sp>
      <p:sp>
        <p:nvSpPr>
          <p:cNvPr id="3" name="Shape 1"/>
          <p:cNvSpPr/>
          <p:nvPr/>
        </p:nvSpPr>
        <p:spPr>
          <a:xfrm>
            <a:off x="8883396" y="896112"/>
            <a:ext cx="289407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993124" y="896112"/>
            <a:ext cx="267462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بانک ← دسته‌چک</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دسته‌چک واقعی (ویرایش)</a:t>
            </a:r>
            <a:endParaRPr lang="en-US" sz="1200" dirty="0"/>
          </a:p>
        </p:txBody>
      </p:sp>
      <p:sp>
        <p:nvSpPr>
          <p:cNvPr id="6" name="Shape 4"/>
          <p:cNvSpPr/>
          <p:nvPr/>
        </p:nvSpPr>
        <p:spPr>
          <a:xfrm>
            <a:off x="6208776"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bk02s">    </p:cNvPr>
          <p:cNvPicPr>
            <a:picLocks noChangeAspect="1"/>
          </p:cNvPicPr>
          <p:nvPr/>
        </p:nvPicPr>
        <p:blipFill>
          <a:blip r:embed="rId1"/>
          <a:stretch>
            <a:fillRect/>
          </a:stretch>
        </p:blipFill>
        <p:spPr>
          <a:xfrm>
            <a:off x="6976678" y="1664208"/>
            <a:ext cx="4032892" cy="2374925"/>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دسته‌چک صوری (جدید)</a:t>
            </a:r>
            <a:endParaRPr lang="en-US" sz="1200" dirty="0"/>
          </a:p>
        </p:txBody>
      </p:sp>
      <p:sp>
        <p:nvSpPr>
          <p:cNvPr id="9" name="Shape 6"/>
          <p:cNvSpPr/>
          <p:nvPr/>
        </p:nvSpPr>
        <p:spPr>
          <a:xfrm>
            <a:off x="411480"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bk02bs">    </p:cNvPr>
          <p:cNvPicPr>
            <a:picLocks noChangeAspect="1"/>
          </p:cNvPicPr>
          <p:nvPr/>
        </p:nvPicPr>
        <p:blipFill>
          <a:blip r:embed="rId2"/>
          <a:stretch>
            <a:fillRect/>
          </a:stretch>
        </p:blipFill>
        <p:spPr>
          <a:xfrm>
            <a:off x="1179382" y="1664208"/>
            <a:ext cx="4032892" cy="2374925"/>
          </a:xfrm>
          <a:prstGeom prst="rect">
            <a:avLst/>
          </a:prstGeom>
        </p:spPr>
      </p:pic>
      <p:sp>
        <p:nvSpPr>
          <p:cNvPr id="11" name="Shape 7"/>
          <p:cNvSpPr/>
          <p:nvPr/>
        </p:nvSpPr>
        <p:spPr>
          <a:xfrm>
            <a:off x="9038844" y="4267733"/>
            <a:ext cx="2738628" cy="1291819"/>
          </a:xfrm>
          <a:prstGeom prst="roundRect">
            <a:avLst>
              <a:gd name="adj" fmla="val 5663"/>
            </a:avLst>
          </a:prstGeom>
          <a:solidFill>
            <a:srgbClr val="FFFFFF"/>
          </a:solidFill>
          <a:ln w="6350">
            <a:solidFill>
              <a:srgbClr val="D9DEE7"/>
            </a:solidFill>
            <a:prstDash val="solid"/>
          </a:ln>
        </p:spPr>
      </p:sp>
      <p:sp>
        <p:nvSpPr>
          <p:cNvPr id="12" name="Shape 8"/>
          <p:cNvSpPr/>
          <p:nvPr/>
        </p:nvSpPr>
        <p:spPr>
          <a:xfrm>
            <a:off x="11356848" y="4359173"/>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افزودن دسته‌چک</a:t>
            </a:r>
            <a:endParaRPr lang="en-US" sz="1300" dirty="0"/>
          </a:p>
        </p:txBody>
      </p:sp>
      <p:sp>
        <p:nvSpPr>
          <p:cNvPr id="15" name="Text 11"/>
          <p:cNvSpPr/>
          <p:nvPr/>
        </p:nvSpPr>
        <p:spPr>
          <a:xfrm>
            <a:off x="9148572"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در زبانهٔ «دسته‌چک» دکمهٔ «افزودن دسته‌چک» را بزنید.</a:t>
            </a:r>
            <a:endParaRPr lang="en-US" sz="1150" dirty="0"/>
          </a:p>
        </p:txBody>
      </p:sp>
      <p:sp>
        <p:nvSpPr>
          <p:cNvPr id="16" name="Shape 12"/>
          <p:cNvSpPr/>
          <p:nvPr/>
        </p:nvSpPr>
        <p:spPr>
          <a:xfrm>
            <a:off x="6163056" y="4267733"/>
            <a:ext cx="2738628" cy="1291819"/>
          </a:xfrm>
          <a:prstGeom prst="roundRect">
            <a:avLst>
              <a:gd name="adj" fmla="val 5663"/>
            </a:avLst>
          </a:prstGeom>
          <a:solidFill>
            <a:srgbClr val="FFFFFF"/>
          </a:solidFill>
          <a:ln w="6350">
            <a:solidFill>
              <a:srgbClr val="D9DEE7"/>
            </a:solidFill>
            <a:prstDash val="solid"/>
          </a:ln>
        </p:spPr>
      </p:sp>
      <p:sp>
        <p:nvSpPr>
          <p:cNvPr id="17" name="Shape 13"/>
          <p:cNvSpPr/>
          <p:nvPr/>
        </p:nvSpPr>
        <p:spPr>
          <a:xfrm>
            <a:off x="8481060" y="4359173"/>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انتخاب حساب بانکی</a:t>
            </a:r>
            <a:endParaRPr lang="en-US" sz="1300" dirty="0"/>
          </a:p>
        </p:txBody>
      </p:sp>
      <p:sp>
        <p:nvSpPr>
          <p:cNvPr id="20" name="Text 16"/>
          <p:cNvSpPr/>
          <p:nvPr/>
        </p:nvSpPr>
        <p:spPr>
          <a:xfrm>
            <a:off x="6272784"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با «انتخاب حساب بانکی» حسابی را که دسته‌چک برایش صادر شده برگزینید.</a:t>
            </a:r>
            <a:endParaRPr lang="en-US" sz="1150" dirty="0"/>
          </a:p>
        </p:txBody>
      </p:sp>
      <p:sp>
        <p:nvSpPr>
          <p:cNvPr id="21" name="Shape 17"/>
          <p:cNvSpPr/>
          <p:nvPr/>
        </p:nvSpPr>
        <p:spPr>
          <a:xfrm>
            <a:off x="3287268" y="4267733"/>
            <a:ext cx="2738628" cy="1291819"/>
          </a:xfrm>
          <a:prstGeom prst="roundRect">
            <a:avLst>
              <a:gd name="adj" fmla="val 5663"/>
            </a:avLst>
          </a:prstGeom>
          <a:solidFill>
            <a:srgbClr val="FFFFFF"/>
          </a:solidFill>
          <a:ln w="6350">
            <a:solidFill>
              <a:srgbClr val="D9DEE7"/>
            </a:solidFill>
            <a:prstDash val="solid"/>
          </a:ln>
        </p:spPr>
      </p:sp>
      <p:sp>
        <p:nvSpPr>
          <p:cNvPr id="22" name="Shape 18"/>
          <p:cNvSpPr/>
          <p:nvPr/>
        </p:nvSpPr>
        <p:spPr>
          <a:xfrm>
            <a:off x="5605272" y="4359173"/>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شماره‌ها و تاریخ</a:t>
            </a:r>
            <a:endParaRPr lang="en-US" sz="1300" dirty="0"/>
          </a:p>
        </p:txBody>
      </p:sp>
      <p:sp>
        <p:nvSpPr>
          <p:cNvPr id="25" name="Text 21"/>
          <p:cNvSpPr/>
          <p:nvPr/>
        </p:nvSpPr>
        <p:spPr>
          <a:xfrm>
            <a:off x="3396996"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تاریخ صدور، شمارهٔ اولین و آخرین برگ و سریال را از روی دسته‌چک بنویسید.</a:t>
            </a:r>
            <a:endParaRPr lang="en-US" sz="1150" dirty="0"/>
          </a:p>
        </p:txBody>
      </p:sp>
      <p:sp>
        <p:nvSpPr>
          <p:cNvPr id="26" name="Shape 22"/>
          <p:cNvSpPr/>
          <p:nvPr/>
        </p:nvSpPr>
        <p:spPr>
          <a:xfrm>
            <a:off x="411480" y="4267733"/>
            <a:ext cx="2738628" cy="1291819"/>
          </a:xfrm>
          <a:prstGeom prst="roundRect">
            <a:avLst>
              <a:gd name="adj" fmla="val 5663"/>
            </a:avLst>
          </a:prstGeom>
          <a:solidFill>
            <a:srgbClr val="FFFFFF"/>
          </a:solidFill>
          <a:ln w="6350">
            <a:solidFill>
              <a:srgbClr val="D9DEE7"/>
            </a:solidFill>
            <a:prstDash val="solid"/>
          </a:ln>
        </p:spPr>
      </p:sp>
      <p:sp>
        <p:nvSpPr>
          <p:cNvPr id="27" name="Shape 23"/>
          <p:cNvSpPr/>
          <p:nvPr/>
        </p:nvSpPr>
        <p:spPr>
          <a:xfrm>
            <a:off x="2729484" y="4359173"/>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صوری / واقعی</a:t>
            </a:r>
            <a:endParaRPr lang="en-US" sz="1300" dirty="0"/>
          </a:p>
        </p:txBody>
      </p:sp>
      <p:sp>
        <p:nvSpPr>
          <p:cNvPr id="30" name="Text 26"/>
          <p:cNvSpPr/>
          <p:nvPr/>
        </p:nvSpPr>
        <p:spPr>
          <a:xfrm>
            <a:off x="521208"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برای اعلامیه‌های بانکی «چک صوری» را بزنید؛ این انتخاب بعداً قابل تغییر نیست.</a:t>
            </a:r>
            <a:endParaRPr lang="en-US" sz="1150" dirty="0"/>
          </a:p>
        </p:txBody>
      </p:sp>
      <p:sp>
        <p:nvSpPr>
          <p:cNvPr id="31" name="Shape 27"/>
          <p:cNvSpPr/>
          <p:nvPr/>
        </p:nvSpPr>
        <p:spPr>
          <a:xfrm>
            <a:off x="411480" y="5696712"/>
            <a:ext cx="11365992" cy="658368"/>
          </a:xfrm>
          <a:prstGeom prst="roundRect">
            <a:avLst>
              <a:gd name="adj" fmla="val 11111"/>
            </a:avLst>
          </a:prstGeom>
          <a:solidFill>
            <a:srgbClr val="E3F3EA"/>
          </a:solidFill>
          <a:ln w="9525">
            <a:solidFill>
              <a:srgbClr val="1E7A4C"/>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بانک ملی ستاد: برگ ۳۴۵۶۰۰۱ تا ۳۴۵۶۰۵۰، سریال ب/۳، نوع «چک صیادی بانک ملی» ← ذخیره ← ۵۰ برگ ساخته می‌شود.</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۷۴</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۳ — اوراق چک: وضعیت تک‌تک برگ‌ها</a:t>
            </a:r>
            <a:endParaRPr lang="en-US" sz="2500" dirty="0"/>
          </a:p>
        </p:txBody>
      </p:sp>
      <p:sp>
        <p:nvSpPr>
          <p:cNvPr id="3" name="Shape 1"/>
          <p:cNvSpPr/>
          <p:nvPr/>
        </p:nvSpPr>
        <p:spPr>
          <a:xfrm>
            <a:off x="8883396" y="896112"/>
            <a:ext cx="289407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993124" y="896112"/>
            <a:ext cx="267462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اطلاعات پایه ← بانک ← دسته‌چک</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k03">    </p:cNvPr>
          <p:cNvPicPr>
            <a:picLocks noChangeAspect="1"/>
          </p:cNvPicPr>
          <p:nvPr/>
        </p:nvPicPr>
        <p:blipFill>
          <a:blip r:embed="rId1"/>
          <a:stretch>
            <a:fillRect/>
          </a:stretch>
        </p:blipFill>
        <p:spPr>
          <a:xfrm>
            <a:off x="484632" y="1499022"/>
            <a:ext cx="7077456" cy="4682917"/>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دسته‌چک اول ملی: ۵۰ برگ — ۹ استفاده‌شده، ۱ باطل، ۴۰ سفید. برگ ۳۴۵۶۰۰۱ «چاپ‌شده» و «تاییدیه صادر شد» است.</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باز کردن اوراق</a:t>
            </a:r>
            <a:endParaRPr lang="en-US" sz="1350" dirty="0"/>
          </a:p>
        </p:txBody>
      </p:sp>
      <p:sp>
        <p:nvSpPr>
          <p:cNvPr id="13" name="Text 10"/>
          <p:cNvSpPr/>
          <p:nvPr/>
        </p:nvSpPr>
        <p:spPr>
          <a:xfrm>
            <a:off x="7909560" y="1700784"/>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در ستون عملیات دسته‌چک، آیکن «اوراق چک» (اولین آیکن آبی) را بزنید.</a:t>
            </a:r>
            <a:endParaRPr lang="en-US" sz="1050" dirty="0"/>
          </a:p>
        </p:txBody>
      </p:sp>
      <p:sp>
        <p:nvSpPr>
          <p:cNvPr id="14" name="Shape 11"/>
          <p:cNvSpPr/>
          <p:nvPr/>
        </p:nvSpPr>
        <p:spPr>
          <a:xfrm>
            <a:off x="11411712" y="2184959"/>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18495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18495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خلاصهٔ بالای جدول</a:t>
            </a:r>
            <a:endParaRPr lang="en-US" sz="1350" dirty="0"/>
          </a:p>
        </p:txBody>
      </p:sp>
      <p:sp>
        <p:nvSpPr>
          <p:cNvPr id="17" name="Text 14"/>
          <p:cNvSpPr/>
          <p:nvPr/>
        </p:nvSpPr>
        <p:spPr>
          <a:xfrm>
            <a:off x="7909560" y="2514143"/>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تعداد برگ‌ها و تعداد استفاده‌شده، باطل و سفید را نشان می‌دهد.</a:t>
            </a:r>
            <a:endParaRPr lang="en-US" sz="1050" dirty="0"/>
          </a:p>
        </p:txBody>
      </p:sp>
      <p:sp>
        <p:nvSpPr>
          <p:cNvPr id="18" name="Shape 15"/>
          <p:cNvSpPr/>
          <p:nvPr/>
        </p:nvSpPr>
        <p:spPr>
          <a:xfrm>
            <a:off x="11411712" y="2998318"/>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299831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299831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فیلتر «نمایش»</a:t>
            </a:r>
            <a:endParaRPr lang="en-US" sz="1350" dirty="0"/>
          </a:p>
        </p:txBody>
      </p:sp>
      <p:sp>
        <p:nvSpPr>
          <p:cNvPr id="21" name="Text 18"/>
          <p:cNvSpPr/>
          <p:nvPr/>
        </p:nvSpPr>
        <p:spPr>
          <a:xfrm>
            <a:off x="7909560" y="3327502"/>
            <a:ext cx="3392424" cy="242087"/>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فقط برگ‌های سفید، استفاده‌شده یا باطل را ببینید.</a:t>
            </a:r>
            <a:endParaRPr lang="en-US" sz="1050" dirty="0"/>
          </a:p>
        </p:txBody>
      </p:sp>
      <p:sp>
        <p:nvSpPr>
          <p:cNvPr id="22" name="Shape 19"/>
          <p:cNvSpPr/>
          <p:nvPr/>
        </p:nvSpPr>
        <p:spPr>
          <a:xfrm>
            <a:off x="11411712" y="3624453"/>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62445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62445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ستون سند</a:t>
            </a:r>
            <a:endParaRPr lang="en-US" sz="1350" dirty="0"/>
          </a:p>
        </p:txBody>
      </p:sp>
      <p:sp>
        <p:nvSpPr>
          <p:cNvPr id="25" name="Text 22"/>
          <p:cNvSpPr/>
          <p:nvPr/>
        </p:nvSpPr>
        <p:spPr>
          <a:xfrm>
            <a:off x="7909560" y="3953637"/>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شماره و تاریخ سندی که برگ در آن استفاده شده؛ با کلیک، سند باز می‌شود.</a:t>
            </a:r>
            <a:endParaRPr lang="en-US" sz="1050" dirty="0"/>
          </a:p>
        </p:txBody>
      </p:sp>
      <p:sp>
        <p:nvSpPr>
          <p:cNvPr id="26" name="Shape 23"/>
          <p:cNvSpPr/>
          <p:nvPr/>
        </p:nvSpPr>
        <p:spPr>
          <a:xfrm>
            <a:off x="11411712" y="4437812"/>
            <a:ext cx="329184" cy="329184"/>
          </a:xfrm>
          <a:prstGeom prst="ellipse">
            <a:avLst/>
          </a:prstGeom>
          <a:solidFill>
            <a:srgbClr val="C9A227"/>
          </a:solidFill>
          <a:ln w="12700">
            <a:solidFill>
              <a:srgbClr val="C9A227"/>
            </a:solidFill>
            <a:prstDash val="solid"/>
          </a:ln>
        </p:spPr>
      </p:sp>
      <p:sp>
        <p:nvSpPr>
          <p:cNvPr id="27" name="Text 24"/>
          <p:cNvSpPr/>
          <p:nvPr/>
        </p:nvSpPr>
        <p:spPr>
          <a:xfrm>
            <a:off x="11411712" y="443781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8" name="Text 25"/>
          <p:cNvSpPr/>
          <p:nvPr/>
        </p:nvSpPr>
        <p:spPr>
          <a:xfrm>
            <a:off x="7909560" y="443781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ساخت اوراق</a:t>
            </a:r>
            <a:endParaRPr lang="en-US" sz="1350" dirty="0"/>
          </a:p>
        </p:txBody>
      </p:sp>
      <p:sp>
        <p:nvSpPr>
          <p:cNvPr id="29" name="Text 26"/>
          <p:cNvSpPr/>
          <p:nvPr/>
        </p:nvSpPr>
        <p:spPr>
          <a:xfrm>
            <a:off x="7909560" y="4766996"/>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دسته‌چک قدیمیِ بی‌برگ پیام زرد دارد؛ «ساخت اوراق» برگ‌ها را می‌سازد.</a:t>
            </a:r>
            <a:endParaRPr lang="en-US" sz="1050" dirty="0"/>
          </a:p>
        </p:txBody>
      </p:sp>
      <p:sp>
        <p:nvSpPr>
          <p:cNvPr id="30"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۷۵</a:t>
            </a:r>
            <a:endParaRPr lang="en-US" sz="1000" dirty="0"/>
          </a:p>
        </p:txBody>
      </p:sp>
      <p:sp>
        <p:nvSpPr>
          <p:cNvPr id="31"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۴ — دفتر چک: همهٔ چک‌های اسناد</a:t>
            </a:r>
            <a:endParaRPr lang="en-US" sz="2500" dirty="0"/>
          </a:p>
        </p:txBody>
      </p:sp>
      <p:sp>
        <p:nvSpPr>
          <p:cNvPr id="3" name="Shape 1"/>
          <p:cNvSpPr/>
          <p:nvPr/>
        </p:nvSpPr>
        <p:spPr>
          <a:xfrm>
            <a:off x="9893808" y="896112"/>
            <a:ext cx="188366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10003536" y="896112"/>
            <a:ext cx="166420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دفتر چک</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k06s">    </p:cNvPr>
          <p:cNvPicPr>
            <a:picLocks noChangeAspect="1"/>
          </p:cNvPicPr>
          <p:nvPr/>
        </p:nvPicPr>
        <p:blipFill>
          <a:blip r:embed="rId1"/>
          <a:stretch>
            <a:fillRect/>
          </a:stretch>
        </p:blipFill>
        <p:spPr>
          <a:xfrm>
            <a:off x="484632" y="1874520"/>
            <a:ext cx="7077456" cy="3931920"/>
          </a:xfrm>
          <a:prstGeom prst="rect">
            <a:avLst/>
          </a:prstGeom>
        </p:spPr>
      </p:pic>
      <p:sp>
        <p:nvSpPr>
          <p:cNvPr id="7" name="Shape 4"/>
          <p:cNvSpPr/>
          <p:nvPr/>
        </p:nvSpPr>
        <p:spPr>
          <a:xfrm>
            <a:off x="7909560" y="5237683"/>
            <a:ext cx="3867912" cy="1117397"/>
          </a:xfrm>
          <a:prstGeom prst="roundRect">
            <a:avLst>
              <a:gd name="adj" fmla="val 6547"/>
            </a:avLst>
          </a:prstGeom>
          <a:solidFill>
            <a:srgbClr val="F6EDCF"/>
          </a:solidFill>
          <a:ln w="9525">
            <a:solidFill>
              <a:srgbClr val="C9A227"/>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چکی که اشتباه نوشته شده را «ابطال» کنید؛ ابطال قابل برگشت است و برگ در اوراق «باطل» دیده می‌شود.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زبانه‌ها</a:t>
            </a:r>
            <a:endParaRPr lang="en-US" sz="1350" dirty="0"/>
          </a:p>
        </p:txBody>
      </p:sp>
      <p:sp>
        <p:nvSpPr>
          <p:cNvPr id="13" name="Text 10"/>
          <p:cNvSpPr/>
          <p:nvPr/>
        </p:nvSpPr>
        <p:spPr>
          <a:xfrm>
            <a:off x="7909560" y="170078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همهٔ چک‌ها، صدور دستور پرداخت، کارتابل رئیس حسابداری، کارتابل مدیر واحد، آمادهٔ چاپ.</a:t>
            </a:r>
            <a:endParaRPr lang="en-US" sz="1250" dirty="0"/>
          </a:p>
        </p:txBody>
      </p:sp>
      <p:sp>
        <p:nvSpPr>
          <p:cNvPr id="14" name="Shape 11"/>
          <p:cNvSpPr/>
          <p:nvPr/>
        </p:nvSpPr>
        <p:spPr>
          <a:xfrm>
            <a:off x="11411712" y="225628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5628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5628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فیلترها</a:t>
            </a:r>
            <a:endParaRPr lang="en-US" sz="1350" dirty="0"/>
          </a:p>
        </p:txBody>
      </p:sp>
      <p:sp>
        <p:nvSpPr>
          <p:cNvPr id="17" name="Text 14"/>
          <p:cNvSpPr/>
          <p:nvPr/>
        </p:nvSpPr>
        <p:spPr>
          <a:xfrm>
            <a:off x="7909560" y="2585466"/>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حساب جاری، سررسید، ابطال، چاپ، شماره و مبلغ چک؛ سپس «اعمال فیلتر».</a:t>
            </a:r>
            <a:endParaRPr lang="en-US" sz="1250" dirty="0"/>
          </a:p>
        </p:txBody>
      </p:sp>
      <p:sp>
        <p:nvSpPr>
          <p:cNvPr id="18" name="Shape 15"/>
          <p:cNvSpPr/>
          <p:nvPr/>
        </p:nvSpPr>
        <p:spPr>
          <a:xfrm>
            <a:off x="11411712" y="3140964"/>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409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4096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ستون وضعیت</a:t>
            </a:r>
            <a:endParaRPr lang="en-US" sz="1350" dirty="0"/>
          </a:p>
        </p:txBody>
      </p:sp>
      <p:sp>
        <p:nvSpPr>
          <p:cNvPr id="21" name="Text 18"/>
          <p:cNvSpPr/>
          <p:nvPr/>
        </p:nvSpPr>
        <p:spPr>
          <a:xfrm>
            <a:off x="7909560" y="3470148"/>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مرحلهٔ گردش هر چک؛ «وارد نشده» قرمز یعنی «در وجه» خالی است.</a:t>
            </a:r>
            <a:endParaRPr lang="en-US" sz="1250" dirty="0"/>
          </a:p>
        </p:txBody>
      </p:sp>
      <p:sp>
        <p:nvSpPr>
          <p:cNvPr id="22" name="Shape 19"/>
          <p:cNvSpPr/>
          <p:nvPr/>
        </p:nvSpPr>
        <p:spPr>
          <a:xfrm>
            <a:off x="11411712" y="402564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256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256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آیکن‌های عملیات</a:t>
            </a:r>
            <a:endParaRPr lang="en-US" sz="1350" dirty="0"/>
          </a:p>
        </p:txBody>
      </p:sp>
      <p:sp>
        <p:nvSpPr>
          <p:cNvPr id="25" name="Text 22"/>
          <p:cNvSpPr/>
          <p:nvPr/>
        </p:nvSpPr>
        <p:spPr>
          <a:xfrm>
            <a:off x="7909560" y="4354830"/>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چاپ (فقط چک تأییدشده)، تاریخچهٔ تأیید، و ابطال یا برگرداندن ابطال.</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۷۶</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۵ — دستور پرداخت و تأییدها</a:t>
            </a:r>
            <a:endParaRPr lang="en-US" sz="2500" dirty="0"/>
          </a:p>
        </p:txBody>
      </p:sp>
      <p:sp>
        <p:nvSpPr>
          <p:cNvPr id="3" name="Shape 1"/>
          <p:cNvSpPr/>
          <p:nvPr/>
        </p:nvSpPr>
        <p:spPr>
          <a:xfrm>
            <a:off x="9893808" y="896112"/>
            <a:ext cx="188366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10003536" y="896112"/>
            <a:ext cx="166420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دفتر چک</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تأیید گروهی در کارتابل رئیس حسابداری</a:t>
            </a:r>
            <a:endParaRPr lang="en-US" sz="1200" dirty="0"/>
          </a:p>
        </p:txBody>
      </p:sp>
      <p:sp>
        <p:nvSpPr>
          <p:cNvPr id="6" name="Shape 4"/>
          <p:cNvSpPr/>
          <p:nvPr/>
        </p:nvSpPr>
        <p:spPr>
          <a:xfrm>
            <a:off x="6208776"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bk07d">    </p:cNvPr>
          <p:cNvPicPr>
            <a:picLocks noChangeAspect="1"/>
          </p:cNvPicPr>
          <p:nvPr/>
        </p:nvPicPr>
        <p:blipFill>
          <a:blip r:embed="rId1"/>
          <a:stretch>
            <a:fillRect/>
          </a:stretch>
        </p:blipFill>
        <p:spPr>
          <a:xfrm>
            <a:off x="6660233" y="1664208"/>
            <a:ext cx="4665783" cy="2374925"/>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تاریخچهٔ تأیید یک چک</a:t>
            </a:r>
            <a:endParaRPr lang="en-US" sz="1200" dirty="0"/>
          </a:p>
        </p:txBody>
      </p:sp>
      <p:sp>
        <p:nvSpPr>
          <p:cNvPr id="9" name="Shape 6"/>
          <p:cNvSpPr/>
          <p:nvPr/>
        </p:nvSpPr>
        <p:spPr>
          <a:xfrm>
            <a:off x="411480"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bk07h">    </p:cNvPr>
          <p:cNvPicPr>
            <a:picLocks noChangeAspect="1"/>
          </p:cNvPicPr>
          <p:nvPr/>
        </p:nvPicPr>
        <p:blipFill>
          <a:blip r:embed="rId2"/>
          <a:stretch>
            <a:fillRect/>
          </a:stretch>
        </p:blipFill>
        <p:spPr>
          <a:xfrm>
            <a:off x="1419076" y="1664208"/>
            <a:ext cx="3553504" cy="2374925"/>
          </a:xfrm>
          <a:prstGeom prst="rect">
            <a:avLst/>
          </a:prstGeom>
        </p:spPr>
      </p:pic>
      <p:sp>
        <p:nvSpPr>
          <p:cNvPr id="11" name="Shape 7"/>
          <p:cNvSpPr/>
          <p:nvPr/>
        </p:nvSpPr>
        <p:spPr>
          <a:xfrm>
            <a:off x="9038844" y="4267733"/>
            <a:ext cx="2738628" cy="1291819"/>
          </a:xfrm>
          <a:prstGeom prst="roundRect">
            <a:avLst>
              <a:gd name="adj" fmla="val 5663"/>
            </a:avLst>
          </a:prstGeom>
          <a:solidFill>
            <a:srgbClr val="FFFFFF"/>
          </a:solidFill>
          <a:ln w="6350">
            <a:solidFill>
              <a:srgbClr val="D9DEE7"/>
            </a:solidFill>
            <a:prstDash val="solid"/>
          </a:ln>
        </p:spPr>
      </p:sp>
      <p:sp>
        <p:nvSpPr>
          <p:cNvPr id="12" name="Shape 8"/>
          <p:cNvSpPr/>
          <p:nvPr/>
        </p:nvSpPr>
        <p:spPr>
          <a:xfrm>
            <a:off x="11356848" y="4359173"/>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دستور پرداخت</a:t>
            </a:r>
            <a:endParaRPr lang="en-US" sz="1300" dirty="0"/>
          </a:p>
        </p:txBody>
      </p:sp>
      <p:sp>
        <p:nvSpPr>
          <p:cNvPr id="15" name="Text 11"/>
          <p:cNvSpPr/>
          <p:nvPr/>
        </p:nvSpPr>
        <p:spPr>
          <a:xfrm>
            <a:off x="9148572"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حسابدار در زبانهٔ «صدور دستور پرداخت» چک‌ها را تیک می‌زند و دکمه را می‌زند.</a:t>
            </a:r>
            <a:endParaRPr lang="en-US" sz="1150" dirty="0"/>
          </a:p>
        </p:txBody>
      </p:sp>
      <p:sp>
        <p:nvSpPr>
          <p:cNvPr id="16" name="Shape 12"/>
          <p:cNvSpPr/>
          <p:nvPr/>
        </p:nvSpPr>
        <p:spPr>
          <a:xfrm>
            <a:off x="6163056" y="4267733"/>
            <a:ext cx="2738628" cy="1291819"/>
          </a:xfrm>
          <a:prstGeom prst="roundRect">
            <a:avLst>
              <a:gd name="adj" fmla="val 5663"/>
            </a:avLst>
          </a:prstGeom>
          <a:solidFill>
            <a:srgbClr val="FFFFFF"/>
          </a:solidFill>
          <a:ln w="6350">
            <a:solidFill>
              <a:srgbClr val="D9DEE7"/>
            </a:solidFill>
            <a:prstDash val="solid"/>
          </a:ln>
        </p:spPr>
      </p:sp>
      <p:sp>
        <p:nvSpPr>
          <p:cNvPr id="17" name="Shape 13"/>
          <p:cNvSpPr/>
          <p:nvPr/>
        </p:nvSpPr>
        <p:spPr>
          <a:xfrm>
            <a:off x="8481060" y="4359173"/>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تأیید رئیس حسابداری</a:t>
            </a:r>
            <a:endParaRPr lang="en-US" sz="1300" dirty="0"/>
          </a:p>
        </p:txBody>
      </p:sp>
      <p:sp>
        <p:nvSpPr>
          <p:cNvPr id="20" name="Text 16"/>
          <p:cNvSpPr/>
          <p:nvPr/>
        </p:nvSpPr>
        <p:spPr>
          <a:xfrm>
            <a:off x="6272784"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در کارتابل خودش چک‌ها را انتخاب و «تأیید» را می‌زند؛ توضیح اختیاری است.</a:t>
            </a:r>
            <a:endParaRPr lang="en-US" sz="1150" dirty="0"/>
          </a:p>
        </p:txBody>
      </p:sp>
      <p:sp>
        <p:nvSpPr>
          <p:cNvPr id="21" name="Shape 17"/>
          <p:cNvSpPr/>
          <p:nvPr/>
        </p:nvSpPr>
        <p:spPr>
          <a:xfrm>
            <a:off x="3287268" y="4267733"/>
            <a:ext cx="2738628" cy="1291819"/>
          </a:xfrm>
          <a:prstGeom prst="roundRect">
            <a:avLst>
              <a:gd name="adj" fmla="val 5663"/>
            </a:avLst>
          </a:prstGeom>
          <a:solidFill>
            <a:srgbClr val="FFFFFF"/>
          </a:solidFill>
          <a:ln w="6350">
            <a:solidFill>
              <a:srgbClr val="D9DEE7"/>
            </a:solidFill>
            <a:prstDash val="solid"/>
          </a:ln>
        </p:spPr>
      </p:sp>
      <p:sp>
        <p:nvSpPr>
          <p:cNvPr id="22" name="Shape 18"/>
          <p:cNvSpPr/>
          <p:nvPr/>
        </p:nvSpPr>
        <p:spPr>
          <a:xfrm>
            <a:off x="5605272" y="4359173"/>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تأیید مدیر واحد</a:t>
            </a:r>
            <a:endParaRPr lang="en-US" sz="1300" dirty="0"/>
          </a:p>
        </p:txBody>
      </p:sp>
      <p:sp>
        <p:nvSpPr>
          <p:cNvPr id="25" name="Text 21"/>
          <p:cNvSpPr/>
          <p:nvPr/>
        </p:nvSpPr>
        <p:spPr>
          <a:xfrm>
            <a:off x="3396996"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همان دکمه در کارتابل مدیر؛ پس از آن «تاییدیه صادر شد» می‌آید.</a:t>
            </a:r>
            <a:endParaRPr lang="en-US" sz="1150" dirty="0"/>
          </a:p>
        </p:txBody>
      </p:sp>
      <p:sp>
        <p:nvSpPr>
          <p:cNvPr id="26" name="Shape 22"/>
          <p:cNvSpPr/>
          <p:nvPr/>
        </p:nvSpPr>
        <p:spPr>
          <a:xfrm>
            <a:off x="411480" y="4267733"/>
            <a:ext cx="2738628" cy="1291819"/>
          </a:xfrm>
          <a:prstGeom prst="roundRect">
            <a:avLst>
              <a:gd name="adj" fmla="val 5663"/>
            </a:avLst>
          </a:prstGeom>
          <a:solidFill>
            <a:srgbClr val="FFFFFF"/>
          </a:solidFill>
          <a:ln w="6350">
            <a:solidFill>
              <a:srgbClr val="D9DEE7"/>
            </a:solidFill>
            <a:prstDash val="solid"/>
          </a:ln>
        </p:spPr>
      </p:sp>
      <p:sp>
        <p:nvSpPr>
          <p:cNvPr id="27" name="Shape 23"/>
          <p:cNvSpPr/>
          <p:nvPr/>
        </p:nvSpPr>
        <p:spPr>
          <a:xfrm>
            <a:off x="2729484" y="4359173"/>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برگشت</a:t>
            </a:r>
            <a:endParaRPr lang="en-US" sz="1300" dirty="0"/>
          </a:p>
        </p:txBody>
      </p:sp>
      <p:sp>
        <p:nvSpPr>
          <p:cNvPr id="30" name="Text 26"/>
          <p:cNvSpPr/>
          <p:nvPr/>
        </p:nvSpPr>
        <p:spPr>
          <a:xfrm>
            <a:off x="521208"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هر مرحله می‌تواند برگرداند؛ نوشتن «علت برگشت» الزامی است.</a:t>
            </a:r>
            <a:endParaRPr lang="en-US" sz="1150" dirty="0"/>
          </a:p>
        </p:txBody>
      </p:sp>
      <p:sp>
        <p:nvSpPr>
          <p:cNvPr id="31" name="Shape 27"/>
          <p:cNvSpPr/>
          <p:nvPr/>
        </p:nvSpPr>
        <p:spPr>
          <a:xfrm>
            <a:off x="411480" y="5696712"/>
            <a:ext cx="11365992" cy="658368"/>
          </a:xfrm>
          <a:prstGeom prst="roundRect">
            <a:avLst>
              <a:gd name="adj" fmla="val 11111"/>
            </a:avLst>
          </a:prstGeom>
          <a:solidFill>
            <a:srgbClr val="E3F3EA"/>
          </a:solidFill>
          <a:ln w="9525">
            <a:solidFill>
              <a:srgbClr val="1E7A4C"/>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چک‌های ۳۴۵۶۰۰۴ و ۳۴۵۶۰۰۵ با هم انتخاب و در یک مرحله تأیید شدند.</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۷۷</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۶ — چاپ چک</a:t>
            </a:r>
            <a:endParaRPr lang="en-US" sz="2500" dirty="0"/>
          </a:p>
        </p:txBody>
      </p:sp>
      <p:sp>
        <p:nvSpPr>
          <p:cNvPr id="3" name="Shape 1"/>
          <p:cNvSpPr/>
          <p:nvPr/>
        </p:nvSpPr>
        <p:spPr>
          <a:xfrm>
            <a:off x="9038844" y="896112"/>
            <a:ext cx="273862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148572" y="896112"/>
            <a:ext cx="251917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دفتر چک ← آیکن چاپ</a:t>
            </a:r>
            <a:endParaRPr lang="en-US" sz="1100" dirty="0"/>
          </a:p>
        </p:txBody>
      </p:sp>
      <p:sp>
        <p:nvSpPr>
          <p:cNvPr id="5" name="Shape 3"/>
          <p:cNvSpPr/>
          <p:nvPr/>
        </p:nvSpPr>
        <p:spPr>
          <a:xfrm>
            <a:off x="411480" y="1325880"/>
            <a:ext cx="11365992" cy="2799893"/>
          </a:xfrm>
          <a:prstGeom prst="roundRect">
            <a:avLst>
              <a:gd name="adj" fmla="val 261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k08s">    </p:cNvPr>
          <p:cNvPicPr>
            <a:picLocks noChangeAspect="1"/>
          </p:cNvPicPr>
          <p:nvPr/>
        </p:nvPicPr>
        <p:blipFill>
          <a:blip r:embed="rId1"/>
          <a:stretch>
            <a:fillRect/>
          </a:stretch>
        </p:blipFill>
        <p:spPr>
          <a:xfrm>
            <a:off x="2031797" y="1371600"/>
            <a:ext cx="8125358" cy="2708453"/>
          </a:xfrm>
          <a:prstGeom prst="rect">
            <a:avLst/>
          </a:prstGeom>
        </p:spPr>
      </p:pic>
      <p:sp>
        <p:nvSpPr>
          <p:cNvPr id="7" name="Shape 4"/>
          <p:cNvSpPr/>
          <p:nvPr/>
        </p:nvSpPr>
        <p:spPr>
          <a:xfrm>
            <a:off x="8110728" y="4308653"/>
            <a:ext cx="3666744" cy="1159459"/>
          </a:xfrm>
          <a:prstGeom prst="roundRect">
            <a:avLst>
              <a:gd name="adj" fmla="val 7886"/>
            </a:avLst>
          </a:prstGeom>
          <a:solidFill>
            <a:srgbClr val="FFFFFF"/>
          </a:solidFill>
          <a:ln w="6350">
            <a:solidFill>
              <a:srgbClr val="D9DEE7"/>
            </a:solidFill>
            <a:prstDash val="solid"/>
          </a:ln>
        </p:spPr>
      </p:sp>
      <p:sp>
        <p:nvSpPr>
          <p:cNvPr id="8" name="Shape 5"/>
          <p:cNvSpPr/>
          <p:nvPr/>
        </p:nvSpPr>
        <p:spPr>
          <a:xfrm>
            <a:off x="11320272" y="4418381"/>
            <a:ext cx="329184" cy="329184"/>
          </a:xfrm>
          <a:prstGeom prst="ellipse">
            <a:avLst/>
          </a:prstGeom>
          <a:solidFill>
            <a:srgbClr val="C9A227"/>
          </a:solidFill>
          <a:ln w="12700">
            <a:solidFill>
              <a:srgbClr val="C9A227"/>
            </a:solidFill>
            <a:prstDash val="solid"/>
          </a:ln>
        </p:spPr>
      </p:sp>
      <p:sp>
        <p:nvSpPr>
          <p:cNvPr id="9" name="Text 6"/>
          <p:cNvSpPr/>
          <p:nvPr/>
        </p:nvSpPr>
        <p:spPr>
          <a:xfrm>
            <a:off x="11320272" y="441838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8247888" y="4400093"/>
            <a:ext cx="3026664"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پیش‌نمایش</a:t>
            </a:r>
            <a:endParaRPr lang="en-US" sz="1350" dirty="0"/>
          </a:p>
        </p:txBody>
      </p:sp>
      <p:sp>
        <p:nvSpPr>
          <p:cNvPr id="11" name="Text 8"/>
          <p:cNvSpPr/>
          <p:nvPr/>
        </p:nvSpPr>
        <p:spPr>
          <a:xfrm>
            <a:off x="8247888" y="4839005"/>
            <a:ext cx="3392424" cy="592531"/>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تاریخ عددی و حروفی، مبلغ به حروف و عدد، در وجه و بابت خودکار روی برگ می‌نشینند.</a:t>
            </a:r>
            <a:endParaRPr lang="en-US" sz="1200" dirty="0"/>
          </a:p>
        </p:txBody>
      </p:sp>
      <p:sp>
        <p:nvSpPr>
          <p:cNvPr id="12" name="Shape 9"/>
          <p:cNvSpPr/>
          <p:nvPr/>
        </p:nvSpPr>
        <p:spPr>
          <a:xfrm>
            <a:off x="4261104" y="4308653"/>
            <a:ext cx="3666744" cy="1159459"/>
          </a:xfrm>
          <a:prstGeom prst="roundRect">
            <a:avLst>
              <a:gd name="adj" fmla="val 7886"/>
            </a:avLst>
          </a:prstGeom>
          <a:solidFill>
            <a:srgbClr val="FFFFFF"/>
          </a:solidFill>
          <a:ln w="6350">
            <a:solidFill>
              <a:srgbClr val="D9DEE7"/>
            </a:solidFill>
            <a:prstDash val="solid"/>
          </a:ln>
        </p:spPr>
      </p:sp>
      <p:sp>
        <p:nvSpPr>
          <p:cNvPr id="13" name="Shape 10"/>
          <p:cNvSpPr/>
          <p:nvPr/>
        </p:nvSpPr>
        <p:spPr>
          <a:xfrm>
            <a:off x="7470648" y="4418381"/>
            <a:ext cx="329184" cy="329184"/>
          </a:xfrm>
          <a:prstGeom prst="ellipse">
            <a:avLst/>
          </a:prstGeom>
          <a:solidFill>
            <a:srgbClr val="C9A227"/>
          </a:solidFill>
          <a:ln w="12700">
            <a:solidFill>
              <a:srgbClr val="C9A227"/>
            </a:solidFill>
            <a:prstDash val="solid"/>
          </a:ln>
        </p:spPr>
      </p:sp>
      <p:sp>
        <p:nvSpPr>
          <p:cNvPr id="14" name="Text 11"/>
          <p:cNvSpPr/>
          <p:nvPr/>
        </p:nvSpPr>
        <p:spPr>
          <a:xfrm>
            <a:off x="7470648" y="441838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5" name="Text 12"/>
          <p:cNvSpPr/>
          <p:nvPr/>
        </p:nvSpPr>
        <p:spPr>
          <a:xfrm>
            <a:off x="4398264" y="4400093"/>
            <a:ext cx="3026664"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تصویر چک</a:t>
            </a:r>
            <a:endParaRPr lang="en-US" sz="1350" dirty="0"/>
          </a:p>
        </p:txBody>
      </p:sp>
      <p:sp>
        <p:nvSpPr>
          <p:cNvPr id="16" name="Text 13"/>
          <p:cNvSpPr/>
          <p:nvPr/>
        </p:nvSpPr>
        <p:spPr>
          <a:xfrm>
            <a:off x="4398264" y="4839005"/>
            <a:ext cx="3392424" cy="592531"/>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کلید «تصویر چک در چاپ هم بیاید» معمولاً خاموش می‌ماند تا فقط متن چاپ شود.</a:t>
            </a:r>
            <a:endParaRPr lang="en-US" sz="1200" dirty="0"/>
          </a:p>
        </p:txBody>
      </p:sp>
      <p:sp>
        <p:nvSpPr>
          <p:cNvPr id="17" name="Shape 14"/>
          <p:cNvSpPr/>
          <p:nvPr/>
        </p:nvSpPr>
        <p:spPr>
          <a:xfrm>
            <a:off x="411480" y="4308653"/>
            <a:ext cx="3666744" cy="1159459"/>
          </a:xfrm>
          <a:prstGeom prst="roundRect">
            <a:avLst>
              <a:gd name="adj" fmla="val 7886"/>
            </a:avLst>
          </a:prstGeom>
          <a:solidFill>
            <a:srgbClr val="FFFFFF"/>
          </a:solidFill>
          <a:ln w="6350">
            <a:solidFill>
              <a:srgbClr val="D9DEE7"/>
            </a:solidFill>
            <a:prstDash val="solid"/>
          </a:ln>
        </p:spPr>
      </p:sp>
      <p:sp>
        <p:nvSpPr>
          <p:cNvPr id="18" name="Shape 15"/>
          <p:cNvSpPr/>
          <p:nvPr/>
        </p:nvSpPr>
        <p:spPr>
          <a:xfrm>
            <a:off x="3621024" y="4418381"/>
            <a:ext cx="329184" cy="329184"/>
          </a:xfrm>
          <a:prstGeom prst="ellipse">
            <a:avLst/>
          </a:prstGeom>
          <a:solidFill>
            <a:srgbClr val="C9A227"/>
          </a:solidFill>
          <a:ln w="12700">
            <a:solidFill>
              <a:srgbClr val="C9A227"/>
            </a:solidFill>
            <a:prstDash val="solid"/>
          </a:ln>
        </p:spPr>
      </p:sp>
      <p:sp>
        <p:nvSpPr>
          <p:cNvPr id="19" name="Text 16"/>
          <p:cNvSpPr/>
          <p:nvPr/>
        </p:nvSpPr>
        <p:spPr>
          <a:xfrm>
            <a:off x="3621024" y="441838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548640" y="4400093"/>
            <a:ext cx="3026664"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چاپ چک</a:t>
            </a:r>
            <a:endParaRPr lang="en-US" sz="1350" dirty="0"/>
          </a:p>
        </p:txBody>
      </p:sp>
      <p:sp>
        <p:nvSpPr>
          <p:cNvPr id="21" name="Text 18"/>
          <p:cNvSpPr/>
          <p:nvPr/>
        </p:nvSpPr>
        <p:spPr>
          <a:xfrm>
            <a:off x="548640" y="4839005"/>
            <a:ext cx="3392424" cy="592531"/>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برگ چک را در چاپگر بگذارید و «چاپ چک» را بزنید؛ چک «چاپ شده» ثبت می‌شود.</a:t>
            </a:r>
            <a:endParaRPr lang="en-US" sz="1200" dirty="0"/>
          </a:p>
        </p:txBody>
      </p:sp>
      <p:sp>
        <p:nvSpPr>
          <p:cNvPr id="22" name="Shape 19"/>
          <p:cNvSpPr/>
          <p:nvPr/>
        </p:nvSpPr>
        <p:spPr>
          <a:xfrm>
            <a:off x="411480" y="5669280"/>
            <a:ext cx="11365992" cy="685800"/>
          </a:xfrm>
          <a:prstGeom prst="roundRect">
            <a:avLst>
              <a:gd name="adj" fmla="val 10667"/>
            </a:avLst>
          </a:prstGeom>
          <a:solidFill>
            <a:srgbClr val="E3F3EA"/>
          </a:solidFill>
          <a:ln w="9525">
            <a:solidFill>
              <a:srgbClr val="1E7A4C"/>
            </a:solidFill>
            <a:prstDash val="solid"/>
          </a:ln>
        </p:spPr>
      </p:sp>
      <p:sp>
        <p:nvSpPr>
          <p:cNvPr id="23" name="Text 20"/>
          <p:cNvSpPr/>
          <p:nvPr/>
        </p:nvSpPr>
        <p:spPr>
          <a:xfrm>
            <a:off x="10863072" y="5669280"/>
            <a:ext cx="822960" cy="685800"/>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24" name="Text 21"/>
          <p:cNvSpPr/>
          <p:nvPr/>
        </p:nvSpPr>
        <p:spPr>
          <a:xfrm>
            <a:off x="548640" y="5669280"/>
            <a:ext cx="10241280" cy="68580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چک ۳۴۵۶۰۰۲: «نهم مهر یک هزار و چهارصد و پنج»، «یک میلیارد و دویست و پنجاه میلیون ریال» در وجه شرکت تأسیسات نوین ساختمان.</a:t>
            </a:r>
            <a:endParaRPr lang="en-US" sz="1250" dirty="0"/>
          </a:p>
        </p:txBody>
      </p:sp>
      <p:sp>
        <p:nvSpPr>
          <p:cNvPr id="25" name="Text 2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۷۸</a:t>
            </a:r>
            <a:endParaRPr lang="en-US" sz="1000" dirty="0"/>
          </a:p>
        </p:txBody>
      </p:sp>
      <p:sp>
        <p:nvSpPr>
          <p:cNvPr id="26" name="Text 2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۷ — کارت حساب جاری و مغایرت‌گیری</a:t>
            </a:r>
            <a:endParaRPr lang="en-US" sz="2500" dirty="0"/>
          </a:p>
        </p:txBody>
      </p:sp>
      <p:sp>
        <p:nvSpPr>
          <p:cNvPr id="3" name="Shape 1"/>
          <p:cNvSpPr/>
          <p:nvPr/>
        </p:nvSpPr>
        <p:spPr>
          <a:xfrm>
            <a:off x="9349740" y="896112"/>
            <a:ext cx="242773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459468" y="896112"/>
            <a:ext cx="220827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کارت حساب جاری</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ردیف‌های بانک در مهر</a:t>
            </a:r>
            <a:endParaRPr lang="en-US" sz="1200" dirty="0"/>
          </a:p>
        </p:txBody>
      </p:sp>
      <p:sp>
        <p:nvSpPr>
          <p:cNvPr id="6" name="Shape 4"/>
          <p:cNvSpPr/>
          <p:nvPr/>
        </p:nvSpPr>
        <p:spPr>
          <a:xfrm>
            <a:off x="6208776"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bk09">    </p:cNvPr>
          <p:cNvPicPr>
            <a:picLocks noChangeAspect="1"/>
          </p:cNvPicPr>
          <p:nvPr/>
        </p:nvPicPr>
        <p:blipFill>
          <a:blip r:embed="rId1"/>
          <a:stretch>
            <a:fillRect/>
          </a:stretch>
        </p:blipFill>
        <p:spPr>
          <a:xfrm>
            <a:off x="6859957" y="1664208"/>
            <a:ext cx="4266333" cy="2374925"/>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ردیف جدید (ورود دستی)</a:t>
            </a:r>
            <a:endParaRPr lang="en-US" sz="1200" dirty="0"/>
          </a:p>
        </p:txBody>
      </p:sp>
      <p:sp>
        <p:nvSpPr>
          <p:cNvPr id="9" name="Shape 6"/>
          <p:cNvSpPr/>
          <p:nvPr/>
        </p:nvSpPr>
        <p:spPr>
          <a:xfrm>
            <a:off x="411480"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bk10">    </p:cNvPr>
          <p:cNvPicPr>
            <a:picLocks noChangeAspect="1"/>
          </p:cNvPicPr>
          <p:nvPr/>
        </p:nvPicPr>
        <p:blipFill>
          <a:blip r:embed="rId2"/>
          <a:stretch>
            <a:fillRect/>
          </a:stretch>
        </p:blipFill>
        <p:spPr>
          <a:xfrm>
            <a:off x="1774714" y="1664208"/>
            <a:ext cx="2842229" cy="2374925"/>
          </a:xfrm>
          <a:prstGeom prst="rect">
            <a:avLst/>
          </a:prstGeom>
        </p:spPr>
      </p:pic>
      <p:sp>
        <p:nvSpPr>
          <p:cNvPr id="11" name="Shape 7"/>
          <p:cNvSpPr/>
          <p:nvPr/>
        </p:nvSpPr>
        <p:spPr>
          <a:xfrm>
            <a:off x="9038844" y="4267733"/>
            <a:ext cx="2738628" cy="1291819"/>
          </a:xfrm>
          <a:prstGeom prst="roundRect">
            <a:avLst>
              <a:gd name="adj" fmla="val 5663"/>
            </a:avLst>
          </a:prstGeom>
          <a:solidFill>
            <a:srgbClr val="FFFFFF"/>
          </a:solidFill>
          <a:ln w="6350">
            <a:solidFill>
              <a:srgbClr val="D9DEE7"/>
            </a:solidFill>
            <a:prstDash val="solid"/>
          </a:ln>
        </p:spPr>
      </p:sp>
      <p:sp>
        <p:nvSpPr>
          <p:cNvPr id="12" name="Shape 8"/>
          <p:cNvSpPr/>
          <p:nvPr/>
        </p:nvSpPr>
        <p:spPr>
          <a:xfrm>
            <a:off x="11356848" y="4359173"/>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حساب و ماه</a:t>
            </a:r>
            <a:endParaRPr lang="en-US" sz="1300" dirty="0"/>
          </a:p>
        </p:txBody>
      </p:sp>
      <p:sp>
        <p:nvSpPr>
          <p:cNvPr id="15" name="Text 11"/>
          <p:cNvSpPr/>
          <p:nvPr/>
        </p:nvSpPr>
        <p:spPr>
          <a:xfrm>
            <a:off x="9148572"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حساب جاری و ماه را انتخاب کنید؛ ردیف‌های صورت‌حساب بانک می‌آیند.</a:t>
            </a:r>
            <a:endParaRPr lang="en-US" sz="1150" dirty="0"/>
          </a:p>
        </p:txBody>
      </p:sp>
      <p:sp>
        <p:nvSpPr>
          <p:cNvPr id="16" name="Shape 12"/>
          <p:cNvSpPr/>
          <p:nvPr/>
        </p:nvSpPr>
        <p:spPr>
          <a:xfrm>
            <a:off x="6163056" y="4267733"/>
            <a:ext cx="2738628" cy="1291819"/>
          </a:xfrm>
          <a:prstGeom prst="roundRect">
            <a:avLst>
              <a:gd name="adj" fmla="val 5663"/>
            </a:avLst>
          </a:prstGeom>
          <a:solidFill>
            <a:srgbClr val="FFFFFF"/>
          </a:solidFill>
          <a:ln w="6350">
            <a:solidFill>
              <a:srgbClr val="D9DEE7"/>
            </a:solidFill>
            <a:prstDash val="solid"/>
          </a:ln>
        </p:spPr>
      </p:sp>
      <p:sp>
        <p:nvSpPr>
          <p:cNvPr id="17" name="Shape 13"/>
          <p:cNvSpPr/>
          <p:nvPr/>
        </p:nvSpPr>
        <p:spPr>
          <a:xfrm>
            <a:off x="8481060" y="4359173"/>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ورود ردیف‌ها</a:t>
            </a:r>
            <a:endParaRPr lang="en-US" sz="1300" dirty="0"/>
          </a:p>
        </p:txBody>
      </p:sp>
      <p:sp>
        <p:nvSpPr>
          <p:cNvPr id="20" name="Text 16"/>
          <p:cNvSpPr/>
          <p:nvPr/>
        </p:nvSpPr>
        <p:spPr>
          <a:xfrm>
            <a:off x="6272784"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دیسکت بانک (STM001) را بارگذاری کنید یا «ردیف جدید» را دستی بزنید.</a:t>
            </a:r>
            <a:endParaRPr lang="en-US" sz="1150" dirty="0"/>
          </a:p>
        </p:txBody>
      </p:sp>
      <p:sp>
        <p:nvSpPr>
          <p:cNvPr id="21" name="Shape 17"/>
          <p:cNvSpPr/>
          <p:nvPr/>
        </p:nvSpPr>
        <p:spPr>
          <a:xfrm>
            <a:off x="3287268" y="4267733"/>
            <a:ext cx="2738628" cy="1291819"/>
          </a:xfrm>
          <a:prstGeom prst="roundRect">
            <a:avLst>
              <a:gd name="adj" fmla="val 5663"/>
            </a:avLst>
          </a:prstGeom>
          <a:solidFill>
            <a:srgbClr val="FFFFFF"/>
          </a:solidFill>
          <a:ln w="6350">
            <a:solidFill>
              <a:srgbClr val="D9DEE7"/>
            </a:solidFill>
            <a:prstDash val="solid"/>
          </a:ln>
        </p:spPr>
      </p:sp>
      <p:sp>
        <p:nvSpPr>
          <p:cNvPr id="22" name="Shape 18"/>
          <p:cNvSpPr/>
          <p:nvPr/>
        </p:nvSpPr>
        <p:spPr>
          <a:xfrm>
            <a:off x="5605272" y="4359173"/>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مغایرت‌گیری</a:t>
            </a:r>
            <a:endParaRPr lang="en-US" sz="1300" dirty="0"/>
          </a:p>
        </p:txBody>
      </p:sp>
      <p:sp>
        <p:nvSpPr>
          <p:cNvPr id="25" name="Text 21"/>
          <p:cNvSpPr/>
          <p:nvPr/>
        </p:nvSpPr>
        <p:spPr>
          <a:xfrm>
            <a:off x="3396996"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ردیف‌ها با شمارهٔ چک/فیش دفتر تطبیق و تاریخ وصول ثبت می‌شود.</a:t>
            </a:r>
            <a:endParaRPr lang="en-US" sz="1150" dirty="0"/>
          </a:p>
        </p:txBody>
      </p:sp>
      <p:sp>
        <p:nvSpPr>
          <p:cNvPr id="26" name="Shape 22"/>
          <p:cNvSpPr/>
          <p:nvPr/>
        </p:nvSpPr>
        <p:spPr>
          <a:xfrm>
            <a:off x="411480" y="4267733"/>
            <a:ext cx="2738628" cy="1291819"/>
          </a:xfrm>
          <a:prstGeom prst="roundRect">
            <a:avLst>
              <a:gd name="adj" fmla="val 5663"/>
            </a:avLst>
          </a:prstGeom>
          <a:solidFill>
            <a:srgbClr val="FFFFFF"/>
          </a:solidFill>
          <a:ln w="6350">
            <a:solidFill>
              <a:srgbClr val="D9DEE7"/>
            </a:solidFill>
            <a:prstDash val="solid"/>
          </a:ln>
        </p:spPr>
      </p:sp>
      <p:sp>
        <p:nvSpPr>
          <p:cNvPr id="27" name="Shape 23"/>
          <p:cNvSpPr/>
          <p:nvPr/>
        </p:nvSpPr>
        <p:spPr>
          <a:xfrm>
            <a:off x="2729484" y="4359173"/>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ردیف‌های «باز»</a:t>
            </a:r>
            <a:endParaRPr lang="en-US" sz="1300" dirty="0"/>
          </a:p>
        </p:txBody>
      </p:sp>
      <p:sp>
        <p:nvSpPr>
          <p:cNvPr id="30" name="Text 26"/>
          <p:cNvSpPr/>
          <p:nvPr/>
        </p:nvSpPr>
        <p:spPr>
          <a:xfrm>
            <a:off x="521208"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در دفتر پیدا نشده‌اند؛ برای ردیف تطبیق‌شده «برگرداندن مغایرت‌گیری» هست.</a:t>
            </a:r>
            <a:endParaRPr lang="en-US" sz="1150" dirty="0"/>
          </a:p>
        </p:txBody>
      </p:sp>
      <p:sp>
        <p:nvSpPr>
          <p:cNvPr id="31" name="Shape 27"/>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ردیف تطبیق‌شده ویرایش و حذف ندارد؛ اول مغایرت‌گیری‌اش را برگردانید.</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۷۹</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۸ — صورت مغایرت ماهانه</a:t>
            </a:r>
            <a:endParaRPr lang="en-US" sz="2500" dirty="0"/>
          </a:p>
        </p:txBody>
      </p:sp>
      <p:sp>
        <p:nvSpPr>
          <p:cNvPr id="3" name="Shape 1"/>
          <p:cNvSpPr/>
          <p:nvPr/>
        </p:nvSpPr>
        <p:spPr>
          <a:xfrm>
            <a:off x="8261604" y="896112"/>
            <a:ext cx="351586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371332" y="896112"/>
            <a:ext cx="329641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کارت حساب جاری ← صورت مغایرت</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k11s">    </p:cNvPr>
          <p:cNvPicPr>
            <a:picLocks noChangeAspect="1"/>
          </p:cNvPicPr>
          <p:nvPr/>
        </p:nvPicPr>
        <p:blipFill>
          <a:blip r:embed="rId1"/>
          <a:stretch>
            <a:fillRect/>
          </a:stretch>
        </p:blipFill>
        <p:spPr>
          <a:xfrm>
            <a:off x="484632" y="2051456"/>
            <a:ext cx="7077456" cy="3578047"/>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ماندهٔ دفتر مهر ۸,۴۵۶,۳۰۰,۰۰۰ ریال است؛ با چهار گروه اقلام باز به ۹,۶۲۳,۵۵۰,۰۰۰ می‌رسد که دقیقاً ماندهٔ بانک است، پس اختلاف صفر است.</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باز کردن</a:t>
            </a:r>
            <a:endParaRPr lang="en-US" sz="1350" dirty="0"/>
          </a:p>
        </p:txBody>
      </p:sp>
      <p:sp>
        <p:nvSpPr>
          <p:cNvPr id="13" name="Text 10"/>
          <p:cNvSpPr/>
          <p:nvPr/>
        </p:nvSpPr>
        <p:spPr>
          <a:xfrm>
            <a:off x="7909560" y="1700784"/>
            <a:ext cx="3392424" cy="242087"/>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در کارت حساب جاری، دکمهٔ «صورت مغایرت» را بزنید.</a:t>
            </a:r>
            <a:endParaRPr lang="en-US" sz="1050" dirty="0"/>
          </a:p>
        </p:txBody>
      </p:sp>
      <p:sp>
        <p:nvSpPr>
          <p:cNvPr id="14" name="Shape 11"/>
          <p:cNvSpPr/>
          <p:nvPr/>
        </p:nvSpPr>
        <p:spPr>
          <a:xfrm>
            <a:off x="11411712" y="1997735"/>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199773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1997735"/>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مانده بانک</a:t>
            </a:r>
            <a:endParaRPr lang="en-US" sz="1350" dirty="0"/>
          </a:p>
        </p:txBody>
      </p:sp>
      <p:sp>
        <p:nvSpPr>
          <p:cNvPr id="17" name="Text 14"/>
          <p:cNvSpPr/>
          <p:nvPr/>
        </p:nvSpPr>
        <p:spPr>
          <a:xfrm>
            <a:off x="7909560" y="2326919"/>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ماندهٔ پایان ماه را از صورت‌حساب کاغذی بانک در کادر بالا بنویسید.</a:t>
            </a:r>
            <a:endParaRPr lang="en-US" sz="1050" dirty="0"/>
          </a:p>
        </p:txBody>
      </p:sp>
      <p:sp>
        <p:nvSpPr>
          <p:cNvPr id="18" name="Shape 15"/>
          <p:cNvSpPr/>
          <p:nvPr/>
        </p:nvSpPr>
        <p:spPr>
          <a:xfrm>
            <a:off x="11411712" y="2811094"/>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281109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281109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خواندن جدول</a:t>
            </a:r>
            <a:endParaRPr lang="en-US" sz="1350" dirty="0"/>
          </a:p>
        </p:txBody>
      </p:sp>
      <p:sp>
        <p:nvSpPr>
          <p:cNvPr id="21" name="Text 18"/>
          <p:cNvSpPr/>
          <p:nvPr/>
        </p:nvSpPr>
        <p:spPr>
          <a:xfrm>
            <a:off x="7909560" y="3140278"/>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از ماندهٔ دفتر، چهار گروه اقلام باز کم یا زیاد می‌شود تا «مانده تعدیل‌شده» بدست آید.</a:t>
            </a:r>
            <a:endParaRPr lang="en-US" sz="1050" dirty="0"/>
          </a:p>
        </p:txBody>
      </p:sp>
      <p:sp>
        <p:nvSpPr>
          <p:cNvPr id="22" name="Shape 19"/>
          <p:cNvSpPr/>
          <p:nvPr/>
        </p:nvSpPr>
        <p:spPr>
          <a:xfrm>
            <a:off x="11411712" y="3624453"/>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62445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62445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اختلاف</a:t>
            </a:r>
            <a:endParaRPr lang="en-US" sz="1350" dirty="0"/>
          </a:p>
        </p:txBody>
      </p:sp>
      <p:sp>
        <p:nvSpPr>
          <p:cNvPr id="25" name="Text 22"/>
          <p:cNvSpPr/>
          <p:nvPr/>
        </p:nvSpPr>
        <p:spPr>
          <a:xfrm>
            <a:off x="7909560" y="3953637"/>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«اختلاف توضیح‌داده‌نشده» صفر (سبز) یعنی همه چیز روشن است.</a:t>
            </a:r>
            <a:endParaRPr lang="en-US" sz="1050" dirty="0"/>
          </a:p>
        </p:txBody>
      </p:sp>
      <p:sp>
        <p:nvSpPr>
          <p:cNvPr id="26" name="Shape 23"/>
          <p:cNvSpPr/>
          <p:nvPr/>
        </p:nvSpPr>
        <p:spPr>
          <a:xfrm>
            <a:off x="11411712" y="4437812"/>
            <a:ext cx="329184" cy="329184"/>
          </a:xfrm>
          <a:prstGeom prst="ellipse">
            <a:avLst/>
          </a:prstGeom>
          <a:solidFill>
            <a:srgbClr val="C9A227"/>
          </a:solidFill>
          <a:ln w="12700">
            <a:solidFill>
              <a:srgbClr val="C9A227"/>
            </a:solidFill>
            <a:prstDash val="solid"/>
          </a:ln>
        </p:spPr>
      </p:sp>
      <p:sp>
        <p:nvSpPr>
          <p:cNvPr id="27" name="Text 24"/>
          <p:cNvSpPr/>
          <p:nvPr/>
        </p:nvSpPr>
        <p:spPr>
          <a:xfrm>
            <a:off x="11411712" y="443781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8" name="Text 25"/>
          <p:cNvSpPr/>
          <p:nvPr/>
        </p:nvSpPr>
        <p:spPr>
          <a:xfrm>
            <a:off x="7909560" y="443781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چاپ / PDF</a:t>
            </a:r>
            <a:endParaRPr lang="en-US" sz="1350" dirty="0"/>
          </a:p>
        </p:txBody>
      </p:sp>
      <p:sp>
        <p:nvSpPr>
          <p:cNvPr id="29" name="Text 26"/>
          <p:cNvSpPr/>
          <p:nvPr/>
        </p:nvSpPr>
        <p:spPr>
          <a:xfrm>
            <a:off x="7909560" y="4766996"/>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برای امضای تهیه‌کننده، رئیس حسابداری و مدیر مالی چاپ کنید.</a:t>
            </a:r>
            <a:endParaRPr lang="en-US" sz="1050" dirty="0"/>
          </a:p>
        </p:txBody>
      </p:sp>
      <p:sp>
        <p:nvSpPr>
          <p:cNvPr id="30"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۸۰</a:t>
            </a:r>
            <a:endParaRPr lang="en-US" sz="1000" dirty="0"/>
          </a:p>
        </p:txBody>
      </p:sp>
      <p:sp>
        <p:nvSpPr>
          <p:cNvPr id="31"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۹ — کارتابل اسناد اعلامیه</a:t>
            </a:r>
            <a:endParaRPr lang="en-US" sz="2500" dirty="0"/>
          </a:p>
        </p:txBody>
      </p:sp>
      <p:sp>
        <p:nvSpPr>
          <p:cNvPr id="3" name="Shape 1"/>
          <p:cNvSpPr/>
          <p:nvPr/>
        </p:nvSpPr>
        <p:spPr>
          <a:xfrm>
            <a:off x="9427464" y="896112"/>
            <a:ext cx="235000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537192" y="896112"/>
            <a:ext cx="213055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اسناد اعلامیه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k12s">    </p:cNvPr>
          <p:cNvPicPr>
            <a:picLocks noChangeAspect="1"/>
          </p:cNvPicPr>
          <p:nvPr/>
        </p:nvPicPr>
        <p:blipFill>
          <a:blip r:embed="rId1"/>
          <a:stretch>
            <a:fillRect/>
          </a:stretch>
        </p:blipFill>
        <p:spPr>
          <a:xfrm>
            <a:off x="484632" y="2110435"/>
            <a:ext cx="7077456" cy="3460090"/>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اعلامیهٔ ۱۴۰۵۰۰۱۵ برای اداره کل فارس هنوز «تهیه» است؛ ۱۴۰۵۰۰۱۳ «تأیید اولیه» شده و منتظر ارسال است.</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زبانه‌ها</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سایر اعلامیه‌ها — صادره، سایر اعلامیه‌ها — رسیده، و اعلامیهٔ درآمد.</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اعلامیهٔ جدید</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دکمهٔ بالای صفحه؛ در زبانهٔ رسیده نیست چون رسیده‌ها خودکار می‌آیند.</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آیکن‌ها به ترتیب</a:t>
            </a:r>
            <a:endParaRPr lang="en-US" sz="1350" dirty="0"/>
          </a:p>
        </p:txBody>
      </p:sp>
      <p:sp>
        <p:nvSpPr>
          <p:cNvPr id="21" name="Text 18"/>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صدور سند ← تأیید اولیه (✓) ← تأیید نهایی و ارسال (✓✓).</a:t>
            </a:r>
            <a:endParaRPr lang="en-US" sz="1300" dirty="0"/>
          </a:p>
        </p:txBody>
      </p:sp>
      <p:sp>
        <p:nvSpPr>
          <p:cNvPr id="22" name="Shape 19"/>
          <p:cNvSpPr/>
          <p:nvPr/>
        </p:nvSpPr>
        <p:spPr>
          <a:xfrm>
            <a:off x="11411712" y="4079138"/>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791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791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حذف و ویرایش</a:t>
            </a:r>
            <a:endParaRPr lang="en-US" sz="1350" dirty="0"/>
          </a:p>
        </p:txBody>
      </p:sp>
      <p:sp>
        <p:nvSpPr>
          <p:cNvPr id="25" name="Text 22"/>
          <p:cNvSpPr/>
          <p:nvPr/>
        </p:nvSpPr>
        <p:spPr>
          <a:xfrm>
            <a:off x="7909560" y="4408322"/>
            <a:ext cx="339242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فقط اعلامیهٔ «تهیه» که هنوز سند ندارد.</a:t>
            </a:r>
            <a:endParaRPr lang="en-US" sz="13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۸۱</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۱۰ — ثبت اعلامیهٔ صادره</a:t>
            </a:r>
            <a:endParaRPr lang="en-US" sz="2500" dirty="0"/>
          </a:p>
        </p:txBody>
      </p:sp>
      <p:sp>
        <p:nvSpPr>
          <p:cNvPr id="3" name="Shape 1"/>
          <p:cNvSpPr/>
          <p:nvPr/>
        </p:nvSpPr>
        <p:spPr>
          <a:xfrm>
            <a:off x="8183880" y="896112"/>
            <a:ext cx="359359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293608" y="896112"/>
            <a:ext cx="337413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اسناد اعلامیه ← اعلامیهٔ جدید</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bk13">    </p:cNvPr>
          <p:cNvPicPr>
            <a:picLocks noChangeAspect="1"/>
          </p:cNvPicPr>
          <p:nvPr/>
        </p:nvPicPr>
        <p:blipFill>
          <a:blip r:embed="rId1"/>
          <a:stretch>
            <a:fillRect/>
          </a:stretch>
        </p:blipFill>
        <p:spPr>
          <a:xfrm>
            <a:off x="1346986" y="1399032"/>
            <a:ext cx="5352748" cy="4882896"/>
          </a:xfrm>
          <a:prstGeom prst="rect">
            <a:avLst/>
          </a:prstGeom>
        </p:spPr>
      </p:pic>
      <p:sp>
        <p:nvSpPr>
          <p:cNvPr id="7" name="Shape 4"/>
          <p:cNvSpPr/>
          <p:nvPr/>
        </p:nvSpPr>
        <p:spPr>
          <a:xfrm>
            <a:off x="7909560" y="5451653"/>
            <a:ext cx="3867912" cy="903427"/>
          </a:xfrm>
          <a:prstGeom prst="roundRect">
            <a:avLst>
              <a:gd name="adj" fmla="val 8097"/>
            </a:avLst>
          </a:prstGeom>
          <a:solidFill>
            <a:srgbClr val="E3F3EA"/>
          </a:solidFill>
          <a:ln w="9525">
            <a:solidFill>
              <a:srgbClr val="1E7A4C"/>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تخصیص ملزومات فارس: ۳۰۰,۰۰۰,۰۰۰ از بانک ملی + ۱۲۰,۰۰۰,۰۰۰ از بانک رفاه = ۴۲۰,۰۰۰,۰۰۰ ریال.</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سربرگ</a:t>
            </a:r>
            <a:endParaRPr lang="en-US" sz="1350" dirty="0"/>
          </a:p>
        </p:txBody>
      </p:sp>
      <p:sp>
        <p:nvSpPr>
          <p:cNvPr id="13" name="Text 10"/>
          <p:cNvSpPr/>
          <p:nvPr/>
        </p:nvSpPr>
        <p:spPr>
          <a:xfrm>
            <a:off x="7909560" y="1700784"/>
            <a:ext cx="3392424" cy="447142"/>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تاریخ، ماهیت، واحد گیرنده و شرح را بدهید؛ دبیرخانه اختیاری است.</a:t>
            </a:r>
            <a:endParaRPr lang="en-US" sz="1100" dirty="0"/>
          </a:p>
        </p:txBody>
      </p:sp>
      <p:sp>
        <p:nvSpPr>
          <p:cNvPr id="14" name="Shape 11"/>
          <p:cNvSpPr/>
          <p:nvPr/>
        </p:nvSpPr>
        <p:spPr>
          <a:xfrm>
            <a:off x="11411712" y="2202790"/>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0279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0279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ماهیت</a:t>
            </a:r>
            <a:endParaRPr lang="en-US" sz="1350" dirty="0"/>
          </a:p>
        </p:txBody>
      </p:sp>
      <p:sp>
        <p:nvSpPr>
          <p:cNvPr id="17" name="Text 14"/>
          <p:cNvSpPr/>
          <p:nvPr/>
        </p:nvSpPr>
        <p:spPr>
          <a:xfrm>
            <a:off x="7909560" y="2531974"/>
            <a:ext cx="3392424" cy="447142"/>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«بدهکار»: ردیف‌ها بستانکار و رابط بدهکار؛ «بستانکار» برعکس.</a:t>
            </a:r>
            <a:endParaRPr lang="en-US" sz="1100" dirty="0"/>
          </a:p>
        </p:txBody>
      </p:sp>
      <p:sp>
        <p:nvSpPr>
          <p:cNvPr id="18" name="Shape 15"/>
          <p:cNvSpPr/>
          <p:nvPr/>
        </p:nvSpPr>
        <p:spPr>
          <a:xfrm>
            <a:off x="11411712" y="3033979"/>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03397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03397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ردیف‌ها</a:t>
            </a:r>
            <a:endParaRPr lang="en-US" sz="1350" dirty="0"/>
          </a:p>
        </p:txBody>
      </p:sp>
      <p:sp>
        <p:nvSpPr>
          <p:cNvPr id="21" name="Text 18"/>
          <p:cNvSpPr/>
          <p:nvPr/>
        </p:nvSpPr>
        <p:spPr>
          <a:xfrm>
            <a:off x="7909560" y="3363163"/>
            <a:ext cx="3392424" cy="447142"/>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معین، مبلغ و تفصیلی‌های لازم (مثل حساب بانکی) را برای هر ردیف وارد کنید.</a:t>
            </a:r>
            <a:endParaRPr lang="en-US" sz="1100" dirty="0"/>
          </a:p>
        </p:txBody>
      </p:sp>
      <p:sp>
        <p:nvSpPr>
          <p:cNvPr id="22" name="Shape 19"/>
          <p:cNvSpPr/>
          <p:nvPr/>
        </p:nvSpPr>
        <p:spPr>
          <a:xfrm>
            <a:off x="11411712" y="3865169"/>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86516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86516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جمع ردیف‌ها</a:t>
            </a:r>
            <a:endParaRPr lang="en-US" sz="1350" dirty="0"/>
          </a:p>
        </p:txBody>
      </p:sp>
      <p:sp>
        <p:nvSpPr>
          <p:cNvPr id="25" name="Text 22"/>
          <p:cNvSpPr/>
          <p:nvPr/>
        </p:nvSpPr>
        <p:spPr>
          <a:xfrm>
            <a:off x="7909560" y="4194353"/>
            <a:ext cx="3392424" cy="447142"/>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پایین صفحه؛ رابط هنگام صدور سند به همین مبلغ ساخته می‌شود.</a:t>
            </a:r>
            <a:endParaRPr lang="en-US" sz="1100" dirty="0"/>
          </a:p>
        </p:txBody>
      </p:sp>
      <p:sp>
        <p:nvSpPr>
          <p:cNvPr id="26" name="Shape 23"/>
          <p:cNvSpPr/>
          <p:nvPr/>
        </p:nvSpPr>
        <p:spPr>
          <a:xfrm>
            <a:off x="11411712" y="4696358"/>
            <a:ext cx="329184" cy="329184"/>
          </a:xfrm>
          <a:prstGeom prst="ellipse">
            <a:avLst/>
          </a:prstGeom>
          <a:solidFill>
            <a:srgbClr val="C9A227"/>
          </a:solidFill>
          <a:ln w="12700">
            <a:solidFill>
              <a:srgbClr val="C9A227"/>
            </a:solidFill>
            <a:prstDash val="solid"/>
          </a:ln>
        </p:spPr>
      </p:sp>
      <p:sp>
        <p:nvSpPr>
          <p:cNvPr id="27" name="Text 24"/>
          <p:cNvSpPr/>
          <p:nvPr/>
        </p:nvSpPr>
        <p:spPr>
          <a:xfrm>
            <a:off x="11411712" y="469635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8" name="Text 25"/>
          <p:cNvSpPr/>
          <p:nvPr/>
        </p:nvSpPr>
        <p:spPr>
          <a:xfrm>
            <a:off x="7909560" y="469635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ثبت اعلامیه</a:t>
            </a:r>
            <a:endParaRPr lang="en-US" sz="1350" dirty="0"/>
          </a:p>
        </p:txBody>
      </p:sp>
      <p:sp>
        <p:nvSpPr>
          <p:cNvPr id="29" name="Text 26"/>
          <p:cNvSpPr/>
          <p:nvPr/>
        </p:nvSpPr>
        <p:spPr>
          <a:xfrm>
            <a:off x="7909560" y="5025542"/>
            <a:ext cx="3392424" cy="251003"/>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سریال و حساب رابط خودکار تعیین می‌شوند.</a:t>
            </a:r>
            <a:endParaRPr lang="en-US" sz="1100" dirty="0"/>
          </a:p>
        </p:txBody>
      </p:sp>
      <p:sp>
        <p:nvSpPr>
          <p:cNvPr id="30"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۸۲</a:t>
            </a:r>
            <a:endParaRPr lang="en-US" sz="1000" dirty="0"/>
          </a:p>
        </p:txBody>
      </p:sp>
      <p:sp>
        <p:nvSpPr>
          <p:cNvPr id="31"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۱۱ — ارسال و اعلامیهٔ رسیده</a:t>
            </a:r>
            <a:endParaRPr lang="en-US" sz="2500" dirty="0"/>
          </a:p>
        </p:txBody>
      </p:sp>
      <p:sp>
        <p:nvSpPr>
          <p:cNvPr id="3" name="Shape 1"/>
          <p:cNvSpPr/>
          <p:nvPr/>
        </p:nvSpPr>
        <p:spPr>
          <a:xfrm>
            <a:off x="9427464" y="896112"/>
            <a:ext cx="235000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537192" y="896112"/>
            <a:ext cx="213055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عملیات ← اسناد اعلامیه</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تأیید نهایی و ارسال</a:t>
            </a:r>
            <a:endParaRPr lang="en-US" sz="1200" dirty="0"/>
          </a:p>
        </p:txBody>
      </p:sp>
      <p:sp>
        <p:nvSpPr>
          <p:cNvPr id="6" name="Shape 4"/>
          <p:cNvSpPr/>
          <p:nvPr/>
        </p:nvSpPr>
        <p:spPr>
          <a:xfrm>
            <a:off x="6208776" y="1618488"/>
            <a:ext cx="5568696" cy="2504542"/>
          </a:xfrm>
          <a:prstGeom prst="roundRect">
            <a:avLst>
              <a:gd name="adj" fmla="val 292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bk14">    </p:cNvPr>
          <p:cNvPicPr>
            <a:picLocks noChangeAspect="1"/>
          </p:cNvPicPr>
          <p:nvPr/>
        </p:nvPicPr>
        <p:blipFill>
          <a:blip r:embed="rId1"/>
          <a:stretch>
            <a:fillRect/>
          </a:stretch>
        </p:blipFill>
        <p:spPr>
          <a:xfrm>
            <a:off x="6254496" y="1927042"/>
            <a:ext cx="5477256" cy="1887433"/>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زبانهٔ رسیده</a:t>
            </a:r>
            <a:endParaRPr lang="en-US" sz="1200" dirty="0"/>
          </a:p>
        </p:txBody>
      </p:sp>
      <p:sp>
        <p:nvSpPr>
          <p:cNvPr id="9" name="Shape 6"/>
          <p:cNvSpPr/>
          <p:nvPr/>
        </p:nvSpPr>
        <p:spPr>
          <a:xfrm>
            <a:off x="411480" y="1618488"/>
            <a:ext cx="5568696" cy="2504542"/>
          </a:xfrm>
          <a:prstGeom prst="roundRect">
            <a:avLst>
              <a:gd name="adj" fmla="val 292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bk15s">    </p:cNvPr>
          <p:cNvPicPr>
            <a:picLocks noChangeAspect="1"/>
          </p:cNvPicPr>
          <p:nvPr/>
        </p:nvPicPr>
        <p:blipFill>
          <a:blip r:embed="rId2"/>
          <a:stretch>
            <a:fillRect/>
          </a:stretch>
        </p:blipFill>
        <p:spPr>
          <a:xfrm>
            <a:off x="457200" y="1684020"/>
            <a:ext cx="5477256" cy="2373478"/>
          </a:xfrm>
          <a:prstGeom prst="rect">
            <a:avLst/>
          </a:prstGeom>
        </p:spPr>
      </p:pic>
      <p:sp>
        <p:nvSpPr>
          <p:cNvPr id="11" name="Shape 7"/>
          <p:cNvSpPr/>
          <p:nvPr/>
        </p:nvSpPr>
        <p:spPr>
          <a:xfrm>
            <a:off x="9038844" y="4305910"/>
            <a:ext cx="2738628" cy="1253642"/>
          </a:xfrm>
          <a:prstGeom prst="roundRect">
            <a:avLst>
              <a:gd name="adj" fmla="val 5835"/>
            </a:avLst>
          </a:prstGeom>
          <a:solidFill>
            <a:srgbClr val="FFFFFF"/>
          </a:solidFill>
          <a:ln w="6350">
            <a:solidFill>
              <a:srgbClr val="D9DEE7"/>
            </a:solidFill>
            <a:prstDash val="solid"/>
          </a:ln>
        </p:spPr>
      </p:sp>
      <p:sp>
        <p:nvSpPr>
          <p:cNvPr id="12" name="Shape 8"/>
          <p:cNvSpPr/>
          <p:nvPr/>
        </p:nvSpPr>
        <p:spPr>
          <a:xfrm>
            <a:off x="11356848" y="4397350"/>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973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379062"/>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تأیید نهایی</a:t>
            </a:r>
            <a:endParaRPr lang="en-US" sz="1300" dirty="0"/>
          </a:p>
        </p:txBody>
      </p:sp>
      <p:sp>
        <p:nvSpPr>
          <p:cNvPr id="15" name="Text 11"/>
          <p:cNvSpPr/>
          <p:nvPr/>
        </p:nvSpPr>
        <p:spPr>
          <a:xfrm>
            <a:off x="9148572" y="4781398"/>
            <a:ext cx="2519172" cy="723290"/>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پس از تأیید اولیه، آیکن ✓✓ را بزنید؛ این کار برگشت‌پذیر نیست.</a:t>
            </a:r>
            <a:endParaRPr lang="en-US" sz="1150" dirty="0"/>
          </a:p>
        </p:txBody>
      </p:sp>
      <p:sp>
        <p:nvSpPr>
          <p:cNvPr id="16" name="Shape 12"/>
          <p:cNvSpPr/>
          <p:nvPr/>
        </p:nvSpPr>
        <p:spPr>
          <a:xfrm>
            <a:off x="6163056" y="4305910"/>
            <a:ext cx="2738628" cy="1253642"/>
          </a:xfrm>
          <a:prstGeom prst="roundRect">
            <a:avLst>
              <a:gd name="adj" fmla="val 5835"/>
            </a:avLst>
          </a:prstGeom>
          <a:solidFill>
            <a:srgbClr val="FFFFFF"/>
          </a:solidFill>
          <a:ln w="6350">
            <a:solidFill>
              <a:srgbClr val="D9DEE7"/>
            </a:solidFill>
            <a:prstDash val="solid"/>
          </a:ln>
        </p:spPr>
      </p:sp>
      <p:sp>
        <p:nvSpPr>
          <p:cNvPr id="17" name="Shape 13"/>
          <p:cNvSpPr/>
          <p:nvPr/>
        </p:nvSpPr>
        <p:spPr>
          <a:xfrm>
            <a:off x="8481060" y="4397350"/>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3973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379062"/>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در واحد گیرنده</a:t>
            </a:r>
            <a:endParaRPr lang="en-US" sz="1300" dirty="0"/>
          </a:p>
        </p:txBody>
      </p:sp>
      <p:sp>
        <p:nvSpPr>
          <p:cNvPr id="20" name="Text 16"/>
          <p:cNvSpPr/>
          <p:nvPr/>
        </p:nvSpPr>
        <p:spPr>
          <a:xfrm>
            <a:off x="6272784" y="4781398"/>
            <a:ext cx="2519172" cy="723290"/>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اعلامیهٔ رسیده با سند خودکار در زبانهٔ «رسیده» ظاهر می‌شود.</a:t>
            </a:r>
            <a:endParaRPr lang="en-US" sz="1150" dirty="0"/>
          </a:p>
        </p:txBody>
      </p:sp>
      <p:sp>
        <p:nvSpPr>
          <p:cNvPr id="21" name="Shape 17"/>
          <p:cNvSpPr/>
          <p:nvPr/>
        </p:nvSpPr>
        <p:spPr>
          <a:xfrm>
            <a:off x="3287268" y="4305910"/>
            <a:ext cx="2738628" cy="1253642"/>
          </a:xfrm>
          <a:prstGeom prst="roundRect">
            <a:avLst>
              <a:gd name="adj" fmla="val 5835"/>
            </a:avLst>
          </a:prstGeom>
          <a:solidFill>
            <a:srgbClr val="FFFFFF"/>
          </a:solidFill>
          <a:ln w="6350">
            <a:solidFill>
              <a:srgbClr val="D9DEE7"/>
            </a:solidFill>
            <a:prstDash val="solid"/>
          </a:ln>
        </p:spPr>
      </p:sp>
      <p:sp>
        <p:nvSpPr>
          <p:cNvPr id="22" name="Shape 18"/>
          <p:cNvSpPr/>
          <p:nvPr/>
        </p:nvSpPr>
        <p:spPr>
          <a:xfrm>
            <a:off x="5605272" y="4397350"/>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3973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379062"/>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رسیدهٔ بدون سند</a:t>
            </a:r>
            <a:endParaRPr lang="en-US" sz="1300" dirty="0"/>
          </a:p>
        </p:txBody>
      </p:sp>
      <p:sp>
        <p:nvSpPr>
          <p:cNvPr id="25" name="Text 21"/>
          <p:cNvSpPr/>
          <p:nvPr/>
        </p:nvSpPr>
        <p:spPr>
          <a:xfrm>
            <a:off x="3396996" y="4781398"/>
            <a:ext cx="2519172" cy="723290"/>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اگر وضعیت «دریافت» بود و سند نداشت، آیکن «صدور سند» را بزنید.</a:t>
            </a:r>
            <a:endParaRPr lang="en-US" sz="1150" dirty="0"/>
          </a:p>
        </p:txBody>
      </p:sp>
      <p:sp>
        <p:nvSpPr>
          <p:cNvPr id="26" name="Shape 22"/>
          <p:cNvSpPr/>
          <p:nvPr/>
        </p:nvSpPr>
        <p:spPr>
          <a:xfrm>
            <a:off x="411480" y="4305910"/>
            <a:ext cx="2738628" cy="1253642"/>
          </a:xfrm>
          <a:prstGeom prst="roundRect">
            <a:avLst>
              <a:gd name="adj" fmla="val 5835"/>
            </a:avLst>
          </a:prstGeom>
          <a:solidFill>
            <a:srgbClr val="FFFFFF"/>
          </a:solidFill>
          <a:ln w="6350">
            <a:solidFill>
              <a:srgbClr val="D9DEE7"/>
            </a:solidFill>
            <a:prstDash val="solid"/>
          </a:ln>
        </p:spPr>
      </p:sp>
      <p:sp>
        <p:nvSpPr>
          <p:cNvPr id="27" name="Shape 23"/>
          <p:cNvSpPr/>
          <p:nvPr/>
        </p:nvSpPr>
        <p:spPr>
          <a:xfrm>
            <a:off x="2729484" y="4397350"/>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3973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379062"/>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اعلامیهٔ درآمد</a:t>
            </a:r>
            <a:endParaRPr lang="en-US" sz="1300" dirty="0"/>
          </a:p>
        </p:txBody>
      </p:sp>
      <p:sp>
        <p:nvSpPr>
          <p:cNvPr id="30" name="Text 26"/>
          <p:cNvSpPr/>
          <p:nvPr/>
        </p:nvSpPr>
        <p:spPr>
          <a:xfrm>
            <a:off x="521208" y="4781398"/>
            <a:ext cx="2519172" cy="723290"/>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تأیید نهایی آن را به سامانهٔ سبا (درآمد) می‌فرستد.</a:t>
            </a:r>
            <a:endParaRPr lang="en-US" sz="1150" dirty="0"/>
          </a:p>
        </p:txBody>
      </p:sp>
      <p:sp>
        <p:nvSpPr>
          <p:cNvPr id="31" name="Shape 27"/>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اعلامیه‌ای که سند دارد یا ارسال شده فقط قابل مشاهده است (پیام آبی بالای فرم).</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۸۳</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پرسش‌ها و پیام‌های رایج این فصل</a:t>
            </a:r>
            <a:endParaRPr lang="en-US" sz="25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11365992" cy="914400"/>
        </p:xfrm>
        <a:graphic>
          <a:graphicData uri="http://schemas.openxmlformats.org/drawingml/2006/table">
            <a:tbl>
              <a:tblPr rtl="1"/>
              <a:tblGrid>
                <a:gridCol w="4389120"/>
                <a:gridCol w="6976872"/>
              </a:tblGrid>
              <a:tr h="502920">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پیام یا مشکل</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چه باید کرد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«دسته‌چکی با همین بازه شماره برای این حساب بانکی قبلاً ثبت شده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شماره‌ها را با دسته‌چک کاغذی تطبیق دهید؛ احتمالاً دسته‌چک قبلاً ثبت شده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«شماره اولین/آخرین برگه چک الزامی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برای چک واقعی هر دو لازم است؛ برای چک صوری لازم نیست.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اوراق چک خالی است و پیام زرد دارد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دسته‌چک قدیمی است؛ «ساخت اوراق» را بزنید.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دکمهٔ چاپ کنار چک دیده نمی‌شود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چاپ فقط پس از تأیید مدیر واحد («تاییدیه صادر شد») و برای چک ابطال‌نشده فعال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در وجه «وارد نشده»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در سند، ردیف بانک را باز کنید و «در وجه» را تکمیل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دکمهٔ «ثبت» برگشت غیرفعال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«علت برگشت» را بنویسید؛ الزامی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«برای دسته‌چک این چک تنظیمات محیطی چک تعیین نشده»</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در دسته‌چک «نوع دسته‌چک» را انتخاب کنید؛ تا آن موقع اندازهٔ ۱۷۰×۸۵ به کار می‌رود.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ردیف کارت حساب ویرایش/حذف ندارد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تطبیق‌شده است؛ اول «برگرداندن مغایرت‌گیری» را بزنید.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اعلامیهٔ رسیده نیامده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واحد فرستنده باید «تأیید نهایی و ارسال» را زده باشد.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bl>
          </a:graphicData>
        </a:graphic>
      </p:graphicFrame>
      <p:sp>
        <p:nvSpPr>
          <p:cNvPr id="4" name="Text 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۸۴</a:t>
            </a:r>
            <a:endParaRPr lang="en-US" sz="1000" dirty="0"/>
          </a:p>
        </p:txBody>
      </p:sp>
      <p:sp>
        <p:nvSpPr>
          <p:cNvPr id="5" name="Text 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بانک، چک و اعلامیه</a:t>
            </a:r>
            <a:endParaRPr lang="en-US" sz="10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3" name="Image 0" descr="rp_menu">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۵</a:t>
            </a:r>
            <a:endParaRPr lang="en-US" sz="4000" dirty="0"/>
          </a:p>
        </p:txBody>
      </p:sp>
      <p:sp>
        <p:nvSpPr>
          <p:cNvPr id="6" name="Text 3"/>
          <p:cNvSpPr/>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۵</a:t>
            </a:r>
            <a:endParaRPr lang="en-US" sz="1800" dirty="0"/>
          </a:p>
        </p:txBody>
      </p:sp>
      <p:sp>
        <p:nvSpPr>
          <p:cNvPr id="7" name="Text 4"/>
          <p:cNvSpPr/>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600" b="1" dirty="0">
                <a:solidFill>
                  <a:srgbClr val="FFFFFF"/>
                </a:solidFill>
                <a:latin typeface="Tahoma" pitchFamily="34" charset="0"/>
                <a:ea typeface="Tahoma" pitchFamily="34" charset="-122"/>
                <a:cs typeface="Tahoma" pitchFamily="34" charset="-120"/>
              </a:rPr>
              <a:t>گزارش‌ها</a:t>
            </a:r>
            <a:endParaRPr lang="en-US" sz="3600" dirty="0"/>
          </a:p>
        </p:txBody>
      </p:sp>
      <p:sp>
        <p:nvSpPr>
          <p:cNvPr id="8" name="Text 5"/>
          <p:cNvSpPr/>
          <p:nvPr/>
        </p:nvSpPr>
        <p:spPr>
          <a:xfrm>
            <a:off x="5120640" y="4206240"/>
            <a:ext cx="6629400" cy="1463040"/>
          </a:xfrm>
          <a:prstGeom prst="rect">
            <a:avLst/>
          </a:prstGeom>
          <a:noFill/>
          <a:ln/>
        </p:spPr>
        <p:txBody>
          <a:bodyPr wrap="square" lIns="0" tIns="0" rIns="0" bIns="0" rtlCol="0" anchor="t"/>
          <a:lstStyle/>
          <a:p>
            <a:pPr rtl="1" algn="r" indent="0" marL="0">
              <a:buNone/>
            </a:pPr>
            <a:r>
              <a:rPr lang="en-US" sz="1600" dirty="0">
                <a:solidFill>
                  <a:srgbClr val="C9D3E6"/>
                </a:solidFill>
                <a:latin typeface="Tahoma" pitchFamily="34" charset="0"/>
                <a:ea typeface="Tahoma" pitchFamily="34" charset="-122"/>
                <a:cs typeface="Tahoma" pitchFamily="34" charset="-120"/>
              </a:rPr>
              <a:t>همان اسنادی که ثبت کرده‌اید، از زاویه‌های مختلف: دفتر روزنامه، دفتر کل، تراز آزمایشی، مرور حساب‌ها و اسناد، ماتریسی، کنترل شناسه‌ها و لاگ تغییرات</a:t>
            </a:r>
            <a:endParaRPr lang="en-US" sz="1600" dirty="0"/>
          </a:p>
        </p:txBody>
      </p:sp>
      <p:sp>
        <p:nvSpPr>
          <p:cNvPr id="9" name="Text 6"/>
          <p:cNvSpPr/>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گزارش یعنی چه؟ مثال این فصل</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گزارش‌ها چیزی ثبت نمی‌کنند؛ فقط ردیف‌های اسنادی را که قبلاً ثبت شده، به شکل‌های مختلف مرتب و جمع می‌کنند. در همهٔ این فصل یک مثال ثابت داریم: پنج سند اداره کل تهران در مهر ۱۴۰۵.</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بدهکار و بستانکار</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سند دو طرف دارد: حسابی که «بدهکار» می‌شود (مثلاً پول به بانک آمد) و حسابی که «بستانکار» می‌شود (منبع آن پول).</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یک داده، چند نما</a:t>
            </a:r>
            <a:endParaRPr lang="en-US" sz="1350" dirty="0"/>
          </a:p>
        </p:txBody>
      </p:sp>
      <p:sp>
        <p:nvSpPr>
          <p:cNvPr id="12" name="Text 10"/>
          <p:cNvSpPr/>
          <p:nvPr/>
        </p:nvSpPr>
        <p:spPr>
          <a:xfrm>
            <a:off x="5440680" y="352386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دفتر روزنامه به ترتیب زمان، دفتر کل به تفکیک حساب و تراز آزمایشی جمع همه را نشان می‌دهد.</a:t>
            </a:r>
            <a:endParaRPr lang="en-US" sz="1300" dirty="0"/>
          </a:p>
        </p:txBody>
      </p:sp>
      <p:sp>
        <p:nvSpPr>
          <p:cNvPr id="13" name="Shape 11"/>
          <p:cNvSpPr/>
          <p:nvPr/>
        </p:nvSpPr>
        <p:spPr>
          <a:xfrm>
            <a:off x="11411712" y="4097198"/>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09719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097198"/>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اعداد یکی است</a:t>
            </a:r>
            <a:endParaRPr lang="en-US" sz="1350" dirty="0"/>
          </a:p>
        </p:txBody>
      </p:sp>
      <p:sp>
        <p:nvSpPr>
          <p:cNvPr id="16" name="Text 14"/>
          <p:cNvSpPr/>
          <p:nvPr/>
        </p:nvSpPr>
        <p:spPr>
          <a:xfrm>
            <a:off x="5440680" y="4426382"/>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چون همه از همان اسناد می‌آیند، جمع‌ها در همهٔ گزارش‌ها با هم می‌خواند.</a:t>
            </a:r>
            <a:endParaRPr lang="en-US" sz="1300" dirty="0"/>
          </a:p>
        </p:txBody>
      </p:sp>
      <p:sp>
        <p:nvSpPr>
          <p:cNvPr id="17" name="Shape 15"/>
          <p:cNvSpPr/>
          <p:nvPr/>
        </p:nvSpPr>
        <p:spPr>
          <a:xfrm>
            <a:off x="411480" y="1097280"/>
            <a:ext cx="4754880" cy="3426714"/>
          </a:xfrm>
          <a:prstGeom prst="roundRect">
            <a:avLst>
              <a:gd name="adj" fmla="val 2668"/>
            </a:avLst>
          </a:prstGeom>
          <a:solidFill>
            <a:srgbClr val="E3F3EA"/>
          </a:solidFill>
          <a:ln w="9525">
            <a:solidFill>
              <a:srgbClr val="1E7A4C"/>
            </a:solidFill>
            <a:prstDash val="solid"/>
          </a:ln>
        </p:spPr>
      </p:sp>
      <p:sp>
        <p:nvSpPr>
          <p:cNvPr id="18" name="Text 16"/>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پنج سند مهر ۱۴۰۵ — اداره کل تهران</a:t>
            </a:r>
            <a:endParaRPr lang="en-US" sz="15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594360" y="1691640"/>
          <a:ext cx="4389120" cy="914400"/>
        </p:xfrm>
        <a:graphic>
          <a:graphicData uri="http://schemas.openxmlformats.org/drawingml/2006/table">
            <a:tbl>
              <a:tblPr rtl="1"/>
              <a:tblGrid>
                <a:gridCol w="877824"/>
                <a:gridCol w="2106778"/>
                <a:gridCol w="1404518"/>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سند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رویداد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مبلغ (ریال)</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طلب حق بیمه از فولاد البرز</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۶۰۰,۰۰۰,۰۰۰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۱۲۰۲</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وصول بخشی از آن به بانک</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۴۵۰,۰۰۰,۰۰۰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۱۲۰۳</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خرید نوشت‌افزار از بانک</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۳۵,۰۰۰,۰۰۰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۱۲۰۴</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تعمیر ساختمان (پیمانکار)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۱۲۰۵</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پرداخت حقوق مهر از بانک</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۲۸۰,۰۰۰,۰۰۰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bl>
          </a:graphicData>
        </a:graphic>
      </p:graphicFrame>
      <p:sp>
        <p:nvSpPr>
          <p:cNvPr id="20" name="Text 17"/>
          <p:cNvSpPr/>
          <p:nvPr/>
        </p:nvSpPr>
        <p:spPr>
          <a:xfrm>
            <a:off x="594360" y="3803904"/>
            <a:ext cx="4389120" cy="62865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جمع: ۱,۴۸۵,۰۰۰,۰۰۰ ریال؛ همین عدد جمع بدهکار و جمع بستانکار گزارش‌های این فصل است.</a:t>
            </a:r>
            <a:endParaRPr lang="en-US" sz="1250" dirty="0"/>
          </a:p>
        </p:txBody>
      </p:sp>
      <p:sp>
        <p:nvSpPr>
          <p:cNvPr id="21" name="Text 18"/>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۸۶</a:t>
            </a:r>
            <a:endParaRPr lang="en-US" sz="1000" dirty="0"/>
          </a:p>
        </p:txBody>
      </p:sp>
      <p:sp>
        <p:nvSpPr>
          <p:cNvPr id="22" name="Text 19"/>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«گردش» و «مانده» به زبان ساده</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مثل کارت بانکی: «گردش» یعنی همهٔ پولی که در یک بازه وارد یا خارج شده؛ «مانده» یعنی آنچه آخر کار باقی مانده است. حسابداری برای ورود و خروج، دو ستون جدا دارد: بدهکار و بستانکار.</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گردش بدهکار / بستانکار</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جمع ستون بدهکار و جمع ستون بستانکار یک حساب در بازهٔ انتخابی (مثلاً مهر).</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ماندهٔ بدهکار (بد)</a:t>
            </a:r>
            <a:endParaRPr lang="en-US" sz="1350" dirty="0"/>
          </a:p>
        </p:txBody>
      </p:sp>
      <p:sp>
        <p:nvSpPr>
          <p:cNvPr id="12" name="Text 10"/>
          <p:cNvSpPr/>
          <p:nvPr/>
        </p:nvSpPr>
        <p:spPr>
          <a:xfrm>
            <a:off x="5440680" y="352386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بدهکار بیشتر از بستانکار است؛ برای دارایی‌ها و هزینه‌ها طبیعی است (پول در بانک، طلب از دیگران).</a:t>
            </a:r>
            <a:endParaRPr lang="en-US" sz="1300" dirty="0"/>
          </a:p>
        </p:txBody>
      </p:sp>
      <p:sp>
        <p:nvSpPr>
          <p:cNvPr id="13" name="Shape 11"/>
          <p:cNvSpPr/>
          <p:nvPr/>
        </p:nvSpPr>
        <p:spPr>
          <a:xfrm>
            <a:off x="11411712" y="4097198"/>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09719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097198"/>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ماندهٔ بستانکار (بس)</a:t>
            </a:r>
            <a:endParaRPr lang="en-US" sz="1350" dirty="0"/>
          </a:p>
        </p:txBody>
      </p:sp>
      <p:sp>
        <p:nvSpPr>
          <p:cNvPr id="16" name="Text 14"/>
          <p:cNvSpPr/>
          <p:nvPr/>
        </p:nvSpPr>
        <p:spPr>
          <a:xfrm>
            <a:off x="5440680" y="4426382"/>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بستانکار بیشتر است؛ برای بدهی‌ها و درآمدها طبیعی است (بدهی به پیمانکار، درآمد حق بیمه).</a:t>
            </a:r>
            <a:endParaRPr lang="en-US" sz="1300" dirty="0"/>
          </a:p>
        </p:txBody>
      </p:sp>
      <p:sp>
        <p:nvSpPr>
          <p:cNvPr id="17" name="Shape 15"/>
          <p:cNvSpPr/>
          <p:nvPr/>
        </p:nvSpPr>
        <p:spPr>
          <a:xfrm>
            <a:off x="11411712" y="4999711"/>
            <a:ext cx="329184" cy="329184"/>
          </a:xfrm>
          <a:prstGeom prst="ellipse">
            <a:avLst/>
          </a:prstGeom>
          <a:solidFill>
            <a:srgbClr val="C9A227"/>
          </a:solidFill>
          <a:ln w="12700">
            <a:solidFill>
              <a:srgbClr val="C9A227"/>
            </a:solidFill>
            <a:prstDash val="solid"/>
          </a:ln>
        </p:spPr>
      </p:sp>
      <p:sp>
        <p:nvSpPr>
          <p:cNvPr id="18" name="Text 16"/>
          <p:cNvSpPr/>
          <p:nvPr/>
        </p:nvSpPr>
        <p:spPr>
          <a:xfrm>
            <a:off x="11411712" y="499971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7"/>
          <p:cNvSpPr/>
          <p:nvPr/>
        </p:nvSpPr>
        <p:spPr>
          <a:xfrm>
            <a:off x="5440680" y="4999711"/>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ماندهٔ ابتدا و پایان دوره</a:t>
            </a:r>
            <a:endParaRPr lang="en-US" sz="1350" dirty="0"/>
          </a:p>
        </p:txBody>
      </p:sp>
      <p:sp>
        <p:nvSpPr>
          <p:cNvPr id="20" name="Text 18"/>
          <p:cNvSpPr/>
          <p:nvPr/>
        </p:nvSpPr>
        <p:spPr>
          <a:xfrm>
            <a:off x="5440680" y="5328895"/>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ماندهٔ پایان = ماندهٔ ابتدا + گردش بدهکار − گردش بستانکار.</a:t>
            </a:r>
            <a:endParaRPr lang="en-US" sz="1300" dirty="0"/>
          </a:p>
        </p:txBody>
      </p:sp>
      <p:sp>
        <p:nvSpPr>
          <p:cNvPr id="21" name="Shape 19"/>
          <p:cNvSpPr/>
          <p:nvPr/>
        </p:nvSpPr>
        <p:spPr>
          <a:xfrm>
            <a:off x="411480" y="1097280"/>
            <a:ext cx="4754880" cy="2768346"/>
          </a:xfrm>
          <a:prstGeom prst="roundRect">
            <a:avLst>
              <a:gd name="adj" fmla="val 3303"/>
            </a:avLst>
          </a:prstGeom>
          <a:solidFill>
            <a:srgbClr val="E3F3EA"/>
          </a:solidFill>
          <a:ln w="9525">
            <a:solidFill>
              <a:srgbClr val="1E7A4C"/>
            </a:solidFill>
            <a:prstDash val="solid"/>
          </a:ln>
        </p:spPr>
      </p:sp>
      <p:sp>
        <p:nvSpPr>
          <p:cNvPr id="22" name="Text 20"/>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حساب «بانک‌ها — حساب جاری» در مهر</a:t>
            </a:r>
            <a:endParaRPr lang="en-US" sz="15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594360" y="1691640"/>
          <a:ext cx="4389120" cy="914400"/>
        </p:xfrm>
        <a:graphic>
          <a:graphicData uri="http://schemas.openxmlformats.org/drawingml/2006/table">
            <a:tbl>
              <a:tblPr rtl="1"/>
              <a:tblGrid>
                <a:gridCol w="1580083"/>
                <a:gridCol w="1404518"/>
                <a:gridCol w="1404518"/>
              </a:tblGrid>
              <a:tr h="329184">
                <a:tc>
                  <a:txBody>
                    <a:bodyPr/>
                    <a:lstStyle/>
                    <a:p>
                      <a:pPr algn="r" indent="0" marL="0">
                        <a:buNone/>
                      </a:pP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بدهکار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بستانکار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ماندهٔ اول مهر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۹۰۰,۰۰۰,۰۰۰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گردش مهر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۴۵۰,۰۰۰,۰۰۰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۳۱۵,۰۰۰,۰۰۰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ماندهٔ پایان مهر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۱,۰۳۵,۰۰۰,۰۰۰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bl>
          </a:graphicData>
        </a:graphic>
      </p:graphicFrame>
      <p:sp>
        <p:nvSpPr>
          <p:cNvPr id="24" name="Text 21"/>
          <p:cNvSpPr/>
          <p:nvPr/>
        </p:nvSpPr>
        <p:spPr>
          <a:xfrm>
            <a:off x="594360" y="3145536"/>
            <a:ext cx="4389120" cy="62865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۹۰۰ + ۴۵۰ − ۳۱۵ = ۱,۰۳۵ میلیون ریال ماندهٔ بدهکار؛ یعنی این مقدار پول در بانک داریم.</a:t>
            </a:r>
            <a:endParaRPr lang="en-US" sz="1250" dirty="0"/>
          </a:p>
        </p:txBody>
      </p:sp>
      <p:sp>
        <p:nvSpPr>
          <p:cNvPr id="25" name="Text 2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۸۷</a:t>
            </a:r>
            <a:endParaRPr lang="en-US" sz="1000" dirty="0"/>
          </a:p>
        </p:txBody>
      </p:sp>
      <p:sp>
        <p:nvSpPr>
          <p:cNvPr id="26" name="Text 2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دفتر روزنامه و دفتر کل: دو نمای یک داده</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دفتر روزنامه مثل دفترچهٔ خاطرات است: هر سند به ترتیب تاریخ، با همهٔ ردیف‌هایش. دفتر کل همان ردیف‌ها را برمی‌دارد و برای هر حساب جدا می‌چیند تا ماندهٔ آن حساب بعد از هر سند معلوم شود.</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دفتر روزنامه</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سؤال: «در این ماه به ترتیب چه ثبت شد؟» — مرتب بر اساس تاریخ و شمارهٔ سند.</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دفتر کل</a:t>
            </a:r>
            <a:endParaRPr lang="en-US" sz="1350" dirty="0"/>
          </a:p>
        </p:txBody>
      </p:sp>
      <p:sp>
        <p:nvSpPr>
          <p:cNvPr id="12" name="Text 10"/>
          <p:cNvSpPr/>
          <p:nvPr/>
        </p:nvSpPr>
        <p:spPr>
          <a:xfrm>
            <a:off x="5440680" y="352386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سؤال: «این حساب چطور به این مانده رسید؟» — هر حساب کل، سند به سند، با ماندهٔ جاری.</a:t>
            </a:r>
            <a:endParaRPr lang="en-US" sz="1300" dirty="0"/>
          </a:p>
        </p:txBody>
      </p:sp>
      <p:sp>
        <p:nvSpPr>
          <p:cNvPr id="13" name="Shape 11"/>
          <p:cNvSpPr/>
          <p:nvPr/>
        </p:nvSpPr>
        <p:spPr>
          <a:xfrm>
            <a:off x="411480" y="1097280"/>
            <a:ext cx="4754880" cy="3557930"/>
          </a:xfrm>
          <a:prstGeom prst="roundRect">
            <a:avLst>
              <a:gd name="adj" fmla="val 2570"/>
            </a:avLst>
          </a:prstGeom>
          <a:solidFill>
            <a:srgbClr val="E3F3EA"/>
          </a:solidFill>
          <a:ln w="9525">
            <a:solidFill>
              <a:srgbClr val="1E7A4C"/>
            </a:solidFill>
            <a:prstDash val="solid"/>
          </a:ln>
        </p:spPr>
      </p:sp>
      <p:sp>
        <p:nvSpPr>
          <p:cNvPr id="14" name="Text 12"/>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حساب کل «موجودی نقد» در دفتر کل مهر</a:t>
            </a:r>
            <a:endParaRPr lang="en-US" sz="1500" dirty="0"/>
          </a:p>
        </p:txBody>
      </p:sp>
      <p:sp>
        <p:nvSpPr>
          <p:cNvPr id="15" name="Text 13"/>
          <p:cNvSpPr/>
          <p:nvPr/>
        </p:nvSpPr>
        <p:spPr>
          <a:xfrm>
            <a:off x="594360" y="1691640"/>
            <a:ext cx="4389120" cy="32324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اعداد به میلیون ریال:</a:t>
            </a:r>
            <a:endParaRPr lang="en-US" sz="130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594360" y="2152040"/>
          <a:ext cx="4389120" cy="914400"/>
        </p:xfrm>
        <a:graphic>
          <a:graphicData uri="http://schemas.openxmlformats.org/drawingml/2006/table">
            <a:tbl>
              <a:tblPr rtl="1"/>
              <a:tblGrid>
                <a:gridCol w="1360627"/>
                <a:gridCol w="921715"/>
                <a:gridCol w="921715"/>
                <a:gridCol w="1185062"/>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سند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بدهکار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بستانکار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مانده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ابتدای مهر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۹۰۰ بد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۱۲۰۲ وصول</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۴۵۰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۱,۳۵۰ بد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۱۲۰۳ نوشت‌افزار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۳۵</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۱,۳۱۵ بد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۱۲۰۵ حقوق</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۲۸۰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۱,۰۳۵ بد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bl>
          </a:graphicData>
        </a:graphic>
      </p:graphicFrame>
      <p:sp>
        <p:nvSpPr>
          <p:cNvPr id="17" name="Text 14"/>
          <p:cNvSpPr/>
          <p:nvPr/>
        </p:nvSpPr>
        <p:spPr>
          <a:xfrm>
            <a:off x="594360" y="3935120"/>
            <a:ext cx="4389120" cy="62865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در دفتر روزنامه همین سه ردیف میان ردیف‌های حساب‌های دیگر پخش‌اند؛ دفتر کل آن‌ها را کنار هم آورده است.</a:t>
            </a:r>
            <a:endParaRPr lang="en-US" sz="1250" dirty="0"/>
          </a:p>
        </p:txBody>
      </p:sp>
      <p:sp>
        <p:nvSpPr>
          <p:cNvPr id="18" name="Text 15"/>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۸۸</a:t>
            </a:r>
            <a:endParaRPr lang="en-US" sz="1000" dirty="0"/>
          </a:p>
        </p:txBody>
      </p:sp>
      <p:sp>
        <p:nvSpPr>
          <p:cNvPr id="19" name="Text 16"/>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تراز آزمایشی: چرا جمع دو طرف برابر است؟</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تراز آزمایشی برای هر حساب یک سطر دارد: گردش بدهکار، گردش بستانکار و مانده. چون هر سند همیشه به همان اندازه که بدهکار دارد بستانکار هم دارد، جمع کل دو ستون باید برابر شود.</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کنترل سلامت</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اگر جمع بدهکار و بستانکار برابر نباشد، سندی ناقص یا نامتوازن در بازه هست.</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سطح کدینگ</a:t>
            </a:r>
            <a:endParaRPr lang="en-US" sz="1350" dirty="0"/>
          </a:p>
        </p:txBody>
      </p:sp>
      <p:sp>
        <p:nvSpPr>
          <p:cNvPr id="12" name="Text 10"/>
          <p:cNvSpPr/>
          <p:nvPr/>
        </p:nvSpPr>
        <p:spPr>
          <a:xfrm>
            <a:off x="5440680" y="352386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می‌توانید سطرها را در سطح گروه، کل یا معین ببینید (از کلی‌ترین تا جزئی‌ترین حساب).</a:t>
            </a:r>
            <a:endParaRPr lang="en-US" sz="1300" dirty="0"/>
          </a:p>
        </p:txBody>
      </p:sp>
      <p:sp>
        <p:nvSpPr>
          <p:cNvPr id="13" name="Shape 11"/>
          <p:cNvSpPr/>
          <p:nvPr/>
        </p:nvSpPr>
        <p:spPr>
          <a:xfrm>
            <a:off x="11411712" y="4097198"/>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09719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097198"/>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برابر بودن ≠ درست بودن</a:t>
            </a:r>
            <a:endParaRPr lang="en-US" sz="1350" dirty="0"/>
          </a:p>
        </p:txBody>
      </p:sp>
      <p:sp>
        <p:nvSpPr>
          <p:cNvPr id="16" name="Text 14"/>
          <p:cNvSpPr/>
          <p:nvPr/>
        </p:nvSpPr>
        <p:spPr>
          <a:xfrm>
            <a:off x="5440680" y="4426382"/>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سندی که به حساب اشتباه زده شده، تراز را به هم نمی‌زند؛ برای آن دفتر کل و مرور حساب‌ها را ببینید.</a:t>
            </a:r>
            <a:endParaRPr lang="en-US" sz="1300" dirty="0"/>
          </a:p>
        </p:txBody>
      </p:sp>
      <p:sp>
        <p:nvSpPr>
          <p:cNvPr id="17" name="Shape 15"/>
          <p:cNvSpPr/>
          <p:nvPr/>
        </p:nvSpPr>
        <p:spPr>
          <a:xfrm>
            <a:off x="411480" y="1097280"/>
            <a:ext cx="4754880" cy="3887114"/>
          </a:xfrm>
          <a:prstGeom prst="roundRect">
            <a:avLst>
              <a:gd name="adj" fmla="val 2352"/>
            </a:avLst>
          </a:prstGeom>
          <a:solidFill>
            <a:srgbClr val="E3F3EA"/>
          </a:solidFill>
          <a:ln w="9525">
            <a:solidFill>
              <a:srgbClr val="1E7A4C"/>
            </a:solidFill>
            <a:prstDash val="solid"/>
          </a:ln>
        </p:spPr>
      </p:sp>
      <p:sp>
        <p:nvSpPr>
          <p:cNvPr id="18" name="Text 16"/>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تراز مهر (سطح معین، خلاصه‌شده)</a:t>
            </a:r>
            <a:endParaRPr lang="en-US" sz="1500" dirty="0"/>
          </a:p>
        </p:txBody>
      </p:sp>
      <p:sp>
        <p:nvSpPr>
          <p:cNvPr id="19" name="Text 17"/>
          <p:cNvSpPr/>
          <p:nvPr/>
        </p:nvSpPr>
        <p:spPr>
          <a:xfrm>
            <a:off x="594360" y="1691640"/>
            <a:ext cx="4389120" cy="32324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اعداد به میلیون ریال:</a:t>
            </a:r>
            <a:endParaRPr lang="en-US" sz="1300" dirty="0"/>
          </a:p>
        </p:txBody>
      </p:sp>
      <p:graphicFrame>
        <p:nvGraphicFramePr>
          <p:cNvPr id="90" name="Table 0"/>
          <p:cNvGraphicFramePr>
            <a:graphicFrameLocks noGrp="1"/>
          </p:cNvGraphicFramePr>
          <p:nvPr>
            <p:extLst>
              <p:ext uri="{D42A27DB-BD31-4B8C-83A1-F6EECF244321}">
                <p14:modId xmlns:p14="http://schemas.microsoft.com/office/powerpoint/2010/main" val="1579011935"/>
              </p:ext>
            </p:extLst>
          </p:nvPr>
        </p:nvGraphicFramePr>
        <p:xfrm>
          <a:off x="594360" y="2152040"/>
          <a:ext cx="4389120" cy="914400"/>
        </p:xfrm>
        <a:graphic>
          <a:graphicData uri="http://schemas.openxmlformats.org/drawingml/2006/table">
            <a:tbl>
              <a:tblPr rtl="1"/>
              <a:tblGrid>
                <a:gridCol w="1623974"/>
                <a:gridCol w="833933"/>
                <a:gridCol w="833933"/>
                <a:gridCol w="1097280"/>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حساب</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بدهکار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بستانکار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مانده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بانک‌ها</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۴۵۰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۳۱۵</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۱۳۵ بد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مطالبات حق بیمه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۶۰۰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۴۵۰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۱۵۰ بد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پیمانکاران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 بس</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درآمد حق بیمه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۶۰۰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۶۰۰ بس</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سه معین هزینه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۴۳۵</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۴۳۵ بد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bl>
          </a:graphicData>
        </a:graphic>
      </p:graphicFrame>
      <p:sp>
        <p:nvSpPr>
          <p:cNvPr id="21" name="Text 18"/>
          <p:cNvSpPr/>
          <p:nvPr/>
        </p:nvSpPr>
        <p:spPr>
          <a:xfrm>
            <a:off x="594360" y="4264304"/>
            <a:ext cx="4389120" cy="62865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جمع: ۱,۴۸۵ = ۱,۴۸۵ میلیون گردش، و ۷۲۰ = ۷۲۰ میلیون مانده. تراز است.</a:t>
            </a:r>
            <a:endParaRPr lang="en-US" sz="125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۸۹</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کدام گزارش برای کدام سؤال؟</a:t>
            </a:r>
            <a:endParaRPr lang="en-US" sz="25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6245352" y="1234440"/>
          <a:ext cx="5532120" cy="914400"/>
        </p:xfrm>
        <a:graphic>
          <a:graphicData uri="http://schemas.openxmlformats.org/drawingml/2006/table">
            <a:tbl>
              <a:tblPr rtl="1"/>
              <a:tblGrid>
                <a:gridCol w="1770278"/>
                <a:gridCol w="3761842"/>
              </a:tblGrid>
              <a:tr h="502920">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گزارش</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جواب می‌دهد به…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تراز آزمایشی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ماندهٔ همهٔ حساب‌ها چقدر است و آیا دو طرف برابرند؟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دفتر کل</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یک حساب کل چطور به ماندهٔ فعلی رسید؟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دفتر روزنامه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در یک بازه به ترتیب چه ردیف‌هایی ثبت شد؟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مرور اسناد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کدام سند نامتوازن است؟ جمع هر سند چقدر است؟</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مرور حساب‌ها</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این عدد از کدام تفصیلی، واحد یا سند آمده؟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گزارش ماتریسی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هر مرکز هزینه در هر نوع هزینه چقدر خرج کرده؟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bl>
          </a:graphicData>
        </a:graphic>
      </p:graphicFrame>
      <p:graphicFrame>
        <p:nvGraphicFramePr>
          <p:cNvPr id="181" name="Table 1"/>
          <p:cNvGraphicFramePr>
            <a:graphicFrameLocks noGrp="1"/>
          </p:cNvGraphicFramePr>
          <p:nvPr>
            <p:extLst>
              <p:ext uri="{D42A27DB-BD31-4B8C-83A1-F6EECF244321}">
                <p14:modId xmlns:p14="http://schemas.microsoft.com/office/powerpoint/2010/main" val="1579011935"/>
              </p:ext>
            </p:extLst>
          </p:nvPr>
        </p:nvGraphicFramePr>
        <p:xfrm>
          <a:off x="411480" y="1234440"/>
          <a:ext cx="5532120" cy="914400"/>
        </p:xfrm>
        <a:graphic>
          <a:graphicData uri="http://schemas.openxmlformats.org/drawingml/2006/table">
            <a:tbl>
              <a:tblPr rtl="1"/>
              <a:tblGrid>
                <a:gridCol w="1770278"/>
                <a:gridCol w="3761842"/>
              </a:tblGrid>
              <a:tr h="502920">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گزارش</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جواب می‌دهد به…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مغایرت‌گیری شناسه‌دار</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کدام طلب یا بدهی شناسه‌دار هنوز تسویه نشده؟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هرم سنی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مانده‌های هر شناسه از چند سال پیش مانده؟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مغایرت افتتاحیه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سند افتتاحیه با ماندهٔ سال قبل جور است؟</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ارتباط گروه تفصیلی با معین</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هر معین با کدام گروه تفصیلی کار می‌کند؟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لاگ تغییرات</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چه کسی، کی، چه چیزی را عوض کرد؟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bl>
          </a:graphicData>
        </a:graphic>
      </p:graphicFrame>
      <p:sp>
        <p:nvSpPr>
          <p:cNvPr id="5" name="Shape 1"/>
          <p:cNvSpPr/>
          <p:nvPr/>
        </p:nvSpPr>
        <p:spPr>
          <a:xfrm>
            <a:off x="411480" y="5440680"/>
            <a:ext cx="11365992" cy="822960"/>
          </a:xfrm>
          <a:prstGeom prst="roundRect">
            <a:avLst>
              <a:gd name="adj" fmla="val 8889"/>
            </a:avLst>
          </a:prstGeom>
          <a:solidFill>
            <a:srgbClr val="F6EDCF"/>
          </a:solidFill>
          <a:ln w="9525">
            <a:solidFill>
              <a:srgbClr val="C9A227"/>
            </a:solidFill>
            <a:prstDash val="solid"/>
          </a:ln>
        </p:spPr>
      </p:sp>
      <p:sp>
        <p:nvSpPr>
          <p:cNvPr id="6" name="Text 2"/>
          <p:cNvSpPr/>
          <p:nvPr/>
        </p:nvSpPr>
        <p:spPr>
          <a:xfrm>
            <a:off x="10863072" y="5440680"/>
            <a:ext cx="822960" cy="82296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7" name="Text 3"/>
          <p:cNvSpPr/>
          <p:nvPr/>
        </p:nvSpPr>
        <p:spPr>
          <a:xfrm>
            <a:off x="548640" y="5440680"/>
            <a:ext cx="10241280" cy="82296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همهٔ گزارش‌ها فقط خواندنی‌اند و چیزی را تغییر نمی‌دهند؛ با خیال راحت فیلترها را امتحان کنید.</a:t>
            </a:r>
            <a:endParaRPr lang="en-US" sz="1250" dirty="0"/>
          </a:p>
        </p:txBody>
      </p:sp>
      <p:sp>
        <p:nvSpPr>
          <p:cNvPr id="8" name="Text 4"/>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۹۰</a:t>
            </a:r>
            <a:endParaRPr lang="en-US" sz="1000" dirty="0"/>
          </a:p>
        </p:txBody>
      </p:sp>
      <p:sp>
        <p:nvSpPr>
          <p:cNvPr id="9" name="Text 5"/>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ابزارهای مشترک: دامنهٔ واحد و ستون‌ها</a:t>
            </a:r>
            <a:endParaRPr lang="en-US" sz="2500" dirty="0"/>
          </a:p>
        </p:txBody>
      </p:sp>
      <p:sp>
        <p:nvSpPr>
          <p:cNvPr id="3" name="Text 1"/>
          <p:cNvSpPr/>
          <p:nvPr/>
        </p:nvSpPr>
        <p:spPr>
          <a:xfrm>
            <a:off x="6208776"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دامنهٔ واحد (بالای گزارش)</a:t>
            </a:r>
            <a:endParaRPr lang="en-US" sz="1200" dirty="0"/>
          </a:p>
        </p:txBody>
      </p:sp>
      <p:sp>
        <p:nvSpPr>
          <p:cNvPr id="4" name="Shape 2"/>
          <p:cNvSpPr/>
          <p:nvPr/>
        </p:nvSpPr>
        <p:spPr>
          <a:xfrm>
            <a:off x="6208776" y="1435608"/>
            <a:ext cx="5568696" cy="1359865"/>
          </a:xfrm>
          <a:prstGeom prst="roundRect">
            <a:avLst>
              <a:gd name="adj" fmla="val 5379"/>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5" name="Image 0" descr="rp_scope_s">    </p:cNvPr>
          <p:cNvPicPr>
            <a:picLocks noChangeAspect="1"/>
          </p:cNvPicPr>
          <p:nvPr/>
        </p:nvPicPr>
        <p:blipFill>
          <a:blip r:embed="rId1"/>
          <a:stretch>
            <a:fillRect/>
          </a:stretch>
        </p:blipFill>
        <p:spPr>
          <a:xfrm>
            <a:off x="6254496" y="1491742"/>
            <a:ext cx="5477256" cy="1247597"/>
          </a:xfrm>
          <a:prstGeom prst="rect">
            <a:avLst/>
          </a:prstGeom>
        </p:spPr>
      </p:pic>
      <p:sp>
        <p:nvSpPr>
          <p:cNvPr id="6" name="Text 3"/>
          <p:cNvSpPr/>
          <p:nvPr/>
        </p:nvSpPr>
        <p:spPr>
          <a:xfrm>
            <a:off x="411480"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دکمهٔ «ستون‌ها» (بالای جدول)</a:t>
            </a:r>
            <a:endParaRPr lang="en-US" sz="1200" dirty="0"/>
          </a:p>
        </p:txBody>
      </p:sp>
      <p:sp>
        <p:nvSpPr>
          <p:cNvPr id="7" name="Shape 4"/>
          <p:cNvSpPr/>
          <p:nvPr/>
        </p:nvSpPr>
        <p:spPr>
          <a:xfrm>
            <a:off x="411480" y="1435608"/>
            <a:ext cx="5568696" cy="1359865"/>
          </a:xfrm>
          <a:prstGeom prst="roundRect">
            <a:avLst>
              <a:gd name="adj" fmla="val 5379"/>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8" name="Image 1" descr="rp_cols_s">    </p:cNvPr>
          <p:cNvPicPr>
            <a:picLocks noChangeAspect="1"/>
          </p:cNvPicPr>
          <p:nvPr/>
        </p:nvPicPr>
        <p:blipFill>
          <a:blip r:embed="rId2"/>
          <a:stretch>
            <a:fillRect/>
          </a:stretch>
        </p:blipFill>
        <p:spPr>
          <a:xfrm>
            <a:off x="457200" y="1639324"/>
            <a:ext cx="5477256" cy="952434"/>
          </a:xfrm>
          <a:prstGeom prst="rect">
            <a:avLst/>
          </a:prstGeom>
        </p:spPr>
      </p:pic>
      <p:sp>
        <p:nvSpPr>
          <p:cNvPr id="9" name="Shape 5"/>
          <p:cNvSpPr/>
          <p:nvPr/>
        </p:nvSpPr>
        <p:spPr>
          <a:xfrm>
            <a:off x="9614002" y="2978353"/>
            <a:ext cx="2163470" cy="3376727"/>
          </a:xfrm>
          <a:prstGeom prst="roundRect">
            <a:avLst>
              <a:gd name="adj" fmla="val 3381"/>
            </a:avLst>
          </a:prstGeom>
          <a:solidFill>
            <a:srgbClr val="FFFFFF"/>
          </a:solidFill>
          <a:ln w="6350">
            <a:solidFill>
              <a:srgbClr val="D9DEE7"/>
            </a:solidFill>
            <a:prstDash val="solid"/>
          </a:ln>
        </p:spPr>
      </p:sp>
      <p:sp>
        <p:nvSpPr>
          <p:cNvPr id="10" name="Shape 6"/>
          <p:cNvSpPr/>
          <p:nvPr/>
        </p:nvSpPr>
        <p:spPr>
          <a:xfrm>
            <a:off x="11356848" y="3069793"/>
            <a:ext cx="329184" cy="329184"/>
          </a:xfrm>
          <a:prstGeom prst="ellipse">
            <a:avLst/>
          </a:prstGeom>
          <a:solidFill>
            <a:srgbClr val="C9A227"/>
          </a:solidFill>
          <a:ln w="12700">
            <a:solidFill>
              <a:srgbClr val="C9A227"/>
            </a:solidFill>
            <a:prstDash val="solid"/>
          </a:ln>
        </p:spPr>
      </p:sp>
      <p:sp>
        <p:nvSpPr>
          <p:cNvPr id="11" name="Text 7"/>
          <p:cNvSpPr/>
          <p:nvPr/>
        </p:nvSpPr>
        <p:spPr>
          <a:xfrm>
            <a:off x="11356848" y="306979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8"/>
          <p:cNvSpPr/>
          <p:nvPr/>
        </p:nvSpPr>
        <p:spPr>
          <a:xfrm>
            <a:off x="9705442" y="3051505"/>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دامنهٔ واحد</a:t>
            </a:r>
            <a:endParaRPr lang="en-US" sz="1300" dirty="0"/>
          </a:p>
        </p:txBody>
      </p:sp>
      <p:sp>
        <p:nvSpPr>
          <p:cNvPr id="13" name="Text 9"/>
          <p:cNvSpPr/>
          <p:nvPr/>
        </p:nvSpPr>
        <p:spPr>
          <a:xfrm>
            <a:off x="9723730" y="3453841"/>
            <a:ext cx="1944014" cy="2846375"/>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«فقط واحد جاری»، «واحد جاری و زیرمجموعه» یا «همهٔ واحدهای کشور» (فقط نقش‌های سطح کشور).</a:t>
            </a:r>
            <a:endParaRPr lang="en-US" sz="1150" dirty="0"/>
          </a:p>
        </p:txBody>
      </p:sp>
      <p:sp>
        <p:nvSpPr>
          <p:cNvPr id="14" name="Shape 10"/>
          <p:cNvSpPr/>
          <p:nvPr/>
        </p:nvSpPr>
        <p:spPr>
          <a:xfrm>
            <a:off x="7313371" y="2978353"/>
            <a:ext cx="2163470" cy="3376727"/>
          </a:xfrm>
          <a:prstGeom prst="roundRect">
            <a:avLst>
              <a:gd name="adj" fmla="val 3381"/>
            </a:avLst>
          </a:prstGeom>
          <a:solidFill>
            <a:srgbClr val="FFFFFF"/>
          </a:solidFill>
          <a:ln w="6350">
            <a:solidFill>
              <a:srgbClr val="D9DEE7"/>
            </a:solidFill>
            <a:prstDash val="solid"/>
          </a:ln>
        </p:spPr>
      </p:sp>
      <p:sp>
        <p:nvSpPr>
          <p:cNvPr id="15" name="Shape 11"/>
          <p:cNvSpPr/>
          <p:nvPr/>
        </p:nvSpPr>
        <p:spPr>
          <a:xfrm>
            <a:off x="9056218" y="3069793"/>
            <a:ext cx="329184" cy="329184"/>
          </a:xfrm>
          <a:prstGeom prst="ellipse">
            <a:avLst/>
          </a:prstGeom>
          <a:solidFill>
            <a:srgbClr val="C9A227"/>
          </a:solidFill>
          <a:ln w="12700">
            <a:solidFill>
              <a:srgbClr val="C9A227"/>
            </a:solidFill>
            <a:prstDash val="solid"/>
          </a:ln>
        </p:spPr>
      </p:sp>
      <p:sp>
        <p:nvSpPr>
          <p:cNvPr id="16" name="Text 12"/>
          <p:cNvSpPr/>
          <p:nvPr/>
        </p:nvSpPr>
        <p:spPr>
          <a:xfrm>
            <a:off x="9056218" y="306979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7" name="Text 13"/>
          <p:cNvSpPr/>
          <p:nvPr/>
        </p:nvSpPr>
        <p:spPr>
          <a:xfrm>
            <a:off x="7404811" y="3051505"/>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استان و گروه</a:t>
            </a:r>
            <a:endParaRPr lang="en-US" sz="1300" dirty="0"/>
          </a:p>
        </p:txBody>
      </p:sp>
      <p:sp>
        <p:nvSpPr>
          <p:cNvPr id="18" name="Text 14"/>
          <p:cNvSpPr/>
          <p:nvPr/>
        </p:nvSpPr>
        <p:spPr>
          <a:xfrm>
            <a:off x="7423099" y="3453841"/>
            <a:ext cx="1944014" cy="2846375"/>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در دامنهٔ چندواحدی می‌توان «استان» و «گروه واحدها» (بیمه‌ای/درمانی/ستادی) را هم محدود کرد.</a:t>
            </a:r>
            <a:endParaRPr lang="en-US" sz="1150" dirty="0"/>
          </a:p>
        </p:txBody>
      </p:sp>
      <p:sp>
        <p:nvSpPr>
          <p:cNvPr id="19" name="Shape 15"/>
          <p:cNvSpPr/>
          <p:nvPr/>
        </p:nvSpPr>
        <p:spPr>
          <a:xfrm>
            <a:off x="5012741" y="2978353"/>
            <a:ext cx="2163470" cy="3376727"/>
          </a:xfrm>
          <a:prstGeom prst="roundRect">
            <a:avLst>
              <a:gd name="adj" fmla="val 3381"/>
            </a:avLst>
          </a:prstGeom>
          <a:solidFill>
            <a:srgbClr val="FFFFFF"/>
          </a:solidFill>
          <a:ln w="6350">
            <a:solidFill>
              <a:srgbClr val="D9DEE7"/>
            </a:solidFill>
            <a:prstDash val="solid"/>
          </a:ln>
        </p:spPr>
      </p:sp>
      <p:sp>
        <p:nvSpPr>
          <p:cNvPr id="20" name="Shape 16"/>
          <p:cNvSpPr/>
          <p:nvPr/>
        </p:nvSpPr>
        <p:spPr>
          <a:xfrm>
            <a:off x="6755587" y="3069793"/>
            <a:ext cx="329184" cy="329184"/>
          </a:xfrm>
          <a:prstGeom prst="ellipse">
            <a:avLst/>
          </a:prstGeom>
          <a:solidFill>
            <a:srgbClr val="C9A227"/>
          </a:solidFill>
          <a:ln w="12700">
            <a:solidFill>
              <a:srgbClr val="C9A227"/>
            </a:solidFill>
            <a:prstDash val="solid"/>
          </a:ln>
        </p:spPr>
      </p:sp>
      <p:sp>
        <p:nvSpPr>
          <p:cNvPr id="21" name="Text 17"/>
          <p:cNvSpPr/>
          <p:nvPr/>
        </p:nvSpPr>
        <p:spPr>
          <a:xfrm>
            <a:off x="6755587" y="306979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2" name="Text 18"/>
          <p:cNvSpPr/>
          <p:nvPr/>
        </p:nvSpPr>
        <p:spPr>
          <a:xfrm>
            <a:off x="5104181" y="3051505"/>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ستون‌ها و مرتب‌سازی</a:t>
            </a:r>
            <a:endParaRPr lang="en-US" sz="1300" dirty="0"/>
          </a:p>
        </p:txBody>
      </p:sp>
      <p:sp>
        <p:nvSpPr>
          <p:cNvPr id="23" name="Text 19"/>
          <p:cNvSpPr/>
          <p:nvPr/>
        </p:nvSpPr>
        <p:spPr>
          <a:xfrm>
            <a:off x="5122469" y="3453841"/>
            <a:ext cx="1944014" cy="2846375"/>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با «ستون‌ها» گروه ستون را پنهان کنید؛ با کلیک روی سرستون، جدول مرتب می‌شود.</a:t>
            </a:r>
            <a:endParaRPr lang="en-US" sz="1150" dirty="0"/>
          </a:p>
        </p:txBody>
      </p:sp>
      <p:sp>
        <p:nvSpPr>
          <p:cNvPr id="24" name="Shape 20"/>
          <p:cNvSpPr/>
          <p:nvPr/>
        </p:nvSpPr>
        <p:spPr>
          <a:xfrm>
            <a:off x="2712110" y="2978353"/>
            <a:ext cx="2163470" cy="3376727"/>
          </a:xfrm>
          <a:prstGeom prst="roundRect">
            <a:avLst>
              <a:gd name="adj" fmla="val 3381"/>
            </a:avLst>
          </a:prstGeom>
          <a:solidFill>
            <a:srgbClr val="FFFFFF"/>
          </a:solidFill>
          <a:ln w="6350">
            <a:solidFill>
              <a:srgbClr val="D9DEE7"/>
            </a:solidFill>
            <a:prstDash val="solid"/>
          </a:ln>
        </p:spPr>
      </p:sp>
      <p:sp>
        <p:nvSpPr>
          <p:cNvPr id="25" name="Shape 21"/>
          <p:cNvSpPr/>
          <p:nvPr/>
        </p:nvSpPr>
        <p:spPr>
          <a:xfrm>
            <a:off x="4454957" y="3069793"/>
            <a:ext cx="329184" cy="329184"/>
          </a:xfrm>
          <a:prstGeom prst="ellipse">
            <a:avLst/>
          </a:prstGeom>
          <a:solidFill>
            <a:srgbClr val="C9A227"/>
          </a:solidFill>
          <a:ln w="12700">
            <a:solidFill>
              <a:srgbClr val="C9A227"/>
            </a:solidFill>
            <a:prstDash val="solid"/>
          </a:ln>
        </p:spPr>
      </p:sp>
      <p:sp>
        <p:nvSpPr>
          <p:cNvPr id="26" name="Text 22"/>
          <p:cNvSpPr/>
          <p:nvPr/>
        </p:nvSpPr>
        <p:spPr>
          <a:xfrm>
            <a:off x="4454957" y="306979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7" name="Text 23"/>
          <p:cNvSpPr/>
          <p:nvPr/>
        </p:nvSpPr>
        <p:spPr>
          <a:xfrm>
            <a:off x="2803550" y="3051505"/>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اکسل و چاپ</a:t>
            </a:r>
            <a:endParaRPr lang="en-US" sz="1300" dirty="0"/>
          </a:p>
        </p:txBody>
      </p:sp>
      <p:sp>
        <p:nvSpPr>
          <p:cNvPr id="28" name="Text 24"/>
          <p:cNvSpPr/>
          <p:nvPr/>
        </p:nvSpPr>
        <p:spPr>
          <a:xfrm>
            <a:off x="2821838" y="3453841"/>
            <a:ext cx="1944014" cy="2846375"/>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«خروجی اکسل» فایل می‌سازد؛ «چاپ / PDF» نسخهٔ چاپی را با عنوان و فیلترها می‌دهد.</a:t>
            </a:r>
            <a:endParaRPr lang="en-US" sz="1150" dirty="0"/>
          </a:p>
        </p:txBody>
      </p:sp>
      <p:sp>
        <p:nvSpPr>
          <p:cNvPr id="29" name="Shape 25"/>
          <p:cNvSpPr/>
          <p:nvPr/>
        </p:nvSpPr>
        <p:spPr>
          <a:xfrm>
            <a:off x="411480" y="2978353"/>
            <a:ext cx="2163470" cy="3376727"/>
          </a:xfrm>
          <a:prstGeom prst="roundRect">
            <a:avLst>
              <a:gd name="adj" fmla="val 3381"/>
            </a:avLst>
          </a:prstGeom>
          <a:solidFill>
            <a:srgbClr val="FFFFFF"/>
          </a:solidFill>
          <a:ln w="6350">
            <a:solidFill>
              <a:srgbClr val="D9DEE7"/>
            </a:solidFill>
            <a:prstDash val="solid"/>
          </a:ln>
        </p:spPr>
      </p:sp>
      <p:sp>
        <p:nvSpPr>
          <p:cNvPr id="30" name="Shape 26"/>
          <p:cNvSpPr/>
          <p:nvPr/>
        </p:nvSpPr>
        <p:spPr>
          <a:xfrm>
            <a:off x="2154326" y="3069793"/>
            <a:ext cx="329184" cy="329184"/>
          </a:xfrm>
          <a:prstGeom prst="ellipse">
            <a:avLst/>
          </a:prstGeom>
          <a:solidFill>
            <a:srgbClr val="C9A227"/>
          </a:solidFill>
          <a:ln w="12700">
            <a:solidFill>
              <a:srgbClr val="C9A227"/>
            </a:solidFill>
            <a:prstDash val="solid"/>
          </a:ln>
        </p:spPr>
      </p:sp>
      <p:sp>
        <p:nvSpPr>
          <p:cNvPr id="31" name="Text 27"/>
          <p:cNvSpPr/>
          <p:nvPr/>
        </p:nvSpPr>
        <p:spPr>
          <a:xfrm>
            <a:off x="2154326" y="306979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2" name="Text 28"/>
          <p:cNvSpPr/>
          <p:nvPr/>
        </p:nvSpPr>
        <p:spPr>
          <a:xfrm>
            <a:off x="502920" y="3051505"/>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اعمال فیلتر</a:t>
            </a:r>
            <a:endParaRPr lang="en-US" sz="1300" dirty="0"/>
          </a:p>
        </p:txBody>
      </p:sp>
      <p:sp>
        <p:nvSpPr>
          <p:cNvPr id="33" name="Text 29"/>
          <p:cNvSpPr/>
          <p:nvPr/>
        </p:nvSpPr>
        <p:spPr>
          <a:xfrm>
            <a:off x="521208" y="3453841"/>
            <a:ext cx="1944014" cy="2846375"/>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تغییر فیلتر تا زدن «اعمال فیلتر» یا «جستجو» در نتیجه اثر نمی‌گذارد.</a:t>
            </a:r>
            <a:endParaRPr lang="en-US" sz="11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۹۱</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 — تراز آزمایشی</a:t>
            </a:r>
            <a:endParaRPr lang="en-US" sz="2500" dirty="0"/>
          </a:p>
        </p:txBody>
      </p:sp>
      <p:sp>
        <p:nvSpPr>
          <p:cNvPr id="3" name="Shape 1"/>
          <p:cNvSpPr/>
          <p:nvPr/>
        </p:nvSpPr>
        <p:spPr>
          <a:xfrm>
            <a:off x="9349740" y="896112"/>
            <a:ext cx="242773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459468" y="896112"/>
            <a:ext cx="220827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گزارش‌ها ← تراز آزمایشی</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فیلترها و کاشی‌های خلاصه</a:t>
            </a:r>
            <a:endParaRPr lang="en-US" sz="1200" dirty="0"/>
          </a:p>
        </p:txBody>
      </p:sp>
      <p:sp>
        <p:nvSpPr>
          <p:cNvPr id="6" name="Shape 4"/>
          <p:cNvSpPr/>
          <p:nvPr/>
        </p:nvSpPr>
        <p:spPr>
          <a:xfrm>
            <a:off x="6208776"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rp_tb_a">    </p:cNvPr>
          <p:cNvPicPr>
            <a:picLocks noChangeAspect="1"/>
          </p:cNvPicPr>
          <p:nvPr/>
        </p:nvPicPr>
        <p:blipFill>
          <a:blip r:embed="rId1"/>
          <a:stretch>
            <a:fillRect/>
          </a:stretch>
        </p:blipFill>
        <p:spPr>
          <a:xfrm>
            <a:off x="6386499" y="1664208"/>
            <a:ext cx="5213251" cy="2374925"/>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جدول تراز در سطح معین</a:t>
            </a:r>
            <a:endParaRPr lang="en-US" sz="1200" dirty="0"/>
          </a:p>
        </p:txBody>
      </p:sp>
      <p:sp>
        <p:nvSpPr>
          <p:cNvPr id="9" name="Shape 6"/>
          <p:cNvSpPr/>
          <p:nvPr/>
        </p:nvSpPr>
        <p:spPr>
          <a:xfrm>
            <a:off x="411480"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rp_tb_b">    </p:cNvPr>
          <p:cNvPicPr>
            <a:picLocks noChangeAspect="1"/>
          </p:cNvPicPr>
          <p:nvPr/>
        </p:nvPicPr>
        <p:blipFill>
          <a:blip r:embed="rId2"/>
          <a:stretch>
            <a:fillRect/>
          </a:stretch>
        </p:blipFill>
        <p:spPr>
          <a:xfrm>
            <a:off x="457200" y="1844464"/>
            <a:ext cx="5477256" cy="2014413"/>
          </a:xfrm>
          <a:prstGeom prst="rect">
            <a:avLst/>
          </a:prstGeom>
        </p:spPr>
      </p:pic>
      <p:sp>
        <p:nvSpPr>
          <p:cNvPr id="11" name="Shape 7"/>
          <p:cNvSpPr/>
          <p:nvPr/>
        </p:nvSpPr>
        <p:spPr>
          <a:xfrm>
            <a:off x="9038844" y="4267733"/>
            <a:ext cx="2738628" cy="1291819"/>
          </a:xfrm>
          <a:prstGeom prst="roundRect">
            <a:avLst>
              <a:gd name="adj" fmla="val 5663"/>
            </a:avLst>
          </a:prstGeom>
          <a:solidFill>
            <a:srgbClr val="FFFFFF"/>
          </a:solidFill>
          <a:ln w="6350">
            <a:solidFill>
              <a:srgbClr val="D9DEE7"/>
            </a:solidFill>
            <a:prstDash val="solid"/>
          </a:ln>
        </p:spPr>
      </p:sp>
      <p:sp>
        <p:nvSpPr>
          <p:cNvPr id="12" name="Shape 8"/>
          <p:cNvSpPr/>
          <p:nvPr/>
        </p:nvSpPr>
        <p:spPr>
          <a:xfrm>
            <a:off x="11356848" y="4359173"/>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نوع تراز</a:t>
            </a:r>
            <a:endParaRPr lang="en-US" sz="1300" dirty="0"/>
          </a:p>
        </p:txBody>
      </p:sp>
      <p:sp>
        <p:nvSpPr>
          <p:cNvPr id="15" name="Text 11"/>
          <p:cNvSpPr/>
          <p:nvPr/>
        </p:nvSpPr>
        <p:spPr>
          <a:xfrm>
            <a:off x="9148572"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«۴ ستونی» گردش و مانده؛ «۶ ستونی» اول دوره را اضافه می‌کند؛ «۸ ستونی» جمع کل را.</a:t>
            </a:r>
            <a:endParaRPr lang="en-US" sz="1150" dirty="0"/>
          </a:p>
        </p:txBody>
      </p:sp>
      <p:sp>
        <p:nvSpPr>
          <p:cNvPr id="16" name="Shape 12"/>
          <p:cNvSpPr/>
          <p:nvPr/>
        </p:nvSpPr>
        <p:spPr>
          <a:xfrm>
            <a:off x="6163056" y="4267733"/>
            <a:ext cx="2738628" cy="1291819"/>
          </a:xfrm>
          <a:prstGeom prst="roundRect">
            <a:avLst>
              <a:gd name="adj" fmla="val 5663"/>
            </a:avLst>
          </a:prstGeom>
          <a:solidFill>
            <a:srgbClr val="FFFFFF"/>
          </a:solidFill>
          <a:ln w="6350">
            <a:solidFill>
              <a:srgbClr val="D9DEE7"/>
            </a:solidFill>
            <a:prstDash val="solid"/>
          </a:ln>
        </p:spPr>
      </p:sp>
      <p:sp>
        <p:nvSpPr>
          <p:cNvPr id="17" name="Shape 13"/>
          <p:cNvSpPr/>
          <p:nvPr/>
        </p:nvSpPr>
        <p:spPr>
          <a:xfrm>
            <a:off x="8481060" y="4359173"/>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فیلترها</a:t>
            </a:r>
            <a:endParaRPr lang="en-US" sz="1300" dirty="0"/>
          </a:p>
        </p:txBody>
      </p:sp>
      <p:sp>
        <p:nvSpPr>
          <p:cNvPr id="20" name="Text 16"/>
          <p:cNvSpPr/>
          <p:nvPr/>
        </p:nvSpPr>
        <p:spPr>
          <a:xfrm>
            <a:off x="6272784"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سطح کدینگ، کد حساب، از/تا تاریخ (مثل ۱۴۰۵۰۷۰۱) و وضعیت سند را بدهید و «اعمال فیلتر».</a:t>
            </a:r>
            <a:endParaRPr lang="en-US" sz="1150" dirty="0"/>
          </a:p>
        </p:txBody>
      </p:sp>
      <p:sp>
        <p:nvSpPr>
          <p:cNvPr id="21" name="Shape 17"/>
          <p:cNvSpPr/>
          <p:nvPr/>
        </p:nvSpPr>
        <p:spPr>
          <a:xfrm>
            <a:off x="3287268" y="4267733"/>
            <a:ext cx="2738628" cy="1291819"/>
          </a:xfrm>
          <a:prstGeom prst="roundRect">
            <a:avLst>
              <a:gd name="adj" fmla="val 5663"/>
            </a:avLst>
          </a:prstGeom>
          <a:solidFill>
            <a:srgbClr val="FFFFFF"/>
          </a:solidFill>
          <a:ln w="6350">
            <a:solidFill>
              <a:srgbClr val="D9DEE7"/>
            </a:solidFill>
            <a:prstDash val="solid"/>
          </a:ln>
        </p:spPr>
      </p:sp>
      <p:sp>
        <p:nvSpPr>
          <p:cNvPr id="22" name="Shape 18"/>
          <p:cNvSpPr/>
          <p:nvPr/>
        </p:nvSpPr>
        <p:spPr>
          <a:xfrm>
            <a:off x="5605272" y="4359173"/>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کاشی «وضعیت تراز»</a:t>
            </a:r>
            <a:endParaRPr lang="en-US" sz="1300" dirty="0"/>
          </a:p>
        </p:txBody>
      </p:sp>
      <p:sp>
        <p:nvSpPr>
          <p:cNvPr id="25" name="Text 21"/>
          <p:cNvSpPr/>
          <p:nvPr/>
        </p:nvSpPr>
        <p:spPr>
          <a:xfrm>
            <a:off x="3396996"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«تراز است» یعنی دو طرف برابرند؛ وگرنه «اختلاف» با مبلغش نمایش داده می‌شود.</a:t>
            </a:r>
            <a:endParaRPr lang="en-US" sz="1150" dirty="0"/>
          </a:p>
        </p:txBody>
      </p:sp>
      <p:sp>
        <p:nvSpPr>
          <p:cNvPr id="26" name="Shape 22"/>
          <p:cNvSpPr/>
          <p:nvPr/>
        </p:nvSpPr>
        <p:spPr>
          <a:xfrm>
            <a:off x="411480" y="4267733"/>
            <a:ext cx="2738628" cy="1291819"/>
          </a:xfrm>
          <a:prstGeom prst="roundRect">
            <a:avLst>
              <a:gd name="adj" fmla="val 5663"/>
            </a:avLst>
          </a:prstGeom>
          <a:solidFill>
            <a:srgbClr val="FFFFFF"/>
          </a:solidFill>
          <a:ln w="6350">
            <a:solidFill>
              <a:srgbClr val="D9DEE7"/>
            </a:solidFill>
            <a:prstDash val="solid"/>
          </a:ln>
        </p:spPr>
      </p:sp>
      <p:sp>
        <p:nvSpPr>
          <p:cNvPr id="27" name="Shape 23"/>
          <p:cNvSpPr/>
          <p:nvPr/>
        </p:nvSpPr>
        <p:spPr>
          <a:xfrm>
            <a:off x="2729484" y="4359173"/>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رفتن به جزئیات</a:t>
            </a:r>
            <a:endParaRPr lang="en-US" sz="1300" dirty="0"/>
          </a:p>
        </p:txBody>
      </p:sp>
      <p:sp>
        <p:nvSpPr>
          <p:cNvPr id="30" name="Text 26"/>
          <p:cNvSpPr/>
          <p:nvPr/>
        </p:nvSpPr>
        <p:spPr>
          <a:xfrm>
            <a:off x="521208"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آیکون کنار نام حساب، همان حساب را در «مرور حساب‌ها» به تفکیک استان، واحد یا سند باز می‌کند.</a:t>
            </a:r>
            <a:endParaRPr lang="en-US" sz="1150" dirty="0"/>
          </a:p>
        </p:txBody>
      </p:sp>
      <p:sp>
        <p:nvSpPr>
          <p:cNvPr id="31" name="Shape 27"/>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وقتی بپرسید: «آخر مهر، مانده و گردش همهٔ حساب‌ها چقدر است و دفاتر تراز است؟» — مثال ما: ۷ معین، ۱,۴۸۵ = ۱,۴۸۵ میلیون.</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۹۲</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۲ — دفتر کل</a:t>
            </a:r>
            <a:endParaRPr lang="en-US" sz="2500" dirty="0"/>
          </a:p>
        </p:txBody>
      </p:sp>
      <p:sp>
        <p:nvSpPr>
          <p:cNvPr id="3" name="Shape 1"/>
          <p:cNvSpPr/>
          <p:nvPr/>
        </p:nvSpPr>
        <p:spPr>
          <a:xfrm>
            <a:off x="9738360" y="896112"/>
            <a:ext cx="203911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848088" y="896112"/>
            <a:ext cx="181965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گزارش‌ها ← دفتر کل</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خلاصهٔ حساب‌های کل</a:t>
            </a:r>
            <a:endParaRPr lang="en-US" sz="1200" dirty="0"/>
          </a:p>
        </p:txBody>
      </p:sp>
      <p:sp>
        <p:nvSpPr>
          <p:cNvPr id="6" name="Shape 4"/>
          <p:cNvSpPr/>
          <p:nvPr/>
        </p:nvSpPr>
        <p:spPr>
          <a:xfrm>
            <a:off x="6208776" y="1618488"/>
            <a:ext cx="5568696" cy="1938391"/>
          </a:xfrm>
          <a:prstGeom prst="roundRect">
            <a:avLst>
              <a:gd name="adj" fmla="val 377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rp_gl_a">    </p:cNvPr>
          <p:cNvPicPr>
            <a:picLocks noChangeAspect="1"/>
          </p:cNvPicPr>
          <p:nvPr/>
        </p:nvPicPr>
        <p:blipFill>
          <a:blip r:embed="rId1"/>
          <a:stretch>
            <a:fillRect/>
          </a:stretch>
        </p:blipFill>
        <p:spPr>
          <a:xfrm>
            <a:off x="6254496" y="1679372"/>
            <a:ext cx="5477256" cy="1816623"/>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گردش به تفکیک سند با ماندهٔ جاری</a:t>
            </a:r>
            <a:endParaRPr lang="en-US" sz="1200" dirty="0"/>
          </a:p>
        </p:txBody>
      </p:sp>
      <p:sp>
        <p:nvSpPr>
          <p:cNvPr id="9" name="Shape 6"/>
          <p:cNvSpPr/>
          <p:nvPr/>
        </p:nvSpPr>
        <p:spPr>
          <a:xfrm>
            <a:off x="411480" y="1618488"/>
            <a:ext cx="5568696" cy="1938391"/>
          </a:xfrm>
          <a:prstGeom prst="roundRect">
            <a:avLst>
              <a:gd name="adj" fmla="val 377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rp_gl_b">    </p:cNvPr>
          <p:cNvPicPr>
            <a:picLocks noChangeAspect="1"/>
          </p:cNvPicPr>
          <p:nvPr/>
        </p:nvPicPr>
        <p:blipFill>
          <a:blip r:embed="rId2"/>
          <a:stretch>
            <a:fillRect/>
          </a:stretch>
        </p:blipFill>
        <p:spPr>
          <a:xfrm>
            <a:off x="457200" y="1735666"/>
            <a:ext cx="5477256" cy="1704035"/>
          </a:xfrm>
          <a:prstGeom prst="rect">
            <a:avLst/>
          </a:prstGeom>
        </p:spPr>
      </p:pic>
      <p:sp>
        <p:nvSpPr>
          <p:cNvPr id="11" name="Shape 7"/>
          <p:cNvSpPr/>
          <p:nvPr/>
        </p:nvSpPr>
        <p:spPr>
          <a:xfrm>
            <a:off x="9038844" y="3739759"/>
            <a:ext cx="2738628" cy="1819793"/>
          </a:xfrm>
          <a:prstGeom prst="roundRect">
            <a:avLst>
              <a:gd name="adj" fmla="val 4020"/>
            </a:avLst>
          </a:prstGeom>
          <a:solidFill>
            <a:srgbClr val="FFFFFF"/>
          </a:solidFill>
          <a:ln w="6350">
            <a:solidFill>
              <a:srgbClr val="D9DEE7"/>
            </a:solidFill>
            <a:prstDash val="solid"/>
          </a:ln>
        </p:spPr>
      </p:sp>
      <p:sp>
        <p:nvSpPr>
          <p:cNvPr id="12" name="Shape 8"/>
          <p:cNvSpPr/>
          <p:nvPr/>
        </p:nvSpPr>
        <p:spPr>
          <a:xfrm>
            <a:off x="11356848" y="3831199"/>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383119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3812911"/>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فیلترها</a:t>
            </a:r>
            <a:endParaRPr lang="en-US" sz="1300" dirty="0"/>
          </a:p>
        </p:txBody>
      </p:sp>
      <p:sp>
        <p:nvSpPr>
          <p:cNvPr id="15" name="Text 11"/>
          <p:cNvSpPr/>
          <p:nvPr/>
        </p:nvSpPr>
        <p:spPr>
          <a:xfrm>
            <a:off x="9148572" y="4215247"/>
            <a:ext cx="2519172" cy="1289441"/>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تاریخ، از/تا کد کل، شمارهٔ سند و حداقل وضعیت سند؛ سپس «جستجو».</a:t>
            </a:r>
            <a:endParaRPr lang="en-US" sz="1150" dirty="0"/>
          </a:p>
        </p:txBody>
      </p:sp>
      <p:sp>
        <p:nvSpPr>
          <p:cNvPr id="16" name="Shape 12"/>
          <p:cNvSpPr/>
          <p:nvPr/>
        </p:nvSpPr>
        <p:spPr>
          <a:xfrm>
            <a:off x="6163056" y="3739759"/>
            <a:ext cx="2738628" cy="1819793"/>
          </a:xfrm>
          <a:prstGeom prst="roundRect">
            <a:avLst>
              <a:gd name="adj" fmla="val 4020"/>
            </a:avLst>
          </a:prstGeom>
          <a:solidFill>
            <a:srgbClr val="FFFFFF"/>
          </a:solidFill>
          <a:ln w="6350">
            <a:solidFill>
              <a:srgbClr val="D9DEE7"/>
            </a:solidFill>
            <a:prstDash val="solid"/>
          </a:ln>
        </p:spPr>
      </p:sp>
      <p:sp>
        <p:nvSpPr>
          <p:cNvPr id="17" name="Shape 13"/>
          <p:cNvSpPr/>
          <p:nvPr/>
        </p:nvSpPr>
        <p:spPr>
          <a:xfrm>
            <a:off x="8481060" y="3831199"/>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383119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3812911"/>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خلاصه</a:t>
            </a:r>
            <a:endParaRPr lang="en-US" sz="1300" dirty="0"/>
          </a:p>
        </p:txBody>
      </p:sp>
      <p:sp>
        <p:nvSpPr>
          <p:cNvPr id="20" name="Text 16"/>
          <p:cNvSpPr/>
          <p:nvPr/>
        </p:nvSpPr>
        <p:spPr>
          <a:xfrm>
            <a:off x="6272784" y="4215247"/>
            <a:ext cx="2519172" cy="1289441"/>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برای هر حساب کل: ماندهٔ ابتدای دوره، گردش بدهکار و بستانکار، ماندهٔ پایان دوره.</a:t>
            </a:r>
            <a:endParaRPr lang="en-US" sz="1150" dirty="0"/>
          </a:p>
        </p:txBody>
      </p:sp>
      <p:sp>
        <p:nvSpPr>
          <p:cNvPr id="21" name="Shape 17"/>
          <p:cNvSpPr/>
          <p:nvPr/>
        </p:nvSpPr>
        <p:spPr>
          <a:xfrm>
            <a:off x="3287268" y="3739759"/>
            <a:ext cx="2738628" cy="1819793"/>
          </a:xfrm>
          <a:prstGeom prst="roundRect">
            <a:avLst>
              <a:gd name="adj" fmla="val 4020"/>
            </a:avLst>
          </a:prstGeom>
          <a:solidFill>
            <a:srgbClr val="FFFFFF"/>
          </a:solidFill>
          <a:ln w="6350">
            <a:solidFill>
              <a:srgbClr val="D9DEE7"/>
            </a:solidFill>
            <a:prstDash val="solid"/>
          </a:ln>
        </p:spPr>
      </p:sp>
      <p:sp>
        <p:nvSpPr>
          <p:cNvPr id="22" name="Shape 18"/>
          <p:cNvSpPr/>
          <p:nvPr/>
        </p:nvSpPr>
        <p:spPr>
          <a:xfrm>
            <a:off x="5605272" y="3831199"/>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383119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3812911"/>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یک حساب</a:t>
            </a:r>
            <a:endParaRPr lang="en-US" sz="1300" dirty="0"/>
          </a:p>
        </p:txBody>
      </p:sp>
      <p:sp>
        <p:nvSpPr>
          <p:cNvPr id="25" name="Text 21"/>
          <p:cNvSpPr/>
          <p:nvPr/>
        </p:nvSpPr>
        <p:spPr>
          <a:xfrm>
            <a:off x="3396996" y="4215247"/>
            <a:ext cx="2519172" cy="1289441"/>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روی سطر یک حساب کلیک کنید تا فقط گردش همان کل بیاید (برچسب «فقط کل ۱۱»).</a:t>
            </a:r>
            <a:endParaRPr lang="en-US" sz="1150" dirty="0"/>
          </a:p>
        </p:txBody>
      </p:sp>
      <p:sp>
        <p:nvSpPr>
          <p:cNvPr id="26" name="Shape 22"/>
          <p:cNvSpPr/>
          <p:nvPr/>
        </p:nvSpPr>
        <p:spPr>
          <a:xfrm>
            <a:off x="411480" y="3739759"/>
            <a:ext cx="2738628" cy="1819793"/>
          </a:xfrm>
          <a:prstGeom prst="roundRect">
            <a:avLst>
              <a:gd name="adj" fmla="val 4020"/>
            </a:avLst>
          </a:prstGeom>
          <a:solidFill>
            <a:srgbClr val="FFFFFF"/>
          </a:solidFill>
          <a:ln w="6350">
            <a:solidFill>
              <a:srgbClr val="D9DEE7"/>
            </a:solidFill>
            <a:prstDash val="solid"/>
          </a:ln>
        </p:spPr>
      </p:sp>
      <p:sp>
        <p:nvSpPr>
          <p:cNvPr id="27" name="Shape 23"/>
          <p:cNvSpPr/>
          <p:nvPr/>
        </p:nvSpPr>
        <p:spPr>
          <a:xfrm>
            <a:off x="2729484" y="3831199"/>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383119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3812911"/>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باز کردن سند</a:t>
            </a:r>
            <a:endParaRPr lang="en-US" sz="1300" dirty="0"/>
          </a:p>
        </p:txBody>
      </p:sp>
      <p:sp>
        <p:nvSpPr>
          <p:cNvPr id="30" name="Text 26"/>
          <p:cNvSpPr/>
          <p:nvPr/>
        </p:nvSpPr>
        <p:spPr>
          <a:xfrm>
            <a:off x="521208" y="4215247"/>
            <a:ext cx="2519172" cy="1289441"/>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شمارهٔ آبی سند را بزنید تا خود سند باز شود؛ «چاپ» نسخهٔ کاغذی می‌دهد.</a:t>
            </a:r>
            <a:endParaRPr lang="en-US" sz="1150" dirty="0"/>
          </a:p>
        </p:txBody>
      </p:sp>
      <p:sp>
        <p:nvSpPr>
          <p:cNvPr id="31" name="Shape 27"/>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وقتی بپرسید: «موجودی نقد چطور از ۹۰۰ به ۱,۰۳۵ میلیون رسید؟» ستون «مانده» بعد از هر سند جواب است.</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۹۳</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۳ — دفتر روزنامه</a:t>
            </a:r>
            <a:endParaRPr lang="en-US" sz="2500" dirty="0"/>
          </a:p>
        </p:txBody>
      </p:sp>
      <p:sp>
        <p:nvSpPr>
          <p:cNvPr id="3" name="Shape 1"/>
          <p:cNvSpPr/>
          <p:nvPr/>
        </p:nvSpPr>
        <p:spPr>
          <a:xfrm>
            <a:off x="9349740" y="896112"/>
            <a:ext cx="242773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459468" y="896112"/>
            <a:ext cx="220827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گزارش‌ها ← دفتر روزنامه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rp_jr">    </p:cNvPr>
          <p:cNvPicPr>
            <a:picLocks noChangeAspect="1"/>
          </p:cNvPicPr>
          <p:nvPr/>
        </p:nvPicPr>
        <p:blipFill>
          <a:blip r:embed="rId1"/>
          <a:stretch>
            <a:fillRect/>
          </a:stretch>
        </p:blipFill>
        <p:spPr>
          <a:xfrm>
            <a:off x="1019528" y="1399032"/>
            <a:ext cx="6007664"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مثال ما: ۱۲ ردیف از ۵ سند مهر؛ سند ۱۲۰۵ سه ردیف حقوق (به تفکیک اداره) و یک ردیف بانک دارد. جمع هر دو ستون ۱,۴۸۵,۰۰۰,۰۰۰ ریال.</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فیلترها</a:t>
            </a:r>
            <a:endParaRPr lang="en-US" sz="1350" dirty="0"/>
          </a:p>
        </p:txBody>
      </p:sp>
      <p:sp>
        <p:nvSpPr>
          <p:cNvPr id="13" name="Text 10"/>
          <p:cNvSpPr/>
          <p:nvPr/>
        </p:nvSpPr>
        <p:spPr>
          <a:xfrm>
            <a:off x="7909560" y="1700784"/>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تاریخ، شمارهٔ سند، از/تا کد معین (کد ناقص مثل ۱۱ هم پذیرفته می‌شود)، وضعیت سند و شرح ردیف.</a:t>
            </a:r>
            <a:endParaRPr lang="en-US" sz="1250" dirty="0"/>
          </a:p>
        </p:txBody>
      </p:sp>
      <p:sp>
        <p:nvSpPr>
          <p:cNvPr id="14" name="Shape 11"/>
          <p:cNvSpPr/>
          <p:nvPr/>
        </p:nvSpPr>
        <p:spPr>
          <a:xfrm>
            <a:off x="11411712" y="2479167"/>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47916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479167"/>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ترتیب</a:t>
            </a:r>
            <a:endParaRPr lang="en-US" sz="1350" dirty="0"/>
          </a:p>
        </p:txBody>
      </p:sp>
      <p:sp>
        <p:nvSpPr>
          <p:cNvPr id="17" name="Text 14"/>
          <p:cNvSpPr/>
          <p:nvPr/>
        </p:nvSpPr>
        <p:spPr>
          <a:xfrm>
            <a:off x="7909560" y="2808351"/>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ردیف‌ها به ترتیب تاریخ و شمارهٔ سند؛ شماره و تاریخ فقط روی ردیف اول هر سند می‌آید.</a:t>
            </a:r>
            <a:endParaRPr lang="en-US" sz="1250" dirty="0"/>
          </a:p>
        </p:txBody>
      </p:sp>
      <p:sp>
        <p:nvSpPr>
          <p:cNvPr id="18" name="Shape 15"/>
          <p:cNvSpPr/>
          <p:nvPr/>
        </p:nvSpPr>
        <p:spPr>
          <a:xfrm>
            <a:off x="11411712" y="3363849"/>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36384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36384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جمع‌ها</a:t>
            </a:r>
            <a:endParaRPr lang="en-US" sz="1350" dirty="0"/>
          </a:p>
        </p:txBody>
      </p:sp>
      <p:sp>
        <p:nvSpPr>
          <p:cNvPr id="21" name="Text 18"/>
          <p:cNvSpPr/>
          <p:nvPr/>
        </p:nvSpPr>
        <p:spPr>
          <a:xfrm>
            <a:off x="7909560" y="3693033"/>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کاشی‌ها و سطر «جمع کل» برای همهٔ ردیف‌های فیلترشده است، نه فقط این صفحه.</a:t>
            </a:r>
            <a:endParaRPr lang="en-US" sz="1250" dirty="0"/>
          </a:p>
        </p:txBody>
      </p:sp>
      <p:sp>
        <p:nvSpPr>
          <p:cNvPr id="22" name="Shape 19"/>
          <p:cNvSpPr/>
          <p:nvPr/>
        </p:nvSpPr>
        <p:spPr>
          <a:xfrm>
            <a:off x="11411712" y="4248531"/>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24853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24853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خروجی</a:t>
            </a:r>
            <a:endParaRPr lang="en-US" sz="1350" dirty="0"/>
          </a:p>
        </p:txBody>
      </p:sp>
      <p:sp>
        <p:nvSpPr>
          <p:cNvPr id="25" name="Text 22"/>
          <p:cNvSpPr/>
          <p:nvPr/>
        </p:nvSpPr>
        <p:spPr>
          <a:xfrm>
            <a:off x="7909560" y="4577715"/>
            <a:ext cx="3392424" cy="27774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«خروجی اکسل» و «چاپ / PDF» بالای صفحه.</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۹۴</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۴ — مرور اسناد</a:t>
            </a:r>
            <a:endParaRPr lang="en-US" sz="2500" dirty="0"/>
          </a:p>
        </p:txBody>
      </p:sp>
      <p:sp>
        <p:nvSpPr>
          <p:cNvPr id="3" name="Shape 1"/>
          <p:cNvSpPr/>
          <p:nvPr/>
        </p:nvSpPr>
        <p:spPr>
          <a:xfrm>
            <a:off x="9505188" y="896112"/>
            <a:ext cx="227228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614916" y="896112"/>
            <a:ext cx="205282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گزارش‌ها ← مرور اسناد</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rp_vr">    </p:cNvPr>
          <p:cNvPicPr>
            <a:picLocks noChangeAspect="1"/>
          </p:cNvPicPr>
          <p:nvPr/>
        </p:nvPicPr>
        <p:blipFill>
          <a:blip r:embed="rId1"/>
          <a:stretch>
            <a:fillRect/>
          </a:stretch>
        </p:blipFill>
        <p:spPr>
          <a:xfrm>
            <a:off x="484632" y="1500988"/>
            <a:ext cx="7077456" cy="4678985"/>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وقتی تراز نمی‌شود: سند یادداشت ۱۲۰۶ (آب و برق) ۴۲ میلیون بدهکار و ۴۰ میلیون بستانکار دارد؛ همین ۲ میلیون اختلاف جمع‌ها را توضیح می‌دهد.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هر سطر یک سند</a:t>
            </a:r>
            <a:endParaRPr lang="en-US" sz="1350" dirty="0"/>
          </a:p>
        </p:txBody>
      </p:sp>
      <p:sp>
        <p:nvSpPr>
          <p:cNvPr id="13" name="Text 10"/>
          <p:cNvSpPr/>
          <p:nvPr/>
        </p:nvSpPr>
        <p:spPr>
          <a:xfrm>
            <a:off x="7909560" y="170078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تاریخ، شمارهٔ عطف، نوع سند، وضعیت، شرح و جمع بدهکار و بستانکار همان سند.</a:t>
            </a:r>
            <a:endParaRPr lang="en-US" sz="1250" dirty="0"/>
          </a:p>
        </p:txBody>
      </p:sp>
      <p:sp>
        <p:nvSpPr>
          <p:cNvPr id="14" name="Shape 11"/>
          <p:cNvSpPr/>
          <p:nvPr/>
        </p:nvSpPr>
        <p:spPr>
          <a:xfrm>
            <a:off x="11411712" y="225628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5628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5628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سند نامتوازن</a:t>
            </a:r>
            <a:endParaRPr lang="en-US" sz="1350" dirty="0"/>
          </a:p>
        </p:txBody>
      </p:sp>
      <p:sp>
        <p:nvSpPr>
          <p:cNvPr id="17" name="Text 14"/>
          <p:cNvSpPr/>
          <p:nvPr/>
        </p:nvSpPr>
        <p:spPr>
          <a:xfrm>
            <a:off x="7909560" y="2585466"/>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کاشی «سند نامتوازن» تعداد را می‌گوید؛ سطر آن صورتی و با علامت هشدار کنار شماره است.</a:t>
            </a:r>
            <a:endParaRPr lang="en-US" sz="1250" dirty="0"/>
          </a:p>
        </p:txBody>
      </p:sp>
      <p:sp>
        <p:nvSpPr>
          <p:cNvPr id="18" name="Shape 15"/>
          <p:cNvSpPr/>
          <p:nvPr/>
        </p:nvSpPr>
        <p:spPr>
          <a:xfrm>
            <a:off x="11411712" y="3140964"/>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409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4096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فیلترها</a:t>
            </a:r>
            <a:endParaRPr lang="en-US" sz="1350" dirty="0"/>
          </a:p>
        </p:txBody>
      </p:sp>
      <p:sp>
        <p:nvSpPr>
          <p:cNvPr id="21" name="Text 18"/>
          <p:cNvSpPr/>
          <p:nvPr/>
        </p:nvSpPr>
        <p:spPr>
          <a:xfrm>
            <a:off x="7909560" y="3470148"/>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تاریخ، شمارهٔ سند، شمارهٔ عطف، وضعیت سند، نوع سند و «شرح سند شامل».</a:t>
            </a:r>
            <a:endParaRPr lang="en-US" sz="1250" dirty="0"/>
          </a:p>
        </p:txBody>
      </p:sp>
      <p:sp>
        <p:nvSpPr>
          <p:cNvPr id="22" name="Shape 19"/>
          <p:cNvSpPr/>
          <p:nvPr/>
        </p:nvSpPr>
        <p:spPr>
          <a:xfrm>
            <a:off x="11411712" y="402564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256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256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دیدن سند</a:t>
            </a:r>
            <a:endParaRPr lang="en-US" sz="1350" dirty="0"/>
          </a:p>
        </p:txBody>
      </p:sp>
      <p:sp>
        <p:nvSpPr>
          <p:cNvPr id="25" name="Text 22"/>
          <p:cNvSpPr/>
          <p:nvPr/>
        </p:nvSpPr>
        <p:spPr>
          <a:xfrm>
            <a:off x="7909560" y="4354830"/>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آیکون چشم سند را باز می‌کند تا اصلاحش کنید.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۹۵</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۵ — مرور حساب‌ها</a:t>
            </a:r>
            <a:endParaRPr lang="en-US" sz="2500" dirty="0"/>
          </a:p>
        </p:txBody>
      </p:sp>
      <p:sp>
        <p:nvSpPr>
          <p:cNvPr id="3" name="Shape 1"/>
          <p:cNvSpPr/>
          <p:nvPr/>
        </p:nvSpPr>
        <p:spPr>
          <a:xfrm>
            <a:off x="9349740" y="896112"/>
            <a:ext cx="242773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459468" y="896112"/>
            <a:ext cx="220827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گزارش‌ها ← مرور حساب‌ها</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rp_ar">    </p:cNvPr>
          <p:cNvPicPr>
            <a:picLocks noChangeAspect="1"/>
          </p:cNvPicPr>
          <p:nvPr/>
        </p:nvPicPr>
        <p:blipFill>
          <a:blip r:embed="rId1"/>
          <a:stretch>
            <a:fillRect/>
          </a:stretch>
        </p:blipFill>
        <p:spPr>
          <a:xfrm>
            <a:off x="1000935" y="1399032"/>
            <a:ext cx="6044851" cy="4882896"/>
          </a:xfrm>
          <a:prstGeom prst="rect">
            <a:avLst/>
          </a:prstGeom>
        </p:spPr>
      </p:pic>
      <p:sp>
        <p:nvSpPr>
          <p:cNvPr id="7" name="Shape 4"/>
          <p:cNvSpPr/>
          <p:nvPr/>
        </p:nvSpPr>
        <p:spPr>
          <a:xfrm>
            <a:off x="7909560" y="5023714"/>
            <a:ext cx="3867912" cy="1331366"/>
          </a:xfrm>
          <a:prstGeom prst="roundRect">
            <a:avLst>
              <a:gd name="adj" fmla="val 5495"/>
            </a:avLst>
          </a:prstGeom>
          <a:solidFill>
            <a:srgbClr val="E3F3EA"/>
          </a:solidFill>
          <a:ln w="9525">
            <a:solidFill>
              <a:srgbClr val="1E7A4C"/>
            </a:solidFill>
            <a:prstDash val="solid"/>
          </a:ln>
        </p:spPr>
      </p:sp>
      <p:sp>
        <p:nvSpPr>
          <p:cNvPr id="8" name="Text 5"/>
          <p:cNvSpPr/>
          <p:nvPr/>
        </p:nvSpPr>
        <p:spPr>
          <a:xfrm>
            <a:off x="8046720" y="5087722"/>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362042"/>
            <a:ext cx="3593592" cy="910742"/>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در سطح معین همان ۷ حساب تراز آزمایشی را می‌بینید؛ با کلیک روی ۸۲۰۱۰۱ (حقوق) به مراکز هزینه می‌روید: معاونت مالی ۹۵، پشتیبانی ۱۱۰ و فناوری ۷۵ میلیون.</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سطح گزارش</a:t>
            </a:r>
            <a:endParaRPr lang="en-US" sz="1350" dirty="0"/>
          </a:p>
        </p:txBody>
      </p:sp>
      <p:sp>
        <p:nvSpPr>
          <p:cNvPr id="13" name="Text 10"/>
          <p:cNvSpPr/>
          <p:nvPr/>
        </p:nvSpPr>
        <p:spPr>
          <a:xfrm>
            <a:off x="7909560" y="170078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گروه، کل یا معین؛ «سطح تفصیلی» و دکمه‌های استان، بیمه‌ای/درمانی، واحد و سند.</a:t>
            </a:r>
            <a:endParaRPr lang="en-US" sz="1250" dirty="0"/>
          </a:p>
        </p:txBody>
      </p:sp>
      <p:sp>
        <p:nvSpPr>
          <p:cNvPr id="14" name="Shape 11"/>
          <p:cNvSpPr/>
          <p:nvPr/>
        </p:nvSpPr>
        <p:spPr>
          <a:xfrm>
            <a:off x="11411712" y="225628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5628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5628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پیمایش</a:t>
            </a:r>
            <a:endParaRPr lang="en-US" sz="1350" dirty="0"/>
          </a:p>
        </p:txBody>
      </p:sp>
      <p:sp>
        <p:nvSpPr>
          <p:cNvPr id="17" name="Text 14"/>
          <p:cNvSpPr/>
          <p:nvPr/>
        </p:nvSpPr>
        <p:spPr>
          <a:xfrm>
            <a:off x="7909560" y="2585466"/>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روی سطر کلیک کنید تا یک سطح پایین‌تر برود؛ مسیر بالای صفحه نشان می‌دهد کجایید.</a:t>
            </a:r>
            <a:endParaRPr lang="en-US" sz="1250" dirty="0"/>
          </a:p>
        </p:txBody>
      </p:sp>
      <p:sp>
        <p:nvSpPr>
          <p:cNvPr id="18" name="Shape 15"/>
          <p:cNvSpPr/>
          <p:nvPr/>
        </p:nvSpPr>
        <p:spPr>
          <a:xfrm>
            <a:off x="11411712" y="3140964"/>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409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4096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برگشت</a:t>
            </a:r>
            <a:endParaRPr lang="en-US" sz="1350" dirty="0"/>
          </a:p>
        </p:txBody>
      </p:sp>
      <p:sp>
        <p:nvSpPr>
          <p:cNvPr id="21" name="Text 18"/>
          <p:cNvSpPr/>
          <p:nvPr/>
        </p:nvSpPr>
        <p:spPr>
          <a:xfrm>
            <a:off x="7909560" y="3470148"/>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روی «کل واحد» یا هر قسمت مسیر بزنید، یا «یک سطح بالاتر».</a:t>
            </a:r>
            <a:endParaRPr lang="en-US" sz="1250" dirty="0"/>
          </a:p>
        </p:txBody>
      </p:sp>
      <p:sp>
        <p:nvSpPr>
          <p:cNvPr id="22" name="Shape 19"/>
          <p:cNvSpPr/>
          <p:nvPr/>
        </p:nvSpPr>
        <p:spPr>
          <a:xfrm>
            <a:off x="11411712" y="402564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256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256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جستجو</a:t>
            </a:r>
            <a:endParaRPr lang="en-US" sz="1350" dirty="0"/>
          </a:p>
        </p:txBody>
      </p:sp>
      <p:sp>
        <p:nvSpPr>
          <p:cNvPr id="25" name="Text 22"/>
          <p:cNvSpPr/>
          <p:nvPr/>
        </p:nvSpPr>
        <p:spPr>
          <a:xfrm>
            <a:off x="7909560" y="4354830"/>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کادر «جستجو در کد یا عنوان» سطرهای همین نتیجه را محدود می‌کند.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۹۶</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۶ — از عدد تا سند (ریز کردن)</a:t>
            </a:r>
            <a:endParaRPr lang="en-US" sz="2500" dirty="0"/>
          </a:p>
        </p:txBody>
      </p:sp>
      <p:sp>
        <p:nvSpPr>
          <p:cNvPr id="3" name="Shape 1"/>
          <p:cNvSpPr/>
          <p:nvPr/>
        </p:nvSpPr>
        <p:spPr>
          <a:xfrm>
            <a:off x="9349740" y="896112"/>
            <a:ext cx="242773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459468" y="896112"/>
            <a:ext cx="220827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گزارش‌ها ← مرور حساب‌ها</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rp_ar_v">    </p:cNvPr>
          <p:cNvPicPr>
            <a:picLocks noChangeAspect="1"/>
          </p:cNvPicPr>
          <p:nvPr/>
        </p:nvPicPr>
        <p:blipFill>
          <a:blip r:embed="rId1"/>
          <a:stretch>
            <a:fillRect/>
          </a:stretch>
        </p:blipFill>
        <p:spPr>
          <a:xfrm>
            <a:off x="502041" y="1399032"/>
            <a:ext cx="7042638"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پرسش «۱۳۵ میلیون ماندهٔ مهرِ بانک از کجاست؟»: سند ۱۲۰۲ با ۴۵۰ ورودی و اسناد ۱۲۰۳ و ۱۲۰۵ با ۳۵ و ۲۸۰ خروجی. کاشی «اختلاف» همان ماندهٔ ۱۳۵ است.</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مسیر</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بالای صفحه: «کل واحد ← معین ۱۱۰۲۰۱ بانک‌ها» و برچسب «سطح: سند».</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سطرهای سند</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سطر یک سند است با گردش همین حساب در آن سند.</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باز کردن سند</a:t>
            </a:r>
            <a:endParaRPr lang="en-US" sz="1350" dirty="0"/>
          </a:p>
        </p:txBody>
      </p:sp>
      <p:sp>
        <p:nvSpPr>
          <p:cNvPr id="21" name="Text 18"/>
          <p:cNvSpPr/>
          <p:nvPr/>
        </p:nvSpPr>
        <p:spPr>
          <a:xfrm>
            <a:off x="7909560" y="3505810"/>
            <a:ext cx="339242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آیکون کنار سطر، خود سند را نمایش می‌دهد.</a:t>
            </a:r>
            <a:endParaRPr lang="en-US" sz="1300" dirty="0"/>
          </a:p>
        </p:txBody>
      </p:sp>
      <p:sp>
        <p:nvSpPr>
          <p:cNvPr id="22" name="Shape 19"/>
          <p:cNvSpPr/>
          <p:nvPr/>
        </p:nvSpPr>
        <p:spPr>
          <a:xfrm>
            <a:off x="11411712" y="3847338"/>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8473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8473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از تراز و دفتر کل</a:t>
            </a:r>
            <a:endParaRPr lang="en-US" sz="1350" dirty="0"/>
          </a:p>
        </p:txBody>
      </p:sp>
      <p:sp>
        <p:nvSpPr>
          <p:cNvPr id="25" name="Text 22"/>
          <p:cNvSpPr/>
          <p:nvPr/>
        </p:nvSpPr>
        <p:spPr>
          <a:xfrm>
            <a:off x="7909560" y="4176522"/>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آیکون درختی کنار نام حساب در تراز و دفتر کل، مستقیم همین صفحه را باز می‌کند.</a:t>
            </a:r>
            <a:endParaRPr lang="en-US" sz="13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۹۷</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۷ — چند واحد و تفکیک استان</a:t>
            </a:r>
            <a:endParaRPr lang="en-US" sz="2500" dirty="0"/>
          </a:p>
        </p:txBody>
      </p:sp>
      <p:sp>
        <p:nvSpPr>
          <p:cNvPr id="3" name="Shape 1"/>
          <p:cNvSpPr/>
          <p:nvPr/>
        </p:nvSpPr>
        <p:spPr>
          <a:xfrm>
            <a:off x="9349740" y="896112"/>
            <a:ext cx="242773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459468" y="896112"/>
            <a:ext cx="220827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گزارش‌ها ← مرور حساب‌ها</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rp_ar_p">    </p:cNvPr>
          <p:cNvPicPr>
            <a:picLocks noChangeAspect="1"/>
          </p:cNvPicPr>
          <p:nvPr/>
        </p:nvPicPr>
        <p:blipFill>
          <a:blip r:embed="rId1"/>
          <a:stretch>
            <a:fillRect/>
          </a:stretch>
        </p:blipFill>
        <p:spPr>
          <a:xfrm>
            <a:off x="891067" y="1399032"/>
            <a:ext cx="6264585"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معین ۱۳۰۱۰۱ مطالبات حق بیمه در مهر به تفکیک استان: سطر تهران همان ۶۰۰ و ۴۵۰ میلیون مثال ماست؛ استان‌های دیگر کنارش می‌آیند.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دامنه</a:t>
            </a:r>
            <a:endParaRPr lang="en-US" sz="1350" dirty="0"/>
          </a:p>
        </p:txBody>
      </p:sp>
      <p:sp>
        <p:nvSpPr>
          <p:cNvPr id="13" name="Text 10"/>
          <p:cNvSpPr/>
          <p:nvPr/>
        </p:nvSpPr>
        <p:spPr>
          <a:xfrm>
            <a:off x="7909560" y="1700784"/>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«همهٔ واحدهای کشور» یا «واحد جاری و زیرمجموعه» را انتخاب کنید؛ مبالغ جمع همهٔ واحدهاست.</a:t>
            </a:r>
            <a:endParaRPr lang="en-US" sz="1250" dirty="0"/>
          </a:p>
        </p:txBody>
      </p:sp>
      <p:sp>
        <p:nvSpPr>
          <p:cNvPr id="14" name="Shape 11"/>
          <p:cNvSpPr/>
          <p:nvPr/>
        </p:nvSpPr>
        <p:spPr>
          <a:xfrm>
            <a:off x="11411712" y="2479167"/>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47916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479167"/>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تفکیک</a:t>
            </a:r>
            <a:endParaRPr lang="en-US" sz="1350" dirty="0"/>
          </a:p>
        </p:txBody>
      </p:sp>
      <p:sp>
        <p:nvSpPr>
          <p:cNvPr id="17" name="Text 14"/>
          <p:cNvSpPr/>
          <p:nvPr/>
        </p:nvSpPr>
        <p:spPr>
          <a:xfrm>
            <a:off x="7909560" y="2808351"/>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دکمهٔ «استان»، سپس «بیمه‌ای / درمانی»، «واحد» و در آخر «سند».</a:t>
            </a:r>
            <a:endParaRPr lang="en-US" sz="1250" dirty="0"/>
          </a:p>
        </p:txBody>
      </p:sp>
      <p:sp>
        <p:nvSpPr>
          <p:cNvPr id="18" name="Shape 15"/>
          <p:cNvSpPr/>
          <p:nvPr/>
        </p:nvSpPr>
        <p:spPr>
          <a:xfrm>
            <a:off x="11411712" y="3363849"/>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36384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36384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محدود کردن</a:t>
            </a:r>
            <a:endParaRPr lang="en-US" sz="1350" dirty="0"/>
          </a:p>
        </p:txBody>
      </p:sp>
      <p:sp>
        <p:nvSpPr>
          <p:cNvPr id="21" name="Text 18"/>
          <p:cNvSpPr/>
          <p:nvPr/>
        </p:nvSpPr>
        <p:spPr>
          <a:xfrm>
            <a:off x="7909560" y="3693033"/>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فیلترهای «استان» و «گروه واحدها» در نوار دامنهٔ واحد.</a:t>
            </a:r>
            <a:endParaRPr lang="en-US" sz="1250" dirty="0"/>
          </a:p>
        </p:txBody>
      </p:sp>
      <p:sp>
        <p:nvSpPr>
          <p:cNvPr id="22" name="Shape 19"/>
          <p:cNvSpPr/>
          <p:nvPr/>
        </p:nvSpPr>
        <p:spPr>
          <a:xfrm>
            <a:off x="11411712" y="4248531"/>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24853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24853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سطر به سطر</a:t>
            </a:r>
            <a:endParaRPr lang="en-US" sz="1350" dirty="0"/>
          </a:p>
        </p:txBody>
      </p:sp>
      <p:sp>
        <p:nvSpPr>
          <p:cNvPr id="25" name="Text 22"/>
          <p:cNvSpPr/>
          <p:nvPr/>
        </p:nvSpPr>
        <p:spPr>
          <a:xfrm>
            <a:off x="7909560" y="4577715"/>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کلیک روی یک استان، همان استان را یک سطح پایین‌تر باز می‌کند.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۹۸</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۸ — گزارش ماتریسی</a:t>
            </a:r>
            <a:endParaRPr lang="en-US" sz="2500" dirty="0"/>
          </a:p>
        </p:txBody>
      </p:sp>
      <p:sp>
        <p:nvSpPr>
          <p:cNvPr id="3" name="Shape 1"/>
          <p:cNvSpPr/>
          <p:nvPr/>
        </p:nvSpPr>
        <p:spPr>
          <a:xfrm>
            <a:off x="9272016" y="896112"/>
            <a:ext cx="250545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381744" y="896112"/>
            <a:ext cx="228600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گزارش‌ها ← گزارش ماتریسی</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rp_mx">    </p:cNvPr>
          <p:cNvPicPr>
            <a:picLocks noChangeAspect="1"/>
          </p:cNvPicPr>
          <p:nvPr/>
        </p:nvPicPr>
        <p:blipFill>
          <a:blip r:embed="rId1"/>
          <a:stretch>
            <a:fillRect/>
          </a:stretch>
        </p:blipFill>
        <p:spPr>
          <a:xfrm>
            <a:off x="484632" y="1422349"/>
            <a:ext cx="7077456" cy="4836262"/>
          </a:xfrm>
          <a:prstGeom prst="rect">
            <a:avLst/>
          </a:prstGeom>
        </p:spPr>
      </p:pic>
      <p:sp>
        <p:nvSpPr>
          <p:cNvPr id="7" name="Shape 4"/>
          <p:cNvSpPr/>
          <p:nvPr/>
        </p:nvSpPr>
        <p:spPr>
          <a:xfrm>
            <a:off x="7909560" y="5023714"/>
            <a:ext cx="3867912" cy="1331366"/>
          </a:xfrm>
          <a:prstGeom prst="roundRect">
            <a:avLst>
              <a:gd name="adj" fmla="val 5495"/>
            </a:avLst>
          </a:prstGeom>
          <a:solidFill>
            <a:srgbClr val="E3F3EA"/>
          </a:solidFill>
          <a:ln w="9525">
            <a:solidFill>
              <a:srgbClr val="1E7A4C"/>
            </a:solidFill>
            <a:prstDash val="solid"/>
          </a:ln>
        </p:spPr>
      </p:sp>
      <p:sp>
        <p:nvSpPr>
          <p:cNvPr id="8" name="Text 5"/>
          <p:cNvSpPr/>
          <p:nvPr/>
        </p:nvSpPr>
        <p:spPr>
          <a:xfrm>
            <a:off x="8046720" y="5087722"/>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362042"/>
            <a:ext cx="3593592" cy="910742"/>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تفصیلی ۱ (مرکز هزینه) × معین هزینه، مهر: ادارهٔ پشتیبانی ۱۱۰ حقوق + ۳۵ نوشت‌افزار + ۱۲۰ تعمیر = ۲۶۵ میلیون. «اختلاف» این‌جا طبیعی است چون فقط سمت هزینه فیلتر شده.</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دو بُعد</a:t>
            </a:r>
            <a:endParaRPr lang="en-US" sz="1350" dirty="0"/>
          </a:p>
        </p:txBody>
      </p:sp>
      <p:sp>
        <p:nvSpPr>
          <p:cNvPr id="13" name="Text 10"/>
          <p:cNvSpPr/>
          <p:nvPr/>
        </p:nvSpPr>
        <p:spPr>
          <a:xfrm>
            <a:off x="7909560" y="1700784"/>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«بُعد سطر» و «بُعد ستون» را از میان استان، واحد، گروه/کل/معین و تفصیلی‌ها انتخاب کنید.</a:t>
            </a:r>
            <a:endParaRPr lang="en-US" sz="1200" dirty="0"/>
          </a:p>
        </p:txBody>
      </p:sp>
      <p:sp>
        <p:nvSpPr>
          <p:cNvPr id="14" name="Shape 11"/>
          <p:cNvSpPr/>
          <p:nvPr/>
        </p:nvSpPr>
        <p:spPr>
          <a:xfrm>
            <a:off x="11411712" y="2238451"/>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3845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3845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جابه‌جایی</a:t>
            </a:r>
            <a:endParaRPr lang="en-US" sz="1350" dirty="0"/>
          </a:p>
        </p:txBody>
      </p:sp>
      <p:sp>
        <p:nvSpPr>
          <p:cNvPr id="17" name="Text 14"/>
          <p:cNvSpPr/>
          <p:nvPr/>
        </p:nvSpPr>
        <p:spPr>
          <a:xfrm>
            <a:off x="7909560" y="2567635"/>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دکمهٔ فلش میان دو بُعد، جای سطر و ستون را عوض می‌کند.</a:t>
            </a:r>
            <a:endParaRPr lang="en-US" sz="1200" dirty="0"/>
          </a:p>
        </p:txBody>
      </p:sp>
      <p:sp>
        <p:nvSpPr>
          <p:cNvPr id="18" name="Shape 15"/>
          <p:cNvSpPr/>
          <p:nvPr/>
        </p:nvSpPr>
        <p:spPr>
          <a:xfrm>
            <a:off x="11411712" y="3105302"/>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0530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0530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فیلتر کد</a:t>
            </a:r>
            <a:endParaRPr lang="en-US" sz="1350" dirty="0"/>
          </a:p>
        </p:txBody>
      </p:sp>
      <p:sp>
        <p:nvSpPr>
          <p:cNvPr id="21" name="Text 18"/>
          <p:cNvSpPr/>
          <p:nvPr/>
        </p:nvSpPr>
        <p:spPr>
          <a:xfrm>
            <a:off x="7909560" y="3434486"/>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«فیلتر سطر/ستون: کد … شروع با»؛ مثلاً ۸۲ فقط معین‌های هزینه را ستون می‌کند.</a:t>
            </a:r>
            <a:endParaRPr lang="en-US" sz="1200" dirty="0"/>
          </a:p>
        </p:txBody>
      </p:sp>
      <p:sp>
        <p:nvSpPr>
          <p:cNvPr id="22" name="Shape 19"/>
          <p:cNvSpPr/>
          <p:nvPr/>
        </p:nvSpPr>
        <p:spPr>
          <a:xfrm>
            <a:off x="11411712" y="3972154"/>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97215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97215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خانه‌ها</a:t>
            </a:r>
            <a:endParaRPr lang="en-US" sz="1350" dirty="0"/>
          </a:p>
        </p:txBody>
      </p:sp>
      <p:sp>
        <p:nvSpPr>
          <p:cNvPr id="25" name="Text 22"/>
          <p:cNvSpPr/>
          <p:nvPr/>
        </p:nvSpPr>
        <p:spPr>
          <a:xfrm>
            <a:off x="7909560" y="4301338"/>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هر خانه بدهکار و بستانکار تقاطع است؛ ۰ یعنی گردشی ثبت نشده. «جمع سطر» و «جمع ستون» دارد.</a:t>
            </a:r>
            <a:endParaRPr lang="en-US" sz="12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۹۹</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۹ — ارتباط گروه تفصیلی با معین</a:t>
            </a:r>
            <a:endParaRPr lang="en-US" sz="2500" dirty="0"/>
          </a:p>
        </p:txBody>
      </p:sp>
      <p:sp>
        <p:nvSpPr>
          <p:cNvPr id="3" name="Shape 1"/>
          <p:cNvSpPr/>
          <p:nvPr/>
        </p:nvSpPr>
        <p:spPr>
          <a:xfrm>
            <a:off x="8261604" y="896112"/>
            <a:ext cx="351586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371332" y="896112"/>
            <a:ext cx="329641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گزارش‌ها ← ارتباط گروه تفصیلی با معین</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rp_tl">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تفصیلی (جزئی‌تر از معین) مثل مرکز هزینه یا نام شرکت است. معین ۳۱۰۱۰۱ پیمانکاران در سطح ۱ «اشخاص و شرکت‌ها» و در سطح ۲ «پروژه‌ها» می‌خواهد.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فیلترها</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معین، سطح تفصیلی، گروه تفصیلی یا یک تفصیلی خاص؛ بدون فیلتر همه می‌آید.</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هر سطر</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یک معین، یکی از سطح‌های تفصیلی آن و گروه مجاز در آن سطح.</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کاربرد</a:t>
            </a:r>
            <a:endParaRPr lang="en-US" sz="1350" dirty="0"/>
          </a:p>
        </p:txBody>
      </p:sp>
      <p:sp>
        <p:nvSpPr>
          <p:cNvPr id="21" name="Text 18"/>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پیش از ثبت سند ببینید روی هر معین چه تفصیلی‌ای باید انتخاب شود.</a:t>
            </a:r>
            <a:endParaRPr lang="en-US" sz="130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۱۰۰</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«شناسه» روی حساب یعنی چه؟</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برخی معین‌ها علاوه بر تفصیلی، یک «شناسه» هم روی هر ردیف می‌گیرند؛ مثلاً کد کارگاه کارفرما یا شمارهٔ قرارداد. شناسه کمک می‌کند هر طلب یا بدهی را تا تسویه‌اش جدا دنبال کنیم.</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جمع‌پذیر</a:t>
            </a:r>
            <a:endParaRPr lang="en-US" sz="1350" dirty="0"/>
          </a:p>
        </p:txBody>
      </p:sp>
      <p:sp>
        <p:nvSpPr>
          <p:cNvPr id="8" name="Text 6"/>
          <p:cNvSpPr/>
          <p:nvPr/>
        </p:nvSpPr>
        <p:spPr>
          <a:xfrm>
            <a:off x="5440680" y="2621356"/>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ماندهٔ هر شناسه سرانجام باید صفر شود؛ مانده یعنی هنوز تسویه نشده.</a:t>
            </a:r>
            <a:endParaRPr lang="en-US" sz="1300" dirty="0"/>
          </a:p>
        </p:txBody>
      </p:sp>
      <p:sp>
        <p:nvSpPr>
          <p:cNvPr id="9" name="Shape 7"/>
          <p:cNvSpPr/>
          <p:nvPr/>
        </p:nvSpPr>
        <p:spPr>
          <a:xfrm>
            <a:off x="11411712" y="29628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29628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29628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جمع‌ناپذیر</a:t>
            </a:r>
            <a:endParaRPr lang="en-US" sz="1350" dirty="0"/>
          </a:p>
        </p:txBody>
      </p:sp>
      <p:sp>
        <p:nvSpPr>
          <p:cNvPr id="12" name="Text 10"/>
          <p:cNvSpPr/>
          <p:nvPr/>
        </p:nvSpPr>
        <p:spPr>
          <a:xfrm>
            <a:off x="5440680" y="3292069"/>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علاوه بر صفر شدن، هر بدهکار باید با یک بستانکار هم‌مبلغ جفت شود.</a:t>
            </a:r>
            <a:endParaRPr lang="en-US" sz="1300" dirty="0"/>
          </a:p>
        </p:txBody>
      </p:sp>
      <p:sp>
        <p:nvSpPr>
          <p:cNvPr id="13" name="Shape 11"/>
          <p:cNvSpPr/>
          <p:nvPr/>
        </p:nvSpPr>
        <p:spPr>
          <a:xfrm>
            <a:off x="11411712" y="3633597"/>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363359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3633597"/>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ردیف بی‌شناسه</a:t>
            </a:r>
            <a:endParaRPr lang="en-US" sz="1350" dirty="0"/>
          </a:p>
        </p:txBody>
      </p:sp>
      <p:sp>
        <p:nvSpPr>
          <p:cNvPr id="16" name="Text 14"/>
          <p:cNvSpPr/>
          <p:nvPr/>
        </p:nvSpPr>
        <p:spPr>
          <a:xfrm>
            <a:off x="5440680" y="3962781"/>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ردیفی که روی معین شناسه‌دار بدون شناسه ثبت شده، همیشه مغایرت است.</a:t>
            </a:r>
            <a:endParaRPr lang="en-US" sz="1300" dirty="0"/>
          </a:p>
        </p:txBody>
      </p:sp>
      <p:sp>
        <p:nvSpPr>
          <p:cNvPr id="17" name="Shape 15"/>
          <p:cNvSpPr/>
          <p:nvPr/>
        </p:nvSpPr>
        <p:spPr>
          <a:xfrm>
            <a:off x="411480" y="1097280"/>
            <a:ext cx="4754880" cy="2768346"/>
          </a:xfrm>
          <a:prstGeom prst="roundRect">
            <a:avLst>
              <a:gd name="adj" fmla="val 3303"/>
            </a:avLst>
          </a:prstGeom>
          <a:solidFill>
            <a:srgbClr val="E3F3EA"/>
          </a:solidFill>
          <a:ln w="9525">
            <a:solidFill>
              <a:srgbClr val="1E7A4C"/>
            </a:solidFill>
            <a:prstDash val="solid"/>
          </a:ln>
        </p:spPr>
      </p:sp>
      <p:sp>
        <p:nvSpPr>
          <p:cNvPr id="18" name="Text 16"/>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کد کارگاه 1203458 — شرکت فولاد البرز</a:t>
            </a:r>
            <a:endParaRPr lang="en-US" sz="150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594360" y="1691640"/>
          <a:ext cx="4389120" cy="914400"/>
        </p:xfrm>
        <a:graphic>
          <a:graphicData uri="http://schemas.openxmlformats.org/drawingml/2006/table">
            <a:tbl>
              <a:tblPr rtl="1"/>
              <a:tblGrid>
                <a:gridCol w="1755648"/>
                <a:gridCol w="1316736"/>
                <a:gridCol w="1316736"/>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سند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بدهکار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بستانکار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۱۲۰۱ ثبت طلب مهر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۶۰۰,۰۰۰,۰۰۰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۱۲۰۲ وصول بخشی از آن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۴۵۰,۰۰۰,۰۰۰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ماندهٔ شناسه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۱۵۰,۰۰۰,۰۰۰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bl>
          </a:graphicData>
        </a:graphic>
      </p:graphicFrame>
      <p:sp>
        <p:nvSpPr>
          <p:cNvPr id="20" name="Text 17"/>
          <p:cNvSpPr/>
          <p:nvPr/>
        </p:nvSpPr>
        <p:spPr>
          <a:xfrm>
            <a:off x="594360" y="3145536"/>
            <a:ext cx="4389120" cy="62865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۱۵۰ میلیون هنوز وصول نشده؛ گزارش مغایرت‌گیری این شناسه را با برچسب «مانده صفر نیست» نشان می‌دهد.</a:t>
            </a:r>
            <a:endParaRPr lang="en-US" sz="1250" dirty="0"/>
          </a:p>
        </p:txBody>
      </p:sp>
      <p:sp>
        <p:nvSpPr>
          <p:cNvPr id="21" name="Text 18"/>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۱۰۱</a:t>
            </a:r>
            <a:endParaRPr lang="en-US" sz="1000" dirty="0"/>
          </a:p>
        </p:txBody>
      </p:sp>
      <p:sp>
        <p:nvSpPr>
          <p:cNvPr id="22" name="Text 19"/>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۱۰ — مغایرت‌گیری حساب‌های شناسه‌دار</a:t>
            </a:r>
            <a:endParaRPr lang="en-US" sz="2500" dirty="0"/>
          </a:p>
        </p:txBody>
      </p:sp>
      <p:sp>
        <p:nvSpPr>
          <p:cNvPr id="3" name="Shape 1"/>
          <p:cNvSpPr/>
          <p:nvPr/>
        </p:nvSpPr>
        <p:spPr>
          <a:xfrm>
            <a:off x="7950708" y="896112"/>
            <a:ext cx="382676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060436" y="896112"/>
            <a:ext cx="360730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گزارش‌ها ← مغایرت‌گیری حساب‌های شناسه‌دار</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rp_at">    </p:cNvPr>
          <p:cNvPicPr>
            <a:picLocks noChangeAspect="1"/>
          </p:cNvPicPr>
          <p:nvPr/>
        </p:nvPicPr>
        <p:blipFill>
          <a:blip r:embed="rId1"/>
          <a:stretch>
            <a:fillRect/>
          </a:stretch>
        </p:blipFill>
        <p:spPr>
          <a:xfrm>
            <a:off x="1009227" y="1399032"/>
            <a:ext cx="6028267"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مطالبات حق بیمه: شناسهٔ 1203458 «مانده صفر نیست» (۱۵۰ میلیون) و یک ردیف ۴۰ میلیونی «ردیف بدون شناسه» که باید کد کارگاهش اصلاح شود.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معین‌ها</a:t>
            </a:r>
            <a:endParaRPr lang="en-US" sz="1350" dirty="0"/>
          </a:p>
        </p:txBody>
      </p:sp>
      <p:sp>
        <p:nvSpPr>
          <p:cNvPr id="13" name="Text 10"/>
          <p:cNvSpPr/>
          <p:nvPr/>
        </p:nvSpPr>
        <p:spPr>
          <a:xfrm>
            <a:off x="7909560" y="170078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هر معین شناسه‌دار با حالت شناسه، گردش، مانده، تعداد شناسه و برچسب مغایرت.</a:t>
            </a:r>
            <a:endParaRPr lang="en-US" sz="1250" dirty="0"/>
          </a:p>
        </p:txBody>
      </p:sp>
      <p:sp>
        <p:nvSpPr>
          <p:cNvPr id="14" name="Shape 11"/>
          <p:cNvSpPr/>
          <p:nvPr/>
        </p:nvSpPr>
        <p:spPr>
          <a:xfrm>
            <a:off x="11411712" y="225628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5628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5628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ریز شناسه‌ها</a:t>
            </a:r>
            <a:endParaRPr lang="en-US" sz="1350" dirty="0"/>
          </a:p>
        </p:txBody>
      </p:sp>
      <p:sp>
        <p:nvSpPr>
          <p:cNvPr id="17" name="Text 14"/>
          <p:cNvSpPr/>
          <p:nvPr/>
        </p:nvSpPr>
        <p:spPr>
          <a:xfrm>
            <a:off x="7909560" y="2585466"/>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این دکمه شناسه‌های همان معین را با وضعیت «تطبیق» یا علت مغایرت باز می‌کند.</a:t>
            </a:r>
            <a:endParaRPr lang="en-US" sz="1250" dirty="0"/>
          </a:p>
        </p:txBody>
      </p:sp>
      <p:sp>
        <p:nvSpPr>
          <p:cNvPr id="18" name="Shape 15"/>
          <p:cNvSpPr/>
          <p:nvPr/>
        </p:nvSpPr>
        <p:spPr>
          <a:xfrm>
            <a:off x="11411712" y="3140964"/>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409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4096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ریز سند</a:t>
            </a:r>
            <a:endParaRPr lang="en-US" sz="1350" dirty="0"/>
          </a:p>
        </p:txBody>
      </p:sp>
      <p:sp>
        <p:nvSpPr>
          <p:cNvPr id="21" name="Text 18"/>
          <p:cNvSpPr/>
          <p:nvPr/>
        </p:nvSpPr>
        <p:spPr>
          <a:xfrm>
            <a:off x="7909560" y="3470148"/>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ردیف‌های سندِ یک شناسه را با جمع بدهکار و بستانکار نشان می‌دهد؛ چشم، سند را باز می‌کند.</a:t>
            </a:r>
            <a:endParaRPr lang="en-US" sz="1250" dirty="0"/>
          </a:p>
        </p:txBody>
      </p:sp>
      <p:sp>
        <p:nvSpPr>
          <p:cNvPr id="22" name="Shape 19"/>
          <p:cNvSpPr/>
          <p:nvPr/>
        </p:nvSpPr>
        <p:spPr>
          <a:xfrm>
            <a:off x="11411712" y="4248531"/>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24853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24853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فقط مغایرها</a:t>
            </a:r>
            <a:endParaRPr lang="en-US" sz="1350" dirty="0"/>
          </a:p>
        </p:txBody>
      </p:sp>
      <p:sp>
        <p:nvSpPr>
          <p:cNvPr id="25" name="Text 22"/>
          <p:cNvSpPr/>
          <p:nvPr/>
        </p:nvSpPr>
        <p:spPr>
          <a:xfrm>
            <a:off x="7909560" y="4577715"/>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این کلید فهرست را به معین‌ها و شناسه‌های مشکل‌دار محدود می‌کند.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۱۰۲</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۱۱ — هرم سنی</a:t>
            </a:r>
            <a:endParaRPr lang="en-US" sz="2500" dirty="0"/>
          </a:p>
        </p:txBody>
      </p:sp>
      <p:sp>
        <p:nvSpPr>
          <p:cNvPr id="3" name="Shape 1"/>
          <p:cNvSpPr/>
          <p:nvPr/>
        </p:nvSpPr>
        <p:spPr>
          <a:xfrm>
            <a:off x="9738360" y="896112"/>
            <a:ext cx="203911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848088" y="896112"/>
            <a:ext cx="181965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گزارش‌ها ← هرم سنی</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rp_ap">    </p:cNvPr>
          <p:cNvPicPr>
            <a:picLocks noChangeAspect="1"/>
          </p:cNvPicPr>
          <p:nvPr/>
        </p:nvPicPr>
        <p:blipFill>
          <a:blip r:embed="rId1"/>
          <a:stretch>
            <a:fillRect/>
          </a:stretch>
        </p:blipFill>
        <p:spPr>
          <a:xfrm>
            <a:off x="484632" y="1870588"/>
            <a:ext cx="7077456" cy="3939784"/>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وقتی بپرسید «کدام طلب‌ها قدیمی شده‌اند؟»: کارگاه 0987412 از ۱۳۹۹ مانده دارد و به ۲۰۵ میلیون رسیده؛ 1203458 امسال شروع شده (۱۵۰ میلیون).</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فیلترها</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«معین شناسه‌دار» (چندانتخابی) و بازهٔ «از شناسه / تا شناسه»؛ سپس «جستجو».</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سن</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از سال شروع شناسه تا سال گزارش؛ شناسه‌های با سن حداکثر ۱۰ سال می‌آیند.</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ستون‌های سال</a:t>
            </a:r>
            <a:endParaRPr lang="en-US" sz="1350" dirty="0"/>
          </a:p>
        </p:txBody>
      </p:sp>
      <p:sp>
        <p:nvSpPr>
          <p:cNvPr id="21" name="Text 18"/>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ماندهٔ تجمعی هر سال؛ سال‌های پیش از شروع خالی است و شکل «هرم» می‌سازد.</a:t>
            </a:r>
            <a:endParaRPr lang="en-US" sz="130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۱۰۳</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۱۲ — مغایرت افتتاحیه با سال قبل</a:t>
            </a:r>
            <a:endParaRPr lang="en-US" sz="2500" dirty="0"/>
          </a:p>
        </p:txBody>
      </p:sp>
      <p:sp>
        <p:nvSpPr>
          <p:cNvPr id="3" name="Shape 1"/>
          <p:cNvSpPr/>
          <p:nvPr/>
        </p:nvSpPr>
        <p:spPr>
          <a:xfrm>
            <a:off x="7717536" y="896112"/>
            <a:ext cx="405993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7827264" y="896112"/>
            <a:ext cx="384048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گزارش‌ها ← مغایرت افتتاحیه با ماندهٔ سال قبل</a:t>
            </a:r>
            <a:endParaRPr lang="en-US" sz="1100" dirty="0"/>
          </a:p>
        </p:txBody>
      </p:sp>
      <p:sp>
        <p:nvSpPr>
          <p:cNvPr id="5" name="Shape 3"/>
          <p:cNvSpPr/>
          <p:nvPr/>
        </p:nvSpPr>
        <p:spPr>
          <a:xfrm>
            <a:off x="411480" y="1325880"/>
            <a:ext cx="11365992" cy="2585923"/>
          </a:xfrm>
          <a:prstGeom prst="roundRect">
            <a:avLst>
              <a:gd name="adj" fmla="val 2829"/>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rp_ob_s">    </p:cNvPr>
          <p:cNvPicPr>
            <a:picLocks noChangeAspect="1"/>
          </p:cNvPicPr>
          <p:nvPr/>
        </p:nvPicPr>
        <p:blipFill>
          <a:blip r:embed="rId1"/>
          <a:stretch>
            <a:fillRect/>
          </a:stretch>
        </p:blipFill>
        <p:spPr>
          <a:xfrm>
            <a:off x="2085485" y="1371600"/>
            <a:ext cx="8017982" cy="2494483"/>
          </a:xfrm>
          <a:prstGeom prst="rect">
            <a:avLst/>
          </a:prstGeom>
        </p:spPr>
      </p:pic>
      <p:sp>
        <p:nvSpPr>
          <p:cNvPr id="7" name="Shape 4"/>
          <p:cNvSpPr/>
          <p:nvPr/>
        </p:nvSpPr>
        <p:spPr>
          <a:xfrm>
            <a:off x="9073134" y="4094683"/>
            <a:ext cx="2704338" cy="1373429"/>
          </a:xfrm>
          <a:prstGeom prst="roundRect">
            <a:avLst>
              <a:gd name="adj" fmla="val 6658"/>
            </a:avLst>
          </a:prstGeom>
          <a:solidFill>
            <a:srgbClr val="FFFFFF"/>
          </a:solidFill>
          <a:ln w="6350">
            <a:solidFill>
              <a:srgbClr val="D9DEE7"/>
            </a:solidFill>
            <a:prstDash val="solid"/>
          </a:ln>
        </p:spPr>
      </p:sp>
      <p:sp>
        <p:nvSpPr>
          <p:cNvPr id="8" name="Shape 5"/>
          <p:cNvSpPr/>
          <p:nvPr/>
        </p:nvSpPr>
        <p:spPr>
          <a:xfrm>
            <a:off x="11320272" y="4204411"/>
            <a:ext cx="329184" cy="329184"/>
          </a:xfrm>
          <a:prstGeom prst="ellipse">
            <a:avLst/>
          </a:prstGeom>
          <a:solidFill>
            <a:srgbClr val="C9A227"/>
          </a:solidFill>
          <a:ln w="12700">
            <a:solidFill>
              <a:srgbClr val="C9A227"/>
            </a:solidFill>
            <a:prstDash val="solid"/>
          </a:ln>
        </p:spPr>
      </p:sp>
      <p:sp>
        <p:nvSpPr>
          <p:cNvPr id="9" name="Text 6"/>
          <p:cNvSpPr/>
          <p:nvPr/>
        </p:nvSpPr>
        <p:spPr>
          <a:xfrm>
            <a:off x="11320272" y="420441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9210294" y="4186123"/>
            <a:ext cx="2064258"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سند افتتاحیه</a:t>
            </a:r>
            <a:endParaRPr lang="en-US" sz="1350" dirty="0"/>
          </a:p>
        </p:txBody>
      </p:sp>
      <p:sp>
        <p:nvSpPr>
          <p:cNvPr id="11" name="Text 8"/>
          <p:cNvSpPr/>
          <p:nvPr/>
        </p:nvSpPr>
        <p:spPr>
          <a:xfrm>
            <a:off x="9210294" y="4625035"/>
            <a:ext cx="2430018" cy="806501"/>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اولین سند هر سال که مانده‌های پایان سال قبل را به سال جدید می‌آورد.</a:t>
            </a:r>
            <a:endParaRPr lang="en-US" sz="1200" dirty="0"/>
          </a:p>
        </p:txBody>
      </p:sp>
      <p:sp>
        <p:nvSpPr>
          <p:cNvPr id="12" name="Shape 9"/>
          <p:cNvSpPr/>
          <p:nvPr/>
        </p:nvSpPr>
        <p:spPr>
          <a:xfrm>
            <a:off x="6185916" y="4094683"/>
            <a:ext cx="2704338" cy="1373429"/>
          </a:xfrm>
          <a:prstGeom prst="roundRect">
            <a:avLst>
              <a:gd name="adj" fmla="val 6658"/>
            </a:avLst>
          </a:prstGeom>
          <a:solidFill>
            <a:srgbClr val="FFFFFF"/>
          </a:solidFill>
          <a:ln w="6350">
            <a:solidFill>
              <a:srgbClr val="D9DEE7"/>
            </a:solidFill>
            <a:prstDash val="solid"/>
          </a:ln>
        </p:spPr>
      </p:sp>
      <p:sp>
        <p:nvSpPr>
          <p:cNvPr id="13" name="Shape 10"/>
          <p:cNvSpPr/>
          <p:nvPr/>
        </p:nvSpPr>
        <p:spPr>
          <a:xfrm>
            <a:off x="8433054" y="4204411"/>
            <a:ext cx="329184" cy="329184"/>
          </a:xfrm>
          <a:prstGeom prst="ellipse">
            <a:avLst/>
          </a:prstGeom>
          <a:solidFill>
            <a:srgbClr val="C9A227"/>
          </a:solidFill>
          <a:ln w="12700">
            <a:solidFill>
              <a:srgbClr val="C9A227"/>
            </a:solidFill>
            <a:prstDash val="solid"/>
          </a:ln>
        </p:spPr>
      </p:sp>
      <p:sp>
        <p:nvSpPr>
          <p:cNvPr id="14" name="Text 11"/>
          <p:cNvSpPr/>
          <p:nvPr/>
        </p:nvSpPr>
        <p:spPr>
          <a:xfrm>
            <a:off x="8433054" y="420441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5" name="Text 12"/>
          <p:cNvSpPr/>
          <p:nvPr/>
        </p:nvSpPr>
        <p:spPr>
          <a:xfrm>
            <a:off x="6323076" y="4186123"/>
            <a:ext cx="2064258"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فقط مغایرها</a:t>
            </a:r>
            <a:endParaRPr lang="en-US" sz="1350" dirty="0"/>
          </a:p>
        </p:txBody>
      </p:sp>
      <p:sp>
        <p:nvSpPr>
          <p:cNvPr id="16" name="Text 13"/>
          <p:cNvSpPr/>
          <p:nvPr/>
        </p:nvSpPr>
        <p:spPr>
          <a:xfrm>
            <a:off x="6323076" y="4625035"/>
            <a:ext cx="2430018" cy="806501"/>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فقط سطرهایی می‌آید که مبلغ افتتاحیه با ماندهٔ سال قبل همان معین/شناسه برابر نیست.</a:t>
            </a:r>
            <a:endParaRPr lang="en-US" sz="1200" dirty="0"/>
          </a:p>
        </p:txBody>
      </p:sp>
      <p:sp>
        <p:nvSpPr>
          <p:cNvPr id="17" name="Shape 14"/>
          <p:cNvSpPr/>
          <p:nvPr/>
        </p:nvSpPr>
        <p:spPr>
          <a:xfrm>
            <a:off x="3298698" y="4094683"/>
            <a:ext cx="2704338" cy="1373429"/>
          </a:xfrm>
          <a:prstGeom prst="roundRect">
            <a:avLst>
              <a:gd name="adj" fmla="val 6658"/>
            </a:avLst>
          </a:prstGeom>
          <a:solidFill>
            <a:srgbClr val="FFFFFF"/>
          </a:solidFill>
          <a:ln w="6350">
            <a:solidFill>
              <a:srgbClr val="D9DEE7"/>
            </a:solidFill>
            <a:prstDash val="solid"/>
          </a:ln>
        </p:spPr>
      </p:sp>
      <p:sp>
        <p:nvSpPr>
          <p:cNvPr id="18" name="Shape 15"/>
          <p:cNvSpPr/>
          <p:nvPr/>
        </p:nvSpPr>
        <p:spPr>
          <a:xfrm>
            <a:off x="5545836" y="4204411"/>
            <a:ext cx="329184" cy="329184"/>
          </a:xfrm>
          <a:prstGeom prst="ellipse">
            <a:avLst/>
          </a:prstGeom>
          <a:solidFill>
            <a:srgbClr val="C9A227"/>
          </a:solidFill>
          <a:ln w="12700">
            <a:solidFill>
              <a:srgbClr val="C9A227"/>
            </a:solidFill>
            <a:prstDash val="solid"/>
          </a:ln>
        </p:spPr>
      </p:sp>
      <p:sp>
        <p:nvSpPr>
          <p:cNvPr id="19" name="Text 16"/>
          <p:cNvSpPr/>
          <p:nvPr/>
        </p:nvSpPr>
        <p:spPr>
          <a:xfrm>
            <a:off x="5545836" y="420441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3435858" y="4186123"/>
            <a:ext cx="2064258"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ستون‌ها</a:t>
            </a:r>
            <a:endParaRPr lang="en-US" sz="1350" dirty="0"/>
          </a:p>
        </p:txBody>
      </p:sp>
      <p:sp>
        <p:nvSpPr>
          <p:cNvPr id="21" name="Text 18"/>
          <p:cNvSpPr/>
          <p:nvPr/>
        </p:nvSpPr>
        <p:spPr>
          <a:xfrm>
            <a:off x="3435858" y="4625035"/>
            <a:ext cx="2430018" cy="806501"/>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مبلغ در سند افتتاحیه، ماندهٔ سال قبل و «اختلاف».</a:t>
            </a:r>
            <a:endParaRPr lang="en-US" sz="1200" dirty="0"/>
          </a:p>
        </p:txBody>
      </p:sp>
      <p:sp>
        <p:nvSpPr>
          <p:cNvPr id="22" name="Shape 19"/>
          <p:cNvSpPr/>
          <p:nvPr/>
        </p:nvSpPr>
        <p:spPr>
          <a:xfrm>
            <a:off x="411480" y="4094683"/>
            <a:ext cx="2704338" cy="1373429"/>
          </a:xfrm>
          <a:prstGeom prst="roundRect">
            <a:avLst>
              <a:gd name="adj" fmla="val 6658"/>
            </a:avLst>
          </a:prstGeom>
          <a:solidFill>
            <a:srgbClr val="FFFFFF"/>
          </a:solidFill>
          <a:ln w="6350">
            <a:solidFill>
              <a:srgbClr val="D9DEE7"/>
            </a:solidFill>
            <a:prstDash val="solid"/>
          </a:ln>
        </p:spPr>
      </p:sp>
      <p:sp>
        <p:nvSpPr>
          <p:cNvPr id="23" name="Shape 20"/>
          <p:cNvSpPr/>
          <p:nvPr/>
        </p:nvSpPr>
        <p:spPr>
          <a:xfrm>
            <a:off x="2658618" y="4204411"/>
            <a:ext cx="329184" cy="329184"/>
          </a:xfrm>
          <a:prstGeom prst="ellipse">
            <a:avLst/>
          </a:prstGeom>
          <a:solidFill>
            <a:srgbClr val="C9A227"/>
          </a:solidFill>
          <a:ln w="12700">
            <a:solidFill>
              <a:srgbClr val="C9A227"/>
            </a:solidFill>
            <a:prstDash val="solid"/>
          </a:ln>
        </p:spPr>
      </p:sp>
      <p:sp>
        <p:nvSpPr>
          <p:cNvPr id="24" name="Text 21"/>
          <p:cNvSpPr/>
          <p:nvPr/>
        </p:nvSpPr>
        <p:spPr>
          <a:xfrm>
            <a:off x="2658618" y="420441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5" name="Text 22"/>
          <p:cNvSpPr/>
          <p:nvPr/>
        </p:nvSpPr>
        <p:spPr>
          <a:xfrm>
            <a:off x="548640" y="4186123"/>
            <a:ext cx="2064258" cy="384048"/>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بازخوانی</a:t>
            </a:r>
            <a:endParaRPr lang="en-US" sz="1350" dirty="0"/>
          </a:p>
        </p:txBody>
      </p:sp>
      <p:sp>
        <p:nvSpPr>
          <p:cNvPr id="26" name="Text 23"/>
          <p:cNvSpPr/>
          <p:nvPr/>
        </p:nvSpPr>
        <p:spPr>
          <a:xfrm>
            <a:off x="548640" y="4625035"/>
            <a:ext cx="2430018" cy="806501"/>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فیلتر جدا ندارد؛ سال مالی نوار بالا ملاک است. «بازخوانی» پس از اصلاح.</a:t>
            </a:r>
            <a:endParaRPr lang="en-US" sz="1200" dirty="0"/>
          </a:p>
        </p:txBody>
      </p:sp>
      <p:sp>
        <p:nvSpPr>
          <p:cNvPr id="27" name="Shape 24"/>
          <p:cNvSpPr/>
          <p:nvPr/>
        </p:nvSpPr>
        <p:spPr>
          <a:xfrm>
            <a:off x="411480" y="5669280"/>
            <a:ext cx="11365992" cy="685800"/>
          </a:xfrm>
          <a:prstGeom prst="roundRect">
            <a:avLst>
              <a:gd name="adj" fmla="val 10667"/>
            </a:avLst>
          </a:prstGeom>
          <a:solidFill>
            <a:srgbClr val="E3F3EA"/>
          </a:solidFill>
          <a:ln w="9525">
            <a:solidFill>
              <a:srgbClr val="1E7A4C"/>
            </a:solidFill>
            <a:prstDash val="solid"/>
          </a:ln>
        </p:spPr>
      </p:sp>
      <p:sp>
        <p:nvSpPr>
          <p:cNvPr id="28" name="Text 25"/>
          <p:cNvSpPr/>
          <p:nvPr/>
        </p:nvSpPr>
        <p:spPr>
          <a:xfrm>
            <a:off x="10863072" y="5669280"/>
            <a:ext cx="822960" cy="685800"/>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29" name="Text 26"/>
          <p:cNvSpPr/>
          <p:nvPr/>
        </p:nvSpPr>
        <p:spPr>
          <a:xfrm>
            <a:off x="548640" y="5669280"/>
            <a:ext cx="10241280" cy="68580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کارگاه 1187720 در سال قبل ۴۵۵ میلیون مانده داشت ولی در افتتاحیهٔ ۱۴۰۵ با ۴۸۰ میلیون آمده؛ ۲۵ میلیون اختلاف باید اصلاح شود. «مغایرتی یافت نشد.» یعنی همه درست است.</a:t>
            </a:r>
            <a:endParaRPr lang="en-US" sz="1250" dirty="0"/>
          </a:p>
        </p:txBody>
      </p:sp>
      <p:sp>
        <p:nvSpPr>
          <p:cNvPr id="30"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۱۰۴</a:t>
            </a:r>
            <a:endParaRPr lang="en-US" sz="1000" dirty="0"/>
          </a:p>
        </p:txBody>
      </p:sp>
      <p:sp>
        <p:nvSpPr>
          <p:cNvPr id="31"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۱۳ — لاگ تغییرات</a:t>
            </a:r>
            <a:endParaRPr lang="en-US" sz="2500" dirty="0"/>
          </a:p>
        </p:txBody>
      </p:sp>
      <p:sp>
        <p:nvSpPr>
          <p:cNvPr id="3" name="Shape 1"/>
          <p:cNvSpPr/>
          <p:nvPr/>
        </p:nvSpPr>
        <p:spPr>
          <a:xfrm>
            <a:off x="9427464" y="896112"/>
            <a:ext cx="235000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537192" y="896112"/>
            <a:ext cx="213055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گزارش‌ها ← لاگ تغییرات</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rp_al">    </p:cNvPr>
          <p:cNvPicPr>
            <a:picLocks noChangeAspect="1"/>
          </p:cNvPicPr>
          <p:nvPr/>
        </p:nvPicPr>
        <p:blipFill>
          <a:blip r:embed="rId1"/>
          <a:stretch>
            <a:fillRect/>
          </a:stretch>
        </p:blipFill>
        <p:spPr>
          <a:xfrm>
            <a:off x="484632" y="1870588"/>
            <a:ext cx="7077456" cy="3939784"/>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سند ۱۲۰۵: مریم کریمی مبلغ ردیف را از ۷۰ به ۷۵ میلیون و بستانکار بانک را از ۲۷۵ به ۲۸۰ میلیون اصلاح کرد، سپس وضعیت را از یادداشت به موقت برد.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دسترسی</a:t>
            </a:r>
            <a:endParaRPr lang="en-US" sz="1350" dirty="0"/>
          </a:p>
        </p:txBody>
      </p:sp>
      <p:sp>
        <p:nvSpPr>
          <p:cNvPr id="13" name="Text 10"/>
          <p:cNvSpPr/>
          <p:nvPr/>
        </p:nvSpPr>
        <p:spPr>
          <a:xfrm>
            <a:off x="7909560" y="170078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فقط نقش «مدیر مالی» می‌بیند؛ لاگ قابل اصلاح یا حذف نیست.</a:t>
            </a:r>
            <a:endParaRPr lang="en-US" sz="1250" dirty="0"/>
          </a:p>
        </p:txBody>
      </p:sp>
      <p:sp>
        <p:nvSpPr>
          <p:cNvPr id="14" name="Shape 11"/>
          <p:cNvSpPr/>
          <p:nvPr/>
        </p:nvSpPr>
        <p:spPr>
          <a:xfrm>
            <a:off x="11411712" y="225628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5628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5628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هر سطر</a:t>
            </a:r>
            <a:endParaRPr lang="en-US" sz="1350" dirty="0"/>
          </a:p>
        </p:txBody>
      </p:sp>
      <p:sp>
        <p:nvSpPr>
          <p:cNvPr id="17" name="Text 14"/>
          <p:cNvSpPr/>
          <p:nvPr/>
        </p:nvSpPr>
        <p:spPr>
          <a:xfrm>
            <a:off x="7909560" y="2585466"/>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زمان، عملیات (ثبت/اصلاح/حذف/بازگردانی)، بخش، رکورد، فیلد، مقدار قبلی و جدید، کاربر، کد ملی، IP.</a:t>
            </a:r>
            <a:endParaRPr lang="en-US" sz="1250" dirty="0"/>
          </a:p>
        </p:txBody>
      </p:sp>
      <p:sp>
        <p:nvSpPr>
          <p:cNvPr id="18" name="Shape 15"/>
          <p:cNvSpPr/>
          <p:nvPr/>
        </p:nvSpPr>
        <p:spPr>
          <a:xfrm>
            <a:off x="11411712" y="3363849"/>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36384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36384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تاریخچهٔ کامل</a:t>
            </a:r>
            <a:endParaRPr lang="en-US" sz="1350" dirty="0"/>
          </a:p>
        </p:txBody>
      </p:sp>
      <p:sp>
        <p:nvSpPr>
          <p:cNvPr id="21" name="Text 18"/>
          <p:cNvSpPr/>
          <p:nvPr/>
        </p:nvSpPr>
        <p:spPr>
          <a:xfrm>
            <a:off x="7909560" y="3693033"/>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روی شمارهٔ رکورد بزنید تا همهٔ تغییرات آن (مثلاً سند با ردیف‌ها) بیاید.</a:t>
            </a:r>
            <a:endParaRPr lang="en-US" sz="1250" dirty="0"/>
          </a:p>
        </p:txBody>
      </p:sp>
      <p:sp>
        <p:nvSpPr>
          <p:cNvPr id="22" name="Shape 19"/>
          <p:cNvSpPr/>
          <p:nvPr/>
        </p:nvSpPr>
        <p:spPr>
          <a:xfrm>
            <a:off x="11411712" y="4248531"/>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24853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24853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فیلترها</a:t>
            </a:r>
            <a:endParaRPr lang="en-US" sz="1350" dirty="0"/>
          </a:p>
        </p:txBody>
      </p:sp>
      <p:sp>
        <p:nvSpPr>
          <p:cNvPr id="25" name="Text 22"/>
          <p:cNvSpPr/>
          <p:nvPr/>
        </p:nvSpPr>
        <p:spPr>
          <a:xfrm>
            <a:off x="7909560" y="4577715"/>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تاریخ، کد ملی کاربر، بخش، عملیات، «شمارهٔ سند / نام کاربر» و «با واحدهای زیرمجموعه».</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۱۰۵</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مشکلات رایج گزارش‌ها</a:t>
            </a:r>
            <a:endParaRPr lang="en-US" sz="25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11365992" cy="914400"/>
        </p:xfrm>
        <a:graphic>
          <a:graphicData uri="http://schemas.openxmlformats.org/drawingml/2006/table">
            <a:tbl>
              <a:tblPr rtl="1"/>
              <a:tblGrid>
                <a:gridCol w="4389120"/>
                <a:gridCol w="6976872"/>
              </a:tblGrid>
              <a:tr h="502920">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پیام یا مشکل</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چه باید کرد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«برای مشاهدهٔ گزارش، ابتدا سال مالی را از نوار بالا انتخاب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سال مالی و واحد را از نوار بالای صفحه انتخاب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«فیلترها تغییر کرده‌اند. برای دیدن نتیجه «اعمال فیلتر» را بزنید.»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جدول هنوز فیلتر قبلی را نشان می‌دهد؛ «اعمال فیلتر» را بزنید.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کاشی «اختلاف» به‌جای «تراز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در «مرور اسناد» سند نامتوازن را پیدا کنید؛ یا با «وضعیت سند: موقت و بالاتر» یادداشت‌ها را کنار بگذارید.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«سندی با این شرایط پیدا نشد…» در دفتر کل</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بازهٔ تاریخ یا از/تا کد کل را بازتر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عدد گزارش با عدد همکار در واحد دیگر فرق دارد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دامنهٔ واحد را چک کنید: «فقط واحد جاری» با «زیرمجموعه» یا «کل کشور» فرق دارد.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ستونی از جدول دیده نمی‌شود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دکمهٔ «ستون‌ها» را باز کنید؛ احتمالاً پنهان شده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«لاگ تغییرات فقط برای نقش «مدیر مالی» قابل مشاهده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از مدیر سامانه نقش مدیر مالی بخواهید.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«ساخت فایل اکسل ناموفق بود.»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فیلتر را محدودتر کنید و دوباره بزنید؛ اگر ادامه داشت از «چاپ / PDF» استفاده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bl>
          </a:graphicData>
        </a:graphic>
      </p:graphicFrame>
      <p:sp>
        <p:nvSpPr>
          <p:cNvPr id="4" name="Text 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۱۰۶</a:t>
            </a:r>
            <a:endParaRPr lang="en-US" sz="1000" dirty="0"/>
          </a:p>
        </p:txBody>
      </p:sp>
      <p:sp>
        <p:nvSpPr>
          <p:cNvPr id="5" name="Text 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گزارش‌ها</a:t>
            </a:r>
            <a:endParaRPr lang="en-US" sz="10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3" name="Image 0" descr="pc_menu">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۶</a:t>
            </a:r>
            <a:endParaRPr lang="en-US" sz="4000" dirty="0"/>
          </a:p>
        </p:txBody>
      </p:sp>
      <p:sp>
        <p:nvSpPr>
          <p:cNvPr id="6" name="Text 3"/>
          <p:cNvSpPr/>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۶</a:t>
            </a:r>
            <a:endParaRPr lang="en-US" sz="1800" dirty="0"/>
          </a:p>
        </p:txBody>
      </p:sp>
      <p:sp>
        <p:nvSpPr>
          <p:cNvPr id="7" name="Text 4"/>
          <p:cNvSpPr/>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600" b="1" dirty="0">
                <a:solidFill>
                  <a:srgbClr val="FFFFFF"/>
                </a:solidFill>
                <a:latin typeface="Tahoma" pitchFamily="34" charset="0"/>
                <a:ea typeface="Tahoma" pitchFamily="34" charset="-122"/>
                <a:cs typeface="Tahoma" pitchFamily="34" charset="-120"/>
              </a:rPr>
              <a:t>تنخواه‌گردان</a:t>
            </a:r>
            <a:endParaRPr lang="en-US" sz="3600" dirty="0"/>
          </a:p>
        </p:txBody>
      </p:sp>
      <p:sp>
        <p:nvSpPr>
          <p:cNvPr id="8" name="Text 5"/>
          <p:cNvSpPr/>
          <p:nvPr/>
        </p:nvSpPr>
        <p:spPr>
          <a:xfrm>
            <a:off x="5120640" y="4206240"/>
            <a:ext cx="6629400" cy="1463040"/>
          </a:xfrm>
          <a:prstGeom prst="rect">
            <a:avLst/>
          </a:prstGeom>
          <a:noFill/>
          <a:ln/>
        </p:spPr>
        <p:txBody>
          <a:bodyPr wrap="square" lIns="0" tIns="0" rIns="0" bIns="0" rtlCol="0" anchor="t"/>
          <a:lstStyle/>
          <a:p>
            <a:pPr rtl="1" algn="r" indent="0" marL="0">
              <a:buNone/>
            </a:pPr>
            <a:r>
              <a:rPr lang="en-US" sz="1600" dirty="0">
                <a:solidFill>
                  <a:srgbClr val="C9D3E6"/>
                </a:solidFill>
                <a:latin typeface="Tahoma" pitchFamily="34" charset="0"/>
                <a:ea typeface="Tahoma" pitchFamily="34" charset="-122"/>
                <a:cs typeface="Tahoma" pitchFamily="34" charset="-120"/>
              </a:rPr>
              <a:t>پول خُرد اداره برای هزینه‌های کوچک: تعریف تنخواه و انواع هزینه، ثبت صورت‌هزینه، بررسی و تأیید، ترمیم (شارژ) و تسویهٔ دوره با سند حسابداری</a:t>
            </a:r>
            <a:endParaRPr lang="en-US" sz="1600" dirty="0"/>
          </a:p>
        </p:txBody>
      </p:sp>
      <p:sp>
        <p:nvSpPr>
          <p:cNvPr id="9" name="Text 6"/>
          <p:cNvSpPr/>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تنخواه‌گردان چیست؟</a:t>
            </a:r>
            <a:endParaRPr lang="en-US" sz="2500" dirty="0"/>
          </a:p>
        </p:txBody>
      </p:sp>
      <p:sp>
        <p:nvSpPr>
          <p:cNvPr id="3" name="Shape 1"/>
          <p:cNvSpPr/>
          <p:nvPr/>
        </p:nvSpPr>
        <p:spPr>
          <a:xfrm>
            <a:off x="11731752" y="1097280"/>
            <a:ext cx="45720" cy="1242670"/>
          </a:xfrm>
          <a:prstGeom prst="rect">
            <a:avLst/>
          </a:prstGeom>
          <a:solidFill>
            <a:srgbClr val="C9A227"/>
          </a:solidFill>
          <a:ln w="12700">
            <a:solidFill>
              <a:srgbClr val="C9A227"/>
            </a:solidFill>
            <a:prstDash val="solid"/>
          </a:ln>
        </p:spPr>
      </p:sp>
      <p:sp>
        <p:nvSpPr>
          <p:cNvPr id="4" name="Text 2"/>
          <p:cNvSpPr/>
          <p:nvPr/>
        </p:nvSpPr>
        <p:spPr>
          <a:xfrm>
            <a:off x="5440680" y="1097280"/>
            <a:ext cx="6153912" cy="1242670"/>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تنخواه مبلغ نقدی است که سازمان به یک نفر (تنخواه‌دار) می‌سپارد تا هزینه‌های کوچک و فوری را بدون طی‌کردن مسیر طولانی پرداخت انجام دهد؛ مثل پول توجیبی ماهانه‌ای که با نشان‌دادن رسیدها دوباره پر می‌شود.</a:t>
            </a:r>
            <a:endParaRPr lang="en-US" sz="1550" dirty="0"/>
          </a:p>
        </p:txBody>
      </p:sp>
      <p:sp>
        <p:nvSpPr>
          <p:cNvPr id="5" name="Shape 3"/>
          <p:cNvSpPr/>
          <p:nvPr/>
        </p:nvSpPr>
        <p:spPr>
          <a:xfrm>
            <a:off x="11411712" y="2568550"/>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5685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568550"/>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سقف تنخواه</a:t>
            </a:r>
            <a:endParaRPr lang="en-US" sz="1350" dirty="0"/>
          </a:p>
        </p:txBody>
      </p:sp>
      <p:sp>
        <p:nvSpPr>
          <p:cNvPr id="8" name="Text 6"/>
          <p:cNvSpPr/>
          <p:nvPr/>
        </p:nvSpPr>
        <p:spPr>
          <a:xfrm>
            <a:off x="5440680" y="2897734"/>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حداکثر پولی که تنخواه‌دار در هر لحظه در اختیار دارد؛ مثلاً ۵۰۰ میلیون ریال.</a:t>
            </a:r>
            <a:endParaRPr lang="en-US" sz="1300" dirty="0"/>
          </a:p>
        </p:txBody>
      </p:sp>
      <p:sp>
        <p:nvSpPr>
          <p:cNvPr id="9" name="Shape 7"/>
          <p:cNvSpPr/>
          <p:nvPr/>
        </p:nvSpPr>
        <p:spPr>
          <a:xfrm>
            <a:off x="11411712" y="3471062"/>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47106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47106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صورت‌هزینه</a:t>
            </a:r>
            <a:endParaRPr lang="en-US" sz="1350" dirty="0"/>
          </a:p>
        </p:txBody>
      </p:sp>
      <p:sp>
        <p:nvSpPr>
          <p:cNvPr id="12" name="Text 10"/>
          <p:cNvSpPr/>
          <p:nvPr/>
        </p:nvSpPr>
        <p:spPr>
          <a:xfrm>
            <a:off x="5440680" y="380024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برگه‌ای که تنخواه‌دار برای هر خرج با فاکتور یا رسید ثبت می‌کند تا بررسی و تأیید شود.</a:t>
            </a:r>
            <a:endParaRPr lang="en-US" sz="1300" dirty="0"/>
          </a:p>
        </p:txBody>
      </p:sp>
      <p:sp>
        <p:nvSpPr>
          <p:cNvPr id="13" name="Shape 11"/>
          <p:cNvSpPr/>
          <p:nvPr/>
        </p:nvSpPr>
        <p:spPr>
          <a:xfrm>
            <a:off x="11411712" y="4373575"/>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37357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37357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ترمیم (شارژ)</a:t>
            </a:r>
            <a:endParaRPr lang="en-US" sz="1350" dirty="0"/>
          </a:p>
        </p:txBody>
      </p:sp>
      <p:sp>
        <p:nvSpPr>
          <p:cNvPr id="16" name="Text 14"/>
          <p:cNvSpPr/>
          <p:nvPr/>
        </p:nvSpPr>
        <p:spPr>
          <a:xfrm>
            <a:off x="5440680" y="470275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پرداخت دوبارهٔ مبلغ هزینه‌های تأییدشده به تنخواه‌دار تا موجودی او به سقف نزدیک شود.</a:t>
            </a:r>
            <a:endParaRPr lang="en-US" sz="1300" dirty="0"/>
          </a:p>
        </p:txBody>
      </p:sp>
      <p:sp>
        <p:nvSpPr>
          <p:cNvPr id="17" name="Shape 15"/>
          <p:cNvSpPr/>
          <p:nvPr/>
        </p:nvSpPr>
        <p:spPr>
          <a:xfrm>
            <a:off x="11411712" y="5276088"/>
            <a:ext cx="329184" cy="329184"/>
          </a:xfrm>
          <a:prstGeom prst="ellipse">
            <a:avLst/>
          </a:prstGeom>
          <a:solidFill>
            <a:srgbClr val="C9A227"/>
          </a:solidFill>
          <a:ln w="12700">
            <a:solidFill>
              <a:srgbClr val="C9A227"/>
            </a:solidFill>
            <a:prstDash val="solid"/>
          </a:ln>
        </p:spPr>
      </p:sp>
      <p:sp>
        <p:nvSpPr>
          <p:cNvPr id="18" name="Text 16"/>
          <p:cNvSpPr/>
          <p:nvPr/>
        </p:nvSpPr>
        <p:spPr>
          <a:xfrm>
            <a:off x="11411712" y="527608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7"/>
          <p:cNvSpPr/>
          <p:nvPr/>
        </p:nvSpPr>
        <p:spPr>
          <a:xfrm>
            <a:off x="5440680" y="5276088"/>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تسویهٔ دوره</a:t>
            </a:r>
            <a:endParaRPr lang="en-US" sz="1350" dirty="0"/>
          </a:p>
        </p:txBody>
      </p:sp>
      <p:sp>
        <p:nvSpPr>
          <p:cNvPr id="20" name="Text 18"/>
          <p:cNvSpPr/>
          <p:nvPr/>
        </p:nvSpPr>
        <p:spPr>
          <a:xfrm>
            <a:off x="5440680" y="5605272"/>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 پایان ماه یا فصل، هزینه‌ها با یک سند حسابداری در دفاتر ثبت و دوره بسته می‌شود.</a:t>
            </a:r>
            <a:endParaRPr lang="en-US" sz="1300" dirty="0"/>
          </a:p>
        </p:txBody>
      </p:sp>
      <p:sp>
        <p:nvSpPr>
          <p:cNvPr id="21" name="Shape 19"/>
          <p:cNvSpPr/>
          <p:nvPr/>
        </p:nvSpPr>
        <p:spPr>
          <a:xfrm>
            <a:off x="411480" y="1097280"/>
            <a:ext cx="4754880" cy="3789731"/>
          </a:xfrm>
          <a:prstGeom prst="roundRect">
            <a:avLst>
              <a:gd name="adj" fmla="val 2413"/>
            </a:avLst>
          </a:prstGeom>
          <a:solidFill>
            <a:srgbClr val="E3F3EA"/>
          </a:solidFill>
          <a:ln w="9525">
            <a:solidFill>
              <a:srgbClr val="1E7A4C"/>
            </a:solidFill>
            <a:prstDash val="solid"/>
          </a:ln>
        </p:spPr>
      </p:sp>
      <p:sp>
        <p:nvSpPr>
          <p:cNvPr id="22" name="Text 20"/>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تنخواه اداری ستاد</a:t>
            </a:r>
            <a:endParaRPr lang="en-US" sz="1500" dirty="0"/>
          </a:p>
        </p:txBody>
      </p:sp>
      <p:sp>
        <p:nvSpPr>
          <p:cNvPr id="23" name="Text 21"/>
          <p:cNvSpPr/>
          <p:nvPr/>
        </p:nvSpPr>
        <p:spPr>
          <a:xfrm>
            <a:off x="594360" y="1691640"/>
            <a:ext cx="4389120" cy="5550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رضا احمدی تنخواه‌دار «TN-01 تنخواه اداری ستاد» با سقف ۵۰۰ میلیون ریال است. در مهر این خرج‌ها را کرده:</a:t>
            </a:r>
            <a:endParaRPr lang="en-US" sz="1300" dirty="0"/>
          </a:p>
        </p:txBody>
      </p:sp>
      <p:graphicFrame>
        <p:nvGraphicFramePr>
          <p:cNvPr id="109" name="Table 0"/>
          <p:cNvGraphicFramePr>
            <a:graphicFrameLocks noGrp="1"/>
          </p:cNvGraphicFramePr>
          <p:nvPr>
            <p:extLst>
              <p:ext uri="{D42A27DB-BD31-4B8C-83A1-F6EECF244321}">
                <p14:modId xmlns:p14="http://schemas.microsoft.com/office/powerpoint/2010/main" val="1579011935"/>
              </p:ext>
            </p:extLst>
          </p:nvPr>
        </p:nvGraphicFramePr>
        <p:xfrm>
          <a:off x="594360" y="2383841"/>
          <a:ext cx="4389120" cy="914400"/>
        </p:xfrm>
        <a:graphic>
          <a:graphicData uri="http://schemas.openxmlformats.org/drawingml/2006/table">
            <a:tbl>
              <a:tblPr rtl="1"/>
              <a:tblGrid>
                <a:gridCol w="2633472"/>
                <a:gridCol w="1755648"/>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شرح</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مبلغ</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کرایهٔ آژانس جلسه با کارفرمایان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۴,۲۰۰,۰۰۰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پذیرایی جلسهٔ کمیسیون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۱۴,۰۸۰,۰۰۰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تعمیر کولر اتاق بایگانی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۱۸,۵۰۰,۰۰۰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جمع خرج‌ها</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۳۶,۷۸۰,۰۰۰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bl>
          </a:graphicData>
        </a:graphic>
      </p:graphicFrame>
      <p:sp>
        <p:nvSpPr>
          <p:cNvPr id="25" name="Text 22"/>
          <p:cNvSpPr/>
          <p:nvPr/>
        </p:nvSpPr>
        <p:spPr>
          <a:xfrm>
            <a:off x="594360" y="4166921"/>
            <a:ext cx="4389120" cy="62865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پس از تأیید این سه صورت‌هزینه، همین ۳۶,۷۸۰,۰۰۰ ریال به او «ترمیم» می‌شود و دوباره ۵۰۰ میلیون در اختیار دارد.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۱۰۸</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چرخهٔ کامل تنخواه در یک نگاه</a:t>
            </a:r>
            <a:endParaRPr lang="en-US" sz="2500" dirty="0"/>
          </a:p>
        </p:txBody>
      </p:sp>
      <p:sp>
        <p:nvSpPr>
          <p:cNvPr id="3" name="Shape 1"/>
          <p:cNvSpPr/>
          <p:nvPr/>
        </p:nvSpPr>
        <p:spPr>
          <a:xfrm>
            <a:off x="9767621" y="1965960"/>
            <a:ext cx="2009851" cy="2103120"/>
          </a:xfrm>
          <a:prstGeom prst="roundRect">
            <a:avLst>
              <a:gd name="adj" fmla="val 5460"/>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10498226" y="1691640"/>
            <a:ext cx="548640" cy="548640"/>
          </a:xfrm>
          <a:prstGeom prst="ellipse">
            <a:avLst/>
          </a:prstGeom>
          <a:solidFill>
            <a:srgbClr val="C9A227"/>
          </a:solidFill>
          <a:ln w="12700">
            <a:solidFill>
              <a:srgbClr val="C9A227"/>
            </a:solidFill>
            <a:prstDash val="solid"/>
          </a:ln>
        </p:spPr>
      </p:sp>
      <p:sp>
        <p:nvSpPr>
          <p:cNvPr id="5" name="Text 3"/>
          <p:cNvSpPr/>
          <p:nvPr/>
        </p:nvSpPr>
        <p:spPr>
          <a:xfrm>
            <a:off x="1049822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p:nvPr/>
        </p:nvSpPr>
        <p:spPr>
          <a:xfrm>
            <a:off x="9859061" y="2377440"/>
            <a:ext cx="1826971"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تعریف تنخواه</a:t>
            </a:r>
            <a:endParaRPr lang="en-US" sz="1550" dirty="0"/>
          </a:p>
        </p:txBody>
      </p:sp>
      <p:sp>
        <p:nvSpPr>
          <p:cNvPr id="7" name="Text 5"/>
          <p:cNvSpPr/>
          <p:nvPr/>
        </p:nvSpPr>
        <p:spPr>
          <a:xfrm>
            <a:off x="9859061" y="3108960"/>
            <a:ext cx="1826971"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سقف، تنخواه‌دار، بررسی‌کنندگان و انواع هزینه</a:t>
            </a:r>
            <a:endParaRPr lang="en-US" sz="1200" dirty="0"/>
          </a:p>
        </p:txBody>
      </p:sp>
      <p:sp>
        <p:nvSpPr>
          <p:cNvPr id="8" name="Text 6"/>
          <p:cNvSpPr/>
          <p:nvPr/>
        </p:nvSpPr>
        <p:spPr>
          <a:xfrm>
            <a:off x="9438437"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9" name="Shape 7"/>
          <p:cNvSpPr/>
          <p:nvPr/>
        </p:nvSpPr>
        <p:spPr>
          <a:xfrm>
            <a:off x="7428586" y="1965960"/>
            <a:ext cx="2009851" cy="2103120"/>
          </a:xfrm>
          <a:prstGeom prst="roundRect">
            <a:avLst>
              <a:gd name="adj" fmla="val 5460"/>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8159191" y="1691640"/>
            <a:ext cx="548640" cy="548640"/>
          </a:xfrm>
          <a:prstGeom prst="ellipse">
            <a:avLst/>
          </a:prstGeom>
          <a:solidFill>
            <a:srgbClr val="C9A227"/>
          </a:solidFill>
          <a:ln w="12700">
            <a:solidFill>
              <a:srgbClr val="C9A227"/>
            </a:solidFill>
            <a:prstDash val="solid"/>
          </a:ln>
        </p:spPr>
      </p:sp>
      <p:sp>
        <p:nvSpPr>
          <p:cNvPr id="11" name="Text 9"/>
          <p:cNvSpPr/>
          <p:nvPr/>
        </p:nvSpPr>
        <p:spPr>
          <a:xfrm>
            <a:off x="8159191"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2" name="Text 10"/>
          <p:cNvSpPr/>
          <p:nvPr/>
        </p:nvSpPr>
        <p:spPr>
          <a:xfrm>
            <a:off x="7520026" y="2377440"/>
            <a:ext cx="1826971"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ثبت صورت‌هزینه</a:t>
            </a:r>
            <a:endParaRPr lang="en-US" sz="1550" dirty="0"/>
          </a:p>
        </p:txBody>
      </p:sp>
      <p:sp>
        <p:nvSpPr>
          <p:cNvPr id="13" name="Text 11"/>
          <p:cNvSpPr/>
          <p:nvPr/>
        </p:nvSpPr>
        <p:spPr>
          <a:xfrm>
            <a:off x="7520026" y="3108960"/>
            <a:ext cx="1826971"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تنخواه‌دار + پیوست فاکتور</a:t>
            </a:r>
            <a:endParaRPr lang="en-US" sz="1200" dirty="0"/>
          </a:p>
        </p:txBody>
      </p:sp>
      <p:sp>
        <p:nvSpPr>
          <p:cNvPr id="14" name="Text 12"/>
          <p:cNvSpPr/>
          <p:nvPr/>
        </p:nvSpPr>
        <p:spPr>
          <a:xfrm>
            <a:off x="7099402"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15" name="Shape 13"/>
          <p:cNvSpPr/>
          <p:nvPr/>
        </p:nvSpPr>
        <p:spPr>
          <a:xfrm>
            <a:off x="5089550" y="1965960"/>
            <a:ext cx="2009851" cy="2103120"/>
          </a:xfrm>
          <a:prstGeom prst="roundRect">
            <a:avLst>
              <a:gd name="adj" fmla="val 5460"/>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6" name="Shape 14"/>
          <p:cNvSpPr/>
          <p:nvPr/>
        </p:nvSpPr>
        <p:spPr>
          <a:xfrm>
            <a:off x="5820156" y="1691640"/>
            <a:ext cx="548640" cy="548640"/>
          </a:xfrm>
          <a:prstGeom prst="ellipse">
            <a:avLst/>
          </a:prstGeom>
          <a:solidFill>
            <a:srgbClr val="C9A227"/>
          </a:solidFill>
          <a:ln w="12700">
            <a:solidFill>
              <a:srgbClr val="C9A227"/>
            </a:solidFill>
            <a:prstDash val="solid"/>
          </a:ln>
        </p:spPr>
      </p:sp>
      <p:sp>
        <p:nvSpPr>
          <p:cNvPr id="17" name="Text 15"/>
          <p:cNvSpPr/>
          <p:nvPr/>
        </p:nvSpPr>
        <p:spPr>
          <a:xfrm>
            <a:off x="582015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8" name="Text 16"/>
          <p:cNvSpPr/>
          <p:nvPr/>
        </p:nvSpPr>
        <p:spPr>
          <a:xfrm>
            <a:off x="5180990" y="2377440"/>
            <a:ext cx="1826971"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بررسی و تأیید</a:t>
            </a:r>
            <a:endParaRPr lang="en-US" sz="1550" dirty="0"/>
          </a:p>
        </p:txBody>
      </p:sp>
      <p:sp>
        <p:nvSpPr>
          <p:cNvPr id="19" name="Text 17"/>
          <p:cNvSpPr/>
          <p:nvPr/>
        </p:nvSpPr>
        <p:spPr>
          <a:xfrm>
            <a:off x="5180990" y="3108960"/>
            <a:ext cx="1826971"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بازرس ← مدیر مالی / مدیرعامل</a:t>
            </a:r>
            <a:endParaRPr lang="en-US" sz="1200" dirty="0"/>
          </a:p>
        </p:txBody>
      </p:sp>
      <p:sp>
        <p:nvSpPr>
          <p:cNvPr id="20" name="Text 18"/>
          <p:cNvSpPr/>
          <p:nvPr/>
        </p:nvSpPr>
        <p:spPr>
          <a:xfrm>
            <a:off x="4760366"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1" name="Shape 19"/>
          <p:cNvSpPr/>
          <p:nvPr/>
        </p:nvSpPr>
        <p:spPr>
          <a:xfrm>
            <a:off x="2750515" y="1965960"/>
            <a:ext cx="2009851" cy="2103120"/>
          </a:xfrm>
          <a:prstGeom prst="roundRect">
            <a:avLst>
              <a:gd name="adj" fmla="val 5460"/>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2" name="Shape 20"/>
          <p:cNvSpPr/>
          <p:nvPr/>
        </p:nvSpPr>
        <p:spPr>
          <a:xfrm>
            <a:off x="3481121" y="1691640"/>
            <a:ext cx="548640" cy="548640"/>
          </a:xfrm>
          <a:prstGeom prst="ellipse">
            <a:avLst/>
          </a:prstGeom>
          <a:solidFill>
            <a:srgbClr val="C9A227"/>
          </a:solidFill>
          <a:ln w="12700">
            <a:solidFill>
              <a:srgbClr val="C9A227"/>
            </a:solidFill>
            <a:prstDash val="solid"/>
          </a:ln>
        </p:spPr>
      </p:sp>
      <p:sp>
        <p:nvSpPr>
          <p:cNvPr id="23" name="Text 21"/>
          <p:cNvSpPr/>
          <p:nvPr/>
        </p:nvSpPr>
        <p:spPr>
          <a:xfrm>
            <a:off x="3481121"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۴</a:t>
            </a:r>
            <a:endParaRPr lang="en-US" sz="1800" dirty="0"/>
          </a:p>
        </p:txBody>
      </p:sp>
      <p:sp>
        <p:nvSpPr>
          <p:cNvPr id="24" name="Text 22"/>
          <p:cNvSpPr/>
          <p:nvPr/>
        </p:nvSpPr>
        <p:spPr>
          <a:xfrm>
            <a:off x="2841955" y="2377440"/>
            <a:ext cx="1826971"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ترمیم (شارژ)</a:t>
            </a:r>
            <a:endParaRPr lang="en-US" sz="1550" dirty="0"/>
          </a:p>
        </p:txBody>
      </p:sp>
      <p:sp>
        <p:nvSpPr>
          <p:cNvPr id="25" name="Text 23"/>
          <p:cNvSpPr/>
          <p:nvPr/>
        </p:nvSpPr>
        <p:spPr>
          <a:xfrm>
            <a:off x="2841955" y="3108960"/>
            <a:ext cx="1826971"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مدیر مالی ← خزانه‌دار</a:t>
            </a:r>
            <a:endParaRPr lang="en-US" sz="1200" dirty="0"/>
          </a:p>
        </p:txBody>
      </p:sp>
      <p:sp>
        <p:nvSpPr>
          <p:cNvPr id="26" name="Text 24"/>
          <p:cNvSpPr/>
          <p:nvPr/>
        </p:nvSpPr>
        <p:spPr>
          <a:xfrm>
            <a:off x="2421331"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7" name="Shape 25"/>
          <p:cNvSpPr/>
          <p:nvPr/>
        </p:nvSpPr>
        <p:spPr>
          <a:xfrm>
            <a:off x="411480" y="1965960"/>
            <a:ext cx="2009851" cy="2103120"/>
          </a:xfrm>
          <a:prstGeom prst="roundRect">
            <a:avLst>
              <a:gd name="adj" fmla="val 5460"/>
            </a:avLst>
          </a:prstGeom>
          <a:solidFill>
            <a:srgbClr val="1B2A49"/>
          </a:solidFill>
          <a:ln w="9525">
            <a:solidFill>
              <a:srgbClr val="1B2A49"/>
            </a:solidFill>
            <a:prstDash val="solid"/>
          </a:ln>
          <a:effectLst>
            <a:outerShdw sx="100000" sy="100000" kx="0" ky="0" algn="bl" rotWithShape="0" blurRad="76200" dist="25400" dir="5400000">
              <a:srgbClr val="000000">
                <a:alpha val="12000"/>
              </a:srgbClr>
            </a:outerShdw>
          </a:effectLst>
        </p:spPr>
      </p:sp>
      <p:sp>
        <p:nvSpPr>
          <p:cNvPr id="28" name="Shape 26"/>
          <p:cNvSpPr/>
          <p:nvPr/>
        </p:nvSpPr>
        <p:spPr>
          <a:xfrm>
            <a:off x="1142086" y="1691640"/>
            <a:ext cx="548640" cy="548640"/>
          </a:xfrm>
          <a:prstGeom prst="ellipse">
            <a:avLst/>
          </a:prstGeom>
          <a:solidFill>
            <a:srgbClr val="C9A227"/>
          </a:solidFill>
          <a:ln w="12700">
            <a:solidFill>
              <a:srgbClr val="C9A227"/>
            </a:solidFill>
            <a:prstDash val="solid"/>
          </a:ln>
        </p:spPr>
      </p:sp>
      <p:sp>
        <p:nvSpPr>
          <p:cNvPr id="29" name="Text 27"/>
          <p:cNvSpPr/>
          <p:nvPr/>
        </p:nvSpPr>
        <p:spPr>
          <a:xfrm>
            <a:off x="114208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۵</a:t>
            </a:r>
            <a:endParaRPr lang="en-US" sz="1800" dirty="0"/>
          </a:p>
        </p:txBody>
      </p:sp>
      <p:sp>
        <p:nvSpPr>
          <p:cNvPr id="30" name="Text 28"/>
          <p:cNvSpPr/>
          <p:nvPr/>
        </p:nvSpPr>
        <p:spPr>
          <a:xfrm>
            <a:off x="502920" y="2377440"/>
            <a:ext cx="1826971" cy="731520"/>
          </a:xfrm>
          <a:prstGeom prst="rect">
            <a:avLst/>
          </a:prstGeom>
          <a:noFill/>
          <a:ln/>
        </p:spPr>
        <p:txBody>
          <a:bodyPr wrap="square" lIns="0" tIns="0" rIns="0" bIns="0" rtlCol="0" anchor="ctr"/>
          <a:lstStyle/>
          <a:p>
            <a:pPr rtl="1" algn="ctr" indent="0" marL="0">
              <a:buNone/>
            </a:pPr>
            <a:r>
              <a:rPr lang="en-US" sz="1550" b="1" dirty="0">
                <a:solidFill>
                  <a:srgbClr val="FFFFFF"/>
                </a:solidFill>
                <a:latin typeface="Tahoma" pitchFamily="34" charset="0"/>
                <a:ea typeface="Tahoma" pitchFamily="34" charset="-122"/>
                <a:cs typeface="Tahoma" pitchFamily="34" charset="-120"/>
              </a:rPr>
              <a:t>تسویهٔ دوره</a:t>
            </a:r>
            <a:endParaRPr lang="en-US" sz="1550" dirty="0"/>
          </a:p>
        </p:txBody>
      </p:sp>
      <p:sp>
        <p:nvSpPr>
          <p:cNvPr id="31" name="Text 29"/>
          <p:cNvSpPr/>
          <p:nvPr/>
        </p:nvSpPr>
        <p:spPr>
          <a:xfrm>
            <a:off x="502920" y="3108960"/>
            <a:ext cx="1826971" cy="868680"/>
          </a:xfrm>
          <a:prstGeom prst="rect">
            <a:avLst/>
          </a:prstGeom>
          <a:noFill/>
          <a:ln/>
        </p:spPr>
        <p:txBody>
          <a:bodyPr wrap="square" lIns="0" tIns="0" rIns="0" bIns="0" rtlCol="0" anchor="t"/>
          <a:lstStyle/>
          <a:p>
            <a:pPr rtl="1" algn="ctr" indent="0" marL="0">
              <a:buNone/>
            </a:pPr>
            <a:r>
              <a:rPr lang="en-US" sz="1200" dirty="0">
                <a:solidFill>
                  <a:srgbClr val="C9D3E6"/>
                </a:solidFill>
                <a:latin typeface="Tahoma" pitchFamily="34" charset="0"/>
                <a:ea typeface="Tahoma" pitchFamily="34" charset="-122"/>
                <a:cs typeface="Tahoma" pitchFamily="34" charset="-120"/>
              </a:rPr>
              <a:t>شمارش صندوق + سند حسابداری</a:t>
            </a:r>
            <a:endParaRPr lang="en-US" sz="1200" dirty="0"/>
          </a:p>
        </p:txBody>
      </p:sp>
      <p:sp>
        <p:nvSpPr>
          <p:cNvPr id="32" name="Shape 30"/>
          <p:cNvSpPr/>
          <p:nvPr/>
        </p:nvSpPr>
        <p:spPr>
          <a:xfrm>
            <a:off x="411480" y="4526280"/>
            <a:ext cx="11365992" cy="914400"/>
          </a:xfrm>
          <a:prstGeom prst="roundRect">
            <a:avLst>
              <a:gd name="adj" fmla="val 8000"/>
            </a:avLst>
          </a:prstGeom>
          <a:solidFill>
            <a:srgbClr val="F6EDCF"/>
          </a:solidFill>
          <a:ln w="9525">
            <a:solidFill>
              <a:srgbClr val="C9A227"/>
            </a:solidFill>
            <a:prstDash val="solid"/>
          </a:ln>
        </p:spPr>
      </p:sp>
      <p:sp>
        <p:nvSpPr>
          <p:cNvPr id="33" name="Text 31"/>
          <p:cNvSpPr/>
          <p:nvPr/>
        </p:nvSpPr>
        <p:spPr>
          <a:xfrm>
            <a:off x="10863072" y="4526280"/>
            <a:ext cx="822960" cy="91440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4" name="Text 32"/>
          <p:cNvSpPr/>
          <p:nvPr/>
        </p:nvSpPr>
        <p:spPr>
          <a:xfrm>
            <a:off x="548640" y="4526280"/>
            <a:ext cx="10241280" cy="91440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تراز تنخواه: سقف = موجودی نقد + تأییدشدهٔ منتظر ترمیم + اسناد در جریان بررسی. یعنی هر ریالی از سقف یا هنوز نقد است یا خرج شده و منتظر تأیید/ترمیم است.</a:t>
            </a:r>
            <a:endParaRPr lang="en-US" sz="1250" dirty="0"/>
          </a:p>
        </p:txBody>
      </p:sp>
      <p:sp>
        <p:nvSpPr>
          <p:cNvPr id="35" name="Shape 33"/>
          <p:cNvSpPr/>
          <p:nvPr/>
        </p:nvSpPr>
        <p:spPr>
          <a:xfrm>
            <a:off x="411480" y="5550408"/>
            <a:ext cx="11365992" cy="777240"/>
          </a:xfrm>
          <a:prstGeom prst="roundRect">
            <a:avLst>
              <a:gd name="adj" fmla="val 9412"/>
            </a:avLst>
          </a:prstGeom>
          <a:solidFill>
            <a:srgbClr val="E3F3EA"/>
          </a:solidFill>
          <a:ln w="9525">
            <a:solidFill>
              <a:srgbClr val="1E7A4C"/>
            </a:solidFill>
            <a:prstDash val="solid"/>
          </a:ln>
        </p:spPr>
      </p:sp>
      <p:sp>
        <p:nvSpPr>
          <p:cNvPr id="36" name="Text 34"/>
          <p:cNvSpPr/>
          <p:nvPr/>
        </p:nvSpPr>
        <p:spPr>
          <a:xfrm>
            <a:off x="10863072" y="5550408"/>
            <a:ext cx="822960" cy="777240"/>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37" name="Text 35"/>
          <p:cNvSpPr/>
          <p:nvPr/>
        </p:nvSpPr>
        <p:spPr>
          <a:xfrm>
            <a:off x="548640" y="5550408"/>
            <a:ext cx="10241280" cy="77724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سقف ۵۰۰ میلیون = نقد ۲۸۷٫۴ میلیون + تأییدشدهٔ منتظر ترمیم ۱۳۲٫۶ میلیون + در جریان بررسی ۸۰ میلیون.</a:t>
            </a:r>
            <a:endParaRPr lang="en-US" sz="1250" dirty="0"/>
          </a:p>
        </p:txBody>
      </p:sp>
      <p:sp>
        <p:nvSpPr>
          <p:cNvPr id="38" name="Text 3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۱۰۹</a:t>
            </a:r>
            <a:endParaRPr lang="en-US" sz="1000" dirty="0"/>
          </a:p>
        </p:txBody>
      </p:sp>
      <p:sp>
        <p:nvSpPr>
          <p:cNvPr id="39" name="Text 3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نقش‌ها و وضعیت‌های صورت‌هزینه</a:t>
            </a:r>
            <a:endParaRPr lang="en-US" sz="25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6245352" y="1234440"/>
          <a:ext cx="5532120" cy="914400"/>
        </p:xfrm>
        <a:graphic>
          <a:graphicData uri="http://schemas.openxmlformats.org/drawingml/2006/table">
            <a:tbl>
              <a:tblPr rtl="1"/>
              <a:tblGrid>
                <a:gridCol w="1770278"/>
                <a:gridCol w="3761842"/>
              </a:tblGrid>
              <a:tr h="502920">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نقش</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کار او در تنخواه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تنخواه‌دار</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صورت‌هزینه ثبت می‌کند و پیوست می‌گذارد (در تعریف تنخواه تعیین می‌شود)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بازرس مالی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سند را بررسی و «تأیید کنترل» می‌کند یا برمی‌گرداند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مدیر مالی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تأیید نهایی تا سقف اختیار؛ تأیید درخواست ترمیم</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مدیرعامل</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تأیید نهایی اسناد بالاتر از سقف اختیار مدیر مالی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حسابدار ارشد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نهایی‌سازی تسویهٔ دوره و صدور سند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خزانه‌دار</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ثبت پرداخت ترمیم پس از واریز</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bl>
          </a:graphicData>
        </a:graphic>
      </p:graphicFrame>
      <p:graphicFrame>
        <p:nvGraphicFramePr>
          <p:cNvPr id="221" name="Table 1"/>
          <p:cNvGraphicFramePr>
            <a:graphicFrameLocks noGrp="1"/>
          </p:cNvGraphicFramePr>
          <p:nvPr>
            <p:extLst>
              <p:ext uri="{D42A27DB-BD31-4B8C-83A1-F6EECF244321}">
                <p14:modId xmlns:p14="http://schemas.microsoft.com/office/powerpoint/2010/main" val="1579011935"/>
              </p:ext>
            </p:extLst>
          </p:nvPr>
        </p:nvGraphicFramePr>
        <p:xfrm>
          <a:off x="411480" y="1234440"/>
          <a:ext cx="5532120" cy="914400"/>
        </p:xfrm>
        <a:graphic>
          <a:graphicData uri="http://schemas.openxmlformats.org/drawingml/2006/table">
            <a:tbl>
              <a:tblPr rtl="1"/>
              <a:tblGrid>
                <a:gridCol w="1770278"/>
                <a:gridCol w="3761842"/>
              </a:tblGrid>
              <a:tr h="502920">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وضعیت</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معنی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پیش‌نویس</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ذخیره شده ولی هنوز ارسال نشده؛ قابل ویرایش و حذف</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جدید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ارسال شده و منتظر شروع بررسی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در انتظار بررسی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بازرس بررسی را شروع کرده است</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برگشتی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برای اصلاح به تنخواه‌دار برگشته (با مهلت)</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تأییدشده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تأیید نهایی شده؛ منتظر ترمیم و تسویه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ردشده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پایانی؛ هرگز ترمیم نمی‌شود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تسویه‌شده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در سند تسویهٔ دوره آمده است</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bl>
          </a:graphicData>
        </a:graphic>
      </p:graphicFrame>
      <p:sp>
        <p:nvSpPr>
          <p:cNvPr id="5" name="Shape 1"/>
          <p:cNvSpPr/>
          <p:nvPr/>
        </p:nvSpPr>
        <p:spPr>
          <a:xfrm>
            <a:off x="411480" y="5440680"/>
            <a:ext cx="11365992" cy="822960"/>
          </a:xfrm>
          <a:prstGeom prst="roundRect">
            <a:avLst>
              <a:gd name="adj" fmla="val 8889"/>
            </a:avLst>
          </a:prstGeom>
          <a:solidFill>
            <a:srgbClr val="F6EDCF"/>
          </a:solidFill>
          <a:ln w="9525">
            <a:solidFill>
              <a:srgbClr val="C9A227"/>
            </a:solidFill>
            <a:prstDash val="solid"/>
          </a:ln>
        </p:spPr>
      </p:sp>
      <p:sp>
        <p:nvSpPr>
          <p:cNvPr id="6" name="Text 2"/>
          <p:cNvSpPr/>
          <p:nvPr/>
        </p:nvSpPr>
        <p:spPr>
          <a:xfrm>
            <a:off x="10863072" y="5440680"/>
            <a:ext cx="822960" cy="82296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7" name="Text 3"/>
          <p:cNvSpPr/>
          <p:nvPr/>
        </p:nvSpPr>
        <p:spPr>
          <a:xfrm>
            <a:off x="548640" y="5440680"/>
            <a:ext cx="10241280" cy="82296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تفکیک وظایف: ثبت‌کنندهٔ سند نمی‌تواند آن را بررسی کند و بازرسی که کنترل کرده نمی‌تواند همان سند را تأیید نهایی کند.</a:t>
            </a:r>
            <a:endParaRPr lang="en-US" sz="1250" dirty="0"/>
          </a:p>
        </p:txBody>
      </p:sp>
      <p:sp>
        <p:nvSpPr>
          <p:cNvPr id="8" name="Text 4"/>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۱۱۰</a:t>
            </a:r>
            <a:endParaRPr lang="en-US" sz="1000" dirty="0"/>
          </a:p>
        </p:txBody>
      </p:sp>
      <p:sp>
        <p:nvSpPr>
          <p:cNvPr id="9" name="Text 5"/>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 — فهرست و تعریف تنخواه‌ها</a:t>
            </a:r>
            <a:endParaRPr lang="en-US" sz="2500" dirty="0"/>
          </a:p>
        </p:txBody>
      </p:sp>
      <p:sp>
        <p:nvSpPr>
          <p:cNvPr id="3" name="Shape 1"/>
          <p:cNvSpPr/>
          <p:nvPr/>
        </p:nvSpPr>
        <p:spPr>
          <a:xfrm>
            <a:off x="8494776" y="896112"/>
            <a:ext cx="328269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604504" y="896112"/>
            <a:ext cx="306324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تعریف تنخواه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pc01">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ستاد سه تنخواه دارد: اداری ستاد (رضا احمدی)، خدمات عمومی (سارا کریمی) و پروژهٔ بازسازی که پروژه‌اش تمام شده و غیرفعال است.</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فهرست</a:t>
            </a:r>
            <a:endParaRPr lang="en-US" sz="1350" dirty="0"/>
          </a:p>
        </p:txBody>
      </p:sp>
      <p:sp>
        <p:nvSpPr>
          <p:cNvPr id="13" name="Text 10"/>
          <p:cNvSpPr/>
          <p:nvPr/>
        </p:nvSpPr>
        <p:spPr>
          <a:xfrm>
            <a:off x="7909560" y="1700784"/>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هر ردیف یک تنخواه است با کد، عنوان، تنخواه‌دار، سقف، سقف هر سند و موجودی نقد لحظه‌ای.</a:t>
            </a:r>
            <a:endParaRPr lang="en-US" sz="1200" dirty="0"/>
          </a:p>
        </p:txBody>
      </p:sp>
      <p:sp>
        <p:nvSpPr>
          <p:cNvPr id="14" name="Shape 11"/>
          <p:cNvSpPr/>
          <p:nvPr/>
        </p:nvSpPr>
        <p:spPr>
          <a:xfrm>
            <a:off x="11411712" y="2238451"/>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3845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3845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تنخواه جدید</a:t>
            </a:r>
            <a:endParaRPr lang="en-US" sz="1350" dirty="0"/>
          </a:p>
        </p:txBody>
      </p:sp>
      <p:sp>
        <p:nvSpPr>
          <p:cNvPr id="17" name="Text 14"/>
          <p:cNvSpPr/>
          <p:nvPr/>
        </p:nvSpPr>
        <p:spPr>
          <a:xfrm>
            <a:off x="7909560" y="2567635"/>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دکمهٔ «تنخواه جدید» فرم تعریف را باز می‌کند (اسلاید بعد).</a:t>
            </a:r>
            <a:endParaRPr lang="en-US" sz="1200" dirty="0"/>
          </a:p>
        </p:txBody>
      </p:sp>
      <p:sp>
        <p:nvSpPr>
          <p:cNvPr id="18" name="Shape 15"/>
          <p:cNvSpPr/>
          <p:nvPr/>
        </p:nvSpPr>
        <p:spPr>
          <a:xfrm>
            <a:off x="11411712" y="3105302"/>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0530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0530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آیکون‌های ردیف</a:t>
            </a:r>
            <a:endParaRPr lang="en-US" sz="1350" dirty="0"/>
          </a:p>
        </p:txBody>
      </p:sp>
      <p:sp>
        <p:nvSpPr>
          <p:cNvPr id="21" name="Text 18"/>
          <p:cNvSpPr/>
          <p:nvPr/>
        </p:nvSpPr>
        <p:spPr>
          <a:xfrm>
            <a:off x="7909560" y="3434486"/>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ویرایش، «بررسی‌کنندگان»، «تفصیلی‌های حساب معین» و حذف.</a:t>
            </a:r>
            <a:endParaRPr lang="en-US" sz="1200" dirty="0"/>
          </a:p>
        </p:txBody>
      </p:sp>
      <p:sp>
        <p:nvSpPr>
          <p:cNvPr id="22" name="Shape 19"/>
          <p:cNvSpPr/>
          <p:nvPr/>
        </p:nvSpPr>
        <p:spPr>
          <a:xfrm>
            <a:off x="11411712" y="3972154"/>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97215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97215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غیرفعال‌سازی</a:t>
            </a:r>
            <a:endParaRPr lang="en-US" sz="1350" dirty="0"/>
          </a:p>
        </p:txBody>
      </p:sp>
      <p:sp>
        <p:nvSpPr>
          <p:cNvPr id="25" name="Text 22"/>
          <p:cNvSpPr/>
          <p:nvPr/>
        </p:nvSpPr>
        <p:spPr>
          <a:xfrm>
            <a:off x="7909560" y="4301338"/>
            <a:ext cx="3392424"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تنخواه غیرفعال صورت‌هزینهٔ جدید نمی‌پذیرد؛ حذف فقط وقتی ممکن است که هیچ صورت‌هزینه‌ای نداشته باشد.</a:t>
            </a:r>
            <a:endParaRPr lang="en-US" sz="12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۱۱۱</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۲ — فرم تعریف تنخواه</a:t>
            </a:r>
            <a:endParaRPr lang="en-US" sz="2500" dirty="0"/>
          </a:p>
        </p:txBody>
      </p:sp>
      <p:sp>
        <p:nvSpPr>
          <p:cNvPr id="3" name="Shape 1"/>
          <p:cNvSpPr/>
          <p:nvPr/>
        </p:nvSpPr>
        <p:spPr>
          <a:xfrm>
            <a:off x="411480" y="1143000"/>
            <a:ext cx="566928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pc02">    </p:cNvPr>
          <p:cNvPicPr>
            <a:picLocks noChangeAspect="1"/>
          </p:cNvPicPr>
          <p:nvPr/>
        </p:nvPicPr>
        <p:blipFill>
          <a:blip r:embed="rId1"/>
          <a:stretch>
            <a:fillRect/>
          </a:stretch>
        </p:blipFill>
        <p:spPr>
          <a:xfrm>
            <a:off x="1021035" y="1216152"/>
            <a:ext cx="4450169" cy="5065776"/>
          </a:xfrm>
          <a:prstGeom prst="rect">
            <a:avLst/>
          </a:prstGeom>
        </p:spPr>
      </p:pic>
      <p:sp>
        <p:nvSpPr>
          <p:cNvPr id="5" name="Shape 2"/>
          <p:cNvSpPr/>
          <p:nvPr/>
        </p:nvSpPr>
        <p:spPr>
          <a:xfrm>
            <a:off x="6355080" y="5451653"/>
            <a:ext cx="5422392" cy="903427"/>
          </a:xfrm>
          <a:prstGeom prst="roundRect">
            <a:avLst>
              <a:gd name="adj" fmla="val 8097"/>
            </a:avLst>
          </a:prstGeom>
          <a:solidFill>
            <a:srgbClr val="E3F3EA"/>
          </a:solidFill>
          <a:ln w="9525">
            <a:solidFill>
              <a:srgbClr val="1E7A4C"/>
            </a:solidFill>
            <a:prstDash val="solid"/>
          </a:ln>
        </p:spPr>
      </p:sp>
      <p:sp>
        <p:nvSpPr>
          <p:cNvPr id="6" name="Text 3"/>
          <p:cNvSpPr/>
          <p:nvPr/>
        </p:nvSpPr>
        <p:spPr>
          <a:xfrm>
            <a:off x="6492240" y="5515661"/>
            <a:ext cx="514807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7" name="Text 4"/>
          <p:cNvSpPr/>
          <p:nvPr/>
        </p:nvSpPr>
        <p:spPr>
          <a:xfrm>
            <a:off x="6492240" y="5789981"/>
            <a:ext cx="514807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سقف ۵۰۰ میلیون، سقف هر سند ۵۰ میلیون، اختیار مدیر مالی ۴۰ میلیون، هشدار ۲۰٪: وقتی نقد زیر ۱۰۰ میلیون برود داشبورد هشدار می‌دهد.</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6355080" y="1188720"/>
            <a:ext cx="49469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کد و عنوان</a:t>
            </a:r>
            <a:endParaRPr lang="en-US" sz="1350" dirty="0"/>
          </a:p>
        </p:txBody>
      </p:sp>
      <p:sp>
        <p:nvSpPr>
          <p:cNvPr id="11" name="Text 8"/>
          <p:cNvSpPr/>
          <p:nvPr/>
        </p:nvSpPr>
        <p:spPr>
          <a:xfrm>
            <a:off x="6355080" y="1517904"/>
            <a:ext cx="4946904" cy="268834"/>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کد در هر واحد یکتاست؛ مثلاً TN-01 «تنخواه اداری ستاد».</a:t>
            </a:r>
            <a:endParaRPr lang="en-US" sz="1200" dirty="0"/>
          </a:p>
        </p:txBody>
      </p:sp>
      <p:sp>
        <p:nvSpPr>
          <p:cNvPr id="12" name="Shape 9"/>
          <p:cNvSpPr/>
          <p:nvPr/>
        </p:nvSpPr>
        <p:spPr>
          <a:xfrm>
            <a:off x="11411712" y="1841602"/>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184160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6355080" y="1841602"/>
            <a:ext cx="49469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تنخواه‌دار</a:t>
            </a:r>
            <a:endParaRPr lang="en-US" sz="1350" dirty="0"/>
          </a:p>
        </p:txBody>
      </p:sp>
      <p:sp>
        <p:nvSpPr>
          <p:cNvPr id="15" name="Text 12"/>
          <p:cNvSpPr/>
          <p:nvPr/>
        </p:nvSpPr>
        <p:spPr>
          <a:xfrm>
            <a:off x="6355080" y="2170786"/>
            <a:ext cx="494690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کد کاربری و نام مسئول تنخواه؛ فقط او می‌تواند صورت‌هزینه ثبت کند.</a:t>
            </a:r>
            <a:endParaRPr lang="en-US" sz="1200" dirty="0"/>
          </a:p>
        </p:txBody>
      </p:sp>
      <p:sp>
        <p:nvSpPr>
          <p:cNvPr id="16" name="Shape 13"/>
          <p:cNvSpPr/>
          <p:nvPr/>
        </p:nvSpPr>
        <p:spPr>
          <a:xfrm>
            <a:off x="11411712" y="2708453"/>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270845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6355080" y="2708453"/>
            <a:ext cx="49469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سقف‌ها</a:t>
            </a:r>
            <a:endParaRPr lang="en-US" sz="1350" dirty="0"/>
          </a:p>
        </p:txBody>
      </p:sp>
      <p:sp>
        <p:nvSpPr>
          <p:cNvPr id="19" name="Text 16"/>
          <p:cNvSpPr/>
          <p:nvPr/>
        </p:nvSpPr>
        <p:spPr>
          <a:xfrm>
            <a:off x="6355080" y="3037637"/>
            <a:ext cx="494690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سقف تنخواه، سقف هر سند و سقف اختیار مدیر مالی (بالاتر از آن فقط مدیرعامل تأیید نهایی می‌کند).</a:t>
            </a:r>
            <a:endParaRPr lang="en-US" sz="1200" dirty="0"/>
          </a:p>
        </p:txBody>
      </p:sp>
      <p:sp>
        <p:nvSpPr>
          <p:cNvPr id="20" name="Shape 17"/>
          <p:cNvSpPr/>
          <p:nvPr/>
        </p:nvSpPr>
        <p:spPr>
          <a:xfrm>
            <a:off x="11411712" y="3575304"/>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357530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6355080" y="3575304"/>
            <a:ext cx="49469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هشدار و دوره</a:t>
            </a:r>
            <a:endParaRPr lang="en-US" sz="1350" dirty="0"/>
          </a:p>
        </p:txBody>
      </p:sp>
      <p:sp>
        <p:nvSpPr>
          <p:cNvPr id="23" name="Text 20"/>
          <p:cNvSpPr/>
          <p:nvPr/>
        </p:nvSpPr>
        <p:spPr>
          <a:xfrm>
            <a:off x="6355080" y="3904488"/>
            <a:ext cx="494690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آستانهٔ هشدار (درصد)، دورهٔ تسویه (ماهانه/فصلی) و «ثبت‌کنندهٔ استرداد».</a:t>
            </a:r>
            <a:endParaRPr lang="en-US" sz="1200" dirty="0"/>
          </a:p>
        </p:txBody>
      </p:sp>
      <p:sp>
        <p:nvSpPr>
          <p:cNvPr id="24" name="Shape 21"/>
          <p:cNvSpPr/>
          <p:nvPr/>
        </p:nvSpPr>
        <p:spPr>
          <a:xfrm>
            <a:off x="11411712" y="4442155"/>
            <a:ext cx="329184" cy="329184"/>
          </a:xfrm>
          <a:prstGeom prst="ellipse">
            <a:avLst/>
          </a:prstGeom>
          <a:solidFill>
            <a:srgbClr val="C9A227"/>
          </a:solidFill>
          <a:ln w="12700">
            <a:solidFill>
              <a:srgbClr val="C9A227"/>
            </a:solidFill>
            <a:prstDash val="solid"/>
          </a:ln>
        </p:spPr>
      </p:sp>
      <p:sp>
        <p:nvSpPr>
          <p:cNvPr id="25" name="Text 22"/>
          <p:cNvSpPr/>
          <p:nvPr/>
        </p:nvSpPr>
        <p:spPr>
          <a:xfrm>
            <a:off x="11411712" y="444215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6" name="Text 23"/>
          <p:cNvSpPr/>
          <p:nvPr/>
        </p:nvSpPr>
        <p:spPr>
          <a:xfrm>
            <a:off x="6355080" y="4442155"/>
            <a:ext cx="49469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حساب معین و ذخیره</a:t>
            </a:r>
            <a:endParaRPr lang="en-US" sz="1350" dirty="0"/>
          </a:p>
        </p:txBody>
      </p:sp>
      <p:sp>
        <p:nvSpPr>
          <p:cNvPr id="27" name="Text 24"/>
          <p:cNvSpPr/>
          <p:nvPr/>
        </p:nvSpPr>
        <p:spPr>
          <a:xfrm>
            <a:off x="6355080" y="4771339"/>
            <a:ext cx="4946904" cy="268834"/>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حساب «تنخواه‌گردان‌ها» را انتخاب، «فعال» را روشن و «ذخیره» کنید.</a:t>
            </a:r>
            <a:endParaRPr lang="en-US" sz="1200" dirty="0"/>
          </a:p>
        </p:txBody>
      </p:sp>
      <p:sp>
        <p:nvSpPr>
          <p:cNvPr id="28" name="Text 25"/>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۱۱۲</a:t>
            </a:r>
            <a:endParaRPr lang="en-US" sz="1000" dirty="0"/>
          </a:p>
        </p:txBody>
      </p:sp>
      <p:sp>
        <p:nvSpPr>
          <p:cNvPr id="29" name="Text 26"/>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۳ — تعیین بررسی‌کنندگان تنخواه</a:t>
            </a:r>
            <a:endParaRPr lang="en-US" sz="2500" dirty="0"/>
          </a:p>
        </p:txBody>
      </p:sp>
      <p:sp>
        <p:nvSpPr>
          <p:cNvPr id="3" name="Shape 1"/>
          <p:cNvSpPr/>
          <p:nvPr/>
        </p:nvSpPr>
        <p:spPr>
          <a:xfrm>
            <a:off x="411480" y="1143000"/>
            <a:ext cx="566928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pc03">    </p:cNvPr>
          <p:cNvPicPr>
            <a:picLocks noChangeAspect="1"/>
          </p:cNvPicPr>
          <p:nvPr/>
        </p:nvPicPr>
        <p:blipFill>
          <a:blip r:embed="rId1"/>
          <a:stretch>
            <a:fillRect/>
          </a:stretch>
        </p:blipFill>
        <p:spPr>
          <a:xfrm>
            <a:off x="841479" y="1216152"/>
            <a:ext cx="4809281" cy="5065776"/>
          </a:xfrm>
          <a:prstGeom prst="rect">
            <a:avLst/>
          </a:prstGeom>
        </p:spPr>
      </p:pic>
      <p:sp>
        <p:nvSpPr>
          <p:cNvPr id="5" name="Shape 2"/>
          <p:cNvSpPr/>
          <p:nvPr/>
        </p:nvSpPr>
        <p:spPr>
          <a:xfrm>
            <a:off x="6355080" y="5451653"/>
            <a:ext cx="5422392" cy="903427"/>
          </a:xfrm>
          <a:prstGeom prst="roundRect">
            <a:avLst>
              <a:gd name="adj" fmla="val 8097"/>
            </a:avLst>
          </a:prstGeom>
          <a:solidFill>
            <a:srgbClr val="F6EDCF"/>
          </a:solidFill>
          <a:ln w="9525">
            <a:solidFill>
              <a:srgbClr val="C9A227"/>
            </a:solidFill>
            <a:prstDash val="solid"/>
          </a:ln>
        </p:spPr>
      </p:sp>
      <p:sp>
        <p:nvSpPr>
          <p:cNvPr id="6" name="Text 3"/>
          <p:cNvSpPr/>
          <p:nvPr/>
        </p:nvSpPr>
        <p:spPr>
          <a:xfrm>
            <a:off x="6492240" y="5515661"/>
            <a:ext cx="514807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7" name="Text 4"/>
          <p:cNvSpPr/>
          <p:nvPr/>
        </p:nvSpPr>
        <p:spPr>
          <a:xfrm>
            <a:off x="6492240" y="5789981"/>
            <a:ext cx="514807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بدون بررسی‌کننده، اسناد ارسال‌شده در کارتابل کسی قابل اقدام نیستند؛ حداقل یک بازرس مالی و یک مدیر مالی تعریف کنید.</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6355080" y="1188720"/>
            <a:ext cx="49469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باز کردن</a:t>
            </a:r>
            <a:endParaRPr lang="en-US" sz="1350" dirty="0"/>
          </a:p>
        </p:txBody>
      </p:sp>
      <p:sp>
        <p:nvSpPr>
          <p:cNvPr id="11" name="Text 8"/>
          <p:cNvSpPr/>
          <p:nvPr/>
        </p:nvSpPr>
        <p:spPr>
          <a:xfrm>
            <a:off x="6355080" y="1517904"/>
            <a:ext cx="49469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 فهرست تنخواه‌ها آیکون «بررسی‌کنندگان» را بزنید.</a:t>
            </a:r>
            <a:endParaRPr lang="en-US" sz="1300" dirty="0"/>
          </a:p>
        </p:txBody>
      </p:sp>
      <p:sp>
        <p:nvSpPr>
          <p:cNvPr id="12" name="Shape 9"/>
          <p:cNvSpPr/>
          <p:nvPr/>
        </p:nvSpPr>
        <p:spPr>
          <a:xfrm>
            <a:off x="11411712" y="1859432"/>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185943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6355080" y="1859432"/>
            <a:ext cx="49469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افزودن</a:t>
            </a:r>
            <a:endParaRPr lang="en-US" sz="1350" dirty="0"/>
          </a:p>
        </p:txBody>
      </p:sp>
      <p:sp>
        <p:nvSpPr>
          <p:cNvPr id="15" name="Text 12"/>
          <p:cNvSpPr/>
          <p:nvPr/>
        </p:nvSpPr>
        <p:spPr>
          <a:xfrm>
            <a:off x="6355080" y="2188616"/>
            <a:ext cx="49469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کد کاربری، نام و نقش (بازرس مالی، مدیر مالی، مدیرعامل، حسابدار ارشد، خزانه‌دار) و «افزودن».</a:t>
            </a:r>
            <a:endParaRPr lang="en-US" sz="1300" dirty="0"/>
          </a:p>
        </p:txBody>
      </p:sp>
      <p:sp>
        <p:nvSpPr>
          <p:cNvPr id="16" name="Shape 13"/>
          <p:cNvSpPr/>
          <p:nvPr/>
        </p:nvSpPr>
        <p:spPr>
          <a:xfrm>
            <a:off x="11411712" y="2761945"/>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276194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6355080" y="2761945"/>
            <a:ext cx="49469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چند نقش</a:t>
            </a:r>
            <a:endParaRPr lang="en-US" sz="1350" dirty="0"/>
          </a:p>
        </p:txBody>
      </p:sp>
      <p:sp>
        <p:nvSpPr>
          <p:cNvPr id="19" name="Text 16"/>
          <p:cNvSpPr/>
          <p:nvPr/>
        </p:nvSpPr>
        <p:spPr>
          <a:xfrm>
            <a:off x="6355080" y="3091129"/>
            <a:ext cx="49469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یک کاربر می‌تواند روی یک تنخواه بیش از یک نقش داشته باشد.</a:t>
            </a:r>
            <a:endParaRPr lang="en-US" sz="1300" dirty="0"/>
          </a:p>
        </p:txBody>
      </p:sp>
      <p:sp>
        <p:nvSpPr>
          <p:cNvPr id="20" name="Shape 17"/>
          <p:cNvSpPr/>
          <p:nvPr/>
        </p:nvSpPr>
        <p:spPr>
          <a:xfrm>
            <a:off x="11411712" y="3432658"/>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343265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6355080" y="3432658"/>
            <a:ext cx="49469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تفصیلی معین</a:t>
            </a:r>
            <a:endParaRPr lang="en-US" sz="1350" dirty="0"/>
          </a:p>
        </p:txBody>
      </p:sp>
      <p:sp>
        <p:nvSpPr>
          <p:cNvPr id="23" name="Text 20"/>
          <p:cNvSpPr/>
          <p:nvPr/>
        </p:nvSpPr>
        <p:spPr>
          <a:xfrm>
            <a:off x="6355080" y="3761842"/>
            <a:ext cx="49469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از آیکون «تفصیلی‌های حساب معین» تفصیلی‌های خود تنخواه را برای سند تسویه تعیین کنید.</a:t>
            </a:r>
            <a:endParaRPr lang="en-US" sz="1300" dirty="0"/>
          </a:p>
        </p:txBody>
      </p:sp>
      <p:sp>
        <p:nvSpPr>
          <p:cNvPr id="24" name="Text 2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۱۱۳</a:t>
            </a:r>
            <a:endParaRPr lang="en-US" sz="1000" dirty="0"/>
          </a:p>
        </p:txBody>
      </p:sp>
      <p:sp>
        <p:nvSpPr>
          <p:cNvPr id="25" name="Text 2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۴ — تعریف انواع هزینه</a:t>
            </a:r>
            <a:endParaRPr lang="en-US" sz="2500" dirty="0"/>
          </a:p>
        </p:txBody>
      </p:sp>
      <p:sp>
        <p:nvSpPr>
          <p:cNvPr id="3" name="Shape 1"/>
          <p:cNvSpPr/>
          <p:nvPr/>
        </p:nvSpPr>
        <p:spPr>
          <a:xfrm>
            <a:off x="8572500" y="896112"/>
            <a:ext cx="320497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682228" y="896112"/>
            <a:ext cx="298551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تعریف هزینه</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فهرست انواع هزینه</a:t>
            </a:r>
            <a:endParaRPr lang="en-US" sz="1200" dirty="0"/>
          </a:p>
        </p:txBody>
      </p:sp>
      <p:sp>
        <p:nvSpPr>
          <p:cNvPr id="6" name="Shape 4"/>
          <p:cNvSpPr/>
          <p:nvPr/>
        </p:nvSpPr>
        <p:spPr>
          <a:xfrm>
            <a:off x="6208776"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pc_exp01s">    </p:cNvPr>
          <p:cNvPicPr>
            <a:picLocks noChangeAspect="1"/>
          </p:cNvPicPr>
          <p:nvPr/>
        </p:nvPicPr>
        <p:blipFill>
          <a:blip r:embed="rId1"/>
          <a:stretch>
            <a:fillRect/>
          </a:stretch>
        </p:blipFill>
        <p:spPr>
          <a:xfrm>
            <a:off x="6564223" y="1664208"/>
            <a:ext cx="4857802" cy="2374925"/>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فرم هزینه و اتصال به حساب معین</a:t>
            </a:r>
            <a:endParaRPr lang="en-US" sz="1200" dirty="0"/>
          </a:p>
        </p:txBody>
      </p:sp>
      <p:sp>
        <p:nvSpPr>
          <p:cNvPr id="9" name="Shape 6"/>
          <p:cNvSpPr/>
          <p:nvPr/>
        </p:nvSpPr>
        <p:spPr>
          <a:xfrm>
            <a:off x="411480"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pc_exp02s">    </p:cNvPr>
          <p:cNvPicPr>
            <a:picLocks noChangeAspect="1"/>
          </p:cNvPicPr>
          <p:nvPr/>
        </p:nvPicPr>
        <p:blipFill>
          <a:blip r:embed="rId2"/>
          <a:stretch>
            <a:fillRect/>
          </a:stretch>
        </p:blipFill>
        <p:spPr>
          <a:xfrm>
            <a:off x="766927" y="1664208"/>
            <a:ext cx="4857802" cy="2374925"/>
          </a:xfrm>
          <a:prstGeom prst="rect">
            <a:avLst/>
          </a:prstGeom>
        </p:spPr>
      </p:pic>
      <p:sp>
        <p:nvSpPr>
          <p:cNvPr id="11" name="Shape 7"/>
          <p:cNvSpPr/>
          <p:nvPr/>
        </p:nvSpPr>
        <p:spPr>
          <a:xfrm>
            <a:off x="9038844" y="4267733"/>
            <a:ext cx="2738628" cy="1291819"/>
          </a:xfrm>
          <a:prstGeom prst="roundRect">
            <a:avLst>
              <a:gd name="adj" fmla="val 5663"/>
            </a:avLst>
          </a:prstGeom>
          <a:solidFill>
            <a:srgbClr val="FFFFFF"/>
          </a:solidFill>
          <a:ln w="6350">
            <a:solidFill>
              <a:srgbClr val="D9DEE7"/>
            </a:solidFill>
            <a:prstDash val="solid"/>
          </a:ln>
        </p:spPr>
      </p:sp>
      <p:sp>
        <p:nvSpPr>
          <p:cNvPr id="12" name="Shape 8"/>
          <p:cNvSpPr/>
          <p:nvPr/>
        </p:nvSpPr>
        <p:spPr>
          <a:xfrm>
            <a:off x="11356848" y="4359173"/>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چرا؟</a:t>
            </a:r>
            <a:endParaRPr lang="en-US" sz="1300" dirty="0"/>
          </a:p>
        </p:txBody>
      </p:sp>
      <p:sp>
        <p:nvSpPr>
          <p:cNvPr id="15" name="Text 11"/>
          <p:cNvSpPr/>
          <p:nvPr/>
        </p:nvSpPr>
        <p:spPr>
          <a:xfrm>
            <a:off x="9148572"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هر نوع هزینه یک گزینهٔ «حساب هزینه» در فرم صورت‌هزینه می‌شود.</a:t>
            </a:r>
            <a:endParaRPr lang="en-US" sz="1150" dirty="0"/>
          </a:p>
        </p:txBody>
      </p:sp>
      <p:sp>
        <p:nvSpPr>
          <p:cNvPr id="16" name="Shape 12"/>
          <p:cNvSpPr/>
          <p:nvPr/>
        </p:nvSpPr>
        <p:spPr>
          <a:xfrm>
            <a:off x="6163056" y="4267733"/>
            <a:ext cx="2738628" cy="1291819"/>
          </a:xfrm>
          <a:prstGeom prst="roundRect">
            <a:avLst>
              <a:gd name="adj" fmla="val 5663"/>
            </a:avLst>
          </a:prstGeom>
          <a:solidFill>
            <a:srgbClr val="FFFFFF"/>
          </a:solidFill>
          <a:ln w="6350">
            <a:solidFill>
              <a:srgbClr val="D9DEE7"/>
            </a:solidFill>
            <a:prstDash val="solid"/>
          </a:ln>
        </p:spPr>
      </p:sp>
      <p:sp>
        <p:nvSpPr>
          <p:cNvPr id="17" name="Shape 13"/>
          <p:cNvSpPr/>
          <p:nvPr/>
        </p:nvSpPr>
        <p:spPr>
          <a:xfrm>
            <a:off x="8481060" y="4359173"/>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افزودن هزینه</a:t>
            </a:r>
            <a:endParaRPr lang="en-US" sz="1300" dirty="0"/>
          </a:p>
        </p:txBody>
      </p:sp>
      <p:sp>
        <p:nvSpPr>
          <p:cNvPr id="20" name="Text 16"/>
          <p:cNvSpPr/>
          <p:nvPr/>
        </p:nvSpPr>
        <p:spPr>
          <a:xfrm>
            <a:off x="6272784"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کد (حداکثر ۲ کاراکتر، یکتا)، عنوان، توضیحات و مبلغ پیش‌فرض اختیاری.</a:t>
            </a:r>
            <a:endParaRPr lang="en-US" sz="1150" dirty="0"/>
          </a:p>
        </p:txBody>
      </p:sp>
      <p:sp>
        <p:nvSpPr>
          <p:cNvPr id="21" name="Shape 17"/>
          <p:cNvSpPr/>
          <p:nvPr/>
        </p:nvSpPr>
        <p:spPr>
          <a:xfrm>
            <a:off x="3287268" y="4267733"/>
            <a:ext cx="2738628" cy="1291819"/>
          </a:xfrm>
          <a:prstGeom prst="roundRect">
            <a:avLst>
              <a:gd name="adj" fmla="val 5663"/>
            </a:avLst>
          </a:prstGeom>
          <a:solidFill>
            <a:srgbClr val="FFFFFF"/>
          </a:solidFill>
          <a:ln w="6350">
            <a:solidFill>
              <a:srgbClr val="D9DEE7"/>
            </a:solidFill>
            <a:prstDash val="solid"/>
          </a:ln>
        </p:spPr>
      </p:sp>
      <p:sp>
        <p:nvSpPr>
          <p:cNvPr id="22" name="Shape 18"/>
          <p:cNvSpPr/>
          <p:nvPr/>
        </p:nvSpPr>
        <p:spPr>
          <a:xfrm>
            <a:off x="5605272" y="4359173"/>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حساب معین</a:t>
            </a:r>
            <a:endParaRPr lang="en-US" sz="1300" dirty="0"/>
          </a:p>
        </p:txBody>
      </p:sp>
      <p:sp>
        <p:nvSpPr>
          <p:cNvPr id="25" name="Text 21"/>
          <p:cNvSpPr/>
          <p:nvPr/>
        </p:nvSpPr>
        <p:spPr>
          <a:xfrm>
            <a:off x="3396996"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با «انتخاب حساب معین» حسابی که این هزینه در سند به آن می‌رود را وصل کنید.</a:t>
            </a:r>
            <a:endParaRPr lang="en-US" sz="1150" dirty="0"/>
          </a:p>
        </p:txBody>
      </p:sp>
      <p:sp>
        <p:nvSpPr>
          <p:cNvPr id="26" name="Shape 22"/>
          <p:cNvSpPr/>
          <p:nvPr/>
        </p:nvSpPr>
        <p:spPr>
          <a:xfrm>
            <a:off x="411480" y="4267733"/>
            <a:ext cx="2738628" cy="1291819"/>
          </a:xfrm>
          <a:prstGeom prst="roundRect">
            <a:avLst>
              <a:gd name="adj" fmla="val 5663"/>
            </a:avLst>
          </a:prstGeom>
          <a:solidFill>
            <a:srgbClr val="FFFFFF"/>
          </a:solidFill>
          <a:ln w="6350">
            <a:solidFill>
              <a:srgbClr val="D9DEE7"/>
            </a:solidFill>
            <a:prstDash val="solid"/>
          </a:ln>
        </p:spPr>
      </p:sp>
      <p:sp>
        <p:nvSpPr>
          <p:cNvPr id="27" name="Shape 23"/>
          <p:cNvSpPr/>
          <p:nvPr/>
        </p:nvSpPr>
        <p:spPr>
          <a:xfrm>
            <a:off x="2729484" y="4359173"/>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تفصیلی‌ها</a:t>
            </a:r>
            <a:endParaRPr lang="en-US" sz="1300" dirty="0"/>
          </a:p>
        </p:txBody>
      </p:sp>
      <p:sp>
        <p:nvSpPr>
          <p:cNvPr id="30" name="Text 26"/>
          <p:cNvSpPr/>
          <p:nvPr/>
        </p:nvSpPr>
        <p:spPr>
          <a:xfrm>
            <a:off x="521208"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اگر معین تفصیلی لازم دارد (مثل مرکز هزینه)، همین‌جا انتخابش کنید.</a:t>
            </a:r>
            <a:endParaRPr lang="en-US" sz="1150" dirty="0"/>
          </a:p>
        </p:txBody>
      </p:sp>
      <p:sp>
        <p:nvSpPr>
          <p:cNvPr id="31" name="Shape 27"/>
          <p:cNvSpPr/>
          <p:nvPr/>
        </p:nvSpPr>
        <p:spPr>
          <a:xfrm>
            <a:off x="411480" y="5696712"/>
            <a:ext cx="11365992" cy="658368"/>
          </a:xfrm>
          <a:prstGeom prst="roundRect">
            <a:avLst>
              <a:gd name="adj" fmla="val 11111"/>
            </a:avLst>
          </a:prstGeom>
          <a:solidFill>
            <a:srgbClr val="E3F3EA"/>
          </a:solidFill>
          <a:ln w="9525">
            <a:solidFill>
              <a:srgbClr val="1E7A4C"/>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«02 پذیرایی جلسات» به معین ۸۲۰۲۰۱ و مرکز هزینهٔ «معاونت مالی» وصل است؛ در تسویه، بدهکار همین حساب می‌شود.</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۱۱۴</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۵ — ثبت صورت‌هزینه (تنخواه‌دار)</a:t>
            </a:r>
            <a:endParaRPr lang="en-US" sz="2500" dirty="0"/>
          </a:p>
        </p:txBody>
      </p:sp>
      <p:sp>
        <p:nvSpPr>
          <p:cNvPr id="3" name="Shape 1"/>
          <p:cNvSpPr/>
          <p:nvPr/>
        </p:nvSpPr>
        <p:spPr>
          <a:xfrm>
            <a:off x="8339328" y="896112"/>
            <a:ext cx="343814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449056" y="896112"/>
            <a:ext cx="321868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ثبت صورت‌هزینه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pc05">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451653"/>
            <a:ext cx="3867912" cy="903427"/>
          </a:xfrm>
          <a:prstGeom prst="roundRect">
            <a:avLst>
              <a:gd name="adj" fmla="val 8097"/>
            </a:avLst>
          </a:prstGeom>
          <a:solidFill>
            <a:srgbClr val="E3F3EA"/>
          </a:solidFill>
          <a:ln w="9525">
            <a:solidFill>
              <a:srgbClr val="1E7A4C"/>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تعمیر کولر: ۱۶,۸۱۸,۱۸۲ + ارزش افزوده ۱,۶۸۱,۸۱۸ = ۱۸,۵۰۰,۰۰۰ ریال.</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تنخواه و تاریخ</a:t>
            </a:r>
            <a:endParaRPr lang="en-US" sz="1350" dirty="0"/>
          </a:p>
        </p:txBody>
      </p:sp>
      <p:sp>
        <p:nvSpPr>
          <p:cNvPr id="13" name="Text 10"/>
          <p:cNvSpPr/>
          <p:nvPr/>
        </p:nvSpPr>
        <p:spPr>
          <a:xfrm>
            <a:off x="7909560" y="1700784"/>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کارت «ماندهٔ تنخواه» موجودی نقد و ماندهٔ پس از این سند را نشان می‌دهد.</a:t>
            </a:r>
            <a:endParaRPr lang="en-US" sz="1050" dirty="0"/>
          </a:p>
        </p:txBody>
      </p:sp>
      <p:sp>
        <p:nvSpPr>
          <p:cNvPr id="14" name="Shape 11"/>
          <p:cNvSpPr/>
          <p:nvPr/>
        </p:nvSpPr>
        <p:spPr>
          <a:xfrm>
            <a:off x="11411712" y="2184959"/>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18495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18495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فروشنده و فاکتور</a:t>
            </a:r>
            <a:endParaRPr lang="en-US" sz="1350" dirty="0"/>
          </a:p>
        </p:txBody>
      </p:sp>
      <p:sp>
        <p:nvSpPr>
          <p:cNvPr id="17" name="Text 14"/>
          <p:cNvSpPr/>
          <p:nvPr/>
        </p:nvSpPr>
        <p:spPr>
          <a:xfrm>
            <a:off x="7909560" y="2514143"/>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نام و شناسهٔ ملی فروشنده، نوع مدرک، شماره و تاریخ فاکتور.</a:t>
            </a:r>
            <a:endParaRPr lang="en-US" sz="1050" dirty="0"/>
          </a:p>
        </p:txBody>
      </p:sp>
      <p:sp>
        <p:nvSpPr>
          <p:cNvPr id="18" name="Shape 15"/>
          <p:cNvSpPr/>
          <p:nvPr/>
        </p:nvSpPr>
        <p:spPr>
          <a:xfrm>
            <a:off x="11411712" y="2998318"/>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299831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299831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شرح و مبلغ</a:t>
            </a:r>
            <a:endParaRPr lang="en-US" sz="1350" dirty="0"/>
          </a:p>
        </p:txBody>
      </p:sp>
      <p:sp>
        <p:nvSpPr>
          <p:cNvPr id="21" name="Text 18"/>
          <p:cNvSpPr/>
          <p:nvPr/>
        </p:nvSpPr>
        <p:spPr>
          <a:xfrm>
            <a:off x="7909560" y="3327502"/>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حساب هزینه، شرح، مبلغ قبل از مالیات و ارزش افزوده (پیش‌فرض ۱۰٪)؛ جمع خودکار.</a:t>
            </a:r>
            <a:endParaRPr lang="en-US" sz="1050" dirty="0"/>
          </a:p>
        </p:txBody>
      </p:sp>
      <p:sp>
        <p:nvSpPr>
          <p:cNvPr id="22" name="Shape 19"/>
          <p:cNvSpPr/>
          <p:nvPr/>
        </p:nvSpPr>
        <p:spPr>
          <a:xfrm>
            <a:off x="11411712" y="381167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81167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81167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کنترل‌ها</a:t>
            </a:r>
            <a:endParaRPr lang="en-US" sz="1350" dirty="0"/>
          </a:p>
        </p:txBody>
      </p:sp>
      <p:sp>
        <p:nvSpPr>
          <p:cNvPr id="25" name="Text 22"/>
          <p:cNvSpPr/>
          <p:nvPr/>
        </p:nvSpPr>
        <p:spPr>
          <a:xfrm>
            <a:off x="7909560" y="4140860"/>
            <a:ext cx="3392424" cy="242087"/>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تیک سبز: در سقف هر سند، موجودی کافی، تاریخ معتبر.</a:t>
            </a:r>
            <a:endParaRPr lang="en-US" sz="1050" dirty="0"/>
          </a:p>
        </p:txBody>
      </p:sp>
      <p:sp>
        <p:nvSpPr>
          <p:cNvPr id="26" name="Shape 23"/>
          <p:cNvSpPr/>
          <p:nvPr/>
        </p:nvSpPr>
        <p:spPr>
          <a:xfrm>
            <a:off x="11411712" y="4437812"/>
            <a:ext cx="329184" cy="329184"/>
          </a:xfrm>
          <a:prstGeom prst="ellipse">
            <a:avLst/>
          </a:prstGeom>
          <a:solidFill>
            <a:srgbClr val="C9A227"/>
          </a:solidFill>
          <a:ln w="12700">
            <a:solidFill>
              <a:srgbClr val="C9A227"/>
            </a:solidFill>
            <a:prstDash val="solid"/>
          </a:ln>
        </p:spPr>
      </p:sp>
      <p:sp>
        <p:nvSpPr>
          <p:cNvPr id="27" name="Text 24"/>
          <p:cNvSpPr/>
          <p:nvPr/>
        </p:nvSpPr>
        <p:spPr>
          <a:xfrm>
            <a:off x="11411712" y="443781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8" name="Text 25"/>
          <p:cNvSpPr/>
          <p:nvPr/>
        </p:nvSpPr>
        <p:spPr>
          <a:xfrm>
            <a:off x="7909560" y="443781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ذخیره و ارسال</a:t>
            </a:r>
            <a:endParaRPr lang="en-US" sz="1350" dirty="0"/>
          </a:p>
        </p:txBody>
      </p:sp>
      <p:sp>
        <p:nvSpPr>
          <p:cNvPr id="29" name="Text 26"/>
          <p:cNvSpPr/>
          <p:nvPr/>
        </p:nvSpPr>
        <p:spPr>
          <a:xfrm>
            <a:off x="7909560" y="4766996"/>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«ذخیرهٔ پیش‌نویس» یا «ارسال برای بررسی»؛ پیوست پس از اولین ذخیره.</a:t>
            </a:r>
            <a:endParaRPr lang="en-US" sz="1050" dirty="0"/>
          </a:p>
        </p:txBody>
      </p:sp>
      <p:sp>
        <p:nvSpPr>
          <p:cNvPr id="30"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۱۱۵</a:t>
            </a:r>
            <a:endParaRPr lang="en-US" sz="1000" dirty="0"/>
          </a:p>
        </p:txBody>
      </p:sp>
      <p:sp>
        <p:nvSpPr>
          <p:cNvPr id="31"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۶ — کارتابل تنخواه</a:t>
            </a:r>
            <a:endParaRPr lang="en-US" sz="2500" dirty="0"/>
          </a:p>
        </p:txBody>
      </p:sp>
      <p:sp>
        <p:nvSpPr>
          <p:cNvPr id="3" name="Shape 1"/>
          <p:cNvSpPr/>
          <p:nvPr/>
        </p:nvSpPr>
        <p:spPr>
          <a:xfrm>
            <a:off x="8339328" y="896112"/>
            <a:ext cx="343814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449056" y="896112"/>
            <a:ext cx="321868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کارتابل تنخواه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pc07">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11411712" y="1371600"/>
            <a:ext cx="329184" cy="329184"/>
          </a:xfrm>
          <a:prstGeom prst="ellipse">
            <a:avLst/>
          </a:prstGeom>
          <a:solidFill>
            <a:srgbClr val="C9A227"/>
          </a:solidFill>
          <a:ln w="12700">
            <a:solidFill>
              <a:srgbClr val="C9A227"/>
            </a:solidFill>
            <a:prstDash val="solid"/>
          </a:ln>
        </p:spPr>
      </p:sp>
      <p:sp>
        <p:nvSpPr>
          <p:cNvPr id="8" name="Text 5"/>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زبانه‌ها</a:t>
            </a:r>
            <a:endParaRPr lang="en-US" sz="1350" dirty="0"/>
          </a:p>
        </p:txBody>
      </p:sp>
      <p:sp>
        <p:nvSpPr>
          <p:cNvPr id="10" name="Text 7"/>
          <p:cNvSpPr/>
          <p:nvPr/>
        </p:nvSpPr>
        <p:spPr>
          <a:xfrm>
            <a:off x="7909560" y="1700784"/>
            <a:ext cx="3392424"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«در جریان»، جدید، در انتظار بررسی، برگشتی، تأییدشده، ردشده، پیش‌نویس و همه — با تعداد هر کدام.</a:t>
            </a:r>
            <a:endParaRPr lang="en-US" sz="1200" dirty="0"/>
          </a:p>
        </p:txBody>
      </p:sp>
      <p:sp>
        <p:nvSpPr>
          <p:cNvPr id="11" name="Shape 8"/>
          <p:cNvSpPr/>
          <p:nvPr/>
        </p:nvSpPr>
        <p:spPr>
          <a:xfrm>
            <a:off x="11411712" y="2452421"/>
            <a:ext cx="329184" cy="329184"/>
          </a:xfrm>
          <a:prstGeom prst="ellipse">
            <a:avLst/>
          </a:prstGeom>
          <a:solidFill>
            <a:srgbClr val="C9A227"/>
          </a:solidFill>
          <a:ln w="12700">
            <a:solidFill>
              <a:srgbClr val="C9A227"/>
            </a:solidFill>
            <a:prstDash val="solid"/>
          </a:ln>
        </p:spPr>
      </p:sp>
      <p:sp>
        <p:nvSpPr>
          <p:cNvPr id="12" name="Text 9"/>
          <p:cNvSpPr/>
          <p:nvPr/>
        </p:nvSpPr>
        <p:spPr>
          <a:xfrm>
            <a:off x="11411712" y="245242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p:nvPr/>
        </p:nvSpPr>
        <p:spPr>
          <a:xfrm>
            <a:off x="7909560" y="245242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جستجو و فیلتر</a:t>
            </a:r>
            <a:endParaRPr lang="en-US" sz="1350" dirty="0"/>
          </a:p>
        </p:txBody>
      </p:sp>
      <p:sp>
        <p:nvSpPr>
          <p:cNvPr id="14" name="Text 11"/>
          <p:cNvSpPr/>
          <p:nvPr/>
        </p:nvSpPr>
        <p:spPr>
          <a:xfrm>
            <a:off x="7909560" y="2781605"/>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بر اساس تنخواه، شرح، فروشنده یا شمارهٔ فاکتور.</a:t>
            </a:r>
            <a:endParaRPr lang="en-US" sz="1200" dirty="0"/>
          </a:p>
        </p:txBody>
      </p:sp>
      <p:sp>
        <p:nvSpPr>
          <p:cNvPr id="15" name="Shape 12"/>
          <p:cNvSpPr/>
          <p:nvPr/>
        </p:nvSpPr>
        <p:spPr>
          <a:xfrm>
            <a:off x="11411712" y="3319272"/>
            <a:ext cx="329184" cy="329184"/>
          </a:xfrm>
          <a:prstGeom prst="ellipse">
            <a:avLst/>
          </a:prstGeom>
          <a:solidFill>
            <a:srgbClr val="C9A227"/>
          </a:solidFill>
          <a:ln w="12700">
            <a:solidFill>
              <a:srgbClr val="C9A227"/>
            </a:solidFill>
            <a:prstDash val="solid"/>
          </a:ln>
        </p:spPr>
      </p:sp>
      <p:sp>
        <p:nvSpPr>
          <p:cNvPr id="16" name="Text 13"/>
          <p:cNvSpPr/>
          <p:nvPr/>
        </p:nvSpPr>
        <p:spPr>
          <a:xfrm>
            <a:off x="11411712" y="33192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p:nvPr/>
        </p:nvSpPr>
        <p:spPr>
          <a:xfrm>
            <a:off x="7909560" y="331927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ستون عمر</a:t>
            </a:r>
            <a:endParaRPr lang="en-US" sz="1350" dirty="0"/>
          </a:p>
        </p:txBody>
      </p:sp>
      <p:sp>
        <p:nvSpPr>
          <p:cNvPr id="18" name="Text 15"/>
          <p:cNvSpPr/>
          <p:nvPr/>
        </p:nvSpPr>
        <p:spPr>
          <a:xfrm>
            <a:off x="7909560" y="3648456"/>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روزهای گذشته از ارسال؛ عمر بیش از ۵ روز قرمز می‌شود.</a:t>
            </a:r>
            <a:endParaRPr lang="en-US" sz="1200" dirty="0"/>
          </a:p>
        </p:txBody>
      </p:sp>
      <p:sp>
        <p:nvSpPr>
          <p:cNvPr id="19" name="Shape 16"/>
          <p:cNvSpPr/>
          <p:nvPr/>
        </p:nvSpPr>
        <p:spPr>
          <a:xfrm>
            <a:off x="11411712" y="4186123"/>
            <a:ext cx="329184" cy="329184"/>
          </a:xfrm>
          <a:prstGeom prst="ellipse">
            <a:avLst/>
          </a:prstGeom>
          <a:solidFill>
            <a:srgbClr val="C9A227"/>
          </a:solidFill>
          <a:ln w="12700">
            <a:solidFill>
              <a:srgbClr val="C9A227"/>
            </a:solidFill>
            <a:prstDash val="solid"/>
          </a:ln>
        </p:spPr>
      </p:sp>
      <p:sp>
        <p:nvSpPr>
          <p:cNvPr id="20" name="Text 17"/>
          <p:cNvSpPr/>
          <p:nvPr/>
        </p:nvSpPr>
        <p:spPr>
          <a:xfrm>
            <a:off x="11411712" y="418612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p:nvPr/>
        </p:nvSpPr>
        <p:spPr>
          <a:xfrm>
            <a:off x="7909560" y="418612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اقدام‌ها</a:t>
            </a:r>
            <a:endParaRPr lang="en-US" sz="1350" dirty="0"/>
          </a:p>
        </p:txBody>
      </p:sp>
      <p:sp>
        <p:nvSpPr>
          <p:cNvPr id="22" name="Text 19"/>
          <p:cNvSpPr/>
          <p:nvPr/>
        </p:nvSpPr>
        <p:spPr>
          <a:xfrm>
            <a:off x="7909560" y="4515307"/>
            <a:ext cx="3392424"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نمایش، شروع بررسی، تأیید کنترل، تأیید نهایی، برگشت و رد — فقط اقدام‌های مجاز نقش شما فعال است.</a:t>
            </a:r>
            <a:endParaRPr lang="en-US" sz="1200" dirty="0"/>
          </a:p>
        </p:txBody>
      </p:sp>
      <p:sp>
        <p:nvSpPr>
          <p:cNvPr id="23" name="Shape 20"/>
          <p:cNvSpPr/>
          <p:nvPr/>
        </p:nvSpPr>
        <p:spPr>
          <a:xfrm>
            <a:off x="11411712" y="5266944"/>
            <a:ext cx="329184" cy="329184"/>
          </a:xfrm>
          <a:prstGeom prst="ellipse">
            <a:avLst/>
          </a:prstGeom>
          <a:solidFill>
            <a:srgbClr val="C9A227"/>
          </a:solidFill>
          <a:ln w="12700">
            <a:solidFill>
              <a:srgbClr val="C9A227"/>
            </a:solidFill>
            <a:prstDash val="solid"/>
          </a:ln>
        </p:spPr>
      </p:sp>
      <p:sp>
        <p:nvSpPr>
          <p:cNvPr id="24" name="Text 21"/>
          <p:cNvSpPr/>
          <p:nvPr/>
        </p:nvSpPr>
        <p:spPr>
          <a:xfrm>
            <a:off x="11411712" y="526694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5" name="Text 22"/>
          <p:cNvSpPr/>
          <p:nvPr/>
        </p:nvSpPr>
        <p:spPr>
          <a:xfrm>
            <a:off x="7909560" y="526694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تأیید گروهی</a:t>
            </a:r>
            <a:endParaRPr lang="en-US" sz="1350" dirty="0"/>
          </a:p>
        </p:txBody>
      </p:sp>
      <p:sp>
        <p:nvSpPr>
          <p:cNvPr id="26" name="Text 23"/>
          <p:cNvSpPr/>
          <p:nvPr/>
        </p:nvSpPr>
        <p:spPr>
          <a:xfrm>
            <a:off x="7909560" y="5596128"/>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اسناد کنترل‌شده را تیک بزنید و «تأیید گروهی» کنید؛ همه با هم تأیید می‌شوند یا هیچ‌کدام.</a:t>
            </a:r>
            <a:endParaRPr lang="en-US" sz="1200" dirty="0"/>
          </a:p>
        </p:txBody>
      </p:sp>
      <p:sp>
        <p:nvSpPr>
          <p:cNvPr id="27" name="Text 24"/>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۱۱۶</a:t>
            </a:r>
            <a:endParaRPr lang="en-US" sz="1000" dirty="0"/>
          </a:p>
        </p:txBody>
      </p:sp>
      <p:sp>
        <p:nvSpPr>
          <p:cNvPr id="28" name="Text 25"/>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۷ — بررسی سند در صفحهٔ جزئیات</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pc08">    </p:cNvPr>
          <p:cNvPicPr>
            <a:picLocks noChangeAspect="1"/>
          </p:cNvPicPr>
          <p:nvPr/>
        </p:nvPicPr>
        <p:blipFill>
          <a:blip r:embed="rId1"/>
          <a:stretch>
            <a:fillRect/>
          </a:stretch>
        </p:blipFill>
        <p:spPr>
          <a:xfrm>
            <a:off x="600538" y="1216152"/>
            <a:ext cx="6845643" cy="5065776"/>
          </a:xfrm>
          <a:prstGeom prst="rect">
            <a:avLst/>
          </a:prstGeom>
        </p:spPr>
      </p:pic>
      <p:sp>
        <p:nvSpPr>
          <p:cNvPr id="5" name="Shape 2"/>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6" name="Text 3"/>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7" name="Text 4"/>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علی نوری (بازرس) فاکتور تاکسی TH-00120 را با مبلغ سند مقایسه می‌کند؛ درست است، پس «تأیید کنترل» می‌زند.</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شروع بررسی</a:t>
            </a:r>
            <a:endParaRPr lang="en-US" sz="1350" dirty="0"/>
          </a:p>
        </p:txBody>
      </p:sp>
      <p:sp>
        <p:nvSpPr>
          <p:cNvPr id="11" name="Text 8"/>
          <p:cNvSpPr/>
          <p:nvPr/>
        </p:nvSpPr>
        <p:spPr>
          <a:xfrm>
            <a:off x="7909560" y="151790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بازرس روی سند «جدید» «شروع بررسی» را می‌زند؛ وضعیت «در انتظار بررسی» می‌شود.</a:t>
            </a:r>
            <a:endParaRPr lang="en-US" sz="1300" dirty="0"/>
          </a:p>
        </p:txBody>
      </p:sp>
      <p:sp>
        <p:nvSpPr>
          <p:cNvPr id="12" name="Shape 9"/>
          <p:cNvSpPr/>
          <p:nvPr/>
        </p:nvSpPr>
        <p:spPr>
          <a:xfrm>
            <a:off x="11411712" y="2091233"/>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0912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09123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بررسی مدارک</a:t>
            </a:r>
            <a:endParaRPr lang="en-US" sz="1350" dirty="0"/>
          </a:p>
        </p:txBody>
      </p:sp>
      <p:sp>
        <p:nvSpPr>
          <p:cNvPr id="15" name="Text 12"/>
          <p:cNvSpPr/>
          <p:nvPr/>
        </p:nvSpPr>
        <p:spPr>
          <a:xfrm>
            <a:off x="7909560" y="242041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فیلدها فقط‌خواندنی‌اند؛ پیوست‌ها را در پنل کناری باز و پیش‌نمایش کنید.</a:t>
            </a:r>
            <a:endParaRPr lang="en-US" sz="1300" dirty="0"/>
          </a:p>
        </p:txBody>
      </p:sp>
      <p:sp>
        <p:nvSpPr>
          <p:cNvPr id="16" name="Shape 13"/>
          <p:cNvSpPr/>
          <p:nvPr/>
        </p:nvSpPr>
        <p:spPr>
          <a:xfrm>
            <a:off x="11411712" y="2993746"/>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29937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29937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نوار اقدام</a:t>
            </a:r>
            <a:endParaRPr lang="en-US" sz="1350" dirty="0"/>
          </a:p>
        </p:txBody>
      </p:sp>
      <p:sp>
        <p:nvSpPr>
          <p:cNvPr id="19" name="Text 16"/>
          <p:cNvSpPr/>
          <p:nvPr/>
        </p:nvSpPr>
        <p:spPr>
          <a:xfrm>
            <a:off x="7909560" y="3322930"/>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«تأیید نهایی»، «برگشت برای اصلاح» و «رد سند…»؛ برچسب آبی می‌گوید چه کسی و کی کنترل کرده.</a:t>
            </a:r>
            <a:endParaRPr lang="en-US" sz="1300" dirty="0"/>
          </a:p>
        </p:txBody>
      </p:sp>
      <p:sp>
        <p:nvSpPr>
          <p:cNvPr id="20" name="Shape 17"/>
          <p:cNvSpPr/>
          <p:nvPr/>
        </p:nvSpPr>
        <p:spPr>
          <a:xfrm>
            <a:off x="11411712" y="4128059"/>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412805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412805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میانبر</a:t>
            </a:r>
            <a:endParaRPr lang="en-US" sz="1350" dirty="0"/>
          </a:p>
        </p:txBody>
      </p:sp>
      <p:sp>
        <p:nvSpPr>
          <p:cNvPr id="23" name="Text 20"/>
          <p:cNvSpPr/>
          <p:nvPr/>
        </p:nvSpPr>
        <p:spPr>
          <a:xfrm>
            <a:off x="7909560" y="4457243"/>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کلید A برای تأیید و R برای برگشت؛ با پیکان‌ها به سند قبلی/بعدی بروید.</a:t>
            </a:r>
            <a:endParaRPr lang="en-US" sz="1300" dirty="0"/>
          </a:p>
        </p:txBody>
      </p:sp>
      <p:sp>
        <p:nvSpPr>
          <p:cNvPr id="24" name="Text 2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۱۱۷</a:t>
            </a:r>
            <a:endParaRPr lang="en-US" sz="1000" dirty="0"/>
          </a:p>
        </p:txBody>
      </p:sp>
      <p:sp>
        <p:nvSpPr>
          <p:cNvPr id="25" name="Text 2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۸ — تأیید دومرحله‌ای</a:t>
            </a:r>
            <a:endParaRPr lang="en-US" sz="2500" dirty="0"/>
          </a:p>
        </p:txBody>
      </p:sp>
      <p:sp>
        <p:nvSpPr>
          <p:cNvPr id="3" name="Text 1"/>
          <p:cNvSpPr/>
          <p:nvPr/>
        </p:nvSpPr>
        <p:spPr>
          <a:xfrm>
            <a:off x="6208776"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۱. تأیید کنترل — بازرس مالی</a:t>
            </a:r>
            <a:endParaRPr lang="en-US" sz="1200" dirty="0"/>
          </a:p>
        </p:txBody>
      </p:sp>
      <p:sp>
        <p:nvSpPr>
          <p:cNvPr id="4" name="Shape 2"/>
          <p:cNvSpPr/>
          <p:nvPr/>
        </p:nvSpPr>
        <p:spPr>
          <a:xfrm>
            <a:off x="6208776" y="1435608"/>
            <a:ext cx="5568696" cy="2825620"/>
          </a:xfrm>
          <a:prstGeom prst="roundRect">
            <a:avLst>
              <a:gd name="adj" fmla="val 2589"/>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5" name="Image 0" descr="pc09">    </p:cNvPr>
          <p:cNvPicPr>
            <a:picLocks noChangeAspect="1"/>
          </p:cNvPicPr>
          <p:nvPr/>
        </p:nvPicPr>
        <p:blipFill>
          <a:blip r:embed="rId1"/>
          <a:stretch>
            <a:fillRect/>
          </a:stretch>
        </p:blipFill>
        <p:spPr>
          <a:xfrm>
            <a:off x="6254496" y="1503776"/>
            <a:ext cx="5477256" cy="2689283"/>
          </a:xfrm>
          <a:prstGeom prst="rect">
            <a:avLst/>
          </a:prstGeom>
        </p:spPr>
      </p:pic>
      <p:sp>
        <p:nvSpPr>
          <p:cNvPr id="6" name="Text 3"/>
          <p:cNvSpPr/>
          <p:nvPr/>
        </p:nvSpPr>
        <p:spPr>
          <a:xfrm>
            <a:off x="411480"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۲. تأیید نهایی — مدیر مالی / مدیرعامل</a:t>
            </a:r>
            <a:endParaRPr lang="en-US" sz="1200" dirty="0"/>
          </a:p>
        </p:txBody>
      </p:sp>
      <p:sp>
        <p:nvSpPr>
          <p:cNvPr id="7" name="Shape 4"/>
          <p:cNvSpPr/>
          <p:nvPr/>
        </p:nvSpPr>
        <p:spPr>
          <a:xfrm>
            <a:off x="411480" y="1435608"/>
            <a:ext cx="5568696" cy="2825620"/>
          </a:xfrm>
          <a:prstGeom prst="roundRect">
            <a:avLst>
              <a:gd name="adj" fmla="val 2589"/>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8" name="Image 1" descr="pc10b">    </p:cNvPr>
          <p:cNvPicPr>
            <a:picLocks noChangeAspect="1"/>
          </p:cNvPicPr>
          <p:nvPr/>
        </p:nvPicPr>
        <p:blipFill>
          <a:blip r:embed="rId2"/>
          <a:stretch>
            <a:fillRect/>
          </a:stretch>
        </p:blipFill>
        <p:spPr>
          <a:xfrm>
            <a:off x="457200" y="1503776"/>
            <a:ext cx="5477256" cy="2689283"/>
          </a:xfrm>
          <a:prstGeom prst="rect">
            <a:avLst/>
          </a:prstGeom>
        </p:spPr>
      </p:pic>
      <p:sp>
        <p:nvSpPr>
          <p:cNvPr id="9" name="Shape 5"/>
          <p:cNvSpPr/>
          <p:nvPr/>
        </p:nvSpPr>
        <p:spPr>
          <a:xfrm>
            <a:off x="8080248" y="4444108"/>
            <a:ext cx="3697224" cy="1115444"/>
          </a:xfrm>
          <a:prstGeom prst="roundRect">
            <a:avLst>
              <a:gd name="adj" fmla="val 6558"/>
            </a:avLst>
          </a:prstGeom>
          <a:solidFill>
            <a:srgbClr val="FFFFFF"/>
          </a:solidFill>
          <a:ln w="6350">
            <a:solidFill>
              <a:srgbClr val="D9DEE7"/>
            </a:solidFill>
            <a:prstDash val="solid"/>
          </a:ln>
        </p:spPr>
      </p:sp>
      <p:sp>
        <p:nvSpPr>
          <p:cNvPr id="10" name="Shape 6"/>
          <p:cNvSpPr/>
          <p:nvPr/>
        </p:nvSpPr>
        <p:spPr>
          <a:xfrm>
            <a:off x="11356848" y="4535548"/>
            <a:ext cx="329184" cy="329184"/>
          </a:xfrm>
          <a:prstGeom prst="ellipse">
            <a:avLst/>
          </a:prstGeom>
          <a:solidFill>
            <a:srgbClr val="C9A227"/>
          </a:solidFill>
          <a:ln w="12700">
            <a:solidFill>
              <a:srgbClr val="C9A227"/>
            </a:solidFill>
            <a:prstDash val="solid"/>
          </a:ln>
        </p:spPr>
      </p:sp>
      <p:sp>
        <p:nvSpPr>
          <p:cNvPr id="11" name="Text 7"/>
          <p:cNvSpPr/>
          <p:nvPr/>
        </p:nvSpPr>
        <p:spPr>
          <a:xfrm>
            <a:off x="11356848" y="453554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8"/>
          <p:cNvSpPr/>
          <p:nvPr/>
        </p:nvSpPr>
        <p:spPr>
          <a:xfrm>
            <a:off x="8171688" y="4517260"/>
            <a:ext cx="3130296"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تأیید کنترل</a:t>
            </a:r>
            <a:endParaRPr lang="en-US" sz="1300" dirty="0"/>
          </a:p>
        </p:txBody>
      </p:sp>
      <p:sp>
        <p:nvSpPr>
          <p:cNvPr id="13" name="Text 9"/>
          <p:cNvSpPr/>
          <p:nvPr/>
        </p:nvSpPr>
        <p:spPr>
          <a:xfrm>
            <a:off x="8189976" y="4919596"/>
            <a:ext cx="3477768" cy="58509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بازرس پس از بررسی، با یادداشت اختیاری ثبت می‌کند؛ وضعیت سند تغییر نمی‌کند.</a:t>
            </a:r>
            <a:endParaRPr lang="en-US" sz="1150" dirty="0"/>
          </a:p>
        </p:txBody>
      </p:sp>
      <p:sp>
        <p:nvSpPr>
          <p:cNvPr id="14" name="Shape 10"/>
          <p:cNvSpPr/>
          <p:nvPr/>
        </p:nvSpPr>
        <p:spPr>
          <a:xfrm>
            <a:off x="4245864" y="4444108"/>
            <a:ext cx="3697224" cy="1115444"/>
          </a:xfrm>
          <a:prstGeom prst="roundRect">
            <a:avLst>
              <a:gd name="adj" fmla="val 6558"/>
            </a:avLst>
          </a:prstGeom>
          <a:solidFill>
            <a:srgbClr val="FFFFFF"/>
          </a:solidFill>
          <a:ln w="6350">
            <a:solidFill>
              <a:srgbClr val="D9DEE7"/>
            </a:solidFill>
            <a:prstDash val="solid"/>
          </a:ln>
        </p:spPr>
      </p:sp>
      <p:sp>
        <p:nvSpPr>
          <p:cNvPr id="15" name="Shape 11"/>
          <p:cNvSpPr/>
          <p:nvPr/>
        </p:nvSpPr>
        <p:spPr>
          <a:xfrm>
            <a:off x="7522464" y="4535548"/>
            <a:ext cx="329184" cy="329184"/>
          </a:xfrm>
          <a:prstGeom prst="ellipse">
            <a:avLst/>
          </a:prstGeom>
          <a:solidFill>
            <a:srgbClr val="C9A227"/>
          </a:solidFill>
          <a:ln w="12700">
            <a:solidFill>
              <a:srgbClr val="C9A227"/>
            </a:solidFill>
            <a:prstDash val="solid"/>
          </a:ln>
        </p:spPr>
      </p:sp>
      <p:sp>
        <p:nvSpPr>
          <p:cNvPr id="16" name="Text 12"/>
          <p:cNvSpPr/>
          <p:nvPr/>
        </p:nvSpPr>
        <p:spPr>
          <a:xfrm>
            <a:off x="7522464" y="453554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7" name="Text 13"/>
          <p:cNvSpPr/>
          <p:nvPr/>
        </p:nvSpPr>
        <p:spPr>
          <a:xfrm>
            <a:off x="4337304" y="4517260"/>
            <a:ext cx="3130296"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تأیید نهایی</a:t>
            </a:r>
            <a:endParaRPr lang="en-US" sz="1300" dirty="0"/>
          </a:p>
        </p:txBody>
      </p:sp>
      <p:sp>
        <p:nvSpPr>
          <p:cNvPr id="18" name="Text 14"/>
          <p:cNvSpPr/>
          <p:nvPr/>
        </p:nvSpPr>
        <p:spPr>
          <a:xfrm>
            <a:off x="4355592" y="4919596"/>
            <a:ext cx="3477768" cy="58509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مدیر مالی (تا سقف اختیار) یا مدیرعامل (بالاتر) تأیید می‌کند ⇐ «تأییدشده».</a:t>
            </a:r>
            <a:endParaRPr lang="en-US" sz="1150" dirty="0"/>
          </a:p>
        </p:txBody>
      </p:sp>
      <p:sp>
        <p:nvSpPr>
          <p:cNvPr id="19" name="Shape 15"/>
          <p:cNvSpPr/>
          <p:nvPr/>
        </p:nvSpPr>
        <p:spPr>
          <a:xfrm>
            <a:off x="411480" y="4444108"/>
            <a:ext cx="3697224" cy="1115444"/>
          </a:xfrm>
          <a:prstGeom prst="roundRect">
            <a:avLst>
              <a:gd name="adj" fmla="val 6558"/>
            </a:avLst>
          </a:prstGeom>
          <a:solidFill>
            <a:srgbClr val="FFFFFF"/>
          </a:solidFill>
          <a:ln w="6350">
            <a:solidFill>
              <a:srgbClr val="D9DEE7"/>
            </a:solidFill>
            <a:prstDash val="solid"/>
          </a:ln>
        </p:spPr>
      </p:sp>
      <p:sp>
        <p:nvSpPr>
          <p:cNvPr id="20" name="Shape 16"/>
          <p:cNvSpPr/>
          <p:nvPr/>
        </p:nvSpPr>
        <p:spPr>
          <a:xfrm>
            <a:off x="3688080" y="4535548"/>
            <a:ext cx="329184" cy="329184"/>
          </a:xfrm>
          <a:prstGeom prst="ellipse">
            <a:avLst/>
          </a:prstGeom>
          <a:solidFill>
            <a:srgbClr val="C9A227"/>
          </a:solidFill>
          <a:ln w="12700">
            <a:solidFill>
              <a:srgbClr val="C9A227"/>
            </a:solidFill>
            <a:prstDash val="solid"/>
          </a:ln>
        </p:spPr>
      </p:sp>
      <p:sp>
        <p:nvSpPr>
          <p:cNvPr id="21" name="Text 17"/>
          <p:cNvSpPr/>
          <p:nvPr/>
        </p:nvSpPr>
        <p:spPr>
          <a:xfrm>
            <a:off x="3688080" y="453554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2" name="Text 18"/>
          <p:cNvSpPr/>
          <p:nvPr/>
        </p:nvSpPr>
        <p:spPr>
          <a:xfrm>
            <a:off x="502920" y="4517260"/>
            <a:ext cx="3130296"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قید</a:t>
            </a:r>
            <a:endParaRPr lang="en-US" sz="1300" dirty="0"/>
          </a:p>
        </p:txBody>
      </p:sp>
      <p:sp>
        <p:nvSpPr>
          <p:cNvPr id="23" name="Text 19"/>
          <p:cNvSpPr/>
          <p:nvPr/>
        </p:nvSpPr>
        <p:spPr>
          <a:xfrm>
            <a:off x="521208" y="4919596"/>
            <a:ext cx="3477768" cy="58509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تأییدکنندهٔ نهایی نباید همان بازرس یا ثبت‌کنندهٔ سند باشد.</a:t>
            </a:r>
            <a:endParaRPr lang="en-US" sz="1150" dirty="0"/>
          </a:p>
        </p:txBody>
      </p:sp>
      <p:sp>
        <p:nvSpPr>
          <p:cNvPr id="24" name="Shape 20"/>
          <p:cNvSpPr/>
          <p:nvPr/>
        </p:nvSpPr>
        <p:spPr>
          <a:xfrm>
            <a:off x="411480" y="5696712"/>
            <a:ext cx="11365992" cy="658368"/>
          </a:xfrm>
          <a:prstGeom prst="roundRect">
            <a:avLst>
              <a:gd name="adj" fmla="val 11111"/>
            </a:avLst>
          </a:prstGeom>
          <a:solidFill>
            <a:srgbClr val="E3F3EA"/>
          </a:solidFill>
          <a:ln w="9525">
            <a:solidFill>
              <a:srgbClr val="1E7A4C"/>
            </a:solidFill>
            <a:prstDash val="solid"/>
          </a:ln>
        </p:spPr>
      </p:sp>
      <p:sp>
        <p:nvSpPr>
          <p:cNvPr id="25" name="Text 21"/>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26" name="Text 22"/>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سند ۴٫۲ میلیونی را مریم صادقی (مدیر مالی، اختیار تا ۴۰ میلیون) نهایی می‌کند؛ سند ۴۵ میلیونی را مدیرعامل.</a:t>
            </a:r>
            <a:endParaRPr lang="en-US" sz="1250" dirty="0"/>
          </a:p>
        </p:txBody>
      </p:sp>
      <p:sp>
        <p:nvSpPr>
          <p:cNvPr id="27"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۱۱۸</a:t>
            </a:r>
            <a:endParaRPr lang="en-US" sz="1000" dirty="0"/>
          </a:p>
        </p:txBody>
      </p:sp>
      <p:sp>
        <p:nvSpPr>
          <p:cNvPr id="28"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۹ — برگشت یا رد سند</a:t>
            </a:r>
            <a:endParaRPr lang="en-US" sz="2500" dirty="0"/>
          </a:p>
        </p:txBody>
      </p:sp>
      <p:sp>
        <p:nvSpPr>
          <p:cNvPr id="3" name="Shape 1"/>
          <p:cNvSpPr/>
          <p:nvPr/>
        </p:nvSpPr>
        <p:spPr>
          <a:xfrm>
            <a:off x="411480" y="1143000"/>
            <a:ext cx="58521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pc10">    </p:cNvPr>
          <p:cNvPicPr>
            <a:picLocks noChangeAspect="1"/>
          </p:cNvPicPr>
          <p:nvPr/>
        </p:nvPicPr>
        <p:blipFill>
          <a:blip r:embed="rId1"/>
          <a:stretch>
            <a:fillRect/>
          </a:stretch>
        </p:blipFill>
        <p:spPr>
          <a:xfrm>
            <a:off x="694546" y="1216152"/>
            <a:ext cx="5286027" cy="5065776"/>
          </a:xfrm>
          <a:prstGeom prst="rect">
            <a:avLst/>
          </a:prstGeom>
        </p:spPr>
      </p:pic>
      <p:sp>
        <p:nvSpPr>
          <p:cNvPr id="5" name="Shape 2"/>
          <p:cNvSpPr/>
          <p:nvPr/>
        </p:nvSpPr>
        <p:spPr>
          <a:xfrm>
            <a:off x="11411712" y="1188720"/>
            <a:ext cx="329184" cy="329184"/>
          </a:xfrm>
          <a:prstGeom prst="ellipse">
            <a:avLst/>
          </a:prstGeom>
          <a:solidFill>
            <a:srgbClr val="C9A227"/>
          </a:solidFill>
          <a:ln w="12700">
            <a:solidFill>
              <a:srgbClr val="C9A227"/>
            </a:solidFill>
            <a:prstDash val="solid"/>
          </a:ln>
        </p:spPr>
      </p:sp>
      <p:sp>
        <p:nvSpPr>
          <p:cNvPr id="6" name="Text 3"/>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p:nvPr/>
        </p:nvSpPr>
        <p:spPr>
          <a:xfrm>
            <a:off x="6537960" y="1188720"/>
            <a:ext cx="47640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دلایل</a:t>
            </a:r>
            <a:endParaRPr lang="en-US" sz="1350" dirty="0"/>
          </a:p>
        </p:txBody>
      </p:sp>
      <p:sp>
        <p:nvSpPr>
          <p:cNvPr id="8" name="Text 5"/>
          <p:cNvSpPr/>
          <p:nvPr/>
        </p:nvSpPr>
        <p:spPr>
          <a:xfrm>
            <a:off x="6537960" y="1517904"/>
            <a:ext cx="47640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یک یا چند دلیل: پیوست ناقص، حساب هزینه نادرست، مبلغ با مدرک مطابقت ندارد، شرح نیازمند توضیح، سایر.</a:t>
            </a:r>
            <a:endParaRPr lang="en-US" sz="1300" dirty="0"/>
          </a:p>
        </p:txBody>
      </p:sp>
      <p:sp>
        <p:nvSpPr>
          <p:cNvPr id="9" name="Shape 6"/>
          <p:cNvSpPr/>
          <p:nvPr/>
        </p:nvSpPr>
        <p:spPr>
          <a:xfrm>
            <a:off x="11411712" y="2091233"/>
            <a:ext cx="329184" cy="329184"/>
          </a:xfrm>
          <a:prstGeom prst="ellipse">
            <a:avLst/>
          </a:prstGeom>
          <a:solidFill>
            <a:srgbClr val="C9A227"/>
          </a:solidFill>
          <a:ln w="12700">
            <a:solidFill>
              <a:srgbClr val="C9A227"/>
            </a:solidFill>
            <a:prstDash val="solid"/>
          </a:ln>
        </p:spPr>
      </p:sp>
      <p:sp>
        <p:nvSpPr>
          <p:cNvPr id="10" name="Text 7"/>
          <p:cNvSpPr/>
          <p:nvPr/>
        </p:nvSpPr>
        <p:spPr>
          <a:xfrm>
            <a:off x="11411712" y="20912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p:nvPr/>
        </p:nvSpPr>
        <p:spPr>
          <a:xfrm>
            <a:off x="6537960" y="2091233"/>
            <a:ext cx="47640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مهلت</a:t>
            </a:r>
            <a:endParaRPr lang="en-US" sz="1350" dirty="0"/>
          </a:p>
        </p:txBody>
      </p:sp>
      <p:sp>
        <p:nvSpPr>
          <p:cNvPr id="12" name="Text 9"/>
          <p:cNvSpPr/>
          <p:nvPr/>
        </p:nvSpPr>
        <p:spPr>
          <a:xfrm>
            <a:off x="6537960" y="2420417"/>
            <a:ext cx="476402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تاریخ مهلت اصلاح (بعد از امروز) الزامی است.</a:t>
            </a:r>
            <a:endParaRPr lang="en-US" sz="1300" dirty="0"/>
          </a:p>
        </p:txBody>
      </p:sp>
      <p:sp>
        <p:nvSpPr>
          <p:cNvPr id="13" name="Shape 10"/>
          <p:cNvSpPr/>
          <p:nvPr/>
        </p:nvSpPr>
        <p:spPr>
          <a:xfrm>
            <a:off x="11411712" y="2761945"/>
            <a:ext cx="329184" cy="329184"/>
          </a:xfrm>
          <a:prstGeom prst="ellipse">
            <a:avLst/>
          </a:prstGeom>
          <a:solidFill>
            <a:srgbClr val="C9A227"/>
          </a:solidFill>
          <a:ln w="12700">
            <a:solidFill>
              <a:srgbClr val="C9A227"/>
            </a:solidFill>
            <a:prstDash val="solid"/>
          </a:ln>
        </p:spPr>
      </p:sp>
      <p:sp>
        <p:nvSpPr>
          <p:cNvPr id="14" name="Text 11"/>
          <p:cNvSpPr/>
          <p:nvPr/>
        </p:nvSpPr>
        <p:spPr>
          <a:xfrm>
            <a:off x="11411712" y="276194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p:nvPr/>
        </p:nvSpPr>
        <p:spPr>
          <a:xfrm>
            <a:off x="6537960" y="2761945"/>
            <a:ext cx="47640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توضیح</a:t>
            </a:r>
            <a:endParaRPr lang="en-US" sz="1350" dirty="0"/>
          </a:p>
        </p:txBody>
      </p:sp>
      <p:sp>
        <p:nvSpPr>
          <p:cNvPr id="16" name="Text 13"/>
          <p:cNvSpPr/>
          <p:nvPr/>
        </p:nvSpPr>
        <p:spPr>
          <a:xfrm>
            <a:off x="6537960" y="3091129"/>
            <a:ext cx="476402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متن «توضیح برای تنخواه‌دار» الزامی است.</a:t>
            </a:r>
            <a:endParaRPr lang="en-US" sz="1300" dirty="0"/>
          </a:p>
        </p:txBody>
      </p:sp>
      <p:sp>
        <p:nvSpPr>
          <p:cNvPr id="17" name="Shape 14"/>
          <p:cNvSpPr/>
          <p:nvPr/>
        </p:nvSpPr>
        <p:spPr>
          <a:xfrm>
            <a:off x="11411712" y="3432658"/>
            <a:ext cx="329184" cy="329184"/>
          </a:xfrm>
          <a:prstGeom prst="ellipse">
            <a:avLst/>
          </a:prstGeom>
          <a:solidFill>
            <a:srgbClr val="C9A227"/>
          </a:solidFill>
          <a:ln w="12700">
            <a:solidFill>
              <a:srgbClr val="C9A227"/>
            </a:solidFill>
            <a:prstDash val="solid"/>
          </a:ln>
        </p:spPr>
      </p:sp>
      <p:sp>
        <p:nvSpPr>
          <p:cNvPr id="18" name="Text 15"/>
          <p:cNvSpPr/>
          <p:nvPr/>
        </p:nvSpPr>
        <p:spPr>
          <a:xfrm>
            <a:off x="11411712" y="343265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p:nvPr/>
        </p:nvSpPr>
        <p:spPr>
          <a:xfrm>
            <a:off x="6537960" y="3432658"/>
            <a:ext cx="47640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قفل فیلدها</a:t>
            </a:r>
            <a:endParaRPr lang="en-US" sz="1350" dirty="0"/>
          </a:p>
        </p:txBody>
      </p:sp>
      <p:sp>
        <p:nvSpPr>
          <p:cNvPr id="20" name="Text 17"/>
          <p:cNvSpPr/>
          <p:nvPr/>
        </p:nvSpPr>
        <p:spPr>
          <a:xfrm>
            <a:off x="6537960" y="3761842"/>
            <a:ext cx="47640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تنخواه‌دار فقط فیلدهای مرتبط با دلیل را تغییر می‌دهد؛ «پیوست ناقص» فقط پیوست را باز می‌کند.</a:t>
            </a:r>
            <a:endParaRPr lang="en-US" sz="1300" dirty="0"/>
          </a:p>
        </p:txBody>
      </p:sp>
      <p:sp>
        <p:nvSpPr>
          <p:cNvPr id="21" name="Shape 18"/>
          <p:cNvSpPr/>
          <p:nvPr/>
        </p:nvSpPr>
        <p:spPr>
          <a:xfrm>
            <a:off x="11411712" y="4335170"/>
            <a:ext cx="329184" cy="329184"/>
          </a:xfrm>
          <a:prstGeom prst="ellipse">
            <a:avLst/>
          </a:prstGeom>
          <a:solidFill>
            <a:srgbClr val="C9A227"/>
          </a:solidFill>
          <a:ln w="12700">
            <a:solidFill>
              <a:srgbClr val="C9A227"/>
            </a:solidFill>
            <a:prstDash val="solid"/>
          </a:ln>
        </p:spPr>
      </p:sp>
      <p:sp>
        <p:nvSpPr>
          <p:cNvPr id="22" name="Text 19"/>
          <p:cNvSpPr/>
          <p:nvPr/>
        </p:nvSpPr>
        <p:spPr>
          <a:xfrm>
            <a:off x="11411712" y="433517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p:nvPr/>
        </p:nvSpPr>
        <p:spPr>
          <a:xfrm>
            <a:off x="6537960" y="4335170"/>
            <a:ext cx="47640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رد سند</a:t>
            </a:r>
            <a:endParaRPr lang="en-US" sz="1350" dirty="0"/>
          </a:p>
        </p:txBody>
      </p:sp>
      <p:sp>
        <p:nvSpPr>
          <p:cNvPr id="24" name="Text 21"/>
          <p:cNvSpPr/>
          <p:nvPr/>
        </p:nvSpPr>
        <p:spPr>
          <a:xfrm>
            <a:off x="6537960" y="4664354"/>
            <a:ext cx="47640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برای رد، دلیل بنویسید؛ سند ردشده پایانی است و ترمیم نمی‌شود.</a:t>
            </a:r>
            <a:endParaRPr lang="en-US" sz="1300" dirty="0"/>
          </a:p>
        </p:txBody>
      </p:sp>
      <p:sp>
        <p:nvSpPr>
          <p:cNvPr id="25" name="Text 2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۱۱۹</a:t>
            </a:r>
            <a:endParaRPr lang="en-US" sz="1000" dirty="0"/>
          </a:p>
        </p:txBody>
      </p:sp>
      <p:sp>
        <p:nvSpPr>
          <p:cNvPr id="26" name="Text 2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۱۰ — اصلاح سند برگشتی (تنخواه‌دار)</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pc06">    </p:cNvPr>
          <p:cNvPicPr>
            <a:picLocks noChangeAspect="1"/>
          </p:cNvPicPr>
          <p:nvPr/>
        </p:nvPicPr>
        <p:blipFill>
          <a:blip r:embed="rId1"/>
          <a:stretch>
            <a:fillRect/>
          </a:stretch>
        </p:blipFill>
        <p:spPr>
          <a:xfrm>
            <a:off x="600538" y="1216152"/>
            <a:ext cx="6845643" cy="5065776"/>
          </a:xfrm>
          <a:prstGeom prst="rect">
            <a:avLst/>
          </a:prstGeom>
        </p:spPr>
      </p:pic>
      <p:sp>
        <p:nvSpPr>
          <p:cNvPr id="5" name="Shape 2"/>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6" name="Text 3"/>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7" name="Text 4"/>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دلیل برگشت «مبلغ با مدرک مطابقت ندارد» است؛ فقط تاریخ و شمارهٔ فاکتور باز است. رضا آن‌ها را اصلاح و دوباره ارسال می‌کند.</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کادر نارنجی</a:t>
            </a:r>
            <a:endParaRPr lang="en-US" sz="1350" dirty="0"/>
          </a:p>
        </p:txBody>
      </p:sp>
      <p:sp>
        <p:nvSpPr>
          <p:cNvPr id="11" name="Text 8"/>
          <p:cNvSpPr/>
          <p:nvPr/>
        </p:nvSpPr>
        <p:spPr>
          <a:xfrm>
            <a:off x="7909560" y="151790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مهلت، دلایل و توضیح بررسی‌کننده بالای فرم نمایش داده می‌شود.</a:t>
            </a:r>
            <a:endParaRPr lang="en-US" sz="1300" dirty="0"/>
          </a:p>
        </p:txBody>
      </p:sp>
      <p:sp>
        <p:nvSpPr>
          <p:cNvPr id="12" name="Shape 9"/>
          <p:cNvSpPr/>
          <p:nvPr/>
        </p:nvSpPr>
        <p:spPr>
          <a:xfrm>
            <a:off x="11411712" y="2091233"/>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0912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09123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فیلدهای مجاز</a:t>
            </a:r>
            <a:endParaRPr lang="en-US" sz="1350" dirty="0"/>
          </a:p>
        </p:txBody>
      </p:sp>
      <p:sp>
        <p:nvSpPr>
          <p:cNvPr id="15" name="Text 12"/>
          <p:cNvSpPr/>
          <p:nvPr/>
        </p:nvSpPr>
        <p:spPr>
          <a:xfrm>
            <a:off x="7909560" y="242041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فقط فیلدهای قاب‌دار رنگی قابل ویرایش‌اند؛ بقیه قفل‌اند.</a:t>
            </a:r>
            <a:endParaRPr lang="en-US" sz="1300" dirty="0"/>
          </a:p>
        </p:txBody>
      </p:sp>
      <p:sp>
        <p:nvSpPr>
          <p:cNvPr id="16" name="Shape 13"/>
          <p:cNvSpPr/>
          <p:nvPr/>
        </p:nvSpPr>
        <p:spPr>
          <a:xfrm>
            <a:off x="11411712" y="2993746"/>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29937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29937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ارسال دوباره</a:t>
            </a:r>
            <a:endParaRPr lang="en-US" sz="1350" dirty="0"/>
          </a:p>
        </p:txBody>
      </p:sp>
      <p:sp>
        <p:nvSpPr>
          <p:cNvPr id="19" name="Text 16"/>
          <p:cNvSpPr/>
          <p:nvPr/>
        </p:nvSpPr>
        <p:spPr>
          <a:xfrm>
            <a:off x="7909560" y="332293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«ارسال برای بررسی» را بزنید؛ سند دوباره باید کنترل بازرس شود.</a:t>
            </a:r>
            <a:endParaRPr lang="en-US" sz="1300" dirty="0"/>
          </a:p>
        </p:txBody>
      </p:sp>
      <p:sp>
        <p:nvSpPr>
          <p:cNvPr id="20" name="Shape 17"/>
          <p:cNvSpPr/>
          <p:nvPr/>
        </p:nvSpPr>
        <p:spPr>
          <a:xfrm>
            <a:off x="11411712" y="3896258"/>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389625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389625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تاریخچه</a:t>
            </a:r>
            <a:endParaRPr lang="en-US" sz="1350" dirty="0"/>
          </a:p>
        </p:txBody>
      </p:sp>
      <p:sp>
        <p:nvSpPr>
          <p:cNvPr id="23" name="Text 20"/>
          <p:cNvSpPr/>
          <p:nvPr/>
        </p:nvSpPr>
        <p:spPr>
          <a:xfrm>
            <a:off x="7909560" y="4225442"/>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پنل «تاریخچهٔ اقدامات» همهٔ رویدادها را با کاربر، زمان و IP نشان می‌دهد.</a:t>
            </a:r>
            <a:endParaRPr lang="en-US" sz="1300" dirty="0"/>
          </a:p>
        </p:txBody>
      </p:sp>
      <p:sp>
        <p:nvSpPr>
          <p:cNvPr id="24" name="Text 2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۱۲۰</a:t>
            </a:r>
            <a:endParaRPr lang="en-US" sz="1000" dirty="0"/>
          </a:p>
        </p:txBody>
      </p:sp>
      <p:sp>
        <p:nvSpPr>
          <p:cNvPr id="25" name="Text 2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داشبورد تنخواه</a:t>
            </a:r>
            <a:endParaRPr lang="en-US" sz="2500" dirty="0"/>
          </a:p>
        </p:txBody>
      </p:sp>
      <p:sp>
        <p:nvSpPr>
          <p:cNvPr id="3" name="Shape 1"/>
          <p:cNvSpPr/>
          <p:nvPr/>
        </p:nvSpPr>
        <p:spPr>
          <a:xfrm>
            <a:off x="8339328" y="896112"/>
            <a:ext cx="343814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449056" y="896112"/>
            <a:ext cx="321868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داشبورد تنخواه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pc11">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نقد ۲۸۷,۴۰۰,۰۰۰ (۵۸٪ سقف) + منتظر ترمیم ۱۳۲,۶۰۰,۰۰۰ + در جریان ۸۰,۰۰۰,۰۰۰ = سقف ۵۰۰ میلیون ⇐ «متوازن».</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کارت‌ها</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موجودی نقد (و درصد از سقف)، تأییدشدهٔ منتظر ترمیم، در جریان بررسی و برگشتی‌ها.</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تراز تنخواه</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معادلهٔ سقف را با اعداد واقعی نشان می‌دهد؛ برچسب «متوازن» یعنی داده سالم است.</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اقدامات امروز</a:t>
            </a:r>
            <a:endParaRPr lang="en-US" sz="1350" dirty="0"/>
          </a:p>
        </p:txBody>
      </p:sp>
      <p:sp>
        <p:nvSpPr>
          <p:cNvPr id="21" name="Text 18"/>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اسناد منتظر اقدام؛ دکمهٔ «بررسی» یا «پیگیری» مستقیم سند را باز می‌کند.</a:t>
            </a:r>
            <a:endParaRPr lang="en-US" sz="1300" dirty="0"/>
          </a:p>
        </p:txBody>
      </p:sp>
      <p:sp>
        <p:nvSpPr>
          <p:cNvPr id="22" name="Shape 19"/>
          <p:cNvSpPr/>
          <p:nvPr/>
        </p:nvSpPr>
        <p:spPr>
          <a:xfrm>
            <a:off x="11411712" y="4079138"/>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791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791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هشدارها</a:t>
            </a:r>
            <a:endParaRPr lang="en-US" sz="1350" dirty="0"/>
          </a:p>
        </p:txBody>
      </p:sp>
      <p:sp>
        <p:nvSpPr>
          <p:cNvPr id="25" name="Text 22"/>
          <p:cNvSpPr/>
          <p:nvPr/>
        </p:nvSpPr>
        <p:spPr>
          <a:xfrm>
            <a:off x="7909560" y="4408322"/>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اسناد معطل و مبلغ منتظر ترمیم؛ «ایجاد درخواست ترمیم» میانبر گام بعدی است.</a:t>
            </a:r>
            <a:endParaRPr lang="en-US" sz="13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۱۲۱</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۱۱ — درخواست ترمیم (شارژ) تنخواه</a:t>
            </a:r>
            <a:endParaRPr lang="en-US" sz="2500" dirty="0"/>
          </a:p>
        </p:txBody>
      </p:sp>
      <p:sp>
        <p:nvSpPr>
          <p:cNvPr id="3" name="Shape 1"/>
          <p:cNvSpPr/>
          <p:nvPr/>
        </p:nvSpPr>
        <p:spPr>
          <a:xfrm>
            <a:off x="6862572" y="896112"/>
            <a:ext cx="4914900"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6972300" y="896112"/>
            <a:ext cx="469544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شارژ و ترمیم ← درخواست ترمیم جدید</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pc13">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451653"/>
            <a:ext cx="3867912" cy="903427"/>
          </a:xfrm>
          <a:prstGeom prst="roundRect">
            <a:avLst>
              <a:gd name="adj" fmla="val 8097"/>
            </a:avLst>
          </a:prstGeom>
          <a:solidFill>
            <a:srgbClr val="E3F3EA"/>
          </a:solidFill>
          <a:ln w="9525">
            <a:solidFill>
              <a:srgbClr val="1E7A4C"/>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۶ سند تأییدشده جمعاً ۱۳۲,۶۰۰,۰۰۰ ریال؛ موجودی از ۲۸۷٫۴ به ۴۲۰ میلیون (۸۴٪ سقف) می‌رسد.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انتخاب تنخواه</a:t>
            </a:r>
            <a:endParaRPr lang="en-US" sz="1350" dirty="0"/>
          </a:p>
        </p:txBody>
      </p:sp>
      <p:sp>
        <p:nvSpPr>
          <p:cNvPr id="13" name="Text 10"/>
          <p:cNvSpPr/>
          <p:nvPr/>
        </p:nvSpPr>
        <p:spPr>
          <a:xfrm>
            <a:off x="7909560" y="1700784"/>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سامانه همهٔ صورت‌هزینه‌های تأییدشدهٔ ترمیم‌نشده را جمع می‌کند.</a:t>
            </a:r>
            <a:endParaRPr lang="en-US" sz="1050" dirty="0"/>
          </a:p>
        </p:txBody>
      </p:sp>
      <p:sp>
        <p:nvSpPr>
          <p:cNvPr id="14" name="Shape 11"/>
          <p:cNvSpPr/>
          <p:nvPr/>
        </p:nvSpPr>
        <p:spPr>
          <a:xfrm>
            <a:off x="11411712" y="2184959"/>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18495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18495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ریز حساب‌ها</a:t>
            </a:r>
            <a:endParaRPr lang="en-US" sz="1350" dirty="0"/>
          </a:p>
        </p:txBody>
      </p:sp>
      <p:sp>
        <p:nvSpPr>
          <p:cNvPr id="17" name="Text 14"/>
          <p:cNvSpPr/>
          <p:nvPr/>
        </p:nvSpPr>
        <p:spPr>
          <a:xfrm>
            <a:off x="7909560" y="2514143"/>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جدول «مبلغ ترمیم بر اساس اسناد تأییدشده» جمع هر حساب هزینه و تعداد سند را نشان می‌دهد.</a:t>
            </a:r>
            <a:endParaRPr lang="en-US" sz="1050" dirty="0"/>
          </a:p>
        </p:txBody>
      </p:sp>
      <p:sp>
        <p:nvSpPr>
          <p:cNvPr id="18" name="Shape 15"/>
          <p:cNvSpPr/>
          <p:nvPr/>
        </p:nvSpPr>
        <p:spPr>
          <a:xfrm>
            <a:off x="11411712" y="2998318"/>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299831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299831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اطلاعات ترمیم</a:t>
            </a:r>
            <a:endParaRPr lang="en-US" sz="1350" dirty="0"/>
          </a:p>
        </p:txBody>
      </p:sp>
      <p:sp>
        <p:nvSpPr>
          <p:cNvPr id="21" name="Text 18"/>
          <p:cNvSpPr/>
          <p:nvPr/>
        </p:nvSpPr>
        <p:spPr>
          <a:xfrm>
            <a:off x="7909560" y="3327502"/>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حساب بانکی مبدأ، روش پرداخت (پایا، چک، نقد، سایر)، تاریخ و یادداشت.</a:t>
            </a:r>
            <a:endParaRPr lang="en-US" sz="1050" dirty="0"/>
          </a:p>
        </p:txBody>
      </p:sp>
      <p:sp>
        <p:nvSpPr>
          <p:cNvPr id="22" name="Shape 19"/>
          <p:cNvSpPr/>
          <p:nvPr/>
        </p:nvSpPr>
        <p:spPr>
          <a:xfrm>
            <a:off x="11411712" y="381167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81167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81167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اثر ترمیم</a:t>
            </a:r>
            <a:endParaRPr lang="en-US" sz="1350" dirty="0"/>
          </a:p>
        </p:txBody>
      </p:sp>
      <p:sp>
        <p:nvSpPr>
          <p:cNvPr id="25" name="Text 22"/>
          <p:cNvSpPr/>
          <p:nvPr/>
        </p:nvSpPr>
        <p:spPr>
          <a:xfrm>
            <a:off x="7909560" y="4140860"/>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موجودی قبل و بعد؛ کنترل «در حد سقف» و «هیچ سندی دو بار ترمیم نمی‌شود».</a:t>
            </a:r>
            <a:endParaRPr lang="en-US" sz="1050" dirty="0"/>
          </a:p>
        </p:txBody>
      </p:sp>
      <p:sp>
        <p:nvSpPr>
          <p:cNvPr id="26" name="Shape 23"/>
          <p:cNvSpPr/>
          <p:nvPr/>
        </p:nvSpPr>
        <p:spPr>
          <a:xfrm>
            <a:off x="11411712" y="4625035"/>
            <a:ext cx="329184" cy="329184"/>
          </a:xfrm>
          <a:prstGeom prst="ellipse">
            <a:avLst/>
          </a:prstGeom>
          <a:solidFill>
            <a:srgbClr val="C9A227"/>
          </a:solidFill>
          <a:ln w="12700">
            <a:solidFill>
              <a:srgbClr val="C9A227"/>
            </a:solidFill>
            <a:prstDash val="solid"/>
          </a:ln>
        </p:spPr>
      </p:sp>
      <p:sp>
        <p:nvSpPr>
          <p:cNvPr id="27" name="Text 24"/>
          <p:cNvSpPr/>
          <p:nvPr/>
        </p:nvSpPr>
        <p:spPr>
          <a:xfrm>
            <a:off x="11411712" y="462503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8" name="Text 25"/>
          <p:cNvSpPr/>
          <p:nvPr/>
        </p:nvSpPr>
        <p:spPr>
          <a:xfrm>
            <a:off x="7909560" y="4625035"/>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ارسال</a:t>
            </a:r>
            <a:endParaRPr lang="en-US" sz="1350" dirty="0"/>
          </a:p>
        </p:txBody>
      </p:sp>
      <p:sp>
        <p:nvSpPr>
          <p:cNvPr id="29" name="Text 26"/>
          <p:cNvSpPr/>
          <p:nvPr/>
        </p:nvSpPr>
        <p:spPr>
          <a:xfrm>
            <a:off x="7909560" y="4954219"/>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«ارسال برای تأیید»: مسیر ۱. مدیر مالی ← ۲. خزانه‌دار.</a:t>
            </a:r>
            <a:endParaRPr lang="en-US" sz="1050" dirty="0"/>
          </a:p>
        </p:txBody>
      </p:sp>
      <p:sp>
        <p:nvSpPr>
          <p:cNvPr id="30"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۱۲۲</a:t>
            </a:r>
            <a:endParaRPr lang="en-US" sz="1000" dirty="0"/>
          </a:p>
        </p:txBody>
      </p:sp>
      <p:sp>
        <p:nvSpPr>
          <p:cNvPr id="31"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۱۲ — تأیید و پرداخت ترمیم</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pc14">    </p:cNvPr>
          <p:cNvPicPr>
            <a:picLocks noChangeAspect="1"/>
          </p:cNvPicPr>
          <p:nvPr/>
        </p:nvPicPr>
        <p:blipFill>
          <a:blip r:embed="rId1"/>
          <a:stretch>
            <a:fillRect/>
          </a:stretch>
        </p:blipFill>
        <p:spPr>
          <a:xfrm>
            <a:off x="600538" y="1216152"/>
            <a:ext cx="6845643" cy="5065776"/>
          </a:xfrm>
          <a:prstGeom prst="rect">
            <a:avLst/>
          </a:prstGeom>
        </p:spPr>
      </p:pic>
      <p:sp>
        <p:nvSpPr>
          <p:cNvPr id="5" name="Shape 2"/>
          <p:cNvSpPr/>
          <p:nvPr/>
        </p:nvSpPr>
        <p:spPr>
          <a:xfrm>
            <a:off x="7909560" y="5451653"/>
            <a:ext cx="3867912" cy="903427"/>
          </a:xfrm>
          <a:prstGeom prst="roundRect">
            <a:avLst>
              <a:gd name="adj" fmla="val 8097"/>
            </a:avLst>
          </a:prstGeom>
          <a:solidFill>
            <a:srgbClr val="F6EDCF"/>
          </a:solidFill>
          <a:ln w="9525">
            <a:solidFill>
              <a:srgbClr val="C9A227"/>
            </a:solidFill>
            <a:prstDash val="solid"/>
          </a:ln>
        </p:spPr>
      </p:sp>
      <p:sp>
        <p:nvSpPr>
          <p:cNvPr id="6" name="Text 3"/>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7" name="Text 4"/>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ترمیم‌های منتظر خزانه‌دار در «کارتابل تأیید» خزانه هم دیده می‌شوند (فصل بعد).</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فهرست</a:t>
            </a:r>
            <a:endParaRPr lang="en-US" sz="1350" dirty="0"/>
          </a:p>
        </p:txBody>
      </p:sp>
      <p:sp>
        <p:nvSpPr>
          <p:cNvPr id="11" name="Text 8"/>
          <p:cNvSpPr/>
          <p:nvPr/>
        </p:nvSpPr>
        <p:spPr>
          <a:xfrm>
            <a:off x="7909560" y="1517904"/>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 «شارژ و ترمیم» درخواست‌ها با وضعیت: پیش‌نویس، در انتظار مدیر مالی، در انتظار خزانه‌دار، پرداخت‌شده، ردشده.</a:t>
            </a:r>
            <a:endParaRPr lang="en-US" sz="1300" dirty="0"/>
          </a:p>
        </p:txBody>
      </p:sp>
      <p:sp>
        <p:nvSpPr>
          <p:cNvPr id="12" name="Shape 9"/>
          <p:cNvSpPr/>
          <p:nvPr/>
        </p:nvSpPr>
        <p:spPr>
          <a:xfrm>
            <a:off x="11411712" y="2323033"/>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3230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32303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تأیید مدیر مالی</a:t>
            </a:r>
            <a:endParaRPr lang="en-US" sz="1350" dirty="0"/>
          </a:p>
        </p:txBody>
      </p:sp>
      <p:sp>
        <p:nvSpPr>
          <p:cNvPr id="15" name="Text 12"/>
          <p:cNvSpPr/>
          <p:nvPr/>
        </p:nvSpPr>
        <p:spPr>
          <a:xfrm>
            <a:off x="7909560" y="265221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مدیر مالی (غیر از سازنده) «تأیید» یا «رد» می‌کند.</a:t>
            </a:r>
            <a:endParaRPr lang="en-US" sz="1300" dirty="0"/>
          </a:p>
        </p:txBody>
      </p:sp>
      <p:sp>
        <p:nvSpPr>
          <p:cNvPr id="16" name="Shape 13"/>
          <p:cNvSpPr/>
          <p:nvPr/>
        </p:nvSpPr>
        <p:spPr>
          <a:xfrm>
            <a:off x="11411712" y="3225546"/>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32255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32255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ثبت پرداخت</a:t>
            </a:r>
            <a:endParaRPr lang="en-US" sz="1350" dirty="0"/>
          </a:p>
        </p:txBody>
      </p:sp>
      <p:sp>
        <p:nvSpPr>
          <p:cNvPr id="19" name="Text 16"/>
          <p:cNvSpPr/>
          <p:nvPr/>
        </p:nvSpPr>
        <p:spPr>
          <a:xfrm>
            <a:off x="7909560" y="3554730"/>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خزانه‌دار پس از واریز، پرداخت را ثبت می‌کند ⇐ «پرداخت‌شده» و موجودی نقد بالا می‌رود.</a:t>
            </a:r>
            <a:endParaRPr lang="en-US" sz="1300" dirty="0"/>
          </a:p>
        </p:txBody>
      </p:sp>
      <p:sp>
        <p:nvSpPr>
          <p:cNvPr id="20" name="Shape 17"/>
          <p:cNvSpPr/>
          <p:nvPr/>
        </p:nvSpPr>
        <p:spPr>
          <a:xfrm>
            <a:off x="11411712" y="4359859"/>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435985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435985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مسیر تأیید</a:t>
            </a:r>
            <a:endParaRPr lang="en-US" sz="1350" dirty="0"/>
          </a:p>
        </p:txBody>
      </p:sp>
      <p:sp>
        <p:nvSpPr>
          <p:cNvPr id="23" name="Text 20"/>
          <p:cNvSpPr/>
          <p:nvPr/>
        </p:nvSpPr>
        <p:spPr>
          <a:xfrm>
            <a:off x="7909560" y="4689043"/>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کارت «مسیر تأیید» مرحلهٔ جاری را نشان می‌دهد.</a:t>
            </a:r>
            <a:endParaRPr lang="en-US" sz="1300" dirty="0"/>
          </a:p>
        </p:txBody>
      </p:sp>
      <p:sp>
        <p:nvSpPr>
          <p:cNvPr id="24" name="Text 2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۱۲۳</a:t>
            </a:r>
            <a:endParaRPr lang="en-US" sz="1000" dirty="0"/>
          </a:p>
        </p:txBody>
      </p:sp>
      <p:sp>
        <p:nvSpPr>
          <p:cNvPr id="25" name="Text 2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حسابداری ترمیم تنخواه</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خزانه‌دار ۱۳۲,۶۰۰,۰۰۰ ریال از حساب جاری بانک ملی به حساب تنخواه‌دار (پایا) واریز می‌کند. پول از بانک سازمان کم و به تنخواه اضافه می‌شود.</a:t>
            </a:r>
            <a:endParaRPr lang="en-US" sz="1500" dirty="0"/>
          </a:p>
        </p:txBody>
      </p:sp>
      <p:graphicFrame>
        <p:nvGraphicFramePr>
          <p:cNvPr id="125"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تنخواه‌گردان‌ها</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ترمیم RCH-00014 — تنخواه اداری ستاد</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۱۳۲,۶۰۰,۰۰۰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بانک‌ها — حساب جاری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بانک ملی — جاری مرکزی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۱۳۲,۶۰۰,۰۰۰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۱۳۲,۶۰۰,۰۰۰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۱۳۲,۶۰۰,۰۰۰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3899916"/>
            <a:ext cx="11365992" cy="720090"/>
          </a:xfrm>
          <a:prstGeom prst="roundRect">
            <a:avLst>
              <a:gd name="adj" fmla="val 10159"/>
            </a:avLst>
          </a:prstGeom>
          <a:solidFill>
            <a:srgbClr val="F6EDCF"/>
          </a:solidFill>
          <a:ln w="9525">
            <a:solidFill>
              <a:srgbClr val="C9A227"/>
            </a:solidFill>
            <a:prstDash val="solid"/>
          </a:ln>
        </p:spPr>
      </p:sp>
      <p:sp>
        <p:nvSpPr>
          <p:cNvPr id="7" name="Text 4"/>
          <p:cNvSpPr/>
          <p:nvPr/>
        </p:nvSpPr>
        <p:spPr>
          <a:xfrm>
            <a:off x="10863072" y="3899916"/>
            <a:ext cx="822960" cy="72009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8" name="Text 5"/>
          <p:cNvSpPr/>
          <p:nvPr/>
        </p:nvSpPr>
        <p:spPr>
          <a:xfrm>
            <a:off x="548640" y="3899916"/>
            <a:ext cx="10241280" cy="72009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بدهکار یعنی «دارایی افزایش یافت»: طلب سازمان از تنخواه‌دار بیشتر شد. بستانکار بانک یعنی موجودی بانک کم شد. این سند جدا از سند تسویه و هنگام پرداخت صادر می‌شود؛ هزینه‌ها هنوز در دفتر ثبت نشده‌اند.</a:t>
            </a:r>
            <a:endParaRPr lang="en-US" sz="1250" dirty="0"/>
          </a:p>
        </p:txBody>
      </p:sp>
      <p:sp>
        <p:nvSpPr>
          <p:cNvPr id="9" name="Text 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۱۲۴</a:t>
            </a:r>
            <a:endParaRPr lang="en-US" sz="1000" dirty="0"/>
          </a:p>
        </p:txBody>
      </p:sp>
      <p:sp>
        <p:nvSpPr>
          <p:cNvPr id="10" name="Text 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گزارش گردش تنخواه و استرداد وجه</a:t>
            </a:r>
            <a:endParaRPr lang="en-US" sz="2500" dirty="0"/>
          </a:p>
        </p:txBody>
      </p:sp>
      <p:sp>
        <p:nvSpPr>
          <p:cNvPr id="3" name="Shape 1"/>
          <p:cNvSpPr/>
          <p:nvPr/>
        </p:nvSpPr>
        <p:spPr>
          <a:xfrm>
            <a:off x="8106156" y="896112"/>
            <a:ext cx="367131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215884" y="896112"/>
            <a:ext cx="345186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گزارش گردش تنخواه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pc15">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F6EDCF"/>
          </a:solidFill>
          <a:ln w="9525">
            <a:solidFill>
              <a:srgbClr val="C9A227"/>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این گزارش حرکت واقعی وجه است؛ اسناد در جریان در آن نیستند، پس ماندهٔ پایان آن با موجودی نقد داشبورد به اندازهٔ اسناد در جریان فرق دارد.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فیلتر</a:t>
            </a:r>
            <a:endParaRPr lang="en-US" sz="1350" dirty="0"/>
          </a:p>
        </p:txBody>
      </p:sp>
      <p:sp>
        <p:nvSpPr>
          <p:cNvPr id="13" name="Text 10"/>
          <p:cNvSpPr/>
          <p:nvPr/>
        </p:nvSpPr>
        <p:spPr>
          <a:xfrm>
            <a:off x="7909560" y="1700784"/>
            <a:ext cx="3392424" cy="447142"/>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تنخواه، از تاریخ، تا تاریخ و نوع (ترمیم، هزینه، استرداد).</a:t>
            </a:r>
            <a:endParaRPr lang="en-US" sz="1100" dirty="0"/>
          </a:p>
        </p:txBody>
      </p:sp>
      <p:sp>
        <p:nvSpPr>
          <p:cNvPr id="14" name="Shape 11"/>
          <p:cNvSpPr/>
          <p:nvPr/>
        </p:nvSpPr>
        <p:spPr>
          <a:xfrm>
            <a:off x="11411712" y="2202790"/>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0279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0279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ستون‌ها</a:t>
            </a:r>
            <a:endParaRPr lang="en-US" sz="1350" dirty="0"/>
          </a:p>
        </p:txBody>
      </p:sp>
      <p:sp>
        <p:nvSpPr>
          <p:cNvPr id="17" name="Text 14"/>
          <p:cNvSpPr/>
          <p:nvPr/>
        </p:nvSpPr>
        <p:spPr>
          <a:xfrm>
            <a:off x="7909560" y="2531974"/>
            <a:ext cx="3392424" cy="643280"/>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دریافت (ترمیم/استرداد)، پرداخت (هزینه) و ماندهٔ جاری پس از هر ردیف؛ کد مرجع سند مبدأ را باز می‌کند.</a:t>
            </a:r>
            <a:endParaRPr lang="en-US" sz="1100" dirty="0"/>
          </a:p>
        </p:txBody>
      </p:sp>
      <p:sp>
        <p:nvSpPr>
          <p:cNvPr id="18" name="Shape 15"/>
          <p:cNvSpPr/>
          <p:nvPr/>
        </p:nvSpPr>
        <p:spPr>
          <a:xfrm>
            <a:off x="11411712" y="3230118"/>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23011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23011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خروجی</a:t>
            </a:r>
            <a:endParaRPr lang="en-US" sz="1350" dirty="0"/>
          </a:p>
        </p:txBody>
      </p:sp>
      <p:sp>
        <p:nvSpPr>
          <p:cNvPr id="21" name="Text 18"/>
          <p:cNvSpPr/>
          <p:nvPr/>
        </p:nvSpPr>
        <p:spPr>
          <a:xfrm>
            <a:off x="7909560" y="3559302"/>
            <a:ext cx="3392424" cy="447142"/>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دکمهٔ «خروجی اکسل» گزارش را با جمع‌ها ذخیره می‌کند.</a:t>
            </a:r>
            <a:endParaRPr lang="en-US" sz="1100" dirty="0"/>
          </a:p>
        </p:txBody>
      </p:sp>
      <p:sp>
        <p:nvSpPr>
          <p:cNvPr id="22" name="Shape 19"/>
          <p:cNvSpPr/>
          <p:nvPr/>
        </p:nvSpPr>
        <p:spPr>
          <a:xfrm>
            <a:off x="11411712" y="4061308"/>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6130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6130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استرداد</a:t>
            </a:r>
            <a:endParaRPr lang="en-US" sz="1350" dirty="0"/>
          </a:p>
        </p:txBody>
      </p:sp>
      <p:sp>
        <p:nvSpPr>
          <p:cNvPr id="25" name="Text 22"/>
          <p:cNvSpPr/>
          <p:nvPr/>
        </p:nvSpPr>
        <p:spPr>
          <a:xfrm>
            <a:off x="7909560" y="4390492"/>
            <a:ext cx="3392424" cy="643280"/>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پایین صفحه «ثبت استرداد»: برگرداندن پول اضافه به تنخواه؛ فقط نقشی که در «ثبت‌کنندهٔ استرداد» آمده.</a:t>
            </a:r>
            <a:endParaRPr lang="en-US" sz="11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۱۲۵</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تسویهٔ دوره یعنی چه؟</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تا وقتی دوره بسته نشده، هزینه‌های تنخواه فقط در خود ماژول دیده می‌شوند. در تسویه، صندوق شمرده می‌شود و یک سند، همهٔ هزینه‌های تأییدشدهٔ دوره را به حساب‌های هزینه می‌برد.</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شمارش صندوق</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پول نقد/حساب تنخواه‌دار را می‌شمارید؛ باید با ماندهٔ محاسبه‌شدهٔ سامانه برابر باشد.</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اسناد در جریان</a:t>
            </a:r>
            <a:endParaRPr lang="en-US" sz="1350" dirty="0"/>
          </a:p>
        </p:txBody>
      </p:sp>
      <p:sp>
        <p:nvSpPr>
          <p:cNvPr id="12" name="Text 10"/>
          <p:cNvSpPr/>
          <p:nvPr/>
        </p:nvSpPr>
        <p:spPr>
          <a:xfrm>
            <a:off x="5440680" y="352386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صورت‌هزینه‌های هنوز تأییدنشده در این دوره نمی‌آیند و به دورهٔ بعد منتقل می‌شوند.</a:t>
            </a:r>
            <a:endParaRPr lang="en-US" sz="1300" dirty="0"/>
          </a:p>
        </p:txBody>
      </p:sp>
      <p:sp>
        <p:nvSpPr>
          <p:cNvPr id="13" name="Shape 11"/>
          <p:cNvSpPr/>
          <p:nvPr/>
        </p:nvSpPr>
        <p:spPr>
          <a:xfrm>
            <a:off x="11411712" y="4097198"/>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09719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097198"/>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سند تسویه</a:t>
            </a:r>
            <a:endParaRPr lang="en-US" sz="1350" dirty="0"/>
          </a:p>
        </p:txBody>
      </p:sp>
      <p:sp>
        <p:nvSpPr>
          <p:cNvPr id="16" name="Text 14"/>
          <p:cNvSpPr/>
          <p:nvPr/>
        </p:nvSpPr>
        <p:spPr>
          <a:xfrm>
            <a:off x="5440680" y="4426382"/>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بدهکار: هر حساب هزینه (از «تعریف هزینه»)؛ بستانکار: حساب تنخواه‌گردان‌ها.</a:t>
            </a:r>
            <a:endParaRPr lang="en-US" sz="1300" dirty="0"/>
          </a:p>
        </p:txBody>
      </p:sp>
      <p:sp>
        <p:nvSpPr>
          <p:cNvPr id="17" name="Shape 15"/>
          <p:cNvSpPr/>
          <p:nvPr/>
        </p:nvSpPr>
        <p:spPr>
          <a:xfrm>
            <a:off x="11411712" y="4999711"/>
            <a:ext cx="329184" cy="329184"/>
          </a:xfrm>
          <a:prstGeom prst="ellipse">
            <a:avLst/>
          </a:prstGeom>
          <a:solidFill>
            <a:srgbClr val="C9A227"/>
          </a:solidFill>
          <a:ln w="12700">
            <a:solidFill>
              <a:srgbClr val="C9A227"/>
            </a:solidFill>
            <a:prstDash val="solid"/>
          </a:ln>
        </p:spPr>
      </p:sp>
      <p:sp>
        <p:nvSpPr>
          <p:cNvPr id="18" name="Text 16"/>
          <p:cNvSpPr/>
          <p:nvPr/>
        </p:nvSpPr>
        <p:spPr>
          <a:xfrm>
            <a:off x="11411712" y="499971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7"/>
          <p:cNvSpPr/>
          <p:nvPr/>
        </p:nvSpPr>
        <p:spPr>
          <a:xfrm>
            <a:off x="5440680" y="4999711"/>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قفل دوره</a:t>
            </a:r>
            <a:endParaRPr lang="en-US" sz="1350" dirty="0"/>
          </a:p>
        </p:txBody>
      </p:sp>
      <p:sp>
        <p:nvSpPr>
          <p:cNvPr id="20" name="Text 18"/>
          <p:cNvSpPr/>
          <p:nvPr/>
        </p:nvSpPr>
        <p:spPr>
          <a:xfrm>
            <a:off x="5440680" y="5328895"/>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پس از نهایی‌سازی، دوره قفل است و اصلاح فقط با سند اصلاحی ممکن است.</a:t>
            </a:r>
            <a:endParaRPr lang="en-US" sz="1300" dirty="0"/>
          </a:p>
        </p:txBody>
      </p:sp>
      <p:sp>
        <p:nvSpPr>
          <p:cNvPr id="21" name="Shape 19"/>
          <p:cNvSpPr/>
          <p:nvPr/>
        </p:nvSpPr>
        <p:spPr>
          <a:xfrm>
            <a:off x="411480" y="1097280"/>
            <a:ext cx="4754880" cy="3426714"/>
          </a:xfrm>
          <a:prstGeom prst="roundRect">
            <a:avLst>
              <a:gd name="adj" fmla="val 2668"/>
            </a:avLst>
          </a:prstGeom>
          <a:solidFill>
            <a:srgbClr val="E3F3EA"/>
          </a:solidFill>
          <a:ln w="9525">
            <a:solidFill>
              <a:srgbClr val="1E7A4C"/>
            </a:solidFill>
            <a:prstDash val="solid"/>
          </a:ln>
        </p:spPr>
      </p:sp>
      <p:sp>
        <p:nvSpPr>
          <p:cNvPr id="22" name="Text 20"/>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تسویهٔ مهر ۱۴۰۵</a:t>
            </a:r>
            <a:endParaRPr lang="en-US" sz="1500" dirty="0"/>
          </a:p>
        </p:txBody>
      </p:sp>
      <p:graphicFrame>
        <p:nvGraphicFramePr>
          <p:cNvPr id="127" name="Table 0"/>
          <p:cNvGraphicFramePr>
            <a:graphicFrameLocks noGrp="1"/>
          </p:cNvGraphicFramePr>
          <p:nvPr>
            <p:extLst>
              <p:ext uri="{D42A27DB-BD31-4B8C-83A1-F6EECF244321}">
                <p14:modId xmlns:p14="http://schemas.microsoft.com/office/powerpoint/2010/main" val="1579011935"/>
              </p:ext>
            </p:extLst>
          </p:nvPr>
        </p:nvGraphicFramePr>
        <p:xfrm>
          <a:off x="594360" y="1691640"/>
          <a:ext cx="4389120" cy="914400"/>
        </p:xfrm>
        <a:graphic>
          <a:graphicData uri="http://schemas.openxmlformats.org/drawingml/2006/table">
            <a:tbl>
              <a:tblPr rtl="1"/>
              <a:tblGrid>
                <a:gridCol w="2633472"/>
                <a:gridCol w="1755648"/>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شرح</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مبلغ (ریال)</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ماندهٔ ابتدای دوره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۳۰۰,۰۰۰,۰۰۰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 ترمیم و استرداد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 هزینهٔ تأییدشده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۹۵,۰۰۰,۰۰۰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 ماندهٔ نقد پایان دوره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۳۲۵,۰۰۰,۰۰۰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شمارش صندوق</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۳۲۵,۰۰۰,۰۰۰ ✓</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bl>
          </a:graphicData>
        </a:graphic>
      </p:graphicFrame>
      <p:sp>
        <p:nvSpPr>
          <p:cNvPr id="24" name="Text 21"/>
          <p:cNvSpPr/>
          <p:nvPr/>
        </p:nvSpPr>
        <p:spPr>
          <a:xfrm>
            <a:off x="594360" y="3803904"/>
            <a:ext cx="4389120" cy="62865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شمارش با مانده برابر است، پس حسابدار ارشد می‌تواند دوره را ببندد.</a:t>
            </a:r>
            <a:endParaRPr lang="en-US" sz="1250" dirty="0"/>
          </a:p>
        </p:txBody>
      </p:sp>
      <p:sp>
        <p:nvSpPr>
          <p:cNvPr id="25" name="Text 2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۱۲۶</a:t>
            </a:r>
            <a:endParaRPr lang="en-US" sz="1000" dirty="0"/>
          </a:p>
        </p:txBody>
      </p:sp>
      <p:sp>
        <p:nvSpPr>
          <p:cNvPr id="26" name="Text 2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۱۳ — تسویهٔ دوره: شمارش صندوق</a:t>
            </a:r>
            <a:endParaRPr lang="en-US" sz="2500" dirty="0"/>
          </a:p>
        </p:txBody>
      </p:sp>
      <p:sp>
        <p:nvSpPr>
          <p:cNvPr id="3" name="Shape 1"/>
          <p:cNvSpPr/>
          <p:nvPr/>
        </p:nvSpPr>
        <p:spPr>
          <a:xfrm>
            <a:off x="8650224" y="896112"/>
            <a:ext cx="312724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759952" y="896112"/>
            <a:ext cx="290779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تسویه دوره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pc16a">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11411712" y="1371600"/>
            <a:ext cx="329184" cy="329184"/>
          </a:xfrm>
          <a:prstGeom prst="ellipse">
            <a:avLst/>
          </a:prstGeom>
          <a:solidFill>
            <a:srgbClr val="C9A227"/>
          </a:solidFill>
          <a:ln w="12700">
            <a:solidFill>
              <a:srgbClr val="C9A227"/>
            </a:solidFill>
            <a:prstDash val="solid"/>
          </a:ln>
        </p:spPr>
      </p:sp>
      <p:sp>
        <p:nvSpPr>
          <p:cNvPr id="8" name="Text 5"/>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دورهٔ جاری</a:t>
            </a:r>
            <a:endParaRPr lang="en-US" sz="1350" dirty="0"/>
          </a:p>
        </p:txBody>
      </p:sp>
      <p:sp>
        <p:nvSpPr>
          <p:cNvPr id="10" name="Text 7"/>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بر اساس دورهٔ تسویهٔ تنخواه (ماهانه/فصلی) خودکار تعیین می‌شود.</a:t>
            </a:r>
            <a:endParaRPr lang="en-US" sz="1300" dirty="0"/>
          </a:p>
        </p:txBody>
      </p:sp>
      <p:sp>
        <p:nvSpPr>
          <p:cNvPr id="11" name="Shape 8"/>
          <p:cNvSpPr/>
          <p:nvPr/>
        </p:nvSpPr>
        <p:spPr>
          <a:xfrm>
            <a:off x="11411712" y="2274113"/>
            <a:ext cx="329184" cy="329184"/>
          </a:xfrm>
          <a:prstGeom prst="ellipse">
            <a:avLst/>
          </a:prstGeom>
          <a:solidFill>
            <a:srgbClr val="C9A227"/>
          </a:solidFill>
          <a:ln w="12700">
            <a:solidFill>
              <a:srgbClr val="C9A227"/>
            </a:solidFill>
            <a:prstDash val="solid"/>
          </a:ln>
        </p:spPr>
      </p:sp>
      <p:sp>
        <p:nvSpPr>
          <p:cNvPr id="12" name="Text 9"/>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کارت‌ها</a:t>
            </a:r>
            <a:endParaRPr lang="en-US" sz="1350" dirty="0"/>
          </a:p>
        </p:txBody>
      </p:sp>
      <p:sp>
        <p:nvSpPr>
          <p:cNvPr id="14" name="Text 11"/>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ماندهٔ ابتدای دوره، ترمیم و استرداد، هزینهٔ تأییدشده و ماندهٔ نقد پایان دوره.</a:t>
            </a:r>
            <a:endParaRPr lang="en-US" sz="1300" dirty="0"/>
          </a:p>
        </p:txBody>
      </p:sp>
      <p:sp>
        <p:nvSpPr>
          <p:cNvPr id="15" name="Shape 12"/>
          <p:cNvSpPr/>
          <p:nvPr/>
        </p:nvSpPr>
        <p:spPr>
          <a:xfrm>
            <a:off x="11411712" y="3176626"/>
            <a:ext cx="329184" cy="329184"/>
          </a:xfrm>
          <a:prstGeom prst="ellipse">
            <a:avLst/>
          </a:prstGeom>
          <a:solidFill>
            <a:srgbClr val="C9A227"/>
          </a:solidFill>
          <a:ln w="12700">
            <a:solidFill>
              <a:srgbClr val="C9A227"/>
            </a:solidFill>
            <a:prstDash val="solid"/>
          </a:ln>
        </p:spPr>
      </p:sp>
      <p:sp>
        <p:nvSpPr>
          <p:cNvPr id="16" name="Text 13"/>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اسناد در جریان</a:t>
            </a:r>
            <a:endParaRPr lang="en-US" sz="1350" dirty="0"/>
          </a:p>
        </p:txBody>
      </p:sp>
      <p:sp>
        <p:nvSpPr>
          <p:cNvPr id="18" name="Text 15"/>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به دورهٔ بعد منتقل می‌شوند؛ پیام آبی تعداد و مبلغ آن‌ها را می‌گوید.</a:t>
            </a:r>
            <a:endParaRPr lang="en-US" sz="1300" dirty="0"/>
          </a:p>
        </p:txBody>
      </p:sp>
      <p:sp>
        <p:nvSpPr>
          <p:cNvPr id="19" name="Shape 16"/>
          <p:cNvSpPr/>
          <p:nvPr/>
        </p:nvSpPr>
        <p:spPr>
          <a:xfrm>
            <a:off x="11411712" y="4079138"/>
            <a:ext cx="329184" cy="329184"/>
          </a:xfrm>
          <a:prstGeom prst="ellipse">
            <a:avLst/>
          </a:prstGeom>
          <a:solidFill>
            <a:srgbClr val="C9A227"/>
          </a:solidFill>
          <a:ln w="12700">
            <a:solidFill>
              <a:srgbClr val="C9A227"/>
            </a:solidFill>
            <a:prstDash val="solid"/>
          </a:ln>
        </p:spPr>
      </p:sp>
      <p:sp>
        <p:nvSpPr>
          <p:cNvPr id="20" name="Text 17"/>
          <p:cNvSpPr/>
          <p:nvPr/>
        </p:nvSpPr>
        <p:spPr>
          <a:xfrm>
            <a:off x="11411712" y="40791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1" name="Text 18"/>
          <p:cNvSpPr/>
          <p:nvPr/>
        </p:nvSpPr>
        <p:spPr>
          <a:xfrm>
            <a:off x="7909560" y="40791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شمارش</a:t>
            </a:r>
            <a:endParaRPr lang="en-US" sz="1350" dirty="0"/>
          </a:p>
        </p:txBody>
      </p:sp>
      <p:sp>
        <p:nvSpPr>
          <p:cNvPr id="22" name="Text 19"/>
          <p:cNvSpPr/>
          <p:nvPr/>
        </p:nvSpPr>
        <p:spPr>
          <a:xfrm>
            <a:off x="7909560" y="4408322"/>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مبلغ شمارش‌شده را وارد و «ذخیرهٔ شمارش» کنید؛ باید با ماندهٔ محاسبه‌شده برابر باشد.</a:t>
            </a:r>
            <a:endParaRPr lang="en-US" sz="1300" dirty="0"/>
          </a:p>
        </p:txBody>
      </p:sp>
      <p:sp>
        <p:nvSpPr>
          <p:cNvPr id="23" name="Text 2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۱۲۷</a:t>
            </a:r>
            <a:endParaRPr lang="en-US" sz="1000" dirty="0"/>
          </a:p>
        </p:txBody>
      </p:sp>
      <p:sp>
        <p:nvSpPr>
          <p:cNvPr id="24" name="Text 2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۱۴ — پیش‌نمایش سند و نهایی‌سازی</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pc16b">    </p:cNvPr>
          <p:cNvPicPr>
            <a:picLocks noChangeAspect="1"/>
          </p:cNvPicPr>
          <p:nvPr/>
        </p:nvPicPr>
        <p:blipFill>
          <a:blip r:embed="rId1"/>
          <a:stretch>
            <a:fillRect/>
          </a:stretch>
        </p:blipFill>
        <p:spPr>
          <a:xfrm>
            <a:off x="600538" y="1216152"/>
            <a:ext cx="6845643" cy="5065776"/>
          </a:xfrm>
          <a:prstGeom prst="rect">
            <a:avLst/>
          </a:prstGeom>
        </p:spPr>
      </p:pic>
      <p:sp>
        <p:nvSpPr>
          <p:cNvPr id="5" name="Shape 2"/>
          <p:cNvSpPr/>
          <p:nvPr/>
        </p:nvSpPr>
        <p:spPr>
          <a:xfrm>
            <a:off x="7909560" y="5451653"/>
            <a:ext cx="3867912" cy="903427"/>
          </a:xfrm>
          <a:prstGeom prst="roundRect">
            <a:avLst>
              <a:gd name="adj" fmla="val 8097"/>
            </a:avLst>
          </a:prstGeom>
          <a:solidFill>
            <a:srgbClr val="F6EDCF"/>
          </a:solidFill>
          <a:ln w="9525">
            <a:solidFill>
              <a:srgbClr val="C9A227"/>
            </a:solidFill>
            <a:prstDash val="solid"/>
          </a:ln>
        </p:spPr>
      </p:sp>
      <p:sp>
        <p:nvSpPr>
          <p:cNvPr id="6" name="Text 3"/>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7" name="Text 4"/>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حذف استردادی که در دورهٔ نهایی‌شده است مجاز نیست.</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پیش‌نمایش سند</a:t>
            </a:r>
            <a:endParaRPr lang="en-US" sz="1350" dirty="0"/>
          </a:p>
        </p:txBody>
      </p:sp>
      <p:sp>
        <p:nvSpPr>
          <p:cNvPr id="11" name="Text 8"/>
          <p:cNvSpPr/>
          <p:nvPr/>
        </p:nvSpPr>
        <p:spPr>
          <a:xfrm>
            <a:off x="7909560" y="1517904"/>
            <a:ext cx="3392424" cy="447142"/>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بدهکار هر حساب هزینه با تفصیلی‌ها، بستانکار حساب تنخواه؛ برچسب «متوازن».</a:t>
            </a:r>
            <a:endParaRPr lang="en-US" sz="1100" dirty="0"/>
          </a:p>
        </p:txBody>
      </p:sp>
      <p:sp>
        <p:nvSpPr>
          <p:cNvPr id="12" name="Shape 9"/>
          <p:cNvSpPr/>
          <p:nvPr/>
        </p:nvSpPr>
        <p:spPr>
          <a:xfrm>
            <a:off x="11411712" y="2019910"/>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01991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01991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کنترل‌ها</a:t>
            </a:r>
            <a:endParaRPr lang="en-US" sz="1350" dirty="0"/>
          </a:p>
        </p:txBody>
      </p:sp>
      <p:sp>
        <p:nvSpPr>
          <p:cNvPr id="15" name="Text 12"/>
          <p:cNvSpPr/>
          <p:nvPr/>
        </p:nvSpPr>
        <p:spPr>
          <a:xfrm>
            <a:off x="7909560" y="2349094"/>
            <a:ext cx="3392424" cy="447142"/>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اسناد منظورشده، برابری شمارش، اسناد در جریان و نقش کاربر؛ هر مورد با تیک یا ضربدر.</a:t>
            </a:r>
            <a:endParaRPr lang="en-US" sz="1100" dirty="0"/>
          </a:p>
        </p:txBody>
      </p:sp>
      <p:sp>
        <p:nvSpPr>
          <p:cNvPr id="16" name="Shape 13"/>
          <p:cNvSpPr/>
          <p:nvPr/>
        </p:nvSpPr>
        <p:spPr>
          <a:xfrm>
            <a:off x="11411712" y="2851099"/>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285109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285109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تأیید انتقال</a:t>
            </a:r>
            <a:endParaRPr lang="en-US" sz="1350" dirty="0"/>
          </a:p>
        </p:txBody>
      </p:sp>
      <p:sp>
        <p:nvSpPr>
          <p:cNvPr id="19" name="Text 16"/>
          <p:cNvSpPr/>
          <p:nvPr/>
        </p:nvSpPr>
        <p:spPr>
          <a:xfrm>
            <a:off x="7909560" y="3180283"/>
            <a:ext cx="3392424" cy="447142"/>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اگر سند در جریان هست، تیک انتقال آن‌ها به دورهٔ بعد را بزنید.</a:t>
            </a:r>
            <a:endParaRPr lang="en-US" sz="1100" dirty="0"/>
          </a:p>
        </p:txBody>
      </p:sp>
      <p:sp>
        <p:nvSpPr>
          <p:cNvPr id="20" name="Shape 17"/>
          <p:cNvSpPr/>
          <p:nvPr/>
        </p:nvSpPr>
        <p:spPr>
          <a:xfrm>
            <a:off x="11411712" y="3682289"/>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368228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368228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نهایی‌سازی</a:t>
            </a:r>
            <a:endParaRPr lang="en-US" sz="1350" dirty="0"/>
          </a:p>
        </p:txBody>
      </p:sp>
      <p:sp>
        <p:nvSpPr>
          <p:cNvPr id="23" name="Text 20"/>
          <p:cNvSpPr/>
          <p:nvPr/>
        </p:nvSpPr>
        <p:spPr>
          <a:xfrm>
            <a:off x="7909560" y="4011473"/>
            <a:ext cx="3392424" cy="447142"/>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حسابدار ارشد «نهایی‌سازی و صدور سند» را می‌زند ⇐ سند موقت صادر و اسناد «تسویه‌شده» می‌شوند.</a:t>
            </a:r>
            <a:endParaRPr lang="en-US" sz="1100" dirty="0"/>
          </a:p>
        </p:txBody>
      </p:sp>
      <p:sp>
        <p:nvSpPr>
          <p:cNvPr id="24" name="Shape 21"/>
          <p:cNvSpPr/>
          <p:nvPr/>
        </p:nvSpPr>
        <p:spPr>
          <a:xfrm>
            <a:off x="11411712" y="4513478"/>
            <a:ext cx="329184" cy="329184"/>
          </a:xfrm>
          <a:prstGeom prst="ellipse">
            <a:avLst/>
          </a:prstGeom>
          <a:solidFill>
            <a:srgbClr val="C9A227"/>
          </a:solidFill>
          <a:ln w="12700">
            <a:solidFill>
              <a:srgbClr val="C9A227"/>
            </a:solidFill>
            <a:prstDash val="solid"/>
          </a:ln>
        </p:spPr>
      </p:sp>
      <p:sp>
        <p:nvSpPr>
          <p:cNvPr id="25" name="Text 22"/>
          <p:cNvSpPr/>
          <p:nvPr/>
        </p:nvSpPr>
        <p:spPr>
          <a:xfrm>
            <a:off x="11411712" y="451347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6" name="Text 23"/>
          <p:cNvSpPr/>
          <p:nvPr/>
        </p:nvSpPr>
        <p:spPr>
          <a:xfrm>
            <a:off x="7909560" y="451347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تاریخچه</a:t>
            </a:r>
            <a:endParaRPr lang="en-US" sz="1350" dirty="0"/>
          </a:p>
        </p:txBody>
      </p:sp>
      <p:sp>
        <p:nvSpPr>
          <p:cNvPr id="27" name="Text 24"/>
          <p:cNvSpPr/>
          <p:nvPr/>
        </p:nvSpPr>
        <p:spPr>
          <a:xfrm>
            <a:off x="7909560" y="4842662"/>
            <a:ext cx="3392424" cy="447142"/>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دوره‌های نهایی‌شده با شمارهٔ سند در جدول «تاریخچهٔ دوره‌ها».</a:t>
            </a:r>
            <a:endParaRPr lang="en-US" sz="1100" dirty="0"/>
          </a:p>
        </p:txBody>
      </p:sp>
      <p:sp>
        <p:nvSpPr>
          <p:cNvPr id="28" name="Text 25"/>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۱۲۸</a:t>
            </a:r>
            <a:endParaRPr lang="en-US" sz="1000" dirty="0"/>
          </a:p>
        </p:txBody>
      </p:sp>
      <p:sp>
        <p:nvSpPr>
          <p:cNvPr id="29" name="Text 26"/>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حسابداری تسویهٔ دوره</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در شهریور هشت صورت‌هزینهٔ تأییدشده جمعاً ۹۸,۲۸۰,۰۰۰ ریال داریم. با نهایی‌سازی، سامانه این سند موقت را صادر می‌کند (تفصیلی هر ردیف از «تعریف هزینه» و تفصیلی تنخواه می‌آید):</a:t>
            </a:r>
            <a:endParaRPr lang="en-US" sz="15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هزینهٔ ایاب و ذهاب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مرکز هزینه: معاونت مالی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۲۴,۶۰۰,۰۰۰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هزینهٔ پذیرایی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مرکز هزینه: معاونت مالی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۲۳,۶۸۰,۰۰۰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۳</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تعمیرات جزئی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مرکز هزینه: معاونت مالی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۵۰,۰۰۰,۰۰۰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۴</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تنخواه‌گردان‌ها</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تسویهٔ تنخواه اداری ستاد — شهریور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۹۸,۲۸۰,۰۰۰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۹۸,۲۸۰,۰۰۰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۹۸,۲۸۰,۰۰۰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4668012"/>
            <a:ext cx="11365992" cy="720090"/>
          </a:xfrm>
          <a:prstGeom prst="roundRect">
            <a:avLst>
              <a:gd name="adj" fmla="val 10159"/>
            </a:avLst>
          </a:prstGeom>
          <a:solidFill>
            <a:srgbClr val="F6EDCF"/>
          </a:solidFill>
          <a:ln w="9525">
            <a:solidFill>
              <a:srgbClr val="C9A227"/>
            </a:solidFill>
            <a:prstDash val="solid"/>
          </a:ln>
        </p:spPr>
      </p:sp>
      <p:sp>
        <p:nvSpPr>
          <p:cNvPr id="7" name="Text 4"/>
          <p:cNvSpPr/>
          <p:nvPr/>
        </p:nvSpPr>
        <p:spPr>
          <a:xfrm>
            <a:off x="10863072" y="4668012"/>
            <a:ext cx="822960" cy="72009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8" name="Text 5"/>
          <p:cNvSpPr/>
          <p:nvPr/>
        </p:nvSpPr>
        <p:spPr>
          <a:xfrm>
            <a:off x="548640" y="4668012"/>
            <a:ext cx="10241280" cy="72009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هزینه‌ها بدهکار می‌شوند چون هزینه واقعاً انجام شده؛ تنخواه بستانکار می‌شود چون پولی که نزد تنخواه‌دار بود خرج شده و طلب سازمان از او کم شده است.</a:t>
            </a:r>
            <a:endParaRPr lang="en-US" sz="1250" dirty="0"/>
          </a:p>
        </p:txBody>
      </p:sp>
      <p:sp>
        <p:nvSpPr>
          <p:cNvPr id="9" name="Text 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۱۲۹</a:t>
            </a:r>
            <a:endParaRPr lang="en-US" sz="1000" dirty="0"/>
          </a:p>
        </p:txBody>
      </p:sp>
      <p:sp>
        <p:nvSpPr>
          <p:cNvPr id="10" name="Text 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تنخواه‌گردان</a:t>
            </a:r>
            <a:endParaRPr lang="en-US" sz="10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3" name="Image 0" descr="menu_tr">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۷</a:t>
            </a:r>
            <a:endParaRPr lang="en-US" sz="4000" dirty="0"/>
          </a:p>
        </p:txBody>
      </p:sp>
      <p:sp>
        <p:nvSpPr>
          <p:cNvPr id="6" name="Text 3"/>
          <p:cNvSpPr/>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۷</a:t>
            </a:r>
            <a:endParaRPr lang="en-US" sz="1800" dirty="0"/>
          </a:p>
        </p:txBody>
      </p:sp>
      <p:sp>
        <p:nvSpPr>
          <p:cNvPr id="7" name="Text 4"/>
          <p:cNvSpPr/>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600" b="1" dirty="0">
                <a:solidFill>
                  <a:srgbClr val="FFFFFF"/>
                </a:solidFill>
                <a:latin typeface="Tahoma" pitchFamily="34" charset="0"/>
                <a:ea typeface="Tahoma" pitchFamily="34" charset="-122"/>
                <a:cs typeface="Tahoma" pitchFamily="34" charset="-120"/>
              </a:rPr>
              <a:t>دریافت و پرداخت (خزانه‌داری)</a:t>
            </a:r>
            <a:endParaRPr lang="en-US" sz="3600" dirty="0"/>
          </a:p>
        </p:txBody>
      </p:sp>
      <p:sp>
        <p:nvSpPr>
          <p:cNvPr id="8" name="Text 5"/>
          <p:cNvSpPr/>
          <p:nvPr/>
        </p:nvSpPr>
        <p:spPr>
          <a:xfrm>
            <a:off x="5120640" y="4206240"/>
            <a:ext cx="6629400" cy="1463040"/>
          </a:xfrm>
          <a:prstGeom prst="rect">
            <a:avLst/>
          </a:prstGeom>
          <a:noFill/>
          <a:ln/>
        </p:spPr>
        <p:txBody>
          <a:bodyPr wrap="square" lIns="0" tIns="0" rIns="0" bIns="0" rtlCol="0" anchor="t"/>
          <a:lstStyle/>
          <a:p>
            <a:pPr rtl="1" algn="r" indent="0" marL="0">
              <a:buNone/>
            </a:pPr>
            <a:r>
              <a:rPr lang="en-US" sz="1600" dirty="0">
                <a:solidFill>
                  <a:srgbClr val="C9D3E6"/>
                </a:solidFill>
                <a:latin typeface="Tahoma" pitchFamily="34" charset="0"/>
                <a:ea typeface="Tahoma" pitchFamily="34" charset="-122"/>
                <a:cs typeface="Tahoma" pitchFamily="34" charset="-120"/>
              </a:rPr>
              <a:t>درخواست پرداخت، تأیید چندمرحله‌ای، اجرای پرداخت، دریافت وجه، انتقال وجه بین بانک‌ها و مغایرت‌گیری بانکی — با اسناد حسابداری خودکار</a:t>
            </a:r>
            <a:endParaRPr lang="en-US" sz="1600" dirty="0"/>
          </a:p>
        </p:txBody>
      </p:sp>
      <p:sp>
        <p:nvSpPr>
          <p:cNvPr id="9" name="Text 6"/>
          <p:cNvSpPr/>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خزانه‌داری و درخواست پرداخت به زبان ساده</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خزانه‌داری یعنی مدیریت پولی که از حساب‌های بانکی سازمان خارج یا به آن وارد می‌شود. هیچ پرداختی مستقیم انجام نمی‌شود: اول «درخواست پرداخت» ثبت و تأیید می‌شود، بعد خزانه‌دار پول را می‌پردازد.</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ذی‌نفع</a:t>
            </a:r>
            <a:endParaRPr lang="en-US" sz="1350" dirty="0"/>
          </a:p>
        </p:txBody>
      </p:sp>
      <p:sp>
        <p:nvSpPr>
          <p:cNvPr id="8" name="Text 6"/>
          <p:cNvSpPr/>
          <p:nvPr/>
        </p:nvSpPr>
        <p:spPr>
          <a:xfrm>
            <a:off x="5440680" y="2621356"/>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کسی که پول را می‌گیرد: پیمانکار، تأمین‌کننده، کارمند یا سایر.</a:t>
            </a:r>
            <a:endParaRPr lang="en-US" sz="1300" dirty="0"/>
          </a:p>
        </p:txBody>
      </p:sp>
      <p:sp>
        <p:nvSpPr>
          <p:cNvPr id="9" name="Shape 7"/>
          <p:cNvSpPr/>
          <p:nvPr/>
        </p:nvSpPr>
        <p:spPr>
          <a:xfrm>
            <a:off x="11411712" y="29628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29628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29628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ارزش افزوده</a:t>
            </a:r>
            <a:endParaRPr lang="en-US" sz="1350" dirty="0"/>
          </a:p>
        </p:txBody>
      </p:sp>
      <p:sp>
        <p:nvSpPr>
          <p:cNvPr id="12" name="Text 10"/>
          <p:cNvSpPr/>
          <p:nvPr/>
        </p:nvSpPr>
        <p:spPr>
          <a:xfrm>
            <a:off x="5440680" y="329206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مالیاتی که روی فاکتور می‌آید؛ سازمان آن را می‌پردازد و بعداً از اداره مالیات «اعتبار» می‌گیرد.</a:t>
            </a:r>
            <a:endParaRPr lang="en-US" sz="1300" dirty="0"/>
          </a:p>
        </p:txBody>
      </p:sp>
      <p:sp>
        <p:nvSpPr>
          <p:cNvPr id="13" name="Shape 11"/>
          <p:cNvSpPr/>
          <p:nvPr/>
        </p:nvSpPr>
        <p:spPr>
          <a:xfrm>
            <a:off x="11411712" y="3865397"/>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386539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3865397"/>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کسر بیمه</a:t>
            </a:r>
            <a:endParaRPr lang="en-US" sz="1350" dirty="0"/>
          </a:p>
        </p:txBody>
      </p:sp>
      <p:sp>
        <p:nvSpPr>
          <p:cNvPr id="16" name="Text 14"/>
          <p:cNvSpPr/>
          <p:nvPr/>
        </p:nvSpPr>
        <p:spPr>
          <a:xfrm>
            <a:off x="5440680" y="4194581"/>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بخشی از مبلغ پیمانکار که سازمان تا ارائهٔ مفاصاحساب بیمه نگه می‌دارد و به او نمی‌دهد.</a:t>
            </a:r>
            <a:endParaRPr lang="en-US" sz="1300" dirty="0"/>
          </a:p>
        </p:txBody>
      </p:sp>
      <p:sp>
        <p:nvSpPr>
          <p:cNvPr id="17" name="Shape 15"/>
          <p:cNvSpPr/>
          <p:nvPr/>
        </p:nvSpPr>
        <p:spPr>
          <a:xfrm>
            <a:off x="11411712" y="4767910"/>
            <a:ext cx="329184" cy="329184"/>
          </a:xfrm>
          <a:prstGeom prst="ellipse">
            <a:avLst/>
          </a:prstGeom>
          <a:solidFill>
            <a:srgbClr val="C9A227"/>
          </a:solidFill>
          <a:ln w="12700">
            <a:solidFill>
              <a:srgbClr val="C9A227"/>
            </a:solidFill>
            <a:prstDash val="solid"/>
          </a:ln>
        </p:spPr>
      </p:sp>
      <p:sp>
        <p:nvSpPr>
          <p:cNvPr id="18" name="Text 16"/>
          <p:cNvSpPr/>
          <p:nvPr/>
        </p:nvSpPr>
        <p:spPr>
          <a:xfrm>
            <a:off x="11411712" y="476791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7"/>
          <p:cNvSpPr/>
          <p:nvPr/>
        </p:nvSpPr>
        <p:spPr>
          <a:xfrm>
            <a:off x="5440680" y="4767910"/>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خالص قابل پرداخت</a:t>
            </a:r>
            <a:endParaRPr lang="en-US" sz="1350" dirty="0"/>
          </a:p>
        </p:txBody>
      </p:sp>
      <p:sp>
        <p:nvSpPr>
          <p:cNvPr id="20" name="Text 18"/>
          <p:cNvSpPr/>
          <p:nvPr/>
        </p:nvSpPr>
        <p:spPr>
          <a:xfrm>
            <a:off x="5440680" y="5097094"/>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مبلغ قبل از مالیات + ارزش افزوده − کسر بیمه؛ همان چیزی که واقعاً واریز می‌شود.</a:t>
            </a:r>
            <a:endParaRPr lang="en-US" sz="1300" dirty="0"/>
          </a:p>
        </p:txBody>
      </p:sp>
      <p:sp>
        <p:nvSpPr>
          <p:cNvPr id="21" name="Shape 19"/>
          <p:cNvSpPr/>
          <p:nvPr/>
        </p:nvSpPr>
        <p:spPr>
          <a:xfrm>
            <a:off x="411480" y="1097280"/>
            <a:ext cx="4754880" cy="3789731"/>
          </a:xfrm>
          <a:prstGeom prst="roundRect">
            <a:avLst>
              <a:gd name="adj" fmla="val 2413"/>
            </a:avLst>
          </a:prstGeom>
          <a:solidFill>
            <a:srgbClr val="E3F3EA"/>
          </a:solidFill>
          <a:ln w="9525">
            <a:solidFill>
              <a:srgbClr val="1E7A4C"/>
            </a:solidFill>
            <a:prstDash val="solid"/>
          </a:ln>
        </p:spPr>
      </p:sp>
      <p:sp>
        <p:nvSpPr>
          <p:cNvPr id="22" name="Text 20"/>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صورت‌وضعیت فضای سبز</a:t>
            </a:r>
            <a:endParaRPr lang="en-US" sz="1500" dirty="0"/>
          </a:p>
        </p:txBody>
      </p:sp>
      <p:sp>
        <p:nvSpPr>
          <p:cNvPr id="23" name="Text 21"/>
          <p:cNvSpPr/>
          <p:nvPr/>
        </p:nvSpPr>
        <p:spPr>
          <a:xfrm>
            <a:off x="594360" y="1691640"/>
            <a:ext cx="4389120" cy="5550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شرکت نگهداری فضای سبز سبزینه برای مهر صورت‌وضعیت داده است:</a:t>
            </a:r>
            <a:endParaRPr lang="en-US" sz="13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594360" y="2383841"/>
          <a:ext cx="4389120" cy="914400"/>
        </p:xfrm>
        <a:graphic>
          <a:graphicData uri="http://schemas.openxmlformats.org/drawingml/2006/table">
            <a:tbl>
              <a:tblPr rtl="1"/>
              <a:tblGrid>
                <a:gridCol w="2633472"/>
                <a:gridCol w="1755648"/>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شرح</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مبلغ</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مبلغ قبل از مالیات</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۲۰۰,۰۰۰,۰۰۰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 ارزش افزوده ۱۰٪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۲۰,۰۰۰,۰۰۰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 کسر بیمه ۵٪</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 خالص قابل پرداخت</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۲۱۰,۰۰۰,۰۰۰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bl>
          </a:graphicData>
        </a:graphic>
      </p:graphicFrame>
      <p:sp>
        <p:nvSpPr>
          <p:cNvPr id="25" name="Text 22"/>
          <p:cNvSpPr/>
          <p:nvPr/>
        </p:nvSpPr>
        <p:spPr>
          <a:xfrm>
            <a:off x="594360" y="4166921"/>
            <a:ext cx="4389120" cy="62865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این عددها را سامانه از درصدهایی که وارد می‌کنید خودکار حساب می‌کند.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۱۳۱</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مسیر درخواست پرداخت و اسناد خودکار</a:t>
            </a:r>
            <a:endParaRPr lang="en-US" sz="2500" dirty="0"/>
          </a:p>
        </p:txBody>
      </p:sp>
      <p:sp>
        <p:nvSpPr>
          <p:cNvPr id="3" name="Shape 1"/>
          <p:cNvSpPr/>
          <p:nvPr/>
        </p:nvSpPr>
        <p:spPr>
          <a:xfrm>
            <a:off x="10157460"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10693146" y="1691640"/>
            <a:ext cx="548640" cy="548640"/>
          </a:xfrm>
          <a:prstGeom prst="ellipse">
            <a:avLst/>
          </a:prstGeom>
          <a:solidFill>
            <a:srgbClr val="C9A227"/>
          </a:solidFill>
          <a:ln w="12700">
            <a:solidFill>
              <a:srgbClr val="C9A227"/>
            </a:solidFill>
            <a:prstDash val="solid"/>
          </a:ln>
        </p:spPr>
      </p:sp>
      <p:sp>
        <p:nvSpPr>
          <p:cNvPr id="5" name="Text 3"/>
          <p:cNvSpPr/>
          <p:nvPr/>
        </p:nvSpPr>
        <p:spPr>
          <a:xfrm>
            <a:off x="1069314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p:nvPr/>
        </p:nvSpPr>
        <p:spPr>
          <a:xfrm>
            <a:off x="10248900"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ثبت درخواست</a:t>
            </a:r>
            <a:endParaRPr lang="en-US" sz="1550" dirty="0"/>
          </a:p>
        </p:txBody>
      </p:sp>
      <p:sp>
        <p:nvSpPr>
          <p:cNvPr id="7" name="Text 5"/>
          <p:cNvSpPr/>
          <p:nvPr/>
        </p:nvSpPr>
        <p:spPr>
          <a:xfrm>
            <a:off x="10248900"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ثبت‌کننده</a:t>
            </a:r>
            <a:endParaRPr lang="en-US" sz="1200" dirty="0"/>
          </a:p>
        </p:txBody>
      </p:sp>
      <p:sp>
        <p:nvSpPr>
          <p:cNvPr id="8" name="Text 6"/>
          <p:cNvSpPr/>
          <p:nvPr/>
        </p:nvSpPr>
        <p:spPr>
          <a:xfrm>
            <a:off x="9828276"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9" name="Shape 7"/>
          <p:cNvSpPr/>
          <p:nvPr/>
        </p:nvSpPr>
        <p:spPr>
          <a:xfrm>
            <a:off x="8208264"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8743950" y="1691640"/>
            <a:ext cx="548640" cy="548640"/>
          </a:xfrm>
          <a:prstGeom prst="ellipse">
            <a:avLst/>
          </a:prstGeom>
          <a:solidFill>
            <a:srgbClr val="C9A227"/>
          </a:solidFill>
          <a:ln w="12700">
            <a:solidFill>
              <a:srgbClr val="C9A227"/>
            </a:solidFill>
            <a:prstDash val="solid"/>
          </a:ln>
        </p:spPr>
      </p:sp>
      <p:sp>
        <p:nvSpPr>
          <p:cNvPr id="11" name="Text 9"/>
          <p:cNvSpPr/>
          <p:nvPr/>
        </p:nvSpPr>
        <p:spPr>
          <a:xfrm>
            <a:off x="8743950"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2" name="Text 10"/>
          <p:cNvSpPr/>
          <p:nvPr/>
        </p:nvSpPr>
        <p:spPr>
          <a:xfrm>
            <a:off x="8299704"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تأیید مدیر واحد</a:t>
            </a:r>
            <a:endParaRPr lang="en-US" sz="1550" dirty="0"/>
          </a:p>
        </p:txBody>
      </p:sp>
      <p:sp>
        <p:nvSpPr>
          <p:cNvPr id="13" name="Text 11"/>
          <p:cNvSpPr/>
          <p:nvPr/>
        </p:nvSpPr>
        <p:spPr>
          <a:xfrm>
            <a:off x="8299704"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مرحلهٔ ۱</a:t>
            </a:r>
            <a:endParaRPr lang="en-US" sz="1200" dirty="0"/>
          </a:p>
        </p:txBody>
      </p:sp>
      <p:sp>
        <p:nvSpPr>
          <p:cNvPr id="14" name="Text 12"/>
          <p:cNvSpPr/>
          <p:nvPr/>
        </p:nvSpPr>
        <p:spPr>
          <a:xfrm>
            <a:off x="7879080"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15" name="Shape 13"/>
          <p:cNvSpPr/>
          <p:nvPr/>
        </p:nvSpPr>
        <p:spPr>
          <a:xfrm>
            <a:off x="6259068"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6" name="Shape 14"/>
          <p:cNvSpPr/>
          <p:nvPr/>
        </p:nvSpPr>
        <p:spPr>
          <a:xfrm>
            <a:off x="6794754" y="1691640"/>
            <a:ext cx="548640" cy="548640"/>
          </a:xfrm>
          <a:prstGeom prst="ellipse">
            <a:avLst/>
          </a:prstGeom>
          <a:solidFill>
            <a:srgbClr val="C9A227"/>
          </a:solidFill>
          <a:ln w="12700">
            <a:solidFill>
              <a:srgbClr val="C9A227"/>
            </a:solidFill>
            <a:prstDash val="solid"/>
          </a:ln>
        </p:spPr>
      </p:sp>
      <p:sp>
        <p:nvSpPr>
          <p:cNvPr id="17" name="Text 15"/>
          <p:cNvSpPr/>
          <p:nvPr/>
        </p:nvSpPr>
        <p:spPr>
          <a:xfrm>
            <a:off x="6794754"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8" name="Text 16"/>
          <p:cNvSpPr/>
          <p:nvPr/>
        </p:nvSpPr>
        <p:spPr>
          <a:xfrm>
            <a:off x="6350508"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تأیید مدیر مالی</a:t>
            </a:r>
            <a:endParaRPr lang="en-US" sz="1550" dirty="0"/>
          </a:p>
        </p:txBody>
      </p:sp>
      <p:sp>
        <p:nvSpPr>
          <p:cNvPr id="19" name="Text 17"/>
          <p:cNvSpPr/>
          <p:nvPr/>
        </p:nvSpPr>
        <p:spPr>
          <a:xfrm>
            <a:off x="6350508"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مرحلهٔ ۲</a:t>
            </a:r>
            <a:endParaRPr lang="en-US" sz="1200" dirty="0"/>
          </a:p>
        </p:txBody>
      </p:sp>
      <p:sp>
        <p:nvSpPr>
          <p:cNvPr id="20" name="Text 18"/>
          <p:cNvSpPr/>
          <p:nvPr/>
        </p:nvSpPr>
        <p:spPr>
          <a:xfrm>
            <a:off x="5929884"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1" name="Shape 19"/>
          <p:cNvSpPr/>
          <p:nvPr/>
        </p:nvSpPr>
        <p:spPr>
          <a:xfrm>
            <a:off x="4309872"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2" name="Shape 20"/>
          <p:cNvSpPr/>
          <p:nvPr/>
        </p:nvSpPr>
        <p:spPr>
          <a:xfrm>
            <a:off x="4845558" y="1691640"/>
            <a:ext cx="548640" cy="548640"/>
          </a:xfrm>
          <a:prstGeom prst="ellipse">
            <a:avLst/>
          </a:prstGeom>
          <a:solidFill>
            <a:srgbClr val="C9A227"/>
          </a:solidFill>
          <a:ln w="12700">
            <a:solidFill>
              <a:srgbClr val="C9A227"/>
            </a:solidFill>
            <a:prstDash val="solid"/>
          </a:ln>
        </p:spPr>
      </p:sp>
      <p:sp>
        <p:nvSpPr>
          <p:cNvPr id="23" name="Text 21"/>
          <p:cNvSpPr/>
          <p:nvPr/>
        </p:nvSpPr>
        <p:spPr>
          <a:xfrm>
            <a:off x="4845558"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۴</a:t>
            </a:r>
            <a:endParaRPr lang="en-US" sz="1800" dirty="0"/>
          </a:p>
        </p:txBody>
      </p:sp>
      <p:sp>
        <p:nvSpPr>
          <p:cNvPr id="24" name="Text 22"/>
          <p:cNvSpPr/>
          <p:nvPr/>
        </p:nvSpPr>
        <p:spPr>
          <a:xfrm>
            <a:off x="4401312"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تأیید مدیرعامل</a:t>
            </a:r>
            <a:endParaRPr lang="en-US" sz="1550" dirty="0"/>
          </a:p>
        </p:txBody>
      </p:sp>
      <p:sp>
        <p:nvSpPr>
          <p:cNvPr id="25" name="Text 23"/>
          <p:cNvSpPr/>
          <p:nvPr/>
        </p:nvSpPr>
        <p:spPr>
          <a:xfrm>
            <a:off x="4401312"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فقط بالای آستانه</a:t>
            </a:r>
            <a:endParaRPr lang="en-US" sz="1200" dirty="0"/>
          </a:p>
        </p:txBody>
      </p:sp>
      <p:sp>
        <p:nvSpPr>
          <p:cNvPr id="26" name="Text 24"/>
          <p:cNvSpPr/>
          <p:nvPr/>
        </p:nvSpPr>
        <p:spPr>
          <a:xfrm>
            <a:off x="3980688"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7" name="Shape 25"/>
          <p:cNvSpPr/>
          <p:nvPr/>
        </p:nvSpPr>
        <p:spPr>
          <a:xfrm>
            <a:off x="2360676"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8" name="Shape 26"/>
          <p:cNvSpPr/>
          <p:nvPr/>
        </p:nvSpPr>
        <p:spPr>
          <a:xfrm>
            <a:off x="2896362" y="1691640"/>
            <a:ext cx="548640" cy="548640"/>
          </a:xfrm>
          <a:prstGeom prst="ellipse">
            <a:avLst/>
          </a:prstGeom>
          <a:solidFill>
            <a:srgbClr val="C9A227"/>
          </a:solidFill>
          <a:ln w="12700">
            <a:solidFill>
              <a:srgbClr val="C9A227"/>
            </a:solidFill>
            <a:prstDash val="solid"/>
          </a:ln>
        </p:spPr>
      </p:sp>
      <p:sp>
        <p:nvSpPr>
          <p:cNvPr id="29" name="Text 27"/>
          <p:cNvSpPr/>
          <p:nvPr/>
        </p:nvSpPr>
        <p:spPr>
          <a:xfrm>
            <a:off x="2896362"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۵</a:t>
            </a:r>
            <a:endParaRPr lang="en-US" sz="1800" dirty="0"/>
          </a:p>
        </p:txBody>
      </p:sp>
      <p:sp>
        <p:nvSpPr>
          <p:cNvPr id="30" name="Text 28"/>
          <p:cNvSpPr/>
          <p:nvPr/>
        </p:nvSpPr>
        <p:spPr>
          <a:xfrm>
            <a:off x="2452116"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آمادهٔ اجرا</a:t>
            </a:r>
            <a:endParaRPr lang="en-US" sz="1550" dirty="0"/>
          </a:p>
        </p:txBody>
      </p:sp>
      <p:sp>
        <p:nvSpPr>
          <p:cNvPr id="31" name="Text 29"/>
          <p:cNvSpPr/>
          <p:nvPr/>
        </p:nvSpPr>
        <p:spPr>
          <a:xfrm>
            <a:off x="2452116"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سند ۱: شناسایی بدهی</a:t>
            </a:r>
            <a:endParaRPr lang="en-US" sz="1200" dirty="0"/>
          </a:p>
        </p:txBody>
      </p:sp>
      <p:sp>
        <p:nvSpPr>
          <p:cNvPr id="32" name="Text 30"/>
          <p:cNvSpPr/>
          <p:nvPr/>
        </p:nvSpPr>
        <p:spPr>
          <a:xfrm>
            <a:off x="2031492"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33" name="Shape 31"/>
          <p:cNvSpPr/>
          <p:nvPr/>
        </p:nvSpPr>
        <p:spPr>
          <a:xfrm>
            <a:off x="411480" y="1965960"/>
            <a:ext cx="1620012" cy="2103120"/>
          </a:xfrm>
          <a:prstGeom prst="roundRect">
            <a:avLst>
              <a:gd name="adj" fmla="val 6773"/>
            </a:avLst>
          </a:prstGeom>
          <a:solidFill>
            <a:srgbClr val="1B2A49"/>
          </a:solidFill>
          <a:ln w="9525">
            <a:solidFill>
              <a:srgbClr val="1B2A49"/>
            </a:solidFill>
            <a:prstDash val="solid"/>
          </a:ln>
          <a:effectLst>
            <a:outerShdw sx="100000" sy="100000" kx="0" ky="0" algn="bl" rotWithShape="0" blurRad="76200" dist="25400" dir="5400000">
              <a:srgbClr val="000000">
                <a:alpha val="12000"/>
              </a:srgbClr>
            </a:outerShdw>
          </a:effectLst>
        </p:spPr>
      </p:sp>
      <p:sp>
        <p:nvSpPr>
          <p:cNvPr id="34" name="Shape 32"/>
          <p:cNvSpPr/>
          <p:nvPr/>
        </p:nvSpPr>
        <p:spPr>
          <a:xfrm>
            <a:off x="947166" y="1691640"/>
            <a:ext cx="548640" cy="548640"/>
          </a:xfrm>
          <a:prstGeom prst="ellipse">
            <a:avLst/>
          </a:prstGeom>
          <a:solidFill>
            <a:srgbClr val="C9A227"/>
          </a:solidFill>
          <a:ln w="12700">
            <a:solidFill>
              <a:srgbClr val="C9A227"/>
            </a:solidFill>
            <a:prstDash val="solid"/>
          </a:ln>
        </p:spPr>
      </p:sp>
      <p:sp>
        <p:nvSpPr>
          <p:cNvPr id="35" name="Text 33"/>
          <p:cNvSpPr/>
          <p:nvPr/>
        </p:nvSpPr>
        <p:spPr>
          <a:xfrm>
            <a:off x="94716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۶</a:t>
            </a:r>
            <a:endParaRPr lang="en-US" sz="1800" dirty="0"/>
          </a:p>
        </p:txBody>
      </p:sp>
      <p:sp>
        <p:nvSpPr>
          <p:cNvPr id="36" name="Text 34"/>
          <p:cNvSpPr/>
          <p:nvPr/>
        </p:nvSpPr>
        <p:spPr>
          <a:xfrm>
            <a:off x="502920" y="2377440"/>
            <a:ext cx="1437132" cy="731520"/>
          </a:xfrm>
          <a:prstGeom prst="rect">
            <a:avLst/>
          </a:prstGeom>
          <a:noFill/>
          <a:ln/>
        </p:spPr>
        <p:txBody>
          <a:bodyPr wrap="square" lIns="0" tIns="0" rIns="0" bIns="0" rtlCol="0" anchor="ctr"/>
          <a:lstStyle/>
          <a:p>
            <a:pPr rtl="1" algn="ctr" indent="0" marL="0">
              <a:buNone/>
            </a:pPr>
            <a:r>
              <a:rPr lang="en-US" sz="1550" b="1" dirty="0">
                <a:solidFill>
                  <a:srgbClr val="FFFFFF"/>
                </a:solidFill>
                <a:latin typeface="Tahoma" pitchFamily="34" charset="0"/>
                <a:ea typeface="Tahoma" pitchFamily="34" charset="-122"/>
                <a:cs typeface="Tahoma" pitchFamily="34" charset="-120"/>
              </a:rPr>
              <a:t>اجرای پرداخت</a:t>
            </a:r>
            <a:endParaRPr lang="en-US" sz="1550" dirty="0"/>
          </a:p>
        </p:txBody>
      </p:sp>
      <p:sp>
        <p:nvSpPr>
          <p:cNvPr id="37" name="Text 35"/>
          <p:cNvSpPr/>
          <p:nvPr/>
        </p:nvSpPr>
        <p:spPr>
          <a:xfrm>
            <a:off x="502920" y="3108960"/>
            <a:ext cx="1437132" cy="868680"/>
          </a:xfrm>
          <a:prstGeom prst="rect">
            <a:avLst/>
          </a:prstGeom>
          <a:noFill/>
          <a:ln/>
        </p:spPr>
        <p:txBody>
          <a:bodyPr wrap="square" lIns="0" tIns="0" rIns="0" bIns="0" rtlCol="0" anchor="t"/>
          <a:lstStyle/>
          <a:p>
            <a:pPr rtl="1" algn="ctr" indent="0" marL="0">
              <a:buNone/>
            </a:pPr>
            <a:r>
              <a:rPr lang="en-US" sz="1200" dirty="0">
                <a:solidFill>
                  <a:srgbClr val="C9D3E6"/>
                </a:solidFill>
                <a:latin typeface="Tahoma" pitchFamily="34" charset="0"/>
                <a:ea typeface="Tahoma" pitchFamily="34" charset="-122"/>
                <a:cs typeface="Tahoma" pitchFamily="34" charset="-120"/>
              </a:rPr>
              <a:t>خزانه‌دار — سند ۲: پرداخت</a:t>
            </a:r>
            <a:endParaRPr lang="en-US" sz="1200" dirty="0"/>
          </a:p>
        </p:txBody>
      </p:sp>
      <p:sp>
        <p:nvSpPr>
          <p:cNvPr id="38" name="Shape 36"/>
          <p:cNvSpPr/>
          <p:nvPr/>
        </p:nvSpPr>
        <p:spPr>
          <a:xfrm>
            <a:off x="411480" y="4526280"/>
            <a:ext cx="11365992" cy="914400"/>
          </a:xfrm>
          <a:prstGeom prst="roundRect">
            <a:avLst>
              <a:gd name="adj" fmla="val 8000"/>
            </a:avLst>
          </a:prstGeom>
          <a:solidFill>
            <a:srgbClr val="F6EDCF"/>
          </a:solidFill>
          <a:ln w="9525">
            <a:solidFill>
              <a:srgbClr val="C9A227"/>
            </a:solidFill>
            <a:prstDash val="solid"/>
          </a:ln>
        </p:spPr>
      </p:sp>
      <p:sp>
        <p:nvSpPr>
          <p:cNvPr id="39" name="Text 37"/>
          <p:cNvSpPr/>
          <p:nvPr/>
        </p:nvSpPr>
        <p:spPr>
          <a:xfrm>
            <a:off x="10863072" y="4526280"/>
            <a:ext cx="822960" cy="91440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40" name="Text 38"/>
          <p:cNvSpPr/>
          <p:nvPr/>
        </p:nvSpPr>
        <p:spPr>
          <a:xfrm>
            <a:off x="548640" y="4526280"/>
            <a:ext cx="10241280" cy="91440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از هر مرحلهٔ «در انتظار» می‌توان برگشت (دلیل اجباری) یا رد داد. یک کاربر دو مرحلهٔ پشت‌سرهم را تأیید نمی‌کند و ثبت‌کننده تأییدکننده نیست.</a:t>
            </a:r>
            <a:endParaRPr lang="en-US" sz="1250" dirty="0"/>
          </a:p>
        </p:txBody>
      </p:sp>
      <p:sp>
        <p:nvSpPr>
          <p:cNvPr id="41" name="Shape 39"/>
          <p:cNvSpPr/>
          <p:nvPr/>
        </p:nvSpPr>
        <p:spPr>
          <a:xfrm>
            <a:off x="411480" y="5550408"/>
            <a:ext cx="11365992" cy="777240"/>
          </a:xfrm>
          <a:prstGeom prst="roundRect">
            <a:avLst>
              <a:gd name="adj" fmla="val 9412"/>
            </a:avLst>
          </a:prstGeom>
          <a:solidFill>
            <a:srgbClr val="E3F3EA"/>
          </a:solidFill>
          <a:ln w="9525">
            <a:solidFill>
              <a:srgbClr val="1E7A4C"/>
            </a:solidFill>
            <a:prstDash val="solid"/>
          </a:ln>
        </p:spPr>
      </p:sp>
      <p:sp>
        <p:nvSpPr>
          <p:cNvPr id="42" name="Text 40"/>
          <p:cNvSpPr/>
          <p:nvPr/>
        </p:nvSpPr>
        <p:spPr>
          <a:xfrm>
            <a:off x="10863072" y="5550408"/>
            <a:ext cx="822960" cy="777240"/>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43" name="Text 41"/>
          <p:cNvSpPr/>
          <p:nvPr/>
        </p:nvSpPr>
        <p:spPr>
          <a:xfrm>
            <a:off x="548640" y="5550408"/>
            <a:ext cx="10241280" cy="77724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آستانهٔ مدیرعامل ۲ میلیارد: درخواست ۲۱۰ میلیونی سبزینه پس از مدیر مالی مستقیم «آمادهٔ اجرا» می‌شود.</a:t>
            </a:r>
            <a:endParaRPr lang="en-US" sz="1250" dirty="0"/>
          </a:p>
        </p:txBody>
      </p:sp>
      <p:sp>
        <p:nvSpPr>
          <p:cNvPr id="44" name="Text 4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۱۳۲</a:t>
            </a:r>
            <a:endParaRPr lang="en-US" sz="1000" dirty="0"/>
          </a:p>
        </p:txBody>
      </p:sp>
      <p:sp>
        <p:nvSpPr>
          <p:cNvPr id="45" name="Text 4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پیش‌نیاز ۱ — تنظیمات خزانه</a:t>
            </a:r>
            <a:endParaRPr lang="en-US" sz="2500" dirty="0"/>
          </a:p>
        </p:txBody>
      </p:sp>
      <p:sp>
        <p:nvSpPr>
          <p:cNvPr id="3" name="Shape 1"/>
          <p:cNvSpPr/>
          <p:nvPr/>
        </p:nvSpPr>
        <p:spPr>
          <a:xfrm>
            <a:off x="8417052" y="896112"/>
            <a:ext cx="3360420"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526780" y="896112"/>
            <a:ext cx="314096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تنظیمات خزانه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tr02">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451653"/>
            <a:ext cx="3867912" cy="903427"/>
          </a:xfrm>
          <a:prstGeom prst="roundRect">
            <a:avLst>
              <a:gd name="adj" fmla="val 8097"/>
            </a:avLst>
          </a:prstGeom>
          <a:solidFill>
            <a:srgbClr val="F6EDCF"/>
          </a:solidFill>
          <a:ln w="9525">
            <a:solidFill>
              <a:srgbClr val="C9A227"/>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اگر حساب‌های سند خودکار خالی باشند، آخرین تأیید درخواست پرداخت انجام نمی‌شود.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آستانه‌ها</a:t>
            </a:r>
            <a:endParaRPr lang="en-US" sz="1350" dirty="0"/>
          </a:p>
        </p:txBody>
      </p:sp>
      <p:sp>
        <p:nvSpPr>
          <p:cNvPr id="13" name="Text 10"/>
          <p:cNvSpPr/>
          <p:nvPr/>
        </p:nvSpPr>
        <p:spPr>
          <a:xfrm>
            <a:off x="7909560" y="1700784"/>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آستانهٔ تأیید مدیرعامل و سقف تأیید گروهی (مقدار پیش‌فرض ندارند؛ تا تعریف نشوند ارسال ممکن نیست).</a:t>
            </a:r>
            <a:endParaRPr lang="en-US" sz="1050" dirty="0"/>
          </a:p>
        </p:txBody>
      </p:sp>
      <p:sp>
        <p:nvSpPr>
          <p:cNvPr id="14" name="Shape 11"/>
          <p:cNvSpPr/>
          <p:nvPr/>
        </p:nvSpPr>
        <p:spPr>
          <a:xfrm>
            <a:off x="11411712" y="2184959"/>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18495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18495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تفصیلی ذی‌نفع</a:t>
            </a:r>
            <a:endParaRPr lang="en-US" sz="1350" dirty="0"/>
          </a:p>
        </p:txBody>
      </p:sp>
      <p:sp>
        <p:nvSpPr>
          <p:cNvPr id="17" name="Text 14"/>
          <p:cNvSpPr/>
          <p:nvPr/>
        </p:nvSpPr>
        <p:spPr>
          <a:xfrm>
            <a:off x="7909560" y="2514143"/>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گروه تفصیلی تأمین‌کنندگان، برای شناسایی ذی‌نفع در درخواست.</a:t>
            </a:r>
            <a:endParaRPr lang="en-US" sz="1050" dirty="0"/>
          </a:p>
        </p:txBody>
      </p:sp>
      <p:sp>
        <p:nvSpPr>
          <p:cNvPr id="18" name="Shape 15"/>
          <p:cNvSpPr/>
          <p:nvPr/>
        </p:nvSpPr>
        <p:spPr>
          <a:xfrm>
            <a:off x="11411712" y="2998318"/>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299831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299831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حساب‌های سند خودکار</a:t>
            </a:r>
            <a:endParaRPr lang="en-US" sz="1350" dirty="0"/>
          </a:p>
        </p:txBody>
      </p:sp>
      <p:sp>
        <p:nvSpPr>
          <p:cNvPr id="21" name="Text 18"/>
          <p:cNvSpPr/>
          <p:nvPr/>
        </p:nvSpPr>
        <p:spPr>
          <a:xfrm>
            <a:off x="7909560" y="3327502"/>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بستانکاران تجاری، اعتبار مالیات بر ارزش افزوده و کسور بیمه.</a:t>
            </a:r>
            <a:endParaRPr lang="en-US" sz="1050" dirty="0"/>
          </a:p>
        </p:txBody>
      </p:sp>
      <p:sp>
        <p:nvSpPr>
          <p:cNvPr id="22" name="Shape 19"/>
          <p:cNvSpPr/>
          <p:nvPr/>
        </p:nvSpPr>
        <p:spPr>
          <a:xfrm>
            <a:off x="11411712" y="381167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81167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81167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دریافت و انتقال</a:t>
            </a:r>
            <a:endParaRPr lang="en-US" sz="1350" dirty="0"/>
          </a:p>
        </p:txBody>
      </p:sp>
      <p:sp>
        <p:nvSpPr>
          <p:cNvPr id="25" name="Text 22"/>
          <p:cNvSpPr/>
          <p:nvPr/>
        </p:nvSpPr>
        <p:spPr>
          <a:xfrm>
            <a:off x="7909560" y="4140860"/>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حساب دریافتنی، گروه تفصیلی مشتریان و سقف انتقال روزانه.</a:t>
            </a:r>
            <a:endParaRPr lang="en-US" sz="1050" dirty="0"/>
          </a:p>
        </p:txBody>
      </p:sp>
      <p:sp>
        <p:nvSpPr>
          <p:cNvPr id="26" name="Shape 23"/>
          <p:cNvSpPr/>
          <p:nvPr/>
        </p:nvSpPr>
        <p:spPr>
          <a:xfrm>
            <a:off x="11411712" y="4625035"/>
            <a:ext cx="329184" cy="329184"/>
          </a:xfrm>
          <a:prstGeom prst="ellipse">
            <a:avLst/>
          </a:prstGeom>
          <a:solidFill>
            <a:srgbClr val="C9A227"/>
          </a:solidFill>
          <a:ln w="12700">
            <a:solidFill>
              <a:srgbClr val="C9A227"/>
            </a:solidFill>
            <a:prstDash val="solid"/>
          </a:ln>
        </p:spPr>
      </p:sp>
      <p:sp>
        <p:nvSpPr>
          <p:cNvPr id="27" name="Text 24"/>
          <p:cNvSpPr/>
          <p:nvPr/>
        </p:nvSpPr>
        <p:spPr>
          <a:xfrm>
            <a:off x="11411712" y="462503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8" name="Text 25"/>
          <p:cNvSpPr/>
          <p:nvPr/>
        </p:nvSpPr>
        <p:spPr>
          <a:xfrm>
            <a:off x="7909560" y="4625035"/>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مغایرت بانکی</a:t>
            </a:r>
            <a:endParaRPr lang="en-US" sz="1350" dirty="0"/>
          </a:p>
        </p:txBody>
      </p:sp>
      <p:sp>
        <p:nvSpPr>
          <p:cNvPr id="29" name="Text 26"/>
          <p:cNvSpPr/>
          <p:nvPr/>
        </p:nvSpPr>
        <p:spPr>
          <a:xfrm>
            <a:off x="7909560" y="4954219"/>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حساب کارمزد بانکی؛ سپس «ذخیره تنظیمات» (فقط مدیر مالی).</a:t>
            </a:r>
            <a:endParaRPr lang="en-US" sz="1050" dirty="0"/>
          </a:p>
        </p:txBody>
      </p:sp>
      <p:sp>
        <p:nvSpPr>
          <p:cNvPr id="30"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۱۳۳</a:t>
            </a:r>
            <a:endParaRPr lang="en-US" sz="1000" dirty="0"/>
          </a:p>
        </p:txBody>
      </p:sp>
      <p:sp>
        <p:nvSpPr>
          <p:cNvPr id="31"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پیش‌نیاز ۲ — نقش‌های خزانه</a:t>
            </a:r>
            <a:endParaRPr lang="en-US" sz="2500" dirty="0"/>
          </a:p>
        </p:txBody>
      </p:sp>
      <p:sp>
        <p:nvSpPr>
          <p:cNvPr id="3" name="Shape 1"/>
          <p:cNvSpPr/>
          <p:nvPr/>
        </p:nvSpPr>
        <p:spPr>
          <a:xfrm>
            <a:off x="8417052" y="896112"/>
            <a:ext cx="3360420"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526780" y="896112"/>
            <a:ext cx="314096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نقش‌های خزانه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tr03">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451653"/>
            <a:ext cx="3867912" cy="903427"/>
          </a:xfrm>
          <a:prstGeom prst="roundRect">
            <a:avLst>
              <a:gd name="adj" fmla="val 8097"/>
            </a:avLst>
          </a:prstGeom>
          <a:solidFill>
            <a:srgbClr val="E3F3EA"/>
          </a:solidFill>
          <a:ln w="9525">
            <a:solidFill>
              <a:srgbClr val="1E7A4C"/>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زهرا حیدری مدیر واحد، مریم صادقی مدیر مالی، حسین جعفری مدیرعامل و نرگس توکلی خزانه‌دار است.</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نقش‌ها</a:t>
            </a:r>
            <a:endParaRPr lang="en-US" sz="1350" dirty="0"/>
          </a:p>
        </p:txBody>
      </p:sp>
      <p:sp>
        <p:nvSpPr>
          <p:cNvPr id="13" name="Text 10"/>
          <p:cNvSpPr/>
          <p:nvPr/>
        </p:nvSpPr>
        <p:spPr>
          <a:xfrm>
            <a:off x="7909560" y="1700784"/>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مدیر واحد، مدیر مالی، مدیرعامل، حسابدار ارشد و خزانه‌دار — فهرستی جدا از نقش‌های تنخواه.</a:t>
            </a:r>
            <a:endParaRPr lang="en-US" sz="1300" dirty="0"/>
          </a:p>
        </p:txBody>
      </p:sp>
      <p:sp>
        <p:nvSpPr>
          <p:cNvPr id="14" name="Shape 11"/>
          <p:cNvSpPr/>
          <p:nvPr/>
        </p:nvSpPr>
        <p:spPr>
          <a:xfrm>
            <a:off x="11411712" y="25059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5059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5059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افزودن</a:t>
            </a:r>
            <a:endParaRPr lang="en-US" sz="1350" dirty="0"/>
          </a:p>
        </p:txBody>
      </p:sp>
      <p:sp>
        <p:nvSpPr>
          <p:cNvPr id="17" name="Text 14"/>
          <p:cNvSpPr/>
          <p:nvPr/>
        </p:nvSpPr>
        <p:spPr>
          <a:xfrm>
            <a:off x="7909560" y="2835097"/>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کد کاربری، نقش و نام را وارد و «افزودن» کنید؛ «افزودن خودم» کاربر جاری را پر می‌کند.</a:t>
            </a:r>
            <a:endParaRPr lang="en-US" sz="1300" dirty="0"/>
          </a:p>
        </p:txBody>
      </p:sp>
      <p:sp>
        <p:nvSpPr>
          <p:cNvPr id="18" name="Shape 15"/>
          <p:cNvSpPr/>
          <p:nvPr/>
        </p:nvSpPr>
        <p:spPr>
          <a:xfrm>
            <a:off x="11411712" y="36402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6402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6402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اولین مدیر مالی</a:t>
            </a:r>
            <a:endParaRPr lang="en-US" sz="1350" dirty="0"/>
          </a:p>
        </p:txBody>
      </p:sp>
      <p:sp>
        <p:nvSpPr>
          <p:cNvPr id="21" name="Text 18"/>
          <p:cNvSpPr/>
          <p:nvPr/>
        </p:nvSpPr>
        <p:spPr>
          <a:xfrm>
            <a:off x="7909560" y="3969410"/>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اگر واحد هنوز مدیر مالی ندارد هر کاربری اولین نقش را ثبت می‌کند؛ بعد از آن فقط مدیر مالی.</a:t>
            </a:r>
            <a:endParaRPr lang="en-US" sz="130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۱۳۴</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 — فهرست درخواست‌های پرداخت</a:t>
            </a:r>
            <a:endParaRPr lang="en-US" sz="2500" dirty="0"/>
          </a:p>
        </p:txBody>
      </p:sp>
      <p:sp>
        <p:nvSpPr>
          <p:cNvPr id="3" name="Shape 1"/>
          <p:cNvSpPr/>
          <p:nvPr/>
        </p:nvSpPr>
        <p:spPr>
          <a:xfrm>
            <a:off x="8339328" y="896112"/>
            <a:ext cx="343814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449056" y="896112"/>
            <a:ext cx="321868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درخواست پرداخت</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tr04">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451653"/>
            <a:ext cx="3867912" cy="903427"/>
          </a:xfrm>
          <a:prstGeom prst="roundRect">
            <a:avLst>
              <a:gd name="adj" fmla="val 8097"/>
            </a:avLst>
          </a:prstGeom>
          <a:solidFill>
            <a:srgbClr val="E3F3EA"/>
          </a:solidFill>
          <a:ln w="9525">
            <a:solidFill>
              <a:srgbClr val="1E7A4C"/>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PAY-000242 (۲٫۴۵ میلیارد) از آستانه بیشتر است، پس «در انتظار تأیید مدیرعامل» مانده است.</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زبانه‌های وضعیت</a:t>
            </a:r>
            <a:endParaRPr lang="en-US" sz="1350" dirty="0"/>
          </a:p>
        </p:txBody>
      </p:sp>
      <p:sp>
        <p:nvSpPr>
          <p:cNvPr id="13" name="Text 10"/>
          <p:cNvSpPr/>
          <p:nvPr/>
        </p:nvSpPr>
        <p:spPr>
          <a:xfrm>
            <a:off x="7909560" y="1700784"/>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پیش‌نویس، در انتظار مدیر واحد/مالی/مدیرعامل، آمادهٔ اجرا، پرداخت شد، برگشتی، ردشده، معلق.</a:t>
            </a:r>
            <a:endParaRPr lang="en-US" sz="1300" dirty="0"/>
          </a:p>
        </p:txBody>
      </p:sp>
      <p:sp>
        <p:nvSpPr>
          <p:cNvPr id="14" name="Shape 11"/>
          <p:cNvSpPr/>
          <p:nvPr/>
        </p:nvSpPr>
        <p:spPr>
          <a:xfrm>
            <a:off x="11411712" y="25059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5059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5059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درخواست جدید</a:t>
            </a:r>
            <a:endParaRPr lang="en-US" sz="1350" dirty="0"/>
          </a:p>
        </p:txBody>
      </p:sp>
      <p:sp>
        <p:nvSpPr>
          <p:cNvPr id="17" name="Text 14"/>
          <p:cNvSpPr/>
          <p:nvPr/>
        </p:nvSpPr>
        <p:spPr>
          <a:xfrm>
            <a:off x="7909560" y="28350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دکمهٔ «درخواست پرداخت جدید» در بالای صفحه.</a:t>
            </a:r>
            <a:endParaRPr lang="en-US" sz="1300" dirty="0"/>
          </a:p>
        </p:txBody>
      </p:sp>
      <p:sp>
        <p:nvSpPr>
          <p:cNvPr id="18" name="Shape 15"/>
          <p:cNvSpPr/>
          <p:nvPr/>
        </p:nvSpPr>
        <p:spPr>
          <a:xfrm>
            <a:off x="11411712" y="34084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4084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4084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اقدام ردیف</a:t>
            </a:r>
            <a:endParaRPr lang="en-US" sz="1350" dirty="0"/>
          </a:p>
        </p:txBody>
      </p:sp>
      <p:sp>
        <p:nvSpPr>
          <p:cNvPr id="21" name="Text 18"/>
          <p:cNvSpPr/>
          <p:nvPr/>
        </p:nvSpPr>
        <p:spPr>
          <a:xfrm>
            <a:off x="7909560" y="37376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پیش‌نویس و برگشتی: ویرایش، ارسال و حذف؛ بقیه فقط نمایش.</a:t>
            </a:r>
            <a:endParaRPr lang="en-US" sz="130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۱۳۵</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۲ — فرم ثبت درخواست پرداخت</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tr05">    </p:cNvPr>
          <p:cNvPicPr>
            <a:picLocks noChangeAspect="1"/>
          </p:cNvPicPr>
          <p:nvPr/>
        </p:nvPicPr>
        <p:blipFill>
          <a:blip r:embed="rId1"/>
          <a:stretch>
            <a:fillRect/>
          </a:stretch>
        </p:blipFill>
        <p:spPr>
          <a:xfrm>
            <a:off x="600538" y="1216152"/>
            <a:ext cx="6845643" cy="5065776"/>
          </a:xfrm>
          <a:prstGeom prst="rect">
            <a:avLst/>
          </a:prstGeom>
        </p:spPr>
      </p:pic>
      <p:sp>
        <p:nvSpPr>
          <p:cNvPr id="5" name="Shape 2"/>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6" name="Text 3"/>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7" name="Text 4"/>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سبزینه: ۲۰۰ میلیون، ارزش افزوده ۱۰٪، کسر بیمه ۵٪ ⇐ خالص ۲۱۰ میلیون؛ مرکز هزینه: ادارهٔ پشتیبانی.</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ذی‌نفع و فاکتور</a:t>
            </a:r>
            <a:endParaRPr lang="en-US" sz="1350" dirty="0"/>
          </a:p>
        </p:txBody>
      </p:sp>
      <p:sp>
        <p:nvSpPr>
          <p:cNvPr id="11" name="Text 8"/>
          <p:cNvSpPr/>
          <p:nvPr/>
        </p:nvSpPr>
        <p:spPr>
          <a:xfrm>
            <a:off x="7909560" y="1517904"/>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نام، نوع، شناسه ملی، تفصیلی ذی‌نفع؛ شماره فاکتور و تیک «فاکتور تأیید شده».</a:t>
            </a:r>
            <a:endParaRPr lang="en-US" sz="1050" dirty="0"/>
          </a:p>
        </p:txBody>
      </p:sp>
      <p:sp>
        <p:nvSpPr>
          <p:cNvPr id="12" name="Shape 9"/>
          <p:cNvSpPr/>
          <p:nvPr/>
        </p:nvSpPr>
        <p:spPr>
          <a:xfrm>
            <a:off x="11411712" y="2002079"/>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00207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00207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حساب و مرکز هزینه</a:t>
            </a:r>
            <a:endParaRPr lang="en-US" sz="1350" dirty="0"/>
          </a:p>
        </p:txBody>
      </p:sp>
      <p:sp>
        <p:nvSpPr>
          <p:cNvPr id="15" name="Text 12"/>
          <p:cNvSpPr/>
          <p:nvPr/>
        </p:nvSpPr>
        <p:spPr>
          <a:xfrm>
            <a:off x="7909560" y="2331263"/>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حساب هزینهٔ معین و تفصیلی‌های مرکز هزینه که آن معین لازم دارد.</a:t>
            </a:r>
            <a:endParaRPr lang="en-US" sz="1050" dirty="0"/>
          </a:p>
        </p:txBody>
      </p:sp>
      <p:sp>
        <p:nvSpPr>
          <p:cNvPr id="16" name="Shape 13"/>
          <p:cNvSpPr/>
          <p:nvPr/>
        </p:nvSpPr>
        <p:spPr>
          <a:xfrm>
            <a:off x="11411712" y="2815438"/>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28154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28154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مبلغ</a:t>
            </a:r>
            <a:endParaRPr lang="en-US" sz="1350" dirty="0"/>
          </a:p>
        </p:txBody>
      </p:sp>
      <p:sp>
        <p:nvSpPr>
          <p:cNvPr id="19" name="Text 16"/>
          <p:cNvSpPr/>
          <p:nvPr/>
        </p:nvSpPr>
        <p:spPr>
          <a:xfrm>
            <a:off x="7909560" y="3144622"/>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مبلغ قبل از مالیات، درصد یا مبلغ ارزش افزوده و کسر بیمه؛ خالص خودکار حساب می‌شود.</a:t>
            </a:r>
            <a:endParaRPr lang="en-US" sz="1050" dirty="0"/>
          </a:p>
        </p:txBody>
      </p:sp>
      <p:sp>
        <p:nvSpPr>
          <p:cNvPr id="20" name="Shape 17"/>
          <p:cNvSpPr/>
          <p:nvPr/>
        </p:nvSpPr>
        <p:spPr>
          <a:xfrm>
            <a:off x="11411712" y="3628796"/>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362879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362879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سررسید و پرداخت</a:t>
            </a:r>
            <a:endParaRPr lang="en-US" sz="1350" dirty="0"/>
          </a:p>
        </p:txBody>
      </p:sp>
      <p:sp>
        <p:nvSpPr>
          <p:cNvPr id="23" name="Text 20"/>
          <p:cNvSpPr/>
          <p:nvPr/>
        </p:nvSpPr>
        <p:spPr>
          <a:xfrm>
            <a:off x="7909560" y="3957980"/>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تاریخ سررسید (نه گذشته)، حساب بانکی و روش (ساتنا، پایا، چک، نقد).</a:t>
            </a:r>
            <a:endParaRPr lang="en-US" sz="1050" dirty="0"/>
          </a:p>
        </p:txBody>
      </p:sp>
      <p:sp>
        <p:nvSpPr>
          <p:cNvPr id="24" name="Shape 21"/>
          <p:cNvSpPr/>
          <p:nvPr/>
        </p:nvSpPr>
        <p:spPr>
          <a:xfrm>
            <a:off x="11411712" y="4442155"/>
            <a:ext cx="329184" cy="329184"/>
          </a:xfrm>
          <a:prstGeom prst="ellipse">
            <a:avLst/>
          </a:prstGeom>
          <a:solidFill>
            <a:srgbClr val="C9A227"/>
          </a:solidFill>
          <a:ln w="12700">
            <a:solidFill>
              <a:srgbClr val="C9A227"/>
            </a:solidFill>
            <a:prstDash val="solid"/>
          </a:ln>
        </p:spPr>
      </p:sp>
      <p:sp>
        <p:nvSpPr>
          <p:cNvPr id="25" name="Text 22"/>
          <p:cNvSpPr/>
          <p:nvPr/>
        </p:nvSpPr>
        <p:spPr>
          <a:xfrm>
            <a:off x="11411712" y="444215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6" name="Text 23"/>
          <p:cNvSpPr/>
          <p:nvPr/>
        </p:nvSpPr>
        <p:spPr>
          <a:xfrm>
            <a:off x="7909560" y="4442155"/>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ذخیره یا ارسال</a:t>
            </a:r>
            <a:endParaRPr lang="en-US" sz="1350" dirty="0"/>
          </a:p>
        </p:txBody>
      </p:sp>
      <p:sp>
        <p:nvSpPr>
          <p:cNvPr id="27" name="Text 24"/>
          <p:cNvSpPr/>
          <p:nvPr/>
        </p:nvSpPr>
        <p:spPr>
          <a:xfrm>
            <a:off x="7909560" y="4771339"/>
            <a:ext cx="3392424" cy="242087"/>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«ذخیرهٔ پیش‌نویس» یا «ارسال برای تأیید».</a:t>
            </a:r>
            <a:endParaRPr lang="en-US" sz="1050" dirty="0"/>
          </a:p>
        </p:txBody>
      </p:sp>
      <p:sp>
        <p:nvSpPr>
          <p:cNvPr id="28" name="Text 25"/>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۱۳۶</a:t>
            </a:r>
            <a:endParaRPr lang="en-US" sz="1000" dirty="0"/>
          </a:p>
        </p:txBody>
      </p:sp>
      <p:sp>
        <p:nvSpPr>
          <p:cNvPr id="29" name="Text 26"/>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۳ — کارتابل تأیید خزانه</a:t>
            </a:r>
            <a:endParaRPr lang="en-US" sz="2500" dirty="0"/>
          </a:p>
        </p:txBody>
      </p:sp>
      <p:sp>
        <p:nvSpPr>
          <p:cNvPr id="3" name="Shape 1"/>
          <p:cNvSpPr/>
          <p:nvPr/>
        </p:nvSpPr>
        <p:spPr>
          <a:xfrm>
            <a:off x="8417052" y="896112"/>
            <a:ext cx="3360420"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526780" y="896112"/>
            <a:ext cx="314096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کارتابل تأیید</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tr07">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451653"/>
            <a:ext cx="3867912" cy="903427"/>
          </a:xfrm>
          <a:prstGeom prst="roundRect">
            <a:avLst>
              <a:gd name="adj" fmla="val 8097"/>
            </a:avLst>
          </a:prstGeom>
          <a:solidFill>
            <a:srgbClr val="F6EDCF"/>
          </a:solidFill>
          <a:ln w="9525">
            <a:solidFill>
              <a:srgbClr val="C9A227"/>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در لحظهٔ آخرین تأیید (مدیر مالی یا مدیرعامل) سند «شناسایی بدهی» موقت و خودکار صادر می‌شود.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یک کارتابل</a:t>
            </a:r>
            <a:endParaRPr lang="en-US" sz="1350" dirty="0"/>
          </a:p>
        </p:txBody>
      </p:sp>
      <p:sp>
        <p:nvSpPr>
          <p:cNvPr id="13" name="Text 10"/>
          <p:cNvSpPr/>
          <p:nvPr/>
        </p:nvSpPr>
        <p:spPr>
          <a:xfrm>
            <a:off x="7909560" y="1700784"/>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درخواست‌های پرداخت، ترمیم‌های تنخواه منتظر خزانه‌دار و انتقال‌های وجه — قدیمی‌ترین در بالا.</a:t>
            </a:r>
            <a:endParaRPr lang="en-US" sz="1300" dirty="0"/>
          </a:p>
        </p:txBody>
      </p:sp>
      <p:sp>
        <p:nvSpPr>
          <p:cNvPr id="14" name="Shape 11"/>
          <p:cNvSpPr/>
          <p:nvPr/>
        </p:nvSpPr>
        <p:spPr>
          <a:xfrm>
            <a:off x="11411712" y="25059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5059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5059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منتظر شما</a:t>
            </a:r>
            <a:endParaRPr lang="en-US" sz="1350" dirty="0"/>
          </a:p>
        </p:txBody>
      </p:sp>
      <p:sp>
        <p:nvSpPr>
          <p:cNvPr id="17" name="Text 14"/>
          <p:cNvSpPr/>
          <p:nvPr/>
        </p:nvSpPr>
        <p:spPr>
          <a:xfrm>
            <a:off x="7909560" y="28350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فقط مواردی که مرحلهٔ فعلی با نقش شماست اقدام‌پذیرند.</a:t>
            </a:r>
            <a:endParaRPr lang="en-US" sz="1300" dirty="0"/>
          </a:p>
        </p:txBody>
      </p:sp>
      <p:sp>
        <p:nvSpPr>
          <p:cNvPr id="18" name="Shape 15"/>
          <p:cNvSpPr/>
          <p:nvPr/>
        </p:nvSpPr>
        <p:spPr>
          <a:xfrm>
            <a:off x="11411712" y="34084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4084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4084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تأیید/برگشت/رد</a:t>
            </a:r>
            <a:endParaRPr lang="en-US" sz="1350" dirty="0"/>
          </a:p>
        </p:txBody>
      </p:sp>
      <p:sp>
        <p:nvSpPr>
          <p:cNvPr id="21" name="Text 18"/>
          <p:cNvSpPr/>
          <p:nvPr/>
        </p:nvSpPr>
        <p:spPr>
          <a:xfrm>
            <a:off x="7909560" y="37376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برگشت و رد دلیل اجباری دارند؛ برگشتی دوباره از مدیر واحد شروع می‌شود.</a:t>
            </a:r>
            <a:endParaRPr lang="en-US" sz="1300" dirty="0"/>
          </a:p>
        </p:txBody>
      </p:sp>
      <p:sp>
        <p:nvSpPr>
          <p:cNvPr id="22" name="Shape 19"/>
          <p:cNvSpPr/>
          <p:nvPr/>
        </p:nvSpPr>
        <p:spPr>
          <a:xfrm>
            <a:off x="11411712" y="4310939"/>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31093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31093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تأیید گروهی</a:t>
            </a:r>
            <a:endParaRPr lang="en-US" sz="1350" dirty="0"/>
          </a:p>
        </p:txBody>
      </p:sp>
      <p:sp>
        <p:nvSpPr>
          <p:cNvPr id="25" name="Text 22"/>
          <p:cNvSpPr/>
          <p:nvPr/>
        </p:nvSpPr>
        <p:spPr>
          <a:xfrm>
            <a:off x="7909560" y="4640123"/>
            <a:ext cx="339242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فقط برای مبالغ زیر «سقف تأیید گروهی».</a:t>
            </a:r>
            <a:endParaRPr lang="en-US" sz="13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۱۳۷</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۱ — شناسایی بدهی (هنگام تأیید نهایی)</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مدیر مالی درخواست سبزینه را تأیید کرد. هنوز پولی پرداخت نشده، ولی سازمان حالا رسماً به سبزینه بدهکار است؛ سامانه این سند را می‌زند:</a:t>
            </a:r>
            <a:endParaRPr lang="en-US" sz="1500" dirty="0"/>
          </a:p>
        </p:txBody>
      </p:sp>
      <p:graphicFrame>
        <p:nvGraphicFramePr>
          <p:cNvPr id="139"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هزینهٔ خدمات قراردادی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مرکز هزینه: ادارهٔ پشتیبانی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۲۰۰,۰۰۰,۰۰۰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اعتبار مالیات بر ارزش افزوده</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ارزش افزودهٔ فاکتور سبزینه</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۲۰,۰۰۰,۰۰۰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۳</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بستانکاران تجاری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ذی‌نفع: شرکت سبزینه — خالص قابل پرداخت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۲۱۰,۰۰۰,۰۰۰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۴</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کسور بیمهٔ قراردادها</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کسر ۵٪ تا ارائهٔ مفاصاحساب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۱۰,۰۰۰,۰۰۰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۲۲۰,۰۰۰,۰۰۰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۲۲۰,۰۰۰,۰۰۰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4668012"/>
            <a:ext cx="11365992" cy="720090"/>
          </a:xfrm>
          <a:prstGeom prst="roundRect">
            <a:avLst>
              <a:gd name="adj" fmla="val 10159"/>
            </a:avLst>
          </a:prstGeom>
          <a:solidFill>
            <a:srgbClr val="F6EDCF"/>
          </a:solidFill>
          <a:ln w="9525">
            <a:solidFill>
              <a:srgbClr val="C9A227"/>
            </a:solidFill>
            <a:prstDash val="solid"/>
          </a:ln>
        </p:spPr>
      </p:sp>
      <p:sp>
        <p:nvSpPr>
          <p:cNvPr id="7" name="Text 4"/>
          <p:cNvSpPr/>
          <p:nvPr/>
        </p:nvSpPr>
        <p:spPr>
          <a:xfrm>
            <a:off x="10863072" y="4668012"/>
            <a:ext cx="822960" cy="72009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8" name="Text 5"/>
          <p:cNvSpPr/>
          <p:nvPr/>
        </p:nvSpPr>
        <p:spPr>
          <a:xfrm>
            <a:off x="548640" y="4668012"/>
            <a:ext cx="10241280" cy="72009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هزینه و اعتبار مالیاتی «بدهکار» می‌شوند (چیزی گرفتیم). «بستانکاران» یعنی بدهی ما به ذی‌نفع؛ کسور بیمه هم بدهی است که فعلاً نگه می‌داریم.</a:t>
            </a:r>
            <a:endParaRPr lang="en-US" sz="1250" dirty="0"/>
          </a:p>
        </p:txBody>
      </p:sp>
      <p:sp>
        <p:nvSpPr>
          <p:cNvPr id="9" name="Text 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۱۳۸</a:t>
            </a:r>
            <a:endParaRPr lang="en-US" sz="1000" dirty="0"/>
          </a:p>
        </p:txBody>
      </p:sp>
      <p:sp>
        <p:nvSpPr>
          <p:cNvPr id="10" name="Text 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۴ — اجرای پرداخت (خزانه‌دار)</a:t>
            </a:r>
            <a:endParaRPr lang="en-US" sz="2500" dirty="0"/>
          </a:p>
        </p:txBody>
      </p:sp>
      <p:sp>
        <p:nvSpPr>
          <p:cNvPr id="3" name="Shape 1"/>
          <p:cNvSpPr/>
          <p:nvPr/>
        </p:nvSpPr>
        <p:spPr>
          <a:xfrm>
            <a:off x="8494776" y="896112"/>
            <a:ext cx="328269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604504" y="896112"/>
            <a:ext cx="306324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اجرای پرداخت</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فهرست آمادهٔ اجرا و معلق</a:t>
            </a:r>
            <a:endParaRPr lang="en-US" sz="1200" dirty="0"/>
          </a:p>
        </p:txBody>
      </p:sp>
      <p:sp>
        <p:nvSpPr>
          <p:cNvPr id="6" name="Shape 4"/>
          <p:cNvSpPr/>
          <p:nvPr/>
        </p:nvSpPr>
        <p:spPr>
          <a:xfrm>
            <a:off x="6208776" y="1618488"/>
            <a:ext cx="5568696" cy="3261893"/>
          </a:xfrm>
          <a:prstGeom prst="roundRect">
            <a:avLst>
              <a:gd name="adj" fmla="val 224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tr08">    </p:cNvPr>
          <p:cNvPicPr>
            <a:picLocks noChangeAspect="1"/>
          </p:cNvPicPr>
          <p:nvPr/>
        </p:nvPicPr>
        <p:blipFill>
          <a:blip r:embed="rId1"/>
          <a:stretch>
            <a:fillRect/>
          </a:stretch>
        </p:blipFill>
        <p:spPr>
          <a:xfrm>
            <a:off x="6640768" y="1664208"/>
            <a:ext cx="4704712" cy="3170453"/>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دیالوگ ثبت اجرا</a:t>
            </a:r>
            <a:endParaRPr lang="en-US" sz="1200" dirty="0"/>
          </a:p>
        </p:txBody>
      </p:sp>
      <p:sp>
        <p:nvSpPr>
          <p:cNvPr id="9" name="Shape 6"/>
          <p:cNvSpPr/>
          <p:nvPr/>
        </p:nvSpPr>
        <p:spPr>
          <a:xfrm>
            <a:off x="411480" y="1618488"/>
            <a:ext cx="5568696" cy="3261893"/>
          </a:xfrm>
          <a:prstGeom prst="roundRect">
            <a:avLst>
              <a:gd name="adj" fmla="val 224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tr09">    </p:cNvPr>
          <p:cNvPicPr>
            <a:picLocks noChangeAspect="1"/>
          </p:cNvPicPr>
          <p:nvPr/>
        </p:nvPicPr>
        <p:blipFill>
          <a:blip r:embed="rId2"/>
          <a:stretch>
            <a:fillRect/>
          </a:stretch>
        </p:blipFill>
        <p:spPr>
          <a:xfrm>
            <a:off x="1043937" y="1664208"/>
            <a:ext cx="4303783" cy="3170453"/>
          </a:xfrm>
          <a:prstGeom prst="rect">
            <a:avLst/>
          </a:prstGeom>
        </p:spPr>
      </p:pic>
      <p:sp>
        <p:nvSpPr>
          <p:cNvPr id="11" name="Shape 7"/>
          <p:cNvSpPr/>
          <p:nvPr/>
        </p:nvSpPr>
        <p:spPr>
          <a:xfrm>
            <a:off x="9038844" y="5063261"/>
            <a:ext cx="2738628" cy="1291819"/>
          </a:xfrm>
          <a:prstGeom prst="roundRect">
            <a:avLst>
              <a:gd name="adj" fmla="val 5663"/>
            </a:avLst>
          </a:prstGeom>
          <a:solidFill>
            <a:srgbClr val="FFFFFF"/>
          </a:solidFill>
          <a:ln w="6350">
            <a:solidFill>
              <a:srgbClr val="D9DEE7"/>
            </a:solidFill>
            <a:prstDash val="solid"/>
          </a:ln>
        </p:spPr>
      </p:sp>
      <p:sp>
        <p:nvSpPr>
          <p:cNvPr id="12" name="Shape 8"/>
          <p:cNvSpPr/>
          <p:nvPr/>
        </p:nvSpPr>
        <p:spPr>
          <a:xfrm>
            <a:off x="11356848" y="5154701"/>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515470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5136413"/>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پرداخت در بانک</a:t>
            </a:r>
            <a:endParaRPr lang="en-US" sz="1300" dirty="0"/>
          </a:p>
        </p:txBody>
      </p:sp>
      <p:sp>
        <p:nvSpPr>
          <p:cNvPr id="15" name="Text 11"/>
          <p:cNvSpPr/>
          <p:nvPr/>
        </p:nvSpPr>
        <p:spPr>
          <a:xfrm>
            <a:off x="9148572" y="5538749"/>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خزانه‌دار ابتدا وجه را در سامانهٔ بانک پرداخت می‌کند.</a:t>
            </a:r>
            <a:endParaRPr lang="en-US" sz="1150" dirty="0"/>
          </a:p>
        </p:txBody>
      </p:sp>
      <p:sp>
        <p:nvSpPr>
          <p:cNvPr id="16" name="Shape 12"/>
          <p:cNvSpPr/>
          <p:nvPr/>
        </p:nvSpPr>
        <p:spPr>
          <a:xfrm>
            <a:off x="6163056" y="5063261"/>
            <a:ext cx="2738628" cy="1291819"/>
          </a:xfrm>
          <a:prstGeom prst="roundRect">
            <a:avLst>
              <a:gd name="adj" fmla="val 5663"/>
            </a:avLst>
          </a:prstGeom>
          <a:solidFill>
            <a:srgbClr val="FFFFFF"/>
          </a:solidFill>
          <a:ln w="6350">
            <a:solidFill>
              <a:srgbClr val="D9DEE7"/>
            </a:solidFill>
            <a:prstDash val="solid"/>
          </a:ln>
        </p:spPr>
      </p:sp>
      <p:sp>
        <p:nvSpPr>
          <p:cNvPr id="17" name="Shape 13"/>
          <p:cNvSpPr/>
          <p:nvPr/>
        </p:nvSpPr>
        <p:spPr>
          <a:xfrm>
            <a:off x="8481060" y="5154701"/>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515470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5136413"/>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ثبت اجرا</a:t>
            </a:r>
            <a:endParaRPr lang="en-US" sz="1300" dirty="0"/>
          </a:p>
        </p:txBody>
      </p:sp>
      <p:sp>
        <p:nvSpPr>
          <p:cNvPr id="20" name="Text 16"/>
          <p:cNvSpPr/>
          <p:nvPr/>
        </p:nvSpPr>
        <p:spPr>
          <a:xfrm>
            <a:off x="6272784" y="5538749"/>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شمارهٔ پیگیری بانک، تاریخ، شبای مقصد و روش را وارد و «اجرای پرداخت» کنید.</a:t>
            </a:r>
            <a:endParaRPr lang="en-US" sz="1150" dirty="0"/>
          </a:p>
        </p:txBody>
      </p:sp>
      <p:sp>
        <p:nvSpPr>
          <p:cNvPr id="21" name="Shape 17"/>
          <p:cNvSpPr/>
          <p:nvPr/>
        </p:nvSpPr>
        <p:spPr>
          <a:xfrm>
            <a:off x="3287268" y="5063261"/>
            <a:ext cx="2738628" cy="1291819"/>
          </a:xfrm>
          <a:prstGeom prst="roundRect">
            <a:avLst>
              <a:gd name="adj" fmla="val 5663"/>
            </a:avLst>
          </a:prstGeom>
          <a:solidFill>
            <a:srgbClr val="FFFFFF"/>
          </a:solidFill>
          <a:ln w="6350">
            <a:solidFill>
              <a:srgbClr val="D9DEE7"/>
            </a:solidFill>
            <a:prstDash val="solid"/>
          </a:ln>
        </p:spPr>
      </p:sp>
      <p:sp>
        <p:nvSpPr>
          <p:cNvPr id="22" name="Shape 18"/>
          <p:cNvSpPr/>
          <p:nvPr/>
        </p:nvSpPr>
        <p:spPr>
          <a:xfrm>
            <a:off x="5605272" y="5154701"/>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515470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5136413"/>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نتیجه</a:t>
            </a:r>
            <a:endParaRPr lang="en-US" sz="1300" dirty="0"/>
          </a:p>
        </p:txBody>
      </p:sp>
      <p:sp>
        <p:nvSpPr>
          <p:cNvPr id="25" name="Text 21"/>
          <p:cNvSpPr/>
          <p:nvPr/>
        </p:nvSpPr>
        <p:spPr>
          <a:xfrm>
            <a:off x="3396996" y="5538749"/>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سند «پرداخت» موقت صادر و وضعیت «پرداخت شد» می‌شود؛ این کار قطعی است.</a:t>
            </a:r>
            <a:endParaRPr lang="en-US" sz="1150" dirty="0"/>
          </a:p>
        </p:txBody>
      </p:sp>
      <p:sp>
        <p:nvSpPr>
          <p:cNvPr id="26" name="Shape 22"/>
          <p:cNvSpPr/>
          <p:nvPr/>
        </p:nvSpPr>
        <p:spPr>
          <a:xfrm>
            <a:off x="411480" y="5063261"/>
            <a:ext cx="2738628" cy="1291819"/>
          </a:xfrm>
          <a:prstGeom prst="roundRect">
            <a:avLst>
              <a:gd name="adj" fmla="val 5663"/>
            </a:avLst>
          </a:prstGeom>
          <a:solidFill>
            <a:srgbClr val="FFFFFF"/>
          </a:solidFill>
          <a:ln w="6350">
            <a:solidFill>
              <a:srgbClr val="D9DEE7"/>
            </a:solidFill>
            <a:prstDash val="solid"/>
          </a:ln>
        </p:spPr>
      </p:sp>
      <p:sp>
        <p:nvSpPr>
          <p:cNvPr id="27" name="Shape 23"/>
          <p:cNvSpPr/>
          <p:nvPr/>
        </p:nvSpPr>
        <p:spPr>
          <a:xfrm>
            <a:off x="2729484" y="5154701"/>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515470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5136413"/>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تعلیق</a:t>
            </a:r>
            <a:endParaRPr lang="en-US" sz="1300" dirty="0"/>
          </a:p>
        </p:txBody>
      </p:sp>
      <p:sp>
        <p:nvSpPr>
          <p:cNvPr id="30" name="Text 26"/>
          <p:cNvSpPr/>
          <p:nvPr/>
        </p:nvSpPr>
        <p:spPr>
          <a:xfrm>
            <a:off x="521208" y="5538749"/>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با دلیل، درخواست را معلق و بعداً «رفع تعلیق» کنید.</a:t>
            </a:r>
            <a:endParaRPr lang="en-US" sz="1150" dirty="0"/>
          </a:p>
        </p:txBody>
      </p:sp>
      <p:sp>
        <p:nvSpPr>
          <p:cNvPr id="31"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۱۳۹</a:t>
            </a:r>
            <a:endParaRPr lang="en-US" sz="1000" dirty="0"/>
          </a:p>
        </p:txBody>
      </p:sp>
      <p:sp>
        <p:nvSpPr>
          <p:cNvPr id="32"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۲ — پرداخت (هنگام اجرا)</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نرگس توکلی (خزانه‌دار) ۲۱۰,۰۰۰,۰۰۰ ریال را با ساتنا از بانک ملی به حساب سبزینه واریز و اجرا را ثبت کرد. بدهی ما صاف و موجودی بانک کم می‌شود:</a:t>
            </a:r>
            <a:endParaRPr lang="en-US" sz="1500" dirty="0"/>
          </a:p>
        </p:txBody>
      </p:sp>
      <p:graphicFrame>
        <p:nvGraphicFramePr>
          <p:cNvPr id="141"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بستانکاران تجاری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ذی‌نفع: شرکت سبزینه — تسویهٔ بدهی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۲۱۰,۰۰۰,۰۰۰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بانک‌ها — حساب جاری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بانک ملی — جاری مرکزی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۲۱۰,۰۰۰,۰۰۰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۲۱۰,۰۰۰,۰۰۰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۲۱۰,۰۰۰,۰۰۰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3899916"/>
            <a:ext cx="11365992" cy="720090"/>
          </a:xfrm>
          <a:prstGeom prst="roundRect">
            <a:avLst>
              <a:gd name="adj" fmla="val 10159"/>
            </a:avLst>
          </a:prstGeom>
          <a:solidFill>
            <a:srgbClr val="F6EDCF"/>
          </a:solidFill>
          <a:ln w="9525">
            <a:solidFill>
              <a:srgbClr val="C9A227"/>
            </a:solidFill>
            <a:prstDash val="solid"/>
          </a:ln>
        </p:spPr>
      </p:sp>
      <p:sp>
        <p:nvSpPr>
          <p:cNvPr id="7" name="Text 4"/>
          <p:cNvSpPr/>
          <p:nvPr/>
        </p:nvSpPr>
        <p:spPr>
          <a:xfrm>
            <a:off x="10863072" y="3899916"/>
            <a:ext cx="822960" cy="72009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8" name="Text 5"/>
          <p:cNvSpPr/>
          <p:nvPr/>
        </p:nvSpPr>
        <p:spPr>
          <a:xfrm>
            <a:off x="548640" y="3899916"/>
            <a:ext cx="10241280" cy="72009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بدهی (بستانکاران) با بدهکار کردنش صفر می‌شود و بانک بستانکار می‌شود چون پول از آن خارج شد. ۱۰ میلیون کسور بیمه تا مفاصاحساب در حساب کسور می‌ماند.</a:t>
            </a:r>
            <a:endParaRPr lang="en-US" sz="1250" dirty="0"/>
          </a:p>
        </p:txBody>
      </p:sp>
      <p:sp>
        <p:nvSpPr>
          <p:cNvPr id="9" name="Text 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۱۴۰</a:t>
            </a:r>
            <a:endParaRPr lang="en-US" sz="1000" dirty="0"/>
          </a:p>
        </p:txBody>
      </p:sp>
      <p:sp>
        <p:nvSpPr>
          <p:cNvPr id="10" name="Text 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دیدن اسناد حسابداری یک درخواست</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tr06b">    </p:cNvPr>
          <p:cNvPicPr>
            <a:picLocks noChangeAspect="1"/>
          </p:cNvPicPr>
          <p:nvPr/>
        </p:nvPicPr>
        <p:blipFill>
          <a:blip r:embed="rId1"/>
          <a:stretch>
            <a:fillRect/>
          </a:stretch>
        </p:blipFill>
        <p:spPr>
          <a:xfrm>
            <a:off x="600538" y="1216152"/>
            <a:ext cx="6845643" cy="5065776"/>
          </a:xfrm>
          <a:prstGeom prst="rect">
            <a:avLst/>
          </a:prstGeom>
        </p:spPr>
      </p:pic>
      <p:sp>
        <p:nvSpPr>
          <p:cNvPr id="5" name="Shape 2"/>
          <p:cNvSpPr/>
          <p:nvPr/>
        </p:nvSpPr>
        <p:spPr>
          <a:xfrm>
            <a:off x="7909560" y="5451653"/>
            <a:ext cx="3867912" cy="903427"/>
          </a:xfrm>
          <a:prstGeom prst="roundRect">
            <a:avLst>
              <a:gd name="adj" fmla="val 8097"/>
            </a:avLst>
          </a:prstGeom>
          <a:solidFill>
            <a:srgbClr val="F6EDCF"/>
          </a:solidFill>
          <a:ln w="9525">
            <a:solidFill>
              <a:srgbClr val="C9A227"/>
            </a:solidFill>
            <a:prstDash val="solid"/>
          </a:ln>
        </p:spPr>
      </p:sp>
      <p:sp>
        <p:nvSpPr>
          <p:cNvPr id="6" name="Text 3"/>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7" name="Text 4"/>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سند موقت هنوز قابل بررسی و اصلاح است؛ سند قطعی (دائم) دیگر تغییر نمی‌کند.</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کجا؟</a:t>
            </a:r>
            <a:endParaRPr lang="en-US" sz="1350" dirty="0"/>
          </a:p>
        </p:txBody>
      </p:sp>
      <p:sp>
        <p:nvSpPr>
          <p:cNvPr id="11" name="Text 8"/>
          <p:cNvSpPr/>
          <p:nvPr/>
        </p:nvSpPr>
        <p:spPr>
          <a:xfrm>
            <a:off x="7909560" y="151790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پایین صفحهٔ هر درخواست پرداخت، پنل «اسناد حسابداری».</a:t>
            </a:r>
            <a:endParaRPr lang="en-US" sz="1300" dirty="0"/>
          </a:p>
        </p:txBody>
      </p:sp>
      <p:sp>
        <p:nvSpPr>
          <p:cNvPr id="12" name="Shape 9"/>
          <p:cNvSpPr/>
          <p:nvPr/>
        </p:nvSpPr>
        <p:spPr>
          <a:xfrm>
            <a:off x="11411712" y="2091233"/>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0912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09123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سند شناسایی بدهی</a:t>
            </a:r>
            <a:endParaRPr lang="en-US" sz="1350" dirty="0"/>
          </a:p>
        </p:txBody>
      </p:sp>
      <p:sp>
        <p:nvSpPr>
          <p:cNvPr id="15" name="Text 12"/>
          <p:cNvSpPr/>
          <p:nvPr/>
        </p:nvSpPr>
        <p:spPr>
          <a:xfrm>
            <a:off x="7909560" y="242041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شمارهٔ سند، تاریخ، ردیف‌ها با تفصیلی و برچسب «متوازن».</a:t>
            </a:r>
            <a:endParaRPr lang="en-US" sz="1300" dirty="0"/>
          </a:p>
        </p:txBody>
      </p:sp>
      <p:sp>
        <p:nvSpPr>
          <p:cNvPr id="16" name="Shape 13"/>
          <p:cNvSpPr/>
          <p:nvPr/>
        </p:nvSpPr>
        <p:spPr>
          <a:xfrm>
            <a:off x="11411712" y="2993746"/>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29937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29937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سند پرداخت</a:t>
            </a:r>
            <a:endParaRPr lang="en-US" sz="1350" dirty="0"/>
          </a:p>
        </p:txBody>
      </p:sp>
      <p:sp>
        <p:nvSpPr>
          <p:cNvPr id="19" name="Text 16"/>
          <p:cNvSpPr/>
          <p:nvPr/>
        </p:nvSpPr>
        <p:spPr>
          <a:xfrm>
            <a:off x="7909560" y="332293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پس از اجرا اضافه می‌شود؛ کد دریافت/پرداخت (Legacy) هم بالای پنل می‌آید.</a:t>
            </a:r>
            <a:endParaRPr lang="en-US" sz="1300" dirty="0"/>
          </a:p>
        </p:txBody>
      </p:sp>
      <p:sp>
        <p:nvSpPr>
          <p:cNvPr id="20" name="Shape 17"/>
          <p:cNvSpPr/>
          <p:nvPr/>
        </p:nvSpPr>
        <p:spPr>
          <a:xfrm>
            <a:off x="11411712" y="3896258"/>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389625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389625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وضعیت</a:t>
            </a:r>
            <a:endParaRPr lang="en-US" sz="1350" dirty="0"/>
          </a:p>
        </p:txBody>
      </p:sp>
      <p:sp>
        <p:nvSpPr>
          <p:cNvPr id="23" name="Text 20"/>
          <p:cNvSpPr/>
          <p:nvPr/>
        </p:nvSpPr>
        <p:spPr>
          <a:xfrm>
            <a:off x="7909560" y="4225442"/>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دو سند «موقت»اند و در کارتابل اسناد قطعی می‌شوند.</a:t>
            </a:r>
            <a:endParaRPr lang="en-US" sz="1300" dirty="0"/>
          </a:p>
        </p:txBody>
      </p:sp>
      <p:sp>
        <p:nvSpPr>
          <p:cNvPr id="24" name="Text 2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۱۴۱</a:t>
            </a:r>
            <a:endParaRPr lang="en-US" sz="1000" dirty="0"/>
          </a:p>
        </p:txBody>
      </p:sp>
      <p:sp>
        <p:nvSpPr>
          <p:cNvPr id="25" name="Text 2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۵ — دریافت و انتقال وجه</a:t>
            </a:r>
            <a:endParaRPr lang="en-US" sz="2500" dirty="0"/>
          </a:p>
        </p:txBody>
      </p:sp>
      <p:sp>
        <p:nvSpPr>
          <p:cNvPr id="3" name="Shape 1"/>
          <p:cNvSpPr/>
          <p:nvPr/>
        </p:nvSpPr>
        <p:spPr>
          <a:xfrm>
            <a:off x="8261604" y="896112"/>
            <a:ext cx="351586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371332" y="896112"/>
            <a:ext cx="329641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دریافت و انتقال</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tr10">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RCV-000118: کارفرما شرکت فولاد البرز ۱,۸۴۵,۰۰۰,۰۰۰ ریال حق بیمهٔ معوق را واریز کرده و ثبت شده است.</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دو زبانه</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«دریافت وجه» از مشتریان/کارفرمایان و «انتقال وجه» بین حساب‌های بانکی همین واحد.</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وضعیت دریافت</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پیش‌نویس ← ثبت‌شده (فقط خزانه‌دار) یا لغوشده.</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وضعیت انتقال</a:t>
            </a:r>
            <a:endParaRPr lang="en-US" sz="1350" dirty="0"/>
          </a:p>
        </p:txBody>
      </p:sp>
      <p:sp>
        <p:nvSpPr>
          <p:cNvPr id="21" name="Text 18"/>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پیش‌نویس ← در انتظار تأیید خزانه‌دار ← انجام‌شده؛ یا برگشتی/ردشده.</a:t>
            </a:r>
            <a:endParaRPr lang="en-US" sz="130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۱۴۲</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۶ — ثبت دریافت وجه</a:t>
            </a:r>
            <a:endParaRPr lang="en-US" sz="2500" dirty="0"/>
          </a:p>
        </p:txBody>
      </p:sp>
      <p:sp>
        <p:nvSpPr>
          <p:cNvPr id="3" name="Text 1"/>
          <p:cNvSpPr/>
          <p:nvPr/>
        </p:nvSpPr>
        <p:spPr>
          <a:xfrm>
            <a:off x="6208776"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فرم دریافت جدید</a:t>
            </a:r>
            <a:endParaRPr lang="en-US" sz="1200" dirty="0"/>
          </a:p>
        </p:txBody>
      </p:sp>
      <p:sp>
        <p:nvSpPr>
          <p:cNvPr id="4" name="Shape 2"/>
          <p:cNvSpPr/>
          <p:nvPr/>
        </p:nvSpPr>
        <p:spPr>
          <a:xfrm>
            <a:off x="6208776" y="1435608"/>
            <a:ext cx="5568696" cy="3649828"/>
          </a:xfrm>
          <a:prstGeom prst="roundRect">
            <a:avLst>
              <a:gd name="adj" fmla="val 20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5" name="Image 0" descr="tr11">    </p:cNvPr>
          <p:cNvPicPr>
            <a:picLocks noChangeAspect="1"/>
          </p:cNvPicPr>
          <p:nvPr/>
        </p:nvPicPr>
        <p:blipFill>
          <a:blip r:embed="rId1"/>
          <a:stretch>
            <a:fillRect/>
          </a:stretch>
        </p:blipFill>
        <p:spPr>
          <a:xfrm>
            <a:off x="6588808" y="1481328"/>
            <a:ext cx="4808632" cy="3558388"/>
          </a:xfrm>
          <a:prstGeom prst="rect">
            <a:avLst/>
          </a:prstGeom>
        </p:spPr>
      </p:pic>
      <p:sp>
        <p:nvSpPr>
          <p:cNvPr id="6" name="Text 3"/>
          <p:cNvSpPr/>
          <p:nvPr/>
        </p:nvSpPr>
        <p:spPr>
          <a:xfrm>
            <a:off x="411480"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دریافت ثبت‌شده و سند آن</a:t>
            </a:r>
            <a:endParaRPr lang="en-US" sz="1200" dirty="0"/>
          </a:p>
        </p:txBody>
      </p:sp>
      <p:sp>
        <p:nvSpPr>
          <p:cNvPr id="7" name="Shape 4"/>
          <p:cNvSpPr/>
          <p:nvPr/>
        </p:nvSpPr>
        <p:spPr>
          <a:xfrm>
            <a:off x="411480" y="1435608"/>
            <a:ext cx="5568696" cy="3649828"/>
          </a:xfrm>
          <a:prstGeom prst="roundRect">
            <a:avLst>
              <a:gd name="adj" fmla="val 20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8" name="Image 1" descr="tr12">    </p:cNvPr>
          <p:cNvPicPr>
            <a:picLocks noChangeAspect="1"/>
          </p:cNvPicPr>
          <p:nvPr/>
        </p:nvPicPr>
        <p:blipFill>
          <a:blip r:embed="rId2"/>
          <a:stretch>
            <a:fillRect/>
          </a:stretch>
        </p:blipFill>
        <p:spPr>
          <a:xfrm>
            <a:off x="791512" y="1481328"/>
            <a:ext cx="4808632" cy="3558388"/>
          </a:xfrm>
          <a:prstGeom prst="rect">
            <a:avLst/>
          </a:prstGeom>
        </p:spPr>
      </p:pic>
      <p:sp>
        <p:nvSpPr>
          <p:cNvPr id="9" name="Shape 5"/>
          <p:cNvSpPr/>
          <p:nvPr/>
        </p:nvSpPr>
        <p:spPr>
          <a:xfrm>
            <a:off x="8080248" y="5268316"/>
            <a:ext cx="3697224" cy="1086764"/>
          </a:xfrm>
          <a:prstGeom prst="roundRect">
            <a:avLst>
              <a:gd name="adj" fmla="val 6731"/>
            </a:avLst>
          </a:prstGeom>
          <a:solidFill>
            <a:srgbClr val="FFFFFF"/>
          </a:solidFill>
          <a:ln w="6350">
            <a:solidFill>
              <a:srgbClr val="D9DEE7"/>
            </a:solidFill>
            <a:prstDash val="solid"/>
          </a:ln>
        </p:spPr>
      </p:sp>
      <p:sp>
        <p:nvSpPr>
          <p:cNvPr id="10" name="Shape 6"/>
          <p:cNvSpPr/>
          <p:nvPr/>
        </p:nvSpPr>
        <p:spPr>
          <a:xfrm>
            <a:off x="11356848" y="5359756"/>
            <a:ext cx="329184" cy="329184"/>
          </a:xfrm>
          <a:prstGeom prst="ellipse">
            <a:avLst/>
          </a:prstGeom>
          <a:solidFill>
            <a:srgbClr val="C9A227"/>
          </a:solidFill>
          <a:ln w="12700">
            <a:solidFill>
              <a:srgbClr val="C9A227"/>
            </a:solidFill>
            <a:prstDash val="solid"/>
          </a:ln>
        </p:spPr>
      </p:sp>
      <p:sp>
        <p:nvSpPr>
          <p:cNvPr id="11" name="Text 7"/>
          <p:cNvSpPr/>
          <p:nvPr/>
        </p:nvSpPr>
        <p:spPr>
          <a:xfrm>
            <a:off x="11356848" y="535975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8"/>
          <p:cNvSpPr/>
          <p:nvPr/>
        </p:nvSpPr>
        <p:spPr>
          <a:xfrm>
            <a:off x="8171688" y="5341468"/>
            <a:ext cx="3130296"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پرداخت‌کننده</a:t>
            </a:r>
            <a:endParaRPr lang="en-US" sz="1300" dirty="0"/>
          </a:p>
        </p:txBody>
      </p:sp>
      <p:sp>
        <p:nvSpPr>
          <p:cNvPr id="13" name="Text 9"/>
          <p:cNvSpPr/>
          <p:nvPr/>
        </p:nvSpPr>
        <p:spPr>
          <a:xfrm>
            <a:off x="8189976" y="5743804"/>
            <a:ext cx="3477768"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تفصیلی مشتری از گروه تفصیلی مشتریان (الزامی).</a:t>
            </a:r>
            <a:endParaRPr lang="en-US" sz="1150" dirty="0"/>
          </a:p>
        </p:txBody>
      </p:sp>
      <p:sp>
        <p:nvSpPr>
          <p:cNvPr id="14" name="Shape 10"/>
          <p:cNvSpPr/>
          <p:nvPr/>
        </p:nvSpPr>
        <p:spPr>
          <a:xfrm>
            <a:off x="4245864" y="5268316"/>
            <a:ext cx="3697224" cy="1086764"/>
          </a:xfrm>
          <a:prstGeom prst="roundRect">
            <a:avLst>
              <a:gd name="adj" fmla="val 6731"/>
            </a:avLst>
          </a:prstGeom>
          <a:solidFill>
            <a:srgbClr val="FFFFFF"/>
          </a:solidFill>
          <a:ln w="6350">
            <a:solidFill>
              <a:srgbClr val="D9DEE7"/>
            </a:solidFill>
            <a:prstDash val="solid"/>
          </a:ln>
        </p:spPr>
      </p:sp>
      <p:sp>
        <p:nvSpPr>
          <p:cNvPr id="15" name="Shape 11"/>
          <p:cNvSpPr/>
          <p:nvPr/>
        </p:nvSpPr>
        <p:spPr>
          <a:xfrm>
            <a:off x="7522464" y="5359756"/>
            <a:ext cx="329184" cy="329184"/>
          </a:xfrm>
          <a:prstGeom prst="ellipse">
            <a:avLst/>
          </a:prstGeom>
          <a:solidFill>
            <a:srgbClr val="C9A227"/>
          </a:solidFill>
          <a:ln w="12700">
            <a:solidFill>
              <a:srgbClr val="C9A227"/>
            </a:solidFill>
            <a:prstDash val="solid"/>
          </a:ln>
        </p:spPr>
      </p:sp>
      <p:sp>
        <p:nvSpPr>
          <p:cNvPr id="16" name="Text 12"/>
          <p:cNvSpPr/>
          <p:nvPr/>
        </p:nvSpPr>
        <p:spPr>
          <a:xfrm>
            <a:off x="7522464" y="535975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7" name="Text 13"/>
          <p:cNvSpPr/>
          <p:nvPr/>
        </p:nvSpPr>
        <p:spPr>
          <a:xfrm>
            <a:off x="4337304" y="5341468"/>
            <a:ext cx="3130296"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مبلغ و حساب</a:t>
            </a:r>
            <a:endParaRPr lang="en-US" sz="1300" dirty="0"/>
          </a:p>
        </p:txBody>
      </p:sp>
      <p:sp>
        <p:nvSpPr>
          <p:cNvPr id="18" name="Text 14"/>
          <p:cNvSpPr/>
          <p:nvPr/>
        </p:nvSpPr>
        <p:spPr>
          <a:xfrm>
            <a:off x="4355592" y="5743804"/>
            <a:ext cx="3477768"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مبلغ، حساب بانکی مقصد، روش، تاریخ و شمارهٔ پیگیری بانک (تکراری پذیرفته نمی‌شود).</a:t>
            </a:r>
            <a:endParaRPr lang="en-US" sz="1150" dirty="0"/>
          </a:p>
        </p:txBody>
      </p:sp>
      <p:sp>
        <p:nvSpPr>
          <p:cNvPr id="19" name="Shape 15"/>
          <p:cNvSpPr/>
          <p:nvPr/>
        </p:nvSpPr>
        <p:spPr>
          <a:xfrm>
            <a:off x="411480" y="5268316"/>
            <a:ext cx="3697224" cy="1086764"/>
          </a:xfrm>
          <a:prstGeom prst="roundRect">
            <a:avLst>
              <a:gd name="adj" fmla="val 6731"/>
            </a:avLst>
          </a:prstGeom>
          <a:solidFill>
            <a:srgbClr val="FFFFFF"/>
          </a:solidFill>
          <a:ln w="6350">
            <a:solidFill>
              <a:srgbClr val="D9DEE7"/>
            </a:solidFill>
            <a:prstDash val="solid"/>
          </a:ln>
        </p:spPr>
      </p:sp>
      <p:sp>
        <p:nvSpPr>
          <p:cNvPr id="20" name="Shape 16"/>
          <p:cNvSpPr/>
          <p:nvPr/>
        </p:nvSpPr>
        <p:spPr>
          <a:xfrm>
            <a:off x="3688080" y="5359756"/>
            <a:ext cx="329184" cy="329184"/>
          </a:xfrm>
          <a:prstGeom prst="ellipse">
            <a:avLst/>
          </a:prstGeom>
          <a:solidFill>
            <a:srgbClr val="C9A227"/>
          </a:solidFill>
          <a:ln w="12700">
            <a:solidFill>
              <a:srgbClr val="C9A227"/>
            </a:solidFill>
            <a:prstDash val="solid"/>
          </a:ln>
        </p:spPr>
      </p:sp>
      <p:sp>
        <p:nvSpPr>
          <p:cNvPr id="21" name="Text 17"/>
          <p:cNvSpPr/>
          <p:nvPr/>
        </p:nvSpPr>
        <p:spPr>
          <a:xfrm>
            <a:off x="3688080" y="535975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2" name="Text 18"/>
          <p:cNvSpPr/>
          <p:nvPr/>
        </p:nvSpPr>
        <p:spPr>
          <a:xfrm>
            <a:off x="502920" y="5341468"/>
            <a:ext cx="3130296"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ثبت</a:t>
            </a:r>
            <a:endParaRPr lang="en-US" sz="1300" dirty="0"/>
          </a:p>
        </p:txBody>
      </p:sp>
      <p:sp>
        <p:nvSpPr>
          <p:cNvPr id="23" name="Text 19"/>
          <p:cNvSpPr/>
          <p:nvPr/>
        </p:nvSpPr>
        <p:spPr>
          <a:xfrm>
            <a:off x="521208" y="5743804"/>
            <a:ext cx="3477768"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خزانه‌دار «ثبت» را می‌زند ⇐ سند دریافت موقت صادر می‌شود.</a:t>
            </a:r>
            <a:endParaRPr lang="en-US" sz="1150" dirty="0"/>
          </a:p>
        </p:txBody>
      </p:sp>
      <p:sp>
        <p:nvSpPr>
          <p:cNvPr id="24" name="Text 2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۱۴۳</a:t>
            </a:r>
            <a:endParaRPr lang="en-US" sz="1000" dirty="0"/>
          </a:p>
        </p:txBody>
      </p:sp>
      <p:sp>
        <p:nvSpPr>
          <p:cNvPr id="25" name="Text 2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دریافت وجه</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فولاد البرز ۱,۸۴۵,۰۰۰,۰۰۰ ریال حق بیمهٔ معوق شهریور را با ساتنا به حساب درآمد بانک رفاه واریز کرد. با «ثبت» خزانه‌دار این سند صادر می‌شود:</a:t>
            </a:r>
            <a:endParaRPr lang="en-US" sz="1500" dirty="0"/>
          </a:p>
        </p:txBody>
      </p:sp>
      <p:graphicFrame>
        <p:nvGraphicFramePr>
          <p:cNvPr id="145"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بانک‌ها — حساب جاری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بانک رفاه — حساب درآمد</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۱,۸۴۵,۰۰۰,۰۰۰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حساب‌های دریافتنی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مشتری: شرکت فولاد البرز (کارفرما)</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۱,۸۴۵,۰۰۰,۰۰۰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۱,۸۴۵,۰۰۰,۰۰۰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۱,۸۴۵,۰۰۰,۰۰۰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3899916"/>
            <a:ext cx="11365992" cy="640080"/>
          </a:xfrm>
          <a:prstGeom prst="roundRect">
            <a:avLst>
              <a:gd name="adj" fmla="val 11429"/>
            </a:avLst>
          </a:prstGeom>
          <a:solidFill>
            <a:srgbClr val="F6EDCF"/>
          </a:solidFill>
          <a:ln w="9525">
            <a:solidFill>
              <a:srgbClr val="C9A227"/>
            </a:solidFill>
            <a:prstDash val="solid"/>
          </a:ln>
        </p:spPr>
      </p:sp>
      <p:sp>
        <p:nvSpPr>
          <p:cNvPr id="7" name="Text 4"/>
          <p:cNvSpPr/>
          <p:nvPr/>
        </p:nvSpPr>
        <p:spPr>
          <a:xfrm>
            <a:off x="10863072" y="3899916"/>
            <a:ext cx="822960" cy="64008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8" name="Text 5"/>
          <p:cNvSpPr/>
          <p:nvPr/>
        </p:nvSpPr>
        <p:spPr>
          <a:xfrm>
            <a:off x="548640" y="3899916"/>
            <a:ext cx="10241280" cy="64008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پول به بانک آمد پس بانک بدهکار است؛ طلب ما از کارفرما به همین اندازه کم شد پس حساب دریافتنی بستانکار می‌شود.</a:t>
            </a:r>
            <a:endParaRPr lang="en-US" sz="1250" dirty="0"/>
          </a:p>
        </p:txBody>
      </p:sp>
      <p:sp>
        <p:nvSpPr>
          <p:cNvPr id="9" name="Text 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۱۴۴</a:t>
            </a:r>
            <a:endParaRPr lang="en-US" sz="1000" dirty="0"/>
          </a:p>
        </p:txBody>
      </p:sp>
      <p:sp>
        <p:nvSpPr>
          <p:cNvPr id="10" name="Text 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۷ — انتقال وجه بین حساب‌ها</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tr13">    </p:cNvPr>
          <p:cNvPicPr>
            <a:picLocks noChangeAspect="1"/>
          </p:cNvPicPr>
          <p:nvPr/>
        </p:nvPicPr>
        <p:blipFill>
          <a:blip r:embed="rId1"/>
          <a:stretch>
            <a:fillRect/>
          </a:stretch>
        </p:blipFill>
        <p:spPr>
          <a:xfrm>
            <a:off x="484632" y="1287658"/>
            <a:ext cx="7077456" cy="4922764"/>
          </a:xfrm>
          <a:prstGeom prst="rect">
            <a:avLst/>
          </a:prstGeom>
        </p:spPr>
      </p:pic>
      <p:sp>
        <p:nvSpPr>
          <p:cNvPr id="5" name="Shape 2"/>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6" name="Text 3"/>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7" name="Text 4"/>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انتقال ۳٫۵ میلیارد از بانک ملی به بانک تجارت؛ پس از تأیید، سند: بدهکار بانک تجارت / بستانکار بانک ملی.</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مبدأ و مقصد</a:t>
            </a:r>
            <a:endParaRPr lang="en-US" sz="1350" dirty="0"/>
          </a:p>
        </p:txBody>
      </p:sp>
      <p:sp>
        <p:nvSpPr>
          <p:cNvPr id="11" name="Text 8"/>
          <p:cNvSpPr/>
          <p:nvPr/>
        </p:nvSpPr>
        <p:spPr>
          <a:xfrm>
            <a:off x="7909560" y="151790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دو حساب بانکی متفاوت از همین واحد؛ موجودی دفتری مبدأ نمایش داده می‌شود.</a:t>
            </a:r>
            <a:endParaRPr lang="en-US" sz="1300" dirty="0"/>
          </a:p>
        </p:txBody>
      </p:sp>
      <p:sp>
        <p:nvSpPr>
          <p:cNvPr id="12" name="Shape 9"/>
          <p:cNvSpPr/>
          <p:nvPr/>
        </p:nvSpPr>
        <p:spPr>
          <a:xfrm>
            <a:off x="11411712" y="2091233"/>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0912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09123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مبلغ و روش</a:t>
            </a:r>
            <a:endParaRPr lang="en-US" sz="1350" dirty="0"/>
          </a:p>
        </p:txBody>
      </p:sp>
      <p:sp>
        <p:nvSpPr>
          <p:cNvPr id="15" name="Text 12"/>
          <p:cNvSpPr/>
          <p:nvPr/>
        </p:nvSpPr>
        <p:spPr>
          <a:xfrm>
            <a:off x="7909560" y="2420417"/>
            <a:ext cx="339242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مبلغ، تاریخ، روش انتقال و دلیل انتقال.</a:t>
            </a:r>
            <a:endParaRPr lang="en-US" sz="1300" dirty="0"/>
          </a:p>
        </p:txBody>
      </p:sp>
      <p:sp>
        <p:nvSpPr>
          <p:cNvPr id="16" name="Shape 13"/>
          <p:cNvSpPr/>
          <p:nvPr/>
        </p:nvSpPr>
        <p:spPr>
          <a:xfrm>
            <a:off x="11411712" y="2761945"/>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276194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2761945"/>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ارسال</a:t>
            </a:r>
            <a:endParaRPr lang="en-US" sz="1350" dirty="0"/>
          </a:p>
        </p:txBody>
      </p:sp>
      <p:sp>
        <p:nvSpPr>
          <p:cNvPr id="19" name="Text 16"/>
          <p:cNvSpPr/>
          <p:nvPr/>
        </p:nvSpPr>
        <p:spPr>
          <a:xfrm>
            <a:off x="7909560" y="3091129"/>
            <a:ext cx="339242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«ارسال برای تأیید» به خزانه‌دار.</a:t>
            </a:r>
            <a:endParaRPr lang="en-US" sz="1300" dirty="0"/>
          </a:p>
        </p:txBody>
      </p:sp>
      <p:sp>
        <p:nvSpPr>
          <p:cNvPr id="20" name="Shape 17"/>
          <p:cNvSpPr/>
          <p:nvPr/>
        </p:nvSpPr>
        <p:spPr>
          <a:xfrm>
            <a:off x="11411712" y="3432658"/>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343265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343265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کنترل‌ها</a:t>
            </a:r>
            <a:endParaRPr lang="en-US" sz="1350" dirty="0"/>
          </a:p>
        </p:txBody>
      </p:sp>
      <p:sp>
        <p:nvSpPr>
          <p:cNvPr id="23" name="Text 20"/>
          <p:cNvSpPr/>
          <p:nvPr/>
        </p:nvSpPr>
        <p:spPr>
          <a:xfrm>
            <a:off x="7909560" y="3761842"/>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موجودی کافی مبدأ و سقف انتقال روزانه؛ تأییدکننده نباید ثبت‌کننده باشد.</a:t>
            </a:r>
            <a:endParaRPr lang="en-US" sz="1300" dirty="0"/>
          </a:p>
        </p:txBody>
      </p:sp>
      <p:sp>
        <p:nvSpPr>
          <p:cNvPr id="24" name="Text 2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۱۴۵</a:t>
            </a:r>
            <a:endParaRPr lang="en-US" sz="1000" dirty="0"/>
          </a:p>
        </p:txBody>
      </p:sp>
      <p:sp>
        <p:nvSpPr>
          <p:cNvPr id="25" name="Text 2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مغایرت‌گیری بانکی یعنی چه؟</a:t>
            </a:r>
            <a:endParaRPr lang="en-US" sz="2500" dirty="0"/>
          </a:p>
        </p:txBody>
      </p:sp>
      <p:sp>
        <p:nvSpPr>
          <p:cNvPr id="3" name="Shape 1"/>
          <p:cNvSpPr/>
          <p:nvPr/>
        </p:nvSpPr>
        <p:spPr>
          <a:xfrm>
            <a:off x="11731752" y="1097280"/>
            <a:ext cx="45720" cy="1242670"/>
          </a:xfrm>
          <a:prstGeom prst="rect">
            <a:avLst/>
          </a:prstGeom>
          <a:solidFill>
            <a:srgbClr val="C9A227"/>
          </a:solidFill>
          <a:ln w="12700">
            <a:solidFill>
              <a:srgbClr val="C9A227"/>
            </a:solidFill>
            <a:prstDash val="solid"/>
          </a:ln>
        </p:spPr>
      </p:sp>
      <p:sp>
        <p:nvSpPr>
          <p:cNvPr id="4" name="Text 2"/>
          <p:cNvSpPr/>
          <p:nvPr/>
        </p:nvSpPr>
        <p:spPr>
          <a:xfrm>
            <a:off x="5440680" y="1097280"/>
            <a:ext cx="6153912" cy="1242670"/>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دفتر سازمان و صورت‌حساب بانک باید یک مانده نشان دهند، ولی معمولاً به‌خاطر زمان‌بندی فرق دارند؛ مثل مقایسهٔ دفترچهٔ خرج خانه با پیامک‌های بانک. مغایرت‌گیری یعنی ردیف‌به‌ردیف علت فرق را پیدا کنیم.</a:t>
            </a:r>
            <a:endParaRPr lang="en-US" sz="1550" dirty="0"/>
          </a:p>
        </p:txBody>
      </p:sp>
      <p:sp>
        <p:nvSpPr>
          <p:cNvPr id="5" name="Shape 3"/>
          <p:cNvSpPr/>
          <p:nvPr/>
        </p:nvSpPr>
        <p:spPr>
          <a:xfrm>
            <a:off x="11411712" y="2568550"/>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5685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568550"/>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فقط در بانک</a:t>
            </a:r>
            <a:endParaRPr lang="en-US" sz="1350" dirty="0"/>
          </a:p>
        </p:txBody>
      </p:sp>
      <p:sp>
        <p:nvSpPr>
          <p:cNvPr id="8" name="Text 6"/>
          <p:cNvSpPr/>
          <p:nvPr/>
        </p:nvSpPr>
        <p:spPr>
          <a:xfrm>
            <a:off x="5440680" y="2897734"/>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کارمزد یا واریزی که بانک ثبت کرده ولی هنوز در دفتر نیست ⇐ سند کارمزد یا اتصال به دریافت.</a:t>
            </a:r>
            <a:endParaRPr lang="en-US" sz="1300" dirty="0"/>
          </a:p>
        </p:txBody>
      </p:sp>
      <p:sp>
        <p:nvSpPr>
          <p:cNvPr id="9" name="Shape 7"/>
          <p:cNvSpPr/>
          <p:nvPr/>
        </p:nvSpPr>
        <p:spPr>
          <a:xfrm>
            <a:off x="11411712" y="3471062"/>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47106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47106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فقط در دفتر</a:t>
            </a:r>
            <a:endParaRPr lang="en-US" sz="1350" dirty="0"/>
          </a:p>
        </p:txBody>
      </p:sp>
      <p:sp>
        <p:nvSpPr>
          <p:cNvPr id="12" name="Text 10"/>
          <p:cNvSpPr/>
          <p:nvPr/>
        </p:nvSpPr>
        <p:spPr>
          <a:xfrm>
            <a:off x="5440680" y="3800246"/>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چکی که صادر کرده‌ایم ولی ذی‌نفع هنوز وصول نکرده است.</a:t>
            </a:r>
            <a:endParaRPr lang="en-US" sz="1300" dirty="0"/>
          </a:p>
        </p:txBody>
      </p:sp>
      <p:sp>
        <p:nvSpPr>
          <p:cNvPr id="13" name="Shape 11"/>
          <p:cNvSpPr/>
          <p:nvPr/>
        </p:nvSpPr>
        <p:spPr>
          <a:xfrm>
            <a:off x="11411712" y="4141775"/>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14177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14177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تطبیق</a:t>
            </a:r>
            <a:endParaRPr lang="en-US" sz="1350" dirty="0"/>
          </a:p>
        </p:txBody>
      </p:sp>
      <p:sp>
        <p:nvSpPr>
          <p:cNvPr id="16" name="Text 14"/>
          <p:cNvSpPr/>
          <p:nvPr/>
        </p:nvSpPr>
        <p:spPr>
          <a:xfrm>
            <a:off x="5440680" y="447095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ردیف‌هایی که در هر دو هستند (هم‌مبلغ، با شماره/مرجع یکسان) جفت می‌شوند.</a:t>
            </a:r>
            <a:endParaRPr lang="en-US" sz="1300" dirty="0"/>
          </a:p>
        </p:txBody>
      </p:sp>
      <p:sp>
        <p:nvSpPr>
          <p:cNvPr id="17" name="Shape 15"/>
          <p:cNvSpPr/>
          <p:nvPr/>
        </p:nvSpPr>
        <p:spPr>
          <a:xfrm>
            <a:off x="411480" y="1097280"/>
            <a:ext cx="4754880" cy="3426714"/>
          </a:xfrm>
          <a:prstGeom prst="roundRect">
            <a:avLst>
              <a:gd name="adj" fmla="val 2668"/>
            </a:avLst>
          </a:prstGeom>
          <a:solidFill>
            <a:srgbClr val="E3F3EA"/>
          </a:solidFill>
          <a:ln w="9525">
            <a:solidFill>
              <a:srgbClr val="1E7A4C"/>
            </a:solidFill>
            <a:prstDash val="solid"/>
          </a:ln>
        </p:spPr>
      </p:sp>
      <p:sp>
        <p:nvSpPr>
          <p:cNvPr id="18" name="Text 16"/>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بانک ملی — مهر</a:t>
            </a:r>
            <a:endParaRPr lang="en-US" sz="1500" dirty="0"/>
          </a:p>
        </p:txBody>
      </p:sp>
      <p:graphicFrame>
        <p:nvGraphicFramePr>
          <p:cNvPr id="147" name="Table 0"/>
          <p:cNvGraphicFramePr>
            <a:graphicFrameLocks noGrp="1"/>
          </p:cNvGraphicFramePr>
          <p:nvPr>
            <p:extLst>
              <p:ext uri="{D42A27DB-BD31-4B8C-83A1-F6EECF244321}">
                <p14:modId xmlns:p14="http://schemas.microsoft.com/office/powerpoint/2010/main" val="1579011935"/>
              </p:ext>
            </p:extLst>
          </p:nvPr>
        </p:nvGraphicFramePr>
        <p:xfrm>
          <a:off x="594360" y="1691640"/>
          <a:ext cx="4389120" cy="914400"/>
        </p:xfrm>
        <a:graphic>
          <a:graphicData uri="http://schemas.openxmlformats.org/drawingml/2006/table">
            <a:tbl>
              <a:tblPr rtl="1"/>
              <a:tblGrid>
                <a:gridCol w="2633472"/>
                <a:gridCol w="1755648"/>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شرح</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مبلغ (ریال)</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ماندهٔ طبق دفتر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۵۰۰,۰۰۰,۰۰۰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 واریز بانک، ثبت‌نشده در دفتر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۲۰,۰۰۰,۰۰۰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 کارمزد بانک، ثبت‌نشده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۴۵,۰۰۰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 چک وصول‌نشده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۳۰,۰۰۰,۰۰۰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 ماندهٔ تعدیل‌شده</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۵۴۹,۹۵۵,۰۰۰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bl>
          </a:graphicData>
        </a:graphic>
      </p:graphicFrame>
      <p:sp>
        <p:nvSpPr>
          <p:cNvPr id="20" name="Text 17"/>
          <p:cNvSpPr/>
          <p:nvPr/>
        </p:nvSpPr>
        <p:spPr>
          <a:xfrm>
            <a:off x="594360" y="3803904"/>
            <a:ext cx="4389120" cy="62865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ماندهٔ صورت‌حساب بانک هم ۵۴۹,۹۵۵,۰۰۰ است ⇐ اختلاف توضیح‌داده‌نشده صفر.</a:t>
            </a:r>
            <a:endParaRPr lang="en-US" sz="1250" dirty="0"/>
          </a:p>
        </p:txBody>
      </p:sp>
      <p:sp>
        <p:nvSpPr>
          <p:cNvPr id="21" name="Text 18"/>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۱۴۶</a:t>
            </a:r>
            <a:endParaRPr lang="en-US" sz="1000" dirty="0"/>
          </a:p>
        </p:txBody>
      </p:sp>
      <p:sp>
        <p:nvSpPr>
          <p:cNvPr id="22" name="Text 19"/>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۸ — مغایرت‌گیری بانکی</a:t>
            </a:r>
            <a:endParaRPr lang="en-US" sz="2500" dirty="0"/>
          </a:p>
        </p:txBody>
      </p:sp>
      <p:sp>
        <p:nvSpPr>
          <p:cNvPr id="3" name="Shape 1"/>
          <p:cNvSpPr/>
          <p:nvPr/>
        </p:nvSpPr>
        <p:spPr>
          <a:xfrm>
            <a:off x="8494776" y="896112"/>
            <a:ext cx="328269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604504" y="896112"/>
            <a:ext cx="306324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مغایرت بانکی</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فهرست صورت‌حساب‌ها</a:t>
            </a:r>
            <a:endParaRPr lang="en-US" sz="1200" dirty="0"/>
          </a:p>
        </p:txBody>
      </p:sp>
      <p:sp>
        <p:nvSpPr>
          <p:cNvPr id="6" name="Shape 4"/>
          <p:cNvSpPr/>
          <p:nvPr/>
        </p:nvSpPr>
        <p:spPr>
          <a:xfrm>
            <a:off x="6208776"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tr14">    </p:cNvPr>
          <p:cNvPicPr>
            <a:picLocks noChangeAspect="1"/>
          </p:cNvPicPr>
          <p:nvPr/>
        </p:nvPicPr>
        <p:blipFill>
          <a:blip r:embed="rId1"/>
          <a:stretch>
            <a:fillRect/>
          </a:stretch>
        </p:blipFill>
        <p:spPr>
          <a:xfrm>
            <a:off x="7231019" y="1664208"/>
            <a:ext cx="3524209" cy="2374925"/>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جزئیات و تطبیق ردیف‌ها</a:t>
            </a:r>
            <a:endParaRPr lang="en-US" sz="1200" dirty="0"/>
          </a:p>
        </p:txBody>
      </p:sp>
      <p:sp>
        <p:nvSpPr>
          <p:cNvPr id="9" name="Shape 6"/>
          <p:cNvSpPr/>
          <p:nvPr/>
        </p:nvSpPr>
        <p:spPr>
          <a:xfrm>
            <a:off x="411480"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tr15">    </p:cNvPr>
          <p:cNvPicPr>
            <a:picLocks noChangeAspect="1"/>
          </p:cNvPicPr>
          <p:nvPr/>
        </p:nvPicPr>
        <p:blipFill>
          <a:blip r:embed="rId2"/>
          <a:stretch>
            <a:fillRect/>
          </a:stretch>
        </p:blipFill>
        <p:spPr>
          <a:xfrm>
            <a:off x="1591149" y="1664208"/>
            <a:ext cx="3209359" cy="2374925"/>
          </a:xfrm>
          <a:prstGeom prst="rect">
            <a:avLst/>
          </a:prstGeom>
        </p:spPr>
      </p:pic>
      <p:sp>
        <p:nvSpPr>
          <p:cNvPr id="11" name="Shape 7"/>
          <p:cNvSpPr/>
          <p:nvPr/>
        </p:nvSpPr>
        <p:spPr>
          <a:xfrm>
            <a:off x="9038844" y="4267733"/>
            <a:ext cx="2738628" cy="1291819"/>
          </a:xfrm>
          <a:prstGeom prst="roundRect">
            <a:avLst>
              <a:gd name="adj" fmla="val 5663"/>
            </a:avLst>
          </a:prstGeom>
          <a:solidFill>
            <a:srgbClr val="FFFFFF"/>
          </a:solidFill>
          <a:ln w="6350">
            <a:solidFill>
              <a:srgbClr val="D9DEE7"/>
            </a:solidFill>
            <a:prstDash val="solid"/>
          </a:ln>
        </p:spPr>
      </p:sp>
      <p:sp>
        <p:nvSpPr>
          <p:cNvPr id="12" name="Shape 8"/>
          <p:cNvSpPr/>
          <p:nvPr/>
        </p:nvSpPr>
        <p:spPr>
          <a:xfrm>
            <a:off x="11356848" y="4359173"/>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صورت‌حساب جدید</a:t>
            </a:r>
            <a:endParaRPr lang="en-US" sz="1300" dirty="0"/>
          </a:p>
        </p:txBody>
      </p:sp>
      <p:sp>
        <p:nvSpPr>
          <p:cNvPr id="15" name="Text 11"/>
          <p:cNvSpPr/>
          <p:nvPr/>
        </p:nvSpPr>
        <p:spPr>
          <a:xfrm>
            <a:off x="9148572"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حساب بانکی، بازه و ماندهٔ بانک؛ ردیف‌ها دستی یا «بارگذاری فایل دیسکت».</a:t>
            </a:r>
            <a:endParaRPr lang="en-US" sz="1150" dirty="0"/>
          </a:p>
        </p:txBody>
      </p:sp>
      <p:sp>
        <p:nvSpPr>
          <p:cNvPr id="16" name="Shape 12"/>
          <p:cNvSpPr/>
          <p:nvPr/>
        </p:nvSpPr>
        <p:spPr>
          <a:xfrm>
            <a:off x="6163056" y="4267733"/>
            <a:ext cx="2738628" cy="1291819"/>
          </a:xfrm>
          <a:prstGeom prst="roundRect">
            <a:avLst>
              <a:gd name="adj" fmla="val 5663"/>
            </a:avLst>
          </a:prstGeom>
          <a:solidFill>
            <a:srgbClr val="FFFFFF"/>
          </a:solidFill>
          <a:ln w="6350">
            <a:solidFill>
              <a:srgbClr val="D9DEE7"/>
            </a:solidFill>
            <a:prstDash val="solid"/>
          </a:ln>
        </p:spPr>
      </p:sp>
      <p:sp>
        <p:nvSpPr>
          <p:cNvPr id="17" name="Shape 13"/>
          <p:cNvSpPr/>
          <p:nvPr/>
        </p:nvSpPr>
        <p:spPr>
          <a:xfrm>
            <a:off x="8481060" y="4359173"/>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تطبیق خودکار</a:t>
            </a:r>
            <a:endParaRPr lang="en-US" sz="1300" dirty="0"/>
          </a:p>
        </p:txBody>
      </p:sp>
      <p:sp>
        <p:nvSpPr>
          <p:cNvPr id="20" name="Text 16"/>
          <p:cNvSpPr/>
          <p:nvPr/>
        </p:nvSpPr>
        <p:spPr>
          <a:xfrm>
            <a:off x="6272784"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بر اساس شمارهٔ چک/فیش، مرجع بانک و مبلغ در بازهٔ ±۳ روز.</a:t>
            </a:r>
            <a:endParaRPr lang="en-US" sz="1150" dirty="0"/>
          </a:p>
        </p:txBody>
      </p:sp>
      <p:sp>
        <p:nvSpPr>
          <p:cNvPr id="21" name="Shape 17"/>
          <p:cNvSpPr/>
          <p:nvPr/>
        </p:nvSpPr>
        <p:spPr>
          <a:xfrm>
            <a:off x="3287268" y="4267733"/>
            <a:ext cx="2738628" cy="1291819"/>
          </a:xfrm>
          <a:prstGeom prst="roundRect">
            <a:avLst>
              <a:gd name="adj" fmla="val 5663"/>
            </a:avLst>
          </a:prstGeom>
          <a:solidFill>
            <a:srgbClr val="FFFFFF"/>
          </a:solidFill>
          <a:ln w="6350">
            <a:solidFill>
              <a:srgbClr val="D9DEE7"/>
            </a:solidFill>
            <a:prstDash val="solid"/>
          </a:ln>
        </p:spPr>
      </p:sp>
      <p:sp>
        <p:nvSpPr>
          <p:cNvPr id="22" name="Shape 18"/>
          <p:cNvSpPr/>
          <p:nvPr/>
        </p:nvSpPr>
        <p:spPr>
          <a:xfrm>
            <a:off x="5605272" y="4359173"/>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تطبیق‌نیافته‌ها</a:t>
            </a:r>
            <a:endParaRPr lang="en-US" sz="1300" dirty="0"/>
          </a:p>
        </p:txBody>
      </p:sp>
      <p:sp>
        <p:nvSpPr>
          <p:cNvPr id="25" name="Text 21"/>
          <p:cNvSpPr/>
          <p:nvPr/>
        </p:nvSpPr>
        <p:spPr>
          <a:xfrm>
            <a:off x="3396996"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تطبیق دستی، سند کارمزد، اتصال به دریافت یا «نادیده» با یادداشت.</a:t>
            </a:r>
            <a:endParaRPr lang="en-US" sz="1150" dirty="0"/>
          </a:p>
        </p:txBody>
      </p:sp>
      <p:sp>
        <p:nvSpPr>
          <p:cNvPr id="26" name="Shape 22"/>
          <p:cNvSpPr/>
          <p:nvPr/>
        </p:nvSpPr>
        <p:spPr>
          <a:xfrm>
            <a:off x="411480" y="4267733"/>
            <a:ext cx="2738628" cy="1291819"/>
          </a:xfrm>
          <a:prstGeom prst="roundRect">
            <a:avLst>
              <a:gd name="adj" fmla="val 5663"/>
            </a:avLst>
          </a:prstGeom>
          <a:solidFill>
            <a:srgbClr val="FFFFFF"/>
          </a:solidFill>
          <a:ln w="6350">
            <a:solidFill>
              <a:srgbClr val="D9DEE7"/>
            </a:solidFill>
            <a:prstDash val="solid"/>
          </a:ln>
        </p:spPr>
      </p:sp>
      <p:sp>
        <p:nvSpPr>
          <p:cNvPr id="27" name="Shape 23"/>
          <p:cNvSpPr/>
          <p:nvPr/>
        </p:nvSpPr>
        <p:spPr>
          <a:xfrm>
            <a:off x="2729484" y="4359173"/>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بستن</a:t>
            </a:r>
            <a:endParaRPr lang="en-US" sz="1300" dirty="0"/>
          </a:p>
        </p:txBody>
      </p:sp>
      <p:sp>
        <p:nvSpPr>
          <p:cNvPr id="30" name="Text 26"/>
          <p:cNvSpPr/>
          <p:nvPr/>
        </p:nvSpPr>
        <p:spPr>
          <a:xfrm>
            <a:off x="521208"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وقتی مغایرت صفر شد صورت‌حساب را «بستن» کنید.</a:t>
            </a:r>
            <a:endParaRPr lang="en-US" sz="1150" dirty="0"/>
          </a:p>
        </p:txBody>
      </p:sp>
      <p:sp>
        <p:nvSpPr>
          <p:cNvPr id="31" name="Shape 27"/>
          <p:cNvSpPr/>
          <p:nvPr/>
        </p:nvSpPr>
        <p:spPr>
          <a:xfrm>
            <a:off x="411480" y="5696712"/>
            <a:ext cx="11365992" cy="658368"/>
          </a:xfrm>
          <a:prstGeom prst="roundRect">
            <a:avLst>
              <a:gd name="adj" fmla="val 11111"/>
            </a:avLst>
          </a:prstGeom>
          <a:solidFill>
            <a:srgbClr val="E3F3EA"/>
          </a:solidFill>
          <a:ln w="9525">
            <a:solidFill>
              <a:srgbClr val="1E7A4C"/>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کارمزد ۴۵,۰۰۰ ریالی فقط در بانک است ⇐ سند کارمزد: بدهکار کارمزد بانکی / بستانکار بانک.</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۱۴۷</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صورت مغایرت بانکی (چاپ / PDF)</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tr16">    </p:cNvPr>
          <p:cNvPicPr>
            <a:picLocks noChangeAspect="1"/>
          </p:cNvPicPr>
          <p:nvPr/>
        </p:nvPicPr>
        <p:blipFill>
          <a:blip r:embed="rId1"/>
          <a:stretch>
            <a:fillRect/>
          </a:stretch>
        </p:blipFill>
        <p:spPr>
          <a:xfrm>
            <a:off x="600538" y="1216152"/>
            <a:ext cx="6845643" cy="5065776"/>
          </a:xfrm>
          <a:prstGeom prst="rect">
            <a:avLst/>
          </a:prstGeom>
        </p:spPr>
      </p:pic>
      <p:sp>
        <p:nvSpPr>
          <p:cNvPr id="5" name="Shape 2"/>
          <p:cNvSpPr/>
          <p:nvPr/>
        </p:nvSpPr>
        <p:spPr>
          <a:xfrm>
            <a:off x="11411712" y="1188720"/>
            <a:ext cx="329184" cy="329184"/>
          </a:xfrm>
          <a:prstGeom prst="ellipse">
            <a:avLst/>
          </a:prstGeom>
          <a:solidFill>
            <a:srgbClr val="C9A227"/>
          </a:solidFill>
          <a:ln w="12700">
            <a:solidFill>
              <a:srgbClr val="C9A227"/>
            </a:solidFill>
            <a:prstDash val="solid"/>
          </a:ln>
        </p:spPr>
      </p:sp>
      <p:sp>
        <p:nvSpPr>
          <p:cNvPr id="6" name="Text 3"/>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باز کردن</a:t>
            </a:r>
            <a:endParaRPr lang="en-US" sz="1350" dirty="0"/>
          </a:p>
        </p:txBody>
      </p:sp>
      <p:sp>
        <p:nvSpPr>
          <p:cNvPr id="8" name="Text 5"/>
          <p:cNvSpPr/>
          <p:nvPr/>
        </p:nvSpPr>
        <p:spPr>
          <a:xfrm>
            <a:off x="7909560" y="151790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 جزئیات صورت‌حساب، دکمهٔ «صورت مغایرت» را بزنید.</a:t>
            </a:r>
            <a:endParaRPr lang="en-US" sz="1300" dirty="0"/>
          </a:p>
        </p:txBody>
      </p:sp>
      <p:sp>
        <p:nvSpPr>
          <p:cNvPr id="9" name="Shape 6"/>
          <p:cNvSpPr/>
          <p:nvPr/>
        </p:nvSpPr>
        <p:spPr>
          <a:xfrm>
            <a:off x="11411712" y="2091233"/>
            <a:ext cx="329184" cy="329184"/>
          </a:xfrm>
          <a:prstGeom prst="ellipse">
            <a:avLst/>
          </a:prstGeom>
          <a:solidFill>
            <a:srgbClr val="C9A227"/>
          </a:solidFill>
          <a:ln w="12700">
            <a:solidFill>
              <a:srgbClr val="C9A227"/>
            </a:solidFill>
            <a:prstDash val="solid"/>
          </a:ln>
        </p:spPr>
      </p:sp>
      <p:sp>
        <p:nvSpPr>
          <p:cNvPr id="10" name="Text 7"/>
          <p:cNvSpPr/>
          <p:nvPr/>
        </p:nvSpPr>
        <p:spPr>
          <a:xfrm>
            <a:off x="11411712" y="20912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p:nvPr/>
        </p:nvSpPr>
        <p:spPr>
          <a:xfrm>
            <a:off x="7909560" y="209123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ساختار</a:t>
            </a:r>
            <a:endParaRPr lang="en-US" sz="1350" dirty="0"/>
          </a:p>
        </p:txBody>
      </p:sp>
      <p:sp>
        <p:nvSpPr>
          <p:cNvPr id="12" name="Text 9"/>
          <p:cNvSpPr/>
          <p:nvPr/>
        </p:nvSpPr>
        <p:spPr>
          <a:xfrm>
            <a:off x="7909560" y="2420417"/>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ماندهٔ دفتر ± اقلام فقط‌بانک و چک‌های وصول‌نشده = ماندهٔ تعدیل‌شده، در برابر ماندهٔ بانک.</a:t>
            </a:r>
            <a:endParaRPr lang="en-US" sz="1300" dirty="0"/>
          </a:p>
        </p:txBody>
      </p:sp>
      <p:sp>
        <p:nvSpPr>
          <p:cNvPr id="13" name="Shape 10"/>
          <p:cNvSpPr/>
          <p:nvPr/>
        </p:nvSpPr>
        <p:spPr>
          <a:xfrm>
            <a:off x="11411712" y="3225546"/>
            <a:ext cx="329184" cy="329184"/>
          </a:xfrm>
          <a:prstGeom prst="ellipse">
            <a:avLst/>
          </a:prstGeom>
          <a:solidFill>
            <a:srgbClr val="C9A227"/>
          </a:solidFill>
          <a:ln w="12700">
            <a:solidFill>
              <a:srgbClr val="C9A227"/>
            </a:solidFill>
            <a:prstDash val="solid"/>
          </a:ln>
        </p:spPr>
      </p:sp>
      <p:sp>
        <p:nvSpPr>
          <p:cNvPr id="14" name="Text 11"/>
          <p:cNvSpPr/>
          <p:nvPr/>
        </p:nvSpPr>
        <p:spPr>
          <a:xfrm>
            <a:off x="11411712" y="32255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p:nvPr/>
        </p:nvSpPr>
        <p:spPr>
          <a:xfrm>
            <a:off x="7909560" y="32255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اختلاف</a:t>
            </a:r>
            <a:endParaRPr lang="en-US" sz="1350" dirty="0"/>
          </a:p>
        </p:txBody>
      </p:sp>
      <p:sp>
        <p:nvSpPr>
          <p:cNvPr id="16" name="Text 13"/>
          <p:cNvSpPr/>
          <p:nvPr/>
        </p:nvSpPr>
        <p:spPr>
          <a:xfrm>
            <a:off x="7909560" y="3554730"/>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سطر «اختلاف توضیح‌داده‌نشده» باید صفر شود؛ وگرنه ردیف‌های تطبیق‌نیافته را بررسی کنید.</a:t>
            </a:r>
            <a:endParaRPr lang="en-US" sz="1300" dirty="0"/>
          </a:p>
        </p:txBody>
      </p:sp>
      <p:sp>
        <p:nvSpPr>
          <p:cNvPr id="17" name="Shape 14"/>
          <p:cNvSpPr/>
          <p:nvPr/>
        </p:nvSpPr>
        <p:spPr>
          <a:xfrm>
            <a:off x="11411712" y="4359859"/>
            <a:ext cx="329184" cy="329184"/>
          </a:xfrm>
          <a:prstGeom prst="ellipse">
            <a:avLst/>
          </a:prstGeom>
          <a:solidFill>
            <a:srgbClr val="C9A227"/>
          </a:solidFill>
          <a:ln w="12700">
            <a:solidFill>
              <a:srgbClr val="C9A227"/>
            </a:solidFill>
            <a:prstDash val="solid"/>
          </a:ln>
        </p:spPr>
      </p:sp>
      <p:sp>
        <p:nvSpPr>
          <p:cNvPr id="18" name="Text 15"/>
          <p:cNvSpPr/>
          <p:nvPr/>
        </p:nvSpPr>
        <p:spPr>
          <a:xfrm>
            <a:off x="11411712" y="435985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p:nvPr/>
        </p:nvSpPr>
        <p:spPr>
          <a:xfrm>
            <a:off x="7909560" y="435985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ریز اقلام و امضا</a:t>
            </a:r>
            <a:endParaRPr lang="en-US" sz="1350" dirty="0"/>
          </a:p>
        </p:txBody>
      </p:sp>
      <p:sp>
        <p:nvSpPr>
          <p:cNvPr id="20" name="Text 17"/>
          <p:cNvSpPr/>
          <p:nvPr/>
        </p:nvSpPr>
        <p:spPr>
          <a:xfrm>
            <a:off x="7909560" y="4689043"/>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گروه با تاریخ، مرجع، شرح، مبلغ و جمع؛ پایین برگه جای امضای مسئولان.</a:t>
            </a:r>
            <a:endParaRPr lang="en-US" sz="1300" dirty="0"/>
          </a:p>
        </p:txBody>
      </p:sp>
      <p:sp>
        <p:nvSpPr>
          <p:cNvPr id="21" name="Shape 18"/>
          <p:cNvSpPr/>
          <p:nvPr/>
        </p:nvSpPr>
        <p:spPr>
          <a:xfrm>
            <a:off x="11411712" y="5262372"/>
            <a:ext cx="329184" cy="329184"/>
          </a:xfrm>
          <a:prstGeom prst="ellipse">
            <a:avLst/>
          </a:prstGeom>
          <a:solidFill>
            <a:srgbClr val="C9A227"/>
          </a:solidFill>
          <a:ln w="12700">
            <a:solidFill>
              <a:srgbClr val="C9A227"/>
            </a:solidFill>
            <a:prstDash val="solid"/>
          </a:ln>
        </p:spPr>
      </p:sp>
      <p:sp>
        <p:nvSpPr>
          <p:cNvPr id="22" name="Text 19"/>
          <p:cNvSpPr/>
          <p:nvPr/>
        </p:nvSpPr>
        <p:spPr>
          <a:xfrm>
            <a:off x="11411712" y="52623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p:nvPr/>
        </p:nvSpPr>
        <p:spPr>
          <a:xfrm>
            <a:off x="7909560" y="526237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چاپ</a:t>
            </a:r>
            <a:endParaRPr lang="en-US" sz="1350" dirty="0"/>
          </a:p>
        </p:txBody>
      </p:sp>
      <p:sp>
        <p:nvSpPr>
          <p:cNvPr id="24" name="Text 21"/>
          <p:cNvSpPr/>
          <p:nvPr/>
        </p:nvSpPr>
        <p:spPr>
          <a:xfrm>
            <a:off x="7909560" y="5591556"/>
            <a:ext cx="339242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دکمهٔ «چاپ / PDF».</a:t>
            </a:r>
            <a:endParaRPr lang="en-US" sz="1300" dirty="0"/>
          </a:p>
        </p:txBody>
      </p:sp>
      <p:sp>
        <p:nvSpPr>
          <p:cNvPr id="25" name="Text 2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۱۴۸</a:t>
            </a:r>
            <a:endParaRPr lang="en-US" sz="1000" dirty="0"/>
          </a:p>
        </p:txBody>
      </p:sp>
      <p:sp>
        <p:nvSpPr>
          <p:cNvPr id="26" name="Text 2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داشبورد خزانه</a:t>
            </a:r>
            <a:endParaRPr lang="en-US" sz="2500" dirty="0"/>
          </a:p>
        </p:txBody>
      </p:sp>
      <p:sp>
        <p:nvSpPr>
          <p:cNvPr id="3" name="Shape 1"/>
          <p:cNvSpPr/>
          <p:nvPr/>
        </p:nvSpPr>
        <p:spPr>
          <a:xfrm>
            <a:off x="8417052" y="896112"/>
            <a:ext cx="3360420"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526780" y="896112"/>
            <a:ext cx="314096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تنخواه و خزانه‌داری ← داشبورد خزانه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tr01">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موجودی ۷۹٫۶ میلیارد و تعهدات هفته ۳٫۱ میلیارد است؛ یعنی پرداخت‌های پیش‌رو با خیال راحت پوشش دارند.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موجودی کل</a:t>
            </a:r>
            <a:endParaRPr lang="en-US" sz="1350" dirty="0"/>
          </a:p>
        </p:txBody>
      </p:sp>
      <p:sp>
        <p:nvSpPr>
          <p:cNvPr id="13" name="Text 10"/>
          <p:cNvSpPr/>
          <p:nvPr/>
        </p:nvSpPr>
        <p:spPr>
          <a:xfrm>
            <a:off x="7909560" y="1700784"/>
            <a:ext cx="339242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جمع و تفکیک موجودی دفتری حساب‌های بانکی.</a:t>
            </a:r>
            <a:endParaRPr lang="en-US" sz="1300" dirty="0"/>
          </a:p>
        </p:txBody>
      </p:sp>
      <p:sp>
        <p:nvSpPr>
          <p:cNvPr id="14" name="Shape 11"/>
          <p:cNvSpPr/>
          <p:nvPr/>
        </p:nvSpPr>
        <p:spPr>
          <a:xfrm>
            <a:off x="11411712" y="204231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04231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04231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تعهدات ۷ روز</a:t>
            </a:r>
            <a:endParaRPr lang="en-US" sz="1350" dirty="0"/>
          </a:p>
        </p:txBody>
      </p:sp>
      <p:sp>
        <p:nvSpPr>
          <p:cNvPr id="17" name="Text 14"/>
          <p:cNvSpPr/>
          <p:nvPr/>
        </p:nvSpPr>
        <p:spPr>
          <a:xfrm>
            <a:off x="7909560" y="2371496"/>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درخواست‌های آمادهٔ اجرا و نسبت پوشش آن‌ها با موجودی.</a:t>
            </a:r>
            <a:endParaRPr lang="en-US" sz="1300" dirty="0"/>
          </a:p>
        </p:txBody>
      </p:sp>
      <p:sp>
        <p:nvSpPr>
          <p:cNvPr id="18" name="Shape 15"/>
          <p:cNvSpPr/>
          <p:nvPr/>
        </p:nvSpPr>
        <p:spPr>
          <a:xfrm>
            <a:off x="11411712" y="2944825"/>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294482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2944825"/>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انتظار تأیید و امروز</a:t>
            </a:r>
            <a:endParaRPr lang="en-US" sz="1350" dirty="0"/>
          </a:p>
        </p:txBody>
      </p:sp>
      <p:sp>
        <p:nvSpPr>
          <p:cNvPr id="21" name="Text 18"/>
          <p:cNvSpPr/>
          <p:nvPr/>
        </p:nvSpPr>
        <p:spPr>
          <a:xfrm>
            <a:off x="7909560" y="3274009"/>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تعداد و مبلغ موارد منتظر تأیید؛ دریافت و پرداخت امروز.</a:t>
            </a:r>
            <a:endParaRPr lang="en-US" sz="1300" dirty="0"/>
          </a:p>
        </p:txBody>
      </p:sp>
      <p:sp>
        <p:nvSpPr>
          <p:cNvPr id="22" name="Shape 19"/>
          <p:cNvSpPr/>
          <p:nvPr/>
        </p:nvSpPr>
        <p:spPr>
          <a:xfrm>
            <a:off x="11411712" y="3847338"/>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8473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8473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اقلام باز و اقدام سریع</a:t>
            </a:r>
            <a:endParaRPr lang="en-US" sz="1350" dirty="0"/>
          </a:p>
        </p:txBody>
      </p:sp>
      <p:sp>
        <p:nvSpPr>
          <p:cNvPr id="25" name="Text 22"/>
          <p:cNvSpPr/>
          <p:nvPr/>
        </p:nvSpPr>
        <p:spPr>
          <a:xfrm>
            <a:off x="7909560" y="4176522"/>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سررسیدها و هشدارها؛ دکمه‌های درخواست پرداخت، دریافت وجه و انتقال وجه.</a:t>
            </a:r>
            <a:endParaRPr lang="en-US" sz="13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۱۴۹</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دریافت و پرداخت (خزانه‌داری)</a:t>
            </a:r>
            <a:endParaRPr lang="en-US" sz="10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3" name="Image 0" descr="menu_sl">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۸</a:t>
            </a:r>
            <a:endParaRPr lang="en-US" sz="4000" dirty="0"/>
          </a:p>
        </p:txBody>
      </p:sp>
      <p:sp>
        <p:nvSpPr>
          <p:cNvPr id="6" name="Text 3"/>
          <p:cNvSpPr/>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۸</a:t>
            </a:r>
            <a:endParaRPr lang="en-US" sz="1800" dirty="0"/>
          </a:p>
        </p:txBody>
      </p:sp>
      <p:sp>
        <p:nvSpPr>
          <p:cNvPr id="7" name="Text 4"/>
          <p:cNvSpPr/>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600" b="1" dirty="0">
                <a:solidFill>
                  <a:srgbClr val="FFFFFF"/>
                </a:solidFill>
                <a:latin typeface="Tahoma" pitchFamily="34" charset="0"/>
                <a:ea typeface="Tahoma" pitchFamily="34" charset="-122"/>
                <a:cs typeface="Tahoma" pitchFamily="34" charset="-120"/>
              </a:rPr>
              <a:t>فروش</a:t>
            </a:r>
            <a:endParaRPr lang="en-US" sz="3600" dirty="0"/>
          </a:p>
        </p:txBody>
      </p:sp>
      <p:sp>
        <p:nvSpPr>
          <p:cNvPr id="8" name="Text 5"/>
          <p:cNvSpPr/>
          <p:nvPr/>
        </p:nvSpPr>
        <p:spPr>
          <a:xfrm>
            <a:off x="5120640" y="4206240"/>
            <a:ext cx="6629400" cy="1463040"/>
          </a:xfrm>
          <a:prstGeom prst="rect">
            <a:avLst/>
          </a:prstGeom>
          <a:noFill/>
          <a:ln/>
        </p:spPr>
        <p:txBody>
          <a:bodyPr wrap="square" lIns="0" tIns="0" rIns="0" bIns="0" rtlCol="0" anchor="t"/>
          <a:lstStyle/>
          <a:p>
            <a:pPr rtl="1" algn="r" indent="0" marL="0">
              <a:buNone/>
            </a:pPr>
            <a:r>
              <a:rPr lang="en-US" sz="1600" dirty="0">
                <a:solidFill>
                  <a:srgbClr val="C9D3E6"/>
                </a:solidFill>
                <a:latin typeface="Tahoma" pitchFamily="34" charset="0"/>
                <a:ea typeface="Tahoma" pitchFamily="34" charset="-122"/>
                <a:cs typeface="Tahoma" pitchFamily="34" charset="-120"/>
              </a:rPr>
              <a:t>از پیش‌فاکتور تا فاکتور و برگشت از فروش؛ تخفیف و مالیات بر ارزش افزوده، تأیید، قطعی‌سازی و سند حسابداری خودکار</a:t>
            </a:r>
            <a:endParaRPr lang="en-US" sz="1600" dirty="0"/>
          </a:p>
        </p:txBody>
      </p:sp>
      <p:sp>
        <p:nvSpPr>
          <p:cNvPr id="9" name="Text 6"/>
          <p:cNvSpPr/>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فروش در این سامانه یعنی چه؟</a:t>
            </a:r>
            <a:endParaRPr lang="en-US" sz="2500" dirty="0"/>
          </a:p>
        </p:txBody>
      </p:sp>
      <p:sp>
        <p:nvSpPr>
          <p:cNvPr id="3" name="Shape 1"/>
          <p:cNvSpPr/>
          <p:nvPr/>
        </p:nvSpPr>
        <p:spPr>
          <a:xfrm>
            <a:off x="11731752" y="1097280"/>
            <a:ext cx="45720" cy="1242670"/>
          </a:xfrm>
          <a:prstGeom prst="rect">
            <a:avLst/>
          </a:prstGeom>
          <a:solidFill>
            <a:srgbClr val="C9A227"/>
          </a:solidFill>
          <a:ln w="12700">
            <a:solidFill>
              <a:srgbClr val="C9A227"/>
            </a:solidFill>
            <a:prstDash val="solid"/>
          </a:ln>
        </p:spPr>
      </p:sp>
      <p:sp>
        <p:nvSpPr>
          <p:cNvPr id="4" name="Text 2"/>
          <p:cNvSpPr/>
          <p:nvPr/>
        </p:nvSpPr>
        <p:spPr>
          <a:xfrm>
            <a:off x="5440680" y="1097280"/>
            <a:ext cx="6153912" cy="1242670"/>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وقتی سازمان کالا یا خدمتی به دیگری می‌دهد و پولش را بعداً می‌گیرد، چند «سند فروش» پشت سر هم صادر می‌شود. هر سند یک قدم از ماجراست؛ سامانه آن‌ها را به هم زنجیر می‌کند و در قدم‌های لازم سند حسابداری را خودش می‌سازد.</a:t>
            </a:r>
            <a:endParaRPr lang="en-US" sz="1550" dirty="0"/>
          </a:p>
        </p:txBody>
      </p:sp>
      <p:sp>
        <p:nvSpPr>
          <p:cNvPr id="5" name="Shape 3"/>
          <p:cNvSpPr/>
          <p:nvPr/>
        </p:nvSpPr>
        <p:spPr>
          <a:xfrm>
            <a:off x="11411712" y="2568550"/>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5685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568550"/>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پیش‌فاکتور و سفارش</a:t>
            </a:r>
            <a:endParaRPr lang="en-US" sz="1350" dirty="0"/>
          </a:p>
        </p:txBody>
      </p:sp>
      <p:sp>
        <p:nvSpPr>
          <p:cNvPr id="8" name="Text 6"/>
          <p:cNvSpPr/>
          <p:nvPr/>
        </p:nvSpPr>
        <p:spPr>
          <a:xfrm>
            <a:off x="5440680" y="2897734"/>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پیشنهاد قیمت به مشتری و قبول آن. هنوز چیزی تحویل نشده و هیچ سند حسابداری ساخته نمی‌شود.</a:t>
            </a:r>
            <a:endParaRPr lang="en-US" sz="1300" dirty="0"/>
          </a:p>
        </p:txBody>
      </p:sp>
      <p:sp>
        <p:nvSpPr>
          <p:cNvPr id="9" name="Shape 7"/>
          <p:cNvSpPr/>
          <p:nvPr/>
        </p:nvSpPr>
        <p:spPr>
          <a:xfrm>
            <a:off x="11411712" y="3471062"/>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47106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47106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حواله تحویل</a:t>
            </a:r>
            <a:endParaRPr lang="en-US" sz="1350" dirty="0"/>
          </a:p>
        </p:txBody>
      </p:sp>
      <p:sp>
        <p:nvSpPr>
          <p:cNvPr id="12" name="Text 10"/>
          <p:cNvSpPr/>
          <p:nvPr/>
        </p:nvSpPr>
        <p:spPr>
          <a:xfrm>
            <a:off x="5440680" y="380024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کالا از انبار بیرون می‌رود؛ موجودی کم می‌شود و «بهای تمام‌شده» (قیمت خرید کالای فروخته‌شده) ثبت می‌شود.</a:t>
            </a:r>
            <a:endParaRPr lang="en-US" sz="1300" dirty="0"/>
          </a:p>
        </p:txBody>
      </p:sp>
      <p:sp>
        <p:nvSpPr>
          <p:cNvPr id="13" name="Shape 11"/>
          <p:cNvSpPr/>
          <p:nvPr/>
        </p:nvSpPr>
        <p:spPr>
          <a:xfrm>
            <a:off x="11411712" y="4373575"/>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37357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37357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فاکتور فروش</a:t>
            </a:r>
            <a:endParaRPr lang="en-US" sz="1350" dirty="0"/>
          </a:p>
        </p:txBody>
      </p:sp>
      <p:sp>
        <p:nvSpPr>
          <p:cNvPr id="16" name="Text 14"/>
          <p:cNvSpPr/>
          <p:nvPr/>
        </p:nvSpPr>
        <p:spPr>
          <a:xfrm>
            <a:off x="5440680" y="470275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طلب از مشتری (دریافتنی)، درآمد فروش و مالیات بر ارزش افزوده ثبت می‌شود.</a:t>
            </a:r>
            <a:endParaRPr lang="en-US" sz="1300" dirty="0"/>
          </a:p>
        </p:txBody>
      </p:sp>
      <p:sp>
        <p:nvSpPr>
          <p:cNvPr id="17" name="Shape 15"/>
          <p:cNvSpPr/>
          <p:nvPr/>
        </p:nvSpPr>
        <p:spPr>
          <a:xfrm>
            <a:off x="11411712" y="5276088"/>
            <a:ext cx="329184" cy="329184"/>
          </a:xfrm>
          <a:prstGeom prst="ellipse">
            <a:avLst/>
          </a:prstGeom>
          <a:solidFill>
            <a:srgbClr val="C9A227"/>
          </a:solidFill>
          <a:ln w="12700">
            <a:solidFill>
              <a:srgbClr val="C9A227"/>
            </a:solidFill>
            <a:prstDash val="solid"/>
          </a:ln>
        </p:spPr>
      </p:sp>
      <p:sp>
        <p:nvSpPr>
          <p:cNvPr id="18" name="Text 16"/>
          <p:cNvSpPr/>
          <p:nvPr/>
        </p:nvSpPr>
        <p:spPr>
          <a:xfrm>
            <a:off x="11411712" y="527608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7"/>
          <p:cNvSpPr/>
          <p:nvPr/>
        </p:nvSpPr>
        <p:spPr>
          <a:xfrm>
            <a:off x="5440680" y="5276088"/>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برگشت از فروش</a:t>
            </a:r>
            <a:endParaRPr lang="en-US" sz="1350" dirty="0"/>
          </a:p>
        </p:txBody>
      </p:sp>
      <p:sp>
        <p:nvSpPr>
          <p:cNvPr id="20" name="Text 18"/>
          <p:cNvSpPr/>
          <p:nvPr/>
        </p:nvSpPr>
        <p:spPr>
          <a:xfrm>
            <a:off x="5440680" y="5605272"/>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اگر مشتری کالا را پس داد یا فاکتور اشتباه بود، تنها راه اصلاح فاکتور قطعی همین سند است.</a:t>
            </a:r>
            <a:endParaRPr lang="en-US" sz="1300" dirty="0"/>
          </a:p>
        </p:txBody>
      </p:sp>
      <p:sp>
        <p:nvSpPr>
          <p:cNvPr id="21" name="Shape 19"/>
          <p:cNvSpPr/>
          <p:nvPr/>
        </p:nvSpPr>
        <p:spPr>
          <a:xfrm>
            <a:off x="411480" y="1097280"/>
            <a:ext cx="4754880" cy="3490265"/>
          </a:xfrm>
          <a:prstGeom prst="roundRect">
            <a:avLst>
              <a:gd name="adj" fmla="val 2620"/>
            </a:avLst>
          </a:prstGeom>
          <a:solidFill>
            <a:srgbClr val="E3F3EA"/>
          </a:solidFill>
          <a:ln w="9525">
            <a:solidFill>
              <a:srgbClr val="1E7A4C"/>
            </a:solidFill>
            <a:prstDash val="solid"/>
          </a:ln>
        </p:spPr>
      </p:sp>
      <p:sp>
        <p:nvSpPr>
          <p:cNvPr id="22" name="Text 20"/>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فروش کارتخوان به بیمارستان</a:t>
            </a:r>
            <a:endParaRPr lang="en-US" sz="1500" dirty="0"/>
          </a:p>
        </p:txBody>
      </p:sp>
      <p:sp>
        <p:nvSpPr>
          <p:cNvPr id="23" name="Text 21"/>
          <p:cNvSpPr/>
          <p:nvPr/>
        </p:nvSpPr>
        <p:spPr>
          <a:xfrm>
            <a:off x="594360" y="1691640"/>
            <a:ext cx="4389120" cy="5550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اداره کل تهران قرار است ۱۰ دستگاه کارتخوان و خدمت نصب آن‌ها را به «بیمارستان نمونهٔ البرز» بفروشد:</a:t>
            </a:r>
            <a:endParaRPr lang="en-US" sz="1300" dirty="0"/>
          </a:p>
        </p:txBody>
      </p:sp>
      <p:graphicFrame>
        <p:nvGraphicFramePr>
          <p:cNvPr id="152" name="Table 0"/>
          <p:cNvGraphicFramePr>
            <a:graphicFrameLocks noGrp="1"/>
          </p:cNvGraphicFramePr>
          <p:nvPr>
            <p:extLst>
              <p:ext uri="{D42A27DB-BD31-4B8C-83A1-F6EECF244321}">
                <p14:modId xmlns:p14="http://schemas.microsoft.com/office/powerpoint/2010/main" val="1579011935"/>
              </p:ext>
            </p:extLst>
          </p:nvPr>
        </p:nvGraphicFramePr>
        <p:xfrm>
          <a:off x="594360" y="2383841"/>
          <a:ext cx="4389120" cy="914400"/>
        </p:xfrm>
        <a:graphic>
          <a:graphicData uri="http://schemas.openxmlformats.org/drawingml/2006/table">
            <a:tbl>
              <a:tblPr rtl="1"/>
              <a:tblGrid>
                <a:gridCol w="1404518"/>
                <a:gridCol w="2984602"/>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سند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چه اتفاقی افتاد؟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پیش‌فاکتور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قیمت ۱۰ دستگاه و ۱۰٪ تخفیف پیشنهاد شد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سفارش فروش</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بیمارستان پذیرفت و سفارش داد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حواله تحویل</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۱۰ دستگاه از انبار تحویل شد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فاکتور فروش</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صورتحساب کالا + نصب صادر شد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برگشت از فروش</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۲ دستگاه معیوب پس آمد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bl>
          </a:graphicData>
        </a:graphic>
      </p:graphicFrame>
      <p:sp>
        <p:nvSpPr>
          <p:cNvPr id="25" name="Text 2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۱۵۱</a:t>
            </a:r>
            <a:endParaRPr lang="en-US" sz="1000" dirty="0"/>
          </a:p>
        </p:txBody>
      </p:sp>
      <p:sp>
        <p:nvSpPr>
          <p:cNvPr id="26" name="Text 2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چرخهٔ اسناد فروش</a:t>
            </a:r>
            <a:endParaRPr lang="en-US" sz="2500" dirty="0"/>
          </a:p>
        </p:txBody>
      </p:sp>
      <p:sp>
        <p:nvSpPr>
          <p:cNvPr id="3" name="Shape 1"/>
          <p:cNvSpPr/>
          <p:nvPr/>
        </p:nvSpPr>
        <p:spPr>
          <a:xfrm>
            <a:off x="9767621" y="1965960"/>
            <a:ext cx="2009851" cy="2103120"/>
          </a:xfrm>
          <a:prstGeom prst="roundRect">
            <a:avLst>
              <a:gd name="adj" fmla="val 5460"/>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10498226" y="1691640"/>
            <a:ext cx="548640" cy="548640"/>
          </a:xfrm>
          <a:prstGeom prst="ellipse">
            <a:avLst/>
          </a:prstGeom>
          <a:solidFill>
            <a:srgbClr val="C9A227"/>
          </a:solidFill>
          <a:ln w="12700">
            <a:solidFill>
              <a:srgbClr val="C9A227"/>
            </a:solidFill>
            <a:prstDash val="solid"/>
          </a:ln>
        </p:spPr>
      </p:sp>
      <p:sp>
        <p:nvSpPr>
          <p:cNvPr id="5" name="Text 3"/>
          <p:cNvSpPr/>
          <p:nvPr/>
        </p:nvSpPr>
        <p:spPr>
          <a:xfrm>
            <a:off x="1049822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p:nvPr/>
        </p:nvSpPr>
        <p:spPr>
          <a:xfrm>
            <a:off x="9859061" y="2377440"/>
            <a:ext cx="1826971"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پیش‌فاکتور</a:t>
            </a:r>
            <a:endParaRPr lang="en-US" sz="1550" dirty="0"/>
          </a:p>
        </p:txBody>
      </p:sp>
      <p:sp>
        <p:nvSpPr>
          <p:cNvPr id="7" name="Text 5"/>
          <p:cNvSpPr/>
          <p:nvPr/>
        </p:nvSpPr>
        <p:spPr>
          <a:xfrm>
            <a:off x="9859061" y="3108960"/>
            <a:ext cx="1826971"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قیمت، تخفیف و اعتبار</a:t>
            </a:r>
            <a:endParaRPr lang="en-US" sz="1200" dirty="0"/>
          </a:p>
        </p:txBody>
      </p:sp>
      <p:sp>
        <p:nvSpPr>
          <p:cNvPr id="8" name="Text 6"/>
          <p:cNvSpPr/>
          <p:nvPr/>
        </p:nvSpPr>
        <p:spPr>
          <a:xfrm>
            <a:off x="9438437"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9" name="Shape 7"/>
          <p:cNvSpPr/>
          <p:nvPr/>
        </p:nvSpPr>
        <p:spPr>
          <a:xfrm>
            <a:off x="7428586" y="1965960"/>
            <a:ext cx="2009851" cy="2103120"/>
          </a:xfrm>
          <a:prstGeom prst="roundRect">
            <a:avLst>
              <a:gd name="adj" fmla="val 5460"/>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8159191" y="1691640"/>
            <a:ext cx="548640" cy="548640"/>
          </a:xfrm>
          <a:prstGeom prst="ellipse">
            <a:avLst/>
          </a:prstGeom>
          <a:solidFill>
            <a:srgbClr val="C9A227"/>
          </a:solidFill>
          <a:ln w="12700">
            <a:solidFill>
              <a:srgbClr val="C9A227"/>
            </a:solidFill>
            <a:prstDash val="solid"/>
          </a:ln>
        </p:spPr>
      </p:sp>
      <p:sp>
        <p:nvSpPr>
          <p:cNvPr id="11" name="Text 9"/>
          <p:cNvSpPr/>
          <p:nvPr/>
        </p:nvSpPr>
        <p:spPr>
          <a:xfrm>
            <a:off x="8159191"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2" name="Text 10"/>
          <p:cNvSpPr/>
          <p:nvPr/>
        </p:nvSpPr>
        <p:spPr>
          <a:xfrm>
            <a:off x="7520026" y="2377440"/>
            <a:ext cx="1826971"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سفارش فروش</a:t>
            </a:r>
            <a:endParaRPr lang="en-US" sz="1550" dirty="0"/>
          </a:p>
        </p:txBody>
      </p:sp>
      <p:sp>
        <p:nvSpPr>
          <p:cNvPr id="13" name="Text 11"/>
          <p:cNvSpPr/>
          <p:nvPr/>
        </p:nvSpPr>
        <p:spPr>
          <a:xfrm>
            <a:off x="7520026" y="3108960"/>
            <a:ext cx="1826971"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تعهد به مشتری</a:t>
            </a:r>
            <a:endParaRPr lang="en-US" sz="1200" dirty="0"/>
          </a:p>
        </p:txBody>
      </p:sp>
      <p:sp>
        <p:nvSpPr>
          <p:cNvPr id="14" name="Text 12"/>
          <p:cNvSpPr/>
          <p:nvPr/>
        </p:nvSpPr>
        <p:spPr>
          <a:xfrm>
            <a:off x="7099402"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15" name="Shape 13"/>
          <p:cNvSpPr/>
          <p:nvPr/>
        </p:nvSpPr>
        <p:spPr>
          <a:xfrm>
            <a:off x="5089550" y="1965960"/>
            <a:ext cx="2009851" cy="2103120"/>
          </a:xfrm>
          <a:prstGeom prst="roundRect">
            <a:avLst>
              <a:gd name="adj" fmla="val 5460"/>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6" name="Shape 14"/>
          <p:cNvSpPr/>
          <p:nvPr/>
        </p:nvSpPr>
        <p:spPr>
          <a:xfrm>
            <a:off x="5820156" y="1691640"/>
            <a:ext cx="548640" cy="548640"/>
          </a:xfrm>
          <a:prstGeom prst="ellipse">
            <a:avLst/>
          </a:prstGeom>
          <a:solidFill>
            <a:srgbClr val="C9A227"/>
          </a:solidFill>
          <a:ln w="12700">
            <a:solidFill>
              <a:srgbClr val="C9A227"/>
            </a:solidFill>
            <a:prstDash val="solid"/>
          </a:ln>
        </p:spPr>
      </p:sp>
      <p:sp>
        <p:nvSpPr>
          <p:cNvPr id="17" name="Text 15"/>
          <p:cNvSpPr/>
          <p:nvPr/>
        </p:nvSpPr>
        <p:spPr>
          <a:xfrm>
            <a:off x="582015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8" name="Text 16"/>
          <p:cNvSpPr/>
          <p:nvPr/>
        </p:nvSpPr>
        <p:spPr>
          <a:xfrm>
            <a:off x="5180990" y="2377440"/>
            <a:ext cx="1826971"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حواله تحویل</a:t>
            </a:r>
            <a:endParaRPr lang="en-US" sz="1550" dirty="0"/>
          </a:p>
        </p:txBody>
      </p:sp>
      <p:sp>
        <p:nvSpPr>
          <p:cNvPr id="19" name="Text 17"/>
          <p:cNvSpPr/>
          <p:nvPr/>
        </p:nvSpPr>
        <p:spPr>
          <a:xfrm>
            <a:off x="5180990" y="3108960"/>
            <a:ext cx="1826971"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خروج کالا و بهای تمام‌شده</a:t>
            </a:r>
            <a:endParaRPr lang="en-US" sz="1200" dirty="0"/>
          </a:p>
        </p:txBody>
      </p:sp>
      <p:sp>
        <p:nvSpPr>
          <p:cNvPr id="20" name="Text 18"/>
          <p:cNvSpPr/>
          <p:nvPr/>
        </p:nvSpPr>
        <p:spPr>
          <a:xfrm>
            <a:off x="4760366"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1" name="Shape 19"/>
          <p:cNvSpPr/>
          <p:nvPr/>
        </p:nvSpPr>
        <p:spPr>
          <a:xfrm>
            <a:off x="2750515" y="1965960"/>
            <a:ext cx="2009851" cy="2103120"/>
          </a:xfrm>
          <a:prstGeom prst="roundRect">
            <a:avLst>
              <a:gd name="adj" fmla="val 5460"/>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2" name="Shape 20"/>
          <p:cNvSpPr/>
          <p:nvPr/>
        </p:nvSpPr>
        <p:spPr>
          <a:xfrm>
            <a:off x="3481121" y="1691640"/>
            <a:ext cx="548640" cy="548640"/>
          </a:xfrm>
          <a:prstGeom prst="ellipse">
            <a:avLst/>
          </a:prstGeom>
          <a:solidFill>
            <a:srgbClr val="C9A227"/>
          </a:solidFill>
          <a:ln w="12700">
            <a:solidFill>
              <a:srgbClr val="C9A227"/>
            </a:solidFill>
            <a:prstDash val="solid"/>
          </a:ln>
        </p:spPr>
      </p:sp>
      <p:sp>
        <p:nvSpPr>
          <p:cNvPr id="23" name="Text 21"/>
          <p:cNvSpPr/>
          <p:nvPr/>
        </p:nvSpPr>
        <p:spPr>
          <a:xfrm>
            <a:off x="3481121"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۴</a:t>
            </a:r>
            <a:endParaRPr lang="en-US" sz="1800" dirty="0"/>
          </a:p>
        </p:txBody>
      </p:sp>
      <p:sp>
        <p:nvSpPr>
          <p:cNvPr id="24" name="Text 22"/>
          <p:cNvSpPr/>
          <p:nvPr/>
        </p:nvSpPr>
        <p:spPr>
          <a:xfrm>
            <a:off x="2841955" y="2377440"/>
            <a:ext cx="1826971"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فاکتور فروش</a:t>
            </a:r>
            <a:endParaRPr lang="en-US" sz="1550" dirty="0"/>
          </a:p>
        </p:txBody>
      </p:sp>
      <p:sp>
        <p:nvSpPr>
          <p:cNvPr id="25" name="Text 23"/>
          <p:cNvSpPr/>
          <p:nvPr/>
        </p:nvSpPr>
        <p:spPr>
          <a:xfrm>
            <a:off x="2841955" y="3108960"/>
            <a:ext cx="1826971"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دریافتنی، درآمد و مالیات</a:t>
            </a:r>
            <a:endParaRPr lang="en-US" sz="1200" dirty="0"/>
          </a:p>
        </p:txBody>
      </p:sp>
      <p:sp>
        <p:nvSpPr>
          <p:cNvPr id="26" name="Text 24"/>
          <p:cNvSpPr/>
          <p:nvPr/>
        </p:nvSpPr>
        <p:spPr>
          <a:xfrm>
            <a:off x="2421331"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7" name="Shape 25"/>
          <p:cNvSpPr/>
          <p:nvPr/>
        </p:nvSpPr>
        <p:spPr>
          <a:xfrm>
            <a:off x="411480" y="1965960"/>
            <a:ext cx="2009851" cy="2103120"/>
          </a:xfrm>
          <a:prstGeom prst="roundRect">
            <a:avLst>
              <a:gd name="adj" fmla="val 5460"/>
            </a:avLst>
          </a:prstGeom>
          <a:solidFill>
            <a:srgbClr val="1B2A49"/>
          </a:solidFill>
          <a:ln w="9525">
            <a:solidFill>
              <a:srgbClr val="1B2A49"/>
            </a:solidFill>
            <a:prstDash val="solid"/>
          </a:ln>
          <a:effectLst>
            <a:outerShdw sx="100000" sy="100000" kx="0" ky="0" algn="bl" rotWithShape="0" blurRad="76200" dist="25400" dir="5400000">
              <a:srgbClr val="000000">
                <a:alpha val="12000"/>
              </a:srgbClr>
            </a:outerShdw>
          </a:effectLst>
        </p:spPr>
      </p:sp>
      <p:sp>
        <p:nvSpPr>
          <p:cNvPr id="28" name="Shape 26"/>
          <p:cNvSpPr/>
          <p:nvPr/>
        </p:nvSpPr>
        <p:spPr>
          <a:xfrm>
            <a:off x="1142086" y="1691640"/>
            <a:ext cx="548640" cy="548640"/>
          </a:xfrm>
          <a:prstGeom prst="ellipse">
            <a:avLst/>
          </a:prstGeom>
          <a:solidFill>
            <a:srgbClr val="C9A227"/>
          </a:solidFill>
          <a:ln w="12700">
            <a:solidFill>
              <a:srgbClr val="C9A227"/>
            </a:solidFill>
            <a:prstDash val="solid"/>
          </a:ln>
        </p:spPr>
      </p:sp>
      <p:sp>
        <p:nvSpPr>
          <p:cNvPr id="29" name="Text 27"/>
          <p:cNvSpPr/>
          <p:nvPr/>
        </p:nvSpPr>
        <p:spPr>
          <a:xfrm>
            <a:off x="114208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۵</a:t>
            </a:r>
            <a:endParaRPr lang="en-US" sz="1800" dirty="0"/>
          </a:p>
        </p:txBody>
      </p:sp>
      <p:sp>
        <p:nvSpPr>
          <p:cNvPr id="30" name="Text 28"/>
          <p:cNvSpPr/>
          <p:nvPr/>
        </p:nvSpPr>
        <p:spPr>
          <a:xfrm>
            <a:off x="502920" y="2377440"/>
            <a:ext cx="1826971" cy="731520"/>
          </a:xfrm>
          <a:prstGeom prst="rect">
            <a:avLst/>
          </a:prstGeom>
          <a:noFill/>
          <a:ln/>
        </p:spPr>
        <p:txBody>
          <a:bodyPr wrap="square" lIns="0" tIns="0" rIns="0" bIns="0" rtlCol="0" anchor="ctr"/>
          <a:lstStyle/>
          <a:p>
            <a:pPr rtl="1" algn="ctr" indent="0" marL="0">
              <a:buNone/>
            </a:pPr>
            <a:r>
              <a:rPr lang="en-US" sz="1550" b="1" dirty="0">
                <a:solidFill>
                  <a:srgbClr val="FFFFFF"/>
                </a:solidFill>
                <a:latin typeface="Tahoma" pitchFamily="34" charset="0"/>
                <a:ea typeface="Tahoma" pitchFamily="34" charset="-122"/>
                <a:cs typeface="Tahoma" pitchFamily="34" charset="-120"/>
              </a:rPr>
              <a:t>برگشت از فروش</a:t>
            </a:r>
            <a:endParaRPr lang="en-US" sz="1550" dirty="0"/>
          </a:p>
        </p:txBody>
      </p:sp>
      <p:sp>
        <p:nvSpPr>
          <p:cNvPr id="31" name="Text 29"/>
          <p:cNvSpPr/>
          <p:nvPr/>
        </p:nvSpPr>
        <p:spPr>
          <a:xfrm>
            <a:off x="502920" y="3108960"/>
            <a:ext cx="1826971" cy="868680"/>
          </a:xfrm>
          <a:prstGeom prst="rect">
            <a:avLst/>
          </a:prstGeom>
          <a:noFill/>
          <a:ln/>
        </p:spPr>
        <p:txBody>
          <a:bodyPr wrap="square" lIns="0" tIns="0" rIns="0" bIns="0" rtlCol="0" anchor="t"/>
          <a:lstStyle/>
          <a:p>
            <a:pPr rtl="1" algn="ctr" indent="0" marL="0">
              <a:buNone/>
            </a:pPr>
            <a:r>
              <a:rPr lang="en-US" sz="1200" dirty="0">
                <a:solidFill>
                  <a:srgbClr val="C9D3E6"/>
                </a:solidFill>
                <a:latin typeface="Tahoma" pitchFamily="34" charset="0"/>
                <a:ea typeface="Tahoma" pitchFamily="34" charset="-122"/>
                <a:cs typeface="Tahoma" pitchFamily="34" charset="-120"/>
              </a:rPr>
              <a:t>تنها راه اصلاح فاکتور قطعی</a:t>
            </a:r>
            <a:endParaRPr lang="en-US" sz="1200" dirty="0"/>
          </a:p>
        </p:txBody>
      </p:sp>
      <p:sp>
        <p:nvSpPr>
          <p:cNvPr id="32" name="Shape 30"/>
          <p:cNvSpPr/>
          <p:nvPr/>
        </p:nvSpPr>
        <p:spPr>
          <a:xfrm>
            <a:off x="411480" y="4526280"/>
            <a:ext cx="11365992" cy="914400"/>
          </a:xfrm>
          <a:prstGeom prst="roundRect">
            <a:avLst>
              <a:gd name="adj" fmla="val 8000"/>
            </a:avLst>
          </a:prstGeom>
          <a:solidFill>
            <a:srgbClr val="F6EDCF"/>
          </a:solidFill>
          <a:ln w="9525">
            <a:solidFill>
              <a:srgbClr val="C9A227"/>
            </a:solidFill>
            <a:prstDash val="solid"/>
          </a:ln>
        </p:spPr>
      </p:sp>
      <p:sp>
        <p:nvSpPr>
          <p:cNvPr id="33" name="Text 31"/>
          <p:cNvSpPr/>
          <p:nvPr/>
        </p:nvSpPr>
        <p:spPr>
          <a:xfrm>
            <a:off x="10863072" y="4526280"/>
            <a:ext cx="822960" cy="91440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4" name="Text 32"/>
          <p:cNvSpPr/>
          <p:nvPr/>
        </p:nvSpPr>
        <p:spPr>
          <a:xfrm>
            <a:off x="548640" y="4526280"/>
            <a:ext cx="10241280" cy="91440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هر سند: پیش‌نویس ← (در انتظار تأیید) ← تأییدشده ← قطعی‌شده. فقط حواله، فاکتور و برگشت قطعی می‌شوند و سند حسابداری موقت می‌سازند.</a:t>
            </a:r>
            <a:endParaRPr lang="en-US" sz="1250" dirty="0"/>
          </a:p>
        </p:txBody>
      </p:sp>
      <p:sp>
        <p:nvSpPr>
          <p:cNvPr id="35" name="Shape 33"/>
          <p:cNvSpPr/>
          <p:nvPr/>
        </p:nvSpPr>
        <p:spPr>
          <a:xfrm>
            <a:off x="411480" y="5550408"/>
            <a:ext cx="11365992" cy="777240"/>
          </a:xfrm>
          <a:prstGeom prst="roundRect">
            <a:avLst>
              <a:gd name="adj" fmla="val 9412"/>
            </a:avLst>
          </a:prstGeom>
          <a:solidFill>
            <a:srgbClr val="E3F3EA"/>
          </a:solidFill>
          <a:ln w="9525">
            <a:solidFill>
              <a:srgbClr val="1E7A4C"/>
            </a:solidFill>
            <a:prstDash val="solid"/>
          </a:ln>
        </p:spPr>
      </p:sp>
      <p:sp>
        <p:nvSpPr>
          <p:cNvPr id="36" name="Text 34"/>
          <p:cNvSpPr/>
          <p:nvPr/>
        </p:nvSpPr>
        <p:spPr>
          <a:xfrm>
            <a:off x="10863072" y="5550408"/>
            <a:ext cx="822960" cy="777240"/>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37" name="Text 35"/>
          <p:cNvSpPr/>
          <p:nvPr/>
        </p:nvSpPr>
        <p:spPr>
          <a:xfrm>
            <a:off x="548640" y="5550408"/>
            <a:ext cx="10241280" cy="77724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خدمات (مثل نصب) بدون حواله مستقیم فاکتور می‌شوند؛ «فاکتور مستقیم» هم بدون پیش‌فاکتور و سفارش ممکن است — مثلاً فروش قرارداد پشتیبانی سالانه.</a:t>
            </a:r>
            <a:endParaRPr lang="en-US" sz="1250" dirty="0"/>
          </a:p>
        </p:txBody>
      </p:sp>
      <p:sp>
        <p:nvSpPr>
          <p:cNvPr id="38" name="Text 3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۱۵۲</a:t>
            </a:r>
            <a:endParaRPr lang="en-US" sz="1000" dirty="0"/>
          </a:p>
        </p:txBody>
      </p:sp>
      <p:sp>
        <p:nvSpPr>
          <p:cNvPr id="39" name="Text 3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تخفیف و مالیات بر ارزش افزوده با عدد</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تخفیف یعنی کم کردن از قیمت؛ «مالیات بر ارزش افزوده» مبلغی است که فروشنده روی فروش از مشتری می‌گیرد و بعداً به سازمان امور مالیاتی می‌دهد، پس درآمد سازمان نیست، بدهی است.</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تخفیف ردیف و تخفیف کلی</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ردیف «تخفیف ٪» دارد؛ «تخفیف کلی سند» (ریالی) به نسبت مبلغ ردیف‌ها بین آن‌ها سرشکن می‌شود.</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مبلغ مشمول</a:t>
            </a:r>
            <a:endParaRPr lang="en-US" sz="1350" dirty="0"/>
          </a:p>
        </p:txBody>
      </p:sp>
      <p:sp>
        <p:nvSpPr>
          <p:cNvPr id="12" name="Text 10"/>
          <p:cNvSpPr/>
          <p:nvPr/>
        </p:nvSpPr>
        <p:spPr>
          <a:xfrm>
            <a:off x="5440680" y="3523869"/>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مبلغ پس از تخفیف؛ مالیات روی همین عدد و در سطح هر ردیف حساب می‌شود.</a:t>
            </a:r>
            <a:endParaRPr lang="en-US" sz="1300" dirty="0"/>
          </a:p>
        </p:txBody>
      </p:sp>
      <p:sp>
        <p:nvSpPr>
          <p:cNvPr id="13" name="Shape 11"/>
          <p:cNvSpPr/>
          <p:nvPr/>
        </p:nvSpPr>
        <p:spPr>
          <a:xfrm>
            <a:off x="11411712" y="3865397"/>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386539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3865397"/>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نرخ مالیات</a:t>
            </a:r>
            <a:endParaRPr lang="en-US" sz="1350" dirty="0"/>
          </a:p>
        </p:txBody>
      </p:sp>
      <p:sp>
        <p:nvSpPr>
          <p:cNvPr id="16" name="Text 14"/>
          <p:cNvSpPr/>
          <p:nvPr/>
        </p:nvSpPr>
        <p:spPr>
          <a:xfrm>
            <a:off x="5440680" y="4194581"/>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نرخ مؤثر در تاریخ سند (از «تنظیمات فروش»)؛ کالای «معاف» با نرخ صفر حساب می‌شود.</a:t>
            </a:r>
            <a:endParaRPr lang="en-US" sz="1300" dirty="0"/>
          </a:p>
        </p:txBody>
      </p:sp>
      <p:sp>
        <p:nvSpPr>
          <p:cNvPr id="17" name="Shape 15"/>
          <p:cNvSpPr/>
          <p:nvPr/>
        </p:nvSpPr>
        <p:spPr>
          <a:xfrm>
            <a:off x="11411712" y="4767910"/>
            <a:ext cx="329184" cy="329184"/>
          </a:xfrm>
          <a:prstGeom prst="ellipse">
            <a:avLst/>
          </a:prstGeom>
          <a:solidFill>
            <a:srgbClr val="C9A227"/>
          </a:solidFill>
          <a:ln w="12700">
            <a:solidFill>
              <a:srgbClr val="C9A227"/>
            </a:solidFill>
            <a:prstDash val="solid"/>
          </a:ln>
        </p:spPr>
      </p:sp>
      <p:sp>
        <p:nvSpPr>
          <p:cNvPr id="18" name="Text 16"/>
          <p:cNvSpPr/>
          <p:nvPr/>
        </p:nvSpPr>
        <p:spPr>
          <a:xfrm>
            <a:off x="11411712" y="476791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7"/>
          <p:cNvSpPr/>
          <p:nvPr/>
        </p:nvSpPr>
        <p:spPr>
          <a:xfrm>
            <a:off x="5440680" y="4767910"/>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تخفیف زیاد</a:t>
            </a:r>
            <a:endParaRPr lang="en-US" sz="1350" dirty="0"/>
          </a:p>
        </p:txBody>
      </p:sp>
      <p:sp>
        <p:nvSpPr>
          <p:cNvPr id="20" name="Text 18"/>
          <p:cNvSpPr/>
          <p:nvPr/>
        </p:nvSpPr>
        <p:spPr>
          <a:xfrm>
            <a:off x="5440680" y="5097094"/>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اگر تخفیف از آستانهٔ تنظیمات (مثلاً ۱۰٪) بیشتر شود، سند برای تأیید مدیر فروش ارجاع می‌شود.</a:t>
            </a:r>
            <a:endParaRPr lang="en-US" sz="1300" dirty="0"/>
          </a:p>
        </p:txBody>
      </p:sp>
      <p:sp>
        <p:nvSpPr>
          <p:cNvPr id="21" name="Shape 19"/>
          <p:cNvSpPr/>
          <p:nvPr/>
        </p:nvSpPr>
        <p:spPr>
          <a:xfrm>
            <a:off x="411480" y="1097280"/>
            <a:ext cx="4754880" cy="4118915"/>
          </a:xfrm>
          <a:prstGeom prst="roundRect">
            <a:avLst>
              <a:gd name="adj" fmla="val 2220"/>
            </a:avLst>
          </a:prstGeom>
          <a:solidFill>
            <a:srgbClr val="E3F3EA"/>
          </a:solidFill>
          <a:ln w="9525">
            <a:solidFill>
              <a:srgbClr val="1E7A4C"/>
            </a:solidFill>
            <a:prstDash val="solid"/>
          </a:ln>
        </p:spPr>
      </p:sp>
      <p:sp>
        <p:nvSpPr>
          <p:cNvPr id="22" name="Text 20"/>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ردیف کارتخوان</a:t>
            </a:r>
            <a:endParaRPr lang="en-US" sz="1500" dirty="0"/>
          </a:p>
        </p:txBody>
      </p:sp>
      <p:sp>
        <p:nvSpPr>
          <p:cNvPr id="23" name="Text 21"/>
          <p:cNvSpPr/>
          <p:nvPr/>
        </p:nvSpPr>
        <p:spPr>
          <a:xfrm>
            <a:off x="594360" y="1691640"/>
            <a:ext cx="4389120" cy="5550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۱۰ دستگاه × فی ۵,۰۰۰,۰۰۰ ریال، تخفیف ۱۰٪، نرخ مالیات ۱۰٪:</a:t>
            </a:r>
            <a:endParaRPr lang="en-US" sz="1300" dirty="0"/>
          </a:p>
        </p:txBody>
      </p:sp>
      <p:graphicFrame>
        <p:nvGraphicFramePr>
          <p:cNvPr id="154" name="Table 0"/>
          <p:cNvGraphicFramePr>
            <a:graphicFrameLocks noGrp="1"/>
          </p:cNvGraphicFramePr>
          <p:nvPr>
            <p:extLst>
              <p:ext uri="{D42A27DB-BD31-4B8C-83A1-F6EECF244321}">
                <p14:modId xmlns:p14="http://schemas.microsoft.com/office/powerpoint/2010/main" val="1579011935"/>
              </p:ext>
            </p:extLst>
          </p:nvPr>
        </p:nvGraphicFramePr>
        <p:xfrm>
          <a:off x="594360" y="2383841"/>
          <a:ext cx="4389120" cy="914400"/>
        </p:xfrm>
        <a:graphic>
          <a:graphicData uri="http://schemas.openxmlformats.org/drawingml/2006/table">
            <a:tbl>
              <a:tblPr rtl="1"/>
              <a:tblGrid>
                <a:gridCol w="2633472"/>
                <a:gridCol w="1755648"/>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شرح</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مبلغ</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جمع ناخالص</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۵۰,۰۰۰,۰۰۰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تخفیف (۱۰٪)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۵,۰۰۰,۰۰۰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مبلغ مشمول</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۴۵,۰۰۰,۰۰۰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مالیات بر ارزش افزوده (۱۰٪)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۴,۵۰۰,۰۰۰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قابل پرداخت</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۴۹,۵۰۰,۰۰۰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bl>
          </a:graphicData>
        </a:graphic>
      </p:graphicFrame>
      <p:sp>
        <p:nvSpPr>
          <p:cNvPr id="25" name="Text 22"/>
          <p:cNvSpPr/>
          <p:nvPr/>
        </p:nvSpPr>
        <p:spPr>
          <a:xfrm>
            <a:off x="594360" y="4496105"/>
            <a:ext cx="4389120" cy="62865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تخفیف ۱۰٪ از آستانهٔ ۱۰٪ بیشتر نیست، پس تأیید لازم ندارد؛ ۱۵٪ ارجاع می‌شد.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۱۵۳</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وضعیت‌های سند و نقش‌های فروش</a:t>
            </a:r>
            <a:endParaRPr lang="en-US" sz="2500" dirty="0"/>
          </a:p>
        </p:txBody>
      </p:sp>
      <p:graphicFrame>
        <p:nvGraphicFramePr>
          <p:cNvPr id="155" name="Table 0"/>
          <p:cNvGraphicFramePr>
            <a:graphicFrameLocks noGrp="1"/>
          </p:cNvGraphicFramePr>
          <p:nvPr>
            <p:extLst>
              <p:ext uri="{D42A27DB-BD31-4B8C-83A1-F6EECF244321}">
                <p14:modId xmlns:p14="http://schemas.microsoft.com/office/powerpoint/2010/main" val="1579011935"/>
              </p:ext>
            </p:extLst>
          </p:nvPr>
        </p:nvGraphicFramePr>
        <p:xfrm>
          <a:off x="6245352" y="1234440"/>
          <a:ext cx="5532120" cy="914400"/>
        </p:xfrm>
        <a:graphic>
          <a:graphicData uri="http://schemas.openxmlformats.org/drawingml/2006/table">
            <a:tbl>
              <a:tblPr rtl="1"/>
              <a:tblGrid>
                <a:gridCol w="1770278"/>
                <a:gridCol w="3761842"/>
              </a:tblGrid>
              <a:tr h="502920">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وضعیت</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یعنی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پیش‌نویس</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ذخیره شده ولی ثبت نشده؛ هر وقت بخواهید ویرایش می‌شود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در انتظار تأیید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تخفیف بالای آستانه یا عبور از سقف اعتبار؛ منتظر مدیر فروش</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تأییدشده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قابل تبدیل به سند بعدی یا قطعی‌سازی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قطعی‌شده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شماره نهایی و سند حسابداری گرفته؛ قفل است</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باطل</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سند قطعی‌نشده‌ای که ابطال شده و دیگر به کار نمی‌آید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bl>
          </a:graphicData>
        </a:graphic>
      </p:graphicFrame>
      <p:graphicFrame>
        <p:nvGraphicFramePr>
          <p:cNvPr id="309" name="Table 1"/>
          <p:cNvGraphicFramePr>
            <a:graphicFrameLocks noGrp="1"/>
          </p:cNvGraphicFramePr>
          <p:nvPr>
            <p:extLst>
              <p:ext uri="{D42A27DB-BD31-4B8C-83A1-F6EECF244321}">
                <p14:modId xmlns:p14="http://schemas.microsoft.com/office/powerpoint/2010/main" val="1579011935"/>
              </p:ext>
            </p:extLst>
          </p:nvPr>
        </p:nvGraphicFramePr>
        <p:xfrm>
          <a:off x="411480" y="1234440"/>
          <a:ext cx="5532120" cy="914400"/>
        </p:xfrm>
        <a:graphic>
          <a:graphicData uri="http://schemas.openxmlformats.org/drawingml/2006/table">
            <a:tbl>
              <a:tblPr rtl="1"/>
              <a:tblGrid>
                <a:gridCol w="1770278"/>
                <a:gridCol w="3761842"/>
              </a:tblGrid>
              <a:tr h="502920">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نقش</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کارش</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کارشناس فروش</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صدور پیش‌فاکتور، سفارش و تبدیل اسناد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مدیر فروش</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تأیید یا رد سندهای ارجاع‌شده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حسابدار فروش</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قطعی‌سازی حواله، فاکتور و برگشت و ثبت حسابداری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مدیر مالی واحد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تنظیمات فروش و دادن نقش به کاربران</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bl>
          </a:graphicData>
        </a:graphic>
      </p:graphicFrame>
      <p:sp>
        <p:nvSpPr>
          <p:cNvPr id="5" name="Shape 1"/>
          <p:cNvSpPr/>
          <p:nvPr/>
        </p:nvSpPr>
        <p:spPr>
          <a:xfrm>
            <a:off x="411480" y="5440680"/>
            <a:ext cx="11365992" cy="822960"/>
          </a:xfrm>
          <a:prstGeom prst="roundRect">
            <a:avLst>
              <a:gd name="adj" fmla="val 8889"/>
            </a:avLst>
          </a:prstGeom>
          <a:solidFill>
            <a:srgbClr val="F6EDCF"/>
          </a:solidFill>
          <a:ln w="9525">
            <a:solidFill>
              <a:srgbClr val="C9A227"/>
            </a:solidFill>
            <a:prstDash val="solid"/>
          </a:ln>
        </p:spPr>
      </p:sp>
      <p:sp>
        <p:nvSpPr>
          <p:cNvPr id="6" name="Text 2"/>
          <p:cNvSpPr/>
          <p:nvPr/>
        </p:nvSpPr>
        <p:spPr>
          <a:xfrm>
            <a:off x="10863072" y="5440680"/>
            <a:ext cx="822960" cy="82296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7" name="Text 3"/>
          <p:cNvSpPr/>
          <p:nvPr/>
        </p:nvSpPr>
        <p:spPr>
          <a:xfrm>
            <a:off x="548640" y="5440680"/>
            <a:ext cx="10241280" cy="82296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شمارهٔ پیش‌فاکتور و سفارش هنگام ثبت، و شمارهٔ حواله، فاکتور و برگشت هنگام قطعی‌سازی داده می‌شود (مثل PF-1405-0013) — به تفکیک واحد، سال و نوع سند.</a:t>
            </a:r>
            <a:endParaRPr lang="en-US" sz="1250" dirty="0"/>
          </a:p>
        </p:txBody>
      </p:sp>
      <p:sp>
        <p:nvSpPr>
          <p:cNvPr id="8" name="Text 4"/>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۱۵۴</a:t>
            </a:r>
            <a:endParaRPr lang="en-US" sz="1000" dirty="0"/>
          </a:p>
        </p:txBody>
      </p:sp>
      <p:sp>
        <p:nvSpPr>
          <p:cNvPr id="9" name="Text 5"/>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حسابداری حواله تحویل</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حوالهٔ ۱۰ دستگاه کارتخوان برای «بیمارستان نمونهٔ البرز» قطعی شد. «بهای استاندارد» هر دستگاه در تعریف کالا ۳,۲۰۰,۰۰۰ ریال است؛ پس بهای کالای خارج‌شده ۳۲,۰۰۰,۰۰۰ ریال است.</a:t>
            </a:r>
            <a:endParaRPr lang="en-US" sz="1500" dirty="0"/>
          </a:p>
        </p:txBody>
      </p:sp>
      <p:graphicFrame>
        <p:nvGraphicFramePr>
          <p:cNvPr id="156"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بهای تمام‌شدهٔ کالای فروش‌رفته</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۱۰ دستگاه کارتخوان — حواله DN-1405-0007</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۳۲,۰۰۰,۰۰۰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موجودی کالا</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خروج کالا از انبار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۳۲,۰۰۰,۰۰۰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۳۲,۰۰۰,۰۰۰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۳۲,۰۰۰,۰۰۰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3899916"/>
            <a:ext cx="11365992" cy="720090"/>
          </a:xfrm>
          <a:prstGeom prst="roundRect">
            <a:avLst>
              <a:gd name="adj" fmla="val 10159"/>
            </a:avLst>
          </a:prstGeom>
          <a:solidFill>
            <a:srgbClr val="F6EDCF"/>
          </a:solidFill>
          <a:ln w="9525">
            <a:solidFill>
              <a:srgbClr val="C9A227"/>
            </a:solidFill>
            <a:prstDash val="solid"/>
          </a:ln>
        </p:spPr>
      </p:sp>
      <p:sp>
        <p:nvSpPr>
          <p:cNvPr id="7" name="Text 4"/>
          <p:cNvSpPr/>
          <p:nvPr/>
        </p:nvSpPr>
        <p:spPr>
          <a:xfrm>
            <a:off x="10863072" y="3899916"/>
            <a:ext cx="822960" cy="72009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8" name="Text 5"/>
          <p:cNvSpPr/>
          <p:nvPr/>
        </p:nvSpPr>
        <p:spPr>
          <a:xfrm>
            <a:off x="548640" y="3899916"/>
            <a:ext cx="10241280" cy="72009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کالا از دارایی‌های سازمان (موجودی) بیرون رفته و به هزینه (بهای تمام‌شده) تبدیل شده است. هنوز درآمدی ثبت نشده؛ درآمد با فاکتور می‌آید.</a:t>
            </a:r>
            <a:endParaRPr lang="en-US" sz="1250" dirty="0"/>
          </a:p>
        </p:txBody>
      </p:sp>
      <p:sp>
        <p:nvSpPr>
          <p:cNvPr id="9" name="Text 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۱۵۵</a:t>
            </a:r>
            <a:endParaRPr lang="en-US" sz="1000" dirty="0"/>
          </a:p>
        </p:txBody>
      </p:sp>
      <p:sp>
        <p:nvSpPr>
          <p:cNvPr id="10" name="Text 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حسابداری فاکتور فروش</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فاکتور همان سفارش: ۱۰ کارتخوان × ۵,۰۰۰,۰۰۰ با ۱۰٪ تخفیف، و ۱۰ مورد نصب × ۱,۲۰۰,۰۰۰ بدون تخفیف. مشمول = ۴۵ + ۱۲ = ۵۷ میلیون؛ مالیات ۱۰٪ = ۵,۷۰۰,۰۰۰؛ قابل پرداخت ۶۲,۷۰۰,۰۰۰ ریال.</a:t>
            </a:r>
            <a:endParaRPr lang="en-US" sz="1500" dirty="0"/>
          </a:p>
        </p:txBody>
      </p:sp>
      <p:graphicFrame>
        <p:nvGraphicFramePr>
          <p:cNvPr id="157"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حساب‌های دریافتنی (تفصیلی: بیمارستان نمونهٔ البرز)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فاکتور فروش INV-1405-0012</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۶۲,۷۰۰,۰۰۰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تخفیفات فروش</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تخفیف ردیف‌ها و تخفیف کلی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۵,۰۰۰,۰۰۰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۳</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فروش کالا</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۱۰ دستگاه کارتخوان</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۵۰,۰۰۰,۰۰۰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۴</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درآمد خدمات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۱۰ مورد نصب و راه‌اندازی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۱۲,۰۰۰,۰۰۰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۵</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مالیات بر ارزش افزوده</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مالیات ۱۰٪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۵,۷۰۰,۰۰۰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۶۷,۷۰۰,۰۰۰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۶۷,۷۰۰,۰۰۰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5052060"/>
            <a:ext cx="11365992" cy="720090"/>
          </a:xfrm>
          <a:prstGeom prst="roundRect">
            <a:avLst>
              <a:gd name="adj" fmla="val 10159"/>
            </a:avLst>
          </a:prstGeom>
          <a:solidFill>
            <a:srgbClr val="F6EDCF"/>
          </a:solidFill>
          <a:ln w="9525">
            <a:solidFill>
              <a:srgbClr val="C9A227"/>
            </a:solidFill>
            <a:prstDash val="solid"/>
          </a:ln>
        </p:spPr>
      </p:sp>
      <p:sp>
        <p:nvSpPr>
          <p:cNvPr id="7" name="Text 4"/>
          <p:cNvSpPr/>
          <p:nvPr/>
        </p:nvSpPr>
        <p:spPr>
          <a:xfrm>
            <a:off x="10863072" y="5052060"/>
            <a:ext cx="822960" cy="72009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8" name="Text 5"/>
          <p:cNvSpPr/>
          <p:nvPr/>
        </p:nvSpPr>
        <p:spPr>
          <a:xfrm>
            <a:off x="548640" y="5052060"/>
            <a:ext cx="10241280" cy="72009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فروش با مبلغ کامل و تخفیف جدا ثبت می‌شود تا هر دو در گزارش‌ها دیده شوند. مالیات بدهی به دولت است، نه درآمد. دریافتنی با تفصیلی مشتری ثبت می‌شود.</a:t>
            </a:r>
            <a:endParaRPr lang="en-US" sz="1250" dirty="0"/>
          </a:p>
        </p:txBody>
      </p:sp>
      <p:sp>
        <p:nvSpPr>
          <p:cNvPr id="9" name="Text 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۱۵۶</a:t>
            </a:r>
            <a:endParaRPr lang="en-US" sz="1000" dirty="0"/>
          </a:p>
        </p:txBody>
      </p:sp>
      <p:sp>
        <p:nvSpPr>
          <p:cNvPr id="10" name="Text 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حسابداری برگشت از فروش</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بیمارستان ۲ دستگاه معیوب را پس داد. برگشت، عکس همان ردیف فاکتور است: ناخالص ۱۰,۰۰۰,۰۰۰، تخفیف ۱,۰۰۰,۰۰۰، مالیات ۹۰۰,۰۰۰؛ و کالا با بهای ۶,۴۰۰,۰۰۰ به انبار برمی‌گردد.</a:t>
            </a:r>
            <a:endParaRPr lang="en-US" sz="1500" dirty="0"/>
          </a:p>
        </p:txBody>
      </p:sp>
      <p:graphicFrame>
        <p:nvGraphicFramePr>
          <p:cNvPr id="158"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برگشت از فروش</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 دستگاه کارتخوان معیوب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۱۰,۰۰۰,۰۰۰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مالیات بر ارزش افزوده</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برگشت مالیات ۱۰٪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۹۰۰,۰۰۰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۳</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تخفیفات فروش</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برگشت تخفیف ۱۰٪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۱,۰۰۰,۰۰۰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۴</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حساب‌های دریافتنی (بیمارستان نمونهٔ البرز)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کاهش طلب از مشتری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۹,۹۰۰,۰۰۰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۵</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موجودی کالا</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بازگشت کالا به انبار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۶,۴۰۰,۰۰۰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۶</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بهای تمام‌شدهٔ کالای فروش‌رفته</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برگشت بهای ۲ دستگاه</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۶,۴۰۰,۰۰۰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۱۷,۳۰۰,۰۰۰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۱۷,۳۰۰,۰۰۰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5436108"/>
            <a:ext cx="11365992" cy="640080"/>
          </a:xfrm>
          <a:prstGeom prst="roundRect">
            <a:avLst>
              <a:gd name="adj" fmla="val 11429"/>
            </a:avLst>
          </a:prstGeom>
          <a:solidFill>
            <a:srgbClr val="F6EDCF"/>
          </a:solidFill>
          <a:ln w="9525">
            <a:solidFill>
              <a:srgbClr val="C9A227"/>
            </a:solidFill>
            <a:prstDash val="solid"/>
          </a:ln>
        </p:spPr>
      </p:sp>
      <p:sp>
        <p:nvSpPr>
          <p:cNvPr id="7" name="Text 4"/>
          <p:cNvSpPr/>
          <p:nvPr/>
        </p:nvSpPr>
        <p:spPr>
          <a:xfrm>
            <a:off x="10863072" y="5436108"/>
            <a:ext cx="822960" cy="64008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8" name="Text 5"/>
          <p:cNvSpPr/>
          <p:nvPr/>
        </p:nvSpPr>
        <p:spPr>
          <a:xfrm>
            <a:off x="548640" y="5436108"/>
            <a:ext cx="10241280" cy="64008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فاکتور قطعی پاک نمی‌شود؛ برگشت جداگانه اثرش را خنثی می‌کند تا ردپای هر دو بماند. طلب از مشتری از ۶۲,۷ به ۵۲,۸ میلیون ریال می‌رسد.</a:t>
            </a:r>
            <a:endParaRPr lang="en-US" sz="1250" dirty="0"/>
          </a:p>
        </p:txBody>
      </p:sp>
      <p:sp>
        <p:nvSpPr>
          <p:cNvPr id="9" name="Text 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۱۵۷</a:t>
            </a:r>
            <a:endParaRPr lang="en-US" sz="1000" dirty="0"/>
          </a:p>
        </p:txBody>
      </p:sp>
      <p:sp>
        <p:nvSpPr>
          <p:cNvPr id="10" name="Text 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 — تنظیمات فروش</a:t>
            </a:r>
            <a:endParaRPr lang="en-US" sz="2500" dirty="0"/>
          </a:p>
        </p:txBody>
      </p:sp>
      <p:sp>
        <p:nvSpPr>
          <p:cNvPr id="3" name="Shape 1"/>
          <p:cNvSpPr/>
          <p:nvPr/>
        </p:nvSpPr>
        <p:spPr>
          <a:xfrm>
            <a:off x="9660636" y="896112"/>
            <a:ext cx="211683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770364" y="896112"/>
            <a:ext cx="189738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فروش ← تنظیمات فروش</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sl02">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451653"/>
            <a:ext cx="3867912" cy="903427"/>
          </a:xfrm>
          <a:prstGeom prst="roundRect">
            <a:avLst>
              <a:gd name="adj" fmla="val 8097"/>
            </a:avLst>
          </a:prstGeom>
          <a:solidFill>
            <a:srgbClr val="F6EDCF"/>
          </a:solidFill>
          <a:ln w="9525">
            <a:solidFill>
              <a:srgbClr val="C9A227"/>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«حساب‌های دریافتنی» الزامی است؛ بدون آن مشتری تعریف نمی‌شود.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قواعد کنترلی</a:t>
            </a:r>
            <a:endParaRPr lang="en-US" sz="1350" dirty="0"/>
          </a:p>
        </p:txBody>
      </p:sp>
      <p:sp>
        <p:nvSpPr>
          <p:cNvPr id="13" name="Text 10"/>
          <p:cNvSpPr/>
          <p:nvPr/>
        </p:nvSpPr>
        <p:spPr>
          <a:xfrm>
            <a:off x="7909560" y="1700784"/>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آستانهٔ تخفیف نیازمند تأیید؛ «سیاست سقف اعتبار»: ارجاع به مدیر فروش، توقف یا هشدار.</a:t>
            </a:r>
            <a:endParaRPr lang="en-US" sz="1050" dirty="0"/>
          </a:p>
        </p:txBody>
      </p:sp>
      <p:sp>
        <p:nvSpPr>
          <p:cNvPr id="14" name="Shape 11"/>
          <p:cNvSpPr/>
          <p:nvPr/>
        </p:nvSpPr>
        <p:spPr>
          <a:xfrm>
            <a:off x="11411712" y="2184959"/>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18495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18495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گزینه‌ها</a:t>
            </a:r>
            <a:endParaRPr lang="en-US" sz="1350" dirty="0"/>
          </a:p>
        </p:txBody>
      </p:sp>
      <p:sp>
        <p:nvSpPr>
          <p:cNvPr id="17" name="Text 14"/>
          <p:cNvSpPr/>
          <p:nvPr/>
        </p:nvSpPr>
        <p:spPr>
          <a:xfrm>
            <a:off x="7909560" y="2514143"/>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تفکیک وظایف، فاکتور کالا پیش از تحویل و اجازهٔ موجودی منفی.</a:t>
            </a:r>
            <a:endParaRPr lang="en-US" sz="1050" dirty="0"/>
          </a:p>
        </p:txBody>
      </p:sp>
      <p:sp>
        <p:nvSpPr>
          <p:cNvPr id="18" name="Shape 15"/>
          <p:cNvSpPr/>
          <p:nvPr/>
        </p:nvSpPr>
        <p:spPr>
          <a:xfrm>
            <a:off x="11411712" y="2998318"/>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299831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299831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حساب‌ها</a:t>
            </a:r>
            <a:endParaRPr lang="en-US" sz="1350" dirty="0"/>
          </a:p>
        </p:txBody>
      </p:sp>
      <p:sp>
        <p:nvSpPr>
          <p:cNvPr id="21" name="Text 18"/>
          <p:cNvSpPr/>
          <p:nvPr/>
        </p:nvSpPr>
        <p:spPr>
          <a:xfrm>
            <a:off x="7909560" y="3327502"/>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برای ۹ نقش (دریافتنی، فروش، خدمات، تخفیف، مالیات، بهای تمام‌شده، موجودی و …) معین بدهید.</a:t>
            </a:r>
            <a:endParaRPr lang="en-US" sz="1050" dirty="0"/>
          </a:p>
        </p:txBody>
      </p:sp>
      <p:sp>
        <p:nvSpPr>
          <p:cNvPr id="22" name="Shape 19"/>
          <p:cNvSpPr/>
          <p:nvPr/>
        </p:nvSpPr>
        <p:spPr>
          <a:xfrm>
            <a:off x="11411712" y="381167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81167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81167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مالیات و مودیان</a:t>
            </a:r>
            <a:endParaRPr lang="en-US" sz="1350" dirty="0"/>
          </a:p>
        </p:txBody>
      </p:sp>
      <p:sp>
        <p:nvSpPr>
          <p:cNvPr id="25" name="Text 22"/>
          <p:cNvSpPr/>
          <p:nvPr/>
        </p:nvSpPr>
        <p:spPr>
          <a:xfrm>
            <a:off x="7909560" y="4140860"/>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نرخ ارزش افزوده با «از تاریخ»؛ شناسهٔ ملی فروشنده و شناسهٔ حافظهٔ مالیاتی.</a:t>
            </a:r>
            <a:endParaRPr lang="en-US" sz="1050" dirty="0"/>
          </a:p>
        </p:txBody>
      </p:sp>
      <p:sp>
        <p:nvSpPr>
          <p:cNvPr id="26" name="Shape 23"/>
          <p:cNvSpPr/>
          <p:nvPr/>
        </p:nvSpPr>
        <p:spPr>
          <a:xfrm>
            <a:off x="11411712" y="4625035"/>
            <a:ext cx="329184" cy="329184"/>
          </a:xfrm>
          <a:prstGeom prst="ellipse">
            <a:avLst/>
          </a:prstGeom>
          <a:solidFill>
            <a:srgbClr val="C9A227"/>
          </a:solidFill>
          <a:ln w="12700">
            <a:solidFill>
              <a:srgbClr val="C9A227"/>
            </a:solidFill>
            <a:prstDash val="solid"/>
          </a:ln>
        </p:spPr>
      </p:sp>
      <p:sp>
        <p:nvSpPr>
          <p:cNvPr id="27" name="Text 24"/>
          <p:cNvSpPr/>
          <p:nvPr/>
        </p:nvSpPr>
        <p:spPr>
          <a:xfrm>
            <a:off x="11411712" y="462503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8" name="Text 25"/>
          <p:cNvSpPr/>
          <p:nvPr/>
        </p:nvSpPr>
        <p:spPr>
          <a:xfrm>
            <a:off x="7909560" y="4625035"/>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نقش‌ها</a:t>
            </a:r>
            <a:endParaRPr lang="en-US" sz="1350" dirty="0"/>
          </a:p>
        </p:txBody>
      </p:sp>
      <p:sp>
        <p:nvSpPr>
          <p:cNvPr id="29" name="Text 26"/>
          <p:cNvSpPr/>
          <p:nvPr/>
        </p:nvSpPr>
        <p:spPr>
          <a:xfrm>
            <a:off x="7909560" y="4954219"/>
            <a:ext cx="3392424" cy="242087"/>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کد ملی کاربر و نقش او؛ در پایان «ذخیرهٔ تنظیمات».</a:t>
            </a:r>
            <a:endParaRPr lang="en-US" sz="1050" dirty="0"/>
          </a:p>
        </p:txBody>
      </p:sp>
      <p:sp>
        <p:nvSpPr>
          <p:cNvPr id="30"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۱۵۸</a:t>
            </a:r>
            <a:endParaRPr lang="en-US" sz="1000" dirty="0"/>
          </a:p>
        </p:txBody>
      </p:sp>
      <p:sp>
        <p:nvSpPr>
          <p:cNvPr id="31"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۲ — کالا و خدمات</a:t>
            </a:r>
            <a:endParaRPr lang="en-US" sz="2500" dirty="0"/>
          </a:p>
        </p:txBody>
      </p:sp>
      <p:sp>
        <p:nvSpPr>
          <p:cNvPr id="3" name="Shape 1"/>
          <p:cNvSpPr/>
          <p:nvPr/>
        </p:nvSpPr>
        <p:spPr>
          <a:xfrm>
            <a:off x="9660636" y="896112"/>
            <a:ext cx="211683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770364" y="896112"/>
            <a:ext cx="189738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فروش ← کالا و خدمات</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فهرست کالا و خدمات</a:t>
            </a:r>
            <a:endParaRPr lang="en-US" sz="1200" dirty="0"/>
          </a:p>
        </p:txBody>
      </p:sp>
      <p:sp>
        <p:nvSpPr>
          <p:cNvPr id="6" name="Shape 4"/>
          <p:cNvSpPr/>
          <p:nvPr/>
        </p:nvSpPr>
        <p:spPr>
          <a:xfrm>
            <a:off x="6208776"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sl03s">    </p:cNvPr>
          <p:cNvPicPr>
            <a:picLocks noChangeAspect="1"/>
          </p:cNvPicPr>
          <p:nvPr/>
        </p:nvPicPr>
        <p:blipFill>
          <a:blip r:embed="rId1"/>
          <a:stretch>
            <a:fillRect/>
          </a:stretch>
        </p:blipFill>
        <p:spPr>
          <a:xfrm>
            <a:off x="7050003" y="1664208"/>
            <a:ext cx="3886242" cy="2374925"/>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تعریف یا ویرایش</a:t>
            </a:r>
            <a:endParaRPr lang="en-US" sz="1200" dirty="0"/>
          </a:p>
        </p:txBody>
      </p:sp>
      <p:sp>
        <p:nvSpPr>
          <p:cNvPr id="9" name="Shape 6"/>
          <p:cNvSpPr/>
          <p:nvPr/>
        </p:nvSpPr>
        <p:spPr>
          <a:xfrm>
            <a:off x="411480"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sl03d">    </p:cNvPr>
          <p:cNvPicPr>
            <a:picLocks noChangeAspect="1"/>
          </p:cNvPicPr>
          <p:nvPr/>
        </p:nvPicPr>
        <p:blipFill>
          <a:blip r:embed="rId2"/>
          <a:stretch>
            <a:fillRect/>
          </a:stretch>
        </p:blipFill>
        <p:spPr>
          <a:xfrm>
            <a:off x="1626494" y="1664208"/>
            <a:ext cx="3138668" cy="2374925"/>
          </a:xfrm>
          <a:prstGeom prst="rect">
            <a:avLst/>
          </a:prstGeom>
        </p:spPr>
      </p:pic>
      <p:sp>
        <p:nvSpPr>
          <p:cNvPr id="11" name="Shape 7"/>
          <p:cNvSpPr/>
          <p:nvPr/>
        </p:nvSpPr>
        <p:spPr>
          <a:xfrm>
            <a:off x="9038844" y="4267733"/>
            <a:ext cx="2738628" cy="1291819"/>
          </a:xfrm>
          <a:prstGeom prst="roundRect">
            <a:avLst>
              <a:gd name="adj" fmla="val 5663"/>
            </a:avLst>
          </a:prstGeom>
          <a:solidFill>
            <a:srgbClr val="FFFFFF"/>
          </a:solidFill>
          <a:ln w="6350">
            <a:solidFill>
              <a:srgbClr val="D9DEE7"/>
            </a:solidFill>
            <a:prstDash val="solid"/>
          </a:ln>
        </p:spPr>
      </p:sp>
      <p:sp>
        <p:nvSpPr>
          <p:cNvPr id="12" name="Shape 8"/>
          <p:cNvSpPr/>
          <p:nvPr/>
        </p:nvSpPr>
        <p:spPr>
          <a:xfrm>
            <a:off x="11356848" y="4359173"/>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کد و نوع</a:t>
            </a:r>
            <a:endParaRPr lang="en-US" sz="1300" dirty="0"/>
          </a:p>
        </p:txBody>
      </p:sp>
      <p:sp>
        <p:nvSpPr>
          <p:cNvPr id="15" name="Text 11"/>
          <p:cNvSpPr/>
          <p:nvPr/>
        </p:nvSpPr>
        <p:spPr>
          <a:xfrm>
            <a:off x="9148572"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کد، نام، گروه و نوع (کالا یا خدمت) با واحد سنجش.</a:t>
            </a:r>
            <a:endParaRPr lang="en-US" sz="1150" dirty="0"/>
          </a:p>
        </p:txBody>
      </p:sp>
      <p:sp>
        <p:nvSpPr>
          <p:cNvPr id="16" name="Shape 12"/>
          <p:cNvSpPr/>
          <p:nvPr/>
        </p:nvSpPr>
        <p:spPr>
          <a:xfrm>
            <a:off x="6163056" y="4267733"/>
            <a:ext cx="2738628" cy="1291819"/>
          </a:xfrm>
          <a:prstGeom prst="roundRect">
            <a:avLst>
              <a:gd name="adj" fmla="val 5663"/>
            </a:avLst>
          </a:prstGeom>
          <a:solidFill>
            <a:srgbClr val="FFFFFF"/>
          </a:solidFill>
          <a:ln w="6350">
            <a:solidFill>
              <a:srgbClr val="D9DEE7"/>
            </a:solidFill>
            <a:prstDash val="solid"/>
          </a:ln>
        </p:spPr>
      </p:sp>
      <p:sp>
        <p:nvSpPr>
          <p:cNvPr id="17" name="Shape 13"/>
          <p:cNvSpPr/>
          <p:nvPr/>
        </p:nvSpPr>
        <p:spPr>
          <a:xfrm>
            <a:off x="8481060" y="4359173"/>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قیمت</a:t>
            </a:r>
            <a:endParaRPr lang="en-US" sz="1300" dirty="0"/>
          </a:p>
        </p:txBody>
      </p:sp>
      <p:sp>
        <p:nvSpPr>
          <p:cNvPr id="20" name="Text 16"/>
          <p:cNvSpPr/>
          <p:nvPr/>
        </p:nvSpPr>
        <p:spPr>
          <a:xfrm>
            <a:off x="6272784"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قیمت فروش پیش‌فرض؛ برای کالا «بهای استاندارد» مبنای بهای تمام‌شده است.</a:t>
            </a:r>
            <a:endParaRPr lang="en-US" sz="1150" dirty="0"/>
          </a:p>
        </p:txBody>
      </p:sp>
      <p:sp>
        <p:nvSpPr>
          <p:cNvPr id="21" name="Shape 17"/>
          <p:cNvSpPr/>
          <p:nvPr/>
        </p:nvSpPr>
        <p:spPr>
          <a:xfrm>
            <a:off x="3287268" y="4267733"/>
            <a:ext cx="2738628" cy="1291819"/>
          </a:xfrm>
          <a:prstGeom prst="roundRect">
            <a:avLst>
              <a:gd name="adj" fmla="val 5663"/>
            </a:avLst>
          </a:prstGeom>
          <a:solidFill>
            <a:srgbClr val="FFFFFF"/>
          </a:solidFill>
          <a:ln w="6350">
            <a:solidFill>
              <a:srgbClr val="D9DEE7"/>
            </a:solidFill>
            <a:prstDash val="solid"/>
          </a:ln>
        </p:spPr>
      </p:sp>
      <p:sp>
        <p:nvSpPr>
          <p:cNvPr id="22" name="Shape 18"/>
          <p:cNvSpPr/>
          <p:nvPr/>
        </p:nvSpPr>
        <p:spPr>
          <a:xfrm>
            <a:off x="5605272" y="4359173"/>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مودیان</a:t>
            </a:r>
            <a:endParaRPr lang="en-US" sz="1300" dirty="0"/>
          </a:p>
        </p:txBody>
      </p:sp>
      <p:sp>
        <p:nvSpPr>
          <p:cNvPr id="25" name="Text 21"/>
          <p:cNvSpPr/>
          <p:nvPr/>
        </p:nvSpPr>
        <p:spPr>
          <a:xfrm>
            <a:off x="3396996"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شناسهٔ ۱۳ رقمی و تیک «معاف از مالیات بر ارزش افزوده».</a:t>
            </a:r>
            <a:endParaRPr lang="en-US" sz="1150" dirty="0"/>
          </a:p>
        </p:txBody>
      </p:sp>
      <p:sp>
        <p:nvSpPr>
          <p:cNvPr id="26" name="Shape 22"/>
          <p:cNvSpPr/>
          <p:nvPr/>
        </p:nvSpPr>
        <p:spPr>
          <a:xfrm>
            <a:off x="411480" y="4267733"/>
            <a:ext cx="2738628" cy="1291819"/>
          </a:xfrm>
          <a:prstGeom prst="roundRect">
            <a:avLst>
              <a:gd name="adj" fmla="val 5663"/>
            </a:avLst>
          </a:prstGeom>
          <a:solidFill>
            <a:srgbClr val="FFFFFF"/>
          </a:solidFill>
          <a:ln w="6350">
            <a:solidFill>
              <a:srgbClr val="D9DEE7"/>
            </a:solidFill>
            <a:prstDash val="solid"/>
          </a:ln>
        </p:spPr>
      </p:sp>
      <p:sp>
        <p:nvSpPr>
          <p:cNvPr id="27" name="Shape 23"/>
          <p:cNvSpPr/>
          <p:nvPr/>
        </p:nvSpPr>
        <p:spPr>
          <a:xfrm>
            <a:off x="2729484" y="4359173"/>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غیرفعال</a:t>
            </a:r>
            <a:endParaRPr lang="en-US" sz="1300" dirty="0"/>
          </a:p>
        </p:txBody>
      </p:sp>
      <p:sp>
        <p:nvSpPr>
          <p:cNvPr id="30" name="Text 26"/>
          <p:cNvSpPr/>
          <p:nvPr/>
        </p:nvSpPr>
        <p:spPr>
          <a:xfrm>
            <a:off x="521208"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کالای غیرفعال در سندهای تازه انتخاب نمی‌شود.</a:t>
            </a:r>
            <a:endParaRPr lang="en-US" sz="1150" dirty="0"/>
          </a:p>
        </p:txBody>
      </p:sp>
      <p:sp>
        <p:nvSpPr>
          <p:cNvPr id="31" name="Shape 27"/>
          <p:cNvSpPr/>
          <p:nvPr/>
        </p:nvSpPr>
        <p:spPr>
          <a:xfrm>
            <a:off x="411480" y="5696712"/>
            <a:ext cx="11365992" cy="658368"/>
          </a:xfrm>
          <a:prstGeom prst="roundRect">
            <a:avLst>
              <a:gd name="adj" fmla="val 11111"/>
            </a:avLst>
          </a:prstGeom>
          <a:solidFill>
            <a:srgbClr val="E3F3EA"/>
          </a:solidFill>
          <a:ln w="9525">
            <a:solidFill>
              <a:srgbClr val="1E7A4C"/>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کارتخوان: نوع کالا، واحد «دستگاه»، قیمت ۵,۰۰۰,۰۰۰، بهای استاندارد ۳,۲۰۰,۰۰۰. موجودی اول دوره فقط هنگام تعریف؛ بعد فقط با حواله و برگشت تغییر می‌کند.</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۱۵۹</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۳ — مشتریان</a:t>
            </a:r>
            <a:endParaRPr lang="en-US" sz="2500" dirty="0"/>
          </a:p>
        </p:txBody>
      </p:sp>
      <p:sp>
        <p:nvSpPr>
          <p:cNvPr id="3" name="Shape 1"/>
          <p:cNvSpPr/>
          <p:nvPr/>
        </p:nvSpPr>
        <p:spPr>
          <a:xfrm>
            <a:off x="10049256" y="896112"/>
            <a:ext cx="172821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10158984" y="896112"/>
            <a:ext cx="150876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فروش ← مشتریان</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فهرست مشتریان</a:t>
            </a:r>
            <a:endParaRPr lang="en-US" sz="1200" dirty="0"/>
          </a:p>
        </p:txBody>
      </p:sp>
      <p:sp>
        <p:nvSpPr>
          <p:cNvPr id="6" name="Shape 4"/>
          <p:cNvSpPr/>
          <p:nvPr/>
        </p:nvSpPr>
        <p:spPr>
          <a:xfrm>
            <a:off x="6208776"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sl04s">    </p:cNvPr>
          <p:cNvPicPr>
            <a:picLocks noChangeAspect="1"/>
          </p:cNvPicPr>
          <p:nvPr/>
        </p:nvPicPr>
        <p:blipFill>
          <a:blip r:embed="rId1"/>
          <a:stretch>
            <a:fillRect/>
          </a:stretch>
        </p:blipFill>
        <p:spPr>
          <a:xfrm>
            <a:off x="6254496" y="1695361"/>
            <a:ext cx="5477256" cy="2312619"/>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پروفایل فروش مشتری</a:t>
            </a:r>
            <a:endParaRPr lang="en-US" sz="1200" dirty="0"/>
          </a:p>
        </p:txBody>
      </p:sp>
      <p:sp>
        <p:nvSpPr>
          <p:cNvPr id="9" name="Shape 6"/>
          <p:cNvSpPr/>
          <p:nvPr/>
        </p:nvSpPr>
        <p:spPr>
          <a:xfrm>
            <a:off x="411480"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sl04d">    </p:cNvPr>
          <p:cNvPicPr>
            <a:picLocks noChangeAspect="1"/>
          </p:cNvPicPr>
          <p:nvPr/>
        </p:nvPicPr>
        <p:blipFill>
          <a:blip r:embed="rId2"/>
          <a:stretch>
            <a:fillRect/>
          </a:stretch>
        </p:blipFill>
        <p:spPr>
          <a:xfrm>
            <a:off x="1368962" y="1664208"/>
            <a:ext cx="3653731" cy="2374925"/>
          </a:xfrm>
          <a:prstGeom prst="rect">
            <a:avLst/>
          </a:prstGeom>
        </p:spPr>
      </p:pic>
      <p:sp>
        <p:nvSpPr>
          <p:cNvPr id="11" name="Shape 7"/>
          <p:cNvSpPr/>
          <p:nvPr/>
        </p:nvSpPr>
        <p:spPr>
          <a:xfrm>
            <a:off x="9038844" y="4267733"/>
            <a:ext cx="2738628" cy="1291819"/>
          </a:xfrm>
          <a:prstGeom prst="roundRect">
            <a:avLst>
              <a:gd name="adj" fmla="val 5663"/>
            </a:avLst>
          </a:prstGeom>
          <a:solidFill>
            <a:srgbClr val="FFFFFF"/>
          </a:solidFill>
          <a:ln w="6350">
            <a:solidFill>
              <a:srgbClr val="D9DEE7"/>
            </a:solidFill>
            <a:prstDash val="solid"/>
          </a:ln>
        </p:spPr>
      </p:sp>
      <p:sp>
        <p:nvSpPr>
          <p:cNvPr id="12" name="Shape 8"/>
          <p:cNvSpPr/>
          <p:nvPr/>
        </p:nvSpPr>
        <p:spPr>
          <a:xfrm>
            <a:off x="11356848" y="4359173"/>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تفصیلی</a:t>
            </a:r>
            <a:endParaRPr lang="en-US" sz="1300" dirty="0"/>
          </a:p>
        </p:txBody>
      </p:sp>
      <p:sp>
        <p:nvSpPr>
          <p:cNvPr id="15" name="Text 11"/>
          <p:cNvSpPr/>
          <p:nvPr/>
        </p:nvSpPr>
        <p:spPr>
          <a:xfrm>
            <a:off x="9148572"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شخص یا شرکت را از تفصیلی‌های حساب دریافتنی انتخاب کنید؛ تفصیلی تازه ساخته نمی‌شود.</a:t>
            </a:r>
            <a:endParaRPr lang="en-US" sz="1150" dirty="0"/>
          </a:p>
        </p:txBody>
      </p:sp>
      <p:sp>
        <p:nvSpPr>
          <p:cNvPr id="16" name="Shape 12"/>
          <p:cNvSpPr/>
          <p:nvPr/>
        </p:nvSpPr>
        <p:spPr>
          <a:xfrm>
            <a:off x="6163056" y="4267733"/>
            <a:ext cx="2738628" cy="1291819"/>
          </a:xfrm>
          <a:prstGeom prst="roundRect">
            <a:avLst>
              <a:gd name="adj" fmla="val 5663"/>
            </a:avLst>
          </a:prstGeom>
          <a:solidFill>
            <a:srgbClr val="FFFFFF"/>
          </a:solidFill>
          <a:ln w="6350">
            <a:solidFill>
              <a:srgbClr val="D9DEE7"/>
            </a:solidFill>
            <a:prstDash val="solid"/>
          </a:ln>
        </p:spPr>
      </p:sp>
      <p:sp>
        <p:nvSpPr>
          <p:cNvPr id="17" name="Shape 13"/>
          <p:cNvSpPr/>
          <p:nvPr/>
        </p:nvSpPr>
        <p:spPr>
          <a:xfrm>
            <a:off x="8481060" y="4359173"/>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هویت</a:t>
            </a:r>
            <a:endParaRPr lang="en-US" sz="1300" dirty="0"/>
          </a:p>
        </p:txBody>
      </p:sp>
      <p:sp>
        <p:nvSpPr>
          <p:cNvPr id="20" name="Text 16"/>
          <p:cNvSpPr/>
          <p:nvPr/>
        </p:nvSpPr>
        <p:spPr>
          <a:xfrm>
            <a:off x="6272784"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حقیقی/حقوقی، شناسهٔ ملی یا کد ملی، کد اقتصادی و کد پستی.</a:t>
            </a:r>
            <a:endParaRPr lang="en-US" sz="1150" dirty="0"/>
          </a:p>
        </p:txBody>
      </p:sp>
      <p:sp>
        <p:nvSpPr>
          <p:cNvPr id="21" name="Shape 17"/>
          <p:cNvSpPr/>
          <p:nvPr/>
        </p:nvSpPr>
        <p:spPr>
          <a:xfrm>
            <a:off x="3287268" y="4267733"/>
            <a:ext cx="2738628" cy="1291819"/>
          </a:xfrm>
          <a:prstGeom prst="roundRect">
            <a:avLst>
              <a:gd name="adj" fmla="val 5663"/>
            </a:avLst>
          </a:prstGeom>
          <a:solidFill>
            <a:srgbClr val="FFFFFF"/>
          </a:solidFill>
          <a:ln w="6350">
            <a:solidFill>
              <a:srgbClr val="D9DEE7"/>
            </a:solidFill>
            <a:prstDash val="solid"/>
          </a:ln>
        </p:spPr>
      </p:sp>
      <p:sp>
        <p:nvSpPr>
          <p:cNvPr id="22" name="Shape 18"/>
          <p:cNvSpPr/>
          <p:nvPr/>
        </p:nvSpPr>
        <p:spPr>
          <a:xfrm>
            <a:off x="5605272" y="4359173"/>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مودیان</a:t>
            </a:r>
            <a:endParaRPr lang="en-US" sz="1300" dirty="0"/>
          </a:p>
        </p:txBody>
      </p:sp>
      <p:sp>
        <p:nvSpPr>
          <p:cNvPr id="25" name="Text 21"/>
          <p:cNvSpPr/>
          <p:nvPr/>
        </p:nvSpPr>
        <p:spPr>
          <a:xfrm>
            <a:off x="3396996"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اطلاعات کامل ⇐ صورتحساب نوع اول؛ ناقص (قرمز/زرد) ⇐ نوع دوم.</a:t>
            </a:r>
            <a:endParaRPr lang="en-US" sz="1150" dirty="0"/>
          </a:p>
        </p:txBody>
      </p:sp>
      <p:sp>
        <p:nvSpPr>
          <p:cNvPr id="26" name="Shape 22"/>
          <p:cNvSpPr/>
          <p:nvPr/>
        </p:nvSpPr>
        <p:spPr>
          <a:xfrm>
            <a:off x="411480" y="4267733"/>
            <a:ext cx="2738628" cy="1291819"/>
          </a:xfrm>
          <a:prstGeom prst="roundRect">
            <a:avLst>
              <a:gd name="adj" fmla="val 5663"/>
            </a:avLst>
          </a:prstGeom>
          <a:solidFill>
            <a:srgbClr val="FFFFFF"/>
          </a:solidFill>
          <a:ln w="6350">
            <a:solidFill>
              <a:srgbClr val="D9DEE7"/>
            </a:solidFill>
            <a:prstDash val="solid"/>
          </a:ln>
        </p:spPr>
      </p:sp>
      <p:sp>
        <p:nvSpPr>
          <p:cNvPr id="27" name="Shape 23"/>
          <p:cNvSpPr/>
          <p:nvPr/>
        </p:nvSpPr>
        <p:spPr>
          <a:xfrm>
            <a:off x="2729484" y="4359173"/>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اعتبار و مسدود</a:t>
            </a:r>
            <a:endParaRPr lang="en-US" sz="1300" dirty="0"/>
          </a:p>
        </p:txBody>
      </p:sp>
      <p:sp>
        <p:nvSpPr>
          <p:cNvPr id="30" name="Text 26"/>
          <p:cNvSpPr/>
          <p:nvPr/>
        </p:nvSpPr>
        <p:spPr>
          <a:xfrm>
            <a:off x="521208"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سقف اعتبار (صفر = بدون سقف)، مهلت پرداخت؛ برای مشتری مسدود سند تازه صادر نمی‌شود.</a:t>
            </a:r>
            <a:endParaRPr lang="en-US" sz="1150" dirty="0"/>
          </a:p>
        </p:txBody>
      </p:sp>
      <p:sp>
        <p:nvSpPr>
          <p:cNvPr id="31" name="Shape 27"/>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«تفصیلی» یعنی ریزِ یک حساب: حساب دریافتنی یکی است، ولی طلب از هر مشتری با تفصیلی خودش جدا نگه داشته می‌شود.</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۱۶۰</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۴ — میز کار فروش</a:t>
            </a:r>
            <a:endParaRPr lang="en-US" sz="2500" dirty="0"/>
          </a:p>
        </p:txBody>
      </p:sp>
      <p:sp>
        <p:nvSpPr>
          <p:cNvPr id="3" name="Shape 1"/>
          <p:cNvSpPr/>
          <p:nvPr/>
        </p:nvSpPr>
        <p:spPr>
          <a:xfrm>
            <a:off x="9660636" y="896112"/>
            <a:ext cx="211683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770364" y="896112"/>
            <a:ext cx="189738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فروش ← میز کار فروش</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sl01">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خانم رضایی (حسابدار فروش) هر صبح کارتابل «آمادهٔ قطعی‌سازی» را باز می‌کند و حواله‌ها و فاکتورهای تأییدشدهٔ دیروز را قطعی می‌کند.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نقش شما</a:t>
            </a:r>
            <a:endParaRPr lang="en-US" sz="1350" dirty="0"/>
          </a:p>
        </p:txBody>
      </p:sp>
      <p:sp>
        <p:nvSpPr>
          <p:cNvPr id="13" name="Text 10"/>
          <p:cNvSpPr/>
          <p:nvPr/>
        </p:nvSpPr>
        <p:spPr>
          <a:xfrm>
            <a:off x="7909560" y="170078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زیر عنوان صفحه نقش‌های فروش شما نمایش داده می‌شود.</a:t>
            </a:r>
            <a:endParaRPr lang="en-US" sz="1250" dirty="0"/>
          </a:p>
        </p:txBody>
      </p:sp>
      <p:sp>
        <p:nvSpPr>
          <p:cNvPr id="14" name="Shape 11"/>
          <p:cNvSpPr/>
          <p:nvPr/>
        </p:nvSpPr>
        <p:spPr>
          <a:xfrm>
            <a:off x="11411712" y="225628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5628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5628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کارتابل‌ها</a:t>
            </a:r>
            <a:endParaRPr lang="en-US" sz="1350" dirty="0"/>
          </a:p>
        </p:txBody>
      </p:sp>
      <p:sp>
        <p:nvSpPr>
          <p:cNvPr id="17" name="Text 14"/>
          <p:cNvSpPr/>
          <p:nvPr/>
        </p:nvSpPr>
        <p:spPr>
          <a:xfrm>
            <a:off x="7909560" y="2585466"/>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«در انتظار تأیید من» برای مدیر فروش، «آمادهٔ قطعی‌سازی» برای حسابدار و «پیش‌نویس‌ها» برای کارشناس.</a:t>
            </a:r>
            <a:endParaRPr lang="en-US" sz="1250" dirty="0"/>
          </a:p>
        </p:txBody>
      </p:sp>
      <p:sp>
        <p:nvSpPr>
          <p:cNvPr id="18" name="Shape 15"/>
          <p:cNvSpPr/>
          <p:nvPr/>
        </p:nvSpPr>
        <p:spPr>
          <a:xfrm>
            <a:off x="11411712" y="3363849"/>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36384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36384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اقدام سریع</a:t>
            </a:r>
            <a:endParaRPr lang="en-US" sz="1350" dirty="0"/>
          </a:p>
        </p:txBody>
      </p:sp>
      <p:sp>
        <p:nvSpPr>
          <p:cNvPr id="21" name="Text 18"/>
          <p:cNvSpPr/>
          <p:nvPr/>
        </p:nvSpPr>
        <p:spPr>
          <a:xfrm>
            <a:off x="7909560" y="3693033"/>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دکمه‌های «پیش‌فاکتور جدید» و «فاکتور مستقیم».</a:t>
            </a:r>
            <a:endParaRPr lang="en-US" sz="1250" dirty="0"/>
          </a:p>
        </p:txBody>
      </p:sp>
      <p:sp>
        <p:nvSpPr>
          <p:cNvPr id="22" name="Shape 19"/>
          <p:cNvSpPr/>
          <p:nvPr/>
        </p:nvSpPr>
        <p:spPr>
          <a:xfrm>
            <a:off x="11411712" y="4248531"/>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24853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24853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هشدار تنظیمات</a:t>
            </a:r>
            <a:endParaRPr lang="en-US" sz="1350" dirty="0"/>
          </a:p>
        </p:txBody>
      </p:sp>
      <p:sp>
        <p:nvSpPr>
          <p:cNvPr id="25" name="Text 22"/>
          <p:cNvSpPr/>
          <p:nvPr/>
        </p:nvSpPr>
        <p:spPr>
          <a:xfrm>
            <a:off x="7909560" y="4577715"/>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اگر حساب دریافتنی تعریف نشده باشد، نوار زرد شما را به «تنظیمات فروش» می‌برد.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۱۶۱</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۵ — اسناد فروش</a:t>
            </a:r>
            <a:endParaRPr lang="en-US" sz="2500" dirty="0"/>
          </a:p>
        </p:txBody>
      </p:sp>
      <p:sp>
        <p:nvSpPr>
          <p:cNvPr id="3" name="Shape 1"/>
          <p:cNvSpPr/>
          <p:nvPr/>
        </p:nvSpPr>
        <p:spPr>
          <a:xfrm>
            <a:off x="9816084" y="896112"/>
            <a:ext cx="196138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925812" y="896112"/>
            <a:ext cx="174193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فروش ← اسناد فروش</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sl05">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بیمارستان زنگ زده و شمارهٔ سفارش خودش (PO-7781) را می‌گوید: همان را در جستجو بنویسید تا سند فروش مربوط پیدا شود.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زبانه‌ها</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همهٔ اسناد، یا فقط پیش‌فاکتور، سفارش، حواله، فاکتور و برگشت.</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جستجو و فیلتر</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شمارهٔ سند، نام مشتری یا شمارهٔ سفارش مشتری؛ و فیلتر وضعیت.</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صدور</a:t>
            </a:r>
            <a:endParaRPr lang="en-US" sz="1350" dirty="0"/>
          </a:p>
        </p:txBody>
      </p:sp>
      <p:sp>
        <p:nvSpPr>
          <p:cNvPr id="21" name="Text 18"/>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«پیش‌فاکتور جدید»، «سفارش جدید» یا «فاکتور مستقیم».</a:t>
            </a:r>
            <a:endParaRPr lang="en-US" sz="1300" dirty="0"/>
          </a:p>
        </p:txBody>
      </p:sp>
      <p:sp>
        <p:nvSpPr>
          <p:cNvPr id="22" name="Shape 19"/>
          <p:cNvSpPr/>
          <p:nvPr/>
        </p:nvSpPr>
        <p:spPr>
          <a:xfrm>
            <a:off x="11411712" y="4079138"/>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791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791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بررسی</a:t>
            </a:r>
            <a:endParaRPr lang="en-US" sz="1350" dirty="0"/>
          </a:p>
        </p:txBody>
      </p:sp>
      <p:sp>
        <p:nvSpPr>
          <p:cNvPr id="25" name="Text 22"/>
          <p:cNvSpPr/>
          <p:nvPr/>
        </p:nvSpPr>
        <p:spPr>
          <a:xfrm>
            <a:off x="7909560" y="4408322"/>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دکمهٔ «بررسی» جزئیات، زنجیره و اقدام‌های هر سند را باز می‌کند.</a:t>
            </a:r>
            <a:endParaRPr lang="en-US" sz="13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۱۶۲</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۶ — صدور پیش‌فاکتور</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sl07">    </p:cNvPr>
          <p:cNvPicPr>
            <a:picLocks noChangeAspect="1"/>
          </p:cNvPicPr>
          <p:nvPr/>
        </p:nvPicPr>
        <p:blipFill>
          <a:blip r:embed="rId1"/>
          <a:stretch>
            <a:fillRect/>
          </a:stretch>
        </p:blipFill>
        <p:spPr>
          <a:xfrm>
            <a:off x="484632" y="1545199"/>
            <a:ext cx="7077456" cy="4407682"/>
          </a:xfrm>
          <a:prstGeom prst="rect">
            <a:avLst/>
          </a:prstGeom>
        </p:spPr>
      </p:pic>
      <p:sp>
        <p:nvSpPr>
          <p:cNvPr id="5" name="Shape 2"/>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6" name="Text 3"/>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7" name="Text 4"/>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در تصویر تخفیف ۱۵٪ از آستانهٔ ۱۰٪ بیشتر است، پس دکمه «ثبت و ارسال برای تأیید» شده است. پیش‌نویس سند حسابداری نمی‌سازد.</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سربرگ</a:t>
            </a:r>
            <a:endParaRPr lang="en-US" sz="1350" dirty="0"/>
          </a:p>
        </p:txBody>
      </p:sp>
      <p:sp>
        <p:nvSpPr>
          <p:cNvPr id="11" name="Text 8"/>
          <p:cNvSpPr/>
          <p:nvPr/>
        </p:nvSpPr>
        <p:spPr>
          <a:xfrm>
            <a:off x="7909560" y="1517904"/>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نوع سند، تاریخ، مهلت پرداخت، مشتری، نوع فروش، شمارهٔ سفارش مشتری و اعتبار پیش‌فاکتور.</a:t>
            </a:r>
            <a:endParaRPr lang="en-US" sz="1050" dirty="0"/>
          </a:p>
        </p:txBody>
      </p:sp>
      <p:sp>
        <p:nvSpPr>
          <p:cNvPr id="12" name="Shape 9"/>
          <p:cNvSpPr/>
          <p:nvPr/>
        </p:nvSpPr>
        <p:spPr>
          <a:xfrm>
            <a:off x="11411712" y="2002079"/>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00207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00207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وضعیت مشتری</a:t>
            </a:r>
            <a:endParaRPr lang="en-US" sz="1350" dirty="0"/>
          </a:p>
        </p:txBody>
      </p:sp>
      <p:sp>
        <p:nvSpPr>
          <p:cNvPr id="15" name="Text 12"/>
          <p:cNvSpPr/>
          <p:nvPr/>
        </p:nvSpPr>
        <p:spPr>
          <a:xfrm>
            <a:off x="7909560" y="2331263"/>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نوار خط‌چین: مانده حساب، سفارش باز، سقف اعتبار و نوع صورتحساب مودیان.</a:t>
            </a:r>
            <a:endParaRPr lang="en-US" sz="1050" dirty="0"/>
          </a:p>
        </p:txBody>
      </p:sp>
      <p:sp>
        <p:nvSpPr>
          <p:cNvPr id="16" name="Shape 13"/>
          <p:cNvSpPr/>
          <p:nvPr/>
        </p:nvSpPr>
        <p:spPr>
          <a:xfrm>
            <a:off x="11411712" y="2815438"/>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28154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28154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ردیف‌ها</a:t>
            </a:r>
            <a:endParaRPr lang="en-US" sz="1350" dirty="0"/>
          </a:p>
        </p:txBody>
      </p:sp>
      <p:sp>
        <p:nvSpPr>
          <p:cNvPr id="19" name="Text 16"/>
          <p:cNvSpPr/>
          <p:nvPr/>
        </p:nvSpPr>
        <p:spPr>
          <a:xfrm>
            <a:off x="7909560" y="3144622"/>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کالا/خدمت، تعداد، فی و درصد تخفیف؛ موجودی کالا زیر نامش دیده می‌شود.</a:t>
            </a:r>
            <a:endParaRPr lang="en-US" sz="1050" dirty="0"/>
          </a:p>
        </p:txBody>
      </p:sp>
      <p:sp>
        <p:nvSpPr>
          <p:cNvPr id="20" name="Shape 17"/>
          <p:cNvSpPr/>
          <p:nvPr/>
        </p:nvSpPr>
        <p:spPr>
          <a:xfrm>
            <a:off x="11411712" y="3628796"/>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362879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362879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جمع‌ها</a:t>
            </a:r>
            <a:endParaRPr lang="en-US" sz="1350" dirty="0"/>
          </a:p>
        </p:txBody>
      </p:sp>
      <p:sp>
        <p:nvSpPr>
          <p:cNvPr id="23" name="Text 20"/>
          <p:cNvSpPr/>
          <p:nvPr/>
        </p:nvSpPr>
        <p:spPr>
          <a:xfrm>
            <a:off x="7909560" y="3957980"/>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ستون کنار: ناخالص، تخفیف کلی، مشمول، مالیات و قابل پرداخت.</a:t>
            </a:r>
            <a:endParaRPr lang="en-US" sz="1050" dirty="0"/>
          </a:p>
        </p:txBody>
      </p:sp>
      <p:sp>
        <p:nvSpPr>
          <p:cNvPr id="24" name="Shape 21"/>
          <p:cNvSpPr/>
          <p:nvPr/>
        </p:nvSpPr>
        <p:spPr>
          <a:xfrm>
            <a:off x="11411712" y="4442155"/>
            <a:ext cx="329184" cy="329184"/>
          </a:xfrm>
          <a:prstGeom prst="ellipse">
            <a:avLst/>
          </a:prstGeom>
          <a:solidFill>
            <a:srgbClr val="C9A227"/>
          </a:solidFill>
          <a:ln w="12700">
            <a:solidFill>
              <a:srgbClr val="C9A227"/>
            </a:solidFill>
            <a:prstDash val="solid"/>
          </a:ln>
        </p:spPr>
      </p:sp>
      <p:sp>
        <p:nvSpPr>
          <p:cNvPr id="25" name="Text 22"/>
          <p:cNvSpPr/>
          <p:nvPr/>
        </p:nvSpPr>
        <p:spPr>
          <a:xfrm>
            <a:off x="11411712" y="444215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6" name="Text 23"/>
          <p:cNvSpPr/>
          <p:nvPr/>
        </p:nvSpPr>
        <p:spPr>
          <a:xfrm>
            <a:off x="7909560" y="4442155"/>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ثبت</a:t>
            </a:r>
            <a:endParaRPr lang="en-US" sz="1350" dirty="0"/>
          </a:p>
        </p:txBody>
      </p:sp>
      <p:sp>
        <p:nvSpPr>
          <p:cNvPr id="27" name="Text 24"/>
          <p:cNvSpPr/>
          <p:nvPr/>
        </p:nvSpPr>
        <p:spPr>
          <a:xfrm>
            <a:off x="7909560" y="4771339"/>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با هشدار تخفیف/اعتبار ⇐ «ثبت و ارسال برای تأیید»؛ بدون آن ⇐ «ثبت نهایی»؛ یا «ذخیرهٔ پیش‌نویس».</a:t>
            </a:r>
            <a:endParaRPr lang="en-US" sz="1050" dirty="0"/>
          </a:p>
        </p:txBody>
      </p:sp>
      <p:sp>
        <p:nvSpPr>
          <p:cNvPr id="28" name="Text 25"/>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۱۶۳</a:t>
            </a:r>
            <a:endParaRPr lang="en-US" sz="1000" dirty="0"/>
          </a:p>
        </p:txBody>
      </p:sp>
      <p:sp>
        <p:nvSpPr>
          <p:cNvPr id="29" name="Text 26"/>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۷ — تأیید یا رد سند</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sl08">    </p:cNvPr>
          <p:cNvPicPr>
            <a:picLocks noChangeAspect="1"/>
          </p:cNvPicPr>
          <p:nvPr/>
        </p:nvPicPr>
        <p:blipFill>
          <a:blip r:embed="rId1"/>
          <a:stretch>
            <a:fillRect/>
          </a:stretch>
        </p:blipFill>
        <p:spPr>
          <a:xfrm>
            <a:off x="484632" y="1527505"/>
            <a:ext cx="7077456" cy="4443070"/>
          </a:xfrm>
          <a:prstGeom prst="rect">
            <a:avLst/>
          </a:prstGeom>
        </p:spPr>
      </p:pic>
      <p:sp>
        <p:nvSpPr>
          <p:cNvPr id="5" name="Shape 2"/>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6" name="Text 3"/>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7" name="Text 4"/>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آقای کریمی (مدیر فروش) دلیل «تخفیف ۱۵٪» را می‌بیند؛ چون مشتری قدیمی است تأیید می‌کند. سندی که ارجاع لازم ندارد خودکار تأیید می‌شود.</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مراحل</a:t>
            </a:r>
            <a:endParaRPr lang="en-US" sz="1350" dirty="0"/>
          </a:p>
        </p:txBody>
      </p:sp>
      <p:sp>
        <p:nvSpPr>
          <p:cNvPr id="11" name="Text 8"/>
          <p:cNvSpPr/>
          <p:nvPr/>
        </p:nvSpPr>
        <p:spPr>
          <a:xfrm>
            <a:off x="7909560" y="1517904"/>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نوار بالا مرحلهٔ سند را نشان می‌دهد: پیش‌نویس، در انتظار تأیید، تأییدشده.</a:t>
            </a:r>
            <a:endParaRPr lang="en-US" sz="1050" dirty="0"/>
          </a:p>
        </p:txBody>
      </p:sp>
      <p:sp>
        <p:nvSpPr>
          <p:cNvPr id="12" name="Shape 9"/>
          <p:cNvSpPr/>
          <p:nvPr/>
        </p:nvSpPr>
        <p:spPr>
          <a:xfrm>
            <a:off x="11411712" y="2002079"/>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00207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00207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دلیل ارجاع</a:t>
            </a:r>
            <a:endParaRPr lang="en-US" sz="1350" dirty="0"/>
          </a:p>
        </p:txBody>
      </p:sp>
      <p:sp>
        <p:nvSpPr>
          <p:cNvPr id="15" name="Text 12"/>
          <p:cNvSpPr/>
          <p:nvPr/>
        </p:nvSpPr>
        <p:spPr>
          <a:xfrm>
            <a:off x="7909560" y="2331263"/>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کادر زرد علت ارجاع را می‌گوید، مثل تخفیف بیش از آستانه.</a:t>
            </a:r>
            <a:endParaRPr lang="en-US" sz="1050" dirty="0"/>
          </a:p>
        </p:txBody>
      </p:sp>
      <p:sp>
        <p:nvSpPr>
          <p:cNvPr id="16" name="Shape 13"/>
          <p:cNvSpPr/>
          <p:nvPr/>
        </p:nvSpPr>
        <p:spPr>
          <a:xfrm>
            <a:off x="11411712" y="2815438"/>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28154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28154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تأیید</a:t>
            </a:r>
            <a:endParaRPr lang="en-US" sz="1350" dirty="0"/>
          </a:p>
        </p:txBody>
      </p:sp>
      <p:sp>
        <p:nvSpPr>
          <p:cNvPr id="19" name="Text 16"/>
          <p:cNvSpPr/>
          <p:nvPr/>
        </p:nvSpPr>
        <p:spPr>
          <a:xfrm>
            <a:off x="7909560" y="3144622"/>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مدیر فروش «تأیید» می‌زند؛ با تفکیک وظایف، ایجادکننده سند خودش را تأیید نمی‌کند.</a:t>
            </a:r>
            <a:endParaRPr lang="en-US" sz="1050" dirty="0"/>
          </a:p>
        </p:txBody>
      </p:sp>
      <p:sp>
        <p:nvSpPr>
          <p:cNvPr id="20" name="Shape 17"/>
          <p:cNvSpPr/>
          <p:nvPr/>
        </p:nvSpPr>
        <p:spPr>
          <a:xfrm>
            <a:off x="11411712" y="3628796"/>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362879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362879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رد</a:t>
            </a:r>
            <a:endParaRPr lang="en-US" sz="1350" dirty="0"/>
          </a:p>
        </p:txBody>
      </p:sp>
      <p:sp>
        <p:nvSpPr>
          <p:cNvPr id="23" name="Text 20"/>
          <p:cNvSpPr/>
          <p:nvPr/>
        </p:nvSpPr>
        <p:spPr>
          <a:xfrm>
            <a:off x="7909560" y="3957980"/>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«رد و بازگشت به پیش‌نویس» با دلیل اختیاری؛ کارشناس اصلاح و دوباره ثبت می‌کند.</a:t>
            </a:r>
            <a:endParaRPr lang="en-US" sz="1050" dirty="0"/>
          </a:p>
        </p:txBody>
      </p:sp>
      <p:sp>
        <p:nvSpPr>
          <p:cNvPr id="24" name="Shape 21"/>
          <p:cNvSpPr/>
          <p:nvPr/>
        </p:nvSpPr>
        <p:spPr>
          <a:xfrm>
            <a:off x="11411712" y="4442155"/>
            <a:ext cx="329184" cy="329184"/>
          </a:xfrm>
          <a:prstGeom prst="ellipse">
            <a:avLst/>
          </a:prstGeom>
          <a:solidFill>
            <a:srgbClr val="C9A227"/>
          </a:solidFill>
          <a:ln w="12700">
            <a:solidFill>
              <a:srgbClr val="C9A227"/>
            </a:solidFill>
            <a:prstDash val="solid"/>
          </a:ln>
        </p:spPr>
      </p:sp>
      <p:sp>
        <p:nvSpPr>
          <p:cNvPr id="25" name="Text 22"/>
          <p:cNvSpPr/>
          <p:nvPr/>
        </p:nvSpPr>
        <p:spPr>
          <a:xfrm>
            <a:off x="11411712" y="444215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6" name="Text 23"/>
          <p:cNvSpPr/>
          <p:nvPr/>
        </p:nvSpPr>
        <p:spPr>
          <a:xfrm>
            <a:off x="7909560" y="4442155"/>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زنجیره و تاریخچه</a:t>
            </a:r>
            <a:endParaRPr lang="en-US" sz="1350" dirty="0"/>
          </a:p>
        </p:txBody>
      </p:sp>
      <p:sp>
        <p:nvSpPr>
          <p:cNvPr id="27" name="Text 24"/>
          <p:cNvSpPr/>
          <p:nvPr/>
        </p:nvSpPr>
        <p:spPr>
          <a:xfrm>
            <a:off x="7909560" y="4771339"/>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ستون کنار: کنترل‌ها، زنجیرهٔ اسناد مبدأ و مقصد، و تاریخچهٔ اقدام‌ها.</a:t>
            </a:r>
            <a:endParaRPr lang="en-US" sz="1050" dirty="0"/>
          </a:p>
        </p:txBody>
      </p:sp>
      <p:sp>
        <p:nvSpPr>
          <p:cNvPr id="28" name="Text 25"/>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۱۶۴</a:t>
            </a:r>
            <a:endParaRPr lang="en-US" sz="1000" dirty="0"/>
          </a:p>
        </p:txBody>
      </p:sp>
      <p:sp>
        <p:nvSpPr>
          <p:cNvPr id="29" name="Text 26"/>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۸ — تبدیل: سفارش، حواله و فاکتور</a:t>
            </a:r>
            <a:endParaRPr lang="en-US" sz="2500" dirty="0"/>
          </a:p>
        </p:txBody>
      </p:sp>
      <p:sp>
        <p:nvSpPr>
          <p:cNvPr id="3" name="Text 1"/>
          <p:cNvSpPr/>
          <p:nvPr/>
        </p:nvSpPr>
        <p:spPr>
          <a:xfrm>
            <a:off x="6208776"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سفارش تأییدشده و دکمه‌های صدور</a:t>
            </a:r>
            <a:endParaRPr lang="en-US" sz="1200" dirty="0"/>
          </a:p>
        </p:txBody>
      </p:sp>
      <p:sp>
        <p:nvSpPr>
          <p:cNvPr id="4" name="Shape 2"/>
          <p:cNvSpPr/>
          <p:nvPr/>
        </p:nvSpPr>
        <p:spPr>
          <a:xfrm>
            <a:off x="6208776" y="1435608"/>
            <a:ext cx="5568696" cy="2318918"/>
          </a:xfrm>
          <a:prstGeom prst="roundRect">
            <a:avLst>
              <a:gd name="adj" fmla="val 31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5" name="Image 0" descr="sl09s">    </p:cNvPr>
          <p:cNvPicPr>
            <a:picLocks noChangeAspect="1"/>
          </p:cNvPicPr>
          <p:nvPr/>
        </p:nvPicPr>
        <p:blipFill>
          <a:blip r:embed="rId1"/>
          <a:stretch>
            <a:fillRect/>
          </a:stretch>
        </p:blipFill>
        <p:spPr>
          <a:xfrm>
            <a:off x="6254496" y="1530045"/>
            <a:ext cx="5477256" cy="2130044"/>
          </a:xfrm>
          <a:prstGeom prst="rect">
            <a:avLst/>
          </a:prstGeom>
        </p:spPr>
      </p:pic>
      <p:sp>
        <p:nvSpPr>
          <p:cNvPr id="6" name="Text 3"/>
          <p:cNvSpPr/>
          <p:nvPr/>
        </p:nvSpPr>
        <p:spPr>
          <a:xfrm>
            <a:off x="411480"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فاکتور صادرشده از حواله</a:t>
            </a:r>
            <a:endParaRPr lang="en-US" sz="1200" dirty="0"/>
          </a:p>
        </p:txBody>
      </p:sp>
      <p:sp>
        <p:nvSpPr>
          <p:cNvPr id="7" name="Shape 4"/>
          <p:cNvSpPr/>
          <p:nvPr/>
        </p:nvSpPr>
        <p:spPr>
          <a:xfrm>
            <a:off x="411480" y="1435608"/>
            <a:ext cx="5568696" cy="2318918"/>
          </a:xfrm>
          <a:prstGeom prst="roundRect">
            <a:avLst>
              <a:gd name="adj" fmla="val 31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8" name="Image 1" descr="sl10s">    </p:cNvPr>
          <p:cNvPicPr>
            <a:picLocks noChangeAspect="1"/>
          </p:cNvPicPr>
          <p:nvPr/>
        </p:nvPicPr>
        <p:blipFill>
          <a:blip r:embed="rId2"/>
          <a:stretch>
            <a:fillRect/>
          </a:stretch>
        </p:blipFill>
        <p:spPr>
          <a:xfrm>
            <a:off x="457200" y="1499616"/>
            <a:ext cx="5477256" cy="2190902"/>
          </a:xfrm>
          <a:prstGeom prst="rect">
            <a:avLst/>
          </a:prstGeom>
        </p:spPr>
      </p:pic>
      <p:sp>
        <p:nvSpPr>
          <p:cNvPr id="9" name="Shape 5"/>
          <p:cNvSpPr/>
          <p:nvPr/>
        </p:nvSpPr>
        <p:spPr>
          <a:xfrm>
            <a:off x="9038844" y="3937406"/>
            <a:ext cx="2738628" cy="1622146"/>
          </a:xfrm>
          <a:prstGeom prst="roundRect">
            <a:avLst>
              <a:gd name="adj" fmla="val 4510"/>
            </a:avLst>
          </a:prstGeom>
          <a:solidFill>
            <a:srgbClr val="FFFFFF"/>
          </a:solidFill>
          <a:ln w="6350">
            <a:solidFill>
              <a:srgbClr val="D9DEE7"/>
            </a:solidFill>
            <a:prstDash val="solid"/>
          </a:ln>
        </p:spPr>
      </p:sp>
      <p:sp>
        <p:nvSpPr>
          <p:cNvPr id="10" name="Shape 6"/>
          <p:cNvSpPr/>
          <p:nvPr/>
        </p:nvSpPr>
        <p:spPr>
          <a:xfrm>
            <a:off x="11356848" y="4028846"/>
            <a:ext cx="329184" cy="329184"/>
          </a:xfrm>
          <a:prstGeom prst="ellipse">
            <a:avLst/>
          </a:prstGeom>
          <a:solidFill>
            <a:srgbClr val="C9A227"/>
          </a:solidFill>
          <a:ln w="12700">
            <a:solidFill>
              <a:srgbClr val="C9A227"/>
            </a:solidFill>
            <a:prstDash val="solid"/>
          </a:ln>
        </p:spPr>
      </p:sp>
      <p:sp>
        <p:nvSpPr>
          <p:cNvPr id="11" name="Text 7"/>
          <p:cNvSpPr/>
          <p:nvPr/>
        </p:nvSpPr>
        <p:spPr>
          <a:xfrm>
            <a:off x="11356848" y="40288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8"/>
          <p:cNvSpPr/>
          <p:nvPr/>
        </p:nvSpPr>
        <p:spPr>
          <a:xfrm>
            <a:off x="9130284" y="4010558"/>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دکمهٔ صدور</a:t>
            </a:r>
            <a:endParaRPr lang="en-US" sz="1300" dirty="0"/>
          </a:p>
        </p:txBody>
      </p:sp>
      <p:sp>
        <p:nvSpPr>
          <p:cNvPr id="13" name="Text 9"/>
          <p:cNvSpPr/>
          <p:nvPr/>
        </p:nvSpPr>
        <p:spPr>
          <a:xfrm>
            <a:off x="9148572" y="4412894"/>
            <a:ext cx="2519172" cy="1091794"/>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در سند تأییدشده «صدور …» را بزنید؛ دکمهٔ غیرفعال دلیلش را زیر نوار می‌گوید.</a:t>
            </a:r>
            <a:endParaRPr lang="en-US" sz="1150" dirty="0"/>
          </a:p>
        </p:txBody>
      </p:sp>
      <p:sp>
        <p:nvSpPr>
          <p:cNvPr id="14" name="Shape 10"/>
          <p:cNvSpPr/>
          <p:nvPr/>
        </p:nvSpPr>
        <p:spPr>
          <a:xfrm>
            <a:off x="6163056" y="3937406"/>
            <a:ext cx="2738628" cy="1622146"/>
          </a:xfrm>
          <a:prstGeom prst="roundRect">
            <a:avLst>
              <a:gd name="adj" fmla="val 4510"/>
            </a:avLst>
          </a:prstGeom>
          <a:solidFill>
            <a:srgbClr val="FFFFFF"/>
          </a:solidFill>
          <a:ln w="6350">
            <a:solidFill>
              <a:srgbClr val="D9DEE7"/>
            </a:solidFill>
            <a:prstDash val="solid"/>
          </a:ln>
        </p:spPr>
      </p:sp>
      <p:sp>
        <p:nvSpPr>
          <p:cNvPr id="15" name="Shape 11"/>
          <p:cNvSpPr/>
          <p:nvPr/>
        </p:nvSpPr>
        <p:spPr>
          <a:xfrm>
            <a:off x="8481060" y="4028846"/>
            <a:ext cx="329184" cy="329184"/>
          </a:xfrm>
          <a:prstGeom prst="ellipse">
            <a:avLst/>
          </a:prstGeom>
          <a:solidFill>
            <a:srgbClr val="C9A227"/>
          </a:solidFill>
          <a:ln w="12700">
            <a:solidFill>
              <a:srgbClr val="C9A227"/>
            </a:solidFill>
            <a:prstDash val="solid"/>
          </a:ln>
        </p:spPr>
      </p:sp>
      <p:sp>
        <p:nvSpPr>
          <p:cNvPr id="16" name="Text 12"/>
          <p:cNvSpPr/>
          <p:nvPr/>
        </p:nvSpPr>
        <p:spPr>
          <a:xfrm>
            <a:off x="8481060" y="40288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7" name="Text 13"/>
          <p:cNvSpPr/>
          <p:nvPr/>
        </p:nvSpPr>
        <p:spPr>
          <a:xfrm>
            <a:off x="6254496" y="4010558"/>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از مبدأ</a:t>
            </a:r>
            <a:endParaRPr lang="en-US" sz="1300" dirty="0"/>
          </a:p>
        </p:txBody>
      </p:sp>
      <p:sp>
        <p:nvSpPr>
          <p:cNvPr id="18" name="Text 14"/>
          <p:cNvSpPr/>
          <p:nvPr/>
        </p:nvSpPr>
        <p:spPr>
          <a:xfrm>
            <a:off x="6272784" y="4412894"/>
            <a:ext cx="2519172" cy="1091794"/>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مشتری، کالا و قیمت از سند مبدأ می‌آید؛ فقط مقدار را می‌شود کم کرد.</a:t>
            </a:r>
            <a:endParaRPr lang="en-US" sz="1150" dirty="0"/>
          </a:p>
        </p:txBody>
      </p:sp>
      <p:sp>
        <p:nvSpPr>
          <p:cNvPr id="19" name="Shape 15"/>
          <p:cNvSpPr/>
          <p:nvPr/>
        </p:nvSpPr>
        <p:spPr>
          <a:xfrm>
            <a:off x="3287268" y="3937406"/>
            <a:ext cx="2738628" cy="1622146"/>
          </a:xfrm>
          <a:prstGeom prst="roundRect">
            <a:avLst>
              <a:gd name="adj" fmla="val 4510"/>
            </a:avLst>
          </a:prstGeom>
          <a:solidFill>
            <a:srgbClr val="FFFFFF"/>
          </a:solidFill>
          <a:ln w="6350">
            <a:solidFill>
              <a:srgbClr val="D9DEE7"/>
            </a:solidFill>
            <a:prstDash val="solid"/>
          </a:ln>
        </p:spPr>
      </p:sp>
      <p:sp>
        <p:nvSpPr>
          <p:cNvPr id="20" name="Shape 16"/>
          <p:cNvSpPr/>
          <p:nvPr/>
        </p:nvSpPr>
        <p:spPr>
          <a:xfrm>
            <a:off x="5605272" y="4028846"/>
            <a:ext cx="329184" cy="329184"/>
          </a:xfrm>
          <a:prstGeom prst="ellipse">
            <a:avLst/>
          </a:prstGeom>
          <a:solidFill>
            <a:srgbClr val="C9A227"/>
          </a:solidFill>
          <a:ln w="12700">
            <a:solidFill>
              <a:srgbClr val="C9A227"/>
            </a:solidFill>
            <a:prstDash val="solid"/>
          </a:ln>
        </p:spPr>
      </p:sp>
      <p:sp>
        <p:nvSpPr>
          <p:cNvPr id="21" name="Text 17"/>
          <p:cNvSpPr/>
          <p:nvPr/>
        </p:nvSpPr>
        <p:spPr>
          <a:xfrm>
            <a:off x="5605272" y="40288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2" name="Text 18"/>
          <p:cNvSpPr/>
          <p:nvPr/>
        </p:nvSpPr>
        <p:spPr>
          <a:xfrm>
            <a:off x="3378708" y="4010558"/>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خدمات</a:t>
            </a:r>
            <a:endParaRPr lang="en-US" sz="1300" dirty="0"/>
          </a:p>
        </p:txBody>
      </p:sp>
      <p:sp>
        <p:nvSpPr>
          <p:cNvPr id="23" name="Text 19"/>
          <p:cNvSpPr/>
          <p:nvPr/>
        </p:nvSpPr>
        <p:spPr>
          <a:xfrm>
            <a:off x="3396996" y="4412894"/>
            <a:ext cx="2519172" cy="1091794"/>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خدمت مستقیم فاکتور می‌شود؛ کالا اول حواله می‌خواهد مگر «فاکتور پیش از تحویل» روشن باشد.</a:t>
            </a:r>
            <a:endParaRPr lang="en-US" sz="1150" dirty="0"/>
          </a:p>
        </p:txBody>
      </p:sp>
      <p:sp>
        <p:nvSpPr>
          <p:cNvPr id="24" name="Shape 20"/>
          <p:cNvSpPr/>
          <p:nvPr/>
        </p:nvSpPr>
        <p:spPr>
          <a:xfrm>
            <a:off x="411480" y="3937406"/>
            <a:ext cx="2738628" cy="1622146"/>
          </a:xfrm>
          <a:prstGeom prst="roundRect">
            <a:avLst>
              <a:gd name="adj" fmla="val 4510"/>
            </a:avLst>
          </a:prstGeom>
          <a:solidFill>
            <a:srgbClr val="FFFFFF"/>
          </a:solidFill>
          <a:ln w="6350">
            <a:solidFill>
              <a:srgbClr val="D9DEE7"/>
            </a:solidFill>
            <a:prstDash val="solid"/>
          </a:ln>
        </p:spPr>
      </p:sp>
      <p:sp>
        <p:nvSpPr>
          <p:cNvPr id="25" name="Shape 21"/>
          <p:cNvSpPr/>
          <p:nvPr/>
        </p:nvSpPr>
        <p:spPr>
          <a:xfrm>
            <a:off x="2729484" y="4028846"/>
            <a:ext cx="329184" cy="329184"/>
          </a:xfrm>
          <a:prstGeom prst="ellipse">
            <a:avLst/>
          </a:prstGeom>
          <a:solidFill>
            <a:srgbClr val="C9A227"/>
          </a:solidFill>
          <a:ln w="12700">
            <a:solidFill>
              <a:srgbClr val="C9A227"/>
            </a:solidFill>
            <a:prstDash val="solid"/>
          </a:ln>
        </p:spPr>
      </p:sp>
      <p:sp>
        <p:nvSpPr>
          <p:cNvPr id="26" name="Text 22"/>
          <p:cNvSpPr/>
          <p:nvPr/>
        </p:nvSpPr>
        <p:spPr>
          <a:xfrm>
            <a:off x="2729484" y="40288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7" name="Text 23"/>
          <p:cNvSpPr/>
          <p:nvPr/>
        </p:nvSpPr>
        <p:spPr>
          <a:xfrm>
            <a:off x="502920" y="4010558"/>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تحویل جزئی</a:t>
            </a:r>
            <a:endParaRPr lang="en-US" sz="1300" dirty="0"/>
          </a:p>
        </p:txBody>
      </p:sp>
      <p:sp>
        <p:nvSpPr>
          <p:cNvPr id="28" name="Text 24"/>
          <p:cNvSpPr/>
          <p:nvPr/>
        </p:nvSpPr>
        <p:spPr>
          <a:xfrm>
            <a:off x="521208" y="4412894"/>
            <a:ext cx="2519172" cy="1091794"/>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مقدار را کم کنید؛ باقی‌مانده برای سند بعدی می‌ماند. بیش از باقی‌مانده پذیرفته نمی‌شود.</a:t>
            </a:r>
            <a:endParaRPr lang="en-US" sz="1150" dirty="0"/>
          </a:p>
        </p:txBody>
      </p:sp>
      <p:sp>
        <p:nvSpPr>
          <p:cNvPr id="29" name="Shape 25"/>
          <p:cNvSpPr/>
          <p:nvPr/>
        </p:nvSpPr>
        <p:spPr>
          <a:xfrm>
            <a:off x="411480" y="5696712"/>
            <a:ext cx="11365992" cy="658368"/>
          </a:xfrm>
          <a:prstGeom prst="roundRect">
            <a:avLst>
              <a:gd name="adj" fmla="val 11111"/>
            </a:avLst>
          </a:prstGeom>
          <a:solidFill>
            <a:srgbClr val="E3F3EA"/>
          </a:solidFill>
          <a:ln w="9525">
            <a:solidFill>
              <a:srgbClr val="1E7A4C"/>
            </a:solidFill>
            <a:prstDash val="solid"/>
          </a:ln>
        </p:spPr>
      </p:sp>
      <p:sp>
        <p:nvSpPr>
          <p:cNvPr id="30" name="Text 26"/>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31" name="Text 27"/>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سفارش ۱۰ دستگاه است ولی انبار امروز ۶ تا دارد: حوالهٔ ۶ دستگاه صادر کنید؛ هفتهٔ بعد حوالهٔ ۴ دستگاه باقی‌مانده.</a:t>
            </a:r>
            <a:endParaRPr lang="en-US" sz="1250" dirty="0"/>
          </a:p>
        </p:txBody>
      </p:sp>
      <p:sp>
        <p:nvSpPr>
          <p:cNvPr id="32" name="Text 28"/>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۱۶۵</a:t>
            </a:r>
            <a:endParaRPr lang="en-US" sz="1000" dirty="0"/>
          </a:p>
        </p:txBody>
      </p:sp>
      <p:sp>
        <p:nvSpPr>
          <p:cNvPr id="33" name="Text 29"/>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۹ — قطعی‌سازی و سند حسابداری</a:t>
            </a:r>
            <a:endParaRPr lang="en-US" sz="2500" dirty="0"/>
          </a:p>
        </p:txBody>
      </p:sp>
      <p:sp>
        <p:nvSpPr>
          <p:cNvPr id="3" name="Text 1"/>
          <p:cNvSpPr/>
          <p:nvPr/>
        </p:nvSpPr>
        <p:spPr>
          <a:xfrm>
            <a:off x="6208776"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پیش‌نمایش سند حسابداری فاکتور</a:t>
            </a:r>
            <a:endParaRPr lang="en-US" sz="1200" dirty="0"/>
          </a:p>
        </p:txBody>
      </p:sp>
      <p:sp>
        <p:nvSpPr>
          <p:cNvPr id="4" name="Shape 2"/>
          <p:cNvSpPr/>
          <p:nvPr/>
        </p:nvSpPr>
        <p:spPr>
          <a:xfrm>
            <a:off x="6208776" y="1435608"/>
            <a:ext cx="5568696" cy="2336477"/>
          </a:xfrm>
          <a:prstGeom prst="roundRect">
            <a:avLst>
              <a:gd name="adj" fmla="val 313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5" name="Image 0" descr="sl11s">    </p:cNvPr>
          <p:cNvPicPr>
            <a:picLocks noChangeAspect="1"/>
          </p:cNvPicPr>
          <p:nvPr/>
        </p:nvPicPr>
        <p:blipFill>
          <a:blip r:embed="rId1"/>
          <a:stretch>
            <a:fillRect/>
          </a:stretch>
        </p:blipFill>
        <p:spPr>
          <a:xfrm>
            <a:off x="6254496" y="1873546"/>
            <a:ext cx="5477256" cy="1460602"/>
          </a:xfrm>
          <a:prstGeom prst="rect">
            <a:avLst/>
          </a:prstGeom>
        </p:spPr>
      </p:pic>
      <p:sp>
        <p:nvSpPr>
          <p:cNvPr id="6" name="Text 3"/>
          <p:cNvSpPr/>
          <p:nvPr/>
        </p:nvSpPr>
        <p:spPr>
          <a:xfrm>
            <a:off x="411480"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تأیید قطعی‌سازی</a:t>
            </a:r>
            <a:endParaRPr lang="en-US" sz="1200" dirty="0"/>
          </a:p>
        </p:txBody>
      </p:sp>
      <p:sp>
        <p:nvSpPr>
          <p:cNvPr id="7" name="Shape 4"/>
          <p:cNvSpPr/>
          <p:nvPr/>
        </p:nvSpPr>
        <p:spPr>
          <a:xfrm>
            <a:off x="411480" y="1435608"/>
            <a:ext cx="5568696" cy="2336477"/>
          </a:xfrm>
          <a:prstGeom prst="roundRect">
            <a:avLst>
              <a:gd name="adj" fmla="val 313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8" name="Image 1" descr="sl12">    </p:cNvPr>
          <p:cNvPicPr>
            <a:picLocks noChangeAspect="1"/>
          </p:cNvPicPr>
          <p:nvPr/>
        </p:nvPicPr>
        <p:blipFill>
          <a:blip r:embed="rId2"/>
          <a:stretch>
            <a:fillRect/>
          </a:stretch>
        </p:blipFill>
        <p:spPr>
          <a:xfrm>
            <a:off x="457200" y="1499760"/>
            <a:ext cx="5477256" cy="2208173"/>
          </a:xfrm>
          <a:prstGeom prst="rect">
            <a:avLst/>
          </a:prstGeom>
        </p:spPr>
      </p:pic>
      <p:sp>
        <p:nvSpPr>
          <p:cNvPr id="9" name="Shape 5"/>
          <p:cNvSpPr/>
          <p:nvPr/>
        </p:nvSpPr>
        <p:spPr>
          <a:xfrm>
            <a:off x="9038844" y="3954965"/>
            <a:ext cx="2738628" cy="1604587"/>
          </a:xfrm>
          <a:prstGeom prst="roundRect">
            <a:avLst>
              <a:gd name="adj" fmla="val 4559"/>
            </a:avLst>
          </a:prstGeom>
          <a:solidFill>
            <a:srgbClr val="FFFFFF"/>
          </a:solidFill>
          <a:ln w="6350">
            <a:solidFill>
              <a:srgbClr val="D9DEE7"/>
            </a:solidFill>
            <a:prstDash val="solid"/>
          </a:ln>
        </p:spPr>
      </p:sp>
      <p:sp>
        <p:nvSpPr>
          <p:cNvPr id="10" name="Shape 6"/>
          <p:cNvSpPr/>
          <p:nvPr/>
        </p:nvSpPr>
        <p:spPr>
          <a:xfrm>
            <a:off x="11356848" y="4046405"/>
            <a:ext cx="329184" cy="329184"/>
          </a:xfrm>
          <a:prstGeom prst="ellipse">
            <a:avLst/>
          </a:prstGeom>
          <a:solidFill>
            <a:srgbClr val="C9A227"/>
          </a:solidFill>
          <a:ln w="12700">
            <a:solidFill>
              <a:srgbClr val="C9A227"/>
            </a:solidFill>
            <a:prstDash val="solid"/>
          </a:ln>
        </p:spPr>
      </p:sp>
      <p:sp>
        <p:nvSpPr>
          <p:cNvPr id="11" name="Text 7"/>
          <p:cNvSpPr/>
          <p:nvPr/>
        </p:nvSpPr>
        <p:spPr>
          <a:xfrm>
            <a:off x="11356848" y="404640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8"/>
          <p:cNvSpPr/>
          <p:nvPr/>
        </p:nvSpPr>
        <p:spPr>
          <a:xfrm>
            <a:off x="9130284" y="4028117"/>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پیش‌نمایش</a:t>
            </a:r>
            <a:endParaRPr lang="en-US" sz="1300" dirty="0"/>
          </a:p>
        </p:txBody>
      </p:sp>
      <p:sp>
        <p:nvSpPr>
          <p:cNvPr id="13" name="Text 9"/>
          <p:cNvSpPr/>
          <p:nvPr/>
        </p:nvSpPr>
        <p:spPr>
          <a:xfrm>
            <a:off x="9148572" y="4430453"/>
            <a:ext cx="2519172" cy="1074235"/>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پیش از قطعی‌سازی، ردیف‌های سند با حساب، تفصیلی، شرح و برچسب «سند تراز است» دیده می‌شود.</a:t>
            </a:r>
            <a:endParaRPr lang="en-US" sz="1150" dirty="0"/>
          </a:p>
        </p:txBody>
      </p:sp>
      <p:sp>
        <p:nvSpPr>
          <p:cNvPr id="14" name="Shape 10"/>
          <p:cNvSpPr/>
          <p:nvPr/>
        </p:nvSpPr>
        <p:spPr>
          <a:xfrm>
            <a:off x="6163056" y="3954965"/>
            <a:ext cx="2738628" cy="1604587"/>
          </a:xfrm>
          <a:prstGeom prst="roundRect">
            <a:avLst>
              <a:gd name="adj" fmla="val 4559"/>
            </a:avLst>
          </a:prstGeom>
          <a:solidFill>
            <a:srgbClr val="FFFFFF"/>
          </a:solidFill>
          <a:ln w="6350">
            <a:solidFill>
              <a:srgbClr val="D9DEE7"/>
            </a:solidFill>
            <a:prstDash val="solid"/>
          </a:ln>
        </p:spPr>
      </p:sp>
      <p:sp>
        <p:nvSpPr>
          <p:cNvPr id="15" name="Shape 11"/>
          <p:cNvSpPr/>
          <p:nvPr/>
        </p:nvSpPr>
        <p:spPr>
          <a:xfrm>
            <a:off x="8481060" y="4046405"/>
            <a:ext cx="329184" cy="329184"/>
          </a:xfrm>
          <a:prstGeom prst="ellipse">
            <a:avLst/>
          </a:prstGeom>
          <a:solidFill>
            <a:srgbClr val="C9A227"/>
          </a:solidFill>
          <a:ln w="12700">
            <a:solidFill>
              <a:srgbClr val="C9A227"/>
            </a:solidFill>
            <a:prstDash val="solid"/>
          </a:ln>
        </p:spPr>
      </p:sp>
      <p:sp>
        <p:nvSpPr>
          <p:cNvPr id="16" name="Text 12"/>
          <p:cNvSpPr/>
          <p:nvPr/>
        </p:nvSpPr>
        <p:spPr>
          <a:xfrm>
            <a:off x="8481060" y="404640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7" name="Text 13"/>
          <p:cNvSpPr/>
          <p:nvPr/>
        </p:nvSpPr>
        <p:spPr>
          <a:xfrm>
            <a:off x="6254496" y="4028117"/>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کنترل‌ها</a:t>
            </a:r>
            <a:endParaRPr lang="en-US" sz="1300" dirty="0"/>
          </a:p>
        </p:txBody>
      </p:sp>
      <p:sp>
        <p:nvSpPr>
          <p:cNvPr id="18" name="Text 14"/>
          <p:cNvSpPr/>
          <p:nvPr/>
        </p:nvSpPr>
        <p:spPr>
          <a:xfrm>
            <a:off x="6272784" y="4430453"/>
            <a:ext cx="2519172" cy="1074235"/>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تراز سند، باز بودن دوره و سال مالی، و کافی بودن موجودی.</a:t>
            </a:r>
            <a:endParaRPr lang="en-US" sz="1150" dirty="0"/>
          </a:p>
        </p:txBody>
      </p:sp>
      <p:sp>
        <p:nvSpPr>
          <p:cNvPr id="19" name="Shape 15"/>
          <p:cNvSpPr/>
          <p:nvPr/>
        </p:nvSpPr>
        <p:spPr>
          <a:xfrm>
            <a:off x="3287268" y="3954965"/>
            <a:ext cx="2738628" cy="1604587"/>
          </a:xfrm>
          <a:prstGeom prst="roundRect">
            <a:avLst>
              <a:gd name="adj" fmla="val 4559"/>
            </a:avLst>
          </a:prstGeom>
          <a:solidFill>
            <a:srgbClr val="FFFFFF"/>
          </a:solidFill>
          <a:ln w="6350">
            <a:solidFill>
              <a:srgbClr val="D9DEE7"/>
            </a:solidFill>
            <a:prstDash val="solid"/>
          </a:ln>
        </p:spPr>
      </p:sp>
      <p:sp>
        <p:nvSpPr>
          <p:cNvPr id="20" name="Shape 16"/>
          <p:cNvSpPr/>
          <p:nvPr/>
        </p:nvSpPr>
        <p:spPr>
          <a:xfrm>
            <a:off x="5605272" y="4046405"/>
            <a:ext cx="329184" cy="329184"/>
          </a:xfrm>
          <a:prstGeom prst="ellipse">
            <a:avLst/>
          </a:prstGeom>
          <a:solidFill>
            <a:srgbClr val="C9A227"/>
          </a:solidFill>
          <a:ln w="12700">
            <a:solidFill>
              <a:srgbClr val="C9A227"/>
            </a:solidFill>
            <a:prstDash val="solid"/>
          </a:ln>
        </p:spPr>
      </p:sp>
      <p:sp>
        <p:nvSpPr>
          <p:cNvPr id="21" name="Text 17"/>
          <p:cNvSpPr/>
          <p:nvPr/>
        </p:nvSpPr>
        <p:spPr>
          <a:xfrm>
            <a:off x="5605272" y="404640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2" name="Text 18"/>
          <p:cNvSpPr/>
          <p:nvPr/>
        </p:nvSpPr>
        <p:spPr>
          <a:xfrm>
            <a:off x="3378708" y="4028117"/>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قطعی‌سازی</a:t>
            </a:r>
            <a:endParaRPr lang="en-US" sz="1300" dirty="0"/>
          </a:p>
        </p:txBody>
      </p:sp>
      <p:sp>
        <p:nvSpPr>
          <p:cNvPr id="23" name="Text 19"/>
          <p:cNvSpPr/>
          <p:nvPr/>
        </p:nvSpPr>
        <p:spPr>
          <a:xfrm>
            <a:off x="3396996" y="4430453"/>
            <a:ext cx="2519172" cy="1074235"/>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حسابدار فروش «قطعی‌سازی و ثبت حسابداری» را می‌زند و تأیید می‌کند.</a:t>
            </a:r>
            <a:endParaRPr lang="en-US" sz="1150" dirty="0"/>
          </a:p>
        </p:txBody>
      </p:sp>
      <p:sp>
        <p:nvSpPr>
          <p:cNvPr id="24" name="Shape 20"/>
          <p:cNvSpPr/>
          <p:nvPr/>
        </p:nvSpPr>
        <p:spPr>
          <a:xfrm>
            <a:off x="411480" y="3954965"/>
            <a:ext cx="2738628" cy="1604587"/>
          </a:xfrm>
          <a:prstGeom prst="roundRect">
            <a:avLst>
              <a:gd name="adj" fmla="val 4559"/>
            </a:avLst>
          </a:prstGeom>
          <a:solidFill>
            <a:srgbClr val="FFFFFF"/>
          </a:solidFill>
          <a:ln w="6350">
            <a:solidFill>
              <a:srgbClr val="D9DEE7"/>
            </a:solidFill>
            <a:prstDash val="solid"/>
          </a:ln>
        </p:spPr>
      </p:sp>
      <p:sp>
        <p:nvSpPr>
          <p:cNvPr id="25" name="Shape 21"/>
          <p:cNvSpPr/>
          <p:nvPr/>
        </p:nvSpPr>
        <p:spPr>
          <a:xfrm>
            <a:off x="2729484" y="4046405"/>
            <a:ext cx="329184" cy="329184"/>
          </a:xfrm>
          <a:prstGeom prst="ellipse">
            <a:avLst/>
          </a:prstGeom>
          <a:solidFill>
            <a:srgbClr val="C9A227"/>
          </a:solidFill>
          <a:ln w="12700">
            <a:solidFill>
              <a:srgbClr val="C9A227"/>
            </a:solidFill>
            <a:prstDash val="solid"/>
          </a:ln>
        </p:spPr>
      </p:sp>
      <p:sp>
        <p:nvSpPr>
          <p:cNvPr id="26" name="Text 22"/>
          <p:cNvSpPr/>
          <p:nvPr/>
        </p:nvSpPr>
        <p:spPr>
          <a:xfrm>
            <a:off x="2729484" y="404640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7" name="Text 23"/>
          <p:cNvSpPr/>
          <p:nvPr/>
        </p:nvSpPr>
        <p:spPr>
          <a:xfrm>
            <a:off x="502920" y="4028117"/>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نتیجه</a:t>
            </a:r>
            <a:endParaRPr lang="en-US" sz="1300" dirty="0"/>
          </a:p>
        </p:txBody>
      </p:sp>
      <p:sp>
        <p:nvSpPr>
          <p:cNvPr id="28" name="Text 24"/>
          <p:cNvSpPr/>
          <p:nvPr/>
        </p:nvSpPr>
        <p:spPr>
          <a:xfrm>
            <a:off x="521208" y="4430453"/>
            <a:ext cx="2519172" cy="1074235"/>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شمارهٔ نهایی، سند حسابداری موقت و تغییر موجودی — همه با هم یا هیچ‌کدام.</a:t>
            </a:r>
            <a:endParaRPr lang="en-US" sz="1150" dirty="0"/>
          </a:p>
        </p:txBody>
      </p:sp>
      <p:sp>
        <p:nvSpPr>
          <p:cNvPr id="29" name="Shape 25"/>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0" name="Text 26"/>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1" name="Text 27"/>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«سند موقت» یعنی سند حسابداری ثبت شده ولی هنوز قابل بررسی است و بعداً در چرخهٔ اسناد، دائم می‌شود.</a:t>
            </a:r>
            <a:endParaRPr lang="en-US" sz="1250" dirty="0"/>
          </a:p>
        </p:txBody>
      </p:sp>
      <p:sp>
        <p:nvSpPr>
          <p:cNvPr id="32" name="Text 28"/>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۱۶۶</a:t>
            </a:r>
            <a:endParaRPr lang="en-US" sz="1000" dirty="0"/>
          </a:p>
        </p:txBody>
      </p:sp>
      <p:sp>
        <p:nvSpPr>
          <p:cNvPr id="33" name="Text 29"/>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۱۰ — سند قطعی و برگشت از فروش</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sl13">    </p:cNvPr>
          <p:cNvPicPr>
            <a:picLocks noChangeAspect="1"/>
          </p:cNvPicPr>
          <p:nvPr/>
        </p:nvPicPr>
        <p:blipFill>
          <a:blip r:embed="rId1"/>
          <a:stretch>
            <a:fillRect/>
          </a:stretch>
        </p:blipFill>
        <p:spPr>
          <a:xfrm>
            <a:off x="484632" y="1224747"/>
            <a:ext cx="7077456" cy="5048585"/>
          </a:xfrm>
          <a:prstGeom prst="rect">
            <a:avLst/>
          </a:prstGeom>
        </p:spPr>
      </p:pic>
      <p:sp>
        <p:nvSpPr>
          <p:cNvPr id="5" name="Shape 2"/>
          <p:cNvSpPr/>
          <p:nvPr/>
        </p:nvSpPr>
        <p:spPr>
          <a:xfrm>
            <a:off x="7909560" y="5023714"/>
            <a:ext cx="3867912" cy="1331366"/>
          </a:xfrm>
          <a:prstGeom prst="roundRect">
            <a:avLst>
              <a:gd name="adj" fmla="val 5495"/>
            </a:avLst>
          </a:prstGeom>
          <a:solidFill>
            <a:srgbClr val="E3F3EA"/>
          </a:solidFill>
          <a:ln w="9525">
            <a:solidFill>
              <a:srgbClr val="1E7A4C"/>
            </a:solidFill>
            <a:prstDash val="solid"/>
          </a:ln>
        </p:spPr>
      </p:sp>
      <p:sp>
        <p:nvSpPr>
          <p:cNvPr id="6" name="Text 3"/>
          <p:cNvSpPr/>
          <p:nvPr/>
        </p:nvSpPr>
        <p:spPr>
          <a:xfrm>
            <a:off x="8046720" y="5087722"/>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7" name="Text 4"/>
          <p:cNvSpPr/>
          <p:nvPr/>
        </p:nvSpPr>
        <p:spPr>
          <a:xfrm>
            <a:off x="8046720" y="5362042"/>
            <a:ext cx="3593592" cy="910742"/>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در فاکتور INV-1405-0004 مبلغ مشمول ۱۰۰ میلیون و مالیات ۱۰٪ آن ۱۰ میلیون است؛ سند حسابداری: دریافتنی ۱۱۰ میلیون بدهکار، درآمد خدمات و مالیات بستانکار.</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قفل</a:t>
            </a:r>
            <a:endParaRPr lang="en-US" sz="1350" dirty="0"/>
          </a:p>
        </p:txBody>
      </p:sp>
      <p:sp>
        <p:nvSpPr>
          <p:cNvPr id="11" name="Text 8"/>
          <p:cNvSpPr/>
          <p:nvPr/>
        </p:nvSpPr>
        <p:spPr>
          <a:xfrm>
            <a:off x="7909560" y="151790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سند قطعی ویرایش یا ابطال نمی‌شود؛ پیام قفل بالای صفحه همین را می‌گوید.</a:t>
            </a:r>
            <a:endParaRPr lang="en-US" sz="1250" dirty="0"/>
          </a:p>
        </p:txBody>
      </p:sp>
      <p:sp>
        <p:nvSpPr>
          <p:cNvPr id="12" name="Shape 9"/>
          <p:cNvSpPr/>
          <p:nvPr/>
        </p:nvSpPr>
        <p:spPr>
          <a:xfrm>
            <a:off x="11411712" y="2073402"/>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07340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07340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سند حسابداری</a:t>
            </a:r>
            <a:endParaRPr lang="en-US" sz="1350" dirty="0"/>
          </a:p>
        </p:txBody>
      </p:sp>
      <p:sp>
        <p:nvSpPr>
          <p:cNvPr id="15" name="Text 12"/>
          <p:cNvSpPr/>
          <p:nvPr/>
        </p:nvSpPr>
        <p:spPr>
          <a:xfrm>
            <a:off x="7909560" y="2402586"/>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«مشاهدهٔ سند حسابداری» سند موقت صادرشده را باز می‌کند.</a:t>
            </a:r>
            <a:endParaRPr lang="en-US" sz="1250" dirty="0"/>
          </a:p>
        </p:txBody>
      </p:sp>
      <p:sp>
        <p:nvSpPr>
          <p:cNvPr id="16" name="Shape 13"/>
          <p:cNvSpPr/>
          <p:nvPr/>
        </p:nvSpPr>
        <p:spPr>
          <a:xfrm>
            <a:off x="11411712" y="2958084"/>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295808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295808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برگشت</a:t>
            </a:r>
            <a:endParaRPr lang="en-US" sz="1350" dirty="0"/>
          </a:p>
        </p:txBody>
      </p:sp>
      <p:sp>
        <p:nvSpPr>
          <p:cNvPr id="19" name="Text 16"/>
          <p:cNvSpPr/>
          <p:nvPr/>
        </p:nvSpPr>
        <p:spPr>
          <a:xfrm>
            <a:off x="7909560" y="3287268"/>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برای اصلاح، «صدور برگشت از فروش» را بزنید و ردیف‌ها و مقدار برگشتی را تعیین کنید.</a:t>
            </a:r>
            <a:endParaRPr lang="en-US" sz="1250" dirty="0"/>
          </a:p>
        </p:txBody>
      </p:sp>
      <p:sp>
        <p:nvSpPr>
          <p:cNvPr id="20" name="Shape 17"/>
          <p:cNvSpPr/>
          <p:nvPr/>
        </p:nvSpPr>
        <p:spPr>
          <a:xfrm>
            <a:off x="11411712" y="3842766"/>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384276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384276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ابطال</a:t>
            </a:r>
            <a:endParaRPr lang="en-US" sz="1350" dirty="0"/>
          </a:p>
        </p:txBody>
      </p:sp>
      <p:sp>
        <p:nvSpPr>
          <p:cNvPr id="23" name="Text 20"/>
          <p:cNvSpPr/>
          <p:nvPr/>
        </p:nvSpPr>
        <p:spPr>
          <a:xfrm>
            <a:off x="7909560" y="4171950"/>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دکمهٔ «ابطال» فقط در سند قطعی‌نشده هست؛ سند باطل دیگر استفاده نمی‌شود.</a:t>
            </a:r>
            <a:endParaRPr lang="en-US" sz="1250" dirty="0"/>
          </a:p>
        </p:txBody>
      </p:sp>
      <p:sp>
        <p:nvSpPr>
          <p:cNvPr id="24" name="Text 2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۱۶۷</a:t>
            </a:r>
            <a:endParaRPr lang="en-US" sz="1000" dirty="0"/>
          </a:p>
        </p:txBody>
      </p:sp>
      <p:sp>
        <p:nvSpPr>
          <p:cNvPr id="25" name="Text 2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پیام‌های رایج فروش و راه‌حل</a:t>
            </a:r>
            <a:endParaRPr lang="en-US" sz="2500" dirty="0"/>
          </a:p>
        </p:txBody>
      </p:sp>
      <p:graphicFrame>
        <p:nvGraphicFramePr>
          <p:cNvPr id="169"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11365992" cy="914400"/>
        </p:xfrm>
        <a:graphic>
          <a:graphicData uri="http://schemas.openxmlformats.org/drawingml/2006/table">
            <a:tbl>
              <a:tblPr rtl="1"/>
              <a:tblGrid>
                <a:gridCol w="4389120"/>
                <a:gridCol w="6976872"/>
              </a:tblGrid>
              <a:tr h="502920">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پیام یا مشکل</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چه باید کرد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تنظیمات فروش این واحد کامل نیست…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در «تنظیمات فروش» حداقل «حساب‌های دریافتنی» را تعیین و «ذخیرهٔ تنظیمات» را بزنید.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برای کار با فروش، مدیر مالی واحد باید … نقش بدهد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از مدیر مالی بخواهید در بخش نقش‌های تنظیمات فروش، کد ملی شما را با نقش مناسب اضافه کند.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حساب دریافتنی سطح تفصیلی ندارد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حساب انتخاب‌شده برای دریافتنی باید سطح تفصیلی داشته باشد؛ نگاشت حساب را اصلاح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تخفیف … بیش از آستانه — نیاز به تأیید مدیر فروش</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عادی است؛ «ثبت و ارسال برای تأیید» را بزنید یا تخفیف را تا آستانه کم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مشتری در فهرست سند نیست / مسدود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مشتری مسدود سند تازه نمی‌گیرد؛ مدیر فروش در «مشتریان» تیک «مسدود» را بردارد.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دکمهٔ «صدور …» غیرفعال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دلیلش زیر نوار دکمه‌ها آمده؛ مثلاً سند هنوز تأیید نشده یا مقداری باقی نمانده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 سند تراز نیست / قطعی‌سازی غیرفعال</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خطای زیر پیش‌نمایش سند را بخوانید؛ معمولاً حساب یکی از نقش‌ها (مثل مالیات) در تنظیمات خالی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این سند مبلغ حسابداری ندارد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مثلاً بهای استاندارد کالا صفر است؛ در «کالا و خدمات» بهای استاندارد را وارد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سند قطعی قابل ویرایش یا ابطال نیست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برای اصلاح «صدور برگشت از فروش» بزنید و در صورت نیاز فاکتور تازه صادر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bl>
          </a:graphicData>
        </a:graphic>
      </p:graphicFrame>
      <p:sp>
        <p:nvSpPr>
          <p:cNvPr id="4" name="Text 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۱۶۸</a:t>
            </a:r>
            <a:endParaRPr lang="en-US" sz="1000" dirty="0"/>
          </a:p>
        </p:txBody>
      </p:sp>
      <p:sp>
        <p:nvSpPr>
          <p:cNvPr id="5" name="Text 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فروش</a:t>
            </a:r>
            <a:endParaRPr lang="en-US" sz="10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3" name="Image 0" descr="ac_menu">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۹</a:t>
            </a:r>
            <a:endParaRPr lang="en-US" sz="4000" dirty="0"/>
          </a:p>
        </p:txBody>
      </p:sp>
      <p:sp>
        <p:nvSpPr>
          <p:cNvPr id="6" name="Text 3"/>
          <p:cNvSpPr/>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۹</a:t>
            </a:r>
            <a:endParaRPr lang="en-US" sz="1800" dirty="0"/>
          </a:p>
        </p:txBody>
      </p:sp>
      <p:sp>
        <p:nvSpPr>
          <p:cNvPr id="7" name="Text 4"/>
          <p:cNvSpPr/>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600" b="1" dirty="0">
                <a:solidFill>
                  <a:srgbClr val="FFFFFF"/>
                </a:solidFill>
                <a:latin typeface="Tahoma" pitchFamily="34" charset="0"/>
                <a:ea typeface="Tahoma" pitchFamily="34" charset="-122"/>
                <a:cs typeface="Tahoma" pitchFamily="34" charset="-120"/>
              </a:rPr>
              <a:t>حسابداری تعهدی</a:t>
            </a:r>
            <a:endParaRPr lang="en-US" sz="3600" dirty="0"/>
          </a:p>
        </p:txBody>
      </p:sp>
      <p:sp>
        <p:nvSpPr>
          <p:cNvPr id="8" name="Text 5"/>
          <p:cNvSpPr/>
          <p:nvPr/>
        </p:nvSpPr>
        <p:spPr>
          <a:xfrm>
            <a:off x="5120640" y="4206240"/>
            <a:ext cx="6629400" cy="1463040"/>
          </a:xfrm>
          <a:prstGeom prst="rect">
            <a:avLst/>
          </a:prstGeom>
          <a:noFill/>
          <a:ln/>
        </p:spPr>
        <p:txBody>
          <a:bodyPr wrap="square" lIns="0" tIns="0" rIns="0" bIns="0" rtlCol="0" anchor="t"/>
          <a:lstStyle/>
          <a:p>
            <a:pPr rtl="1" algn="r" indent="0" marL="0">
              <a:buNone/>
            </a:pPr>
            <a:r>
              <a:rPr lang="en-US" sz="1600" dirty="0">
                <a:solidFill>
                  <a:srgbClr val="C9D3E6"/>
                </a:solidFill>
                <a:latin typeface="Tahoma" pitchFamily="34" charset="0"/>
                <a:ea typeface="Tahoma" pitchFamily="34" charset="-122"/>
                <a:cs typeface="Tahoma" pitchFamily="34" charset="-120"/>
              </a:rPr>
              <a:t>هزینه و درآمد را در ماهی ثبت کنیم که واقعاً به آن تعلق دارد؛ تقسیم ماهانهٔ پیش‌پرداخت و پیش‌دریافت و برگرداندن خودکار برآوردها</a:t>
            </a:r>
            <a:endParaRPr lang="en-US" sz="1600" dirty="0"/>
          </a:p>
        </p:txBody>
      </p:sp>
      <p:sp>
        <p:nvSpPr>
          <p:cNvPr id="9" name="Text 6"/>
          <p:cNvSpPr/>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نقدی یا تعهدی؟ به زبان ساده</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در روش «نقدی» هزینه همان روزی ثبت می‌شود که پول پرداخت شده است. در روش «تعهدی» هزینه در ماهی ثبت می‌شود که از آن استفاده کرده‌ایم، حتی اگر پولش زودتر یا دیرتر پرداخت شود.</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پیش‌پرداخت</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پول را زودتر داده‌ایم (مثل اجارهٔ یک‌ساله)؛ هر ماه فقط سهم همان ماه هزینه می‌شود.</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درآمد انتقالی (پیش‌دریافت)</a:t>
            </a:r>
            <a:endParaRPr lang="en-US" sz="1350" dirty="0"/>
          </a:p>
        </p:txBody>
      </p:sp>
      <p:sp>
        <p:nvSpPr>
          <p:cNvPr id="12" name="Text 10"/>
          <p:cNvSpPr/>
          <p:nvPr/>
        </p:nvSpPr>
        <p:spPr>
          <a:xfrm>
            <a:off x="5440680" y="3523869"/>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پول را زودتر گرفته‌ایم؛ هر ماه فقط سهم همان ماه درآمد می‌شود.</a:t>
            </a:r>
            <a:endParaRPr lang="en-US" sz="1300" dirty="0"/>
          </a:p>
        </p:txBody>
      </p:sp>
      <p:sp>
        <p:nvSpPr>
          <p:cNvPr id="13" name="Shape 11"/>
          <p:cNvSpPr/>
          <p:nvPr/>
        </p:nvSpPr>
        <p:spPr>
          <a:xfrm>
            <a:off x="11411712" y="3865397"/>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386539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3865397"/>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برآورد</a:t>
            </a:r>
            <a:endParaRPr lang="en-US" sz="1350" dirty="0"/>
          </a:p>
        </p:txBody>
      </p:sp>
      <p:sp>
        <p:nvSpPr>
          <p:cNvPr id="16" name="Text 14"/>
          <p:cNvSpPr/>
          <p:nvPr/>
        </p:nvSpPr>
        <p:spPr>
          <a:xfrm>
            <a:off x="5440680" y="4194581"/>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خدمت را گرفته‌ایم ولی قبضش هنوز نیامده؛ آخر ماه مبلغ تقریبی ثبت و اول ماه بعد خودکار برگردانده می‌شود.</a:t>
            </a:r>
            <a:endParaRPr lang="en-US" sz="1300" dirty="0"/>
          </a:p>
        </p:txBody>
      </p:sp>
      <p:sp>
        <p:nvSpPr>
          <p:cNvPr id="17" name="Shape 15"/>
          <p:cNvSpPr/>
          <p:nvPr/>
        </p:nvSpPr>
        <p:spPr>
          <a:xfrm>
            <a:off x="411480" y="1097280"/>
            <a:ext cx="4754880" cy="2908478"/>
          </a:xfrm>
          <a:prstGeom prst="roundRect">
            <a:avLst>
              <a:gd name="adj" fmla="val 3144"/>
            </a:avLst>
          </a:prstGeom>
          <a:solidFill>
            <a:srgbClr val="E3F3EA"/>
          </a:solidFill>
          <a:ln w="9525">
            <a:solidFill>
              <a:srgbClr val="1E7A4C"/>
            </a:solidFill>
            <a:prstDash val="solid"/>
          </a:ln>
        </p:spPr>
      </p:sp>
      <p:sp>
        <p:nvSpPr>
          <p:cNvPr id="18" name="Text 16"/>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مثال — اجارهٔ ساختمان شعبهٔ ۲ تهران</a:t>
            </a:r>
            <a:endParaRPr lang="en-US" sz="1500" dirty="0"/>
          </a:p>
        </p:txBody>
      </p:sp>
      <p:sp>
        <p:nvSpPr>
          <p:cNvPr id="19" name="Text 17"/>
          <p:cNvSpPr/>
          <p:nvPr/>
        </p:nvSpPr>
        <p:spPr>
          <a:xfrm>
            <a:off x="594360" y="1691640"/>
            <a:ext cx="4389120" cy="5550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 آبان، اجارهٔ ۱۲ ماه یک‌جا پرداخت شد: ۱۲۰,۰۰۰,۰۰۰ ریال.</a:t>
            </a:r>
            <a:endParaRPr lang="en-US" sz="1300" dirty="0"/>
          </a:p>
        </p:txBody>
      </p:sp>
      <p:graphicFrame>
        <p:nvGraphicFramePr>
          <p:cNvPr id="171" name="Table 0"/>
          <p:cNvGraphicFramePr>
            <a:graphicFrameLocks noGrp="1"/>
          </p:cNvGraphicFramePr>
          <p:nvPr>
            <p:extLst>
              <p:ext uri="{D42A27DB-BD31-4B8C-83A1-F6EECF244321}">
                <p14:modId xmlns:p14="http://schemas.microsoft.com/office/powerpoint/2010/main" val="1579011935"/>
              </p:ext>
            </p:extLst>
          </p:nvPr>
        </p:nvGraphicFramePr>
        <p:xfrm>
          <a:off x="594360" y="2383841"/>
          <a:ext cx="4389120" cy="914400"/>
        </p:xfrm>
        <a:graphic>
          <a:graphicData uri="http://schemas.openxmlformats.org/drawingml/2006/table">
            <a:tbl>
              <a:tblPr rtl="1"/>
              <a:tblGrid>
                <a:gridCol w="2194560"/>
                <a:gridCol w="1097280"/>
                <a:gridCol w="1097280"/>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روش</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هزینهٔ آبان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هزینهٔ هر ماه بعد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نقدی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تعهدی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bl>
          </a:graphicData>
        </a:graphic>
      </p:graphicFrame>
      <p:sp>
        <p:nvSpPr>
          <p:cNvPr id="21" name="Text 18"/>
          <p:cNvSpPr/>
          <p:nvPr/>
        </p:nvSpPr>
        <p:spPr>
          <a:xfrm>
            <a:off x="594360" y="3508553"/>
            <a:ext cx="4389120" cy="405765"/>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روش تعهدی تصویر درست‌تری از هزینهٔ هر ماه می‌دهد.</a:t>
            </a:r>
            <a:endParaRPr lang="en-US" sz="125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۱۷۰</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حسابداری تعهدی</a:t>
            </a:r>
            <a:endParaRPr lang="en-US" sz="10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۱ — پرداخت یک‌جای اجارهٔ یک‌ساله</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آبان ۱۴۰۵: اجارهٔ ۱۲ ماهٔ ساختمان شعبهٔ ۲ تهران، ۱۲۰ میلیون ریال، از حساب جاری بانک ملی پرداخت شد. این مبلغ هنوز هزینه نیست؛ یک «دارایی» به نام پیش‌پرداخت است.</a:t>
            </a:r>
            <a:endParaRPr lang="en-US" sz="1500" dirty="0"/>
          </a:p>
        </p:txBody>
      </p:sp>
      <p:graphicFrame>
        <p:nvGraphicFramePr>
          <p:cNvPr id="172"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140301 پیش‌پرداخت‌ها</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پیش‌پرداخت اجارهٔ ۱۲ ماهه — شعبهٔ ۲ تهران</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۱۲۰,۰۰۰,۰۰۰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110201 بانک‌ها — حساب جاری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پرداخت از بانک ملی — جاری</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۱۲۰,۰۰۰,۰۰۰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۱۲۰,۰۰۰,۰۰۰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۱۲۰,۰۰۰,۰۰۰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3899916"/>
            <a:ext cx="11365992" cy="720090"/>
          </a:xfrm>
          <a:prstGeom prst="roundRect">
            <a:avLst>
              <a:gd name="adj" fmla="val 10159"/>
            </a:avLst>
          </a:prstGeom>
          <a:solidFill>
            <a:srgbClr val="F6EDCF"/>
          </a:solidFill>
          <a:ln w="9525">
            <a:solidFill>
              <a:srgbClr val="C9A227"/>
            </a:solidFill>
            <a:prstDash val="solid"/>
          </a:ln>
        </p:spPr>
      </p:sp>
      <p:sp>
        <p:nvSpPr>
          <p:cNvPr id="7" name="Text 4"/>
          <p:cNvSpPr/>
          <p:nvPr/>
        </p:nvSpPr>
        <p:spPr>
          <a:xfrm>
            <a:off x="10863072" y="3899916"/>
            <a:ext cx="822960" cy="72009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8" name="Text 5"/>
          <p:cNvSpPr/>
          <p:nvPr/>
        </p:nvSpPr>
        <p:spPr>
          <a:xfrm>
            <a:off x="548640" y="3899916"/>
            <a:ext cx="10241280" cy="72009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این سند را با الگوی «پیش‌پرداخت اجاره یا بیمه (تقسیم ماهانه)» در حسابیار ثبت می‌کنید؛ سامانه هم‌زمان ۱۲ سطر زمان‌بندی ماهانه می‌سازد.</a:t>
            </a:r>
            <a:endParaRPr lang="en-US" sz="1250" dirty="0"/>
          </a:p>
        </p:txBody>
      </p:sp>
      <p:sp>
        <p:nvSpPr>
          <p:cNvPr id="9" name="Text 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۱۷۱</a:t>
            </a:r>
            <a:endParaRPr lang="en-US" sz="1000" dirty="0"/>
          </a:p>
        </p:txBody>
      </p:sp>
      <p:sp>
        <p:nvSpPr>
          <p:cNvPr id="10" name="Text 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حسابداری تعهدی</a:t>
            </a:r>
            <a:endParaRPr lang="en-US" sz="10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۲ — سهم ماهانه (ساخته‌شده به‌طور خودکار)</a:t>
            </a:r>
            <a:endParaRPr lang="en-US" sz="2500" dirty="0"/>
          </a:p>
        </p:txBody>
      </p:sp>
      <p:sp>
        <p:nvSpPr>
          <p:cNvPr id="3" name="Shape 1"/>
          <p:cNvSpPr/>
          <p:nvPr/>
        </p:nvSpPr>
        <p:spPr>
          <a:xfrm>
            <a:off x="411480" y="1097280"/>
            <a:ext cx="11365992" cy="809244"/>
          </a:xfrm>
          <a:prstGeom prst="roundRect">
            <a:avLst>
              <a:gd name="adj" fmla="val 9040"/>
            </a:avLst>
          </a:prstGeom>
          <a:solidFill>
            <a:srgbClr val="E6EEFB"/>
          </a:solidFill>
          <a:ln w="12700">
            <a:solidFill>
              <a:srgbClr val="E6EEFB"/>
            </a:solidFill>
            <a:prstDash val="solid"/>
          </a:ln>
        </p:spPr>
      </p:sp>
      <p:sp>
        <p:nvSpPr>
          <p:cNvPr id="4" name="Text 2"/>
          <p:cNvSpPr/>
          <p:nvPr/>
        </p:nvSpPr>
        <p:spPr>
          <a:xfrm>
            <a:off x="594360" y="1143000"/>
            <a:ext cx="11000232" cy="717804"/>
          </a:xfrm>
          <a:prstGeom prst="rect">
            <a:avLst/>
          </a:prstGeom>
          <a:noFill/>
          <a:ln/>
        </p:spPr>
        <p:txBody>
          <a:bodyPr wrap="square" lIns="0" tIns="0" rIns="0" bIns="0" rtlCol="0" anchor="ctr"/>
          <a:lstStyle/>
          <a:p>
            <a:pPr rtl="1" algn="r" indent="0" marL="0">
              <a:buNone/>
            </a:pPr>
            <a:r>
              <a:rPr lang="en-US" sz="1500" dirty="0">
                <a:solidFill>
                  <a:srgbClr val="1B2A49"/>
                </a:solidFill>
                <a:latin typeface="Tahoma" pitchFamily="34" charset="0"/>
                <a:ea typeface="Tahoma" pitchFamily="34" charset="-122"/>
                <a:cs typeface="Tahoma" pitchFamily="34" charset="-120"/>
              </a:rPr>
              <a:t>هر ماه، در تاریخ سررسید هر سطر زمان‌بندی، سامانه سند سهم همان ماه را می‌سازد: یک‌دوازدهم مبلغ از پیش‌پرداخت به هزینه منتقل می‌شود.</a:t>
            </a:r>
            <a:endParaRPr lang="en-US" sz="1500" dirty="0"/>
          </a:p>
        </p:txBody>
      </p:sp>
      <p:graphicFrame>
        <p:nvGraphicFramePr>
          <p:cNvPr id="173" name="Table 0"/>
          <p:cNvGraphicFramePr>
            <a:graphicFrameLocks noGrp="1"/>
          </p:cNvGraphicFramePr>
          <p:nvPr>
            <p:extLst>
              <p:ext uri="{D42A27DB-BD31-4B8C-83A1-F6EECF244321}">
                <p14:modId xmlns:p14="http://schemas.microsoft.com/office/powerpoint/2010/main" val="1579011935"/>
              </p:ext>
            </p:extLst>
          </p:nvPr>
        </p:nvGraphicFramePr>
        <p:xfrm>
          <a:off x="411480" y="2135124"/>
          <a:ext cx="11365992" cy="914400"/>
        </p:xfrm>
        <a:graphic>
          <a:graphicData uri="http://schemas.openxmlformats.org/drawingml/2006/table">
            <a:tbl>
              <a:tblPr rtl="1"/>
              <a:tblGrid>
                <a:gridCol w="640080"/>
                <a:gridCol w="3108960"/>
                <a:gridCol w="3776472"/>
                <a:gridCol w="1920240"/>
                <a:gridCol w="1920240"/>
              </a:tblGrid>
              <a:tr h="384048">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ردیف</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حساب</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شرح</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بدهکار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بستانکار (ریال)</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۱</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820501 هزینهٔ اجاره</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سهم آبان ۱۴۰۵ اجارهٔ شعبهٔ ۲ تهران</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E7A4C"/>
                          </a:solidFill>
                          <a:latin typeface="Tahoma" pitchFamily="34" charset="0"/>
                          <a:ea typeface="Tahoma" pitchFamily="34" charset="-122"/>
                          <a:cs typeface="Tahoma" pitchFamily="34" charset="-120"/>
                        </a:rPr>
                        <a:t>۱۰,۰۰۰,۰۰۰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384048">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۲</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b="1" dirty="0">
                          <a:solidFill>
                            <a:srgbClr val="1F2937"/>
                          </a:solidFill>
                          <a:latin typeface="Tahoma" pitchFamily="34" charset="0"/>
                          <a:ea typeface="Tahoma" pitchFamily="34" charset="-122"/>
                          <a:cs typeface="Tahoma" pitchFamily="34" charset="-120"/>
                        </a:rPr>
                        <a:t>140301 پیش‌پرداخت‌ها</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کاهش پیش‌پرداخت اجاره</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l" indent="0" marL="0">
                        <a:buNone/>
                      </a:pPr>
                      <a:r>
                        <a:rPr lang="en-US" sz="1250" dirty="0">
                          <a:solidFill>
                            <a:srgbClr val="B42318"/>
                          </a:solidFill>
                          <a:latin typeface="Tahoma" pitchFamily="34" charset="0"/>
                          <a:ea typeface="Tahoma" pitchFamily="34" charset="-122"/>
                          <a:cs typeface="Tahoma" pitchFamily="34" charset="-120"/>
                        </a:rPr>
                        <a:t>۱۰,۰۰۰,۰۰۰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384048">
                <a:tc>
                  <a:txBody>
                    <a:bodyPr/>
                    <a:lstStyle/>
                    <a:p>
                      <a:pPr algn="r" indent="0" marL="0">
                        <a:buNone/>
                      </a:pP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جمع</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r" indent="0" marL="0">
                        <a:buNone/>
                      </a:pPr>
                      <a:r>
                        <a:rPr lang="en-US" sz="1250" b="1" dirty="0">
                          <a:solidFill>
                            <a:srgbClr val="1E7A4C"/>
                          </a:solidFill>
                          <a:latin typeface="Tahoma" pitchFamily="34" charset="0"/>
                          <a:ea typeface="Tahoma" pitchFamily="34" charset="-122"/>
                          <a:cs typeface="Tahoma" pitchFamily="34" charset="-120"/>
                        </a:rPr>
                        <a:t>✓ بدهکار = بستانکار (سند تراز است)</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۱۰,۰۰۰,۰۰۰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c>
                  <a:txBody>
                    <a:bodyPr/>
                    <a:lstStyle/>
                    <a:p>
                      <a:pPr algn="l" indent="0" marL="0">
                        <a:buNone/>
                      </a:pPr>
                      <a:r>
                        <a:rPr lang="en-US" sz="1250" b="1" dirty="0">
                          <a:solidFill>
                            <a:srgbClr val="1B2A49"/>
                          </a:solidFill>
                          <a:latin typeface="Tahoma" pitchFamily="34" charset="0"/>
                          <a:ea typeface="Tahoma" pitchFamily="34" charset="-122"/>
                          <a:cs typeface="Tahoma" pitchFamily="34" charset="-120"/>
                        </a:rPr>
                        <a:t>۱۰,۰۰۰,۰۰۰</a:t>
                      </a:r>
                      <a:endParaRPr lang="en-US" sz="1250" dirty="0">
                        <a:latin typeface="Tahoma" charset="0"/>
                        <a:ea typeface="Tahoma" charset="0"/>
                        <a:cs typeface="Tahoma" charset="0"/>
                      </a:endParaRPr>
                    </a:p>
                  </a:txBody>
                  <a:tcPr marL="109728" marR="109728" marT="36576" marB="36576"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6EDCF"/>
                    </a:solidFill>
                  </a:tcPr>
                </a:tc>
              </a:tr>
            </a:tbl>
          </a:graphicData>
        </a:graphic>
      </p:graphicFrame>
      <p:sp>
        <p:nvSpPr>
          <p:cNvPr id="6" name="Shape 3"/>
          <p:cNvSpPr/>
          <p:nvPr/>
        </p:nvSpPr>
        <p:spPr>
          <a:xfrm>
            <a:off x="411480" y="3899916"/>
            <a:ext cx="11365992" cy="720090"/>
          </a:xfrm>
          <a:prstGeom prst="roundRect">
            <a:avLst>
              <a:gd name="adj" fmla="val 10159"/>
            </a:avLst>
          </a:prstGeom>
          <a:solidFill>
            <a:srgbClr val="F6EDCF"/>
          </a:solidFill>
          <a:ln w="9525">
            <a:solidFill>
              <a:srgbClr val="C9A227"/>
            </a:solidFill>
            <a:prstDash val="solid"/>
          </a:ln>
        </p:spPr>
      </p:sp>
      <p:sp>
        <p:nvSpPr>
          <p:cNvPr id="7" name="Text 4"/>
          <p:cNvSpPr/>
          <p:nvPr/>
        </p:nvSpPr>
        <p:spPr>
          <a:xfrm>
            <a:off x="10863072" y="3899916"/>
            <a:ext cx="822960" cy="72009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8" name="Text 5"/>
          <p:cNvSpPr/>
          <p:nvPr/>
        </p:nvSpPr>
        <p:spPr>
          <a:xfrm>
            <a:off x="548640" y="3899916"/>
            <a:ext cx="10241280" cy="72009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برآورد هم همین‌طور کار می‌کند: سندی که با الگوی «برگشت خودکار» ثبت شود، روز اول ماه بعد خودکار برعکس می‌شود. برآورد اسفند برگشت خودکار ندارد.</a:t>
            </a:r>
            <a:endParaRPr lang="en-US" sz="1250" dirty="0"/>
          </a:p>
        </p:txBody>
      </p:sp>
      <p:sp>
        <p:nvSpPr>
          <p:cNvPr id="9" name="Shape 6"/>
          <p:cNvSpPr/>
          <p:nvPr/>
        </p:nvSpPr>
        <p:spPr>
          <a:xfrm>
            <a:off x="411480" y="4729734"/>
            <a:ext cx="11365992" cy="720090"/>
          </a:xfrm>
          <a:prstGeom prst="roundRect">
            <a:avLst>
              <a:gd name="adj" fmla="val 10159"/>
            </a:avLst>
          </a:prstGeom>
          <a:solidFill>
            <a:srgbClr val="F6EDCF"/>
          </a:solidFill>
          <a:ln w="9525">
            <a:solidFill>
              <a:srgbClr val="C9A227"/>
            </a:solidFill>
            <a:prstDash val="solid"/>
          </a:ln>
        </p:spPr>
      </p:sp>
      <p:sp>
        <p:nvSpPr>
          <p:cNvPr id="10" name="Text 7"/>
          <p:cNvSpPr/>
          <p:nvPr/>
        </p:nvSpPr>
        <p:spPr>
          <a:xfrm>
            <a:off x="10863072" y="4729734"/>
            <a:ext cx="822960" cy="72009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چرا این‌طور؟</a:t>
            </a:r>
            <a:endParaRPr lang="en-US" sz="1350" dirty="0"/>
          </a:p>
        </p:txBody>
      </p:sp>
      <p:sp>
        <p:nvSpPr>
          <p:cNvPr id="11" name="Text 8"/>
          <p:cNvSpPr/>
          <p:nvPr/>
        </p:nvSpPr>
        <p:spPr>
          <a:xfrm>
            <a:off x="548640" y="4729734"/>
            <a:ext cx="10241280" cy="72009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بعد از ۱۲ ماه ماندهٔ پیش‌پرداخت صفر و کل ۱۲۰ میلیون هزینه شده است. اگر مبلغ بر ماه‌ها بخش‌پذیر نباشد، اختلاف گرد روی ماه آخر می‌رود.</a:t>
            </a:r>
            <a:endParaRPr lang="en-US" sz="1250" dirty="0"/>
          </a:p>
        </p:txBody>
      </p:sp>
      <p:sp>
        <p:nvSpPr>
          <p:cNvPr id="12" name="Text 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۱۷۲</a:t>
            </a:r>
            <a:endParaRPr lang="en-US" sz="1000" dirty="0"/>
          </a:p>
        </p:txBody>
      </p:sp>
      <p:sp>
        <p:nvSpPr>
          <p:cNvPr id="13" name="Text 1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حسابداری تعهدی</a:t>
            </a:r>
            <a:endParaRPr lang="en-US" sz="10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 — ثبت پیش‌پرداخت با حسابیار</a:t>
            </a:r>
            <a:endParaRPr lang="en-US" sz="2500" dirty="0"/>
          </a:p>
        </p:txBody>
      </p:sp>
      <p:sp>
        <p:nvSpPr>
          <p:cNvPr id="3" name="Shape 1"/>
          <p:cNvSpPr/>
          <p:nvPr/>
        </p:nvSpPr>
        <p:spPr>
          <a:xfrm>
            <a:off x="8961120" y="896112"/>
            <a:ext cx="281635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070848" y="896112"/>
            <a:ext cx="259689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حسابیار ← ثبت سند با حسابیار</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as_accrual">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451653"/>
            <a:ext cx="3867912" cy="903427"/>
          </a:xfrm>
          <a:prstGeom prst="roundRect">
            <a:avLst>
              <a:gd name="adj" fmla="val 8097"/>
            </a:avLst>
          </a:prstGeom>
          <a:solidFill>
            <a:srgbClr val="E3F3EA"/>
          </a:solidFill>
          <a:ln w="9525">
            <a:solidFill>
              <a:srgbClr val="1E7A4C"/>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آبان ۱۲۰ میلیون، ۱۲ ماه ⇐ از آبان ۱۴۰۵ تا مهر ۱۴۰۶، هر ماه ۱۰,۰۰۰,۰۰۰ ریال.</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جمله</a:t>
            </a:r>
            <a:endParaRPr lang="en-US" sz="1350" dirty="0"/>
          </a:p>
        </p:txBody>
      </p:sp>
      <p:sp>
        <p:nvSpPr>
          <p:cNvPr id="13" name="Text 10"/>
          <p:cNvSpPr/>
          <p:nvPr/>
        </p:nvSpPr>
        <p:spPr>
          <a:xfrm>
            <a:off x="7909560" y="1700784"/>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بنویسید چه شد؛ مثلاً «اجارهٔ ۱۲ ماههٔ ساختمان شعبهٔ ۲ تهران را ۱۲۰ میلیون از بانک ملی پیش‌پرداخت کردیم».</a:t>
            </a:r>
            <a:endParaRPr lang="en-US" sz="1250" dirty="0"/>
          </a:p>
        </p:txBody>
      </p:sp>
      <p:sp>
        <p:nvSpPr>
          <p:cNvPr id="14" name="Shape 11"/>
          <p:cNvSpPr/>
          <p:nvPr/>
        </p:nvSpPr>
        <p:spPr>
          <a:xfrm>
            <a:off x="11411712" y="2479167"/>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47916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479167"/>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برداشت حسابیار</a:t>
            </a:r>
            <a:endParaRPr lang="en-US" sz="1350" dirty="0"/>
          </a:p>
        </p:txBody>
      </p:sp>
      <p:sp>
        <p:nvSpPr>
          <p:cNvPr id="17" name="Text 14"/>
          <p:cNvSpPr/>
          <p:nvPr/>
        </p:nvSpPr>
        <p:spPr>
          <a:xfrm>
            <a:off x="7909560" y="2808351"/>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عملیات «پیش‌پرداخت اجاره یا بیمه (تقسیم ماهانه)»، مبلغ، بابت دوره، تعداد ماه و حساب بانکی را تأیید کنید.</a:t>
            </a:r>
            <a:endParaRPr lang="en-US" sz="1250" dirty="0"/>
          </a:p>
        </p:txBody>
      </p:sp>
      <p:sp>
        <p:nvSpPr>
          <p:cNvPr id="18" name="Shape 15"/>
          <p:cNvSpPr/>
          <p:nvPr/>
        </p:nvSpPr>
        <p:spPr>
          <a:xfrm>
            <a:off x="11411712" y="3586734"/>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58673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58673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جدول ماهانه</a:t>
            </a:r>
            <a:endParaRPr lang="en-US" sz="1350" dirty="0"/>
          </a:p>
        </p:txBody>
      </p:sp>
      <p:sp>
        <p:nvSpPr>
          <p:cNvPr id="21" name="Text 18"/>
          <p:cNvSpPr/>
          <p:nvPr/>
        </p:nvSpPr>
        <p:spPr>
          <a:xfrm>
            <a:off x="7909560" y="3915918"/>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در پیش‌نویس، سهم هر ماه دیده می‌شود؛ جمع جدول برابر مبلغ اصلی است.</a:t>
            </a:r>
            <a:endParaRPr lang="en-US" sz="1250" dirty="0"/>
          </a:p>
        </p:txBody>
      </p:sp>
      <p:sp>
        <p:nvSpPr>
          <p:cNvPr id="22" name="Shape 19"/>
          <p:cNvSpPr/>
          <p:nvPr/>
        </p:nvSpPr>
        <p:spPr>
          <a:xfrm>
            <a:off x="11411712" y="447141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47141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47141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ارسال</a:t>
            </a:r>
            <a:endParaRPr lang="en-US" sz="1350" dirty="0"/>
          </a:p>
        </p:txBody>
      </p:sp>
      <p:sp>
        <p:nvSpPr>
          <p:cNvPr id="25" name="Text 22"/>
          <p:cNvSpPr/>
          <p:nvPr/>
        </p:nvSpPr>
        <p:spPr>
          <a:xfrm>
            <a:off x="7909560" y="4800600"/>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«ارسال برای بررسی حسابدار»؛ سند «موقت» ثبت و زمان‌بندی ساخته می‌شود.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۱۷۳</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حسابداری تعهدی</a:t>
            </a:r>
            <a:endParaRPr lang="en-US" sz="10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۲ — میز کار تعهدی</a:t>
            </a:r>
            <a:endParaRPr lang="en-US" sz="2500" dirty="0"/>
          </a:p>
        </p:txBody>
      </p:sp>
      <p:sp>
        <p:nvSpPr>
          <p:cNvPr id="3" name="Shape 1"/>
          <p:cNvSpPr/>
          <p:nvPr/>
        </p:nvSpPr>
        <p:spPr>
          <a:xfrm>
            <a:off x="8805672" y="896112"/>
            <a:ext cx="2971800"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915400" y="896112"/>
            <a:ext cx="275234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حسابداری تعهدی ← میز کار تعهدی</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ac_desk">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237683"/>
            <a:ext cx="3867912" cy="1117397"/>
          </a:xfrm>
          <a:prstGeom prst="roundRect">
            <a:avLst>
              <a:gd name="adj" fmla="val 6547"/>
            </a:avLst>
          </a:prstGeom>
          <a:solidFill>
            <a:srgbClr val="F6EDCF"/>
          </a:solidFill>
          <a:ln w="9525">
            <a:solidFill>
              <a:srgbClr val="C9A227"/>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سامانه سطرهای سررسیدشده را هر روز خودکار اجرا می‌کند؛ «اجرا الان» برای وقتی است که منتظر نمی‌مانید.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کاشی‌ها</a:t>
            </a:r>
            <a:endParaRPr lang="en-US" sz="1350" dirty="0"/>
          </a:p>
        </p:txBody>
      </p:sp>
      <p:sp>
        <p:nvSpPr>
          <p:cNvPr id="13" name="Text 10"/>
          <p:cNvSpPr/>
          <p:nvPr/>
        </p:nvSpPr>
        <p:spPr>
          <a:xfrm>
            <a:off x="7909560" y="170078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سررسید امروز یا گذشتهٔ اجرانشده، سررسید این ماه (باز)، اجراشده و لغوشدهٔ این ماه.</a:t>
            </a:r>
            <a:endParaRPr lang="en-US" sz="1250" dirty="0"/>
          </a:p>
        </p:txBody>
      </p:sp>
      <p:sp>
        <p:nvSpPr>
          <p:cNvPr id="14" name="Shape 11"/>
          <p:cNvSpPr/>
          <p:nvPr/>
        </p:nvSpPr>
        <p:spPr>
          <a:xfrm>
            <a:off x="11411712" y="225628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5628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5628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هشدار</a:t>
            </a:r>
            <a:endParaRPr lang="en-US" sz="1350" dirty="0"/>
          </a:p>
        </p:txBody>
      </p:sp>
      <p:sp>
        <p:nvSpPr>
          <p:cNvPr id="17" name="Text 14"/>
          <p:cNvSpPr/>
          <p:nvPr/>
        </p:nvSpPr>
        <p:spPr>
          <a:xfrm>
            <a:off x="7909560" y="2585466"/>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تا اقلام سررسیدشده اجرا نشوند، صورتحساب این ماه انجام نمی‌شود.</a:t>
            </a:r>
            <a:endParaRPr lang="en-US" sz="1250" dirty="0"/>
          </a:p>
        </p:txBody>
      </p:sp>
      <p:sp>
        <p:nvSpPr>
          <p:cNvPr id="18" name="Shape 15"/>
          <p:cNvSpPr/>
          <p:nvPr/>
        </p:nvSpPr>
        <p:spPr>
          <a:xfrm>
            <a:off x="11411712" y="3140964"/>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409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4096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نیاز به اقدام</a:t>
            </a:r>
            <a:endParaRPr lang="en-US" sz="1350" dirty="0"/>
          </a:p>
        </p:txBody>
      </p:sp>
      <p:sp>
        <p:nvSpPr>
          <p:cNvPr id="21" name="Text 18"/>
          <p:cNvSpPr/>
          <p:nvPr/>
        </p:nvSpPr>
        <p:spPr>
          <a:xfrm>
            <a:off x="7909560" y="3470148"/>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هر سطر: نوع، شرح، سند اصلی، تاریخ سررسید و مبلغ.</a:t>
            </a:r>
            <a:endParaRPr lang="en-US" sz="1250" dirty="0"/>
          </a:p>
        </p:txBody>
      </p:sp>
      <p:sp>
        <p:nvSpPr>
          <p:cNvPr id="22" name="Shape 19"/>
          <p:cNvSpPr/>
          <p:nvPr/>
        </p:nvSpPr>
        <p:spPr>
          <a:xfrm>
            <a:off x="11411712" y="402564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256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256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اجرا الان</a:t>
            </a:r>
            <a:endParaRPr lang="en-US" sz="1350" dirty="0"/>
          </a:p>
        </p:txBody>
      </p:sp>
      <p:sp>
        <p:nvSpPr>
          <p:cNvPr id="25" name="Text 22"/>
          <p:cNvSpPr/>
          <p:nvPr/>
        </p:nvSpPr>
        <p:spPr>
          <a:xfrm>
            <a:off x="7909560" y="4354830"/>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سند همان سطر را همین حالا می‌سازد؛ «جزئیات» همهٔ سطرهای سند اصلی را نشان می‌دهد.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۱۷۴</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حسابداری تعهدی</a:t>
            </a:r>
            <a:endParaRPr lang="en-US" sz="10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۳ — اجرای یک سطر</a:t>
            </a:r>
            <a:endParaRPr lang="en-US" sz="2500" dirty="0"/>
          </a:p>
        </p:txBody>
      </p:sp>
      <p:sp>
        <p:nvSpPr>
          <p:cNvPr id="3" name="Text 1"/>
          <p:cNvSpPr/>
          <p:nvPr/>
        </p:nvSpPr>
        <p:spPr>
          <a:xfrm>
            <a:off x="6208776"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تأیید اجرا</a:t>
            </a:r>
            <a:endParaRPr lang="en-US" sz="1200" dirty="0"/>
          </a:p>
        </p:txBody>
      </p:sp>
      <p:sp>
        <p:nvSpPr>
          <p:cNvPr id="4" name="Shape 2"/>
          <p:cNvSpPr/>
          <p:nvPr/>
        </p:nvSpPr>
        <p:spPr>
          <a:xfrm>
            <a:off x="6208776" y="1435608"/>
            <a:ext cx="5568696" cy="3444773"/>
          </a:xfrm>
          <a:prstGeom prst="roundRect">
            <a:avLst>
              <a:gd name="adj" fmla="val 212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5" name="Image 0" descr="ac_run">    </p:cNvPr>
          <p:cNvPicPr>
            <a:picLocks noChangeAspect="1"/>
          </p:cNvPicPr>
          <p:nvPr/>
        </p:nvPicPr>
        <p:blipFill>
          <a:blip r:embed="rId1"/>
          <a:stretch>
            <a:fillRect/>
          </a:stretch>
        </p:blipFill>
        <p:spPr>
          <a:xfrm>
            <a:off x="6254496" y="2214278"/>
            <a:ext cx="5477256" cy="1887433"/>
          </a:xfrm>
          <a:prstGeom prst="rect">
            <a:avLst/>
          </a:prstGeom>
        </p:spPr>
      </p:pic>
      <p:sp>
        <p:nvSpPr>
          <p:cNvPr id="6" name="Text 3"/>
          <p:cNvSpPr/>
          <p:nvPr/>
        </p:nvSpPr>
        <p:spPr>
          <a:xfrm>
            <a:off x="411480"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جزئیات زمان‌بندی یک سند</a:t>
            </a:r>
            <a:endParaRPr lang="en-US" sz="1200" dirty="0"/>
          </a:p>
        </p:txBody>
      </p:sp>
      <p:sp>
        <p:nvSpPr>
          <p:cNvPr id="7" name="Shape 4"/>
          <p:cNvSpPr/>
          <p:nvPr/>
        </p:nvSpPr>
        <p:spPr>
          <a:xfrm>
            <a:off x="411480" y="1435608"/>
            <a:ext cx="5568696" cy="3444773"/>
          </a:xfrm>
          <a:prstGeom prst="roundRect">
            <a:avLst>
              <a:gd name="adj" fmla="val 212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8" name="Image 1" descr="ac_drawer">    </p:cNvPr>
          <p:cNvPicPr>
            <a:picLocks noChangeAspect="1"/>
          </p:cNvPicPr>
          <p:nvPr/>
        </p:nvPicPr>
        <p:blipFill>
          <a:blip r:embed="rId2"/>
          <a:stretch>
            <a:fillRect/>
          </a:stretch>
        </p:blipFill>
        <p:spPr>
          <a:xfrm>
            <a:off x="2296153" y="1481328"/>
            <a:ext cx="1799350" cy="3353333"/>
          </a:xfrm>
          <a:prstGeom prst="rect">
            <a:avLst/>
          </a:prstGeom>
        </p:spPr>
      </p:pic>
      <p:sp>
        <p:nvSpPr>
          <p:cNvPr id="9" name="Shape 5"/>
          <p:cNvSpPr/>
          <p:nvPr/>
        </p:nvSpPr>
        <p:spPr>
          <a:xfrm>
            <a:off x="9038844" y="5063261"/>
            <a:ext cx="2738628" cy="1291819"/>
          </a:xfrm>
          <a:prstGeom prst="roundRect">
            <a:avLst>
              <a:gd name="adj" fmla="val 5663"/>
            </a:avLst>
          </a:prstGeom>
          <a:solidFill>
            <a:srgbClr val="FFFFFF"/>
          </a:solidFill>
          <a:ln w="6350">
            <a:solidFill>
              <a:srgbClr val="D9DEE7"/>
            </a:solidFill>
            <a:prstDash val="solid"/>
          </a:ln>
        </p:spPr>
      </p:sp>
      <p:sp>
        <p:nvSpPr>
          <p:cNvPr id="10" name="Shape 6"/>
          <p:cNvSpPr/>
          <p:nvPr/>
        </p:nvSpPr>
        <p:spPr>
          <a:xfrm>
            <a:off x="11356848" y="5154701"/>
            <a:ext cx="329184" cy="329184"/>
          </a:xfrm>
          <a:prstGeom prst="ellipse">
            <a:avLst/>
          </a:prstGeom>
          <a:solidFill>
            <a:srgbClr val="C9A227"/>
          </a:solidFill>
          <a:ln w="12700">
            <a:solidFill>
              <a:srgbClr val="C9A227"/>
            </a:solidFill>
            <a:prstDash val="solid"/>
          </a:ln>
        </p:spPr>
      </p:sp>
      <p:sp>
        <p:nvSpPr>
          <p:cNvPr id="11" name="Text 7"/>
          <p:cNvSpPr/>
          <p:nvPr/>
        </p:nvSpPr>
        <p:spPr>
          <a:xfrm>
            <a:off x="11356848" y="515470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8"/>
          <p:cNvSpPr/>
          <p:nvPr/>
        </p:nvSpPr>
        <p:spPr>
          <a:xfrm>
            <a:off x="9130284" y="5136413"/>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تأیید</a:t>
            </a:r>
            <a:endParaRPr lang="en-US" sz="1300" dirty="0"/>
          </a:p>
        </p:txBody>
      </p:sp>
      <p:sp>
        <p:nvSpPr>
          <p:cNvPr id="13" name="Text 9"/>
          <p:cNvSpPr/>
          <p:nvPr/>
        </p:nvSpPr>
        <p:spPr>
          <a:xfrm>
            <a:off x="9148572" y="5538749"/>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با «اجرای الان» سند سهم آن ماه ساخته و شماره‌اش نمایش داده می‌شود.</a:t>
            </a:r>
            <a:endParaRPr lang="en-US" sz="1150" dirty="0"/>
          </a:p>
        </p:txBody>
      </p:sp>
      <p:sp>
        <p:nvSpPr>
          <p:cNvPr id="14" name="Shape 10"/>
          <p:cNvSpPr/>
          <p:nvPr/>
        </p:nvSpPr>
        <p:spPr>
          <a:xfrm>
            <a:off x="6163056" y="5063261"/>
            <a:ext cx="2738628" cy="1291819"/>
          </a:xfrm>
          <a:prstGeom prst="roundRect">
            <a:avLst>
              <a:gd name="adj" fmla="val 5663"/>
            </a:avLst>
          </a:prstGeom>
          <a:solidFill>
            <a:srgbClr val="FFFFFF"/>
          </a:solidFill>
          <a:ln w="6350">
            <a:solidFill>
              <a:srgbClr val="D9DEE7"/>
            </a:solidFill>
            <a:prstDash val="solid"/>
          </a:ln>
        </p:spPr>
      </p:sp>
      <p:sp>
        <p:nvSpPr>
          <p:cNvPr id="15" name="Shape 11"/>
          <p:cNvSpPr/>
          <p:nvPr/>
        </p:nvSpPr>
        <p:spPr>
          <a:xfrm>
            <a:off x="8481060" y="5154701"/>
            <a:ext cx="329184" cy="329184"/>
          </a:xfrm>
          <a:prstGeom prst="ellipse">
            <a:avLst/>
          </a:prstGeom>
          <a:solidFill>
            <a:srgbClr val="C9A227"/>
          </a:solidFill>
          <a:ln w="12700">
            <a:solidFill>
              <a:srgbClr val="C9A227"/>
            </a:solidFill>
            <a:prstDash val="solid"/>
          </a:ln>
        </p:spPr>
      </p:sp>
      <p:sp>
        <p:nvSpPr>
          <p:cNvPr id="16" name="Text 12"/>
          <p:cNvSpPr/>
          <p:nvPr/>
        </p:nvSpPr>
        <p:spPr>
          <a:xfrm>
            <a:off x="8481060" y="515470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7" name="Text 13"/>
          <p:cNvSpPr/>
          <p:nvPr/>
        </p:nvSpPr>
        <p:spPr>
          <a:xfrm>
            <a:off x="6254496" y="5136413"/>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تکرار بی‌خطر</a:t>
            </a:r>
            <a:endParaRPr lang="en-US" sz="1300" dirty="0"/>
          </a:p>
        </p:txBody>
      </p:sp>
      <p:sp>
        <p:nvSpPr>
          <p:cNvPr id="18" name="Text 14"/>
          <p:cNvSpPr/>
          <p:nvPr/>
        </p:nvSpPr>
        <p:spPr>
          <a:xfrm>
            <a:off x="6272784" y="5538749"/>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سطری که قبلاً اجرا شده دوباره سند نمی‌سازد؛ همان سند قبلی را نشان می‌دهد.</a:t>
            </a:r>
            <a:endParaRPr lang="en-US" sz="1150" dirty="0"/>
          </a:p>
        </p:txBody>
      </p:sp>
      <p:sp>
        <p:nvSpPr>
          <p:cNvPr id="19" name="Shape 15"/>
          <p:cNvSpPr/>
          <p:nvPr/>
        </p:nvSpPr>
        <p:spPr>
          <a:xfrm>
            <a:off x="3287268" y="5063261"/>
            <a:ext cx="2738628" cy="1291819"/>
          </a:xfrm>
          <a:prstGeom prst="roundRect">
            <a:avLst>
              <a:gd name="adj" fmla="val 5663"/>
            </a:avLst>
          </a:prstGeom>
          <a:solidFill>
            <a:srgbClr val="FFFFFF"/>
          </a:solidFill>
          <a:ln w="6350">
            <a:solidFill>
              <a:srgbClr val="D9DEE7"/>
            </a:solidFill>
            <a:prstDash val="solid"/>
          </a:ln>
        </p:spPr>
      </p:sp>
      <p:sp>
        <p:nvSpPr>
          <p:cNvPr id="20" name="Shape 16"/>
          <p:cNvSpPr/>
          <p:nvPr/>
        </p:nvSpPr>
        <p:spPr>
          <a:xfrm>
            <a:off x="5605272" y="5154701"/>
            <a:ext cx="329184" cy="329184"/>
          </a:xfrm>
          <a:prstGeom prst="ellipse">
            <a:avLst/>
          </a:prstGeom>
          <a:solidFill>
            <a:srgbClr val="C9A227"/>
          </a:solidFill>
          <a:ln w="12700">
            <a:solidFill>
              <a:srgbClr val="C9A227"/>
            </a:solidFill>
            <a:prstDash val="solid"/>
          </a:ln>
        </p:spPr>
      </p:sp>
      <p:sp>
        <p:nvSpPr>
          <p:cNvPr id="21" name="Text 17"/>
          <p:cNvSpPr/>
          <p:nvPr/>
        </p:nvSpPr>
        <p:spPr>
          <a:xfrm>
            <a:off x="5605272" y="515470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2" name="Text 18"/>
          <p:cNvSpPr/>
          <p:nvPr/>
        </p:nvSpPr>
        <p:spPr>
          <a:xfrm>
            <a:off x="3378708" y="5136413"/>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جزئیات</a:t>
            </a:r>
            <a:endParaRPr lang="en-US" sz="1300" dirty="0"/>
          </a:p>
        </p:txBody>
      </p:sp>
      <p:sp>
        <p:nvSpPr>
          <p:cNvPr id="23" name="Text 19"/>
          <p:cNvSpPr/>
          <p:nvPr/>
        </p:nvSpPr>
        <p:spPr>
          <a:xfrm>
            <a:off x="3396996" y="5538749"/>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همهٔ ماه‌ها با وضعیت باز، اجراشده یا لغو و سند ساخته‌شدهٔ هر سطر.</a:t>
            </a:r>
            <a:endParaRPr lang="en-US" sz="1150" dirty="0"/>
          </a:p>
        </p:txBody>
      </p:sp>
      <p:sp>
        <p:nvSpPr>
          <p:cNvPr id="24" name="Shape 20"/>
          <p:cNvSpPr/>
          <p:nvPr/>
        </p:nvSpPr>
        <p:spPr>
          <a:xfrm>
            <a:off x="411480" y="5063261"/>
            <a:ext cx="2738628" cy="1291819"/>
          </a:xfrm>
          <a:prstGeom prst="roundRect">
            <a:avLst>
              <a:gd name="adj" fmla="val 5663"/>
            </a:avLst>
          </a:prstGeom>
          <a:solidFill>
            <a:srgbClr val="FFFFFF"/>
          </a:solidFill>
          <a:ln w="6350">
            <a:solidFill>
              <a:srgbClr val="D9DEE7"/>
            </a:solidFill>
            <a:prstDash val="solid"/>
          </a:ln>
        </p:spPr>
      </p:sp>
      <p:sp>
        <p:nvSpPr>
          <p:cNvPr id="25" name="Shape 21"/>
          <p:cNvSpPr/>
          <p:nvPr/>
        </p:nvSpPr>
        <p:spPr>
          <a:xfrm>
            <a:off x="2729484" y="5154701"/>
            <a:ext cx="329184" cy="329184"/>
          </a:xfrm>
          <a:prstGeom prst="ellipse">
            <a:avLst/>
          </a:prstGeom>
          <a:solidFill>
            <a:srgbClr val="C9A227"/>
          </a:solidFill>
          <a:ln w="12700">
            <a:solidFill>
              <a:srgbClr val="C9A227"/>
            </a:solidFill>
            <a:prstDash val="solid"/>
          </a:ln>
        </p:spPr>
      </p:sp>
      <p:sp>
        <p:nvSpPr>
          <p:cNvPr id="26" name="Text 22"/>
          <p:cNvSpPr/>
          <p:nvPr/>
        </p:nvSpPr>
        <p:spPr>
          <a:xfrm>
            <a:off x="2729484" y="515470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7" name="Text 23"/>
          <p:cNvSpPr/>
          <p:nvPr/>
        </p:nvSpPr>
        <p:spPr>
          <a:xfrm>
            <a:off x="502920" y="5136413"/>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جمع</a:t>
            </a:r>
            <a:endParaRPr lang="en-US" sz="1300" dirty="0"/>
          </a:p>
        </p:txBody>
      </p:sp>
      <p:sp>
        <p:nvSpPr>
          <p:cNvPr id="28" name="Text 24"/>
          <p:cNvSpPr/>
          <p:nvPr/>
        </p:nvSpPr>
        <p:spPr>
          <a:xfrm>
            <a:off x="521208" y="5538749"/>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جمع کل سطرها همیشه برابر مبلغ سند اصلی است.</a:t>
            </a:r>
            <a:endParaRPr lang="en-US" sz="1150" dirty="0"/>
          </a:p>
        </p:txBody>
      </p:sp>
      <p:sp>
        <p:nvSpPr>
          <p:cNvPr id="29" name="Text 25"/>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۱۷۵</a:t>
            </a:r>
            <a:endParaRPr lang="en-US" sz="1000" dirty="0"/>
          </a:p>
        </p:txBody>
      </p:sp>
      <p:sp>
        <p:nvSpPr>
          <p:cNvPr id="30" name="Text 26"/>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حسابداری تعهدی</a:t>
            </a:r>
            <a:endParaRPr lang="en-US" sz="10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۴ — زمان‌بندی‌ها و لغو باقی‌مانده‌ها</a:t>
            </a:r>
            <a:endParaRPr lang="en-US" sz="2500" dirty="0"/>
          </a:p>
        </p:txBody>
      </p:sp>
      <p:sp>
        <p:nvSpPr>
          <p:cNvPr id="3" name="Shape 1"/>
          <p:cNvSpPr/>
          <p:nvPr/>
        </p:nvSpPr>
        <p:spPr>
          <a:xfrm>
            <a:off x="8883396" y="896112"/>
            <a:ext cx="289407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993124" y="896112"/>
            <a:ext cx="267462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حسابداری تعهدی ← زمان‌بندی‌ها</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فهرست همهٔ زمان‌بندی‌ها</a:t>
            </a:r>
            <a:endParaRPr lang="en-US" sz="1200" dirty="0"/>
          </a:p>
        </p:txBody>
      </p:sp>
      <p:sp>
        <p:nvSpPr>
          <p:cNvPr id="6" name="Shape 4"/>
          <p:cNvSpPr/>
          <p:nvPr/>
        </p:nvSpPr>
        <p:spPr>
          <a:xfrm>
            <a:off x="6208776"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ac_sched">    </p:cNvPr>
          <p:cNvPicPr>
            <a:picLocks noChangeAspect="1"/>
          </p:cNvPicPr>
          <p:nvPr/>
        </p:nvPicPr>
        <p:blipFill>
          <a:blip r:embed="rId1"/>
          <a:stretch>
            <a:fillRect/>
          </a:stretch>
        </p:blipFill>
        <p:spPr>
          <a:xfrm>
            <a:off x="7153681" y="1664208"/>
            <a:ext cx="3678886" cy="2374925"/>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لغو باقی‌مانده‌ها (فسخ قرارداد)</a:t>
            </a:r>
            <a:endParaRPr lang="en-US" sz="1200" dirty="0"/>
          </a:p>
        </p:txBody>
      </p:sp>
      <p:sp>
        <p:nvSpPr>
          <p:cNvPr id="9" name="Shape 6"/>
          <p:cNvSpPr/>
          <p:nvPr/>
        </p:nvSpPr>
        <p:spPr>
          <a:xfrm>
            <a:off x="411480"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ac_cancel">    </p:cNvPr>
          <p:cNvPicPr>
            <a:picLocks noChangeAspect="1"/>
          </p:cNvPicPr>
          <p:nvPr/>
        </p:nvPicPr>
        <p:blipFill>
          <a:blip r:embed="rId2"/>
          <a:stretch>
            <a:fillRect/>
          </a:stretch>
        </p:blipFill>
        <p:spPr>
          <a:xfrm>
            <a:off x="1371491" y="1664208"/>
            <a:ext cx="3648674" cy="2374925"/>
          </a:xfrm>
          <a:prstGeom prst="rect">
            <a:avLst/>
          </a:prstGeom>
        </p:spPr>
      </p:pic>
      <p:sp>
        <p:nvSpPr>
          <p:cNvPr id="11" name="Shape 7"/>
          <p:cNvSpPr/>
          <p:nvPr/>
        </p:nvSpPr>
        <p:spPr>
          <a:xfrm>
            <a:off x="9038844" y="4267733"/>
            <a:ext cx="2738628" cy="1291819"/>
          </a:xfrm>
          <a:prstGeom prst="roundRect">
            <a:avLst>
              <a:gd name="adj" fmla="val 5663"/>
            </a:avLst>
          </a:prstGeom>
          <a:solidFill>
            <a:srgbClr val="FFFFFF"/>
          </a:solidFill>
          <a:ln w="6350">
            <a:solidFill>
              <a:srgbClr val="D9DEE7"/>
            </a:solidFill>
            <a:prstDash val="solid"/>
          </a:ln>
        </p:spPr>
      </p:sp>
      <p:sp>
        <p:nvSpPr>
          <p:cNvPr id="12" name="Shape 8"/>
          <p:cNvSpPr/>
          <p:nvPr/>
        </p:nvSpPr>
        <p:spPr>
          <a:xfrm>
            <a:off x="11356848" y="4359173"/>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فیلتر</a:t>
            </a:r>
            <a:endParaRPr lang="en-US" sz="1300" dirty="0"/>
          </a:p>
        </p:txBody>
      </p:sp>
      <p:sp>
        <p:nvSpPr>
          <p:cNvPr id="15" name="Text 11"/>
          <p:cNvSpPr/>
          <p:nvPr/>
        </p:nvSpPr>
        <p:spPr>
          <a:xfrm>
            <a:off x="9148572"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بر اساس وضعیت (باز، اجراشده، لغو)، نوع و بازهٔ سررسید.</a:t>
            </a:r>
            <a:endParaRPr lang="en-US" sz="1150" dirty="0"/>
          </a:p>
        </p:txBody>
      </p:sp>
      <p:sp>
        <p:nvSpPr>
          <p:cNvPr id="16" name="Shape 12"/>
          <p:cNvSpPr/>
          <p:nvPr/>
        </p:nvSpPr>
        <p:spPr>
          <a:xfrm>
            <a:off x="6163056" y="4267733"/>
            <a:ext cx="2738628" cy="1291819"/>
          </a:xfrm>
          <a:prstGeom prst="roundRect">
            <a:avLst>
              <a:gd name="adj" fmla="val 5663"/>
            </a:avLst>
          </a:prstGeom>
          <a:solidFill>
            <a:srgbClr val="FFFFFF"/>
          </a:solidFill>
          <a:ln w="6350">
            <a:solidFill>
              <a:srgbClr val="D9DEE7"/>
            </a:solidFill>
            <a:prstDash val="solid"/>
          </a:ln>
        </p:spPr>
      </p:sp>
      <p:sp>
        <p:nvSpPr>
          <p:cNvPr id="17" name="Shape 13"/>
          <p:cNvSpPr/>
          <p:nvPr/>
        </p:nvSpPr>
        <p:spPr>
          <a:xfrm>
            <a:off x="8481060" y="4359173"/>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سند ساخته‌شده</a:t>
            </a:r>
            <a:endParaRPr lang="en-US" sz="1300" dirty="0"/>
          </a:p>
        </p:txBody>
      </p:sp>
      <p:sp>
        <p:nvSpPr>
          <p:cNvPr id="20" name="Text 16"/>
          <p:cNvSpPr/>
          <p:nvPr/>
        </p:nvSpPr>
        <p:spPr>
          <a:xfrm>
            <a:off x="6272784"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برای سطر اجراشده، شمارهٔ سندی که ساخته شده دیده می‌شود.</a:t>
            </a:r>
            <a:endParaRPr lang="en-US" sz="1150" dirty="0"/>
          </a:p>
        </p:txBody>
      </p:sp>
      <p:sp>
        <p:nvSpPr>
          <p:cNvPr id="21" name="Shape 17"/>
          <p:cNvSpPr/>
          <p:nvPr/>
        </p:nvSpPr>
        <p:spPr>
          <a:xfrm>
            <a:off x="3287268" y="4267733"/>
            <a:ext cx="2738628" cy="1291819"/>
          </a:xfrm>
          <a:prstGeom prst="roundRect">
            <a:avLst>
              <a:gd name="adj" fmla="val 5663"/>
            </a:avLst>
          </a:prstGeom>
          <a:solidFill>
            <a:srgbClr val="FFFFFF"/>
          </a:solidFill>
          <a:ln w="6350">
            <a:solidFill>
              <a:srgbClr val="D9DEE7"/>
            </a:solidFill>
            <a:prstDash val="solid"/>
          </a:ln>
        </p:spPr>
      </p:sp>
      <p:sp>
        <p:nvSpPr>
          <p:cNvPr id="22" name="Shape 18"/>
          <p:cNvSpPr/>
          <p:nvPr/>
        </p:nvSpPr>
        <p:spPr>
          <a:xfrm>
            <a:off x="5605272" y="4359173"/>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فسخ</a:t>
            </a:r>
            <a:endParaRPr lang="en-US" sz="1300" dirty="0"/>
          </a:p>
        </p:txBody>
      </p:sp>
      <p:sp>
        <p:nvSpPr>
          <p:cNvPr id="25" name="Text 21"/>
          <p:cNvSpPr/>
          <p:nvPr/>
        </p:nvSpPr>
        <p:spPr>
          <a:xfrm>
            <a:off x="3396996"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اگر قرارداد زودتر تمام شد، در جزئیات «لغو باقی‌مانده‌ها» را بزنید و دلیل بنویسید.</a:t>
            </a:r>
            <a:endParaRPr lang="en-US" sz="1150" dirty="0"/>
          </a:p>
        </p:txBody>
      </p:sp>
      <p:sp>
        <p:nvSpPr>
          <p:cNvPr id="26" name="Shape 22"/>
          <p:cNvSpPr/>
          <p:nvPr/>
        </p:nvSpPr>
        <p:spPr>
          <a:xfrm>
            <a:off x="411480" y="4267733"/>
            <a:ext cx="2738628" cy="1291819"/>
          </a:xfrm>
          <a:prstGeom prst="roundRect">
            <a:avLst>
              <a:gd name="adj" fmla="val 5663"/>
            </a:avLst>
          </a:prstGeom>
          <a:solidFill>
            <a:srgbClr val="FFFFFF"/>
          </a:solidFill>
          <a:ln w="6350">
            <a:solidFill>
              <a:srgbClr val="D9DEE7"/>
            </a:solidFill>
            <a:prstDash val="solid"/>
          </a:ln>
        </p:spPr>
      </p:sp>
      <p:sp>
        <p:nvSpPr>
          <p:cNvPr id="27" name="Shape 23"/>
          <p:cNvSpPr/>
          <p:nvPr/>
        </p:nvSpPr>
        <p:spPr>
          <a:xfrm>
            <a:off x="2729484" y="4359173"/>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اثر لغو</a:t>
            </a:r>
            <a:endParaRPr lang="en-US" sz="1300" dirty="0"/>
          </a:p>
        </p:txBody>
      </p:sp>
      <p:sp>
        <p:nvSpPr>
          <p:cNvPr id="30" name="Text 26"/>
          <p:cNvSpPr/>
          <p:nvPr/>
        </p:nvSpPr>
        <p:spPr>
          <a:xfrm>
            <a:off x="521208"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فقط سطرهای باز لغو می‌شوند؛ ماه‌های اجراشده دست نمی‌خورند.</a:t>
            </a:r>
            <a:endParaRPr lang="en-US" sz="1150" dirty="0"/>
          </a:p>
        </p:txBody>
      </p:sp>
      <p:sp>
        <p:nvSpPr>
          <p:cNvPr id="31" name="Shape 27"/>
          <p:cNvSpPr/>
          <p:nvPr/>
        </p:nvSpPr>
        <p:spPr>
          <a:xfrm>
            <a:off x="411480" y="5696712"/>
            <a:ext cx="11365992" cy="658368"/>
          </a:xfrm>
          <a:prstGeom prst="roundRect">
            <a:avLst>
              <a:gd name="adj" fmla="val 11111"/>
            </a:avLst>
          </a:prstGeom>
          <a:solidFill>
            <a:srgbClr val="E3F3EA"/>
          </a:solidFill>
          <a:ln w="9525">
            <a:solidFill>
              <a:srgbClr val="1E7A4C"/>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اجاره از آبان فسخ شد: ۳ ماه اجرا شده، ۹ سطر باقی‌مانده با دلیل «فسخ قرارداد اجاره» لغو می‌شوند.</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۱۷۶</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حسابداری تعهدی</a:t>
            </a:r>
            <a:endParaRPr lang="en-US" sz="10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پرسش‌های رایج حسابداری تعهدی</a:t>
            </a:r>
            <a:endParaRPr lang="en-US" sz="2500" dirty="0"/>
          </a:p>
        </p:txBody>
      </p:sp>
      <p:graphicFrame>
        <p:nvGraphicFramePr>
          <p:cNvPr id="178"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11365992" cy="914400"/>
        </p:xfrm>
        <a:graphic>
          <a:graphicData uri="http://schemas.openxmlformats.org/drawingml/2006/table">
            <a:tbl>
              <a:tblPr rtl="1"/>
              <a:tblGrid>
                <a:gridCol w="4389120"/>
                <a:gridCol w="6976872"/>
              </a:tblGrid>
              <a:tr h="502920">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پیام یا مشکل</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چه باید کرد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صورتحساب ماه انجام نمی‌شود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در میز کار تعهدی سطرهای سررسیدشدهٔ اجرانشده را «اجرا الان»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سند سهم ماهانه ساخته نشد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تاریخ سررسید را ببینید؛ پیش از سررسید فقط با «اجرا الان» ساخته می‌شود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قرارداد زودتر تمام شد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در جزئیات زمان‌بندی «لغو باقی‌مانده‌ها» را با دلیل بزنید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برآورد اسفند برنگشت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برآورد اسفند برگشت خودکار ندارد؛ بعد از سند افتتاحیه دستی برگردانید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سند تعهدی را کجا ثبت کنم؟</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از حسابیار، با الگوهای «پیش‌پرداخت» یا «برگشت خودکار» که ستاد تعریف کرده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bl>
          </a:graphicData>
        </a:graphic>
      </p:graphicFrame>
      <p:sp>
        <p:nvSpPr>
          <p:cNvPr id="4" name="Text 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۱۷۷</a:t>
            </a:r>
            <a:endParaRPr lang="en-US" sz="1000" dirty="0"/>
          </a:p>
        </p:txBody>
      </p:sp>
      <p:sp>
        <p:nvSpPr>
          <p:cNvPr id="5" name="Text 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حسابداری تعهدی</a:t>
            </a:r>
            <a:endParaRPr lang="en-US" sz="10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3" name="Image 0" descr="as_menu">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۱۰</a:t>
            </a:r>
            <a:endParaRPr lang="en-US" sz="4000" dirty="0"/>
          </a:p>
        </p:txBody>
      </p:sp>
      <p:sp>
        <p:nvSpPr>
          <p:cNvPr id="6" name="Text 3"/>
          <p:cNvSpPr/>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۱۰</a:t>
            </a:r>
            <a:endParaRPr lang="en-US" sz="1800" dirty="0"/>
          </a:p>
        </p:txBody>
      </p:sp>
      <p:sp>
        <p:nvSpPr>
          <p:cNvPr id="7" name="Text 4"/>
          <p:cNvSpPr/>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600" b="1" dirty="0">
                <a:solidFill>
                  <a:srgbClr val="FFFFFF"/>
                </a:solidFill>
                <a:latin typeface="Tahoma" pitchFamily="34" charset="0"/>
                <a:ea typeface="Tahoma" pitchFamily="34" charset="-122"/>
                <a:cs typeface="Tahoma" pitchFamily="34" charset="-120"/>
              </a:rPr>
              <a:t>حسابیار</a:t>
            </a:r>
            <a:endParaRPr lang="en-US" sz="3600" dirty="0"/>
          </a:p>
        </p:txBody>
      </p:sp>
      <p:sp>
        <p:nvSpPr>
          <p:cNvPr id="8" name="Text 5"/>
          <p:cNvSpPr/>
          <p:nvPr/>
        </p:nvSpPr>
        <p:spPr>
          <a:xfrm>
            <a:off x="5120640" y="4206240"/>
            <a:ext cx="6629400" cy="1463040"/>
          </a:xfrm>
          <a:prstGeom prst="rect">
            <a:avLst/>
          </a:prstGeom>
          <a:noFill/>
          <a:ln/>
        </p:spPr>
        <p:txBody>
          <a:bodyPr wrap="square" lIns="0" tIns="0" rIns="0" bIns="0" rtlCol="0" anchor="t"/>
          <a:lstStyle/>
          <a:p>
            <a:pPr rtl="1" algn="r" indent="0" marL="0">
              <a:buNone/>
            </a:pPr>
            <a:r>
              <a:rPr lang="en-US" sz="1600" dirty="0">
                <a:solidFill>
                  <a:srgbClr val="C9D3E6"/>
                </a:solidFill>
                <a:latin typeface="Tahoma" pitchFamily="34" charset="0"/>
                <a:ea typeface="Tahoma" pitchFamily="34" charset="-122"/>
                <a:cs typeface="Tahoma" pitchFamily="34" charset="-120"/>
              </a:rPr>
              <a:t>سند را با یک جملهٔ ساده بسازید؛ حسابیار از روی الگوهای ستاد سند درست را پیشنهاد می‌کند و حسابدار آن را بررسی و تأیید می‌کند</a:t>
            </a:r>
            <a:endParaRPr lang="en-US" sz="1600" dirty="0"/>
          </a:p>
        </p:txBody>
      </p:sp>
      <p:sp>
        <p:nvSpPr>
          <p:cNvPr id="9" name="Text 6"/>
          <p:cNvSpPr/>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حسابیار چیست؟</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لازم نیست بدانید کدام حساب بدهکار و کدام بستانکار است. کافی است بگویید چه اتفاقی افتاده؛ حسابیار عملیات را تشخیص می‌دهد، چند سؤال کوتاه می‌پرسد و سند را از روی «الگوی عملیات» ستاد می‌سازد.</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الگوی عملیات</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دستور ساخت سند برای یک کار روزمره؛ مثل «پرداخت قبض آب، برق و گاز» یا «پرداخت به پیمانکار».</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شما فقط جواب می‌دهید</a:t>
            </a:r>
            <a:endParaRPr lang="en-US" sz="1350" dirty="0"/>
          </a:p>
        </p:txBody>
      </p:sp>
      <p:sp>
        <p:nvSpPr>
          <p:cNvPr id="12" name="Text 10"/>
          <p:cNvSpPr/>
          <p:nvPr/>
        </p:nvSpPr>
        <p:spPr>
          <a:xfrm>
            <a:off x="5440680" y="352386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مبلغ، تاریخ، حساب بانکی و بابت؛ حساب‌ها و تفصیلی‌ها را الگو تعیین می‌کند.</a:t>
            </a:r>
            <a:endParaRPr lang="en-US" sz="1300" dirty="0"/>
          </a:p>
        </p:txBody>
      </p:sp>
      <p:sp>
        <p:nvSpPr>
          <p:cNvPr id="13" name="Shape 11"/>
          <p:cNvSpPr/>
          <p:nvPr/>
        </p:nvSpPr>
        <p:spPr>
          <a:xfrm>
            <a:off x="11411712" y="4097198"/>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09719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097198"/>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حسابدار تأیید می‌کند</a:t>
            </a:r>
            <a:endParaRPr lang="en-US" sz="1350" dirty="0"/>
          </a:p>
        </p:txBody>
      </p:sp>
      <p:sp>
        <p:nvSpPr>
          <p:cNvPr id="16" name="Text 14"/>
          <p:cNvSpPr/>
          <p:nvPr/>
        </p:nvSpPr>
        <p:spPr>
          <a:xfrm>
            <a:off x="5440680" y="4426382"/>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سند به‌صورت «موقت» ثبت و در صف بررسی حسابدار واحد قرار می‌گیرد.</a:t>
            </a:r>
            <a:endParaRPr lang="en-US" sz="1300" dirty="0"/>
          </a:p>
        </p:txBody>
      </p:sp>
      <p:sp>
        <p:nvSpPr>
          <p:cNvPr id="17" name="Shape 15"/>
          <p:cNvSpPr/>
          <p:nvPr/>
        </p:nvSpPr>
        <p:spPr>
          <a:xfrm>
            <a:off x="411480" y="1097280"/>
            <a:ext cx="4754880" cy="2908478"/>
          </a:xfrm>
          <a:prstGeom prst="roundRect">
            <a:avLst>
              <a:gd name="adj" fmla="val 3144"/>
            </a:avLst>
          </a:prstGeom>
          <a:solidFill>
            <a:srgbClr val="E3F3EA"/>
          </a:solidFill>
          <a:ln w="9525">
            <a:solidFill>
              <a:srgbClr val="1E7A4C"/>
            </a:solidFill>
            <a:prstDash val="solid"/>
          </a:ln>
        </p:spPr>
      </p:sp>
      <p:sp>
        <p:nvSpPr>
          <p:cNvPr id="18" name="Text 16"/>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مثال</a:t>
            </a:r>
            <a:endParaRPr lang="en-US" sz="1500" dirty="0"/>
          </a:p>
        </p:txBody>
      </p:sp>
      <p:sp>
        <p:nvSpPr>
          <p:cNvPr id="19" name="Text 17"/>
          <p:cNvSpPr/>
          <p:nvPr/>
        </p:nvSpPr>
        <p:spPr>
          <a:xfrm>
            <a:off x="594360" y="1691640"/>
            <a:ext cx="4389120" cy="5550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جمله: «پرداخت قبض برق اداره کل تهران ۴۵ میلیون ریال از بانک ملی»</a:t>
            </a:r>
            <a:endParaRPr lang="en-US" sz="1300" dirty="0"/>
          </a:p>
        </p:txBody>
      </p:sp>
      <p:graphicFrame>
        <p:nvGraphicFramePr>
          <p:cNvPr id="180" name="Table 0"/>
          <p:cNvGraphicFramePr>
            <a:graphicFrameLocks noGrp="1"/>
          </p:cNvGraphicFramePr>
          <p:nvPr>
            <p:extLst>
              <p:ext uri="{D42A27DB-BD31-4B8C-83A1-F6EECF244321}">
                <p14:modId xmlns:p14="http://schemas.microsoft.com/office/powerpoint/2010/main" val="1579011935"/>
              </p:ext>
            </p:extLst>
          </p:nvPr>
        </p:nvGraphicFramePr>
        <p:xfrm>
          <a:off x="594360" y="2383841"/>
          <a:ext cx="4389120" cy="914400"/>
        </p:xfrm>
        <a:graphic>
          <a:graphicData uri="http://schemas.openxmlformats.org/drawingml/2006/table">
            <a:tbl>
              <a:tblPr rtl="1"/>
              <a:tblGrid>
                <a:gridCol w="2194560"/>
                <a:gridCol w="1097280"/>
                <a:gridCol w="1097280"/>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حساب</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بدهکار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بستانکار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820301 هزینهٔ آب، برق و گاز</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۴۵,۰۰۰,۰۰۰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110201 بانک‌ها — حساب جاری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۴۵,۰۰۰,۰۰۰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bl>
          </a:graphicData>
        </a:graphic>
      </p:graphicFrame>
      <p:sp>
        <p:nvSpPr>
          <p:cNvPr id="21" name="Text 18"/>
          <p:cNvSpPr/>
          <p:nvPr/>
        </p:nvSpPr>
        <p:spPr>
          <a:xfrm>
            <a:off x="594360" y="3508553"/>
            <a:ext cx="4389120" cy="405765"/>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این ردیف‌ها را حسابیار ساخته است، نه کاربر.</a:t>
            </a:r>
            <a:endParaRPr lang="en-US" sz="125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۱۷۹</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مسیر یک سند در حسابیار</a:t>
            </a:r>
            <a:endParaRPr lang="en-US" sz="2500" dirty="0"/>
          </a:p>
        </p:txBody>
      </p:sp>
      <p:sp>
        <p:nvSpPr>
          <p:cNvPr id="3" name="Shape 1"/>
          <p:cNvSpPr/>
          <p:nvPr/>
        </p:nvSpPr>
        <p:spPr>
          <a:xfrm>
            <a:off x="10157460"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10693146" y="1691640"/>
            <a:ext cx="548640" cy="548640"/>
          </a:xfrm>
          <a:prstGeom prst="ellipse">
            <a:avLst/>
          </a:prstGeom>
          <a:solidFill>
            <a:srgbClr val="C9A227"/>
          </a:solidFill>
          <a:ln w="12700">
            <a:solidFill>
              <a:srgbClr val="C9A227"/>
            </a:solidFill>
            <a:prstDash val="solid"/>
          </a:ln>
        </p:spPr>
      </p:sp>
      <p:sp>
        <p:nvSpPr>
          <p:cNvPr id="5" name="Text 3"/>
          <p:cNvSpPr/>
          <p:nvPr/>
        </p:nvSpPr>
        <p:spPr>
          <a:xfrm>
            <a:off x="1069314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p:nvPr/>
        </p:nvSpPr>
        <p:spPr>
          <a:xfrm>
            <a:off x="10248900"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جمله</a:t>
            </a:r>
            <a:endParaRPr lang="en-US" sz="1550" dirty="0"/>
          </a:p>
        </p:txBody>
      </p:sp>
      <p:sp>
        <p:nvSpPr>
          <p:cNvPr id="7" name="Text 5"/>
          <p:cNvSpPr/>
          <p:nvPr/>
        </p:nvSpPr>
        <p:spPr>
          <a:xfrm>
            <a:off x="10248900"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بگویید چه شد</a:t>
            </a:r>
            <a:endParaRPr lang="en-US" sz="1200" dirty="0"/>
          </a:p>
        </p:txBody>
      </p:sp>
      <p:sp>
        <p:nvSpPr>
          <p:cNvPr id="8" name="Text 6"/>
          <p:cNvSpPr/>
          <p:nvPr/>
        </p:nvSpPr>
        <p:spPr>
          <a:xfrm>
            <a:off x="9828276"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9" name="Shape 7"/>
          <p:cNvSpPr/>
          <p:nvPr/>
        </p:nvSpPr>
        <p:spPr>
          <a:xfrm>
            <a:off x="8208264"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8743950" y="1691640"/>
            <a:ext cx="548640" cy="548640"/>
          </a:xfrm>
          <a:prstGeom prst="ellipse">
            <a:avLst/>
          </a:prstGeom>
          <a:solidFill>
            <a:srgbClr val="C9A227"/>
          </a:solidFill>
          <a:ln w="12700">
            <a:solidFill>
              <a:srgbClr val="C9A227"/>
            </a:solidFill>
            <a:prstDash val="solid"/>
          </a:ln>
        </p:spPr>
      </p:sp>
      <p:sp>
        <p:nvSpPr>
          <p:cNvPr id="11" name="Text 9"/>
          <p:cNvSpPr/>
          <p:nvPr/>
        </p:nvSpPr>
        <p:spPr>
          <a:xfrm>
            <a:off x="8743950"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2" name="Text 10"/>
          <p:cNvSpPr/>
          <p:nvPr/>
        </p:nvSpPr>
        <p:spPr>
          <a:xfrm>
            <a:off x="8299704"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برداشت حسابیار</a:t>
            </a:r>
            <a:endParaRPr lang="en-US" sz="1550" dirty="0"/>
          </a:p>
        </p:txBody>
      </p:sp>
      <p:sp>
        <p:nvSpPr>
          <p:cNvPr id="13" name="Text 11"/>
          <p:cNvSpPr/>
          <p:nvPr/>
        </p:nvSpPr>
        <p:spPr>
          <a:xfrm>
            <a:off x="8299704"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عملیات و مبلغ را تأیید کنید</a:t>
            </a:r>
            <a:endParaRPr lang="en-US" sz="1200" dirty="0"/>
          </a:p>
        </p:txBody>
      </p:sp>
      <p:sp>
        <p:nvSpPr>
          <p:cNvPr id="14" name="Text 12"/>
          <p:cNvSpPr/>
          <p:nvPr/>
        </p:nvSpPr>
        <p:spPr>
          <a:xfrm>
            <a:off x="7879080"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15" name="Shape 13"/>
          <p:cNvSpPr/>
          <p:nvPr/>
        </p:nvSpPr>
        <p:spPr>
          <a:xfrm>
            <a:off x="6259068"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6" name="Shape 14"/>
          <p:cNvSpPr/>
          <p:nvPr/>
        </p:nvSpPr>
        <p:spPr>
          <a:xfrm>
            <a:off x="6794754" y="1691640"/>
            <a:ext cx="548640" cy="548640"/>
          </a:xfrm>
          <a:prstGeom prst="ellipse">
            <a:avLst/>
          </a:prstGeom>
          <a:solidFill>
            <a:srgbClr val="C9A227"/>
          </a:solidFill>
          <a:ln w="12700">
            <a:solidFill>
              <a:srgbClr val="C9A227"/>
            </a:solidFill>
            <a:prstDash val="solid"/>
          </a:ln>
        </p:spPr>
      </p:sp>
      <p:sp>
        <p:nvSpPr>
          <p:cNvPr id="17" name="Text 15"/>
          <p:cNvSpPr/>
          <p:nvPr/>
        </p:nvSpPr>
        <p:spPr>
          <a:xfrm>
            <a:off x="6794754"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8" name="Text 16"/>
          <p:cNvSpPr/>
          <p:nvPr/>
        </p:nvSpPr>
        <p:spPr>
          <a:xfrm>
            <a:off x="6350508"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سؤال‌ها</a:t>
            </a:r>
            <a:endParaRPr lang="en-US" sz="1550" dirty="0"/>
          </a:p>
        </p:txBody>
      </p:sp>
      <p:sp>
        <p:nvSpPr>
          <p:cNvPr id="19" name="Text 17"/>
          <p:cNvSpPr/>
          <p:nvPr/>
        </p:nvSpPr>
        <p:spPr>
          <a:xfrm>
            <a:off x="6350508"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تاریخ، بانک، بابت</a:t>
            </a:r>
            <a:endParaRPr lang="en-US" sz="1200" dirty="0"/>
          </a:p>
        </p:txBody>
      </p:sp>
      <p:sp>
        <p:nvSpPr>
          <p:cNvPr id="20" name="Text 18"/>
          <p:cNvSpPr/>
          <p:nvPr/>
        </p:nvSpPr>
        <p:spPr>
          <a:xfrm>
            <a:off x="5929884"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1" name="Shape 19"/>
          <p:cNvSpPr/>
          <p:nvPr/>
        </p:nvSpPr>
        <p:spPr>
          <a:xfrm>
            <a:off x="4309872"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2" name="Shape 20"/>
          <p:cNvSpPr/>
          <p:nvPr/>
        </p:nvSpPr>
        <p:spPr>
          <a:xfrm>
            <a:off x="4845558" y="1691640"/>
            <a:ext cx="548640" cy="548640"/>
          </a:xfrm>
          <a:prstGeom prst="ellipse">
            <a:avLst/>
          </a:prstGeom>
          <a:solidFill>
            <a:srgbClr val="C9A227"/>
          </a:solidFill>
          <a:ln w="12700">
            <a:solidFill>
              <a:srgbClr val="C9A227"/>
            </a:solidFill>
            <a:prstDash val="solid"/>
          </a:ln>
        </p:spPr>
      </p:sp>
      <p:sp>
        <p:nvSpPr>
          <p:cNvPr id="23" name="Text 21"/>
          <p:cNvSpPr/>
          <p:nvPr/>
        </p:nvSpPr>
        <p:spPr>
          <a:xfrm>
            <a:off x="4845558"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۴</a:t>
            </a:r>
            <a:endParaRPr lang="en-US" sz="1800" dirty="0"/>
          </a:p>
        </p:txBody>
      </p:sp>
      <p:sp>
        <p:nvSpPr>
          <p:cNvPr id="24" name="Text 22"/>
          <p:cNvSpPr/>
          <p:nvPr/>
        </p:nvSpPr>
        <p:spPr>
          <a:xfrm>
            <a:off x="4401312"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پیش‌نویس</a:t>
            </a:r>
            <a:endParaRPr lang="en-US" sz="1550" dirty="0"/>
          </a:p>
        </p:txBody>
      </p:sp>
      <p:sp>
        <p:nvSpPr>
          <p:cNvPr id="25" name="Text 23"/>
          <p:cNvSpPr/>
          <p:nvPr/>
        </p:nvSpPr>
        <p:spPr>
          <a:xfrm>
            <a:off x="4401312"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به زبان ساده و سند حسابداری</a:t>
            </a:r>
            <a:endParaRPr lang="en-US" sz="1200" dirty="0"/>
          </a:p>
        </p:txBody>
      </p:sp>
      <p:sp>
        <p:nvSpPr>
          <p:cNvPr id="26" name="Text 24"/>
          <p:cNvSpPr/>
          <p:nvPr/>
        </p:nvSpPr>
        <p:spPr>
          <a:xfrm>
            <a:off x="3980688"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7" name="Shape 25"/>
          <p:cNvSpPr/>
          <p:nvPr/>
        </p:nvSpPr>
        <p:spPr>
          <a:xfrm>
            <a:off x="2360676"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8" name="Shape 26"/>
          <p:cNvSpPr/>
          <p:nvPr/>
        </p:nvSpPr>
        <p:spPr>
          <a:xfrm>
            <a:off x="2896362" y="1691640"/>
            <a:ext cx="548640" cy="548640"/>
          </a:xfrm>
          <a:prstGeom prst="ellipse">
            <a:avLst/>
          </a:prstGeom>
          <a:solidFill>
            <a:srgbClr val="C9A227"/>
          </a:solidFill>
          <a:ln w="12700">
            <a:solidFill>
              <a:srgbClr val="C9A227"/>
            </a:solidFill>
            <a:prstDash val="solid"/>
          </a:ln>
        </p:spPr>
      </p:sp>
      <p:sp>
        <p:nvSpPr>
          <p:cNvPr id="29" name="Text 27"/>
          <p:cNvSpPr/>
          <p:nvPr/>
        </p:nvSpPr>
        <p:spPr>
          <a:xfrm>
            <a:off x="2896362"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۵</a:t>
            </a:r>
            <a:endParaRPr lang="en-US" sz="1800" dirty="0"/>
          </a:p>
        </p:txBody>
      </p:sp>
      <p:sp>
        <p:nvSpPr>
          <p:cNvPr id="30" name="Text 28"/>
          <p:cNvSpPr/>
          <p:nvPr/>
        </p:nvSpPr>
        <p:spPr>
          <a:xfrm>
            <a:off x="2452116"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ارسال</a:t>
            </a:r>
            <a:endParaRPr lang="en-US" sz="1550" dirty="0"/>
          </a:p>
        </p:txBody>
      </p:sp>
      <p:sp>
        <p:nvSpPr>
          <p:cNvPr id="31" name="Text 29"/>
          <p:cNvSpPr/>
          <p:nvPr/>
        </p:nvSpPr>
        <p:spPr>
          <a:xfrm>
            <a:off x="2452116"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ثبت موقت</a:t>
            </a:r>
            <a:endParaRPr lang="en-US" sz="1200" dirty="0"/>
          </a:p>
        </p:txBody>
      </p:sp>
      <p:sp>
        <p:nvSpPr>
          <p:cNvPr id="32" name="Text 30"/>
          <p:cNvSpPr/>
          <p:nvPr/>
        </p:nvSpPr>
        <p:spPr>
          <a:xfrm>
            <a:off x="2031492"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33" name="Shape 31"/>
          <p:cNvSpPr/>
          <p:nvPr/>
        </p:nvSpPr>
        <p:spPr>
          <a:xfrm>
            <a:off x="411480" y="1965960"/>
            <a:ext cx="1620012" cy="2103120"/>
          </a:xfrm>
          <a:prstGeom prst="roundRect">
            <a:avLst>
              <a:gd name="adj" fmla="val 6773"/>
            </a:avLst>
          </a:prstGeom>
          <a:solidFill>
            <a:srgbClr val="1B2A49"/>
          </a:solidFill>
          <a:ln w="9525">
            <a:solidFill>
              <a:srgbClr val="1B2A49"/>
            </a:solidFill>
            <a:prstDash val="solid"/>
          </a:ln>
          <a:effectLst>
            <a:outerShdw sx="100000" sy="100000" kx="0" ky="0" algn="bl" rotWithShape="0" blurRad="76200" dist="25400" dir="5400000">
              <a:srgbClr val="000000">
                <a:alpha val="12000"/>
              </a:srgbClr>
            </a:outerShdw>
          </a:effectLst>
        </p:spPr>
      </p:sp>
      <p:sp>
        <p:nvSpPr>
          <p:cNvPr id="34" name="Shape 32"/>
          <p:cNvSpPr/>
          <p:nvPr/>
        </p:nvSpPr>
        <p:spPr>
          <a:xfrm>
            <a:off x="947166" y="1691640"/>
            <a:ext cx="548640" cy="548640"/>
          </a:xfrm>
          <a:prstGeom prst="ellipse">
            <a:avLst/>
          </a:prstGeom>
          <a:solidFill>
            <a:srgbClr val="C9A227"/>
          </a:solidFill>
          <a:ln w="12700">
            <a:solidFill>
              <a:srgbClr val="C9A227"/>
            </a:solidFill>
            <a:prstDash val="solid"/>
          </a:ln>
        </p:spPr>
      </p:sp>
      <p:sp>
        <p:nvSpPr>
          <p:cNvPr id="35" name="Text 33"/>
          <p:cNvSpPr/>
          <p:nvPr/>
        </p:nvSpPr>
        <p:spPr>
          <a:xfrm>
            <a:off x="94716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۶</a:t>
            </a:r>
            <a:endParaRPr lang="en-US" sz="1800" dirty="0"/>
          </a:p>
        </p:txBody>
      </p:sp>
      <p:sp>
        <p:nvSpPr>
          <p:cNvPr id="36" name="Text 34"/>
          <p:cNvSpPr/>
          <p:nvPr/>
        </p:nvSpPr>
        <p:spPr>
          <a:xfrm>
            <a:off x="502920" y="2377440"/>
            <a:ext cx="1437132" cy="731520"/>
          </a:xfrm>
          <a:prstGeom prst="rect">
            <a:avLst/>
          </a:prstGeom>
          <a:noFill/>
          <a:ln/>
        </p:spPr>
        <p:txBody>
          <a:bodyPr wrap="square" lIns="0" tIns="0" rIns="0" bIns="0" rtlCol="0" anchor="ctr"/>
          <a:lstStyle/>
          <a:p>
            <a:pPr rtl="1" algn="ctr" indent="0" marL="0">
              <a:buNone/>
            </a:pPr>
            <a:r>
              <a:rPr lang="en-US" sz="1550" b="1" dirty="0">
                <a:solidFill>
                  <a:srgbClr val="FFFFFF"/>
                </a:solidFill>
                <a:latin typeface="Tahoma" pitchFamily="34" charset="0"/>
                <a:ea typeface="Tahoma" pitchFamily="34" charset="-122"/>
                <a:cs typeface="Tahoma" pitchFamily="34" charset="-120"/>
              </a:rPr>
              <a:t>بررسی حسابدار</a:t>
            </a:r>
            <a:endParaRPr lang="en-US" sz="1550" dirty="0"/>
          </a:p>
        </p:txBody>
      </p:sp>
      <p:sp>
        <p:nvSpPr>
          <p:cNvPr id="37" name="Text 35"/>
          <p:cNvSpPr/>
          <p:nvPr/>
        </p:nvSpPr>
        <p:spPr>
          <a:xfrm>
            <a:off x="502920" y="3108960"/>
            <a:ext cx="1437132" cy="868680"/>
          </a:xfrm>
          <a:prstGeom prst="rect">
            <a:avLst/>
          </a:prstGeom>
          <a:noFill/>
          <a:ln/>
        </p:spPr>
        <p:txBody>
          <a:bodyPr wrap="square" lIns="0" tIns="0" rIns="0" bIns="0" rtlCol="0" anchor="t"/>
          <a:lstStyle/>
          <a:p>
            <a:pPr rtl="1" algn="ctr" indent="0" marL="0">
              <a:buNone/>
            </a:pPr>
            <a:r>
              <a:rPr lang="en-US" sz="1200" dirty="0">
                <a:solidFill>
                  <a:srgbClr val="C9D3E6"/>
                </a:solidFill>
                <a:latin typeface="Tahoma" pitchFamily="34" charset="0"/>
                <a:ea typeface="Tahoma" pitchFamily="34" charset="-122"/>
                <a:cs typeface="Tahoma" pitchFamily="34" charset="-120"/>
              </a:rPr>
              <a:t>تأیید یا برگرداندن</a:t>
            </a:r>
            <a:endParaRPr lang="en-US" sz="1200" dirty="0"/>
          </a:p>
        </p:txBody>
      </p:sp>
      <p:sp>
        <p:nvSpPr>
          <p:cNvPr id="38" name="Shape 36"/>
          <p:cNvSpPr/>
          <p:nvPr/>
        </p:nvSpPr>
        <p:spPr>
          <a:xfrm>
            <a:off x="411480" y="4526280"/>
            <a:ext cx="11365992" cy="914400"/>
          </a:xfrm>
          <a:prstGeom prst="roundRect">
            <a:avLst>
              <a:gd name="adj" fmla="val 8000"/>
            </a:avLst>
          </a:prstGeom>
          <a:solidFill>
            <a:srgbClr val="F6EDCF"/>
          </a:solidFill>
          <a:ln w="9525">
            <a:solidFill>
              <a:srgbClr val="C9A227"/>
            </a:solidFill>
            <a:prstDash val="solid"/>
          </a:ln>
        </p:spPr>
      </p:sp>
      <p:sp>
        <p:nvSpPr>
          <p:cNvPr id="39" name="Text 37"/>
          <p:cNvSpPr/>
          <p:nvPr/>
        </p:nvSpPr>
        <p:spPr>
          <a:xfrm>
            <a:off x="10863072" y="4526280"/>
            <a:ext cx="822960" cy="91440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40" name="Text 38"/>
          <p:cNvSpPr/>
          <p:nvPr/>
        </p:nvSpPr>
        <p:spPr>
          <a:xfrm>
            <a:off x="548640" y="4526280"/>
            <a:ext cx="10241280" cy="91440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در هر مرحله می‌توانید جواب قبلی را با آیکون مداد عوض کنید یا «عملیات دیگری است» را بزنید.</a:t>
            </a:r>
            <a:endParaRPr lang="en-US" sz="1250" dirty="0"/>
          </a:p>
        </p:txBody>
      </p:sp>
      <p:sp>
        <p:nvSpPr>
          <p:cNvPr id="41" name="Text 3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۱۸۰</a:t>
            </a:r>
            <a:endParaRPr lang="en-US" sz="1000" dirty="0"/>
          </a:p>
        </p:txBody>
      </p:sp>
      <p:sp>
        <p:nvSpPr>
          <p:cNvPr id="42" name="Text 4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 — صفحهٔ شروع حسابیار</a:t>
            </a:r>
            <a:endParaRPr lang="en-US" sz="2500" dirty="0"/>
          </a:p>
        </p:txBody>
      </p:sp>
      <p:sp>
        <p:nvSpPr>
          <p:cNvPr id="3" name="Shape 1"/>
          <p:cNvSpPr/>
          <p:nvPr/>
        </p:nvSpPr>
        <p:spPr>
          <a:xfrm>
            <a:off x="8961120" y="896112"/>
            <a:ext cx="281635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070848" y="896112"/>
            <a:ext cx="259689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حسابیار ← ثبت سند با حسابیار</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as_home">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451653"/>
            <a:ext cx="3867912" cy="903427"/>
          </a:xfrm>
          <a:prstGeom prst="roundRect">
            <a:avLst>
              <a:gd name="adj" fmla="val 8097"/>
            </a:avLst>
          </a:prstGeom>
          <a:solidFill>
            <a:srgbClr val="E3F3EA"/>
          </a:solidFill>
          <a:ln w="9525">
            <a:solidFill>
              <a:srgbClr val="1E7A4C"/>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بنویسید: «پرداخت قبض برق اداره کل تهران ۴۵ میلیون ریال از بانک ملی» و Enter بزنید.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کادر جمله</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پایین گفت‌وگو بنویسید چه اتفاقی افتاده؛ به همان زبانی که به همکارتان می‌گویید.</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سندهای سریع</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کارهایی که زیاد تکرار می‌کنید را با یک کلیک شروع کنید.</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سندهای من</a:t>
            </a:r>
            <a:endParaRPr lang="en-US" sz="1350" dirty="0"/>
          </a:p>
        </p:txBody>
      </p:sp>
      <p:sp>
        <p:nvSpPr>
          <p:cNvPr id="21" name="Text 18"/>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سندهای اخیر شما و وضعیتشان؛ سند برگشت‌خورده هم اینجا دیده می‌شود.</a:t>
            </a:r>
            <a:endParaRPr lang="en-US" sz="1300" dirty="0"/>
          </a:p>
        </p:txBody>
      </p:sp>
      <p:sp>
        <p:nvSpPr>
          <p:cNvPr id="22" name="Shape 19"/>
          <p:cNvSpPr/>
          <p:nvPr/>
        </p:nvSpPr>
        <p:spPr>
          <a:xfrm>
            <a:off x="11411712" y="4079138"/>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791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791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الگوهای عملیات</a:t>
            </a:r>
            <a:endParaRPr lang="en-US" sz="1350" dirty="0"/>
          </a:p>
        </p:txBody>
      </p:sp>
      <p:sp>
        <p:nvSpPr>
          <p:cNvPr id="25" name="Text 22"/>
          <p:cNvSpPr/>
          <p:nvPr/>
        </p:nvSpPr>
        <p:spPr>
          <a:xfrm>
            <a:off x="7909560" y="4408322"/>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دکمهٔ بالای صفحه فهرست کارهایی را نشان می‌دهد که حسابیار بلد است.</a:t>
            </a:r>
            <a:endParaRPr lang="en-US" sz="13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۱۸۱</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۲ — برداشت حسابیار و سؤال‌ها</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as_understand">    </p:cNvPr>
          <p:cNvPicPr>
            <a:picLocks noChangeAspect="1"/>
          </p:cNvPicPr>
          <p:nvPr/>
        </p:nvPicPr>
        <p:blipFill>
          <a:blip r:embed="rId1"/>
          <a:stretch>
            <a:fillRect/>
          </a:stretch>
        </p:blipFill>
        <p:spPr>
          <a:xfrm>
            <a:off x="600538" y="1216152"/>
            <a:ext cx="6845643" cy="5065776"/>
          </a:xfrm>
          <a:prstGeom prst="rect">
            <a:avLst/>
          </a:prstGeom>
        </p:spPr>
      </p:pic>
      <p:sp>
        <p:nvSpPr>
          <p:cNvPr id="5" name="Shape 2"/>
          <p:cNvSpPr/>
          <p:nvPr/>
        </p:nvSpPr>
        <p:spPr>
          <a:xfrm>
            <a:off x="7909560" y="5237683"/>
            <a:ext cx="3867912" cy="1117397"/>
          </a:xfrm>
          <a:prstGeom prst="roundRect">
            <a:avLst>
              <a:gd name="adj" fmla="val 6547"/>
            </a:avLst>
          </a:prstGeom>
          <a:solidFill>
            <a:srgbClr val="F6EDCF"/>
          </a:solidFill>
          <a:ln w="9525">
            <a:solidFill>
              <a:srgbClr val="C9A227"/>
            </a:solidFill>
            <a:prstDash val="solid"/>
          </a:ln>
        </p:spPr>
      </p:sp>
      <p:sp>
        <p:nvSpPr>
          <p:cNvPr id="6" name="Text 3"/>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7" name="Text 4"/>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برچسب «برداشت هوش مصنوعی» یعنی این مقدار از جملهٔ شما خوانده شده؛ اگر درست نیست با مداد عوضش کنید.</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برداشت من</a:t>
            </a:r>
            <a:endParaRPr lang="en-US" sz="1350" dirty="0"/>
          </a:p>
        </p:txBody>
      </p:sp>
      <p:sp>
        <p:nvSpPr>
          <p:cNvPr id="11" name="Text 8"/>
          <p:cNvSpPr/>
          <p:nvPr/>
        </p:nvSpPr>
        <p:spPr>
          <a:xfrm>
            <a:off x="7909560" y="1517904"/>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حسابیار عملیات، مبلغ (با حروف)، حساب بانکی و بابت را از جملهٔ شما بیرون کشیده است.</a:t>
            </a:r>
            <a:endParaRPr lang="en-US" sz="1300" dirty="0"/>
          </a:p>
        </p:txBody>
      </p:sp>
      <p:sp>
        <p:nvSpPr>
          <p:cNvPr id="12" name="Shape 9"/>
          <p:cNvSpPr/>
          <p:nvPr/>
        </p:nvSpPr>
        <p:spPr>
          <a:xfrm>
            <a:off x="11411712" y="2323033"/>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3230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32303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تأیید</a:t>
            </a:r>
            <a:endParaRPr lang="en-US" sz="1350" dirty="0"/>
          </a:p>
        </p:txBody>
      </p:sp>
      <p:sp>
        <p:nvSpPr>
          <p:cNvPr id="15" name="Text 12"/>
          <p:cNvSpPr/>
          <p:nvPr/>
        </p:nvSpPr>
        <p:spPr>
          <a:xfrm>
            <a:off x="7909560" y="265221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«درست است»، یا «مبلغ را اصلاح کن» یا «عملیات دیگری است».</a:t>
            </a:r>
            <a:endParaRPr lang="en-US" sz="1300" dirty="0"/>
          </a:p>
        </p:txBody>
      </p:sp>
      <p:sp>
        <p:nvSpPr>
          <p:cNvPr id="16" name="Shape 13"/>
          <p:cNvSpPr/>
          <p:nvPr/>
        </p:nvSpPr>
        <p:spPr>
          <a:xfrm>
            <a:off x="11411712" y="3225546"/>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32255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32255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سؤال‌ها</a:t>
            </a:r>
            <a:endParaRPr lang="en-US" sz="1350" dirty="0"/>
          </a:p>
        </p:txBody>
      </p:sp>
      <p:sp>
        <p:nvSpPr>
          <p:cNvPr id="19" name="Text 16"/>
          <p:cNvSpPr/>
          <p:nvPr/>
        </p:nvSpPr>
        <p:spPr>
          <a:xfrm>
            <a:off x="7909560" y="355473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چه در جمله نبود پرسیده می‌شود؛ مثلاً «سند به چه تاریخی ثبت شود؟».</a:t>
            </a:r>
            <a:endParaRPr lang="en-US" sz="1300" dirty="0"/>
          </a:p>
        </p:txBody>
      </p:sp>
      <p:sp>
        <p:nvSpPr>
          <p:cNvPr id="20" name="Shape 17"/>
          <p:cNvSpPr/>
          <p:nvPr/>
        </p:nvSpPr>
        <p:spPr>
          <a:xfrm>
            <a:off x="11411712" y="4128059"/>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412805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412805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پیشرفت</a:t>
            </a:r>
            <a:endParaRPr lang="en-US" sz="1350" dirty="0"/>
          </a:p>
        </p:txBody>
      </p:sp>
      <p:sp>
        <p:nvSpPr>
          <p:cNvPr id="23" name="Text 20"/>
          <p:cNvSpPr/>
          <p:nvPr/>
        </p:nvSpPr>
        <p:spPr>
          <a:xfrm>
            <a:off x="7909560" y="4457243"/>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نوار پایین نشان می‌دهد چند سؤال مانده؛ «همهٔ فیلدها» همه را یک‌جا باز می‌کند.</a:t>
            </a:r>
            <a:endParaRPr lang="en-US" sz="1300" dirty="0"/>
          </a:p>
        </p:txBody>
      </p:sp>
      <p:sp>
        <p:nvSpPr>
          <p:cNvPr id="24" name="Text 2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۱۸۲</a:t>
            </a:r>
            <a:endParaRPr lang="en-US" sz="1000" dirty="0"/>
          </a:p>
        </p:txBody>
      </p:sp>
      <p:sp>
        <p:nvSpPr>
          <p:cNvPr id="25" name="Text 2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۳ — پیش‌نویس سند و ارسال</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as_draft">    </p:cNvPr>
          <p:cNvPicPr>
            <a:picLocks noChangeAspect="1"/>
          </p:cNvPicPr>
          <p:nvPr/>
        </p:nvPicPr>
        <p:blipFill>
          <a:blip r:embed="rId1"/>
          <a:stretch>
            <a:fillRect/>
          </a:stretch>
        </p:blipFill>
        <p:spPr>
          <a:xfrm>
            <a:off x="600538" y="1216152"/>
            <a:ext cx="6845643" cy="5065776"/>
          </a:xfrm>
          <a:prstGeom prst="rect">
            <a:avLst/>
          </a:prstGeom>
        </p:spPr>
      </p:pic>
      <p:sp>
        <p:nvSpPr>
          <p:cNvPr id="5" name="Shape 2"/>
          <p:cNvSpPr/>
          <p:nvPr/>
        </p:nvSpPr>
        <p:spPr>
          <a:xfrm>
            <a:off x="7909560" y="5451653"/>
            <a:ext cx="3867912" cy="903427"/>
          </a:xfrm>
          <a:prstGeom prst="roundRect">
            <a:avLst>
              <a:gd name="adj" fmla="val 8097"/>
            </a:avLst>
          </a:prstGeom>
          <a:solidFill>
            <a:srgbClr val="E3F3EA"/>
          </a:solidFill>
          <a:ln w="9525">
            <a:solidFill>
              <a:srgbClr val="1E7A4C"/>
            </a:solidFill>
            <a:prstDash val="solid"/>
          </a:ln>
        </p:spPr>
      </p:sp>
      <p:sp>
        <p:nvSpPr>
          <p:cNvPr id="6" name="Text 3"/>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7" name="Text 4"/>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قبض برق ۴۵ میلیون: کنترل «مدرک هنوز پیوست نشده» زرد است ⇐ «پیوست مدرک» ⇐ ارسال.</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به زبان ساده</a:t>
            </a:r>
            <a:endParaRPr lang="en-US" sz="1350" dirty="0"/>
          </a:p>
        </p:txBody>
      </p:sp>
      <p:sp>
        <p:nvSpPr>
          <p:cNvPr id="11" name="Text 8"/>
          <p:cNvSpPr/>
          <p:nvPr/>
        </p:nvSpPr>
        <p:spPr>
          <a:xfrm>
            <a:off x="7909560" y="151790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یک جمله که سند را توضیح می‌دهد، با مبلغ، طرف حساب، تاریخ و پیوست.</a:t>
            </a:r>
            <a:endParaRPr lang="en-US" sz="1300" dirty="0"/>
          </a:p>
        </p:txBody>
      </p:sp>
      <p:sp>
        <p:nvSpPr>
          <p:cNvPr id="12" name="Shape 9"/>
          <p:cNvSpPr/>
          <p:nvPr/>
        </p:nvSpPr>
        <p:spPr>
          <a:xfrm>
            <a:off x="11411712" y="2091233"/>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0912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09123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کنترل‌ها</a:t>
            </a:r>
            <a:endParaRPr lang="en-US" sz="1350" dirty="0"/>
          </a:p>
        </p:txBody>
      </p:sp>
      <p:sp>
        <p:nvSpPr>
          <p:cNvPr id="15" name="Text 12"/>
          <p:cNvSpPr/>
          <p:nvPr/>
        </p:nvSpPr>
        <p:spPr>
          <a:xfrm>
            <a:off x="7909560" y="242041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تراز بدهکار و بستانکار، سقف مبلغ عملیات و مدرک؛ هشدار زرد یعنی کاری مانده است.</a:t>
            </a:r>
            <a:endParaRPr lang="en-US" sz="1300" dirty="0"/>
          </a:p>
        </p:txBody>
      </p:sp>
      <p:sp>
        <p:nvSpPr>
          <p:cNvPr id="16" name="Shape 13"/>
          <p:cNvSpPr/>
          <p:nvPr/>
        </p:nvSpPr>
        <p:spPr>
          <a:xfrm>
            <a:off x="11411712" y="2993746"/>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29937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29937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پیوست مدرک</a:t>
            </a:r>
            <a:endParaRPr lang="en-US" sz="1350" dirty="0"/>
          </a:p>
        </p:txBody>
      </p:sp>
      <p:sp>
        <p:nvSpPr>
          <p:cNvPr id="19" name="Text 16"/>
          <p:cNvSpPr/>
          <p:nvPr/>
        </p:nvSpPr>
        <p:spPr>
          <a:xfrm>
            <a:off x="7909560" y="332293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تصویر قبض یا فاکتور را پیوست کنید تا حسابدار ببیند.</a:t>
            </a:r>
            <a:endParaRPr lang="en-US" sz="1300" dirty="0"/>
          </a:p>
        </p:txBody>
      </p:sp>
      <p:sp>
        <p:nvSpPr>
          <p:cNvPr id="20" name="Shape 17"/>
          <p:cNvSpPr/>
          <p:nvPr/>
        </p:nvSpPr>
        <p:spPr>
          <a:xfrm>
            <a:off x="11411712" y="3896258"/>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389625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389625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ارسال</a:t>
            </a:r>
            <a:endParaRPr lang="en-US" sz="1350" dirty="0"/>
          </a:p>
        </p:txBody>
      </p:sp>
      <p:sp>
        <p:nvSpPr>
          <p:cNvPr id="23" name="Text 20"/>
          <p:cNvSpPr/>
          <p:nvPr/>
        </p:nvSpPr>
        <p:spPr>
          <a:xfrm>
            <a:off x="7909560" y="4225442"/>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«ارسال برای بررسی حسابدار» ⇐ سند موقت ثبت می‌شود؛ «ویرایش کامل» همهٔ فیلدهای سند را باز می‌کند.</a:t>
            </a:r>
            <a:endParaRPr lang="en-US" sz="1300" dirty="0"/>
          </a:p>
        </p:txBody>
      </p:sp>
      <p:sp>
        <p:nvSpPr>
          <p:cNvPr id="24" name="Text 2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۱۸۳</a:t>
            </a:r>
            <a:endParaRPr lang="en-US" sz="1000" dirty="0"/>
          </a:p>
        </p:txBody>
      </p:sp>
      <p:sp>
        <p:nvSpPr>
          <p:cNvPr id="25" name="Text 2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 حسابداری پیش‌نویس</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as_draft_acc">    </p:cNvPr>
          <p:cNvPicPr>
            <a:picLocks noChangeAspect="1"/>
          </p:cNvPicPr>
          <p:nvPr/>
        </p:nvPicPr>
        <p:blipFill>
          <a:blip r:embed="rId1"/>
          <a:stretch>
            <a:fillRect/>
          </a:stretch>
        </p:blipFill>
        <p:spPr>
          <a:xfrm>
            <a:off x="600538" y="1216152"/>
            <a:ext cx="6845643" cy="5065776"/>
          </a:xfrm>
          <a:prstGeom prst="rect">
            <a:avLst/>
          </a:prstGeom>
        </p:spPr>
      </p:pic>
      <p:sp>
        <p:nvSpPr>
          <p:cNvPr id="5" name="Shape 2"/>
          <p:cNvSpPr/>
          <p:nvPr/>
        </p:nvSpPr>
        <p:spPr>
          <a:xfrm>
            <a:off x="11411712" y="1188720"/>
            <a:ext cx="329184" cy="329184"/>
          </a:xfrm>
          <a:prstGeom prst="ellipse">
            <a:avLst/>
          </a:prstGeom>
          <a:solidFill>
            <a:srgbClr val="C9A227"/>
          </a:solidFill>
          <a:ln w="12700">
            <a:solidFill>
              <a:srgbClr val="C9A227"/>
            </a:solidFill>
            <a:prstDash val="solid"/>
          </a:ln>
        </p:spPr>
      </p:sp>
      <p:sp>
        <p:nvSpPr>
          <p:cNvPr id="6" name="Text 3"/>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زبانهٔ سند حسابداری</a:t>
            </a:r>
            <a:endParaRPr lang="en-US" sz="1350" dirty="0"/>
          </a:p>
        </p:txBody>
      </p:sp>
      <p:sp>
        <p:nvSpPr>
          <p:cNvPr id="8" name="Text 5"/>
          <p:cNvSpPr/>
          <p:nvPr/>
        </p:nvSpPr>
        <p:spPr>
          <a:xfrm>
            <a:off x="7909560" y="151790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ردیف‌های بدهکار و بستانکار که الگو ساخته، با معین و تفصیلی.</a:t>
            </a:r>
            <a:endParaRPr lang="en-US" sz="1300" dirty="0"/>
          </a:p>
        </p:txBody>
      </p:sp>
      <p:sp>
        <p:nvSpPr>
          <p:cNvPr id="9" name="Shape 6"/>
          <p:cNvSpPr/>
          <p:nvPr/>
        </p:nvSpPr>
        <p:spPr>
          <a:xfrm>
            <a:off x="11411712" y="2091233"/>
            <a:ext cx="329184" cy="329184"/>
          </a:xfrm>
          <a:prstGeom prst="ellipse">
            <a:avLst/>
          </a:prstGeom>
          <a:solidFill>
            <a:srgbClr val="C9A227"/>
          </a:solidFill>
          <a:ln w="12700">
            <a:solidFill>
              <a:srgbClr val="C9A227"/>
            </a:solidFill>
            <a:prstDash val="solid"/>
          </a:ln>
        </p:spPr>
      </p:sp>
      <p:sp>
        <p:nvSpPr>
          <p:cNvPr id="10" name="Text 7"/>
          <p:cNvSpPr/>
          <p:nvPr/>
        </p:nvSpPr>
        <p:spPr>
          <a:xfrm>
            <a:off x="11411712" y="20912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p:nvPr/>
        </p:nvSpPr>
        <p:spPr>
          <a:xfrm>
            <a:off x="7909560" y="209123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ریسک</a:t>
            </a:r>
            <a:endParaRPr lang="en-US" sz="1350" dirty="0"/>
          </a:p>
        </p:txBody>
      </p:sp>
      <p:sp>
        <p:nvSpPr>
          <p:cNvPr id="12" name="Text 9"/>
          <p:cNvSpPr/>
          <p:nvPr/>
        </p:nvSpPr>
        <p:spPr>
          <a:xfrm>
            <a:off x="7909560" y="242041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برچسب ریسک (کم، متوسط…) و وضعیت «پس از ارسال: موقت» بالای پیش‌نویس است.</a:t>
            </a:r>
            <a:endParaRPr lang="en-US" sz="1300" dirty="0"/>
          </a:p>
        </p:txBody>
      </p:sp>
      <p:sp>
        <p:nvSpPr>
          <p:cNvPr id="13" name="Shape 10"/>
          <p:cNvSpPr/>
          <p:nvPr/>
        </p:nvSpPr>
        <p:spPr>
          <a:xfrm>
            <a:off x="11411712" y="2993746"/>
            <a:ext cx="329184" cy="329184"/>
          </a:xfrm>
          <a:prstGeom prst="ellipse">
            <a:avLst/>
          </a:prstGeom>
          <a:solidFill>
            <a:srgbClr val="C9A227"/>
          </a:solidFill>
          <a:ln w="12700">
            <a:solidFill>
              <a:srgbClr val="C9A227"/>
            </a:solidFill>
            <a:prstDash val="solid"/>
          </a:ln>
        </p:spPr>
      </p:sp>
      <p:sp>
        <p:nvSpPr>
          <p:cNvPr id="14" name="Text 11"/>
          <p:cNvSpPr/>
          <p:nvPr/>
        </p:nvSpPr>
        <p:spPr>
          <a:xfrm>
            <a:off x="11411712" y="29937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p:nvPr/>
        </p:nvSpPr>
        <p:spPr>
          <a:xfrm>
            <a:off x="7909560" y="29937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مبنا</a:t>
            </a:r>
            <a:endParaRPr lang="en-US" sz="1350" dirty="0"/>
          </a:p>
        </p:txBody>
      </p:sp>
      <p:sp>
        <p:nvSpPr>
          <p:cNvPr id="16" name="Text 13"/>
          <p:cNvSpPr/>
          <p:nvPr/>
        </p:nvSpPr>
        <p:spPr>
          <a:xfrm>
            <a:off x="7909560" y="332293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زیر کنترل‌ها نوشته شده سند از کدام الگو و چند بار پیش‌تر استفاده شده است.</a:t>
            </a:r>
            <a:endParaRPr lang="en-US" sz="1300" dirty="0"/>
          </a:p>
        </p:txBody>
      </p:sp>
      <p:sp>
        <p:nvSpPr>
          <p:cNvPr id="17" name="Text 14"/>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۱۸۴</a:t>
            </a:r>
            <a:endParaRPr lang="en-US" sz="1000" dirty="0"/>
          </a:p>
        </p:txBody>
      </p:sp>
      <p:sp>
        <p:nvSpPr>
          <p:cNvPr id="18" name="Text 15"/>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سندهای من و سند برگشت‌خورده</a:t>
            </a:r>
            <a:endParaRPr lang="en-US" sz="2500" dirty="0"/>
          </a:p>
        </p:txBody>
      </p:sp>
      <p:sp>
        <p:nvSpPr>
          <p:cNvPr id="3" name="Text 1"/>
          <p:cNvSpPr/>
          <p:nvPr/>
        </p:nvSpPr>
        <p:spPr>
          <a:xfrm>
            <a:off x="6208776"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سندهای من در صفحهٔ حسابیار</a:t>
            </a:r>
            <a:endParaRPr lang="en-US" sz="1200" dirty="0"/>
          </a:p>
        </p:txBody>
      </p:sp>
      <p:sp>
        <p:nvSpPr>
          <p:cNvPr id="4" name="Shape 2"/>
          <p:cNvSpPr/>
          <p:nvPr/>
        </p:nvSpPr>
        <p:spPr>
          <a:xfrm>
            <a:off x="6208776" y="1435608"/>
            <a:ext cx="5568696" cy="3649828"/>
          </a:xfrm>
          <a:prstGeom prst="roundRect">
            <a:avLst>
              <a:gd name="adj" fmla="val 20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5" name="Image 0" descr="as_hist">    </p:cNvPr>
          <p:cNvPicPr>
            <a:picLocks noChangeAspect="1"/>
          </p:cNvPicPr>
          <p:nvPr/>
        </p:nvPicPr>
        <p:blipFill>
          <a:blip r:embed="rId1"/>
          <a:stretch>
            <a:fillRect/>
          </a:stretch>
        </p:blipFill>
        <p:spPr>
          <a:xfrm>
            <a:off x="6588808" y="1481328"/>
            <a:ext cx="4808632" cy="3558388"/>
          </a:xfrm>
          <a:prstGeom prst="rect">
            <a:avLst/>
          </a:prstGeom>
        </p:spPr>
      </p:pic>
      <p:sp>
        <p:nvSpPr>
          <p:cNvPr id="6" name="Text 3"/>
          <p:cNvSpPr/>
          <p:nvPr/>
        </p:nvSpPr>
        <p:spPr>
          <a:xfrm>
            <a:off x="411480"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سندهای برگشت‌خورده</a:t>
            </a:r>
            <a:endParaRPr lang="en-US" sz="1200" dirty="0"/>
          </a:p>
        </p:txBody>
      </p:sp>
      <p:sp>
        <p:nvSpPr>
          <p:cNvPr id="7" name="Shape 4"/>
          <p:cNvSpPr/>
          <p:nvPr/>
        </p:nvSpPr>
        <p:spPr>
          <a:xfrm>
            <a:off x="411480" y="1435608"/>
            <a:ext cx="5568696" cy="3649828"/>
          </a:xfrm>
          <a:prstGeom prst="roundRect">
            <a:avLst>
              <a:gd name="adj" fmla="val 20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8" name="Image 1" descr="as_mine">    </p:cNvPr>
          <p:cNvPicPr>
            <a:picLocks noChangeAspect="1"/>
          </p:cNvPicPr>
          <p:nvPr/>
        </p:nvPicPr>
        <p:blipFill>
          <a:blip r:embed="rId2"/>
          <a:stretch>
            <a:fillRect/>
          </a:stretch>
        </p:blipFill>
        <p:spPr>
          <a:xfrm>
            <a:off x="457200" y="1936852"/>
            <a:ext cx="5477256" cy="2647340"/>
          </a:xfrm>
          <a:prstGeom prst="rect">
            <a:avLst/>
          </a:prstGeom>
        </p:spPr>
      </p:pic>
      <p:sp>
        <p:nvSpPr>
          <p:cNvPr id="9" name="Shape 5"/>
          <p:cNvSpPr/>
          <p:nvPr/>
        </p:nvSpPr>
        <p:spPr>
          <a:xfrm>
            <a:off x="8080248" y="5268316"/>
            <a:ext cx="3697224" cy="1086764"/>
          </a:xfrm>
          <a:prstGeom prst="roundRect">
            <a:avLst>
              <a:gd name="adj" fmla="val 6731"/>
            </a:avLst>
          </a:prstGeom>
          <a:solidFill>
            <a:srgbClr val="FFFFFF"/>
          </a:solidFill>
          <a:ln w="6350">
            <a:solidFill>
              <a:srgbClr val="D9DEE7"/>
            </a:solidFill>
            <a:prstDash val="solid"/>
          </a:ln>
        </p:spPr>
      </p:sp>
      <p:sp>
        <p:nvSpPr>
          <p:cNvPr id="10" name="Shape 6"/>
          <p:cNvSpPr/>
          <p:nvPr/>
        </p:nvSpPr>
        <p:spPr>
          <a:xfrm>
            <a:off x="11356848" y="5359756"/>
            <a:ext cx="329184" cy="329184"/>
          </a:xfrm>
          <a:prstGeom prst="ellipse">
            <a:avLst/>
          </a:prstGeom>
          <a:solidFill>
            <a:srgbClr val="C9A227"/>
          </a:solidFill>
          <a:ln w="12700">
            <a:solidFill>
              <a:srgbClr val="C9A227"/>
            </a:solidFill>
            <a:prstDash val="solid"/>
          </a:ln>
        </p:spPr>
      </p:sp>
      <p:sp>
        <p:nvSpPr>
          <p:cNvPr id="11" name="Text 7"/>
          <p:cNvSpPr/>
          <p:nvPr/>
        </p:nvSpPr>
        <p:spPr>
          <a:xfrm>
            <a:off x="11356848" y="535975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8"/>
          <p:cNvSpPr/>
          <p:nvPr/>
        </p:nvSpPr>
        <p:spPr>
          <a:xfrm>
            <a:off x="8171688" y="5341468"/>
            <a:ext cx="3130296"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وضعیت</a:t>
            </a:r>
            <a:endParaRPr lang="en-US" sz="1300" dirty="0"/>
          </a:p>
        </p:txBody>
      </p:sp>
      <p:sp>
        <p:nvSpPr>
          <p:cNvPr id="13" name="Text 9"/>
          <p:cNvSpPr/>
          <p:nvPr/>
        </p:nvSpPr>
        <p:spPr>
          <a:xfrm>
            <a:off x="8189976" y="5743804"/>
            <a:ext cx="3477768"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سندهای در انتظار بررسی، بررسی‌شده و برگشت‌خورده جدا دیده می‌شوند.</a:t>
            </a:r>
            <a:endParaRPr lang="en-US" sz="1150" dirty="0"/>
          </a:p>
        </p:txBody>
      </p:sp>
      <p:sp>
        <p:nvSpPr>
          <p:cNvPr id="14" name="Shape 10"/>
          <p:cNvSpPr/>
          <p:nvPr/>
        </p:nvSpPr>
        <p:spPr>
          <a:xfrm>
            <a:off x="4245864" y="5268316"/>
            <a:ext cx="3697224" cy="1086764"/>
          </a:xfrm>
          <a:prstGeom prst="roundRect">
            <a:avLst>
              <a:gd name="adj" fmla="val 6731"/>
            </a:avLst>
          </a:prstGeom>
          <a:solidFill>
            <a:srgbClr val="FFFFFF"/>
          </a:solidFill>
          <a:ln w="6350">
            <a:solidFill>
              <a:srgbClr val="D9DEE7"/>
            </a:solidFill>
            <a:prstDash val="solid"/>
          </a:ln>
        </p:spPr>
      </p:sp>
      <p:sp>
        <p:nvSpPr>
          <p:cNvPr id="15" name="Shape 11"/>
          <p:cNvSpPr/>
          <p:nvPr/>
        </p:nvSpPr>
        <p:spPr>
          <a:xfrm>
            <a:off x="7522464" y="5359756"/>
            <a:ext cx="329184" cy="329184"/>
          </a:xfrm>
          <a:prstGeom prst="ellipse">
            <a:avLst/>
          </a:prstGeom>
          <a:solidFill>
            <a:srgbClr val="C9A227"/>
          </a:solidFill>
          <a:ln w="12700">
            <a:solidFill>
              <a:srgbClr val="C9A227"/>
            </a:solidFill>
            <a:prstDash val="solid"/>
          </a:ln>
        </p:spPr>
      </p:sp>
      <p:sp>
        <p:nvSpPr>
          <p:cNvPr id="16" name="Text 12"/>
          <p:cNvSpPr/>
          <p:nvPr/>
        </p:nvSpPr>
        <p:spPr>
          <a:xfrm>
            <a:off x="7522464" y="535975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7" name="Text 13"/>
          <p:cNvSpPr/>
          <p:nvPr/>
        </p:nvSpPr>
        <p:spPr>
          <a:xfrm>
            <a:off x="4337304" y="5341468"/>
            <a:ext cx="3130296"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برگشت</a:t>
            </a:r>
            <a:endParaRPr lang="en-US" sz="1300" dirty="0"/>
          </a:p>
        </p:txBody>
      </p:sp>
      <p:sp>
        <p:nvSpPr>
          <p:cNvPr id="18" name="Text 14"/>
          <p:cNvSpPr/>
          <p:nvPr/>
        </p:nvSpPr>
        <p:spPr>
          <a:xfrm>
            <a:off x="4355592" y="5743804"/>
            <a:ext cx="3477768"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اگر حسابدار سند را برگرداند، دلیلش را می‌بینید.</a:t>
            </a:r>
            <a:endParaRPr lang="en-US" sz="1150" dirty="0"/>
          </a:p>
        </p:txBody>
      </p:sp>
      <p:sp>
        <p:nvSpPr>
          <p:cNvPr id="19" name="Shape 15"/>
          <p:cNvSpPr/>
          <p:nvPr/>
        </p:nvSpPr>
        <p:spPr>
          <a:xfrm>
            <a:off x="411480" y="5268316"/>
            <a:ext cx="3697224" cy="1086764"/>
          </a:xfrm>
          <a:prstGeom prst="roundRect">
            <a:avLst>
              <a:gd name="adj" fmla="val 6731"/>
            </a:avLst>
          </a:prstGeom>
          <a:solidFill>
            <a:srgbClr val="FFFFFF"/>
          </a:solidFill>
          <a:ln w="6350">
            <a:solidFill>
              <a:srgbClr val="D9DEE7"/>
            </a:solidFill>
            <a:prstDash val="solid"/>
          </a:ln>
        </p:spPr>
      </p:sp>
      <p:sp>
        <p:nvSpPr>
          <p:cNvPr id="20" name="Shape 16"/>
          <p:cNvSpPr/>
          <p:nvPr/>
        </p:nvSpPr>
        <p:spPr>
          <a:xfrm>
            <a:off x="3688080" y="5359756"/>
            <a:ext cx="329184" cy="329184"/>
          </a:xfrm>
          <a:prstGeom prst="ellipse">
            <a:avLst/>
          </a:prstGeom>
          <a:solidFill>
            <a:srgbClr val="C9A227"/>
          </a:solidFill>
          <a:ln w="12700">
            <a:solidFill>
              <a:srgbClr val="C9A227"/>
            </a:solidFill>
            <a:prstDash val="solid"/>
          </a:ln>
        </p:spPr>
      </p:sp>
      <p:sp>
        <p:nvSpPr>
          <p:cNvPr id="21" name="Text 17"/>
          <p:cNvSpPr/>
          <p:nvPr/>
        </p:nvSpPr>
        <p:spPr>
          <a:xfrm>
            <a:off x="3688080" y="535975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2" name="Text 18"/>
          <p:cNvSpPr/>
          <p:nvPr/>
        </p:nvSpPr>
        <p:spPr>
          <a:xfrm>
            <a:off x="502920" y="5341468"/>
            <a:ext cx="3130296"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اصلاح</a:t>
            </a:r>
            <a:endParaRPr lang="en-US" sz="1300" dirty="0"/>
          </a:p>
        </p:txBody>
      </p:sp>
      <p:sp>
        <p:nvSpPr>
          <p:cNvPr id="23" name="Text 19"/>
          <p:cNvSpPr/>
          <p:nvPr/>
        </p:nvSpPr>
        <p:spPr>
          <a:xfrm>
            <a:off x="521208" y="5743804"/>
            <a:ext cx="3477768"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سند را ویرایش کنید یا به حسابدار پاسخ دهید و دوباره بفرستید.</a:t>
            </a:r>
            <a:endParaRPr lang="en-US" sz="1150" dirty="0"/>
          </a:p>
        </p:txBody>
      </p:sp>
      <p:sp>
        <p:nvSpPr>
          <p:cNvPr id="24" name="Text 2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۱۸۵</a:t>
            </a:r>
            <a:endParaRPr lang="en-US" sz="1000" dirty="0"/>
          </a:p>
        </p:txBody>
      </p:sp>
      <p:sp>
        <p:nvSpPr>
          <p:cNvPr id="25" name="Text 2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۴ — صف بررسی حسابیار (حسابدار)</a:t>
            </a:r>
            <a:endParaRPr lang="en-US" sz="2500" dirty="0"/>
          </a:p>
        </p:txBody>
      </p:sp>
      <p:sp>
        <p:nvSpPr>
          <p:cNvPr id="3" name="Shape 1"/>
          <p:cNvSpPr/>
          <p:nvPr/>
        </p:nvSpPr>
        <p:spPr>
          <a:xfrm>
            <a:off x="8727948" y="896112"/>
            <a:ext cx="304952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837676" y="896112"/>
            <a:ext cx="283006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حسابیار ← کارتابل بررسی حسابیار</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as_review">    </p:cNvPr>
          <p:cNvPicPr>
            <a:picLocks noChangeAspect="1"/>
          </p:cNvPicPr>
          <p:nvPr/>
        </p:nvPicPr>
        <p:blipFill>
          <a:blip r:embed="rId1"/>
          <a:stretch>
            <a:fillRect/>
          </a:stretch>
        </p:blipFill>
        <p:spPr>
          <a:xfrm>
            <a:off x="621962" y="1399032"/>
            <a:ext cx="6802796" cy="4882896"/>
          </a:xfrm>
          <a:prstGeom prst="rect">
            <a:avLst/>
          </a:prstGeom>
        </p:spPr>
      </p:pic>
      <p:sp>
        <p:nvSpPr>
          <p:cNvPr id="7" name="Shape 4"/>
          <p:cNvSpPr/>
          <p:nvPr/>
        </p:nvSpPr>
        <p:spPr>
          <a:xfrm>
            <a:off x="7909560" y="5451653"/>
            <a:ext cx="3867912" cy="903427"/>
          </a:xfrm>
          <a:prstGeom prst="roundRect">
            <a:avLst>
              <a:gd name="adj" fmla="val 8097"/>
            </a:avLst>
          </a:prstGeom>
          <a:solidFill>
            <a:srgbClr val="F6EDCF"/>
          </a:solidFill>
          <a:ln w="9525">
            <a:solidFill>
              <a:srgbClr val="C9A227"/>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ثبت‌کنندهٔ یک سند نمی‌تواند خودش آن را تأیید کند؛ تأیید باید با حسابدار دیگری باشد.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فهرست</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سندهای ثبت‌شده با حسابیار در واحد؛ زبانه‌های همه، کم‌ریسک و نیازمند توجه.</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جزئیات</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آنچه کاربر گفت، توضیح به زبان ساده، ردیف‌ها، منشأ، کنترل‌ها و مدرک پیوست.</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تصمیم</a:t>
            </a:r>
            <a:endParaRPr lang="en-US" sz="1350" dirty="0"/>
          </a:p>
        </p:txBody>
      </p:sp>
      <p:sp>
        <p:nvSpPr>
          <p:cNvPr id="21" name="Text 18"/>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«بررسی شد»، «برگرداندن به ثبت‌کننده» با دلیل، یا «ویرایش سند».</a:t>
            </a:r>
            <a:endParaRPr lang="en-US" sz="1300" dirty="0"/>
          </a:p>
        </p:txBody>
      </p:sp>
      <p:sp>
        <p:nvSpPr>
          <p:cNvPr id="22" name="Shape 19"/>
          <p:cNvSpPr/>
          <p:nvPr/>
        </p:nvSpPr>
        <p:spPr>
          <a:xfrm>
            <a:off x="11411712" y="4079138"/>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791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791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گروهی</a:t>
            </a:r>
            <a:endParaRPr lang="en-US" sz="1350" dirty="0"/>
          </a:p>
        </p:txBody>
      </p:sp>
      <p:sp>
        <p:nvSpPr>
          <p:cNvPr id="25" name="Text 22"/>
          <p:cNvSpPr/>
          <p:nvPr/>
        </p:nvSpPr>
        <p:spPr>
          <a:xfrm>
            <a:off x="7909560" y="4408322"/>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«بررسی گروهی کم‌ریسک‌ها» چند سند کم‌ریسک را یک‌جا بررسی می‌کند.</a:t>
            </a:r>
            <a:endParaRPr lang="en-US" sz="13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۱۸۶</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سندهای حسابیار</a:t>
            </a:r>
            <a:endParaRPr lang="en-US" sz="2500" dirty="0"/>
          </a:p>
        </p:txBody>
      </p:sp>
      <p:sp>
        <p:nvSpPr>
          <p:cNvPr id="3" name="Shape 1"/>
          <p:cNvSpPr/>
          <p:nvPr/>
        </p:nvSpPr>
        <p:spPr>
          <a:xfrm>
            <a:off x="9272016" y="896112"/>
            <a:ext cx="250545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381744" y="896112"/>
            <a:ext cx="228600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حسابیار ← سندهای حسابیار</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as_history">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11411712" y="1371600"/>
            <a:ext cx="329184" cy="329184"/>
          </a:xfrm>
          <a:prstGeom prst="ellipse">
            <a:avLst/>
          </a:prstGeom>
          <a:solidFill>
            <a:srgbClr val="C9A227"/>
          </a:solidFill>
          <a:ln w="12700">
            <a:solidFill>
              <a:srgbClr val="C9A227"/>
            </a:solidFill>
            <a:prstDash val="solid"/>
          </a:ln>
        </p:spPr>
      </p:sp>
      <p:sp>
        <p:nvSpPr>
          <p:cNvPr id="8" name="Text 5"/>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فهرست</a:t>
            </a:r>
            <a:endParaRPr lang="en-US" sz="1350" dirty="0"/>
          </a:p>
        </p:txBody>
      </p:sp>
      <p:sp>
        <p:nvSpPr>
          <p:cNvPr id="10" name="Text 7"/>
          <p:cNvSpPr/>
          <p:nvPr/>
        </p:nvSpPr>
        <p:spPr>
          <a:xfrm>
            <a:off x="7909560" y="1700784"/>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همهٔ سندهایی که در واحد با حسابیار ساخته شده: زمان، شمارهٔ سند، الگو، نوع ثبت و کاربر.</a:t>
            </a:r>
            <a:endParaRPr lang="en-US" sz="1300" dirty="0"/>
          </a:p>
        </p:txBody>
      </p:sp>
      <p:sp>
        <p:nvSpPr>
          <p:cNvPr id="11" name="Shape 8"/>
          <p:cNvSpPr/>
          <p:nvPr/>
        </p:nvSpPr>
        <p:spPr>
          <a:xfrm>
            <a:off x="11411712" y="2505913"/>
            <a:ext cx="329184" cy="329184"/>
          </a:xfrm>
          <a:prstGeom prst="ellipse">
            <a:avLst/>
          </a:prstGeom>
          <a:solidFill>
            <a:srgbClr val="C9A227"/>
          </a:solidFill>
          <a:ln w="12700">
            <a:solidFill>
              <a:srgbClr val="C9A227"/>
            </a:solidFill>
            <a:prstDash val="solid"/>
          </a:ln>
        </p:spPr>
      </p:sp>
      <p:sp>
        <p:nvSpPr>
          <p:cNvPr id="12" name="Text 9"/>
          <p:cNvSpPr/>
          <p:nvPr/>
        </p:nvSpPr>
        <p:spPr>
          <a:xfrm>
            <a:off x="11411712" y="25059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p:nvPr/>
        </p:nvSpPr>
        <p:spPr>
          <a:xfrm>
            <a:off x="7909560" y="25059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نوع ثبت</a:t>
            </a:r>
            <a:endParaRPr lang="en-US" sz="1350" dirty="0"/>
          </a:p>
        </p:txBody>
      </p:sp>
      <p:sp>
        <p:nvSpPr>
          <p:cNvPr id="14" name="Text 11"/>
          <p:cNvSpPr/>
          <p:nvPr/>
        </p:nvSpPr>
        <p:spPr>
          <a:xfrm>
            <a:off x="7909560" y="28350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«از الگو»، «از سوابق» (تکرار یک سند قبلی) یا «سند کامل».</a:t>
            </a:r>
            <a:endParaRPr lang="en-US" sz="1300" dirty="0"/>
          </a:p>
        </p:txBody>
      </p:sp>
      <p:sp>
        <p:nvSpPr>
          <p:cNvPr id="15" name="Shape 12"/>
          <p:cNvSpPr/>
          <p:nvPr/>
        </p:nvSpPr>
        <p:spPr>
          <a:xfrm>
            <a:off x="11411712" y="3408426"/>
            <a:ext cx="329184" cy="329184"/>
          </a:xfrm>
          <a:prstGeom prst="ellipse">
            <a:avLst/>
          </a:prstGeom>
          <a:solidFill>
            <a:srgbClr val="C9A227"/>
          </a:solidFill>
          <a:ln w="12700">
            <a:solidFill>
              <a:srgbClr val="C9A227"/>
            </a:solidFill>
            <a:prstDash val="solid"/>
          </a:ln>
        </p:spPr>
      </p:sp>
      <p:sp>
        <p:nvSpPr>
          <p:cNvPr id="16" name="Text 13"/>
          <p:cNvSpPr/>
          <p:nvPr/>
        </p:nvSpPr>
        <p:spPr>
          <a:xfrm>
            <a:off x="11411712" y="34084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p:nvPr/>
        </p:nvSpPr>
        <p:spPr>
          <a:xfrm>
            <a:off x="7909560" y="34084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فیلتر</a:t>
            </a:r>
            <a:endParaRPr lang="en-US" sz="1350" dirty="0"/>
          </a:p>
        </p:txBody>
      </p:sp>
      <p:sp>
        <p:nvSpPr>
          <p:cNvPr id="18" name="Text 15"/>
          <p:cNvSpPr/>
          <p:nvPr/>
        </p:nvSpPr>
        <p:spPr>
          <a:xfrm>
            <a:off x="7909560" y="37376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بازهٔ تاریخ، الگو، نوع ثبت و «فقط سندهای من».</a:t>
            </a:r>
            <a:endParaRPr lang="en-US" sz="1300" dirty="0"/>
          </a:p>
        </p:txBody>
      </p:sp>
      <p:sp>
        <p:nvSpPr>
          <p:cNvPr id="19" name="Text 1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۱۸۷</a:t>
            </a:r>
            <a:endParaRPr lang="en-US" sz="1000" dirty="0"/>
          </a:p>
        </p:txBody>
      </p:sp>
      <p:sp>
        <p:nvSpPr>
          <p:cNvPr id="20" name="Text 1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۵ — ثبت گروهی از اکسل</a:t>
            </a:r>
            <a:endParaRPr lang="en-US" sz="2500" dirty="0"/>
          </a:p>
        </p:txBody>
      </p:sp>
      <p:sp>
        <p:nvSpPr>
          <p:cNvPr id="3" name="Shape 1"/>
          <p:cNvSpPr/>
          <p:nvPr/>
        </p:nvSpPr>
        <p:spPr>
          <a:xfrm>
            <a:off x="9038844" y="896112"/>
            <a:ext cx="273862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148572" y="896112"/>
            <a:ext cx="251917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حسابیار ← ثبت گروهی از اکسل</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as_batch2">    </p:cNvPr>
          <p:cNvPicPr>
            <a:picLocks noChangeAspect="1"/>
          </p:cNvPicPr>
          <p:nvPr/>
        </p:nvPicPr>
        <p:blipFill>
          <a:blip r:embed="rId1"/>
          <a:stretch>
            <a:fillRect/>
          </a:stretch>
        </p:blipFill>
        <p:spPr>
          <a:xfrm>
            <a:off x="648086" y="1399032"/>
            <a:ext cx="6750547"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پنج پرداخت پیمانکار در یک فایل: سه سطر سالم ثبت می‌شوند و دو سطر خطادار (پیمانکار ناشناخته، مبلغ خالی) را در اکسل اصلاح کنید.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الگو</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عملیات را انتخاب کنید؛ مثلاً «پرداخت به پیمانکار».</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فایل نمونه</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«دریافت فایل نمونه»، پر کردن سطرها در اکسل و «بارگذاری فایل پرشده».</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بررسی سطرها</a:t>
            </a:r>
            <a:endParaRPr lang="en-US" sz="1350" dirty="0"/>
          </a:p>
        </p:txBody>
      </p:sp>
      <p:sp>
        <p:nvSpPr>
          <p:cNvPr id="21" name="Text 18"/>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سطر وضعیت «آمادهٔ ثبت» یا خطا دارد؛ سطرهای خطادار ثبت نمی‌شوند.</a:t>
            </a:r>
            <a:endParaRPr lang="en-US" sz="1300" dirty="0"/>
          </a:p>
        </p:txBody>
      </p:sp>
      <p:sp>
        <p:nvSpPr>
          <p:cNvPr id="22" name="Shape 19"/>
          <p:cNvSpPr/>
          <p:nvPr/>
        </p:nvSpPr>
        <p:spPr>
          <a:xfrm>
            <a:off x="11411712" y="4079138"/>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791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791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ثبت</a:t>
            </a:r>
            <a:endParaRPr lang="en-US" sz="1350" dirty="0"/>
          </a:p>
        </p:txBody>
      </p:sp>
      <p:sp>
        <p:nvSpPr>
          <p:cNvPr id="25" name="Text 22"/>
          <p:cNvSpPr/>
          <p:nvPr/>
        </p:nvSpPr>
        <p:spPr>
          <a:xfrm>
            <a:off x="7909560" y="4408322"/>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سطر یک سند» یا «همه در یک سند»، سپس دکمهٔ ثبت.</a:t>
            </a:r>
            <a:endParaRPr lang="en-US" sz="13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۱۸۸</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۶ — گزارش با حسابیار</a:t>
            </a:r>
            <a:endParaRPr lang="en-US" sz="2500" dirty="0"/>
          </a:p>
        </p:txBody>
      </p:sp>
      <p:sp>
        <p:nvSpPr>
          <p:cNvPr id="3" name="Shape 1"/>
          <p:cNvSpPr/>
          <p:nvPr/>
        </p:nvSpPr>
        <p:spPr>
          <a:xfrm>
            <a:off x="9116568" y="896112"/>
            <a:ext cx="266090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226296" y="896112"/>
            <a:ext cx="244144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حسابیار ← گزارش با حسابیار</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as_report_q">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451653"/>
            <a:ext cx="3867912" cy="903427"/>
          </a:xfrm>
          <a:prstGeom prst="roundRect">
            <a:avLst>
              <a:gd name="adj" fmla="val 8097"/>
            </a:avLst>
          </a:prstGeom>
          <a:solidFill>
            <a:srgbClr val="F6EDCF"/>
          </a:solidFill>
          <a:ln w="9525">
            <a:solidFill>
              <a:srgbClr val="C9A227"/>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گزارش‌های پرتکرار را مدیر ستاد در «گزارش‌های ذخیره‌شده» با یک اسم ساده تعریف می‌کند.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سؤال</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بنویسید چه گزارشی می‌خواهید؛ مثلاً «تراز ۶ ستونی سطح کل ماه قبل».</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انتخاب حسابیار</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گزارش و بازه را تشخیص می‌دهد؛ می‌توانید بازه را عوض کنید.</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نمایش</a:t>
            </a:r>
            <a:endParaRPr lang="en-US" sz="1350" dirty="0"/>
          </a:p>
        </p:txBody>
      </p:sp>
      <p:sp>
        <p:nvSpPr>
          <p:cNvPr id="21" name="Text 18"/>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«نمایش گزارش» همان گزارش همیشگی را با جمع‌ها و خروجی Excel باز می‌کند.</a:t>
            </a:r>
            <a:endParaRPr lang="en-US" sz="130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۱۸۹</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گزارش‌های ذخیره‌شده</a:t>
            </a:r>
            <a:endParaRPr lang="en-US" sz="2500" dirty="0"/>
          </a:p>
        </p:txBody>
      </p:sp>
      <p:sp>
        <p:nvSpPr>
          <p:cNvPr id="3" name="Shape 1"/>
          <p:cNvSpPr/>
          <p:nvPr/>
        </p:nvSpPr>
        <p:spPr>
          <a:xfrm>
            <a:off x="8883396" y="896112"/>
            <a:ext cx="289407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993124" y="896112"/>
            <a:ext cx="267462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حسابیار ← گزارش‌های ذخیره‌شده</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فهرست گزارش‌های ذخیره‌شده</a:t>
            </a:r>
            <a:endParaRPr lang="en-US" sz="1200" dirty="0"/>
          </a:p>
        </p:txBody>
      </p:sp>
      <p:sp>
        <p:nvSpPr>
          <p:cNvPr id="6" name="Shape 4"/>
          <p:cNvSpPr/>
          <p:nvPr/>
        </p:nvSpPr>
        <p:spPr>
          <a:xfrm>
            <a:off x="6208776" y="1618488"/>
            <a:ext cx="5568696" cy="3466948"/>
          </a:xfrm>
          <a:prstGeom prst="roundRect">
            <a:avLst>
              <a:gd name="adj" fmla="val 2110"/>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as_saved">    </p:cNvPr>
          <p:cNvPicPr>
            <a:picLocks noChangeAspect="1"/>
          </p:cNvPicPr>
          <p:nvPr/>
        </p:nvPicPr>
        <p:blipFill>
          <a:blip r:embed="rId1"/>
          <a:stretch>
            <a:fillRect/>
          </a:stretch>
        </p:blipFill>
        <p:spPr>
          <a:xfrm>
            <a:off x="6488625" y="1664208"/>
            <a:ext cx="5008997" cy="3375508"/>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تنظیمات یک گزارش</a:t>
            </a:r>
            <a:endParaRPr lang="en-US" sz="1200" dirty="0"/>
          </a:p>
        </p:txBody>
      </p:sp>
      <p:sp>
        <p:nvSpPr>
          <p:cNvPr id="9" name="Shape 6"/>
          <p:cNvSpPr/>
          <p:nvPr/>
        </p:nvSpPr>
        <p:spPr>
          <a:xfrm>
            <a:off x="411480" y="1618488"/>
            <a:ext cx="5568696" cy="3466948"/>
          </a:xfrm>
          <a:prstGeom prst="roundRect">
            <a:avLst>
              <a:gd name="adj" fmla="val 2110"/>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as_saved_dlg">    </p:cNvPr>
          <p:cNvPicPr>
            <a:picLocks noChangeAspect="1"/>
          </p:cNvPicPr>
          <p:nvPr/>
        </p:nvPicPr>
        <p:blipFill>
          <a:blip r:embed="rId2"/>
          <a:stretch>
            <a:fillRect/>
          </a:stretch>
        </p:blipFill>
        <p:spPr>
          <a:xfrm>
            <a:off x="1022754" y="1664208"/>
            <a:ext cx="4346147" cy="3375508"/>
          </a:xfrm>
          <a:prstGeom prst="rect">
            <a:avLst/>
          </a:prstGeom>
        </p:spPr>
      </p:pic>
      <p:sp>
        <p:nvSpPr>
          <p:cNvPr id="11" name="Shape 7"/>
          <p:cNvSpPr/>
          <p:nvPr/>
        </p:nvSpPr>
        <p:spPr>
          <a:xfrm>
            <a:off x="9038844" y="5268316"/>
            <a:ext cx="2738628" cy="1086764"/>
          </a:xfrm>
          <a:prstGeom prst="roundRect">
            <a:avLst>
              <a:gd name="adj" fmla="val 6731"/>
            </a:avLst>
          </a:prstGeom>
          <a:solidFill>
            <a:srgbClr val="FFFFFF"/>
          </a:solidFill>
          <a:ln w="6350">
            <a:solidFill>
              <a:srgbClr val="D9DEE7"/>
            </a:solidFill>
            <a:prstDash val="solid"/>
          </a:ln>
        </p:spPr>
      </p:sp>
      <p:sp>
        <p:nvSpPr>
          <p:cNvPr id="12" name="Shape 8"/>
          <p:cNvSpPr/>
          <p:nvPr/>
        </p:nvSpPr>
        <p:spPr>
          <a:xfrm>
            <a:off x="11356848" y="5359756"/>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535975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5341468"/>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تعریف</a:t>
            </a:r>
            <a:endParaRPr lang="en-US" sz="1300" dirty="0"/>
          </a:p>
        </p:txBody>
      </p:sp>
      <p:sp>
        <p:nvSpPr>
          <p:cNvPr id="15" name="Text 11"/>
          <p:cNvSpPr/>
          <p:nvPr/>
        </p:nvSpPr>
        <p:spPr>
          <a:xfrm>
            <a:off x="9148572" y="5743804"/>
            <a:ext cx="2519172"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یک گزارش موجود با تنظیمات دلخواه و یک اسم ذخیره می‌شود.</a:t>
            </a:r>
            <a:endParaRPr lang="en-US" sz="1150" dirty="0"/>
          </a:p>
        </p:txBody>
      </p:sp>
      <p:sp>
        <p:nvSpPr>
          <p:cNvPr id="16" name="Shape 12"/>
          <p:cNvSpPr/>
          <p:nvPr/>
        </p:nvSpPr>
        <p:spPr>
          <a:xfrm>
            <a:off x="6163056" y="5268316"/>
            <a:ext cx="2738628" cy="1086764"/>
          </a:xfrm>
          <a:prstGeom prst="roundRect">
            <a:avLst>
              <a:gd name="adj" fmla="val 6731"/>
            </a:avLst>
          </a:prstGeom>
          <a:solidFill>
            <a:srgbClr val="FFFFFF"/>
          </a:solidFill>
          <a:ln w="6350">
            <a:solidFill>
              <a:srgbClr val="D9DEE7"/>
            </a:solidFill>
            <a:prstDash val="solid"/>
          </a:ln>
        </p:spPr>
      </p:sp>
      <p:sp>
        <p:nvSpPr>
          <p:cNvPr id="17" name="Shape 13"/>
          <p:cNvSpPr/>
          <p:nvPr/>
        </p:nvSpPr>
        <p:spPr>
          <a:xfrm>
            <a:off x="8481060" y="5359756"/>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535975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5341468"/>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تنظیمات</a:t>
            </a:r>
            <a:endParaRPr lang="en-US" sz="1300" dirty="0"/>
          </a:p>
        </p:txBody>
      </p:sp>
      <p:sp>
        <p:nvSpPr>
          <p:cNvPr id="20" name="Text 16"/>
          <p:cNvSpPr/>
          <p:nvPr/>
        </p:nvSpPr>
        <p:spPr>
          <a:xfrm>
            <a:off x="6272784" y="5743804"/>
            <a:ext cx="2519172"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نوع گزارش، سطح، بازه و فیلترها؛ «هر بار از کاربر بپرس» برای بازه.</a:t>
            </a:r>
            <a:endParaRPr lang="en-US" sz="1150" dirty="0"/>
          </a:p>
        </p:txBody>
      </p:sp>
      <p:sp>
        <p:nvSpPr>
          <p:cNvPr id="21" name="Shape 17"/>
          <p:cNvSpPr/>
          <p:nvPr/>
        </p:nvSpPr>
        <p:spPr>
          <a:xfrm>
            <a:off x="3287268" y="5268316"/>
            <a:ext cx="2738628" cy="1086764"/>
          </a:xfrm>
          <a:prstGeom prst="roundRect">
            <a:avLst>
              <a:gd name="adj" fmla="val 6731"/>
            </a:avLst>
          </a:prstGeom>
          <a:solidFill>
            <a:srgbClr val="FFFFFF"/>
          </a:solidFill>
          <a:ln w="6350">
            <a:solidFill>
              <a:srgbClr val="D9DEE7"/>
            </a:solidFill>
            <a:prstDash val="solid"/>
          </a:ln>
        </p:spPr>
      </p:sp>
      <p:sp>
        <p:nvSpPr>
          <p:cNvPr id="22" name="Shape 18"/>
          <p:cNvSpPr/>
          <p:nvPr/>
        </p:nvSpPr>
        <p:spPr>
          <a:xfrm>
            <a:off x="5605272" y="5359756"/>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535975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5341468"/>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استفاده</a:t>
            </a:r>
            <a:endParaRPr lang="en-US" sz="1300" dirty="0"/>
          </a:p>
        </p:txBody>
      </p:sp>
      <p:sp>
        <p:nvSpPr>
          <p:cNvPr id="25" name="Text 21"/>
          <p:cNvSpPr/>
          <p:nvPr/>
        </p:nvSpPr>
        <p:spPr>
          <a:xfrm>
            <a:off x="3396996" y="5743804"/>
            <a:ext cx="2519172"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کاربر فقط اسم را می‌گوید؛ مثلاً «هزینهٔ دارو ماه قبل».</a:t>
            </a:r>
            <a:endParaRPr lang="en-US" sz="1150" dirty="0"/>
          </a:p>
        </p:txBody>
      </p:sp>
      <p:sp>
        <p:nvSpPr>
          <p:cNvPr id="26" name="Shape 22"/>
          <p:cNvSpPr/>
          <p:nvPr/>
        </p:nvSpPr>
        <p:spPr>
          <a:xfrm>
            <a:off x="411480" y="5268316"/>
            <a:ext cx="2738628" cy="1086764"/>
          </a:xfrm>
          <a:prstGeom prst="roundRect">
            <a:avLst>
              <a:gd name="adj" fmla="val 6731"/>
            </a:avLst>
          </a:prstGeom>
          <a:solidFill>
            <a:srgbClr val="FFFFFF"/>
          </a:solidFill>
          <a:ln w="6350">
            <a:solidFill>
              <a:srgbClr val="D9DEE7"/>
            </a:solidFill>
            <a:prstDash val="solid"/>
          </a:ln>
        </p:spPr>
      </p:sp>
      <p:sp>
        <p:nvSpPr>
          <p:cNvPr id="27" name="Shape 23"/>
          <p:cNvSpPr/>
          <p:nvPr/>
        </p:nvSpPr>
        <p:spPr>
          <a:xfrm>
            <a:off x="2729484" y="5359756"/>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535975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5341468"/>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دسترسی</a:t>
            </a:r>
            <a:endParaRPr lang="en-US" sz="1300" dirty="0"/>
          </a:p>
        </p:txBody>
      </p:sp>
      <p:sp>
        <p:nvSpPr>
          <p:cNvPr id="30" name="Text 26"/>
          <p:cNvSpPr/>
          <p:nvPr/>
        </p:nvSpPr>
        <p:spPr>
          <a:xfrm>
            <a:off x="521208" y="5743804"/>
            <a:ext cx="2519172" cy="55641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تعریف و تغییر فقط برای ستاد مرکزی یا نقش دارای این قابلیت.</a:t>
            </a:r>
            <a:endParaRPr lang="en-US" sz="1150" dirty="0"/>
          </a:p>
        </p:txBody>
      </p:sp>
      <p:sp>
        <p:nvSpPr>
          <p:cNvPr id="31"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۱۹۰</a:t>
            </a:r>
            <a:endParaRPr lang="en-US" sz="1000" dirty="0"/>
          </a:p>
        </p:txBody>
      </p:sp>
      <p:sp>
        <p:nvSpPr>
          <p:cNvPr id="32"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۷ — الگوهای عملیات</a:t>
            </a:r>
            <a:endParaRPr lang="en-US" sz="2500" dirty="0"/>
          </a:p>
        </p:txBody>
      </p:sp>
      <p:sp>
        <p:nvSpPr>
          <p:cNvPr id="3" name="Shape 1"/>
          <p:cNvSpPr/>
          <p:nvPr/>
        </p:nvSpPr>
        <p:spPr>
          <a:xfrm>
            <a:off x="9272016" y="896112"/>
            <a:ext cx="250545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381744" y="896112"/>
            <a:ext cx="228600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حسابیار ← الگوهای عملیات</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as_templates">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11411712" y="1371600"/>
            <a:ext cx="329184" cy="329184"/>
          </a:xfrm>
          <a:prstGeom prst="ellipse">
            <a:avLst/>
          </a:prstGeom>
          <a:solidFill>
            <a:srgbClr val="C9A227"/>
          </a:solidFill>
          <a:ln w="12700">
            <a:solidFill>
              <a:srgbClr val="C9A227"/>
            </a:solidFill>
            <a:prstDash val="solid"/>
          </a:ln>
        </p:spPr>
      </p:sp>
      <p:sp>
        <p:nvSpPr>
          <p:cNvPr id="8" name="Text 5"/>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9" name="Text 6"/>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فهرست</a:t>
            </a:r>
            <a:endParaRPr lang="en-US" sz="1350" dirty="0"/>
          </a:p>
        </p:txBody>
      </p:sp>
      <p:sp>
        <p:nvSpPr>
          <p:cNvPr id="10" name="Text 7"/>
          <p:cNvSpPr/>
          <p:nvPr/>
        </p:nvSpPr>
        <p:spPr>
          <a:xfrm>
            <a:off x="7909560" y="1700784"/>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الگو یک کار روزمره (خرید کالا، دریافت از مشتری، پرداخت حقوق…) را به یک سند استاندارد تبدیل می‌کند.</a:t>
            </a:r>
            <a:endParaRPr lang="en-US" sz="1300" dirty="0"/>
          </a:p>
        </p:txBody>
      </p:sp>
      <p:sp>
        <p:nvSpPr>
          <p:cNvPr id="11" name="Shape 8"/>
          <p:cNvSpPr/>
          <p:nvPr/>
        </p:nvSpPr>
        <p:spPr>
          <a:xfrm>
            <a:off x="11411712" y="2505913"/>
            <a:ext cx="329184" cy="329184"/>
          </a:xfrm>
          <a:prstGeom prst="ellipse">
            <a:avLst/>
          </a:prstGeom>
          <a:solidFill>
            <a:srgbClr val="C9A227"/>
          </a:solidFill>
          <a:ln w="12700">
            <a:solidFill>
              <a:srgbClr val="C9A227"/>
            </a:solidFill>
            <a:prstDash val="solid"/>
          </a:ln>
        </p:spPr>
      </p:sp>
      <p:sp>
        <p:nvSpPr>
          <p:cNvPr id="12" name="Text 9"/>
          <p:cNvSpPr/>
          <p:nvPr/>
        </p:nvSpPr>
        <p:spPr>
          <a:xfrm>
            <a:off x="11411712" y="25059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3" name="Text 10"/>
          <p:cNvSpPr/>
          <p:nvPr/>
        </p:nvSpPr>
        <p:spPr>
          <a:xfrm>
            <a:off x="7909560" y="25059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فعال/غیرفعال</a:t>
            </a:r>
            <a:endParaRPr lang="en-US" sz="1350" dirty="0"/>
          </a:p>
        </p:txBody>
      </p:sp>
      <p:sp>
        <p:nvSpPr>
          <p:cNvPr id="14" name="Text 11"/>
          <p:cNvSpPr/>
          <p:nvPr/>
        </p:nvSpPr>
        <p:spPr>
          <a:xfrm>
            <a:off x="7909560" y="28350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الگوی غیرفعال در حسابیار پیشنهاد نمی‌شود.</a:t>
            </a:r>
            <a:endParaRPr lang="en-US" sz="1300" dirty="0"/>
          </a:p>
        </p:txBody>
      </p:sp>
      <p:sp>
        <p:nvSpPr>
          <p:cNvPr id="15" name="Shape 12"/>
          <p:cNvSpPr/>
          <p:nvPr/>
        </p:nvSpPr>
        <p:spPr>
          <a:xfrm>
            <a:off x="11411712" y="3408426"/>
            <a:ext cx="329184" cy="329184"/>
          </a:xfrm>
          <a:prstGeom prst="ellipse">
            <a:avLst/>
          </a:prstGeom>
          <a:solidFill>
            <a:srgbClr val="C9A227"/>
          </a:solidFill>
          <a:ln w="12700">
            <a:solidFill>
              <a:srgbClr val="C9A227"/>
            </a:solidFill>
            <a:prstDash val="solid"/>
          </a:ln>
        </p:spPr>
      </p:sp>
      <p:sp>
        <p:nvSpPr>
          <p:cNvPr id="16" name="Text 13"/>
          <p:cNvSpPr/>
          <p:nvPr/>
        </p:nvSpPr>
        <p:spPr>
          <a:xfrm>
            <a:off x="11411712" y="34084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4"/>
          <p:cNvSpPr/>
          <p:nvPr/>
        </p:nvSpPr>
        <p:spPr>
          <a:xfrm>
            <a:off x="7909560" y="34084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دسترسی</a:t>
            </a:r>
            <a:endParaRPr lang="en-US" sz="1350" dirty="0"/>
          </a:p>
        </p:txBody>
      </p:sp>
      <p:sp>
        <p:nvSpPr>
          <p:cNvPr id="18" name="Text 15"/>
          <p:cNvSpPr/>
          <p:nvPr/>
        </p:nvSpPr>
        <p:spPr>
          <a:xfrm>
            <a:off x="7909560" y="37376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تعریف و تغییر الگو فقط برای کاربر ستاد مرکزی یا نقشی که این قابلیت را دارد.</a:t>
            </a:r>
            <a:endParaRPr lang="en-US" sz="1300" dirty="0"/>
          </a:p>
        </p:txBody>
      </p:sp>
      <p:sp>
        <p:nvSpPr>
          <p:cNvPr id="19" name="Text 1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۱۹۱</a:t>
            </a:r>
            <a:endParaRPr lang="en-US" sz="1000" dirty="0"/>
          </a:p>
        </p:txBody>
      </p:sp>
      <p:sp>
        <p:nvSpPr>
          <p:cNvPr id="20" name="Text 1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طراحی و آزمایش الگو</a:t>
            </a:r>
            <a:endParaRPr lang="en-US" sz="2500" dirty="0"/>
          </a:p>
        </p:txBody>
      </p:sp>
      <p:sp>
        <p:nvSpPr>
          <p:cNvPr id="3" name="Text 1"/>
          <p:cNvSpPr/>
          <p:nvPr/>
        </p:nvSpPr>
        <p:spPr>
          <a:xfrm>
            <a:off x="6208776"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ویرایش الگو</a:t>
            </a:r>
            <a:endParaRPr lang="en-US" sz="1200" dirty="0"/>
          </a:p>
        </p:txBody>
      </p:sp>
      <p:sp>
        <p:nvSpPr>
          <p:cNvPr id="4" name="Shape 2"/>
          <p:cNvSpPr/>
          <p:nvPr/>
        </p:nvSpPr>
        <p:spPr>
          <a:xfrm>
            <a:off x="6208776" y="1435608"/>
            <a:ext cx="5568696" cy="3444773"/>
          </a:xfrm>
          <a:prstGeom prst="roundRect">
            <a:avLst>
              <a:gd name="adj" fmla="val 212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5" name="Image 0" descr="as_designer">    </p:cNvPr>
          <p:cNvPicPr>
            <a:picLocks noChangeAspect="1"/>
          </p:cNvPicPr>
          <p:nvPr/>
        </p:nvPicPr>
        <p:blipFill>
          <a:blip r:embed="rId1"/>
          <a:stretch>
            <a:fillRect/>
          </a:stretch>
        </p:blipFill>
        <p:spPr>
          <a:xfrm>
            <a:off x="6727358" y="1481328"/>
            <a:ext cx="4531532" cy="3353333"/>
          </a:xfrm>
          <a:prstGeom prst="rect">
            <a:avLst/>
          </a:prstGeom>
        </p:spPr>
      </p:pic>
      <p:sp>
        <p:nvSpPr>
          <p:cNvPr id="6" name="Text 3"/>
          <p:cNvSpPr/>
          <p:nvPr/>
        </p:nvSpPr>
        <p:spPr>
          <a:xfrm>
            <a:off x="411480"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آزمایش الگو با یک جملهٔ نمونه</a:t>
            </a:r>
            <a:endParaRPr lang="en-US" sz="1200" dirty="0"/>
          </a:p>
        </p:txBody>
      </p:sp>
      <p:sp>
        <p:nvSpPr>
          <p:cNvPr id="7" name="Shape 4"/>
          <p:cNvSpPr/>
          <p:nvPr/>
        </p:nvSpPr>
        <p:spPr>
          <a:xfrm>
            <a:off x="411480" y="1435608"/>
            <a:ext cx="5568696" cy="3444773"/>
          </a:xfrm>
          <a:prstGeom prst="roundRect">
            <a:avLst>
              <a:gd name="adj" fmla="val 212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8" name="Image 1" descr="as_test">    </p:cNvPr>
          <p:cNvPicPr>
            <a:picLocks noChangeAspect="1"/>
          </p:cNvPicPr>
          <p:nvPr/>
        </p:nvPicPr>
        <p:blipFill>
          <a:blip r:embed="rId2"/>
          <a:stretch>
            <a:fillRect/>
          </a:stretch>
        </p:blipFill>
        <p:spPr>
          <a:xfrm>
            <a:off x="457200" y="2159917"/>
            <a:ext cx="5477256" cy="1996156"/>
          </a:xfrm>
          <a:prstGeom prst="rect">
            <a:avLst/>
          </a:prstGeom>
        </p:spPr>
      </p:pic>
      <p:sp>
        <p:nvSpPr>
          <p:cNvPr id="9" name="Shape 5"/>
          <p:cNvSpPr/>
          <p:nvPr/>
        </p:nvSpPr>
        <p:spPr>
          <a:xfrm>
            <a:off x="9614002" y="5063261"/>
            <a:ext cx="2163470" cy="1291819"/>
          </a:xfrm>
          <a:prstGeom prst="roundRect">
            <a:avLst>
              <a:gd name="adj" fmla="val 5663"/>
            </a:avLst>
          </a:prstGeom>
          <a:solidFill>
            <a:srgbClr val="FFFFFF"/>
          </a:solidFill>
          <a:ln w="6350">
            <a:solidFill>
              <a:srgbClr val="D9DEE7"/>
            </a:solidFill>
            <a:prstDash val="solid"/>
          </a:ln>
        </p:spPr>
      </p:sp>
      <p:sp>
        <p:nvSpPr>
          <p:cNvPr id="10" name="Shape 6"/>
          <p:cNvSpPr/>
          <p:nvPr/>
        </p:nvSpPr>
        <p:spPr>
          <a:xfrm>
            <a:off x="11356848" y="5154701"/>
            <a:ext cx="329184" cy="329184"/>
          </a:xfrm>
          <a:prstGeom prst="ellipse">
            <a:avLst/>
          </a:prstGeom>
          <a:solidFill>
            <a:srgbClr val="C9A227"/>
          </a:solidFill>
          <a:ln w="12700">
            <a:solidFill>
              <a:srgbClr val="C9A227"/>
            </a:solidFill>
            <a:prstDash val="solid"/>
          </a:ln>
        </p:spPr>
      </p:sp>
      <p:sp>
        <p:nvSpPr>
          <p:cNvPr id="11" name="Text 7"/>
          <p:cNvSpPr/>
          <p:nvPr/>
        </p:nvSpPr>
        <p:spPr>
          <a:xfrm>
            <a:off x="11356848" y="515470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8"/>
          <p:cNvSpPr/>
          <p:nvPr/>
        </p:nvSpPr>
        <p:spPr>
          <a:xfrm>
            <a:off x="9705442" y="5136413"/>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عملیات چیست؟</a:t>
            </a:r>
            <a:endParaRPr lang="en-US" sz="1300" dirty="0"/>
          </a:p>
        </p:txBody>
      </p:sp>
      <p:sp>
        <p:nvSpPr>
          <p:cNvPr id="13" name="Text 9"/>
          <p:cNvSpPr/>
          <p:nvPr/>
        </p:nvSpPr>
        <p:spPr>
          <a:xfrm>
            <a:off x="9723730" y="5538749"/>
            <a:ext cx="1944014"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عنوان، کد، نوع و جمله‌های نمونه و کلمه‌های کلیدی برای تشخیص.</a:t>
            </a:r>
            <a:endParaRPr lang="en-US" sz="1150" dirty="0"/>
          </a:p>
        </p:txBody>
      </p:sp>
      <p:sp>
        <p:nvSpPr>
          <p:cNvPr id="14" name="Shape 10"/>
          <p:cNvSpPr/>
          <p:nvPr/>
        </p:nvSpPr>
        <p:spPr>
          <a:xfrm>
            <a:off x="7313371" y="5063261"/>
            <a:ext cx="2163470" cy="1291819"/>
          </a:xfrm>
          <a:prstGeom prst="roundRect">
            <a:avLst>
              <a:gd name="adj" fmla="val 5663"/>
            </a:avLst>
          </a:prstGeom>
          <a:solidFill>
            <a:srgbClr val="FFFFFF"/>
          </a:solidFill>
          <a:ln w="6350">
            <a:solidFill>
              <a:srgbClr val="D9DEE7"/>
            </a:solidFill>
            <a:prstDash val="solid"/>
          </a:ln>
        </p:spPr>
      </p:sp>
      <p:sp>
        <p:nvSpPr>
          <p:cNvPr id="15" name="Shape 11"/>
          <p:cNvSpPr/>
          <p:nvPr/>
        </p:nvSpPr>
        <p:spPr>
          <a:xfrm>
            <a:off x="9056218" y="5154701"/>
            <a:ext cx="329184" cy="329184"/>
          </a:xfrm>
          <a:prstGeom prst="ellipse">
            <a:avLst/>
          </a:prstGeom>
          <a:solidFill>
            <a:srgbClr val="C9A227"/>
          </a:solidFill>
          <a:ln w="12700">
            <a:solidFill>
              <a:srgbClr val="C9A227"/>
            </a:solidFill>
            <a:prstDash val="solid"/>
          </a:ln>
        </p:spPr>
      </p:sp>
      <p:sp>
        <p:nvSpPr>
          <p:cNvPr id="16" name="Text 12"/>
          <p:cNvSpPr/>
          <p:nvPr/>
        </p:nvSpPr>
        <p:spPr>
          <a:xfrm>
            <a:off x="9056218" y="515470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7" name="Text 13"/>
          <p:cNvSpPr/>
          <p:nvPr/>
        </p:nvSpPr>
        <p:spPr>
          <a:xfrm>
            <a:off x="7404811" y="5136413"/>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سؤال‌ها</a:t>
            </a:r>
            <a:endParaRPr lang="en-US" sz="1300" dirty="0"/>
          </a:p>
        </p:txBody>
      </p:sp>
      <p:sp>
        <p:nvSpPr>
          <p:cNvPr id="18" name="Text 14"/>
          <p:cNvSpPr/>
          <p:nvPr/>
        </p:nvSpPr>
        <p:spPr>
          <a:xfrm>
            <a:off x="7423099" y="5538749"/>
            <a:ext cx="1944014"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از کاربر چه بپرسد: مبلغ، تاریخ، حساب بانکی، بابت.</a:t>
            </a:r>
            <a:endParaRPr lang="en-US" sz="1150" dirty="0"/>
          </a:p>
        </p:txBody>
      </p:sp>
      <p:sp>
        <p:nvSpPr>
          <p:cNvPr id="19" name="Shape 15"/>
          <p:cNvSpPr/>
          <p:nvPr/>
        </p:nvSpPr>
        <p:spPr>
          <a:xfrm>
            <a:off x="5012741" y="5063261"/>
            <a:ext cx="2163470" cy="1291819"/>
          </a:xfrm>
          <a:prstGeom prst="roundRect">
            <a:avLst>
              <a:gd name="adj" fmla="val 5663"/>
            </a:avLst>
          </a:prstGeom>
          <a:solidFill>
            <a:srgbClr val="FFFFFF"/>
          </a:solidFill>
          <a:ln w="6350">
            <a:solidFill>
              <a:srgbClr val="D9DEE7"/>
            </a:solidFill>
            <a:prstDash val="solid"/>
          </a:ln>
        </p:spPr>
      </p:sp>
      <p:sp>
        <p:nvSpPr>
          <p:cNvPr id="20" name="Shape 16"/>
          <p:cNvSpPr/>
          <p:nvPr/>
        </p:nvSpPr>
        <p:spPr>
          <a:xfrm>
            <a:off x="6755587" y="5154701"/>
            <a:ext cx="329184" cy="329184"/>
          </a:xfrm>
          <a:prstGeom prst="ellipse">
            <a:avLst/>
          </a:prstGeom>
          <a:solidFill>
            <a:srgbClr val="C9A227"/>
          </a:solidFill>
          <a:ln w="12700">
            <a:solidFill>
              <a:srgbClr val="C9A227"/>
            </a:solidFill>
            <a:prstDash val="solid"/>
          </a:ln>
        </p:spPr>
      </p:sp>
      <p:sp>
        <p:nvSpPr>
          <p:cNvPr id="21" name="Text 17"/>
          <p:cNvSpPr/>
          <p:nvPr/>
        </p:nvSpPr>
        <p:spPr>
          <a:xfrm>
            <a:off x="6755587" y="515470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2" name="Text 18"/>
          <p:cNvSpPr/>
          <p:nvPr/>
        </p:nvSpPr>
        <p:spPr>
          <a:xfrm>
            <a:off x="5104181" y="5136413"/>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سند</a:t>
            </a:r>
            <a:endParaRPr lang="en-US" sz="1300" dirty="0"/>
          </a:p>
        </p:txBody>
      </p:sp>
      <p:sp>
        <p:nvSpPr>
          <p:cNvPr id="23" name="Text 19"/>
          <p:cNvSpPr/>
          <p:nvPr/>
        </p:nvSpPr>
        <p:spPr>
          <a:xfrm>
            <a:off x="5122469" y="5538749"/>
            <a:ext cx="1944014"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ردیف‌های بدهکار و بستانکار و تفصیلی هر ردیف؛ سقف مبلغ و پیوست الزامی.</a:t>
            </a:r>
            <a:endParaRPr lang="en-US" sz="1150" dirty="0"/>
          </a:p>
        </p:txBody>
      </p:sp>
      <p:sp>
        <p:nvSpPr>
          <p:cNvPr id="24" name="Shape 20"/>
          <p:cNvSpPr/>
          <p:nvPr/>
        </p:nvSpPr>
        <p:spPr>
          <a:xfrm>
            <a:off x="2712110" y="5063261"/>
            <a:ext cx="2163470" cy="1291819"/>
          </a:xfrm>
          <a:prstGeom prst="roundRect">
            <a:avLst>
              <a:gd name="adj" fmla="val 5663"/>
            </a:avLst>
          </a:prstGeom>
          <a:solidFill>
            <a:srgbClr val="FFFFFF"/>
          </a:solidFill>
          <a:ln w="6350">
            <a:solidFill>
              <a:srgbClr val="D9DEE7"/>
            </a:solidFill>
            <a:prstDash val="solid"/>
          </a:ln>
        </p:spPr>
      </p:sp>
      <p:sp>
        <p:nvSpPr>
          <p:cNvPr id="25" name="Shape 21"/>
          <p:cNvSpPr/>
          <p:nvPr/>
        </p:nvSpPr>
        <p:spPr>
          <a:xfrm>
            <a:off x="4454957" y="5154701"/>
            <a:ext cx="329184" cy="329184"/>
          </a:xfrm>
          <a:prstGeom prst="ellipse">
            <a:avLst/>
          </a:prstGeom>
          <a:solidFill>
            <a:srgbClr val="C9A227"/>
          </a:solidFill>
          <a:ln w="12700">
            <a:solidFill>
              <a:srgbClr val="C9A227"/>
            </a:solidFill>
            <a:prstDash val="solid"/>
          </a:ln>
        </p:spPr>
      </p:sp>
      <p:sp>
        <p:nvSpPr>
          <p:cNvPr id="26" name="Text 22"/>
          <p:cNvSpPr/>
          <p:nvPr/>
        </p:nvSpPr>
        <p:spPr>
          <a:xfrm>
            <a:off x="4454957" y="515470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7" name="Text 23"/>
          <p:cNvSpPr/>
          <p:nvPr/>
        </p:nvSpPr>
        <p:spPr>
          <a:xfrm>
            <a:off x="2803550" y="5136413"/>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تعهدی</a:t>
            </a:r>
            <a:endParaRPr lang="en-US" sz="1300" dirty="0"/>
          </a:p>
        </p:txBody>
      </p:sp>
      <p:sp>
        <p:nvSpPr>
          <p:cNvPr id="28" name="Text 24"/>
          <p:cNvSpPr/>
          <p:nvPr/>
        </p:nvSpPr>
        <p:spPr>
          <a:xfrm>
            <a:off x="2821838" y="5538749"/>
            <a:ext cx="1944014"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برگشت خودکار ماه بعد یا تقسیم روی چند ماه (فصل حسابداری تعهدی).</a:t>
            </a:r>
            <a:endParaRPr lang="en-US" sz="1150" dirty="0"/>
          </a:p>
        </p:txBody>
      </p:sp>
      <p:sp>
        <p:nvSpPr>
          <p:cNvPr id="29" name="Shape 25"/>
          <p:cNvSpPr/>
          <p:nvPr/>
        </p:nvSpPr>
        <p:spPr>
          <a:xfrm>
            <a:off x="411480" y="5063261"/>
            <a:ext cx="2163470" cy="1291819"/>
          </a:xfrm>
          <a:prstGeom prst="roundRect">
            <a:avLst>
              <a:gd name="adj" fmla="val 5663"/>
            </a:avLst>
          </a:prstGeom>
          <a:solidFill>
            <a:srgbClr val="FFFFFF"/>
          </a:solidFill>
          <a:ln w="6350">
            <a:solidFill>
              <a:srgbClr val="D9DEE7"/>
            </a:solidFill>
            <a:prstDash val="solid"/>
          </a:ln>
        </p:spPr>
      </p:sp>
      <p:sp>
        <p:nvSpPr>
          <p:cNvPr id="30" name="Shape 26"/>
          <p:cNvSpPr/>
          <p:nvPr/>
        </p:nvSpPr>
        <p:spPr>
          <a:xfrm>
            <a:off x="2154326" y="5154701"/>
            <a:ext cx="329184" cy="329184"/>
          </a:xfrm>
          <a:prstGeom prst="ellipse">
            <a:avLst/>
          </a:prstGeom>
          <a:solidFill>
            <a:srgbClr val="C9A227"/>
          </a:solidFill>
          <a:ln w="12700">
            <a:solidFill>
              <a:srgbClr val="C9A227"/>
            </a:solidFill>
            <a:prstDash val="solid"/>
          </a:ln>
        </p:spPr>
      </p:sp>
      <p:sp>
        <p:nvSpPr>
          <p:cNvPr id="31" name="Text 27"/>
          <p:cNvSpPr/>
          <p:nvPr/>
        </p:nvSpPr>
        <p:spPr>
          <a:xfrm>
            <a:off x="2154326" y="515470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32" name="Text 28"/>
          <p:cNvSpPr/>
          <p:nvPr/>
        </p:nvSpPr>
        <p:spPr>
          <a:xfrm>
            <a:off x="502920" y="5136413"/>
            <a:ext cx="1596542"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آزمایش</a:t>
            </a:r>
            <a:endParaRPr lang="en-US" sz="1300" dirty="0"/>
          </a:p>
        </p:txBody>
      </p:sp>
      <p:sp>
        <p:nvSpPr>
          <p:cNvPr id="33" name="Text 29"/>
          <p:cNvSpPr/>
          <p:nvPr/>
        </p:nvSpPr>
        <p:spPr>
          <a:xfrm>
            <a:off x="521208" y="5538749"/>
            <a:ext cx="1944014"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با یک جمله امتحان کنید که درست تشخیص و سند درست ساخته شود.</a:t>
            </a:r>
            <a:endParaRPr lang="en-US" sz="11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۱۹۲</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کشف الگو از اسناد گذشته</a:t>
            </a:r>
            <a:endParaRPr lang="en-US" sz="2500" dirty="0"/>
          </a:p>
        </p:txBody>
      </p:sp>
      <p:sp>
        <p:nvSpPr>
          <p:cNvPr id="3" name="Shape 1"/>
          <p:cNvSpPr/>
          <p:nvPr/>
        </p:nvSpPr>
        <p:spPr>
          <a:xfrm>
            <a:off x="8572500" y="896112"/>
            <a:ext cx="320497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682228" y="896112"/>
            <a:ext cx="298551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حسابیار ← کشف الگو از اسناد گذشته</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as_discover">    </p:cNvPr>
          <p:cNvPicPr>
            <a:picLocks noChangeAspect="1"/>
          </p:cNvPicPr>
          <p:nvPr/>
        </p:nvPicPr>
        <p:blipFill>
          <a:blip r:embed="rId1"/>
          <a:stretch>
            <a:fillRect/>
          </a:stretch>
        </p:blipFill>
        <p:spPr>
          <a:xfrm>
            <a:off x="724106" y="1399032"/>
            <a:ext cx="6598508" cy="4882896"/>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۲۱۴ سند «پرداخت قبض برق» در ۷ واحد پیدا شد ⇐ تبدیل به الگو تا از این به بعد با یک جمله ثبت شود.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بازسازی</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حسابیار اسناد سال‌های انتخابی را بررسی می‌کند و کارهای تکراری را پیدا می‌کند.</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پیشنهاد</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برای هر کار تکراری: حساب‌ها، سمت، سهم و تعداد سندها و واحدها.</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فیلتر</a:t>
            </a:r>
            <a:endParaRPr lang="en-US" sz="1350" dirty="0"/>
          </a:p>
        </p:txBody>
      </p:sp>
      <p:sp>
        <p:nvSpPr>
          <p:cNvPr id="21" name="Text 18"/>
          <p:cNvSpPr/>
          <p:nvPr/>
        </p:nvSpPr>
        <p:spPr>
          <a:xfrm>
            <a:off x="7909560" y="350581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«فقط بدون الگو» کارهایی را نشان می‌دهد که هنوز الگو ندارند.</a:t>
            </a:r>
            <a:endParaRPr lang="en-US" sz="1300" dirty="0"/>
          </a:p>
        </p:txBody>
      </p:sp>
      <p:sp>
        <p:nvSpPr>
          <p:cNvPr id="22" name="Shape 19"/>
          <p:cNvSpPr/>
          <p:nvPr/>
        </p:nvSpPr>
        <p:spPr>
          <a:xfrm>
            <a:off x="11411712" y="4079138"/>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791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791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تبدیل</a:t>
            </a:r>
            <a:endParaRPr lang="en-US" sz="1350" dirty="0"/>
          </a:p>
        </p:txBody>
      </p:sp>
      <p:sp>
        <p:nvSpPr>
          <p:cNvPr id="25" name="Text 22"/>
          <p:cNvSpPr/>
          <p:nvPr/>
        </p:nvSpPr>
        <p:spPr>
          <a:xfrm>
            <a:off x="7909560" y="4408322"/>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مدیر ستاد پیشنهاد را به الگوی تازه تبدیل یا حذف می‌کند.</a:t>
            </a:r>
            <a:endParaRPr lang="en-US" sz="13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۱۹۳</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پرسش‌های رایج حسابیار</a:t>
            </a:r>
            <a:endParaRPr lang="en-US" sz="2500" dirty="0"/>
          </a:p>
        </p:txBody>
      </p:sp>
      <p:graphicFrame>
        <p:nvGraphicFramePr>
          <p:cNvPr id="195"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11365992" cy="914400"/>
        </p:xfrm>
        <a:graphic>
          <a:graphicData uri="http://schemas.openxmlformats.org/drawingml/2006/table">
            <a:tbl>
              <a:tblPr rtl="1"/>
              <a:tblGrid>
                <a:gridCol w="4389120"/>
                <a:gridCol w="6976872"/>
              </a:tblGrid>
              <a:tr h="502920">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پیام یا مشکل</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چه باید کرد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حسابیار عملیات را اشتباه تشخیص داد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«عملیات دیگری است» را بزنید یا جمله را دقیق‌تر بنویسید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مبلغ اشتباه خوانده شد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«مبلغ را اصلاح کن» یا آیکون مداد کنار همان جواب</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کنترل «مدرک هنوز پیوست نشده»</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با «پیوست مدرک» تصویر قبض یا فاکتور را اضافه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ثبت‌کنندهٔ این سند شما هستید…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تأیید را حسابدار دیگری انجام دهد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سطر اکسل ثبت نشد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خطای همان سطر را در اکسل اصلاح و فایل را دوباره بارگذاری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الگوی کار من نیست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از مدیر ستاد بخواهید الگو را تعریف یا از «کشف الگو» بسازد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bl>
          </a:graphicData>
        </a:graphic>
      </p:graphicFrame>
      <p:sp>
        <p:nvSpPr>
          <p:cNvPr id="4" name="Text 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۱۹۴</a:t>
            </a:r>
            <a:endParaRPr lang="en-US" sz="1000" dirty="0"/>
          </a:p>
        </p:txBody>
      </p:sp>
      <p:sp>
        <p:nvSpPr>
          <p:cNvPr id="5" name="Text 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حسابیار</a:t>
            </a:r>
            <a:endParaRPr lang="en-US" sz="10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sp>
        <p:nvSpPr>
          <p:cNvPr id="2" name="Shape 0"/>
          <p:cNvSpPr/>
          <p:nvPr/>
        </p:nvSpPr>
        <p:spPr>
          <a:xfrm>
            <a:off x="640080" y="457200"/>
            <a:ext cx="3840480" cy="5943600"/>
          </a:xfrm>
          <a:prstGeom prst="roundRect">
            <a:avLst>
              <a:gd name="adj" fmla="val 190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3" name="Image 0" descr="menu_fs">    </p:cNvPr>
          <p:cNvPicPr>
            <a:picLocks noChangeAspect="1"/>
          </p:cNvPicPr>
          <p:nvPr/>
        </p:nvPicPr>
        <p:blipFill>
          <a:blip r:embed="rId1"/>
          <a:stretch>
            <a:fillRect/>
          </a:stretch>
        </p:blipFill>
        <p:spPr>
          <a:xfrm>
            <a:off x="1564293" y="512064"/>
            <a:ext cx="1992054" cy="5833872"/>
          </a:xfrm>
          <a:prstGeom prst="rect">
            <a:avLst/>
          </a:prstGeom>
        </p:spPr>
      </p:pic>
      <p:sp>
        <p:nvSpPr>
          <p:cNvPr id="4" name="Shape 1"/>
          <p:cNvSpPr/>
          <p:nvPr/>
        </p:nvSpPr>
        <p:spPr>
          <a:xfrm>
            <a:off x="10515600" y="1188720"/>
            <a:ext cx="1234440" cy="1234440"/>
          </a:xfrm>
          <a:prstGeom prst="ellipse">
            <a:avLst/>
          </a:prstGeom>
          <a:solidFill>
            <a:srgbClr val="C9A227"/>
          </a:solidFill>
          <a:ln w="12700">
            <a:solidFill>
              <a:srgbClr val="C9A227"/>
            </a:solidFill>
            <a:prstDash val="solid"/>
          </a:ln>
        </p:spPr>
      </p:sp>
      <p:sp>
        <p:nvSpPr>
          <p:cNvPr id="5" name="Text 2"/>
          <p:cNvSpPr/>
          <p:nvPr/>
        </p:nvSpPr>
        <p:spPr>
          <a:xfrm>
            <a:off x="10515600" y="1188720"/>
            <a:ext cx="1234440" cy="1234440"/>
          </a:xfrm>
          <a:prstGeom prst="rect">
            <a:avLst/>
          </a:prstGeom>
          <a:noFill/>
          <a:ln/>
        </p:spPr>
        <p:txBody>
          <a:bodyPr wrap="square" lIns="0" tIns="0" rIns="0" bIns="0" rtlCol="0" anchor="ctr"/>
          <a:lstStyle/>
          <a:p>
            <a:pPr rtl="1" algn="ctr" indent="0" marL="0">
              <a:buNone/>
            </a:pPr>
            <a:r>
              <a:rPr lang="en-US" sz="4000" b="1" dirty="0">
                <a:solidFill>
                  <a:srgbClr val="1B2A49"/>
                </a:solidFill>
                <a:latin typeface="Tahoma" pitchFamily="34" charset="0"/>
                <a:ea typeface="Tahoma" pitchFamily="34" charset="-122"/>
                <a:cs typeface="Tahoma" pitchFamily="34" charset="-120"/>
              </a:rPr>
              <a:t>۱۱</a:t>
            </a:r>
            <a:endParaRPr lang="en-US" sz="4000" dirty="0"/>
          </a:p>
        </p:txBody>
      </p:sp>
      <p:sp>
        <p:nvSpPr>
          <p:cNvPr id="6" name="Text 3"/>
          <p:cNvSpPr/>
          <p:nvPr/>
        </p:nvSpPr>
        <p:spPr>
          <a:xfrm>
            <a:off x="5120640" y="2651760"/>
            <a:ext cx="6629400" cy="457200"/>
          </a:xfrm>
          <a:prstGeom prst="rect">
            <a:avLst/>
          </a:prstGeom>
          <a:noFill/>
          <a:ln/>
        </p:spPr>
        <p:txBody>
          <a:bodyPr wrap="square" lIns="0" tIns="0" rIns="0" bIns="0" rtlCol="0" anchor="ctr"/>
          <a:lstStyle/>
          <a:p>
            <a:pPr rtl="1" algn="r" indent="0" marL="0">
              <a:buNone/>
            </a:pPr>
            <a:r>
              <a:rPr lang="en-US" sz="1800" b="1" dirty="0">
                <a:solidFill>
                  <a:srgbClr val="C9A227"/>
                </a:solidFill>
                <a:latin typeface="Tahoma" pitchFamily="34" charset="0"/>
                <a:ea typeface="Tahoma" pitchFamily="34" charset="-122"/>
                <a:cs typeface="Tahoma" pitchFamily="34" charset="-120"/>
              </a:rPr>
              <a:t>بخش ۱۱</a:t>
            </a:r>
            <a:endParaRPr lang="en-US" sz="1800" dirty="0"/>
          </a:p>
        </p:txBody>
      </p:sp>
      <p:sp>
        <p:nvSpPr>
          <p:cNvPr id="7" name="Text 4"/>
          <p:cNvSpPr/>
          <p:nvPr/>
        </p:nvSpPr>
        <p:spPr>
          <a:xfrm>
            <a:off x="5120640" y="3108960"/>
            <a:ext cx="6629400" cy="1005840"/>
          </a:xfrm>
          <a:prstGeom prst="rect">
            <a:avLst/>
          </a:prstGeom>
          <a:noFill/>
          <a:ln/>
        </p:spPr>
        <p:txBody>
          <a:bodyPr wrap="square" lIns="0" tIns="0" rIns="0" bIns="0" rtlCol="0" anchor="ctr"/>
          <a:lstStyle/>
          <a:p>
            <a:pPr rtl="1" algn="r" indent="0" marL="0">
              <a:buNone/>
            </a:pPr>
            <a:r>
              <a:rPr lang="en-US" sz="3600" b="1" dirty="0">
                <a:solidFill>
                  <a:srgbClr val="FFFFFF"/>
                </a:solidFill>
                <a:latin typeface="Tahoma" pitchFamily="34" charset="0"/>
                <a:ea typeface="Tahoma" pitchFamily="34" charset="-122"/>
                <a:cs typeface="Tahoma" pitchFamily="34" charset="-120"/>
              </a:rPr>
              <a:t>صورت‌های مالی</a:t>
            </a:r>
            <a:endParaRPr lang="en-US" sz="3600" dirty="0"/>
          </a:p>
        </p:txBody>
      </p:sp>
      <p:sp>
        <p:nvSpPr>
          <p:cNvPr id="8" name="Text 5"/>
          <p:cNvSpPr/>
          <p:nvPr/>
        </p:nvSpPr>
        <p:spPr>
          <a:xfrm>
            <a:off x="5120640" y="4206240"/>
            <a:ext cx="6629400" cy="1463040"/>
          </a:xfrm>
          <a:prstGeom prst="rect">
            <a:avLst/>
          </a:prstGeom>
          <a:noFill/>
          <a:ln/>
        </p:spPr>
        <p:txBody>
          <a:bodyPr wrap="square" lIns="0" tIns="0" rIns="0" bIns="0" rtlCol="0" anchor="t"/>
          <a:lstStyle/>
          <a:p>
            <a:pPr rtl="1" algn="r" indent="0" marL="0">
              <a:buNone/>
            </a:pPr>
            <a:r>
              <a:rPr lang="en-US" sz="1600" dirty="0">
                <a:solidFill>
                  <a:srgbClr val="C9D3E6"/>
                </a:solidFill>
                <a:latin typeface="Tahoma" pitchFamily="34" charset="0"/>
                <a:ea typeface="Tahoma" pitchFamily="34" charset="-122"/>
                <a:cs typeface="Tahoma" pitchFamily="34" charset="-120"/>
              </a:rPr>
              <a:t>صورت‌ها یعنی چه؛ مسیر کوتاه دیدن و چاپ صورت‌ها؛ سپس قالب و نگاشت، کنترل و یادداشت‌ها، تأیید مرحله‌ای، بستن دوره، تحلیل و تلفیق</a:t>
            </a:r>
            <a:endParaRPr lang="en-US" sz="1600" dirty="0"/>
          </a:p>
        </p:txBody>
      </p:sp>
      <p:sp>
        <p:nvSpPr>
          <p:cNvPr id="9" name="Text 6"/>
          <p:cNvSpPr/>
          <p:nvPr/>
        </p:nvSpPr>
        <p:spPr>
          <a:xfrm>
            <a:off x="640080" y="6446520"/>
            <a:ext cx="3840480" cy="274320"/>
          </a:xfrm>
          <a:prstGeom prst="rect">
            <a:avLst/>
          </a:prstGeom>
          <a:noFill/>
          <a:ln/>
        </p:spPr>
        <p:txBody>
          <a:bodyPr wrap="square" lIns="0" tIns="0" rIns="0" bIns="0" rtlCol="0" anchor="ctr"/>
          <a:lstStyle/>
          <a:p>
            <a:pPr rtl="1" algn="ctr" indent="0" marL="0">
              <a:buNone/>
            </a:pPr>
            <a:r>
              <a:rPr lang="en-US" sz="1000" dirty="0">
                <a:solidFill>
                  <a:srgbClr val="A9B4C8"/>
                </a:solidFill>
                <a:latin typeface="Tahoma" pitchFamily="34" charset="0"/>
                <a:ea typeface="Tahoma" pitchFamily="34" charset="-122"/>
                <a:cs typeface="Tahoma" pitchFamily="34" charset="-120"/>
              </a:rPr>
              <a:t>تصویر: گروه منوی این بخش در نوار کناری</a:t>
            </a:r>
            <a:endParaRPr lang="en-US" sz="10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صورت‌های مالی یعنی چه؟</a:t>
            </a:r>
            <a:endParaRPr lang="en-US" sz="2500" dirty="0"/>
          </a:p>
        </p:txBody>
      </p:sp>
      <p:sp>
        <p:nvSpPr>
          <p:cNvPr id="3" name="Shape 1"/>
          <p:cNvSpPr/>
          <p:nvPr/>
        </p:nvSpPr>
        <p:spPr>
          <a:xfrm>
            <a:off x="11731752" y="1097280"/>
            <a:ext cx="45720" cy="1242670"/>
          </a:xfrm>
          <a:prstGeom prst="rect">
            <a:avLst/>
          </a:prstGeom>
          <a:solidFill>
            <a:srgbClr val="C9A227"/>
          </a:solidFill>
          <a:ln w="12700">
            <a:solidFill>
              <a:srgbClr val="C9A227"/>
            </a:solidFill>
            <a:prstDash val="solid"/>
          </a:ln>
        </p:spPr>
      </p:sp>
      <p:sp>
        <p:nvSpPr>
          <p:cNvPr id="4" name="Text 2"/>
          <p:cNvSpPr/>
          <p:nvPr/>
        </p:nvSpPr>
        <p:spPr>
          <a:xfrm>
            <a:off x="5440680" y="1097280"/>
            <a:ext cx="6153912" cy="1242670"/>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صورت‌های مالی چند گزارش رسمی و استاندارد است که در پایان دوره، خلاصهٔ همهٔ اسناد حسابداری را به زبان مدیران، حسابرس و نهادهای ناظر می‌گوید: چه داریم، چه بدهکاریم، امسال چه شد و پول نقد از کجا آمد و کجا رفت.</a:t>
            </a:r>
            <a:endParaRPr lang="en-US" sz="1550" dirty="0"/>
          </a:p>
        </p:txBody>
      </p:sp>
      <p:sp>
        <p:nvSpPr>
          <p:cNvPr id="5" name="Shape 3"/>
          <p:cNvSpPr/>
          <p:nvPr/>
        </p:nvSpPr>
        <p:spPr>
          <a:xfrm>
            <a:off x="11411712" y="2568550"/>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5685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568550"/>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صورت وضعیت مالی / خالص دارایی‌ها</a:t>
            </a:r>
            <a:endParaRPr lang="en-US" sz="1350" dirty="0"/>
          </a:p>
        </p:txBody>
      </p:sp>
      <p:sp>
        <p:nvSpPr>
          <p:cNvPr id="8" name="Text 6"/>
          <p:cNvSpPr/>
          <p:nvPr/>
        </p:nvSpPr>
        <p:spPr>
          <a:xfrm>
            <a:off x="5440680" y="2897734"/>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عکس یک لحظه (مثلاً پایان اسفند): دارایی‌ها منهای بدهی‌ها. در طرح بیمه‌ای «صورت خالص دارایی‌های طرح» نام دارد.</a:t>
            </a:r>
            <a:endParaRPr lang="en-US" sz="1300" dirty="0"/>
          </a:p>
        </p:txBody>
      </p:sp>
      <p:sp>
        <p:nvSpPr>
          <p:cNvPr id="9" name="Shape 7"/>
          <p:cNvSpPr/>
          <p:nvPr/>
        </p:nvSpPr>
        <p:spPr>
          <a:xfrm>
            <a:off x="11411712" y="3471062"/>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47106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47106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صورت سود و زیان / تغییرات</a:t>
            </a:r>
            <a:endParaRPr lang="en-US" sz="1350" dirty="0"/>
          </a:p>
        </p:txBody>
      </p:sp>
      <p:sp>
        <p:nvSpPr>
          <p:cNvPr id="12" name="Text 10"/>
          <p:cNvSpPr/>
          <p:nvPr/>
        </p:nvSpPr>
        <p:spPr>
          <a:xfrm>
            <a:off x="5440680" y="380024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فیلم یک دوره: درآمدها منهای هزینه‌ها. در طرح بیمه‌ای «صورت تغییرات در خالص دارایی‌ها».</a:t>
            </a:r>
            <a:endParaRPr lang="en-US" sz="1300" dirty="0"/>
          </a:p>
        </p:txBody>
      </p:sp>
      <p:sp>
        <p:nvSpPr>
          <p:cNvPr id="13" name="Shape 11"/>
          <p:cNvSpPr/>
          <p:nvPr/>
        </p:nvSpPr>
        <p:spPr>
          <a:xfrm>
            <a:off x="11411712" y="4373575"/>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37357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37357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صورت جریان وجوه نقد</a:t>
            </a:r>
            <a:endParaRPr lang="en-US" sz="1350" dirty="0"/>
          </a:p>
        </p:txBody>
      </p:sp>
      <p:sp>
        <p:nvSpPr>
          <p:cNvPr id="16" name="Text 14"/>
          <p:cNvSpPr/>
          <p:nvPr/>
        </p:nvSpPr>
        <p:spPr>
          <a:xfrm>
            <a:off x="5440680" y="4702759"/>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پول نقد (صندوق و بانک) در دوره از کجا وارد و به کجا خارج شد.</a:t>
            </a:r>
            <a:endParaRPr lang="en-US" sz="1300" dirty="0"/>
          </a:p>
        </p:txBody>
      </p:sp>
      <p:sp>
        <p:nvSpPr>
          <p:cNvPr id="17" name="Shape 15"/>
          <p:cNvSpPr/>
          <p:nvPr/>
        </p:nvSpPr>
        <p:spPr>
          <a:xfrm>
            <a:off x="11411712" y="5044288"/>
            <a:ext cx="329184" cy="329184"/>
          </a:xfrm>
          <a:prstGeom prst="ellipse">
            <a:avLst/>
          </a:prstGeom>
          <a:solidFill>
            <a:srgbClr val="C9A227"/>
          </a:solidFill>
          <a:ln w="12700">
            <a:solidFill>
              <a:srgbClr val="C9A227"/>
            </a:solidFill>
            <a:prstDash val="solid"/>
          </a:ln>
        </p:spPr>
      </p:sp>
      <p:sp>
        <p:nvSpPr>
          <p:cNvPr id="18" name="Text 16"/>
          <p:cNvSpPr/>
          <p:nvPr/>
        </p:nvSpPr>
        <p:spPr>
          <a:xfrm>
            <a:off x="11411712" y="504428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7"/>
          <p:cNvSpPr/>
          <p:nvPr/>
        </p:nvSpPr>
        <p:spPr>
          <a:xfrm>
            <a:off x="5440680" y="5044288"/>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یادداشت‌ها</a:t>
            </a:r>
            <a:endParaRPr lang="en-US" sz="1350" dirty="0"/>
          </a:p>
        </p:txBody>
      </p:sp>
      <p:sp>
        <p:nvSpPr>
          <p:cNvPr id="20" name="Text 18"/>
          <p:cNvSpPr/>
          <p:nvPr/>
        </p:nvSpPr>
        <p:spPr>
          <a:xfrm>
            <a:off x="5440680" y="5373472"/>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ریز و توضیح ردیف‌های صورت؛ مثلاً یادداشت ۵ «موجودی نقد» = صندوق + بانک + تنخواه.</a:t>
            </a:r>
            <a:endParaRPr lang="en-US" sz="1300" dirty="0"/>
          </a:p>
        </p:txBody>
      </p:sp>
      <p:sp>
        <p:nvSpPr>
          <p:cNvPr id="21" name="Shape 19"/>
          <p:cNvSpPr/>
          <p:nvPr/>
        </p:nvSpPr>
        <p:spPr>
          <a:xfrm>
            <a:off x="411480" y="1097280"/>
            <a:ext cx="4754880" cy="3780815"/>
          </a:xfrm>
          <a:prstGeom prst="roundRect">
            <a:avLst>
              <a:gd name="adj" fmla="val 2419"/>
            </a:avLst>
          </a:prstGeom>
          <a:solidFill>
            <a:srgbClr val="E3F3EA"/>
          </a:solidFill>
          <a:ln w="9525">
            <a:solidFill>
              <a:srgbClr val="1E7A4C"/>
            </a:solidFill>
            <a:prstDash val="solid"/>
          </a:ln>
        </p:spPr>
      </p:sp>
      <p:sp>
        <p:nvSpPr>
          <p:cNvPr id="22" name="Text 20"/>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سال ۱۴۰۵ یک صندوق بیمه‌ای</a:t>
            </a:r>
            <a:endParaRPr lang="en-US" sz="1500" dirty="0"/>
          </a:p>
        </p:txBody>
      </p:sp>
      <p:sp>
        <p:nvSpPr>
          <p:cNvPr id="23" name="Text 21"/>
          <p:cNvSpPr/>
          <p:nvPr/>
        </p:nvSpPr>
        <p:spPr>
          <a:xfrm>
            <a:off x="594360" y="1691640"/>
            <a:ext cx="4389120" cy="323240"/>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اعداد ساده‌شده به میلیون ریال:</a:t>
            </a:r>
            <a:endParaRPr lang="en-US" sz="1300" dirty="0"/>
          </a:p>
        </p:txBody>
      </p:sp>
      <p:graphicFrame>
        <p:nvGraphicFramePr>
          <p:cNvPr id="197" name="Table 0"/>
          <p:cNvGraphicFramePr>
            <a:graphicFrameLocks noGrp="1"/>
          </p:cNvGraphicFramePr>
          <p:nvPr>
            <p:extLst>
              <p:ext uri="{D42A27DB-BD31-4B8C-83A1-F6EECF244321}">
                <p14:modId xmlns:p14="http://schemas.microsoft.com/office/powerpoint/2010/main" val="1579011935"/>
              </p:ext>
            </p:extLst>
          </p:nvPr>
        </p:nvGraphicFramePr>
        <p:xfrm>
          <a:off x="594360" y="2152040"/>
          <a:ext cx="4389120" cy="914400"/>
        </p:xfrm>
        <a:graphic>
          <a:graphicData uri="http://schemas.openxmlformats.org/drawingml/2006/table">
            <a:tbl>
              <a:tblPr rtl="1"/>
              <a:tblGrid>
                <a:gridCol w="2194560"/>
                <a:gridCol w="1097280"/>
                <a:gridCol w="1097280"/>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کدام صورت؟</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ردیف</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مبلغ</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تغییرات</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حق بیمهٔ دریافتی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۵۰۰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تغییرات</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مستمری پرداختی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(۳۸۰)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تغییرات</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افزایش خالص دارایی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خالص دارایی‌ها</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خالص دارایی پایان سال</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۱,۲۲۰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bl>
          </a:graphicData>
        </a:graphic>
      </p:graphicFrame>
      <p:sp>
        <p:nvSpPr>
          <p:cNvPr id="25" name="Text 22"/>
          <p:cNvSpPr/>
          <p:nvPr/>
        </p:nvSpPr>
        <p:spPr>
          <a:xfrm>
            <a:off x="594360" y="3935120"/>
            <a:ext cx="4389120" cy="851535"/>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خالص دارایی اول سال ۱,۱۰۰ بود؛ ۱۲۰ افزایش امسال (از صورت تغییرات) به آن اضافه شد. صورت‌ها این‌طور به هم وصل‌اند.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۱۹۶</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از تراز آزمایشی تا ردیف صورت</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«تراز آزمایشی» فهرست ماندهٔ همهٔ حساب‌های معین است. صورت مالی هیچ عددی را دستی نمی‌گیرد؛ «قالب» می‌گوید کدام معین‌ها در کدام ردیف جمع شوند. به این اتصال «نگاشت» می‌گویند.</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ردیف حساب</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مثل A01 «موجودی نقد» با انتخاب‌گر 1101..1103: ماندهٔ معین‌های ۱۱۰۱ تا ۱۱۰۳ جمع می‌شود.</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ردیف فرمول</a:t>
            </a:r>
            <a:endParaRPr lang="en-US" sz="1350" dirty="0"/>
          </a:p>
        </p:txBody>
      </p:sp>
      <p:sp>
        <p:nvSpPr>
          <p:cNvPr id="12" name="Text 10"/>
          <p:cNvSpPr/>
          <p:nvPr/>
        </p:nvSpPr>
        <p:spPr>
          <a:xfrm>
            <a:off x="5440680" y="3523869"/>
            <a:ext cx="586130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مثل A99 «جمع دارایی‌ها» = SUM(A01:A07)؛ از ردیف‌های دیگر حساب می‌شود.</a:t>
            </a:r>
            <a:endParaRPr lang="en-US" sz="1300" dirty="0"/>
          </a:p>
        </p:txBody>
      </p:sp>
      <p:sp>
        <p:nvSpPr>
          <p:cNvPr id="13" name="Shape 11"/>
          <p:cNvSpPr/>
          <p:nvPr/>
        </p:nvSpPr>
        <p:spPr>
          <a:xfrm>
            <a:off x="11411712" y="3865397"/>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3865397"/>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3865397"/>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ماهیت</a:t>
            </a:r>
            <a:endParaRPr lang="en-US" sz="1350" dirty="0"/>
          </a:p>
        </p:txBody>
      </p:sp>
      <p:sp>
        <p:nvSpPr>
          <p:cNvPr id="16" name="Text 14"/>
          <p:cNvSpPr/>
          <p:nvPr/>
        </p:nvSpPr>
        <p:spPr>
          <a:xfrm>
            <a:off x="5440680" y="4194581"/>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دارایی «بدهکار» و بدهی «بستانکار» است؛ قالب برای هر ردیف می‌گوید کدام طرف مثبت حساب شود.</a:t>
            </a:r>
            <a:endParaRPr lang="en-US" sz="1300" dirty="0"/>
          </a:p>
        </p:txBody>
      </p:sp>
      <p:sp>
        <p:nvSpPr>
          <p:cNvPr id="17" name="Shape 15"/>
          <p:cNvSpPr/>
          <p:nvPr/>
        </p:nvSpPr>
        <p:spPr>
          <a:xfrm>
            <a:off x="11411712" y="4767910"/>
            <a:ext cx="329184" cy="329184"/>
          </a:xfrm>
          <a:prstGeom prst="ellipse">
            <a:avLst/>
          </a:prstGeom>
          <a:solidFill>
            <a:srgbClr val="C9A227"/>
          </a:solidFill>
          <a:ln w="12700">
            <a:solidFill>
              <a:srgbClr val="C9A227"/>
            </a:solidFill>
            <a:prstDash val="solid"/>
          </a:ln>
        </p:spPr>
      </p:sp>
      <p:sp>
        <p:nvSpPr>
          <p:cNvPr id="18" name="Text 16"/>
          <p:cNvSpPr/>
          <p:nvPr/>
        </p:nvSpPr>
        <p:spPr>
          <a:xfrm>
            <a:off x="11411712" y="476791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7"/>
          <p:cNvSpPr/>
          <p:nvPr/>
        </p:nvSpPr>
        <p:spPr>
          <a:xfrm>
            <a:off x="5440680" y="4767910"/>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خطر جا ماندن</a:t>
            </a:r>
            <a:endParaRPr lang="en-US" sz="1350" dirty="0"/>
          </a:p>
        </p:txBody>
      </p:sp>
      <p:sp>
        <p:nvSpPr>
          <p:cNvPr id="20" name="Text 18"/>
          <p:cNvSpPr/>
          <p:nvPr/>
        </p:nvSpPr>
        <p:spPr>
          <a:xfrm>
            <a:off x="5440680" y="5097094"/>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معینی که در هیچ ردیفی نیاید، عددش از صورت حذف می‌شود؛ «نگاشت حساب‌ها» همین را نشان می‌دهد.</a:t>
            </a:r>
            <a:endParaRPr lang="en-US" sz="1300" dirty="0"/>
          </a:p>
        </p:txBody>
      </p:sp>
      <p:sp>
        <p:nvSpPr>
          <p:cNvPr id="21" name="Shape 19"/>
          <p:cNvSpPr/>
          <p:nvPr/>
        </p:nvSpPr>
        <p:spPr>
          <a:xfrm>
            <a:off x="411480" y="1097280"/>
            <a:ext cx="4754880" cy="3320415"/>
          </a:xfrm>
          <a:prstGeom prst="roundRect">
            <a:avLst>
              <a:gd name="adj" fmla="val 2754"/>
            </a:avLst>
          </a:prstGeom>
          <a:solidFill>
            <a:srgbClr val="E3F3EA"/>
          </a:solidFill>
          <a:ln w="9525">
            <a:solidFill>
              <a:srgbClr val="1E7A4C"/>
            </a:solidFill>
            <a:prstDash val="solid"/>
          </a:ln>
        </p:spPr>
      </p:sp>
      <p:sp>
        <p:nvSpPr>
          <p:cNvPr id="22" name="Text 20"/>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ستاد مرکزی، پایان اسفند</a:t>
            </a:r>
            <a:endParaRPr lang="en-US" sz="1500" dirty="0"/>
          </a:p>
        </p:txBody>
      </p:sp>
      <p:graphicFrame>
        <p:nvGraphicFramePr>
          <p:cNvPr id="198" name="Table 0"/>
          <p:cNvGraphicFramePr>
            <a:graphicFrameLocks noGrp="1"/>
          </p:cNvGraphicFramePr>
          <p:nvPr>
            <p:extLst>
              <p:ext uri="{D42A27DB-BD31-4B8C-83A1-F6EECF244321}">
                <p14:modId xmlns:p14="http://schemas.microsoft.com/office/powerpoint/2010/main" val="1579011935"/>
              </p:ext>
            </p:extLst>
          </p:nvPr>
        </p:nvGraphicFramePr>
        <p:xfrm>
          <a:off x="594360" y="1691640"/>
          <a:ext cx="4389120" cy="914400"/>
        </p:xfrm>
        <a:graphic>
          <a:graphicData uri="http://schemas.openxmlformats.org/drawingml/2006/table">
            <a:tbl>
              <a:tblPr rtl="1"/>
              <a:tblGrid>
                <a:gridCol w="2194560"/>
                <a:gridCol w="1097280"/>
                <a:gridCol w="1097280"/>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معین (تراز آزمایشی)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مانده بدهکار</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ردیف صورت</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1101 صندوق</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۵,۰۰۰,۰۰۰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A01</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1102 بانک ملی — جاری</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۸۰,۰۰۰,۰۰۰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A01</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1103 تنخواه‌گردان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۳,۰۰۰,۰۰۰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A01</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1201 سپرده کوتاه‌مدت</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۴۰,۰۰۰,۰۰۰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A02</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bl>
          </a:graphicData>
        </a:graphic>
      </p:graphicFrame>
      <p:sp>
        <p:nvSpPr>
          <p:cNvPr id="24" name="Text 21"/>
          <p:cNvSpPr/>
          <p:nvPr/>
        </p:nvSpPr>
        <p:spPr>
          <a:xfrm>
            <a:off x="594360" y="3474720"/>
            <a:ext cx="4389120" cy="851535"/>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در صورت: A01 موجودی نقد = ۸۸,۰۰۰,۰۰۰ و A02 سرمایه‌گذاری کوتاه‌مدت = ۴۰,۰۰۰,۰۰۰ ریال. یادداشت ۵ همان سه معین را ریز می‌کند.</a:t>
            </a:r>
            <a:endParaRPr lang="en-US" sz="1250" dirty="0"/>
          </a:p>
        </p:txBody>
      </p:sp>
      <p:sp>
        <p:nvSpPr>
          <p:cNvPr id="25" name="Text 2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۱۹۷</a:t>
            </a:r>
            <a:endParaRPr lang="en-US" sz="1000" dirty="0"/>
          </a:p>
        </p:txBody>
      </p:sp>
      <p:sp>
        <p:nvSpPr>
          <p:cNvPr id="26" name="Text 2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چرا تأیید و بستن دوره پیش از انتشار؟</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صورت منتشرشده به بیرون سازمان می‌رود و نباید بعداً عوض شود. پس اول چند نفر آن را بررسی و تأیید می‌کنند و دورهٔ همهٔ واحدها قفل می‌شود؛ بعد منتشر می‌شود.</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عکس ثابت</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«اجرا» اعداد را در همان لحظه نگه می‌دارد؛ سند یا قالبی که بعداً عوض شود، اجرای قبلی را تغییر نمی‌دهد.</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تأیید چندمرحله‌ای</a:t>
            </a:r>
            <a:endParaRPr lang="en-US" sz="1350" dirty="0"/>
          </a:p>
        </p:txBody>
      </p:sp>
      <p:sp>
        <p:nvSpPr>
          <p:cNvPr id="12" name="Text 10"/>
          <p:cNvSpPr/>
          <p:nvPr/>
        </p:nvSpPr>
        <p:spPr>
          <a:xfrm>
            <a:off x="5440680" y="352386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بازبین ← مدیرکل ← معاون؛ تهیه‌کننده خودش تأیید و منتشر نمی‌کند (تفکیک وظایف).</a:t>
            </a:r>
            <a:endParaRPr lang="en-US" sz="1300" dirty="0"/>
          </a:p>
        </p:txBody>
      </p:sp>
      <p:sp>
        <p:nvSpPr>
          <p:cNvPr id="13" name="Shape 11"/>
          <p:cNvSpPr/>
          <p:nvPr/>
        </p:nvSpPr>
        <p:spPr>
          <a:xfrm>
            <a:off x="11411712" y="4097198"/>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09719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097198"/>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بستن دوره</a:t>
            </a:r>
            <a:endParaRPr lang="en-US" sz="1350" dirty="0"/>
          </a:p>
        </p:txBody>
      </p:sp>
      <p:sp>
        <p:nvSpPr>
          <p:cNvPr id="16" name="Text 14"/>
          <p:cNvSpPr/>
          <p:nvPr/>
        </p:nvSpPr>
        <p:spPr>
          <a:xfrm>
            <a:off x="5440680" y="4426382"/>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باز ← بستهٔ موقت ← قفل؛ انتشار فقط وقتی ممکن است که دورهٔ همهٔ واحدهای دامنه قفل باشد.</a:t>
            </a:r>
            <a:endParaRPr lang="en-US" sz="1300" dirty="0"/>
          </a:p>
        </p:txBody>
      </p:sp>
      <p:sp>
        <p:nvSpPr>
          <p:cNvPr id="17" name="Shape 15"/>
          <p:cNvSpPr/>
          <p:nvPr/>
        </p:nvSpPr>
        <p:spPr>
          <a:xfrm>
            <a:off x="411480" y="1097280"/>
            <a:ext cx="4754880" cy="2684221"/>
          </a:xfrm>
          <a:prstGeom prst="roundRect">
            <a:avLst>
              <a:gd name="adj" fmla="val 3407"/>
            </a:avLst>
          </a:prstGeom>
          <a:solidFill>
            <a:srgbClr val="E3F3EA"/>
          </a:solidFill>
          <a:ln w="9525">
            <a:solidFill>
              <a:srgbClr val="1E7A4C"/>
            </a:solidFill>
            <a:prstDash val="solid"/>
          </a:ln>
        </p:spPr>
      </p:sp>
      <p:sp>
        <p:nvSpPr>
          <p:cNvPr id="18" name="Text 16"/>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اگر قفل نبود…</a:t>
            </a:r>
            <a:endParaRPr lang="en-US" sz="1500" dirty="0"/>
          </a:p>
        </p:txBody>
      </p:sp>
      <p:sp>
        <p:nvSpPr>
          <p:cNvPr id="19" name="Text 17"/>
          <p:cNvSpPr/>
          <p:nvPr/>
        </p:nvSpPr>
        <p:spPr>
          <a:xfrm>
            <a:off x="594360" y="1691640"/>
            <a:ext cx="4389120" cy="7868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صورت ۱۴۰۵ با موجودی نقد ۸۸ میلیون منتشر شده است. فردای آن، اداره کل تهران سند ۵ میلیونی هزینهٔ بانکی را جا مانده می‌بیند و ثبت می‌کند.</a:t>
            </a:r>
            <a:endParaRPr lang="en-US" sz="1300" dirty="0"/>
          </a:p>
        </p:txBody>
      </p:sp>
      <p:sp>
        <p:nvSpPr>
          <p:cNvPr id="20" name="Text 18"/>
          <p:cNvSpPr/>
          <p:nvPr/>
        </p:nvSpPr>
        <p:spPr>
          <a:xfrm>
            <a:off x="594360" y="2615641"/>
            <a:ext cx="4389120" cy="107442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حالا دفاتر ۸۳ میلیون می‌گویند و صورت منتشرشده ۸۸ میلیون! قفل دوره و تأیید پیش از انتشار جلوی این ناسازگاری را می‌گیرد؛ اصلاح لازم با بازگشایی رسمی و اجرای تازه انجام می‌شود.</a:t>
            </a:r>
            <a:endParaRPr lang="en-US" sz="1250" dirty="0"/>
          </a:p>
        </p:txBody>
      </p:sp>
      <p:sp>
        <p:nvSpPr>
          <p:cNvPr id="21"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۱۹۸</a:t>
            </a:r>
            <a:endParaRPr lang="en-US" sz="1000" dirty="0"/>
          </a:p>
        </p:txBody>
      </p:sp>
      <p:sp>
        <p:nvSpPr>
          <p:cNvPr id="22"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تلفیق و حذف فی‌مابین</a:t>
            </a:r>
            <a:endParaRPr lang="en-US" sz="2500" dirty="0"/>
          </a:p>
        </p:txBody>
      </p:sp>
      <p:sp>
        <p:nvSpPr>
          <p:cNvPr id="3" name="Shape 1"/>
          <p:cNvSpPr/>
          <p:nvPr/>
        </p:nvSpPr>
        <p:spPr>
          <a:xfrm>
            <a:off x="11731752" y="1097280"/>
            <a:ext cx="45720" cy="966292"/>
          </a:xfrm>
          <a:prstGeom prst="rect">
            <a:avLst/>
          </a:prstGeom>
          <a:solidFill>
            <a:srgbClr val="C9A227"/>
          </a:solidFill>
          <a:ln w="12700">
            <a:solidFill>
              <a:srgbClr val="C9A227"/>
            </a:solidFill>
            <a:prstDash val="solid"/>
          </a:ln>
        </p:spPr>
      </p:sp>
      <p:sp>
        <p:nvSpPr>
          <p:cNvPr id="4" name="Text 2"/>
          <p:cNvSpPr/>
          <p:nvPr/>
        </p:nvSpPr>
        <p:spPr>
          <a:xfrm>
            <a:off x="5440680" y="1097280"/>
            <a:ext cx="6153912" cy="966292"/>
          </a:xfrm>
          <a:prstGeom prst="rect">
            <a:avLst/>
          </a:prstGeom>
          <a:noFill/>
          <a:ln/>
        </p:spPr>
        <p:txBody>
          <a:bodyPr wrap="square" lIns="0" tIns="0" rIns="0" bIns="0" rtlCol="0" anchor="t"/>
          <a:lstStyle/>
          <a:p>
            <a:pPr rtl="1" algn="r" indent="0" marL="0">
              <a:buNone/>
            </a:pPr>
            <a:r>
              <a:rPr lang="en-US" sz="1550" dirty="0">
                <a:solidFill>
                  <a:srgbClr val="1B2A49"/>
                </a:solidFill>
                <a:latin typeface="Tahoma" pitchFamily="34" charset="0"/>
                <a:ea typeface="Tahoma" pitchFamily="34" charset="-122"/>
                <a:cs typeface="Tahoma" pitchFamily="34" charset="-120"/>
              </a:rPr>
              <a:t>سازمان چند واحد دارد (ستاد و ادارات کل). «صورت ترکیبی/تلفیقی» همه را یک‌جا جمع می‌کند. ولی طلب و بدهی واحدها به یکدیگر «فی‌مابین» است و برای کل سازمان نه طلب است نه بدهی؛ پس باید حذف شود.</a:t>
            </a:r>
            <a:endParaRPr lang="en-US" sz="1550" dirty="0"/>
          </a:p>
        </p:txBody>
      </p:sp>
      <p:sp>
        <p:nvSpPr>
          <p:cNvPr id="5" name="Shape 3"/>
          <p:cNvSpPr/>
          <p:nvPr/>
        </p:nvSpPr>
        <p:spPr>
          <a:xfrm>
            <a:off x="11411712" y="2292172"/>
            <a:ext cx="329184" cy="329184"/>
          </a:xfrm>
          <a:prstGeom prst="ellipse">
            <a:avLst/>
          </a:prstGeom>
          <a:solidFill>
            <a:srgbClr val="C9A227"/>
          </a:solidFill>
          <a:ln w="12700">
            <a:solidFill>
              <a:srgbClr val="C9A227"/>
            </a:solidFill>
            <a:prstDash val="solid"/>
          </a:ln>
        </p:spPr>
      </p:sp>
      <p:sp>
        <p:nvSpPr>
          <p:cNvPr id="6" name="Text 4"/>
          <p:cNvSpPr/>
          <p:nvPr/>
        </p:nvSpPr>
        <p:spPr>
          <a:xfrm>
            <a:off x="11411712" y="22921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5440680" y="2292172"/>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حساب جاری</a:t>
            </a:r>
            <a:endParaRPr lang="en-US" sz="1350" dirty="0"/>
          </a:p>
        </p:txBody>
      </p:sp>
      <p:sp>
        <p:nvSpPr>
          <p:cNvPr id="8" name="Text 6"/>
          <p:cNvSpPr/>
          <p:nvPr/>
        </p:nvSpPr>
        <p:spPr>
          <a:xfrm>
            <a:off x="5440680" y="2621356"/>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ستاد طلب از اداره کل را در «حساب جاری ادارات کل» و اداره کل بدهی را در «حساب جاری ستاد» نگه می‌دارد.</a:t>
            </a:r>
            <a:endParaRPr lang="en-US" sz="1300" dirty="0"/>
          </a:p>
        </p:txBody>
      </p:sp>
      <p:sp>
        <p:nvSpPr>
          <p:cNvPr id="9" name="Shape 7"/>
          <p:cNvSpPr/>
          <p:nvPr/>
        </p:nvSpPr>
        <p:spPr>
          <a:xfrm>
            <a:off x="11411712" y="3194685"/>
            <a:ext cx="329184" cy="329184"/>
          </a:xfrm>
          <a:prstGeom prst="ellipse">
            <a:avLst/>
          </a:prstGeom>
          <a:solidFill>
            <a:srgbClr val="C9A227"/>
          </a:solidFill>
          <a:ln w="12700">
            <a:solidFill>
              <a:srgbClr val="C9A227"/>
            </a:solidFill>
            <a:prstDash val="solid"/>
          </a:ln>
        </p:spPr>
      </p:sp>
      <p:sp>
        <p:nvSpPr>
          <p:cNvPr id="10" name="Text 8"/>
          <p:cNvSpPr/>
          <p:nvPr/>
        </p:nvSpPr>
        <p:spPr>
          <a:xfrm>
            <a:off x="11411712" y="319468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9"/>
          <p:cNvSpPr/>
          <p:nvPr/>
        </p:nvSpPr>
        <p:spPr>
          <a:xfrm>
            <a:off x="5440680" y="3194685"/>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تطبیق</a:t>
            </a:r>
            <a:endParaRPr lang="en-US" sz="1350" dirty="0"/>
          </a:p>
        </p:txBody>
      </p:sp>
      <p:sp>
        <p:nvSpPr>
          <p:cNvPr id="12" name="Text 10"/>
          <p:cNvSpPr/>
          <p:nvPr/>
        </p:nvSpPr>
        <p:spPr>
          <a:xfrm>
            <a:off x="5440680" y="3523869"/>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دو سو باید برابر باشند؛ اختلاف بیش از آستانه کنترل V-07 را مسدودکننده می‌کند.</a:t>
            </a:r>
            <a:endParaRPr lang="en-US" sz="1300" dirty="0"/>
          </a:p>
        </p:txBody>
      </p:sp>
      <p:sp>
        <p:nvSpPr>
          <p:cNvPr id="13" name="Shape 11"/>
          <p:cNvSpPr/>
          <p:nvPr/>
        </p:nvSpPr>
        <p:spPr>
          <a:xfrm>
            <a:off x="11411712" y="4097198"/>
            <a:ext cx="329184" cy="329184"/>
          </a:xfrm>
          <a:prstGeom prst="ellipse">
            <a:avLst/>
          </a:prstGeom>
          <a:solidFill>
            <a:srgbClr val="C9A227"/>
          </a:solidFill>
          <a:ln w="12700">
            <a:solidFill>
              <a:srgbClr val="C9A227"/>
            </a:solidFill>
            <a:prstDash val="solid"/>
          </a:ln>
        </p:spPr>
      </p:sp>
      <p:sp>
        <p:nvSpPr>
          <p:cNvPr id="14" name="Text 12"/>
          <p:cNvSpPr/>
          <p:nvPr/>
        </p:nvSpPr>
        <p:spPr>
          <a:xfrm>
            <a:off x="11411712" y="409719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3"/>
          <p:cNvSpPr/>
          <p:nvPr/>
        </p:nvSpPr>
        <p:spPr>
          <a:xfrm>
            <a:off x="5440680" y="4097198"/>
            <a:ext cx="586130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شرکت تابعه</a:t>
            </a:r>
            <a:endParaRPr lang="en-US" sz="1350" dirty="0"/>
          </a:p>
        </p:txBody>
      </p:sp>
      <p:sp>
        <p:nvSpPr>
          <p:cNvPr id="16" name="Text 14"/>
          <p:cNvSpPr/>
          <p:nvPr/>
        </p:nvSpPr>
        <p:spPr>
          <a:xfrm>
            <a:off x="5440680" y="4426382"/>
            <a:ext cx="586130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اگر شرکت تابعه هم تلفیق شود، تراز آزمایشی‌اش از Excel وارد و به ریال تسعیر می‌شود.</a:t>
            </a:r>
            <a:endParaRPr lang="en-US" sz="1300" dirty="0"/>
          </a:p>
        </p:txBody>
      </p:sp>
      <p:sp>
        <p:nvSpPr>
          <p:cNvPr id="17" name="Shape 15"/>
          <p:cNvSpPr/>
          <p:nvPr/>
        </p:nvSpPr>
        <p:spPr>
          <a:xfrm>
            <a:off x="411480" y="1097280"/>
            <a:ext cx="4754880" cy="2768346"/>
          </a:xfrm>
          <a:prstGeom prst="roundRect">
            <a:avLst>
              <a:gd name="adj" fmla="val 3303"/>
            </a:avLst>
          </a:prstGeom>
          <a:solidFill>
            <a:srgbClr val="E3F3EA"/>
          </a:solidFill>
          <a:ln w="9525">
            <a:solidFill>
              <a:srgbClr val="1E7A4C"/>
            </a:solidFill>
            <a:prstDash val="solid"/>
          </a:ln>
        </p:spPr>
      </p:sp>
      <p:sp>
        <p:nvSpPr>
          <p:cNvPr id="18" name="Text 16"/>
          <p:cNvSpPr/>
          <p:nvPr/>
        </p:nvSpPr>
        <p:spPr>
          <a:xfrm>
            <a:off x="594360" y="1234440"/>
            <a:ext cx="4389120" cy="365760"/>
          </a:xfrm>
          <a:prstGeom prst="rect">
            <a:avLst/>
          </a:prstGeom>
          <a:noFill/>
          <a:ln/>
        </p:spPr>
        <p:txBody>
          <a:bodyPr wrap="square" lIns="0" tIns="0" rIns="0" bIns="0" rtlCol="0" anchor="ctr"/>
          <a:lstStyle/>
          <a:p>
            <a:pPr rtl="1" algn="r" indent="0" marL="0">
              <a:buNone/>
            </a:pPr>
            <a:r>
              <a:rPr lang="en-US" sz="1500" b="1" dirty="0">
                <a:solidFill>
                  <a:srgbClr val="1E7A4C"/>
                </a:solidFill>
                <a:latin typeface="Tahoma" pitchFamily="34" charset="0"/>
                <a:ea typeface="Tahoma" pitchFamily="34" charset="-122"/>
                <a:cs typeface="Tahoma" pitchFamily="34" charset="-120"/>
              </a:rPr>
              <a:t>مثال — ستاد ۲۰۰ میلیون به اداره کل تهران داده</a:t>
            </a:r>
            <a:endParaRPr lang="en-US" sz="1500" dirty="0"/>
          </a:p>
        </p:txBody>
      </p:sp>
      <p:graphicFrame>
        <p:nvGraphicFramePr>
          <p:cNvPr id="200" name="Table 0"/>
          <p:cNvGraphicFramePr>
            <a:graphicFrameLocks noGrp="1"/>
          </p:cNvGraphicFramePr>
          <p:nvPr>
            <p:extLst>
              <p:ext uri="{D42A27DB-BD31-4B8C-83A1-F6EECF244321}">
                <p14:modId xmlns:p14="http://schemas.microsoft.com/office/powerpoint/2010/main" val="1579011935"/>
              </p:ext>
            </p:extLst>
          </p:nvPr>
        </p:nvGraphicFramePr>
        <p:xfrm>
          <a:off x="594360" y="1691640"/>
          <a:ext cx="4389120" cy="914400"/>
        </p:xfrm>
        <a:graphic>
          <a:graphicData uri="http://schemas.openxmlformats.org/drawingml/2006/table">
            <a:tbl>
              <a:tblPr rtl="1"/>
              <a:tblGrid>
                <a:gridCol w="1228954"/>
                <a:gridCol w="790042"/>
                <a:gridCol w="790042"/>
                <a:gridCol w="790042"/>
                <a:gridCol w="790042"/>
              </a:tblGrid>
              <a:tr h="329184">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ردیف</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ستاد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تهران</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حذف</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c>
                  <a:txBody>
                    <a:bodyPr/>
                    <a:lstStyle/>
                    <a:p>
                      <a:pPr algn="r" indent="0" marL="0">
                        <a:buNone/>
                      </a:pPr>
                      <a:r>
                        <a:rPr lang="en-US" sz="1150" b="1" dirty="0">
                          <a:solidFill>
                            <a:srgbClr val="FFFFFF"/>
                          </a:solidFill>
                          <a:latin typeface="Tahoma" pitchFamily="34" charset="0"/>
                          <a:ea typeface="Tahoma" pitchFamily="34" charset="-122"/>
                          <a:cs typeface="Tahoma" pitchFamily="34" charset="-120"/>
                        </a:rPr>
                        <a:t>جمع</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1E7A4C"/>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طلب از واحدها</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۲۰۰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(۲۰۰)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بدهی به واحدها</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۲۰۰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(۲۰۰)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3FAF6"/>
                    </a:solidFill>
                  </a:tcPr>
                </a:tc>
              </a:tr>
              <a:tr h="329184">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موجودی نقد</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۳۰۰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۲۵۰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F2937"/>
                          </a:solidFill>
                          <a:latin typeface="Tahoma" pitchFamily="34" charset="0"/>
                          <a:ea typeface="Tahoma" pitchFamily="34" charset="-122"/>
                          <a:cs typeface="Tahoma" pitchFamily="34" charset="-120"/>
                        </a:rPr>
                        <a:t>۵۵۰</a:t>
                      </a:r>
                      <a:endParaRPr lang="en-US" sz="1150" dirty="0">
                        <a:latin typeface="Tahoma" charset="0"/>
                        <a:ea typeface="Tahoma" charset="0"/>
                        <a:cs typeface="Tahoma" charset="0"/>
                      </a:endParaRPr>
                    </a:p>
                  </a:txBody>
                  <a:tcPr marL="73152" marR="73152" marT="27432" marB="27432" anchor="ctr">
                    <a:lnL w="6350" cap="flat" cmpd="sng" algn="ctr">
                      <a:solidFill>
                        <a:srgbClr val="BFDCCB"/>
                      </a:solidFill>
                      <a:prstDash val="solid"/>
                      <a:round/>
                      <a:headEnd type="none" w="med" len="med"/>
                      <a:tailEnd type="none" w="med" len="med"/>
                    </a:lnL>
                    <a:lnR w="6350" cap="flat" cmpd="sng" algn="ctr">
                      <a:solidFill>
                        <a:srgbClr val="BFDCCB"/>
                      </a:solidFill>
                      <a:prstDash val="solid"/>
                      <a:round/>
                      <a:headEnd type="none" w="med" len="med"/>
                      <a:tailEnd type="none" w="med" len="med"/>
                    </a:lnR>
                    <a:lnT w="6350" cap="flat" cmpd="sng" algn="ctr">
                      <a:solidFill>
                        <a:srgbClr val="BFDCCB"/>
                      </a:solidFill>
                      <a:prstDash val="solid"/>
                      <a:round/>
                      <a:headEnd type="none" w="med" len="med"/>
                      <a:tailEnd type="none" w="med" len="med"/>
                    </a:lnT>
                    <a:lnB w="6350" cap="flat" cmpd="sng" algn="ctr">
                      <a:solidFill>
                        <a:srgbClr val="BFDCCB"/>
                      </a:solidFill>
                      <a:prstDash val="solid"/>
                      <a:round/>
                      <a:headEnd type="none" w="med" len="med"/>
                      <a:tailEnd type="none" w="med" len="med"/>
                    </a:lnB>
                    <a:solidFill>
                      <a:srgbClr val="FFFFFF"/>
                    </a:solidFill>
                  </a:tcPr>
                </a:tc>
              </a:tr>
            </a:tbl>
          </a:graphicData>
        </a:graphic>
      </p:graphicFrame>
      <p:sp>
        <p:nvSpPr>
          <p:cNvPr id="20" name="Text 17"/>
          <p:cNvSpPr/>
          <p:nvPr/>
        </p:nvSpPr>
        <p:spPr>
          <a:xfrm>
            <a:off x="594360" y="3145536"/>
            <a:ext cx="4389120" cy="62865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اعداد به میلیون ریال. پولی که از جیب چپ به جیب راست رفته، در صورت کل سازمان نه دارایی است نه بدهی.</a:t>
            </a:r>
            <a:endParaRPr lang="en-US" sz="1250" dirty="0"/>
          </a:p>
        </p:txBody>
      </p:sp>
      <p:sp>
        <p:nvSpPr>
          <p:cNvPr id="21" name="Text 18"/>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۱۹۹</a:t>
            </a:r>
            <a:endParaRPr lang="en-US" sz="1000" dirty="0"/>
          </a:p>
        </p:txBody>
      </p:sp>
      <p:sp>
        <p:nvSpPr>
          <p:cNvPr id="22" name="Text 19"/>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چرخهٔ تهیهٔ صورت‌های مالی</a:t>
            </a:r>
            <a:endParaRPr lang="en-US" sz="2500" dirty="0"/>
          </a:p>
        </p:txBody>
      </p:sp>
      <p:sp>
        <p:nvSpPr>
          <p:cNvPr id="3" name="Shape 1"/>
          <p:cNvSpPr/>
          <p:nvPr/>
        </p:nvSpPr>
        <p:spPr>
          <a:xfrm>
            <a:off x="10157460"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10693146" y="1691640"/>
            <a:ext cx="548640" cy="548640"/>
          </a:xfrm>
          <a:prstGeom prst="ellipse">
            <a:avLst/>
          </a:prstGeom>
          <a:solidFill>
            <a:srgbClr val="C9A227"/>
          </a:solidFill>
          <a:ln w="12700">
            <a:solidFill>
              <a:srgbClr val="C9A227"/>
            </a:solidFill>
            <a:prstDash val="solid"/>
          </a:ln>
        </p:spPr>
      </p:sp>
      <p:sp>
        <p:nvSpPr>
          <p:cNvPr id="5" name="Text 3"/>
          <p:cNvSpPr/>
          <p:nvPr/>
        </p:nvSpPr>
        <p:spPr>
          <a:xfrm>
            <a:off x="1069314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۱</a:t>
            </a:r>
            <a:endParaRPr lang="en-US" sz="1800" dirty="0"/>
          </a:p>
        </p:txBody>
      </p:sp>
      <p:sp>
        <p:nvSpPr>
          <p:cNvPr id="6" name="Text 4"/>
          <p:cNvSpPr/>
          <p:nvPr/>
        </p:nvSpPr>
        <p:spPr>
          <a:xfrm>
            <a:off x="10248900"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قالب و نگاشت</a:t>
            </a:r>
            <a:endParaRPr lang="en-US" sz="1550" dirty="0"/>
          </a:p>
        </p:txBody>
      </p:sp>
      <p:sp>
        <p:nvSpPr>
          <p:cNvPr id="7" name="Text 5"/>
          <p:cNvSpPr/>
          <p:nvPr/>
        </p:nvSpPr>
        <p:spPr>
          <a:xfrm>
            <a:off x="10248900"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نسخهٔ فعال؛ هیچ معینی جا نماند</a:t>
            </a:r>
            <a:endParaRPr lang="en-US" sz="1200" dirty="0"/>
          </a:p>
        </p:txBody>
      </p:sp>
      <p:sp>
        <p:nvSpPr>
          <p:cNvPr id="8" name="Text 6"/>
          <p:cNvSpPr/>
          <p:nvPr/>
        </p:nvSpPr>
        <p:spPr>
          <a:xfrm>
            <a:off x="9828276"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9" name="Shape 7"/>
          <p:cNvSpPr/>
          <p:nvPr/>
        </p:nvSpPr>
        <p:spPr>
          <a:xfrm>
            <a:off x="8208264"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8743950" y="1691640"/>
            <a:ext cx="548640" cy="548640"/>
          </a:xfrm>
          <a:prstGeom prst="ellipse">
            <a:avLst/>
          </a:prstGeom>
          <a:solidFill>
            <a:srgbClr val="C9A227"/>
          </a:solidFill>
          <a:ln w="12700">
            <a:solidFill>
              <a:srgbClr val="C9A227"/>
            </a:solidFill>
            <a:prstDash val="solid"/>
          </a:ln>
        </p:spPr>
      </p:sp>
      <p:sp>
        <p:nvSpPr>
          <p:cNvPr id="11" name="Text 9"/>
          <p:cNvSpPr/>
          <p:nvPr/>
        </p:nvSpPr>
        <p:spPr>
          <a:xfrm>
            <a:off x="8743950"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۲</a:t>
            </a:r>
            <a:endParaRPr lang="en-US" sz="1800" dirty="0"/>
          </a:p>
        </p:txBody>
      </p:sp>
      <p:sp>
        <p:nvSpPr>
          <p:cNvPr id="12" name="Text 10"/>
          <p:cNvSpPr/>
          <p:nvPr/>
        </p:nvSpPr>
        <p:spPr>
          <a:xfrm>
            <a:off x="8299704"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تهیهٔ صورت‌ها</a:t>
            </a:r>
            <a:endParaRPr lang="en-US" sz="1550" dirty="0"/>
          </a:p>
        </p:txBody>
      </p:sp>
      <p:sp>
        <p:nvSpPr>
          <p:cNvPr id="13" name="Text 11"/>
          <p:cNvSpPr/>
          <p:nvPr/>
        </p:nvSpPr>
        <p:spPr>
          <a:xfrm>
            <a:off x="8299704"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ویزارد سه‌مرحله‌ای</a:t>
            </a:r>
            <a:endParaRPr lang="en-US" sz="1200" dirty="0"/>
          </a:p>
        </p:txBody>
      </p:sp>
      <p:sp>
        <p:nvSpPr>
          <p:cNvPr id="14" name="Text 12"/>
          <p:cNvSpPr/>
          <p:nvPr/>
        </p:nvSpPr>
        <p:spPr>
          <a:xfrm>
            <a:off x="7879080"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15" name="Shape 13"/>
          <p:cNvSpPr/>
          <p:nvPr/>
        </p:nvSpPr>
        <p:spPr>
          <a:xfrm>
            <a:off x="6259068"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6" name="Shape 14"/>
          <p:cNvSpPr/>
          <p:nvPr/>
        </p:nvSpPr>
        <p:spPr>
          <a:xfrm>
            <a:off x="6794754" y="1691640"/>
            <a:ext cx="548640" cy="548640"/>
          </a:xfrm>
          <a:prstGeom prst="ellipse">
            <a:avLst/>
          </a:prstGeom>
          <a:solidFill>
            <a:srgbClr val="C9A227"/>
          </a:solidFill>
          <a:ln w="12700">
            <a:solidFill>
              <a:srgbClr val="C9A227"/>
            </a:solidFill>
            <a:prstDash val="solid"/>
          </a:ln>
        </p:spPr>
      </p:sp>
      <p:sp>
        <p:nvSpPr>
          <p:cNvPr id="17" name="Text 15"/>
          <p:cNvSpPr/>
          <p:nvPr/>
        </p:nvSpPr>
        <p:spPr>
          <a:xfrm>
            <a:off x="6794754"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۳</a:t>
            </a:r>
            <a:endParaRPr lang="en-US" sz="1800" dirty="0"/>
          </a:p>
        </p:txBody>
      </p:sp>
      <p:sp>
        <p:nvSpPr>
          <p:cNvPr id="18" name="Text 16"/>
          <p:cNvSpPr/>
          <p:nvPr/>
        </p:nvSpPr>
        <p:spPr>
          <a:xfrm>
            <a:off x="6350508"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بررسی و ریز عدد</a:t>
            </a:r>
            <a:endParaRPr lang="en-US" sz="1550" dirty="0"/>
          </a:p>
        </p:txBody>
      </p:sp>
      <p:sp>
        <p:nvSpPr>
          <p:cNvPr id="19" name="Text 17"/>
          <p:cNvSpPr/>
          <p:nvPr/>
        </p:nvSpPr>
        <p:spPr>
          <a:xfrm>
            <a:off x="6350508"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از ردیف صورت تا سند حسابداری</a:t>
            </a:r>
            <a:endParaRPr lang="en-US" sz="1200" dirty="0"/>
          </a:p>
        </p:txBody>
      </p:sp>
      <p:sp>
        <p:nvSpPr>
          <p:cNvPr id="20" name="Text 18"/>
          <p:cNvSpPr/>
          <p:nvPr/>
        </p:nvSpPr>
        <p:spPr>
          <a:xfrm>
            <a:off x="5929884"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1" name="Shape 19"/>
          <p:cNvSpPr/>
          <p:nvPr/>
        </p:nvSpPr>
        <p:spPr>
          <a:xfrm>
            <a:off x="4309872"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2" name="Shape 20"/>
          <p:cNvSpPr/>
          <p:nvPr/>
        </p:nvSpPr>
        <p:spPr>
          <a:xfrm>
            <a:off x="4845558" y="1691640"/>
            <a:ext cx="548640" cy="548640"/>
          </a:xfrm>
          <a:prstGeom prst="ellipse">
            <a:avLst/>
          </a:prstGeom>
          <a:solidFill>
            <a:srgbClr val="C9A227"/>
          </a:solidFill>
          <a:ln w="12700">
            <a:solidFill>
              <a:srgbClr val="C9A227"/>
            </a:solidFill>
            <a:prstDash val="solid"/>
          </a:ln>
        </p:spPr>
      </p:sp>
      <p:sp>
        <p:nvSpPr>
          <p:cNvPr id="23" name="Text 21"/>
          <p:cNvSpPr/>
          <p:nvPr/>
        </p:nvSpPr>
        <p:spPr>
          <a:xfrm>
            <a:off x="4845558"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۴</a:t>
            </a:r>
            <a:endParaRPr lang="en-US" sz="1800" dirty="0"/>
          </a:p>
        </p:txBody>
      </p:sp>
      <p:sp>
        <p:nvSpPr>
          <p:cNvPr id="24" name="Text 22"/>
          <p:cNvSpPr/>
          <p:nvPr/>
        </p:nvSpPr>
        <p:spPr>
          <a:xfrm>
            <a:off x="4401312"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کنترل و یادداشت‌ها</a:t>
            </a:r>
            <a:endParaRPr lang="en-US" sz="1550" dirty="0"/>
          </a:p>
        </p:txBody>
      </p:sp>
      <p:sp>
        <p:nvSpPr>
          <p:cNvPr id="25" name="Text 23"/>
          <p:cNvSpPr/>
          <p:nvPr/>
        </p:nvSpPr>
        <p:spPr>
          <a:xfrm>
            <a:off x="4401312"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ارجاع کنترل، متن یادداشت</a:t>
            </a:r>
            <a:endParaRPr lang="en-US" sz="1200" dirty="0"/>
          </a:p>
        </p:txBody>
      </p:sp>
      <p:sp>
        <p:nvSpPr>
          <p:cNvPr id="26" name="Text 24"/>
          <p:cNvSpPr/>
          <p:nvPr/>
        </p:nvSpPr>
        <p:spPr>
          <a:xfrm>
            <a:off x="3980688"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27" name="Shape 25"/>
          <p:cNvSpPr/>
          <p:nvPr/>
        </p:nvSpPr>
        <p:spPr>
          <a:xfrm>
            <a:off x="2360676" y="1965960"/>
            <a:ext cx="1620012" cy="2103120"/>
          </a:xfrm>
          <a:prstGeom prst="roundRect">
            <a:avLst>
              <a:gd name="adj" fmla="val 677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8" name="Shape 26"/>
          <p:cNvSpPr/>
          <p:nvPr/>
        </p:nvSpPr>
        <p:spPr>
          <a:xfrm>
            <a:off x="2896362" y="1691640"/>
            <a:ext cx="548640" cy="548640"/>
          </a:xfrm>
          <a:prstGeom prst="ellipse">
            <a:avLst/>
          </a:prstGeom>
          <a:solidFill>
            <a:srgbClr val="C9A227"/>
          </a:solidFill>
          <a:ln w="12700">
            <a:solidFill>
              <a:srgbClr val="C9A227"/>
            </a:solidFill>
            <a:prstDash val="solid"/>
          </a:ln>
        </p:spPr>
      </p:sp>
      <p:sp>
        <p:nvSpPr>
          <p:cNvPr id="29" name="Text 27"/>
          <p:cNvSpPr/>
          <p:nvPr/>
        </p:nvSpPr>
        <p:spPr>
          <a:xfrm>
            <a:off x="2896362"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۵</a:t>
            </a:r>
            <a:endParaRPr lang="en-US" sz="1800" dirty="0"/>
          </a:p>
        </p:txBody>
      </p:sp>
      <p:sp>
        <p:nvSpPr>
          <p:cNvPr id="30" name="Text 28"/>
          <p:cNvSpPr/>
          <p:nvPr/>
        </p:nvSpPr>
        <p:spPr>
          <a:xfrm>
            <a:off x="2452116" y="2377440"/>
            <a:ext cx="1437132" cy="731520"/>
          </a:xfrm>
          <a:prstGeom prst="rect">
            <a:avLst/>
          </a:prstGeom>
          <a:noFill/>
          <a:ln/>
        </p:spPr>
        <p:txBody>
          <a:bodyPr wrap="square" lIns="0" tIns="0" rIns="0" bIns="0" rtlCol="0" anchor="ctr"/>
          <a:lstStyle/>
          <a:p>
            <a:pPr rtl="1" algn="ctr" indent="0" marL="0">
              <a:buNone/>
            </a:pPr>
            <a:r>
              <a:rPr lang="en-US" sz="1550" b="1" dirty="0">
                <a:solidFill>
                  <a:srgbClr val="1B2A49"/>
                </a:solidFill>
                <a:latin typeface="Tahoma" pitchFamily="34" charset="0"/>
                <a:ea typeface="Tahoma" pitchFamily="34" charset="-122"/>
                <a:cs typeface="Tahoma" pitchFamily="34" charset="-120"/>
              </a:rPr>
              <a:t>تأیید مرحله‌ای</a:t>
            </a:r>
            <a:endParaRPr lang="en-US" sz="1550" dirty="0"/>
          </a:p>
        </p:txBody>
      </p:sp>
      <p:sp>
        <p:nvSpPr>
          <p:cNvPr id="31" name="Text 29"/>
          <p:cNvSpPr/>
          <p:nvPr/>
        </p:nvSpPr>
        <p:spPr>
          <a:xfrm>
            <a:off x="2452116" y="3108960"/>
            <a:ext cx="1437132" cy="868680"/>
          </a:xfrm>
          <a:prstGeom prst="rect">
            <a:avLst/>
          </a:prstGeom>
          <a:noFill/>
          <a:ln/>
        </p:spPr>
        <p:txBody>
          <a:bodyPr wrap="square" lIns="0" tIns="0" rIns="0" bIns="0" rtlCol="0" anchor="t"/>
          <a:lstStyle/>
          <a:p>
            <a:pPr rtl="1" algn="ctr" indent="0" marL="0">
              <a:buNone/>
            </a:pPr>
            <a:r>
              <a:rPr lang="en-US" sz="1200" dirty="0">
                <a:solidFill>
                  <a:srgbClr val="5B6475"/>
                </a:solidFill>
                <a:latin typeface="Tahoma" pitchFamily="34" charset="0"/>
                <a:ea typeface="Tahoma" pitchFamily="34" charset="-122"/>
                <a:cs typeface="Tahoma" pitchFamily="34" charset="-120"/>
              </a:rPr>
              <a:t>بازبین ← مدیرکل ← معاون</a:t>
            </a:r>
            <a:endParaRPr lang="en-US" sz="1200" dirty="0"/>
          </a:p>
        </p:txBody>
      </p:sp>
      <p:sp>
        <p:nvSpPr>
          <p:cNvPr id="32" name="Text 30"/>
          <p:cNvSpPr/>
          <p:nvPr/>
        </p:nvSpPr>
        <p:spPr>
          <a:xfrm>
            <a:off x="2031492" y="2788920"/>
            <a:ext cx="329184" cy="457200"/>
          </a:xfrm>
          <a:prstGeom prst="rect">
            <a:avLst/>
          </a:prstGeom>
          <a:noFill/>
          <a:ln/>
        </p:spPr>
        <p:txBody>
          <a:bodyPr wrap="square" lIns="0" tIns="0" rIns="0" bIns="0" rtlCol="0" anchor="ctr"/>
          <a:lstStyle/>
          <a:p>
            <a:pPr rtl="1" algn="ctr" indent="0" marL="0">
              <a:buNone/>
            </a:pPr>
            <a:r>
              <a:rPr lang="en-US" sz="1500" dirty="0">
                <a:solidFill>
                  <a:srgbClr val="C9A227"/>
                </a:solidFill>
                <a:latin typeface="Tahoma" pitchFamily="34" charset="0"/>
                <a:ea typeface="Tahoma" pitchFamily="34" charset="-122"/>
                <a:cs typeface="Tahoma" pitchFamily="34" charset="-120"/>
              </a:rPr>
              <a:t>◀</a:t>
            </a:r>
            <a:endParaRPr lang="en-US" sz="1500" dirty="0"/>
          </a:p>
        </p:txBody>
      </p:sp>
      <p:sp>
        <p:nvSpPr>
          <p:cNvPr id="33" name="Shape 31"/>
          <p:cNvSpPr/>
          <p:nvPr/>
        </p:nvSpPr>
        <p:spPr>
          <a:xfrm>
            <a:off x="411480" y="1965960"/>
            <a:ext cx="1620012" cy="2103120"/>
          </a:xfrm>
          <a:prstGeom prst="roundRect">
            <a:avLst>
              <a:gd name="adj" fmla="val 6773"/>
            </a:avLst>
          </a:prstGeom>
          <a:solidFill>
            <a:srgbClr val="1B2A49"/>
          </a:solidFill>
          <a:ln w="9525">
            <a:solidFill>
              <a:srgbClr val="1B2A49"/>
            </a:solidFill>
            <a:prstDash val="solid"/>
          </a:ln>
          <a:effectLst>
            <a:outerShdw sx="100000" sy="100000" kx="0" ky="0" algn="bl" rotWithShape="0" blurRad="76200" dist="25400" dir="5400000">
              <a:srgbClr val="000000">
                <a:alpha val="12000"/>
              </a:srgbClr>
            </a:outerShdw>
          </a:effectLst>
        </p:spPr>
      </p:sp>
      <p:sp>
        <p:nvSpPr>
          <p:cNvPr id="34" name="Shape 32"/>
          <p:cNvSpPr/>
          <p:nvPr/>
        </p:nvSpPr>
        <p:spPr>
          <a:xfrm>
            <a:off x="947166" y="1691640"/>
            <a:ext cx="548640" cy="548640"/>
          </a:xfrm>
          <a:prstGeom prst="ellipse">
            <a:avLst/>
          </a:prstGeom>
          <a:solidFill>
            <a:srgbClr val="C9A227"/>
          </a:solidFill>
          <a:ln w="12700">
            <a:solidFill>
              <a:srgbClr val="C9A227"/>
            </a:solidFill>
            <a:prstDash val="solid"/>
          </a:ln>
        </p:spPr>
      </p:sp>
      <p:sp>
        <p:nvSpPr>
          <p:cNvPr id="35" name="Text 33"/>
          <p:cNvSpPr/>
          <p:nvPr/>
        </p:nvSpPr>
        <p:spPr>
          <a:xfrm>
            <a:off x="947166" y="1691640"/>
            <a:ext cx="548640" cy="548640"/>
          </a:xfrm>
          <a:prstGeom prst="rect">
            <a:avLst/>
          </a:prstGeom>
          <a:noFill/>
          <a:ln/>
        </p:spPr>
        <p:txBody>
          <a:bodyPr wrap="square" lIns="0" tIns="0" rIns="0" bIns="0" rtlCol="0" anchor="ctr"/>
          <a:lstStyle/>
          <a:p>
            <a:pPr rtl="1" algn="ctr" indent="0" marL="0">
              <a:buNone/>
            </a:pPr>
            <a:r>
              <a:rPr lang="en-US" sz="1800" b="1" dirty="0">
                <a:solidFill>
                  <a:srgbClr val="1B2A49"/>
                </a:solidFill>
                <a:latin typeface="Tahoma" pitchFamily="34" charset="0"/>
                <a:ea typeface="Tahoma" pitchFamily="34" charset="-122"/>
                <a:cs typeface="Tahoma" pitchFamily="34" charset="-120"/>
              </a:rPr>
              <a:t>۶</a:t>
            </a:r>
            <a:endParaRPr lang="en-US" sz="1800" dirty="0"/>
          </a:p>
        </p:txBody>
      </p:sp>
      <p:sp>
        <p:nvSpPr>
          <p:cNvPr id="36" name="Text 34"/>
          <p:cNvSpPr/>
          <p:nvPr/>
        </p:nvSpPr>
        <p:spPr>
          <a:xfrm>
            <a:off x="502920" y="2377440"/>
            <a:ext cx="1437132" cy="731520"/>
          </a:xfrm>
          <a:prstGeom prst="rect">
            <a:avLst/>
          </a:prstGeom>
          <a:noFill/>
          <a:ln/>
        </p:spPr>
        <p:txBody>
          <a:bodyPr wrap="square" lIns="0" tIns="0" rIns="0" bIns="0" rtlCol="0" anchor="ctr"/>
          <a:lstStyle/>
          <a:p>
            <a:pPr rtl="1" algn="ctr" indent="0" marL="0">
              <a:buNone/>
            </a:pPr>
            <a:r>
              <a:rPr lang="en-US" sz="1550" b="1" dirty="0">
                <a:solidFill>
                  <a:srgbClr val="FFFFFF"/>
                </a:solidFill>
                <a:latin typeface="Tahoma" pitchFamily="34" charset="0"/>
                <a:ea typeface="Tahoma" pitchFamily="34" charset="-122"/>
                <a:cs typeface="Tahoma" pitchFamily="34" charset="-120"/>
              </a:rPr>
              <a:t>بستن دوره و انتشار</a:t>
            </a:r>
            <a:endParaRPr lang="en-US" sz="1550" dirty="0"/>
          </a:p>
        </p:txBody>
      </p:sp>
      <p:sp>
        <p:nvSpPr>
          <p:cNvPr id="37" name="Text 35"/>
          <p:cNvSpPr/>
          <p:nvPr/>
        </p:nvSpPr>
        <p:spPr>
          <a:xfrm>
            <a:off x="502920" y="3108960"/>
            <a:ext cx="1437132" cy="868680"/>
          </a:xfrm>
          <a:prstGeom prst="rect">
            <a:avLst/>
          </a:prstGeom>
          <a:noFill/>
          <a:ln/>
        </p:spPr>
        <p:txBody>
          <a:bodyPr wrap="square" lIns="0" tIns="0" rIns="0" bIns="0" rtlCol="0" anchor="t"/>
          <a:lstStyle/>
          <a:p>
            <a:pPr rtl="1" algn="ctr" indent="0" marL="0">
              <a:buNone/>
            </a:pPr>
            <a:r>
              <a:rPr lang="en-US" sz="1200" dirty="0">
                <a:solidFill>
                  <a:srgbClr val="C9D3E6"/>
                </a:solidFill>
                <a:latin typeface="Tahoma" pitchFamily="34" charset="0"/>
                <a:ea typeface="Tahoma" pitchFamily="34" charset="-122"/>
                <a:cs typeface="Tahoma" pitchFamily="34" charset="-120"/>
              </a:rPr>
              <a:t>قفل دوره، PDF و XBRL</a:t>
            </a:r>
            <a:endParaRPr lang="en-US" sz="1200" dirty="0"/>
          </a:p>
        </p:txBody>
      </p:sp>
      <p:sp>
        <p:nvSpPr>
          <p:cNvPr id="38" name="Shape 36"/>
          <p:cNvSpPr/>
          <p:nvPr/>
        </p:nvSpPr>
        <p:spPr>
          <a:xfrm>
            <a:off x="411480" y="4526280"/>
            <a:ext cx="11365992" cy="914400"/>
          </a:xfrm>
          <a:prstGeom prst="roundRect">
            <a:avLst>
              <a:gd name="adj" fmla="val 8000"/>
            </a:avLst>
          </a:prstGeom>
          <a:solidFill>
            <a:srgbClr val="F6EDCF"/>
          </a:solidFill>
          <a:ln w="9525">
            <a:solidFill>
              <a:srgbClr val="C9A227"/>
            </a:solidFill>
            <a:prstDash val="solid"/>
          </a:ln>
        </p:spPr>
      </p:sp>
      <p:sp>
        <p:nvSpPr>
          <p:cNvPr id="39" name="Text 37"/>
          <p:cNvSpPr/>
          <p:nvPr/>
        </p:nvSpPr>
        <p:spPr>
          <a:xfrm>
            <a:off x="10863072" y="4526280"/>
            <a:ext cx="822960" cy="91440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40" name="Text 38"/>
          <p:cNvSpPr/>
          <p:nvPr/>
        </p:nvSpPr>
        <p:spPr>
          <a:xfrm>
            <a:off x="548640" y="4526280"/>
            <a:ext cx="10241280" cy="91440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هر اجرا یک «عکس ثابت» از اعداد است؛ تغییر بعدی قالب یا اسناد، اجرای قبلی را عوض نمی‌کند — برای عدد تازه، اجرای جدید بگیرید.</a:t>
            </a:r>
            <a:endParaRPr lang="en-US" sz="1250" dirty="0"/>
          </a:p>
        </p:txBody>
      </p:sp>
      <p:sp>
        <p:nvSpPr>
          <p:cNvPr id="41" name="Shape 39"/>
          <p:cNvSpPr/>
          <p:nvPr/>
        </p:nvSpPr>
        <p:spPr>
          <a:xfrm>
            <a:off x="411480" y="5550408"/>
            <a:ext cx="11365992" cy="777240"/>
          </a:xfrm>
          <a:prstGeom prst="roundRect">
            <a:avLst>
              <a:gd name="adj" fmla="val 9412"/>
            </a:avLst>
          </a:prstGeom>
          <a:solidFill>
            <a:srgbClr val="E3F3EA"/>
          </a:solidFill>
          <a:ln w="9525">
            <a:solidFill>
              <a:srgbClr val="1E7A4C"/>
            </a:solidFill>
            <a:prstDash val="solid"/>
          </a:ln>
        </p:spPr>
      </p:sp>
      <p:sp>
        <p:nvSpPr>
          <p:cNvPr id="42" name="Text 40"/>
          <p:cNvSpPr/>
          <p:nvPr/>
        </p:nvSpPr>
        <p:spPr>
          <a:xfrm>
            <a:off x="10863072" y="5550408"/>
            <a:ext cx="822960" cy="777240"/>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43" name="Text 41"/>
          <p:cNvSpPr/>
          <p:nvPr/>
        </p:nvSpPr>
        <p:spPr>
          <a:xfrm>
            <a:off x="548640" y="5550408"/>
            <a:ext cx="10241280" cy="77724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کارشناس گزارشگری قالب را یک بار در سال آماده می‌کند؛ بعد هر ماه یا فصل فقط گام‌های ۲ تا ۶ تکرار می‌شود.</a:t>
            </a:r>
            <a:endParaRPr lang="en-US" sz="1250" dirty="0"/>
          </a:p>
        </p:txBody>
      </p:sp>
      <p:sp>
        <p:nvSpPr>
          <p:cNvPr id="44" name="Text 4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۲۰۰</a:t>
            </a:r>
            <a:endParaRPr lang="en-US" sz="1000" dirty="0"/>
          </a:p>
        </p:txBody>
      </p:sp>
      <p:sp>
        <p:nvSpPr>
          <p:cNvPr id="45" name="Text 4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اگر فقط می‌خواهید صورت‌ها را ببینید</a:t>
            </a:r>
            <a:endParaRPr lang="en-US" sz="2500" dirty="0"/>
          </a:p>
        </p:txBody>
      </p:sp>
      <p:sp>
        <p:nvSpPr>
          <p:cNvPr id="3" name="Text 1"/>
          <p:cNvSpPr/>
          <p:nvPr/>
        </p:nvSpPr>
        <p:spPr>
          <a:xfrm>
            <a:off x="411480" y="960120"/>
            <a:ext cx="11365992" cy="685800"/>
          </a:xfrm>
          <a:prstGeom prst="rect">
            <a:avLst/>
          </a:prstGeom>
          <a:noFill/>
          <a:ln/>
        </p:spPr>
        <p:txBody>
          <a:bodyPr wrap="square" lIns="0" tIns="0" rIns="0" bIns="0" rtlCol="0" anchor="t"/>
          <a:lstStyle/>
          <a:p>
            <a:pPr rtl="1" algn="r" indent="0" marL="0">
              <a:buNone/>
            </a:pPr>
            <a:r>
              <a:rPr lang="en-US" sz="1500" dirty="0">
                <a:solidFill>
                  <a:srgbClr val="5B6475"/>
                </a:solidFill>
                <a:latin typeface="Tahoma" pitchFamily="34" charset="0"/>
                <a:ea typeface="Tahoma" pitchFamily="34" charset="-122"/>
                <a:cs typeface="Tahoma" pitchFamily="34" charset="-120"/>
              </a:rPr>
              <a:t>قالب‌ها معمولاً از قبل آماده‌اند. برای دیدن و چاپ صورت‌ها همین چهار قدم کافی است؛ تنظیمات پیشرفته در اسلایدهای بعد آمده است.</a:t>
            </a:r>
            <a:endParaRPr lang="en-US" sz="1500" dirty="0"/>
          </a:p>
        </p:txBody>
      </p:sp>
      <p:sp>
        <p:nvSpPr>
          <p:cNvPr id="4" name="Shape 2"/>
          <p:cNvSpPr/>
          <p:nvPr/>
        </p:nvSpPr>
        <p:spPr>
          <a:xfrm>
            <a:off x="9086850" y="1783080"/>
            <a:ext cx="2690622" cy="1564081"/>
          </a:xfrm>
          <a:prstGeom prst="roundRect">
            <a:avLst>
              <a:gd name="adj" fmla="val 584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11228832" y="1965960"/>
            <a:ext cx="384048" cy="384048"/>
          </a:xfrm>
          <a:prstGeom prst="ellipse">
            <a:avLst/>
          </a:prstGeom>
          <a:solidFill>
            <a:srgbClr val="C9A227"/>
          </a:solidFill>
          <a:ln w="12700">
            <a:solidFill>
              <a:srgbClr val="C9A227"/>
            </a:solidFill>
            <a:prstDash val="solid"/>
          </a:ln>
        </p:spPr>
      </p:sp>
      <p:sp>
        <p:nvSpPr>
          <p:cNvPr id="6" name="Text 4"/>
          <p:cNvSpPr/>
          <p:nvPr/>
        </p:nvSpPr>
        <p:spPr>
          <a:xfrm>
            <a:off x="11228832" y="196596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5"/>
          <p:cNvSpPr/>
          <p:nvPr/>
        </p:nvSpPr>
        <p:spPr>
          <a:xfrm>
            <a:off x="9269730" y="1965960"/>
            <a:ext cx="1867662" cy="384048"/>
          </a:xfrm>
          <a:prstGeom prst="rect">
            <a:avLst/>
          </a:prstGeom>
          <a:noFill/>
          <a:ln/>
        </p:spPr>
        <p:txBody>
          <a:bodyPr wrap="square" lIns="0" tIns="0" rIns="0" bIns="0" rtlCol="0" anchor="ctr"/>
          <a:lstStyle/>
          <a:p>
            <a:pPr rtl="1" algn="r" indent="0" marL="0">
              <a:buNone/>
            </a:pPr>
            <a:r>
              <a:rPr lang="en-US" sz="1550" b="1" dirty="0">
                <a:solidFill>
                  <a:srgbClr val="1B2A49"/>
                </a:solidFill>
                <a:latin typeface="Tahoma" pitchFamily="34" charset="0"/>
                <a:ea typeface="Tahoma" pitchFamily="34" charset="-122"/>
                <a:cs typeface="Tahoma" pitchFamily="34" charset="-120"/>
              </a:rPr>
              <a:t>داشبورد صورت‌ها</a:t>
            </a:r>
            <a:endParaRPr lang="en-US" sz="1550" dirty="0"/>
          </a:p>
        </p:txBody>
      </p:sp>
      <p:sp>
        <p:nvSpPr>
          <p:cNvPr id="8" name="Text 6"/>
          <p:cNvSpPr/>
          <p:nvPr/>
        </p:nvSpPr>
        <p:spPr>
          <a:xfrm>
            <a:off x="9288018" y="2468880"/>
            <a:ext cx="2288286" cy="7868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شاخص‌ها، وضعیت بستن سال و «کارهای من» را ببینید؛ دکمه‌های میانبر بالای صفحه است.</a:t>
            </a:r>
            <a:endParaRPr lang="en-US" sz="1300" dirty="0"/>
          </a:p>
        </p:txBody>
      </p:sp>
      <p:sp>
        <p:nvSpPr>
          <p:cNvPr id="9" name="Shape 7"/>
          <p:cNvSpPr/>
          <p:nvPr/>
        </p:nvSpPr>
        <p:spPr>
          <a:xfrm>
            <a:off x="6195060" y="1783080"/>
            <a:ext cx="2690622" cy="1564081"/>
          </a:xfrm>
          <a:prstGeom prst="roundRect">
            <a:avLst>
              <a:gd name="adj" fmla="val 584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8337042" y="1965960"/>
            <a:ext cx="384048" cy="384048"/>
          </a:xfrm>
          <a:prstGeom prst="ellipse">
            <a:avLst/>
          </a:prstGeom>
          <a:solidFill>
            <a:srgbClr val="C9A227"/>
          </a:solidFill>
          <a:ln w="12700">
            <a:solidFill>
              <a:srgbClr val="C9A227"/>
            </a:solidFill>
            <a:prstDash val="solid"/>
          </a:ln>
        </p:spPr>
      </p:sp>
      <p:sp>
        <p:nvSpPr>
          <p:cNvPr id="11" name="Text 9"/>
          <p:cNvSpPr/>
          <p:nvPr/>
        </p:nvSpPr>
        <p:spPr>
          <a:xfrm>
            <a:off x="8337042" y="196596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2" name="Text 10"/>
          <p:cNvSpPr/>
          <p:nvPr/>
        </p:nvSpPr>
        <p:spPr>
          <a:xfrm>
            <a:off x="6377940" y="1965960"/>
            <a:ext cx="1867662" cy="384048"/>
          </a:xfrm>
          <a:prstGeom prst="rect">
            <a:avLst/>
          </a:prstGeom>
          <a:noFill/>
          <a:ln/>
        </p:spPr>
        <p:txBody>
          <a:bodyPr wrap="square" lIns="0" tIns="0" rIns="0" bIns="0" rtlCol="0" anchor="ctr"/>
          <a:lstStyle/>
          <a:p>
            <a:pPr rtl="1" algn="r" indent="0" marL="0">
              <a:buNone/>
            </a:pPr>
            <a:r>
              <a:rPr lang="en-US" sz="1550" b="1" dirty="0">
                <a:solidFill>
                  <a:srgbClr val="1B2A49"/>
                </a:solidFill>
                <a:latin typeface="Tahoma" pitchFamily="34" charset="0"/>
                <a:ea typeface="Tahoma" pitchFamily="34" charset="-122"/>
                <a:cs typeface="Tahoma" pitchFamily="34" charset="-120"/>
              </a:rPr>
              <a:t>تهیهٔ صورت‌ها</a:t>
            </a:r>
            <a:endParaRPr lang="en-US" sz="1550" dirty="0"/>
          </a:p>
        </p:txBody>
      </p:sp>
      <p:sp>
        <p:nvSpPr>
          <p:cNvPr id="13" name="Text 11"/>
          <p:cNvSpPr/>
          <p:nvPr/>
        </p:nvSpPr>
        <p:spPr>
          <a:xfrm>
            <a:off x="6396228" y="2468880"/>
            <a:ext cx="2288286" cy="7868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اگر اجرای تازه لازم است، ویزارد سه‌مرحله‌ای را با سال و پایان دوره کامل کنید.</a:t>
            </a:r>
            <a:endParaRPr lang="en-US" sz="1300" dirty="0"/>
          </a:p>
        </p:txBody>
      </p:sp>
      <p:sp>
        <p:nvSpPr>
          <p:cNvPr id="14" name="Shape 12"/>
          <p:cNvSpPr/>
          <p:nvPr/>
        </p:nvSpPr>
        <p:spPr>
          <a:xfrm>
            <a:off x="3303270" y="1783080"/>
            <a:ext cx="2690622" cy="1564081"/>
          </a:xfrm>
          <a:prstGeom prst="roundRect">
            <a:avLst>
              <a:gd name="adj" fmla="val 584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15" name="Shape 13"/>
          <p:cNvSpPr/>
          <p:nvPr/>
        </p:nvSpPr>
        <p:spPr>
          <a:xfrm>
            <a:off x="5445252" y="1965960"/>
            <a:ext cx="384048" cy="384048"/>
          </a:xfrm>
          <a:prstGeom prst="ellipse">
            <a:avLst/>
          </a:prstGeom>
          <a:solidFill>
            <a:srgbClr val="C9A227"/>
          </a:solidFill>
          <a:ln w="12700">
            <a:solidFill>
              <a:srgbClr val="C9A227"/>
            </a:solidFill>
            <a:prstDash val="solid"/>
          </a:ln>
        </p:spPr>
      </p:sp>
      <p:sp>
        <p:nvSpPr>
          <p:cNvPr id="16" name="Text 14"/>
          <p:cNvSpPr/>
          <p:nvPr/>
        </p:nvSpPr>
        <p:spPr>
          <a:xfrm>
            <a:off x="5445252" y="196596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5"/>
          <p:cNvSpPr/>
          <p:nvPr/>
        </p:nvSpPr>
        <p:spPr>
          <a:xfrm>
            <a:off x="3486150" y="1965960"/>
            <a:ext cx="1867662" cy="384048"/>
          </a:xfrm>
          <a:prstGeom prst="rect">
            <a:avLst/>
          </a:prstGeom>
          <a:noFill/>
          <a:ln/>
        </p:spPr>
        <p:txBody>
          <a:bodyPr wrap="square" lIns="0" tIns="0" rIns="0" bIns="0" rtlCol="0" anchor="ctr"/>
          <a:lstStyle/>
          <a:p>
            <a:pPr rtl="1" algn="r" indent="0" marL="0">
              <a:buNone/>
            </a:pPr>
            <a:r>
              <a:rPr lang="en-US" sz="1550" b="1" dirty="0">
                <a:solidFill>
                  <a:srgbClr val="1B2A49"/>
                </a:solidFill>
                <a:latin typeface="Tahoma" pitchFamily="34" charset="0"/>
                <a:ea typeface="Tahoma" pitchFamily="34" charset="-122"/>
                <a:cs typeface="Tahoma" pitchFamily="34" charset="-120"/>
              </a:rPr>
              <a:t>مشاهدهٔ صورت‌ها</a:t>
            </a:r>
            <a:endParaRPr lang="en-US" sz="1550" dirty="0"/>
          </a:p>
        </p:txBody>
      </p:sp>
      <p:sp>
        <p:nvSpPr>
          <p:cNvPr id="18" name="Text 16"/>
          <p:cNvSpPr/>
          <p:nvPr/>
        </p:nvSpPr>
        <p:spPr>
          <a:xfrm>
            <a:off x="3504438" y="2468880"/>
            <a:ext cx="2288286" cy="7868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از «تهیهٔ صورت‌های مالی» روی اجرای موردنظر کلیک کنید؛ هر صورت یک زبانه است.</a:t>
            </a:r>
            <a:endParaRPr lang="en-US" sz="1300" dirty="0"/>
          </a:p>
        </p:txBody>
      </p:sp>
      <p:sp>
        <p:nvSpPr>
          <p:cNvPr id="19" name="Shape 17"/>
          <p:cNvSpPr/>
          <p:nvPr/>
        </p:nvSpPr>
        <p:spPr>
          <a:xfrm>
            <a:off x="411480" y="1783080"/>
            <a:ext cx="2690622" cy="1564081"/>
          </a:xfrm>
          <a:prstGeom prst="roundRect">
            <a:avLst>
              <a:gd name="adj" fmla="val 584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sp>
        <p:nvSpPr>
          <p:cNvPr id="20" name="Shape 18"/>
          <p:cNvSpPr/>
          <p:nvPr/>
        </p:nvSpPr>
        <p:spPr>
          <a:xfrm>
            <a:off x="2553462" y="1965960"/>
            <a:ext cx="384048" cy="384048"/>
          </a:xfrm>
          <a:prstGeom prst="ellipse">
            <a:avLst/>
          </a:prstGeom>
          <a:solidFill>
            <a:srgbClr val="C9A227"/>
          </a:solidFill>
          <a:ln w="12700">
            <a:solidFill>
              <a:srgbClr val="C9A227"/>
            </a:solidFill>
            <a:prstDash val="solid"/>
          </a:ln>
        </p:spPr>
      </p:sp>
      <p:sp>
        <p:nvSpPr>
          <p:cNvPr id="21" name="Text 19"/>
          <p:cNvSpPr/>
          <p:nvPr/>
        </p:nvSpPr>
        <p:spPr>
          <a:xfrm>
            <a:off x="2553462" y="196596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20"/>
          <p:cNvSpPr/>
          <p:nvPr/>
        </p:nvSpPr>
        <p:spPr>
          <a:xfrm>
            <a:off x="594360" y="1965960"/>
            <a:ext cx="1867662" cy="384048"/>
          </a:xfrm>
          <a:prstGeom prst="rect">
            <a:avLst/>
          </a:prstGeom>
          <a:noFill/>
          <a:ln/>
        </p:spPr>
        <p:txBody>
          <a:bodyPr wrap="square" lIns="0" tIns="0" rIns="0" bIns="0" rtlCol="0" anchor="ctr"/>
          <a:lstStyle/>
          <a:p>
            <a:pPr rtl="1" algn="r" indent="0" marL="0">
              <a:buNone/>
            </a:pPr>
            <a:r>
              <a:rPr lang="en-US" sz="1550" b="1" dirty="0">
                <a:solidFill>
                  <a:srgbClr val="1B2A49"/>
                </a:solidFill>
                <a:latin typeface="Tahoma" pitchFamily="34" charset="0"/>
                <a:ea typeface="Tahoma" pitchFamily="34" charset="-122"/>
                <a:cs typeface="Tahoma" pitchFamily="34" charset="-120"/>
              </a:rPr>
              <a:t>چاپ / PDF</a:t>
            </a:r>
            <a:endParaRPr lang="en-US" sz="1550" dirty="0"/>
          </a:p>
        </p:txBody>
      </p:sp>
      <p:sp>
        <p:nvSpPr>
          <p:cNvPr id="23" name="Text 21"/>
          <p:cNvSpPr/>
          <p:nvPr/>
        </p:nvSpPr>
        <p:spPr>
          <a:xfrm>
            <a:off x="612648" y="2468880"/>
            <a:ext cx="2288286" cy="786841"/>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«بستهٔ رسمی / PDF» را بزنید و در پنجرهٔ چاپ «ذخیره به‌صورت PDF» را انتخاب کنید.</a:t>
            </a:r>
            <a:endParaRPr lang="en-US" sz="1300" dirty="0"/>
          </a:p>
        </p:txBody>
      </p:sp>
      <p:sp>
        <p:nvSpPr>
          <p:cNvPr id="24" name="Shape 22"/>
          <p:cNvSpPr/>
          <p:nvPr/>
        </p:nvSpPr>
        <p:spPr>
          <a:xfrm>
            <a:off x="411480" y="5623560"/>
            <a:ext cx="11365992" cy="731520"/>
          </a:xfrm>
          <a:prstGeom prst="roundRect">
            <a:avLst>
              <a:gd name="adj" fmla="val 10000"/>
            </a:avLst>
          </a:prstGeom>
          <a:solidFill>
            <a:srgbClr val="F6EDCF"/>
          </a:solidFill>
          <a:ln w="9525">
            <a:solidFill>
              <a:srgbClr val="C9A227"/>
            </a:solidFill>
            <a:prstDash val="solid"/>
          </a:ln>
        </p:spPr>
      </p:sp>
      <p:sp>
        <p:nvSpPr>
          <p:cNvPr id="25" name="Text 23"/>
          <p:cNvSpPr/>
          <p:nvPr/>
        </p:nvSpPr>
        <p:spPr>
          <a:xfrm>
            <a:off x="10863072" y="5623560"/>
            <a:ext cx="822960" cy="73152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26" name="Text 24"/>
          <p:cNvSpPr/>
          <p:nvPr/>
        </p:nvSpPr>
        <p:spPr>
          <a:xfrm>
            <a:off x="548640" y="5623560"/>
            <a:ext cx="10241280" cy="73152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اگر عددی عجیب است، روی آن کلیک کنید تا معین‌ها و اسناد سازندهٔ آن را ببینید (اسلاید «ریز عدد»).</a:t>
            </a:r>
            <a:endParaRPr lang="en-US" sz="1250" dirty="0"/>
          </a:p>
        </p:txBody>
      </p:sp>
      <p:sp>
        <p:nvSpPr>
          <p:cNvPr id="27" name="Text 25"/>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۲۰۱</a:t>
            </a:r>
            <a:endParaRPr lang="en-US" sz="1000" dirty="0"/>
          </a:p>
        </p:txBody>
      </p:sp>
      <p:sp>
        <p:nvSpPr>
          <p:cNvPr id="28" name="Text 26"/>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مسیر کوتاه ۱ — داشبورد صورت‌ها</a:t>
            </a:r>
            <a:endParaRPr lang="en-US" sz="2500" dirty="0"/>
          </a:p>
        </p:txBody>
      </p:sp>
      <p:sp>
        <p:nvSpPr>
          <p:cNvPr id="3" name="Shape 1"/>
          <p:cNvSpPr/>
          <p:nvPr/>
        </p:nvSpPr>
        <p:spPr>
          <a:xfrm>
            <a:off x="8727948" y="896112"/>
            <a:ext cx="304952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837676" y="896112"/>
            <a:ext cx="283006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داشبورد صورت‌ها</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fsn01">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مدیرکل امور مالی در «کارهای من» می‌بیند «تأیید مرحلهٔ مدیرکل — اجرای ۱۸» منتظر اوست؛ با یک کلیک به همان اجرا می‌رود.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شاخص‌ها</a:t>
            </a:r>
            <a:endParaRPr lang="en-US" sz="1350" dirty="0"/>
          </a:p>
        </p:txBody>
      </p:sp>
      <p:sp>
        <p:nvSpPr>
          <p:cNvPr id="13" name="Text 10"/>
          <p:cNvSpPr/>
          <p:nvPr/>
        </p:nvSpPr>
        <p:spPr>
          <a:xfrm>
            <a:off x="7909560" y="170078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چهار نسبت اول از آخرین اجرای سال، در کنار مقدار سال قبل.</a:t>
            </a:r>
            <a:endParaRPr lang="en-US" sz="1250" dirty="0"/>
          </a:p>
        </p:txBody>
      </p:sp>
      <p:sp>
        <p:nvSpPr>
          <p:cNvPr id="14" name="Shape 11"/>
          <p:cNvSpPr/>
          <p:nvPr/>
        </p:nvSpPr>
        <p:spPr>
          <a:xfrm>
            <a:off x="11411712" y="225628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5628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5628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وضعیت بستن سال</a:t>
            </a:r>
            <a:endParaRPr lang="en-US" sz="1350" dirty="0"/>
          </a:p>
        </p:txBody>
      </p:sp>
      <p:sp>
        <p:nvSpPr>
          <p:cNvPr id="17" name="Text 14"/>
          <p:cNvSpPr/>
          <p:nvPr/>
        </p:nvSpPr>
        <p:spPr>
          <a:xfrm>
            <a:off x="7909560" y="2585466"/>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کاشی هر زیرواحد با وضعیت دوره (باز، بستهٔ موقت، قفل)، تعداد خطا و درصد پیشرفت.</a:t>
            </a:r>
            <a:endParaRPr lang="en-US" sz="1250" dirty="0"/>
          </a:p>
        </p:txBody>
      </p:sp>
      <p:sp>
        <p:nvSpPr>
          <p:cNvPr id="18" name="Shape 15"/>
          <p:cNvSpPr/>
          <p:nvPr/>
        </p:nvSpPr>
        <p:spPr>
          <a:xfrm>
            <a:off x="11411712" y="3140964"/>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409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4096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کارهای من</a:t>
            </a:r>
            <a:endParaRPr lang="en-US" sz="1350" dirty="0"/>
          </a:p>
        </p:txBody>
      </p:sp>
      <p:sp>
        <p:nvSpPr>
          <p:cNvPr id="21" name="Text 18"/>
          <p:cNvSpPr/>
          <p:nvPr/>
        </p:nvSpPr>
        <p:spPr>
          <a:xfrm>
            <a:off x="7909560" y="3470148"/>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تأییدهای منتظر شما، کنترل‌های ارجاع‌شده، یادداشت‌های در بازبینی و درخواست‌های بازگشایی.</a:t>
            </a:r>
            <a:endParaRPr lang="en-US" sz="1250" dirty="0"/>
          </a:p>
        </p:txBody>
      </p:sp>
      <p:sp>
        <p:nvSpPr>
          <p:cNvPr id="22" name="Shape 19"/>
          <p:cNvSpPr/>
          <p:nvPr/>
        </p:nvSpPr>
        <p:spPr>
          <a:xfrm>
            <a:off x="11411712" y="4248531"/>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24853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24853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میانبرها</a:t>
            </a:r>
            <a:endParaRPr lang="en-US" sz="1350" dirty="0"/>
          </a:p>
        </p:txBody>
      </p:sp>
      <p:sp>
        <p:nvSpPr>
          <p:cNvPr id="25" name="Text 22"/>
          <p:cNvSpPr/>
          <p:nvPr/>
        </p:nvSpPr>
        <p:spPr>
          <a:xfrm>
            <a:off x="7909560" y="4577715"/>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«تهیهٔ صورت‌ها»، «مشاهدهٔ صورت‌ها»، «تحلیل» و «یادداشت‌ها» در بالای صفحه.</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۲۰۲</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مسیر کوتاه ۲ — فهرست اجراها</a:t>
            </a:r>
            <a:endParaRPr lang="en-US" sz="2500" dirty="0"/>
          </a:p>
        </p:txBody>
      </p:sp>
      <p:sp>
        <p:nvSpPr>
          <p:cNvPr id="3" name="Shape 1"/>
          <p:cNvSpPr/>
          <p:nvPr/>
        </p:nvSpPr>
        <p:spPr>
          <a:xfrm>
            <a:off x="8417052" y="896112"/>
            <a:ext cx="3360420"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526780" y="896112"/>
            <a:ext cx="3140964"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تهیهٔ صورت‌های مالی</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fs04">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451653"/>
            <a:ext cx="3867912" cy="903427"/>
          </a:xfrm>
          <a:prstGeom prst="roundRect">
            <a:avLst>
              <a:gd name="adj" fmla="val 8097"/>
            </a:avLst>
          </a:prstGeom>
          <a:solidFill>
            <a:srgbClr val="E3F3EA"/>
          </a:solidFill>
          <a:ln w="9525">
            <a:solidFill>
              <a:srgbClr val="1E7A4C"/>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برای دیدن صورت رسمی شش‌ماههٔ ۱۴۰۵، اجرای «منتشرشده» همان دوره را باز کنید، نه پیش‌نویس‌ها را.</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هر ردیف یک اجرا</a:t>
            </a:r>
            <a:endParaRPr lang="en-US" sz="1350" dirty="0"/>
          </a:p>
        </p:txBody>
      </p:sp>
      <p:sp>
        <p:nvSpPr>
          <p:cNvPr id="13" name="Text 10"/>
          <p:cNvSpPr/>
          <p:nvPr/>
        </p:nvSpPr>
        <p:spPr>
          <a:xfrm>
            <a:off x="7909560" y="170078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شماره، مجموعه، دوره، دامنه (ترکیبی/جداگانه)، وضعیت و تاریخ تهیه.</a:t>
            </a:r>
            <a:endParaRPr lang="en-US" sz="1300" dirty="0"/>
          </a:p>
        </p:txBody>
      </p:sp>
      <p:sp>
        <p:nvSpPr>
          <p:cNvPr id="14" name="Shape 11"/>
          <p:cNvSpPr/>
          <p:nvPr/>
        </p:nvSpPr>
        <p:spPr>
          <a:xfrm>
            <a:off x="11411712" y="22741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741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741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وضعیت‌ها</a:t>
            </a:r>
            <a:endParaRPr lang="en-US" sz="1350" dirty="0"/>
          </a:p>
        </p:txBody>
      </p:sp>
      <p:sp>
        <p:nvSpPr>
          <p:cNvPr id="17" name="Text 14"/>
          <p:cNvSpPr/>
          <p:nvPr/>
        </p:nvSpPr>
        <p:spPr>
          <a:xfrm>
            <a:off x="7909560" y="26032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پیش‌نویس، در بازبینی، تأییدشده، منتشرشده، جایگزین‌شده.</a:t>
            </a:r>
            <a:endParaRPr lang="en-US" sz="1300" dirty="0"/>
          </a:p>
        </p:txBody>
      </p:sp>
      <p:sp>
        <p:nvSpPr>
          <p:cNvPr id="18" name="Shape 15"/>
          <p:cNvSpPr/>
          <p:nvPr/>
        </p:nvSpPr>
        <p:spPr>
          <a:xfrm>
            <a:off x="11411712" y="31766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766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766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تهیهٔ صورت‌ها</a:t>
            </a:r>
            <a:endParaRPr lang="en-US" sz="1350" dirty="0"/>
          </a:p>
        </p:txBody>
      </p:sp>
      <p:sp>
        <p:nvSpPr>
          <p:cNvPr id="21" name="Text 18"/>
          <p:cNvSpPr/>
          <p:nvPr/>
        </p:nvSpPr>
        <p:spPr>
          <a:xfrm>
            <a:off x="7909560" y="3505810"/>
            <a:ext cx="339242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دکمهٔ بالای صفحه ویزارد را باز می‌کند.</a:t>
            </a:r>
            <a:endParaRPr lang="en-US" sz="1300" dirty="0"/>
          </a:p>
        </p:txBody>
      </p:sp>
      <p:sp>
        <p:nvSpPr>
          <p:cNvPr id="22" name="Shape 19"/>
          <p:cNvSpPr/>
          <p:nvPr/>
        </p:nvSpPr>
        <p:spPr>
          <a:xfrm>
            <a:off x="11411712" y="3847338"/>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8473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84733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حذف</a:t>
            </a:r>
            <a:endParaRPr lang="en-US" sz="1350" dirty="0"/>
          </a:p>
        </p:txBody>
      </p:sp>
      <p:sp>
        <p:nvSpPr>
          <p:cNvPr id="25" name="Text 22"/>
          <p:cNvSpPr/>
          <p:nvPr/>
        </p:nvSpPr>
        <p:spPr>
          <a:xfrm>
            <a:off x="7909560" y="4176522"/>
            <a:ext cx="339242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فقط پیش‌نویس و جایگزین‌شده حذف می‌شوند.</a:t>
            </a:r>
            <a:endParaRPr lang="en-US" sz="130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۲۰۳</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مسیر کوتاه ۳ — ویزارد تهیهٔ صورت‌ها</a:t>
            </a:r>
            <a:endParaRPr lang="en-US" sz="2500" dirty="0"/>
          </a:p>
        </p:txBody>
      </p:sp>
      <p:sp>
        <p:nvSpPr>
          <p:cNvPr id="3" name="Shape 1"/>
          <p:cNvSpPr/>
          <p:nvPr/>
        </p:nvSpPr>
        <p:spPr>
          <a:xfrm>
            <a:off x="11393424" y="1188720"/>
            <a:ext cx="384048" cy="384048"/>
          </a:xfrm>
          <a:prstGeom prst="ellipse">
            <a:avLst/>
          </a:prstGeom>
          <a:solidFill>
            <a:srgbClr val="C9A227"/>
          </a:solidFill>
          <a:ln w="12700">
            <a:solidFill>
              <a:srgbClr val="C9A227"/>
            </a:solidFill>
            <a:prstDash val="solid"/>
          </a:ln>
        </p:spPr>
      </p:sp>
      <p:sp>
        <p:nvSpPr>
          <p:cNvPr id="4" name="Text 2"/>
          <p:cNvSpPr/>
          <p:nvPr/>
        </p:nvSpPr>
        <p:spPr>
          <a:xfrm>
            <a:off x="11393424"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5" name="Text 3"/>
          <p:cNvSpPr/>
          <p:nvPr/>
        </p:nvSpPr>
        <p:spPr>
          <a:xfrm>
            <a:off x="8119872" y="1188720"/>
            <a:ext cx="3154680" cy="384048"/>
          </a:xfrm>
          <a:prstGeom prst="rect">
            <a:avLst/>
          </a:prstGeom>
          <a:noFill/>
          <a:ln/>
        </p:spPr>
        <p:txBody>
          <a:bodyPr wrap="square" lIns="0" tIns="0" rIns="0" bIns="0" rtlCol="0" anchor="ctr"/>
          <a:lstStyle/>
          <a:p>
            <a:pPr rtl="1" algn="r" indent="0" marL="0">
              <a:buNone/>
            </a:pPr>
            <a:r>
              <a:rPr lang="en-US" sz="1450" b="1" dirty="0">
                <a:solidFill>
                  <a:srgbClr val="1B2A49"/>
                </a:solidFill>
                <a:latin typeface="Tahoma" pitchFamily="34" charset="0"/>
                <a:ea typeface="Tahoma" pitchFamily="34" charset="-122"/>
                <a:cs typeface="Tahoma" pitchFamily="34" charset="-120"/>
              </a:rPr>
              <a:t>مجموعه و دوره</a:t>
            </a:r>
            <a:endParaRPr lang="en-US" sz="1450" dirty="0"/>
          </a:p>
        </p:txBody>
      </p:sp>
      <p:sp>
        <p:nvSpPr>
          <p:cNvPr id="6" name="Shape 4"/>
          <p:cNvSpPr/>
          <p:nvPr/>
        </p:nvSpPr>
        <p:spPr>
          <a:xfrm>
            <a:off x="8119872" y="1691640"/>
            <a:ext cx="3657600" cy="2788920"/>
          </a:xfrm>
          <a:prstGeom prst="roundRect">
            <a:avLst>
              <a:gd name="adj" fmla="val 262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fs05">    </p:cNvPr>
          <p:cNvPicPr>
            <a:picLocks noChangeAspect="1"/>
          </p:cNvPicPr>
          <p:nvPr/>
        </p:nvPicPr>
        <p:blipFill>
          <a:blip r:embed="rId1"/>
          <a:stretch>
            <a:fillRect/>
          </a:stretch>
        </p:blipFill>
        <p:spPr>
          <a:xfrm>
            <a:off x="8165592" y="1884502"/>
            <a:ext cx="3566160" cy="2403196"/>
          </a:xfrm>
          <a:prstGeom prst="rect">
            <a:avLst/>
          </a:prstGeom>
        </p:spPr>
      </p:pic>
      <p:sp>
        <p:nvSpPr>
          <p:cNvPr id="8" name="Text 5"/>
          <p:cNvSpPr/>
          <p:nvPr/>
        </p:nvSpPr>
        <p:spPr>
          <a:xfrm>
            <a:off x="8119872" y="4617720"/>
            <a:ext cx="3657600" cy="169164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مجموعهٔ صورت (مثلاً طرح بیمه‌ای)، سال مالی و «پایان دوره»: از ابتدای سال تا پایان آن ماه؛ مثلاً پایان شهریور = شش‌ماهه.</a:t>
            </a:r>
            <a:endParaRPr lang="en-US" sz="1250" dirty="0"/>
          </a:p>
        </p:txBody>
      </p:sp>
      <p:sp>
        <p:nvSpPr>
          <p:cNvPr id="9" name="Shape 6"/>
          <p:cNvSpPr/>
          <p:nvPr/>
        </p:nvSpPr>
        <p:spPr>
          <a:xfrm>
            <a:off x="7539228" y="1188720"/>
            <a:ext cx="384048" cy="384048"/>
          </a:xfrm>
          <a:prstGeom prst="ellipse">
            <a:avLst/>
          </a:prstGeom>
          <a:solidFill>
            <a:srgbClr val="C9A227"/>
          </a:solidFill>
          <a:ln w="12700">
            <a:solidFill>
              <a:srgbClr val="C9A227"/>
            </a:solidFill>
            <a:prstDash val="solid"/>
          </a:ln>
        </p:spPr>
      </p:sp>
      <p:sp>
        <p:nvSpPr>
          <p:cNvPr id="10" name="Text 7"/>
          <p:cNvSpPr/>
          <p:nvPr/>
        </p:nvSpPr>
        <p:spPr>
          <a:xfrm>
            <a:off x="7539228"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p:nvPr/>
        </p:nvSpPr>
        <p:spPr>
          <a:xfrm>
            <a:off x="4265676" y="1188720"/>
            <a:ext cx="3154680" cy="384048"/>
          </a:xfrm>
          <a:prstGeom prst="rect">
            <a:avLst/>
          </a:prstGeom>
          <a:noFill/>
          <a:ln/>
        </p:spPr>
        <p:txBody>
          <a:bodyPr wrap="square" lIns="0" tIns="0" rIns="0" bIns="0" rtlCol="0" anchor="ctr"/>
          <a:lstStyle/>
          <a:p>
            <a:pPr rtl="1" algn="r" indent="0" marL="0">
              <a:buNone/>
            </a:pPr>
            <a:r>
              <a:rPr lang="en-US" sz="1450" b="1" dirty="0">
                <a:solidFill>
                  <a:srgbClr val="1B2A49"/>
                </a:solidFill>
                <a:latin typeface="Tahoma" pitchFamily="34" charset="0"/>
                <a:ea typeface="Tahoma" pitchFamily="34" charset="-122"/>
                <a:cs typeface="Tahoma" pitchFamily="34" charset="-120"/>
              </a:rPr>
              <a:t>دامنه و اسناد</a:t>
            </a:r>
            <a:endParaRPr lang="en-US" sz="1450" dirty="0"/>
          </a:p>
        </p:txBody>
      </p:sp>
      <p:sp>
        <p:nvSpPr>
          <p:cNvPr id="12" name="Shape 9"/>
          <p:cNvSpPr/>
          <p:nvPr/>
        </p:nvSpPr>
        <p:spPr>
          <a:xfrm>
            <a:off x="4265676" y="1691640"/>
            <a:ext cx="3657600" cy="2788920"/>
          </a:xfrm>
          <a:prstGeom prst="roundRect">
            <a:avLst>
              <a:gd name="adj" fmla="val 262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3" name="Image 1" descr="fs06">    </p:cNvPr>
          <p:cNvPicPr>
            <a:picLocks noChangeAspect="1"/>
          </p:cNvPicPr>
          <p:nvPr/>
        </p:nvPicPr>
        <p:blipFill>
          <a:blip r:embed="rId2"/>
          <a:stretch>
            <a:fillRect/>
          </a:stretch>
        </p:blipFill>
        <p:spPr>
          <a:xfrm>
            <a:off x="4311396" y="1884502"/>
            <a:ext cx="3566160" cy="2403196"/>
          </a:xfrm>
          <a:prstGeom prst="rect">
            <a:avLst/>
          </a:prstGeom>
        </p:spPr>
      </p:pic>
      <p:sp>
        <p:nvSpPr>
          <p:cNvPr id="14" name="Text 10"/>
          <p:cNvSpPr/>
          <p:nvPr/>
        </p:nvSpPr>
        <p:spPr>
          <a:xfrm>
            <a:off x="4265676" y="4617720"/>
            <a:ext cx="3657600" cy="169164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صورت ترکیبی (همهٔ زیرمجموعه‌ها) یا جداگانه؛ در ترکیبی «گروه واحدها» (بیمه‌ای، درمانی یا ستادی). حداقل وضعیت سند: پیش‌فرض تأیید دائم.</a:t>
            </a:r>
            <a:endParaRPr lang="en-US" sz="1250" dirty="0"/>
          </a:p>
        </p:txBody>
      </p:sp>
      <p:sp>
        <p:nvSpPr>
          <p:cNvPr id="15" name="Shape 11"/>
          <p:cNvSpPr/>
          <p:nvPr/>
        </p:nvSpPr>
        <p:spPr>
          <a:xfrm>
            <a:off x="3685032" y="1188720"/>
            <a:ext cx="384048" cy="384048"/>
          </a:xfrm>
          <a:prstGeom prst="ellipse">
            <a:avLst/>
          </a:prstGeom>
          <a:solidFill>
            <a:srgbClr val="C9A227"/>
          </a:solidFill>
          <a:ln w="12700">
            <a:solidFill>
              <a:srgbClr val="C9A227"/>
            </a:solidFill>
            <a:prstDash val="solid"/>
          </a:ln>
        </p:spPr>
      </p:sp>
      <p:sp>
        <p:nvSpPr>
          <p:cNvPr id="16" name="Text 12"/>
          <p:cNvSpPr/>
          <p:nvPr/>
        </p:nvSpPr>
        <p:spPr>
          <a:xfrm>
            <a:off x="3685032"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3"/>
          <p:cNvSpPr/>
          <p:nvPr/>
        </p:nvSpPr>
        <p:spPr>
          <a:xfrm>
            <a:off x="411480" y="1188720"/>
            <a:ext cx="3154680" cy="384048"/>
          </a:xfrm>
          <a:prstGeom prst="rect">
            <a:avLst/>
          </a:prstGeom>
          <a:noFill/>
          <a:ln/>
        </p:spPr>
        <p:txBody>
          <a:bodyPr wrap="square" lIns="0" tIns="0" rIns="0" bIns="0" rtlCol="0" anchor="ctr"/>
          <a:lstStyle/>
          <a:p>
            <a:pPr rtl="1" algn="r" indent="0" marL="0">
              <a:buNone/>
            </a:pPr>
            <a:r>
              <a:rPr lang="en-US" sz="1450" b="1" dirty="0">
                <a:solidFill>
                  <a:srgbClr val="1B2A49"/>
                </a:solidFill>
                <a:latin typeface="Tahoma" pitchFamily="34" charset="0"/>
                <a:ea typeface="Tahoma" pitchFamily="34" charset="-122"/>
                <a:cs typeface="Tahoma" pitchFamily="34" charset="-120"/>
              </a:rPr>
              <a:t>گزینه‌ها و اجرا</a:t>
            </a:r>
            <a:endParaRPr lang="en-US" sz="1450" dirty="0"/>
          </a:p>
        </p:txBody>
      </p:sp>
      <p:sp>
        <p:nvSpPr>
          <p:cNvPr id="18" name="Shape 14"/>
          <p:cNvSpPr/>
          <p:nvPr/>
        </p:nvSpPr>
        <p:spPr>
          <a:xfrm>
            <a:off x="411480" y="1691640"/>
            <a:ext cx="3657600" cy="2788920"/>
          </a:xfrm>
          <a:prstGeom prst="roundRect">
            <a:avLst>
              <a:gd name="adj" fmla="val 262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9" name="Image 2" descr="fs07">    </p:cNvPr>
          <p:cNvPicPr>
            <a:picLocks noChangeAspect="1"/>
          </p:cNvPicPr>
          <p:nvPr/>
        </p:nvPicPr>
        <p:blipFill>
          <a:blip r:embed="rId3"/>
          <a:stretch>
            <a:fillRect/>
          </a:stretch>
        </p:blipFill>
        <p:spPr>
          <a:xfrm>
            <a:off x="457200" y="1858747"/>
            <a:ext cx="3566160" cy="2454707"/>
          </a:xfrm>
          <a:prstGeom prst="rect">
            <a:avLst/>
          </a:prstGeom>
        </p:spPr>
      </p:pic>
      <p:sp>
        <p:nvSpPr>
          <p:cNvPr id="20" name="Text 15"/>
          <p:cNvSpPr/>
          <p:nvPr/>
        </p:nvSpPr>
        <p:spPr>
          <a:xfrm>
            <a:off x="411480" y="4617720"/>
            <a:ext cx="3657600" cy="169164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ستون سال قبل، «تجدید ارائه‌شده»، تلفیق با شرکت‌های تابعه، اجرا در پس‌زمینه و شمارهٔ اولین یادداشت ⇐ «تهیهٔ صورت‌ها». «ذخیره به‌عنوان پیش‌فرض» تنظیمات را نگه می‌دارد.</a:t>
            </a:r>
            <a:endParaRPr lang="en-US" sz="1250" dirty="0"/>
          </a:p>
        </p:txBody>
      </p:sp>
      <p:sp>
        <p:nvSpPr>
          <p:cNvPr id="21" name="Text 1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۲۰۴</a:t>
            </a:r>
            <a:endParaRPr lang="en-US" sz="1000" dirty="0"/>
          </a:p>
        </p:txBody>
      </p:sp>
      <p:sp>
        <p:nvSpPr>
          <p:cNvPr id="22" name="Text 1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مسیر کوتاه ۴ — مشاهدهٔ صورت مالی</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fs08">    </p:cNvPr>
          <p:cNvPicPr>
            <a:picLocks noChangeAspect="1"/>
          </p:cNvPicPr>
          <p:nvPr/>
        </p:nvPicPr>
        <p:blipFill>
          <a:blip r:embed="rId1"/>
          <a:stretch>
            <a:fillRect/>
          </a:stretch>
        </p:blipFill>
        <p:spPr>
          <a:xfrm>
            <a:off x="600538" y="1216152"/>
            <a:ext cx="6845643" cy="5065776"/>
          </a:xfrm>
          <a:prstGeom prst="rect">
            <a:avLst/>
          </a:prstGeom>
        </p:spPr>
      </p:pic>
      <p:sp>
        <p:nvSpPr>
          <p:cNvPr id="5" name="Shape 2"/>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6" name="Text 3"/>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7" name="Text 4"/>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واحد مبلغ را «میلیون ریال» کنید: موجودی نقد ۳۱,۲۴۵ میلیون دیده می‌شود؛ روی «۵» در ستون یادداشت بزنید تا ریز آن بیاید.</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قالب رسمی</a:t>
            </a:r>
            <a:endParaRPr lang="en-US" sz="1350" dirty="0"/>
          </a:p>
        </p:txBody>
      </p:sp>
      <p:sp>
        <p:nvSpPr>
          <p:cNvPr id="11" name="Text 8"/>
          <p:cNvSpPr/>
          <p:nvPr/>
        </p:nvSpPr>
        <p:spPr>
          <a:xfrm>
            <a:off x="7909560" y="1517904"/>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عنوان سه‌سطری، ستون یادداشت، سال جاری و قبل، خط جمع و پرانتز برای منفی.</a:t>
            </a:r>
            <a:endParaRPr lang="en-US" sz="1200" dirty="0"/>
          </a:p>
        </p:txBody>
      </p:sp>
      <p:sp>
        <p:nvSpPr>
          <p:cNvPr id="12" name="Shape 9"/>
          <p:cNvSpPr/>
          <p:nvPr/>
        </p:nvSpPr>
        <p:spPr>
          <a:xfrm>
            <a:off x="11411712" y="2055571"/>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05557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05557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ابزارها</a:t>
            </a:r>
            <a:endParaRPr lang="en-US" sz="1350" dirty="0"/>
          </a:p>
        </p:txBody>
      </p:sp>
      <p:sp>
        <p:nvSpPr>
          <p:cNvPr id="15" name="Text 12"/>
          <p:cNvSpPr/>
          <p:nvPr/>
        </p:nvSpPr>
        <p:spPr>
          <a:xfrm>
            <a:off x="7909560" y="2384755"/>
            <a:ext cx="3392424"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واحد مبلغ، تغییرات، تحلیل عمودی، فشرده و جستجو؛ خروجی Excel، Word یادداشت‌ها، XBRL و «بستهٔ رسمی / PDF».</a:t>
            </a:r>
            <a:endParaRPr lang="en-US" sz="1200" dirty="0"/>
          </a:p>
        </p:txBody>
      </p:sp>
      <p:sp>
        <p:nvSpPr>
          <p:cNvPr id="16" name="Shape 13"/>
          <p:cNvSpPr/>
          <p:nvPr/>
        </p:nvSpPr>
        <p:spPr>
          <a:xfrm>
            <a:off x="11411712" y="3136392"/>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313639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313639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زبانه‌ها</a:t>
            </a:r>
            <a:endParaRPr lang="en-US" sz="1350" dirty="0"/>
          </a:p>
        </p:txBody>
      </p:sp>
      <p:sp>
        <p:nvSpPr>
          <p:cNvPr id="19" name="Text 16"/>
          <p:cNvSpPr/>
          <p:nvPr/>
        </p:nvSpPr>
        <p:spPr>
          <a:xfrm>
            <a:off x="7909560" y="3465576"/>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هر صورت، یادداشت‌ها، کنترل‌ها و «کاربرگ ترکیب / تلفیق».</a:t>
            </a:r>
            <a:endParaRPr lang="en-US" sz="1200" dirty="0"/>
          </a:p>
        </p:txBody>
      </p:sp>
      <p:sp>
        <p:nvSpPr>
          <p:cNvPr id="20" name="Shape 17"/>
          <p:cNvSpPr/>
          <p:nvPr/>
        </p:nvSpPr>
        <p:spPr>
          <a:xfrm>
            <a:off x="11411712" y="4003243"/>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400324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400324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اثر انگشت و یادداشت</a:t>
            </a:r>
            <a:endParaRPr lang="en-US" sz="1350" dirty="0"/>
          </a:p>
        </p:txBody>
      </p:sp>
      <p:sp>
        <p:nvSpPr>
          <p:cNvPr id="23" name="Text 20"/>
          <p:cNvSpPr/>
          <p:nvPr/>
        </p:nvSpPr>
        <p:spPr>
          <a:xfrm>
            <a:off x="7909560" y="4332427"/>
            <a:ext cx="3392424"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کد اثر انگشت نشان می‌دهد اعداد تغییر نکرده؛ کلیک روی شمارهٔ یادداشت همان یادداشت را باز می‌کند.</a:t>
            </a:r>
            <a:endParaRPr lang="en-US" sz="1200" dirty="0"/>
          </a:p>
        </p:txBody>
      </p:sp>
      <p:sp>
        <p:nvSpPr>
          <p:cNvPr id="24" name="Text 2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۲۰۵</a:t>
            </a:r>
            <a:endParaRPr lang="en-US" sz="1000" dirty="0"/>
          </a:p>
        </p:txBody>
      </p:sp>
      <p:sp>
        <p:nvSpPr>
          <p:cNvPr id="25" name="Text 2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مسیر کوتاه ۵ — ابزارها و نسخهٔ چاپی</a:t>
            </a:r>
            <a:endParaRPr lang="en-US" sz="2500" dirty="0"/>
          </a:p>
        </p:txBody>
      </p:sp>
      <p:sp>
        <p:nvSpPr>
          <p:cNvPr id="3" name="Text 1"/>
          <p:cNvSpPr/>
          <p:nvPr/>
        </p:nvSpPr>
        <p:spPr>
          <a:xfrm>
            <a:off x="6208776"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تحلیل عمودی (درصد از پایه)</a:t>
            </a:r>
            <a:endParaRPr lang="en-US" sz="1200" dirty="0"/>
          </a:p>
        </p:txBody>
      </p:sp>
      <p:sp>
        <p:nvSpPr>
          <p:cNvPr id="4" name="Shape 2"/>
          <p:cNvSpPr/>
          <p:nvPr/>
        </p:nvSpPr>
        <p:spPr>
          <a:xfrm>
            <a:off x="6208776" y="1435608"/>
            <a:ext cx="5568696" cy="2077608"/>
          </a:xfrm>
          <a:prstGeom prst="roundRect">
            <a:avLst>
              <a:gd name="adj" fmla="val 352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5" name="Image 0" descr="fsn14s">    </p:cNvPr>
          <p:cNvPicPr>
            <a:picLocks noChangeAspect="1"/>
          </p:cNvPicPr>
          <p:nvPr/>
        </p:nvPicPr>
        <p:blipFill>
          <a:blip r:embed="rId1"/>
          <a:stretch>
            <a:fillRect/>
          </a:stretch>
        </p:blipFill>
        <p:spPr>
          <a:xfrm>
            <a:off x="6254496" y="1497635"/>
            <a:ext cx="5477256" cy="1953555"/>
          </a:xfrm>
          <a:prstGeom prst="rect">
            <a:avLst/>
          </a:prstGeom>
        </p:spPr>
      </p:pic>
      <p:sp>
        <p:nvSpPr>
          <p:cNvPr id="6" name="Text 3"/>
          <p:cNvSpPr/>
          <p:nvPr/>
        </p:nvSpPr>
        <p:spPr>
          <a:xfrm>
            <a:off x="411480" y="114300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بستهٔ رسمی / PDF</a:t>
            </a:r>
            <a:endParaRPr lang="en-US" sz="1200" dirty="0"/>
          </a:p>
        </p:txBody>
      </p:sp>
      <p:sp>
        <p:nvSpPr>
          <p:cNvPr id="7" name="Shape 4"/>
          <p:cNvSpPr/>
          <p:nvPr/>
        </p:nvSpPr>
        <p:spPr>
          <a:xfrm>
            <a:off x="411480" y="1435608"/>
            <a:ext cx="5568696" cy="2077608"/>
          </a:xfrm>
          <a:prstGeom prst="roundRect">
            <a:avLst>
              <a:gd name="adj" fmla="val 352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8" name="Image 1" descr="fsn16s">    </p:cNvPr>
          <p:cNvPicPr>
            <a:picLocks noChangeAspect="1"/>
          </p:cNvPicPr>
          <p:nvPr/>
        </p:nvPicPr>
        <p:blipFill>
          <a:blip r:embed="rId2"/>
          <a:stretch>
            <a:fillRect/>
          </a:stretch>
        </p:blipFill>
        <p:spPr>
          <a:xfrm>
            <a:off x="457200" y="1622395"/>
            <a:ext cx="5477256" cy="1704035"/>
          </a:xfrm>
          <a:prstGeom prst="rect">
            <a:avLst/>
          </a:prstGeom>
        </p:spPr>
      </p:pic>
      <p:sp>
        <p:nvSpPr>
          <p:cNvPr id="9" name="Shape 5"/>
          <p:cNvSpPr/>
          <p:nvPr/>
        </p:nvSpPr>
        <p:spPr>
          <a:xfrm>
            <a:off x="9038844" y="3696096"/>
            <a:ext cx="2738628" cy="1863456"/>
          </a:xfrm>
          <a:prstGeom prst="roundRect">
            <a:avLst>
              <a:gd name="adj" fmla="val 3926"/>
            </a:avLst>
          </a:prstGeom>
          <a:solidFill>
            <a:srgbClr val="FFFFFF"/>
          </a:solidFill>
          <a:ln w="6350">
            <a:solidFill>
              <a:srgbClr val="D9DEE7"/>
            </a:solidFill>
            <a:prstDash val="solid"/>
          </a:ln>
        </p:spPr>
      </p:sp>
      <p:sp>
        <p:nvSpPr>
          <p:cNvPr id="10" name="Shape 6"/>
          <p:cNvSpPr/>
          <p:nvPr/>
        </p:nvSpPr>
        <p:spPr>
          <a:xfrm>
            <a:off x="11356848" y="3787536"/>
            <a:ext cx="329184" cy="329184"/>
          </a:xfrm>
          <a:prstGeom prst="ellipse">
            <a:avLst/>
          </a:prstGeom>
          <a:solidFill>
            <a:srgbClr val="C9A227"/>
          </a:solidFill>
          <a:ln w="12700">
            <a:solidFill>
              <a:srgbClr val="C9A227"/>
            </a:solidFill>
            <a:prstDash val="solid"/>
          </a:ln>
        </p:spPr>
      </p:sp>
      <p:sp>
        <p:nvSpPr>
          <p:cNvPr id="11" name="Text 7"/>
          <p:cNvSpPr/>
          <p:nvPr/>
        </p:nvSpPr>
        <p:spPr>
          <a:xfrm>
            <a:off x="11356848" y="378753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8"/>
          <p:cNvSpPr/>
          <p:nvPr/>
        </p:nvSpPr>
        <p:spPr>
          <a:xfrm>
            <a:off x="9130284" y="3769248"/>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تحلیل عمودی</a:t>
            </a:r>
            <a:endParaRPr lang="en-US" sz="1300" dirty="0"/>
          </a:p>
        </p:txBody>
      </p:sp>
      <p:sp>
        <p:nvSpPr>
          <p:cNvPr id="13" name="Text 9"/>
          <p:cNvSpPr/>
          <p:nvPr/>
        </p:nvSpPr>
        <p:spPr>
          <a:xfrm>
            <a:off x="9148572" y="4171584"/>
            <a:ext cx="2519172" cy="1333104"/>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درصد هر ردیف از یک ردیف پایه (مثل جمع دارایی‌ها)؛ «فشرده» ردیف‌ها را نزدیک‌تر می‌کند.</a:t>
            </a:r>
            <a:endParaRPr lang="en-US" sz="1150" dirty="0"/>
          </a:p>
        </p:txBody>
      </p:sp>
      <p:sp>
        <p:nvSpPr>
          <p:cNvPr id="14" name="Shape 10"/>
          <p:cNvSpPr/>
          <p:nvPr/>
        </p:nvSpPr>
        <p:spPr>
          <a:xfrm>
            <a:off x="6163056" y="3696096"/>
            <a:ext cx="2738628" cy="1863456"/>
          </a:xfrm>
          <a:prstGeom prst="roundRect">
            <a:avLst>
              <a:gd name="adj" fmla="val 3926"/>
            </a:avLst>
          </a:prstGeom>
          <a:solidFill>
            <a:srgbClr val="FFFFFF"/>
          </a:solidFill>
          <a:ln w="6350">
            <a:solidFill>
              <a:srgbClr val="D9DEE7"/>
            </a:solidFill>
            <a:prstDash val="solid"/>
          </a:ln>
        </p:spPr>
      </p:sp>
      <p:sp>
        <p:nvSpPr>
          <p:cNvPr id="15" name="Shape 11"/>
          <p:cNvSpPr/>
          <p:nvPr/>
        </p:nvSpPr>
        <p:spPr>
          <a:xfrm>
            <a:off x="8481060" y="3787536"/>
            <a:ext cx="329184" cy="329184"/>
          </a:xfrm>
          <a:prstGeom prst="ellipse">
            <a:avLst/>
          </a:prstGeom>
          <a:solidFill>
            <a:srgbClr val="C9A227"/>
          </a:solidFill>
          <a:ln w="12700">
            <a:solidFill>
              <a:srgbClr val="C9A227"/>
            </a:solidFill>
            <a:prstDash val="solid"/>
          </a:ln>
        </p:spPr>
      </p:sp>
      <p:sp>
        <p:nvSpPr>
          <p:cNvPr id="16" name="Text 12"/>
          <p:cNvSpPr/>
          <p:nvPr/>
        </p:nvSpPr>
        <p:spPr>
          <a:xfrm>
            <a:off x="8481060" y="378753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7" name="Text 13"/>
          <p:cNvSpPr/>
          <p:nvPr/>
        </p:nvSpPr>
        <p:spPr>
          <a:xfrm>
            <a:off x="6254496" y="3769248"/>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میانبرها</a:t>
            </a:r>
            <a:endParaRPr lang="en-US" sz="1300" dirty="0"/>
          </a:p>
        </p:txBody>
      </p:sp>
      <p:sp>
        <p:nvSpPr>
          <p:cNvPr id="18" name="Text 14"/>
          <p:cNvSpPr/>
          <p:nvPr/>
        </p:nvSpPr>
        <p:spPr>
          <a:xfrm>
            <a:off x="6272784" y="4171584"/>
            <a:ext cx="2519172" cy="1333104"/>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 حرکت بین ردیف‌ها، Enter ریز مبلغ، Esc بستن پنل، Ctrl+K جستجوی ردیف.</a:t>
            </a:r>
            <a:endParaRPr lang="en-US" sz="1150" dirty="0"/>
          </a:p>
        </p:txBody>
      </p:sp>
      <p:sp>
        <p:nvSpPr>
          <p:cNvPr id="19" name="Shape 15"/>
          <p:cNvSpPr/>
          <p:nvPr/>
        </p:nvSpPr>
        <p:spPr>
          <a:xfrm>
            <a:off x="3287268" y="3696096"/>
            <a:ext cx="2738628" cy="1863456"/>
          </a:xfrm>
          <a:prstGeom prst="roundRect">
            <a:avLst>
              <a:gd name="adj" fmla="val 3926"/>
            </a:avLst>
          </a:prstGeom>
          <a:solidFill>
            <a:srgbClr val="FFFFFF"/>
          </a:solidFill>
          <a:ln w="6350">
            <a:solidFill>
              <a:srgbClr val="D9DEE7"/>
            </a:solidFill>
            <a:prstDash val="solid"/>
          </a:ln>
        </p:spPr>
      </p:sp>
      <p:sp>
        <p:nvSpPr>
          <p:cNvPr id="20" name="Shape 16"/>
          <p:cNvSpPr/>
          <p:nvPr/>
        </p:nvSpPr>
        <p:spPr>
          <a:xfrm>
            <a:off x="5605272" y="3787536"/>
            <a:ext cx="329184" cy="329184"/>
          </a:xfrm>
          <a:prstGeom prst="ellipse">
            <a:avLst/>
          </a:prstGeom>
          <a:solidFill>
            <a:srgbClr val="C9A227"/>
          </a:solidFill>
          <a:ln w="12700">
            <a:solidFill>
              <a:srgbClr val="C9A227"/>
            </a:solidFill>
            <a:prstDash val="solid"/>
          </a:ln>
        </p:spPr>
      </p:sp>
      <p:sp>
        <p:nvSpPr>
          <p:cNvPr id="21" name="Text 17"/>
          <p:cNvSpPr/>
          <p:nvPr/>
        </p:nvSpPr>
        <p:spPr>
          <a:xfrm>
            <a:off x="5605272" y="378753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2" name="Text 18"/>
          <p:cNvSpPr/>
          <p:nvPr/>
        </p:nvSpPr>
        <p:spPr>
          <a:xfrm>
            <a:off x="3378708" y="3769248"/>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نظر روی ردیف</a:t>
            </a:r>
            <a:endParaRPr lang="en-US" sz="1300" dirty="0"/>
          </a:p>
        </p:txBody>
      </p:sp>
      <p:sp>
        <p:nvSpPr>
          <p:cNvPr id="23" name="Text 19"/>
          <p:cNvSpPr/>
          <p:nvPr/>
        </p:nvSpPr>
        <p:spPr>
          <a:xfrm>
            <a:off x="3396996" y="4171584"/>
            <a:ext cx="2519172" cy="1333104"/>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آیکون گفت‌وگو کنار عنوان ردیف؛ بازبین و تهیه‌کننده همان‌جا گفت‌وگو می‌کنند.</a:t>
            </a:r>
            <a:endParaRPr lang="en-US" sz="1150" dirty="0"/>
          </a:p>
        </p:txBody>
      </p:sp>
      <p:sp>
        <p:nvSpPr>
          <p:cNvPr id="24" name="Shape 20"/>
          <p:cNvSpPr/>
          <p:nvPr/>
        </p:nvSpPr>
        <p:spPr>
          <a:xfrm>
            <a:off x="411480" y="3696096"/>
            <a:ext cx="2738628" cy="1863456"/>
          </a:xfrm>
          <a:prstGeom prst="roundRect">
            <a:avLst>
              <a:gd name="adj" fmla="val 3926"/>
            </a:avLst>
          </a:prstGeom>
          <a:solidFill>
            <a:srgbClr val="FFFFFF"/>
          </a:solidFill>
          <a:ln w="6350">
            <a:solidFill>
              <a:srgbClr val="D9DEE7"/>
            </a:solidFill>
            <a:prstDash val="solid"/>
          </a:ln>
        </p:spPr>
      </p:sp>
      <p:sp>
        <p:nvSpPr>
          <p:cNvPr id="25" name="Shape 21"/>
          <p:cNvSpPr/>
          <p:nvPr/>
        </p:nvSpPr>
        <p:spPr>
          <a:xfrm>
            <a:off x="2729484" y="3787536"/>
            <a:ext cx="329184" cy="329184"/>
          </a:xfrm>
          <a:prstGeom prst="ellipse">
            <a:avLst/>
          </a:prstGeom>
          <a:solidFill>
            <a:srgbClr val="C9A227"/>
          </a:solidFill>
          <a:ln w="12700">
            <a:solidFill>
              <a:srgbClr val="C9A227"/>
            </a:solidFill>
            <a:prstDash val="solid"/>
          </a:ln>
        </p:spPr>
      </p:sp>
      <p:sp>
        <p:nvSpPr>
          <p:cNvPr id="26" name="Text 22"/>
          <p:cNvSpPr/>
          <p:nvPr/>
        </p:nvSpPr>
        <p:spPr>
          <a:xfrm>
            <a:off x="2729484" y="378753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7" name="Text 23"/>
          <p:cNvSpPr/>
          <p:nvPr/>
        </p:nvSpPr>
        <p:spPr>
          <a:xfrm>
            <a:off x="502920" y="3769248"/>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چاپ رسمی</a:t>
            </a:r>
            <a:endParaRPr lang="en-US" sz="1300" dirty="0"/>
          </a:p>
        </p:txBody>
      </p:sp>
      <p:sp>
        <p:nvSpPr>
          <p:cNvPr id="28" name="Text 24"/>
          <p:cNvSpPr/>
          <p:nvPr/>
        </p:nvSpPr>
        <p:spPr>
          <a:xfrm>
            <a:off x="521208" y="4171584"/>
            <a:ext cx="2519172" cy="1333104"/>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«بستهٔ رسمی / PDF» صفحهٔ چاپ را باز می‌کند؛ «ذخیره به‌صورت PDF» را انتخاب کنید.</a:t>
            </a:r>
            <a:endParaRPr lang="en-US" sz="1150" dirty="0"/>
          </a:p>
        </p:txBody>
      </p:sp>
      <p:sp>
        <p:nvSpPr>
          <p:cNvPr id="29" name="Shape 25"/>
          <p:cNvSpPr/>
          <p:nvPr/>
        </p:nvSpPr>
        <p:spPr>
          <a:xfrm>
            <a:off x="411480" y="5696712"/>
            <a:ext cx="11365992" cy="658368"/>
          </a:xfrm>
          <a:prstGeom prst="roundRect">
            <a:avLst>
              <a:gd name="adj" fmla="val 11111"/>
            </a:avLst>
          </a:prstGeom>
          <a:solidFill>
            <a:srgbClr val="E3F3EA"/>
          </a:solidFill>
          <a:ln w="9525">
            <a:solidFill>
              <a:srgbClr val="1E7A4C"/>
            </a:solidFill>
            <a:prstDash val="solid"/>
          </a:ln>
        </p:spPr>
      </p:sp>
      <p:sp>
        <p:nvSpPr>
          <p:cNvPr id="30" name="Text 26"/>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31" name="Text 27"/>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موجودی نقد ۳۱,۲۴۵ از جمع دارایی‌ها چند درصد است؟ تحلیل عمودی را روشن و «جمع دارایی‌ها» را پایه کنید.</a:t>
            </a:r>
            <a:endParaRPr lang="en-US" sz="1250" dirty="0"/>
          </a:p>
        </p:txBody>
      </p:sp>
      <p:sp>
        <p:nvSpPr>
          <p:cNvPr id="32" name="Text 28"/>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۲۰۶</a:t>
            </a:r>
            <a:endParaRPr lang="en-US" sz="1000" dirty="0"/>
          </a:p>
        </p:txBody>
      </p:sp>
      <p:sp>
        <p:nvSpPr>
          <p:cNvPr id="33" name="Text 29"/>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وضعیت اجرا و وضعیت دوره</a:t>
            </a:r>
            <a:endParaRPr lang="en-US" sz="2500" dirty="0"/>
          </a:p>
        </p:txBody>
      </p:sp>
      <p:graphicFrame>
        <p:nvGraphicFramePr>
          <p:cNvPr id="208" name="Table 0"/>
          <p:cNvGraphicFramePr>
            <a:graphicFrameLocks noGrp="1"/>
          </p:cNvGraphicFramePr>
          <p:nvPr>
            <p:extLst>
              <p:ext uri="{D42A27DB-BD31-4B8C-83A1-F6EECF244321}">
                <p14:modId xmlns:p14="http://schemas.microsoft.com/office/powerpoint/2010/main" val="1579011935"/>
              </p:ext>
            </p:extLst>
          </p:nvPr>
        </p:nvGraphicFramePr>
        <p:xfrm>
          <a:off x="6245352" y="1234440"/>
          <a:ext cx="5532120" cy="914400"/>
        </p:xfrm>
        <a:graphic>
          <a:graphicData uri="http://schemas.openxmlformats.org/drawingml/2006/table">
            <a:tbl>
              <a:tblPr rtl="1"/>
              <a:tblGrid>
                <a:gridCol w="1770278"/>
                <a:gridCol w="3761842"/>
              </a:tblGrid>
              <a:tr h="502920">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وضعیت اجرا</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یعنی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پیش‌نویس</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تازه تهیه شده؛ قابل حذف و اجرای دوباره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در بازبینی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برای تأییدکنندگان ارسال شده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تأییدشده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همهٔ مراحل تأیید گذشته؛ آمادهٔ انتشار</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منتشرشده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نسخهٔ رسمی دوره؛ متن یادداشت‌ها ثابت می‌شود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جایگزین‌شده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نسخهٔ منتشرشدهٔ قبلی که انتشار تازه جایش را گرفته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bl>
          </a:graphicData>
        </a:graphic>
      </p:graphicFrame>
      <p:graphicFrame>
        <p:nvGraphicFramePr>
          <p:cNvPr id="415" name="Table 1"/>
          <p:cNvGraphicFramePr>
            <a:graphicFrameLocks noGrp="1"/>
          </p:cNvGraphicFramePr>
          <p:nvPr>
            <p:extLst>
              <p:ext uri="{D42A27DB-BD31-4B8C-83A1-F6EECF244321}">
                <p14:modId xmlns:p14="http://schemas.microsoft.com/office/powerpoint/2010/main" val="1579011935"/>
              </p:ext>
            </p:extLst>
          </p:nvPr>
        </p:nvGraphicFramePr>
        <p:xfrm>
          <a:off x="411480" y="1234440"/>
          <a:ext cx="5532120" cy="914400"/>
        </p:xfrm>
        <a:graphic>
          <a:graphicData uri="http://schemas.openxmlformats.org/drawingml/2006/table">
            <a:tbl>
              <a:tblPr rtl="1"/>
              <a:tblGrid>
                <a:gridCol w="1770278"/>
                <a:gridCol w="3761842"/>
              </a:tblGrid>
              <a:tr h="502920">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وضعیت دوره</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00" b="1" dirty="0">
                          <a:solidFill>
                            <a:srgbClr val="FFFFFF"/>
                          </a:solidFill>
                          <a:latin typeface="Tahoma" pitchFamily="34" charset="0"/>
                          <a:ea typeface="Tahoma" pitchFamily="34" charset="-122"/>
                          <a:cs typeface="Tahoma" pitchFamily="34" charset="-120"/>
                        </a:rPr>
                        <a:t>یعنی</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باز</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کار عادی دوره ادامه دارد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بستهٔ موقت</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آمادهٔ قفل؛ مستقیم باز می‌شود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00" b="1" dirty="0">
                          <a:solidFill>
                            <a:srgbClr val="1B2A49"/>
                          </a:solidFill>
                          <a:latin typeface="Tahoma" pitchFamily="34" charset="0"/>
                          <a:ea typeface="Tahoma" pitchFamily="34" charset="-122"/>
                          <a:cs typeface="Tahoma" pitchFamily="34" charset="-120"/>
                        </a:rPr>
                        <a:t>قفل</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F2937"/>
                          </a:solidFill>
                          <a:latin typeface="Tahoma" pitchFamily="34" charset="0"/>
                          <a:ea typeface="Tahoma" pitchFamily="34" charset="-122"/>
                          <a:cs typeface="Tahoma" pitchFamily="34" charset="-120"/>
                        </a:rPr>
                        <a:t>شرط انتشار؛ بازگشایی فقط با درخواست و تأیید ستاد</a:t>
                      </a:r>
                      <a:endParaRPr lang="en-US" sz="1200" dirty="0">
                        <a:latin typeface="Tahoma" charset="0"/>
                        <a:ea typeface="Tahoma" charset="0"/>
                        <a:cs typeface="Tahoma" charset="0"/>
                      </a:endParaRPr>
                    </a:p>
                  </a:txBody>
                  <a:tcPr marL="91440" marR="91440"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bl>
          </a:graphicData>
        </a:graphic>
      </p:graphicFrame>
      <p:sp>
        <p:nvSpPr>
          <p:cNvPr id="5" name="Shape 1"/>
          <p:cNvSpPr/>
          <p:nvPr/>
        </p:nvSpPr>
        <p:spPr>
          <a:xfrm>
            <a:off x="411480" y="5440680"/>
            <a:ext cx="11365992" cy="822960"/>
          </a:xfrm>
          <a:prstGeom prst="roundRect">
            <a:avLst>
              <a:gd name="adj" fmla="val 8889"/>
            </a:avLst>
          </a:prstGeom>
          <a:solidFill>
            <a:srgbClr val="F6EDCF"/>
          </a:solidFill>
          <a:ln w="9525">
            <a:solidFill>
              <a:srgbClr val="C9A227"/>
            </a:solidFill>
            <a:prstDash val="solid"/>
          </a:ln>
        </p:spPr>
      </p:sp>
      <p:sp>
        <p:nvSpPr>
          <p:cNvPr id="6" name="Text 2"/>
          <p:cNvSpPr/>
          <p:nvPr/>
        </p:nvSpPr>
        <p:spPr>
          <a:xfrm>
            <a:off x="10863072" y="5440680"/>
            <a:ext cx="822960" cy="822960"/>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7" name="Text 3"/>
          <p:cNvSpPr/>
          <p:nvPr/>
        </p:nvSpPr>
        <p:spPr>
          <a:xfrm>
            <a:off x="548640" y="5440680"/>
            <a:ext cx="10241280" cy="822960"/>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قفل هر واحد، زیرواحدهایش را هم قفل‌شده حساب می‌کند. این قفل مخصوص صورت‌هاست و ثبت سند را نمی‌بندد.</a:t>
            </a:r>
            <a:endParaRPr lang="en-US" sz="1250" dirty="0"/>
          </a:p>
        </p:txBody>
      </p:sp>
      <p:sp>
        <p:nvSpPr>
          <p:cNvPr id="8" name="Text 4"/>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۲۰۷</a:t>
            </a:r>
            <a:endParaRPr lang="en-US" sz="1000" dirty="0"/>
          </a:p>
        </p:txBody>
      </p:sp>
      <p:sp>
        <p:nvSpPr>
          <p:cNvPr id="9" name="Text 5"/>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 — دسترسی صورت‌های مالی</a:t>
            </a:r>
            <a:endParaRPr lang="en-US" sz="2500" dirty="0"/>
          </a:p>
        </p:txBody>
      </p:sp>
      <p:sp>
        <p:nvSpPr>
          <p:cNvPr id="3" name="Shape 1"/>
          <p:cNvSpPr/>
          <p:nvPr/>
        </p:nvSpPr>
        <p:spPr>
          <a:xfrm>
            <a:off x="8339328" y="896112"/>
            <a:ext cx="343814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449056" y="896112"/>
            <a:ext cx="321868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دسترسی صورت‌های مالی</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fsn08">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کارشناس اداره کل تهران: «مشاهده» و «تهیه» روی همان اداره کل؛ مدیرکل امور مالی ستاد: «تأیید/برگشت» روی ستاد با زیرمجموعه‌ها.</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سه بُعد</a:t>
            </a:r>
            <a:endParaRPr lang="en-US" sz="1350" dirty="0"/>
          </a:p>
        </p:txBody>
      </p:sp>
      <p:sp>
        <p:nvSpPr>
          <p:cNvPr id="13" name="Text 10"/>
          <p:cNvSpPr/>
          <p:nvPr/>
        </p:nvSpPr>
        <p:spPr>
          <a:xfrm>
            <a:off x="7909560" y="170078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چه کسی، روی کدام واحد (و زیرمجموعه‌ها)، در کدام مجموعهٔ صورت، چه کاری انجام دهد.</a:t>
            </a:r>
            <a:endParaRPr lang="en-US" sz="1250" dirty="0"/>
          </a:p>
        </p:txBody>
      </p:sp>
      <p:sp>
        <p:nvSpPr>
          <p:cNvPr id="14" name="Shape 11"/>
          <p:cNvSpPr/>
          <p:nvPr/>
        </p:nvSpPr>
        <p:spPr>
          <a:xfrm>
            <a:off x="11411712" y="225628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5628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5628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عملیات</a:t>
            </a:r>
            <a:endParaRPr lang="en-US" sz="1350" dirty="0"/>
          </a:p>
        </p:txBody>
      </p:sp>
      <p:sp>
        <p:nvSpPr>
          <p:cNvPr id="17" name="Text 14"/>
          <p:cNvSpPr/>
          <p:nvPr/>
        </p:nvSpPr>
        <p:spPr>
          <a:xfrm>
            <a:off x="7909560" y="2585466"/>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مشاهده، تهیه، تغییر قالب، فعال‌سازی، تأیید/برگشت، انتشار، بستن دوره و مدیریت دسترسی.</a:t>
            </a:r>
            <a:endParaRPr lang="en-US" sz="1250" dirty="0"/>
          </a:p>
        </p:txBody>
      </p:sp>
      <p:sp>
        <p:nvSpPr>
          <p:cNvPr id="18" name="Shape 15"/>
          <p:cNvSpPr/>
          <p:nvPr/>
        </p:nvSpPr>
        <p:spPr>
          <a:xfrm>
            <a:off x="11411712" y="3140964"/>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409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4096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تفکیک وظایف</a:t>
            </a:r>
            <a:endParaRPr lang="en-US" sz="1350" dirty="0"/>
          </a:p>
        </p:txBody>
      </p:sp>
      <p:sp>
        <p:nvSpPr>
          <p:cNvPr id="21" name="Text 18"/>
          <p:cNvSpPr/>
          <p:nvPr/>
        </p:nvSpPr>
        <p:spPr>
          <a:xfrm>
            <a:off x="7909560" y="3470148"/>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تهیه‌کننده و تأییدکننده، و ویرایشگر قالب و فعال‌کننده را به افراد جدا بدهید.</a:t>
            </a:r>
            <a:endParaRPr lang="en-US" sz="1250" dirty="0"/>
          </a:p>
        </p:txBody>
      </p:sp>
      <p:sp>
        <p:nvSpPr>
          <p:cNvPr id="22" name="Shape 19"/>
          <p:cNvSpPr/>
          <p:nvPr/>
        </p:nvSpPr>
        <p:spPr>
          <a:xfrm>
            <a:off x="11411712" y="402564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256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256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دسترسی جدید</a:t>
            </a:r>
            <a:endParaRPr lang="en-US" sz="1350" dirty="0"/>
          </a:p>
        </p:txBody>
      </p:sp>
      <p:sp>
        <p:nvSpPr>
          <p:cNvPr id="25" name="Text 22"/>
          <p:cNvSpPr/>
          <p:nvPr/>
        </p:nvSpPr>
        <p:spPr>
          <a:xfrm>
            <a:off x="7909560" y="4354830"/>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کد کاربری، واحد، مجموعه و تیک عملیات‌ها؛ فقط دارندهٔ «مدیریت دسترسی» تغییر می‌دهد.</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۲۰۸</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۲ — قالب صورت‌ها</a:t>
            </a:r>
            <a:endParaRPr lang="en-US" sz="2500" dirty="0"/>
          </a:p>
        </p:txBody>
      </p:sp>
      <p:sp>
        <p:nvSpPr>
          <p:cNvPr id="3" name="Shape 1"/>
          <p:cNvSpPr/>
          <p:nvPr/>
        </p:nvSpPr>
        <p:spPr>
          <a:xfrm>
            <a:off x="8961120" y="896112"/>
            <a:ext cx="281635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9070848" y="896112"/>
            <a:ext cx="259689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قالب صورت‌ها</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fs01">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451653"/>
            <a:ext cx="3867912" cy="903427"/>
          </a:xfrm>
          <a:prstGeom prst="roundRect">
            <a:avLst>
              <a:gd name="adj" fmla="val 8097"/>
            </a:avLst>
          </a:prstGeom>
          <a:solidFill>
            <a:srgbClr val="F6EDCF"/>
          </a:solidFill>
          <a:ln w="9525">
            <a:solidFill>
              <a:srgbClr val="C9A227"/>
            </a:solidFill>
            <a:prstDash val="solid"/>
          </a:ln>
        </p:spPr>
      </p:sp>
      <p:sp>
        <p:nvSpPr>
          <p:cNvPr id="8" name="Text 5"/>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9" name="Text 6"/>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استاندارد ۲۷ مخصوص طرح‌های مزایای بازنشستگی (صندوق‌ها) و استاندارد ۱ برای واحدهای تجاری است.</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مجموعه‌ها</a:t>
            </a:r>
            <a:endParaRPr lang="en-US" sz="1350" dirty="0"/>
          </a:p>
        </p:txBody>
      </p:sp>
      <p:sp>
        <p:nvSpPr>
          <p:cNvPr id="13" name="Text 10"/>
          <p:cNvSpPr/>
          <p:nvPr/>
        </p:nvSpPr>
        <p:spPr>
          <a:xfrm>
            <a:off x="7909560" y="1700784"/>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زبانه‌ها: طرح بیمه‌ای (استاندارد ۲۷)، واحد تجاری (استاندارد ۱)، بخش عمومی، مدیریتی.</a:t>
            </a:r>
            <a:endParaRPr lang="en-US" sz="1050" dirty="0"/>
          </a:p>
        </p:txBody>
      </p:sp>
      <p:sp>
        <p:nvSpPr>
          <p:cNvPr id="14" name="Shape 11"/>
          <p:cNvSpPr/>
          <p:nvPr/>
        </p:nvSpPr>
        <p:spPr>
          <a:xfrm>
            <a:off x="11411712" y="2184959"/>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18495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18495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قالب‌های پیش‌فرض</a:t>
            </a:r>
            <a:endParaRPr lang="en-US" sz="1350" dirty="0"/>
          </a:p>
        </p:txBody>
      </p:sp>
      <p:sp>
        <p:nvSpPr>
          <p:cNvPr id="17" name="Text 14"/>
          <p:cNvSpPr/>
          <p:nvPr/>
        </p:nvSpPr>
        <p:spPr>
          <a:xfrm>
            <a:off x="7909560" y="2514143"/>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دکمهٔ «قالب‌های پیش‌فرض» صورت‌ها و یادداشت‌های نمونه را می‌سازد (فقط ستاد).</a:t>
            </a:r>
            <a:endParaRPr lang="en-US" sz="1050" dirty="0"/>
          </a:p>
        </p:txBody>
      </p:sp>
      <p:sp>
        <p:nvSpPr>
          <p:cNvPr id="18" name="Shape 15"/>
          <p:cNvSpPr/>
          <p:nvPr/>
        </p:nvSpPr>
        <p:spPr>
          <a:xfrm>
            <a:off x="11411712" y="2998318"/>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299831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2998318"/>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نسخه‌ها</a:t>
            </a:r>
            <a:endParaRPr lang="en-US" sz="1350" dirty="0"/>
          </a:p>
        </p:txBody>
      </p:sp>
      <p:sp>
        <p:nvSpPr>
          <p:cNvPr id="21" name="Text 18"/>
          <p:cNvSpPr/>
          <p:nvPr/>
        </p:nvSpPr>
        <p:spPr>
          <a:xfrm>
            <a:off x="7909560" y="3327502"/>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هر قالب نسخه‌های فعال، پیش‌نویس و بازنشسته دارد؛ فقط پیش‌نویس ویرایش می‌شود.</a:t>
            </a:r>
            <a:endParaRPr lang="en-US" sz="1050" dirty="0"/>
          </a:p>
        </p:txBody>
      </p:sp>
      <p:sp>
        <p:nvSpPr>
          <p:cNvPr id="22" name="Shape 19"/>
          <p:cNvSpPr/>
          <p:nvPr/>
        </p:nvSpPr>
        <p:spPr>
          <a:xfrm>
            <a:off x="11411712" y="381167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381167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381167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مالکیت</a:t>
            </a:r>
            <a:endParaRPr lang="en-US" sz="1350" dirty="0"/>
          </a:p>
        </p:txBody>
      </p:sp>
      <p:sp>
        <p:nvSpPr>
          <p:cNvPr id="25" name="Text 22"/>
          <p:cNvSpPr/>
          <p:nvPr/>
        </p:nvSpPr>
        <p:spPr>
          <a:xfrm>
            <a:off x="7909560" y="4140860"/>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«مشترک» برای همهٔ واحدها؛ قالب اختصاصی یک واحد، قالب مشترک هم‌کد را برای آن واحد جایگزین می‌کند.</a:t>
            </a:r>
            <a:endParaRPr lang="en-US" sz="1050" dirty="0"/>
          </a:p>
        </p:txBody>
      </p:sp>
      <p:sp>
        <p:nvSpPr>
          <p:cNvPr id="26" name="Shape 23"/>
          <p:cNvSpPr/>
          <p:nvPr/>
        </p:nvSpPr>
        <p:spPr>
          <a:xfrm>
            <a:off x="11411712" y="4625035"/>
            <a:ext cx="329184" cy="329184"/>
          </a:xfrm>
          <a:prstGeom prst="ellipse">
            <a:avLst/>
          </a:prstGeom>
          <a:solidFill>
            <a:srgbClr val="C9A227"/>
          </a:solidFill>
          <a:ln w="12700">
            <a:solidFill>
              <a:srgbClr val="C9A227"/>
            </a:solidFill>
            <a:prstDash val="solid"/>
          </a:ln>
        </p:spPr>
      </p:sp>
      <p:sp>
        <p:nvSpPr>
          <p:cNvPr id="27" name="Text 24"/>
          <p:cNvSpPr/>
          <p:nvPr/>
        </p:nvSpPr>
        <p:spPr>
          <a:xfrm>
            <a:off x="11411712" y="4625035"/>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8" name="Text 25"/>
          <p:cNvSpPr/>
          <p:nvPr/>
        </p:nvSpPr>
        <p:spPr>
          <a:xfrm>
            <a:off x="7909560" y="4625035"/>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قالب جدید</a:t>
            </a:r>
            <a:endParaRPr lang="en-US" sz="1350" dirty="0"/>
          </a:p>
        </p:txBody>
      </p:sp>
      <p:sp>
        <p:nvSpPr>
          <p:cNvPr id="29" name="Text 26"/>
          <p:cNvSpPr/>
          <p:nvPr/>
        </p:nvSpPr>
        <p:spPr>
          <a:xfrm>
            <a:off x="7909560" y="4954219"/>
            <a:ext cx="3392424" cy="429311"/>
          </a:xfrm>
          <a:prstGeom prst="rect">
            <a:avLst/>
          </a:prstGeom>
          <a:noFill/>
          <a:ln/>
        </p:spPr>
        <p:txBody>
          <a:bodyPr wrap="square" lIns="0" tIns="0" rIns="0" bIns="0" rtlCol="0" anchor="t"/>
          <a:lstStyle/>
          <a:p>
            <a:pPr rtl="1" algn="r" indent="0" marL="0">
              <a:buNone/>
            </a:pPr>
            <a:r>
              <a:rPr lang="en-US" sz="1050" dirty="0">
                <a:solidFill>
                  <a:srgbClr val="1F2937"/>
                </a:solidFill>
                <a:latin typeface="Tahoma" pitchFamily="34" charset="0"/>
                <a:ea typeface="Tahoma" pitchFamily="34" charset="-122"/>
                <a:cs typeface="Tahoma" pitchFamily="34" charset="-120"/>
              </a:rPr>
              <a:t>نوع صورت را انتخاب کنید؛ برای «یادداشت» صورت و ردیف والد را هم تعیین کنید.</a:t>
            </a:r>
            <a:endParaRPr lang="en-US" sz="1050" dirty="0"/>
          </a:p>
        </p:txBody>
      </p:sp>
      <p:sp>
        <p:nvSpPr>
          <p:cNvPr id="30" name="Text 2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۲۰۹</a:t>
            </a:r>
            <a:endParaRPr lang="en-US" sz="1000" dirty="0"/>
          </a:p>
        </p:txBody>
      </p:sp>
      <p:sp>
        <p:nvSpPr>
          <p:cNvPr id="31" name="Text 2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۳ — ردیف‌های نسخهٔ قالب</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fs02">    </p:cNvPr>
          <p:cNvPicPr>
            <a:picLocks noChangeAspect="1"/>
          </p:cNvPicPr>
          <p:nvPr/>
        </p:nvPicPr>
        <p:blipFill>
          <a:blip r:embed="rId1"/>
          <a:stretch>
            <a:fillRect/>
          </a:stretch>
        </p:blipFill>
        <p:spPr>
          <a:xfrm>
            <a:off x="600538" y="1216152"/>
            <a:ext cx="6845643" cy="5065776"/>
          </a:xfrm>
          <a:prstGeom prst="rect">
            <a:avLst/>
          </a:prstGeom>
        </p:spPr>
      </p:pic>
      <p:sp>
        <p:nvSpPr>
          <p:cNvPr id="5" name="Shape 2"/>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6" name="Text 3"/>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7" name="Text 4"/>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در تصویر ردیف A07 «دارایی‌های نامشهود» تازه اضافه شده، ولی جمع A99 هنوز SUM(A01:A06) است؛ آن را A01:A07 کنید، «بررسی قالب» و بعد «فعال‌سازی».</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ستون‌ها</a:t>
            </a:r>
            <a:endParaRPr lang="en-US" sz="1350" dirty="0"/>
          </a:p>
        </p:txBody>
      </p:sp>
      <p:sp>
        <p:nvSpPr>
          <p:cNvPr id="11" name="Text 8"/>
          <p:cNvSpPr/>
          <p:nvPr/>
        </p:nvSpPr>
        <p:spPr>
          <a:xfrm>
            <a:off x="7909560" y="1517904"/>
            <a:ext cx="3392424" cy="447142"/>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کد، عنوان، نوع، حساب/فرمول، ماهیت و مقدار، یادداشت.</a:t>
            </a:r>
            <a:endParaRPr lang="en-US" sz="1100" dirty="0"/>
          </a:p>
        </p:txBody>
      </p:sp>
      <p:sp>
        <p:nvSpPr>
          <p:cNvPr id="12" name="Shape 9"/>
          <p:cNvSpPr/>
          <p:nvPr/>
        </p:nvSpPr>
        <p:spPr>
          <a:xfrm>
            <a:off x="11411712" y="2019910"/>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01991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01991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انواع ردیف</a:t>
            </a:r>
            <a:endParaRPr lang="en-US" sz="1350" dirty="0"/>
          </a:p>
        </p:txBody>
      </p:sp>
      <p:sp>
        <p:nvSpPr>
          <p:cNvPr id="15" name="Text 12"/>
          <p:cNvSpPr/>
          <p:nvPr/>
        </p:nvSpPr>
        <p:spPr>
          <a:xfrm>
            <a:off x="7909560" y="2349094"/>
            <a:ext cx="3392424" cy="251003"/>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عنوان، حساب، فرمول، مقدار دستی، متن و خالی.</a:t>
            </a:r>
            <a:endParaRPr lang="en-US" sz="1100" dirty="0"/>
          </a:p>
        </p:txBody>
      </p:sp>
      <p:sp>
        <p:nvSpPr>
          <p:cNvPr id="16" name="Shape 13"/>
          <p:cNvSpPr/>
          <p:nvPr/>
        </p:nvSpPr>
        <p:spPr>
          <a:xfrm>
            <a:off x="11411712" y="2654960"/>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265496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265496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ترتیب</a:t>
            </a:r>
            <a:endParaRPr lang="en-US" sz="1350" dirty="0"/>
          </a:p>
        </p:txBody>
      </p:sp>
      <p:sp>
        <p:nvSpPr>
          <p:cNvPr id="19" name="Text 16"/>
          <p:cNvSpPr/>
          <p:nvPr/>
        </p:nvSpPr>
        <p:spPr>
          <a:xfrm>
            <a:off x="7909560" y="2984144"/>
            <a:ext cx="3392424" cy="447142"/>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پیکان‌های بالا/پایین، یا نمای «درخت»: کشیدن و رها کردن.</a:t>
            </a:r>
            <a:endParaRPr lang="en-US" sz="1100" dirty="0"/>
          </a:p>
        </p:txBody>
      </p:sp>
      <p:sp>
        <p:nvSpPr>
          <p:cNvPr id="20" name="Shape 17"/>
          <p:cNvSpPr/>
          <p:nvPr/>
        </p:nvSpPr>
        <p:spPr>
          <a:xfrm>
            <a:off x="11411712" y="3486150"/>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348615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348615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بررسی قالب</a:t>
            </a:r>
            <a:endParaRPr lang="en-US" sz="1350" dirty="0"/>
          </a:p>
        </p:txBody>
      </p:sp>
      <p:sp>
        <p:nvSpPr>
          <p:cNvPr id="23" name="Text 20"/>
          <p:cNvSpPr/>
          <p:nvPr/>
        </p:nvSpPr>
        <p:spPr>
          <a:xfrm>
            <a:off x="7909560" y="3815334"/>
            <a:ext cx="3392424" cy="251003"/>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خطاها (مانع فعال‌سازی) و هشدارها را نشان می‌دهد.</a:t>
            </a:r>
            <a:endParaRPr lang="en-US" sz="1100" dirty="0"/>
          </a:p>
        </p:txBody>
      </p:sp>
      <p:sp>
        <p:nvSpPr>
          <p:cNvPr id="24" name="Shape 21"/>
          <p:cNvSpPr/>
          <p:nvPr/>
        </p:nvSpPr>
        <p:spPr>
          <a:xfrm>
            <a:off x="11411712" y="4121201"/>
            <a:ext cx="329184" cy="329184"/>
          </a:xfrm>
          <a:prstGeom prst="ellipse">
            <a:avLst/>
          </a:prstGeom>
          <a:solidFill>
            <a:srgbClr val="C9A227"/>
          </a:solidFill>
          <a:ln w="12700">
            <a:solidFill>
              <a:srgbClr val="C9A227"/>
            </a:solidFill>
            <a:prstDash val="solid"/>
          </a:ln>
        </p:spPr>
      </p:sp>
      <p:sp>
        <p:nvSpPr>
          <p:cNvPr id="25" name="Text 22"/>
          <p:cNvSpPr/>
          <p:nvPr/>
        </p:nvSpPr>
        <p:spPr>
          <a:xfrm>
            <a:off x="11411712" y="412120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6" name="Text 23"/>
          <p:cNvSpPr/>
          <p:nvPr/>
        </p:nvSpPr>
        <p:spPr>
          <a:xfrm>
            <a:off x="7909560" y="412120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فعال‌سازی</a:t>
            </a:r>
            <a:endParaRPr lang="en-US" sz="1350" dirty="0"/>
          </a:p>
        </p:txBody>
      </p:sp>
      <p:sp>
        <p:nvSpPr>
          <p:cNvPr id="27" name="Text 24"/>
          <p:cNvSpPr/>
          <p:nvPr/>
        </p:nvSpPr>
        <p:spPr>
          <a:xfrm>
            <a:off x="7909560" y="4450385"/>
            <a:ext cx="3392424" cy="447142"/>
          </a:xfrm>
          <a:prstGeom prst="rect">
            <a:avLst/>
          </a:prstGeom>
          <a:noFill/>
          <a:ln/>
        </p:spPr>
        <p:txBody>
          <a:bodyPr wrap="square" lIns="0" tIns="0" rIns="0" bIns="0" rtlCol="0" anchor="t"/>
          <a:lstStyle/>
          <a:p>
            <a:pPr rtl="1" algn="r" indent="0" marL="0">
              <a:buNone/>
            </a:pPr>
            <a:r>
              <a:rPr lang="en-US" sz="1100" dirty="0">
                <a:solidFill>
                  <a:srgbClr val="1F2937"/>
                </a:solidFill>
                <a:latin typeface="Tahoma" pitchFamily="34" charset="0"/>
                <a:ea typeface="Tahoma" pitchFamily="34" charset="-122"/>
                <a:cs typeface="Tahoma" pitchFamily="34" charset="-120"/>
              </a:rPr>
              <a:t>سال شروع اعتبار را بدهید؛ نسخهٔ فعال قبلی با همان سال بازنشسته می‌شود.</a:t>
            </a:r>
            <a:endParaRPr lang="en-US" sz="1100" dirty="0"/>
          </a:p>
        </p:txBody>
      </p:sp>
      <p:sp>
        <p:nvSpPr>
          <p:cNvPr id="28" name="Text 25"/>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۲۱۰</a:t>
            </a:r>
            <a:endParaRPr lang="en-US" sz="1000" dirty="0"/>
          </a:p>
        </p:txBody>
      </p:sp>
      <p:sp>
        <p:nvSpPr>
          <p:cNvPr id="29" name="Text 26"/>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طراح درختی قالب</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fsn17">    </p:cNvPr>
          <p:cNvPicPr>
            <a:picLocks noChangeAspect="1"/>
          </p:cNvPicPr>
          <p:nvPr/>
        </p:nvPicPr>
        <p:blipFill>
          <a:blip r:embed="rId1"/>
          <a:stretch>
            <a:fillRect/>
          </a:stretch>
        </p:blipFill>
        <p:spPr>
          <a:xfrm>
            <a:off x="600538" y="1216152"/>
            <a:ext cx="6845643" cy="5065776"/>
          </a:xfrm>
          <a:prstGeom prst="rect">
            <a:avLst/>
          </a:prstGeom>
        </p:spPr>
      </p:pic>
      <p:sp>
        <p:nvSpPr>
          <p:cNvPr id="5" name="Shape 2"/>
          <p:cNvSpPr/>
          <p:nvPr/>
        </p:nvSpPr>
        <p:spPr>
          <a:xfrm>
            <a:off x="7909560" y="5237683"/>
            <a:ext cx="3867912" cy="1117397"/>
          </a:xfrm>
          <a:prstGeom prst="roundRect">
            <a:avLst>
              <a:gd name="adj" fmla="val 6547"/>
            </a:avLst>
          </a:prstGeom>
          <a:solidFill>
            <a:srgbClr val="F6EDCF"/>
          </a:solidFill>
          <a:ln w="9525">
            <a:solidFill>
              <a:srgbClr val="C9A227"/>
            </a:solidFill>
            <a:prstDash val="solid"/>
          </a:ln>
        </p:spPr>
      </p:sp>
      <p:sp>
        <p:nvSpPr>
          <p:cNvPr id="6" name="Text 3"/>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6B5410"/>
                </a:solidFill>
                <a:latin typeface="Tahoma" pitchFamily="34" charset="0"/>
                <a:ea typeface="Tahoma" pitchFamily="34" charset="-122"/>
                <a:cs typeface="Tahoma" pitchFamily="34" charset="-120"/>
              </a:rPr>
              <a:t>نکته</a:t>
            </a:r>
            <a:endParaRPr lang="en-US" sz="1250" dirty="0"/>
          </a:p>
        </p:txBody>
      </p:sp>
      <p:sp>
        <p:nvSpPr>
          <p:cNvPr id="7" name="Text 4"/>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جابه‌جایی ردیف می‌تواند ردیفی را از بازهٔ یک جمع بیرون یا داخل ببرد؛ همیشه بعد از آن «بررسی قالب» بزنید.</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باز کردن</a:t>
            </a:r>
            <a:endParaRPr lang="en-US" sz="1350" dirty="0"/>
          </a:p>
        </p:txBody>
      </p:sp>
      <p:sp>
        <p:nvSpPr>
          <p:cNvPr id="11" name="Text 8"/>
          <p:cNvSpPr/>
          <p:nvPr/>
        </p:nvSpPr>
        <p:spPr>
          <a:xfrm>
            <a:off x="7909560" y="1517904"/>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در صفحهٔ نسخهٔ پیش‌نویس، کلید «درخت» کنار «جدول» را بزنید.</a:t>
            </a:r>
            <a:endParaRPr lang="en-US" sz="1200" dirty="0"/>
          </a:p>
        </p:txBody>
      </p:sp>
      <p:sp>
        <p:nvSpPr>
          <p:cNvPr id="12" name="Shape 9"/>
          <p:cNvSpPr/>
          <p:nvPr/>
        </p:nvSpPr>
        <p:spPr>
          <a:xfrm>
            <a:off x="11411712" y="2055571"/>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055571"/>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055571"/>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جابه‌جایی</a:t>
            </a:r>
            <a:endParaRPr lang="en-US" sz="1350" dirty="0"/>
          </a:p>
        </p:txBody>
      </p:sp>
      <p:sp>
        <p:nvSpPr>
          <p:cNvPr id="15" name="Text 12"/>
          <p:cNvSpPr/>
          <p:nvPr/>
        </p:nvSpPr>
        <p:spPr>
          <a:xfrm>
            <a:off x="7909560" y="2384755"/>
            <a:ext cx="3392424"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ردیف را با دستگیره بکشید؛ نیمهٔ بالا/پایین ⇐ پیش یا پس از ردیف، وسط «عنوان» ⇐ زیرمجموعهٔ آن.</a:t>
            </a:r>
            <a:endParaRPr lang="en-US" sz="1200" dirty="0"/>
          </a:p>
        </p:txBody>
      </p:sp>
      <p:sp>
        <p:nvSpPr>
          <p:cNvPr id="16" name="Shape 13"/>
          <p:cNvSpPr/>
          <p:nvPr/>
        </p:nvSpPr>
        <p:spPr>
          <a:xfrm>
            <a:off x="11411712" y="3136392"/>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313639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313639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زیرمجموعه</a:t>
            </a:r>
            <a:endParaRPr lang="en-US" sz="1350" dirty="0"/>
          </a:p>
        </p:txBody>
      </p:sp>
      <p:sp>
        <p:nvSpPr>
          <p:cNvPr id="19" name="Text 16"/>
          <p:cNvSpPr/>
          <p:nvPr/>
        </p:nvSpPr>
        <p:spPr>
          <a:xfrm>
            <a:off x="7909560" y="3465576"/>
            <a:ext cx="3392424"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ردیف‌های زیر یک عنوان با هم جابه‌جا می‌شوند و تورفتگی خودکار تنظیم می‌شود.</a:t>
            </a:r>
            <a:endParaRPr lang="en-US" sz="1200" dirty="0"/>
          </a:p>
        </p:txBody>
      </p:sp>
      <p:sp>
        <p:nvSpPr>
          <p:cNvPr id="20" name="Shape 17"/>
          <p:cNvSpPr/>
          <p:nvPr/>
        </p:nvSpPr>
        <p:spPr>
          <a:xfrm>
            <a:off x="11411712" y="4003243"/>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400324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400324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جمع‌ها</a:t>
            </a:r>
            <a:endParaRPr lang="en-US" sz="1350" dirty="0"/>
          </a:p>
        </p:txBody>
      </p:sp>
      <p:sp>
        <p:nvSpPr>
          <p:cNvPr id="23" name="Text 20"/>
          <p:cNvSpPr/>
          <p:nvPr/>
        </p:nvSpPr>
        <p:spPr>
          <a:xfrm>
            <a:off x="7909560" y="4332427"/>
            <a:ext cx="3392424"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فرمول‌های بازه‌ای مثل SUM(A01:A06) با ترتیب جدید حساب می‌شوند؛ بعد «بررسی قالب» را بزنید.</a:t>
            </a:r>
            <a:endParaRPr lang="en-US" sz="1200" dirty="0"/>
          </a:p>
        </p:txBody>
      </p:sp>
      <p:sp>
        <p:nvSpPr>
          <p:cNvPr id="24" name="Text 2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۲۱۱</a:t>
            </a:r>
            <a:endParaRPr lang="en-US" sz="1000" dirty="0"/>
          </a:p>
        </p:txBody>
      </p:sp>
      <p:sp>
        <p:nvSpPr>
          <p:cNvPr id="25" name="Text 2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۴ — ویرایش ردیف: حساب و فرمول</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fs03">    </p:cNvPr>
          <p:cNvPicPr>
            <a:picLocks noChangeAspect="1"/>
          </p:cNvPicPr>
          <p:nvPr/>
        </p:nvPicPr>
        <p:blipFill>
          <a:blip r:embed="rId1"/>
          <a:stretch>
            <a:fillRect/>
          </a:stretch>
        </p:blipFill>
        <p:spPr>
          <a:xfrm>
            <a:off x="484632" y="2121225"/>
            <a:ext cx="7077456" cy="3255630"/>
          </a:xfrm>
          <a:prstGeom prst="rect">
            <a:avLst/>
          </a:prstGeom>
        </p:spPr>
      </p:pic>
      <p:sp>
        <p:nvSpPr>
          <p:cNvPr id="5" name="Shape 2"/>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6" name="Text 3"/>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7" name="Text 4"/>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ردیف «سایر دریافتنی‌ها» با پیشوند 14* همهٔ معین‌های ۱۴ را می‌گیرد؛ اگر استثنای 1405 هم اضافه شود، معین ۱۴۰۵ کنار می‌رود.</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انتخاب‌گر حساب</a:t>
            </a:r>
            <a:endParaRPr lang="en-US" sz="1350" dirty="0"/>
          </a:p>
        </p:txBody>
      </p:sp>
      <p:sp>
        <p:nvSpPr>
          <p:cNvPr id="11" name="Text 8"/>
          <p:cNvSpPr/>
          <p:nvPr/>
        </p:nvSpPr>
        <p:spPr>
          <a:xfrm>
            <a:off x="7909560" y="1517904"/>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1301 معین دقیق · 13* پیشوند · 1301..1309 بازه · !1305 استثنا · [D]/[C] فقط مانده بدهکار/بستانکار.</a:t>
            </a:r>
            <a:endParaRPr lang="en-US" sz="1300" dirty="0"/>
          </a:p>
        </p:txBody>
      </p:sp>
      <p:sp>
        <p:nvSpPr>
          <p:cNvPr id="12" name="Shape 9"/>
          <p:cNvSpPr/>
          <p:nvPr/>
        </p:nvSpPr>
        <p:spPr>
          <a:xfrm>
            <a:off x="11411712" y="2323033"/>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3230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32303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نوع مقدار</a:t>
            </a:r>
            <a:endParaRPr lang="en-US" sz="1350" dirty="0"/>
          </a:p>
        </p:txBody>
      </p:sp>
      <p:sp>
        <p:nvSpPr>
          <p:cNvPr id="15" name="Text 12"/>
          <p:cNvSpPr/>
          <p:nvPr/>
        </p:nvSpPr>
        <p:spPr>
          <a:xfrm>
            <a:off x="7909560" y="265221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مانده پایان، مانده ابتدا، گردش خالص، گردش بدهکار یا بستانکار.</a:t>
            </a:r>
            <a:endParaRPr lang="en-US" sz="1300" dirty="0"/>
          </a:p>
        </p:txBody>
      </p:sp>
      <p:sp>
        <p:nvSpPr>
          <p:cNvPr id="16" name="Shape 13"/>
          <p:cNvSpPr/>
          <p:nvPr/>
        </p:nvSpPr>
        <p:spPr>
          <a:xfrm>
            <a:off x="11411712" y="3225546"/>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32255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32255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فرمول</a:t>
            </a:r>
            <a:endParaRPr lang="en-US" sz="1350" dirty="0"/>
          </a:p>
        </p:txBody>
      </p:sp>
      <p:sp>
        <p:nvSpPr>
          <p:cNvPr id="19" name="Text 16"/>
          <p:cNvSpPr/>
          <p:nvPr/>
        </p:nvSpPr>
        <p:spPr>
          <a:xfrm>
            <a:off x="7909560" y="355473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مثل SUM(A01:A08)، A99+L99، ROUND، IF، PRIOR و STMT(صورت دیگر، ردیف).</a:t>
            </a:r>
            <a:endParaRPr lang="en-US" sz="1300" dirty="0"/>
          </a:p>
        </p:txBody>
      </p:sp>
      <p:sp>
        <p:nvSpPr>
          <p:cNvPr id="20" name="Shape 17"/>
          <p:cNvSpPr/>
          <p:nvPr/>
        </p:nvSpPr>
        <p:spPr>
          <a:xfrm>
            <a:off x="11411712" y="4128059"/>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412805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7909560" y="412805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قالب‌بندی</a:t>
            </a:r>
            <a:endParaRPr lang="en-US" sz="1350" dirty="0"/>
          </a:p>
        </p:txBody>
      </p:sp>
      <p:sp>
        <p:nvSpPr>
          <p:cNvPr id="23" name="Text 20"/>
          <p:cNvSpPr/>
          <p:nvPr/>
        </p:nvSpPr>
        <p:spPr>
          <a:xfrm>
            <a:off x="7909560" y="4457243"/>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تورفتگی، پررنگ، خط بالا/دو خط زیر، ستون داخلی، پنهان اگر صفر، صفحهٔ جدید.</a:t>
            </a:r>
            <a:endParaRPr lang="en-US" sz="1300" dirty="0"/>
          </a:p>
        </p:txBody>
      </p:sp>
      <p:sp>
        <p:nvSpPr>
          <p:cNvPr id="24" name="Text 2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۲۱۲</a:t>
            </a:r>
            <a:endParaRPr lang="en-US" sz="1000" dirty="0"/>
          </a:p>
        </p:txBody>
      </p:sp>
      <p:sp>
        <p:nvSpPr>
          <p:cNvPr id="25" name="Text 2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پیش‌نمایش زندهٔ قالب</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fs03b">    </p:cNvPr>
          <p:cNvPicPr>
            <a:picLocks noChangeAspect="1"/>
          </p:cNvPicPr>
          <p:nvPr/>
        </p:nvPicPr>
        <p:blipFill>
          <a:blip r:embed="rId1"/>
          <a:stretch>
            <a:fillRect/>
          </a:stretch>
        </p:blipFill>
        <p:spPr>
          <a:xfrm>
            <a:off x="484632" y="1407582"/>
            <a:ext cx="7077456" cy="4682917"/>
          </a:xfrm>
          <a:prstGeom prst="rect">
            <a:avLst/>
          </a:prstGeom>
        </p:spPr>
      </p:pic>
      <p:sp>
        <p:nvSpPr>
          <p:cNvPr id="5" name="Shape 2"/>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6" name="Text 3"/>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7" name="Text 4"/>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بعد از افزودن A07، پیش‌نمایش را با پایان شهریور ۱۴۰۵ بگیرید و ببینید جمع دارایی‌ها همان شد که انتظار داشتید.</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کاربرد</a:t>
            </a:r>
            <a:endParaRPr lang="en-US" sz="1350" dirty="0"/>
          </a:p>
        </p:txBody>
      </p:sp>
      <p:sp>
        <p:nvSpPr>
          <p:cNvPr id="11" name="Text 8"/>
          <p:cNvSpPr/>
          <p:nvPr/>
        </p:nvSpPr>
        <p:spPr>
          <a:xfrm>
            <a:off x="7909560" y="1517904"/>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پیش از فعال‌سازی، قالب پیش‌نویس را روی اسناد واقعی امتحان کنید؛ چیزی ذخیره نمی‌شود.</a:t>
            </a:r>
            <a:endParaRPr lang="en-US" sz="1300" dirty="0"/>
          </a:p>
        </p:txBody>
      </p:sp>
      <p:sp>
        <p:nvSpPr>
          <p:cNvPr id="12" name="Shape 9"/>
          <p:cNvSpPr/>
          <p:nvPr/>
        </p:nvSpPr>
        <p:spPr>
          <a:xfrm>
            <a:off x="11411712" y="2323033"/>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3230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32303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پارامترها</a:t>
            </a:r>
            <a:endParaRPr lang="en-US" sz="1350" dirty="0"/>
          </a:p>
        </p:txBody>
      </p:sp>
      <p:sp>
        <p:nvSpPr>
          <p:cNvPr id="15" name="Text 12"/>
          <p:cNvSpPr/>
          <p:nvPr/>
        </p:nvSpPr>
        <p:spPr>
          <a:xfrm>
            <a:off x="7909560" y="265221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سال، پایان دوره، حداقل وضعیت سند، با زیرمجموعه‌ها و واحد مبلغ.</a:t>
            </a:r>
            <a:endParaRPr lang="en-US" sz="1300" dirty="0"/>
          </a:p>
        </p:txBody>
      </p:sp>
      <p:sp>
        <p:nvSpPr>
          <p:cNvPr id="16" name="Shape 13"/>
          <p:cNvSpPr/>
          <p:nvPr/>
        </p:nvSpPr>
        <p:spPr>
          <a:xfrm>
            <a:off x="11411712" y="3225546"/>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32255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32255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واترمارک</a:t>
            </a:r>
            <a:endParaRPr lang="en-US" sz="1350" dirty="0"/>
          </a:p>
        </p:txBody>
      </p:sp>
      <p:sp>
        <p:nvSpPr>
          <p:cNvPr id="19" name="Text 16"/>
          <p:cNvSpPr/>
          <p:nvPr/>
        </p:nvSpPr>
        <p:spPr>
          <a:xfrm>
            <a:off x="7909560" y="3554730"/>
            <a:ext cx="339242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برچسب «آزمایشی» یعنی این عدد رسمی نیست.</a:t>
            </a:r>
            <a:endParaRPr lang="en-US" sz="1300" dirty="0"/>
          </a:p>
        </p:txBody>
      </p:sp>
      <p:sp>
        <p:nvSpPr>
          <p:cNvPr id="20" name="Text 1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۲۱۳</a:t>
            </a:r>
            <a:endParaRPr lang="en-US" sz="1000" dirty="0"/>
          </a:p>
        </p:txBody>
      </p:sp>
      <p:sp>
        <p:nvSpPr>
          <p:cNvPr id="21" name="Text 1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۵ — نگاشت حساب‌ها</a:t>
            </a:r>
            <a:endParaRPr lang="en-US" sz="2500" dirty="0"/>
          </a:p>
        </p:txBody>
      </p:sp>
      <p:sp>
        <p:nvSpPr>
          <p:cNvPr id="3" name="Shape 1"/>
          <p:cNvSpPr/>
          <p:nvPr/>
        </p:nvSpPr>
        <p:spPr>
          <a:xfrm>
            <a:off x="8883396" y="896112"/>
            <a:ext cx="289407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993124" y="896112"/>
            <a:ext cx="267462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نگاشت حساب‌ها</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fs14">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237683"/>
            <a:ext cx="3867912" cy="1117397"/>
          </a:xfrm>
          <a:prstGeom prst="roundRect">
            <a:avLst>
              <a:gd name="adj" fmla="val 6547"/>
            </a:avLst>
          </a:prstGeom>
          <a:solidFill>
            <a:srgbClr val="E3F3EA"/>
          </a:solidFill>
          <a:ln w="9525">
            <a:solidFill>
              <a:srgbClr val="1E7A4C"/>
            </a:solidFill>
            <a:prstDash val="solid"/>
          </a:ln>
        </p:spPr>
      </p:sp>
      <p:sp>
        <p:nvSpPr>
          <p:cNvPr id="8" name="Text 5"/>
          <p:cNvSpPr/>
          <p:nvPr/>
        </p:nvSpPr>
        <p:spPr>
          <a:xfrm>
            <a:off x="8046720" y="530169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576011"/>
            <a:ext cx="3593592" cy="69677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معین تازهٔ 1104 «تنخواه پروژه» قرمز است. پیشنهاد سامانه ردیف A01 است (چون ۱۱۰۱ تا ۱۱۰۳ آن‌جا هستند)؛ اعمال کنید و قالب را فعال کنید.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نمای حساب‌محور</a:t>
            </a:r>
            <a:endParaRPr lang="en-US" sz="1350" dirty="0"/>
          </a:p>
        </p:txBody>
      </p:sp>
      <p:sp>
        <p:nvSpPr>
          <p:cNvPr id="13" name="Text 10"/>
          <p:cNvSpPr/>
          <p:nvPr/>
        </p:nvSpPr>
        <p:spPr>
          <a:xfrm>
            <a:off x="7909560" y="1700784"/>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هر معین کدینگ به کدام ردیف و صورت رفته است.</a:t>
            </a:r>
            <a:endParaRPr lang="en-US" sz="1250" dirty="0"/>
          </a:p>
        </p:txBody>
      </p:sp>
      <p:sp>
        <p:nvSpPr>
          <p:cNvPr id="14" name="Shape 11"/>
          <p:cNvSpPr/>
          <p:nvPr/>
        </p:nvSpPr>
        <p:spPr>
          <a:xfrm>
            <a:off x="11411712" y="2256282"/>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25628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25628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بدون نگاشت</a:t>
            </a:r>
            <a:endParaRPr lang="en-US" sz="1350" dirty="0"/>
          </a:p>
        </p:txBody>
      </p:sp>
      <p:sp>
        <p:nvSpPr>
          <p:cNvPr id="17" name="Text 14"/>
          <p:cNvSpPr/>
          <p:nvPr/>
        </p:nvSpPr>
        <p:spPr>
          <a:xfrm>
            <a:off x="7909560" y="2585466"/>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معین‌هایی که در هیچ صورت اصلی نیستند (قرمز) — عددشان از صورت جا می‌ماند.</a:t>
            </a:r>
            <a:endParaRPr lang="en-US" sz="1250" dirty="0"/>
          </a:p>
        </p:txBody>
      </p:sp>
      <p:sp>
        <p:nvSpPr>
          <p:cNvPr id="18" name="Shape 15"/>
          <p:cNvSpPr/>
          <p:nvPr/>
        </p:nvSpPr>
        <p:spPr>
          <a:xfrm>
            <a:off x="11411712" y="3140964"/>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140964"/>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140964"/>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دوبار شمرده</a:t>
            </a:r>
            <a:endParaRPr lang="en-US" sz="1350" dirty="0"/>
          </a:p>
        </p:txBody>
      </p:sp>
      <p:sp>
        <p:nvSpPr>
          <p:cNvPr id="21" name="Text 18"/>
          <p:cNvSpPr/>
          <p:nvPr/>
        </p:nvSpPr>
        <p:spPr>
          <a:xfrm>
            <a:off x="7909560" y="3470148"/>
            <a:ext cx="3392424" cy="500634"/>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معینی که در یک صورت در دو ردیف آمده (نارنجی).</a:t>
            </a:r>
            <a:endParaRPr lang="en-US" sz="1250" dirty="0"/>
          </a:p>
        </p:txBody>
      </p:sp>
      <p:sp>
        <p:nvSpPr>
          <p:cNvPr id="22" name="Shape 19"/>
          <p:cNvSpPr/>
          <p:nvPr/>
        </p:nvSpPr>
        <p:spPr>
          <a:xfrm>
            <a:off x="11411712" y="4025646"/>
            <a:ext cx="329184" cy="329184"/>
          </a:xfrm>
          <a:prstGeom prst="ellipse">
            <a:avLst/>
          </a:prstGeom>
          <a:solidFill>
            <a:srgbClr val="C9A227"/>
          </a:solidFill>
          <a:ln w="12700">
            <a:solidFill>
              <a:srgbClr val="C9A227"/>
            </a:solidFill>
            <a:prstDash val="solid"/>
          </a:ln>
        </p:spPr>
      </p:sp>
      <p:sp>
        <p:nvSpPr>
          <p:cNvPr id="23" name="Text 20"/>
          <p:cNvSpPr/>
          <p:nvPr/>
        </p:nvSpPr>
        <p:spPr>
          <a:xfrm>
            <a:off x="11411712" y="40256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4" name="Text 21"/>
          <p:cNvSpPr/>
          <p:nvPr/>
        </p:nvSpPr>
        <p:spPr>
          <a:xfrm>
            <a:off x="7909560" y="40256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اصلاح</a:t>
            </a:r>
            <a:endParaRPr lang="en-US" sz="1350" dirty="0"/>
          </a:p>
        </p:txBody>
      </p:sp>
      <p:sp>
        <p:nvSpPr>
          <p:cNvPr id="25" name="Text 22"/>
          <p:cNvSpPr/>
          <p:nvPr/>
        </p:nvSpPr>
        <p:spPr>
          <a:xfrm>
            <a:off x="7909560" y="4354830"/>
            <a:ext cx="3392424" cy="723519"/>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کلیک روی ردیف ⇐ قالب؛ یا «ورود از Excel» و «اعمال پیشنهادها» روی پیش‌نویس، سپس فعال‌سازی.</a:t>
            </a:r>
            <a:endParaRPr lang="en-US" sz="1250" dirty="0"/>
          </a:p>
        </p:txBody>
      </p:sp>
      <p:sp>
        <p:nvSpPr>
          <p:cNvPr id="26" name="Text 23"/>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۲۱۴</a:t>
            </a:r>
            <a:endParaRPr lang="en-US" sz="1000" dirty="0"/>
          </a:p>
        </p:txBody>
      </p:sp>
      <p:sp>
        <p:nvSpPr>
          <p:cNvPr id="27" name="Text 24"/>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۶ — قواعد کنترل صورت‌ها</a:t>
            </a:r>
            <a:endParaRPr lang="en-US" sz="2500" dirty="0"/>
          </a:p>
        </p:txBody>
      </p:sp>
      <p:sp>
        <p:nvSpPr>
          <p:cNvPr id="3" name="Shape 1"/>
          <p:cNvSpPr/>
          <p:nvPr/>
        </p:nvSpPr>
        <p:spPr>
          <a:xfrm>
            <a:off x="8572500" y="896112"/>
            <a:ext cx="3204972"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682228" y="896112"/>
            <a:ext cx="2985516"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کنترل‌های صورت‌ها</a:t>
            </a:r>
            <a:endParaRPr lang="en-US" sz="1100" dirty="0"/>
          </a:p>
        </p:txBody>
      </p:sp>
      <p:sp>
        <p:nvSpPr>
          <p:cNvPr id="5" name="Shape 3"/>
          <p:cNvSpPr/>
          <p:nvPr/>
        </p:nvSpPr>
        <p:spPr>
          <a:xfrm>
            <a:off x="411480" y="1325880"/>
            <a:ext cx="7223760" cy="5029200"/>
          </a:xfrm>
          <a:prstGeom prst="roundRect">
            <a:avLst>
              <a:gd name="adj" fmla="val 1455"/>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6" name="Image 0" descr="fs13">    </p:cNvPr>
          <p:cNvPicPr>
            <a:picLocks noChangeAspect="1"/>
          </p:cNvPicPr>
          <p:nvPr/>
        </p:nvPicPr>
        <p:blipFill>
          <a:blip r:embed="rId1"/>
          <a:stretch>
            <a:fillRect/>
          </a:stretch>
        </p:blipFill>
        <p:spPr>
          <a:xfrm>
            <a:off x="484632" y="1455771"/>
            <a:ext cx="7077456" cy="4769419"/>
          </a:xfrm>
          <a:prstGeom prst="rect">
            <a:avLst/>
          </a:prstGeom>
        </p:spPr>
      </p:pic>
      <p:sp>
        <p:nvSpPr>
          <p:cNvPr id="7" name="Shape 4"/>
          <p:cNvSpPr/>
          <p:nvPr/>
        </p:nvSpPr>
        <p:spPr>
          <a:xfrm>
            <a:off x="7909560" y="5023714"/>
            <a:ext cx="3867912" cy="1331366"/>
          </a:xfrm>
          <a:prstGeom prst="roundRect">
            <a:avLst>
              <a:gd name="adj" fmla="val 5495"/>
            </a:avLst>
          </a:prstGeom>
          <a:solidFill>
            <a:srgbClr val="E3F3EA"/>
          </a:solidFill>
          <a:ln w="9525">
            <a:solidFill>
              <a:srgbClr val="1E7A4C"/>
            </a:solidFill>
            <a:prstDash val="solid"/>
          </a:ln>
        </p:spPr>
      </p:sp>
      <p:sp>
        <p:nvSpPr>
          <p:cNvPr id="8" name="Text 5"/>
          <p:cNvSpPr/>
          <p:nvPr/>
        </p:nvSpPr>
        <p:spPr>
          <a:xfrm>
            <a:off x="8046720" y="5087722"/>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9" name="Text 6"/>
          <p:cNvSpPr/>
          <p:nvPr/>
        </p:nvSpPr>
        <p:spPr>
          <a:xfrm>
            <a:off x="8046720" y="5362042"/>
            <a:ext cx="3593592" cy="910742"/>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موجودی نقد پایان سال در صورت جریان وجوه نقد ۸۸ میلیون و در صورت خالص دارایی‌ها ۸۶ میلیون است؛ قاعدهٔ مسدودکننده جلوی ارسال را می‌گیرد تا اختلاف پیدا شود.</a:t>
            </a:r>
            <a:endParaRPr lang="en-US" sz="1200" dirty="0"/>
          </a:p>
        </p:txBody>
      </p:sp>
      <p:sp>
        <p:nvSpPr>
          <p:cNvPr id="10" name="Shape 7"/>
          <p:cNvSpPr/>
          <p:nvPr/>
        </p:nvSpPr>
        <p:spPr>
          <a:xfrm>
            <a:off x="11411712" y="1371600"/>
            <a:ext cx="329184" cy="329184"/>
          </a:xfrm>
          <a:prstGeom prst="ellipse">
            <a:avLst/>
          </a:prstGeom>
          <a:solidFill>
            <a:srgbClr val="C9A227"/>
          </a:solidFill>
          <a:ln w="12700">
            <a:solidFill>
              <a:srgbClr val="C9A227"/>
            </a:solidFill>
            <a:prstDash val="solid"/>
          </a:ln>
        </p:spPr>
      </p:sp>
      <p:sp>
        <p:nvSpPr>
          <p:cNvPr id="11" name="Text 8"/>
          <p:cNvSpPr/>
          <p:nvPr/>
        </p:nvSpPr>
        <p:spPr>
          <a:xfrm>
            <a:off x="11411712" y="137160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2" name="Text 9"/>
          <p:cNvSpPr/>
          <p:nvPr/>
        </p:nvSpPr>
        <p:spPr>
          <a:xfrm>
            <a:off x="7909560" y="137160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شکل قاعده</a:t>
            </a:r>
            <a:endParaRPr lang="en-US" sz="1350" dirty="0"/>
          </a:p>
        </p:txBody>
      </p:sp>
      <p:sp>
        <p:nvSpPr>
          <p:cNvPr id="13" name="Text 10"/>
          <p:cNvSpPr/>
          <p:nvPr/>
        </p:nvSpPr>
        <p:spPr>
          <a:xfrm>
            <a:off x="7909560" y="1700784"/>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عبارت چپ = عبارت راست با اختلاف مجاز؛ مثل «نقد صورت جریان = موجودی نقد خالص دارایی‌ها».</a:t>
            </a:r>
            <a:endParaRPr lang="en-US" sz="1300" dirty="0"/>
          </a:p>
        </p:txBody>
      </p:sp>
      <p:sp>
        <p:nvSpPr>
          <p:cNvPr id="14" name="Shape 11"/>
          <p:cNvSpPr/>
          <p:nvPr/>
        </p:nvSpPr>
        <p:spPr>
          <a:xfrm>
            <a:off x="11411712" y="2505913"/>
            <a:ext cx="329184" cy="329184"/>
          </a:xfrm>
          <a:prstGeom prst="ellipse">
            <a:avLst/>
          </a:prstGeom>
          <a:solidFill>
            <a:srgbClr val="C9A227"/>
          </a:solidFill>
          <a:ln w="12700">
            <a:solidFill>
              <a:srgbClr val="C9A227"/>
            </a:solidFill>
            <a:prstDash val="solid"/>
          </a:ln>
        </p:spPr>
      </p:sp>
      <p:sp>
        <p:nvSpPr>
          <p:cNvPr id="15" name="Text 12"/>
          <p:cNvSpPr/>
          <p:nvPr/>
        </p:nvSpPr>
        <p:spPr>
          <a:xfrm>
            <a:off x="11411712" y="250591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6" name="Text 13"/>
          <p:cNvSpPr/>
          <p:nvPr/>
        </p:nvSpPr>
        <p:spPr>
          <a:xfrm>
            <a:off x="7909560" y="250591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شدت</a:t>
            </a:r>
            <a:endParaRPr lang="en-US" sz="1350" dirty="0"/>
          </a:p>
        </p:txBody>
      </p:sp>
      <p:sp>
        <p:nvSpPr>
          <p:cNvPr id="17" name="Text 14"/>
          <p:cNvSpPr/>
          <p:nvPr/>
        </p:nvSpPr>
        <p:spPr>
          <a:xfrm>
            <a:off x="7909560" y="283509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اطلاع، هشدار، یا مسدودکننده (مانع ارسال برای بازبینی).</a:t>
            </a:r>
            <a:endParaRPr lang="en-US" sz="1300" dirty="0"/>
          </a:p>
        </p:txBody>
      </p:sp>
      <p:sp>
        <p:nvSpPr>
          <p:cNvPr id="18" name="Shape 15"/>
          <p:cNvSpPr/>
          <p:nvPr/>
        </p:nvSpPr>
        <p:spPr>
          <a:xfrm>
            <a:off x="11411712" y="3408426"/>
            <a:ext cx="329184" cy="329184"/>
          </a:xfrm>
          <a:prstGeom prst="ellipse">
            <a:avLst/>
          </a:prstGeom>
          <a:solidFill>
            <a:srgbClr val="C9A227"/>
          </a:solidFill>
          <a:ln w="12700">
            <a:solidFill>
              <a:srgbClr val="C9A227"/>
            </a:solidFill>
            <a:prstDash val="solid"/>
          </a:ln>
        </p:spPr>
      </p:sp>
      <p:sp>
        <p:nvSpPr>
          <p:cNvPr id="19" name="Text 16"/>
          <p:cNvSpPr/>
          <p:nvPr/>
        </p:nvSpPr>
        <p:spPr>
          <a:xfrm>
            <a:off x="11411712" y="340842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0" name="Text 17"/>
          <p:cNvSpPr/>
          <p:nvPr/>
        </p:nvSpPr>
        <p:spPr>
          <a:xfrm>
            <a:off x="7909560" y="340842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کنترل‌های ثابت</a:t>
            </a:r>
            <a:endParaRPr lang="en-US" sz="1350" dirty="0"/>
          </a:p>
        </p:txBody>
      </p:sp>
      <p:sp>
        <p:nvSpPr>
          <p:cNvPr id="21" name="Text 18"/>
          <p:cNvSpPr/>
          <p:nvPr/>
        </p:nvSpPr>
        <p:spPr>
          <a:xfrm>
            <a:off x="7909560" y="3737610"/>
            <a:ext cx="3392424" cy="982066"/>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تراز آزمایشی، پوشش حساب، مانده معکوس، جمع یادداشت، اسناد خارج از سال، حذف فی‌مابین (V-07) و قفل دوره (V-11) خودکار اجرا می‌شوند.</a:t>
            </a:r>
            <a:endParaRPr lang="en-US" sz="1300" dirty="0"/>
          </a:p>
        </p:txBody>
      </p:sp>
      <p:sp>
        <p:nvSpPr>
          <p:cNvPr id="22" name="Text 19"/>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۲۱۵</a:t>
            </a:r>
            <a:endParaRPr lang="en-US" sz="1000" dirty="0"/>
          </a:p>
        </p:txBody>
      </p:sp>
      <p:sp>
        <p:nvSpPr>
          <p:cNvPr id="23" name="Text 20"/>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یادداشت‌های عددی و کنترل جمع</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fs10">    </p:cNvPr>
          <p:cNvPicPr>
            <a:picLocks noChangeAspect="1"/>
          </p:cNvPicPr>
          <p:nvPr/>
        </p:nvPicPr>
        <p:blipFill>
          <a:blip r:embed="rId1"/>
          <a:stretch>
            <a:fillRect/>
          </a:stretch>
        </p:blipFill>
        <p:spPr>
          <a:xfrm>
            <a:off x="600538" y="1216152"/>
            <a:ext cx="6845643" cy="5065776"/>
          </a:xfrm>
          <a:prstGeom prst="rect">
            <a:avLst/>
          </a:prstGeom>
        </p:spPr>
      </p:pic>
      <p:sp>
        <p:nvSpPr>
          <p:cNvPr id="5" name="Shape 2"/>
          <p:cNvSpPr/>
          <p:nvPr/>
        </p:nvSpPr>
        <p:spPr>
          <a:xfrm>
            <a:off x="7909560" y="5451653"/>
            <a:ext cx="3867912" cy="903427"/>
          </a:xfrm>
          <a:prstGeom prst="roundRect">
            <a:avLst>
              <a:gd name="adj" fmla="val 8097"/>
            </a:avLst>
          </a:prstGeom>
          <a:solidFill>
            <a:srgbClr val="E3F3EA"/>
          </a:solidFill>
          <a:ln w="9525">
            <a:solidFill>
              <a:srgbClr val="1E7A4C"/>
            </a:solidFill>
            <a:prstDash val="solid"/>
          </a:ln>
        </p:spPr>
      </p:sp>
      <p:sp>
        <p:nvSpPr>
          <p:cNvPr id="6" name="Text 3"/>
          <p:cNvSpPr/>
          <p:nvPr/>
        </p:nvSpPr>
        <p:spPr>
          <a:xfrm>
            <a:off x="8046720" y="5515661"/>
            <a:ext cx="359359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7" name="Text 4"/>
          <p:cNvSpPr/>
          <p:nvPr/>
        </p:nvSpPr>
        <p:spPr>
          <a:xfrm>
            <a:off x="8046720" y="5789981"/>
            <a:ext cx="359359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یادداشت ۵: صندوق ۵ + بانک ۸۰ + تنخواه ۳ = ۸۸ میلیون، برابر ردیف A01 صورت ⇐ برچسب سبز.</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یادداشت</a:t>
            </a:r>
            <a:endParaRPr lang="en-US" sz="1350" dirty="0"/>
          </a:p>
        </p:txBody>
      </p:sp>
      <p:sp>
        <p:nvSpPr>
          <p:cNvPr id="11" name="Text 8"/>
          <p:cNvSpPr/>
          <p:nvPr/>
        </p:nvSpPr>
        <p:spPr>
          <a:xfrm>
            <a:off x="7909560" y="1517904"/>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ریز ردیف صورت؛ مثلاً یادداشت ۵ «موجودی نقد» با صندوق، بانک و تنخواه.</a:t>
            </a:r>
            <a:endParaRPr lang="en-US" sz="1300" dirty="0"/>
          </a:p>
        </p:txBody>
      </p:sp>
      <p:sp>
        <p:nvSpPr>
          <p:cNvPr id="12" name="Shape 9"/>
          <p:cNvSpPr/>
          <p:nvPr/>
        </p:nvSpPr>
        <p:spPr>
          <a:xfrm>
            <a:off x="11411712" y="2091233"/>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0912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7909560" y="209123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شماره‌گذاری</a:t>
            </a:r>
            <a:endParaRPr lang="en-US" sz="1350" dirty="0"/>
          </a:p>
        </p:txBody>
      </p:sp>
      <p:sp>
        <p:nvSpPr>
          <p:cNvPr id="15" name="Text 12"/>
          <p:cNvSpPr/>
          <p:nvPr/>
        </p:nvSpPr>
        <p:spPr>
          <a:xfrm>
            <a:off x="7909560" y="242041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خودکار به ترتیب ارائه؛ عنوان‌های داخل یادداشت ۵-۱، ۵-۲ می‌شوند.</a:t>
            </a:r>
            <a:endParaRPr lang="en-US" sz="1300" dirty="0"/>
          </a:p>
        </p:txBody>
      </p:sp>
      <p:sp>
        <p:nvSpPr>
          <p:cNvPr id="16" name="Shape 13"/>
          <p:cNvSpPr/>
          <p:nvPr/>
        </p:nvSpPr>
        <p:spPr>
          <a:xfrm>
            <a:off x="11411712" y="2993746"/>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29937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7909560" y="29937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کنترل V-08</a:t>
            </a:r>
            <a:endParaRPr lang="en-US" sz="1350" dirty="0"/>
          </a:p>
        </p:txBody>
      </p:sp>
      <p:sp>
        <p:nvSpPr>
          <p:cNvPr id="19" name="Text 16"/>
          <p:cNvSpPr/>
          <p:nvPr/>
        </p:nvSpPr>
        <p:spPr>
          <a:xfrm>
            <a:off x="7909560" y="332293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برچسب سبز «جمع یادداشت = ردیف صورت»؛ قرمز یعنی مغایرت و مانع ارسال.</a:t>
            </a:r>
            <a:endParaRPr lang="en-US" sz="1300" dirty="0"/>
          </a:p>
        </p:txBody>
      </p:sp>
      <p:sp>
        <p:nvSpPr>
          <p:cNvPr id="20" name="Text 17"/>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۲۱۶</a:t>
            </a:r>
            <a:endParaRPr lang="en-US" sz="1000" dirty="0"/>
          </a:p>
        </p:txBody>
      </p:sp>
      <p:sp>
        <p:nvSpPr>
          <p:cNvPr id="21" name="Text 18"/>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۷ — ریز عدد: از صورت تا سند</a:t>
            </a:r>
            <a:endParaRPr lang="en-US" sz="2500" dirty="0"/>
          </a:p>
        </p:txBody>
      </p:sp>
      <p:sp>
        <p:nvSpPr>
          <p:cNvPr id="3" name="Shape 1"/>
          <p:cNvSpPr/>
          <p:nvPr/>
        </p:nvSpPr>
        <p:spPr>
          <a:xfrm>
            <a:off x="11393424" y="1188720"/>
            <a:ext cx="384048" cy="384048"/>
          </a:xfrm>
          <a:prstGeom prst="ellipse">
            <a:avLst/>
          </a:prstGeom>
          <a:solidFill>
            <a:srgbClr val="C9A227"/>
          </a:solidFill>
          <a:ln w="12700">
            <a:solidFill>
              <a:srgbClr val="C9A227"/>
            </a:solidFill>
            <a:prstDash val="solid"/>
          </a:ln>
        </p:spPr>
      </p:sp>
      <p:sp>
        <p:nvSpPr>
          <p:cNvPr id="4" name="Text 2"/>
          <p:cNvSpPr/>
          <p:nvPr/>
        </p:nvSpPr>
        <p:spPr>
          <a:xfrm>
            <a:off x="11393424"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5" name="Text 3"/>
          <p:cNvSpPr/>
          <p:nvPr/>
        </p:nvSpPr>
        <p:spPr>
          <a:xfrm>
            <a:off x="8119872" y="1188720"/>
            <a:ext cx="3154680" cy="384048"/>
          </a:xfrm>
          <a:prstGeom prst="rect">
            <a:avLst/>
          </a:prstGeom>
          <a:noFill/>
          <a:ln/>
        </p:spPr>
        <p:txBody>
          <a:bodyPr wrap="square" lIns="0" tIns="0" rIns="0" bIns="0" rtlCol="0" anchor="ctr"/>
          <a:lstStyle/>
          <a:p>
            <a:pPr rtl="1" algn="r" indent="0" marL="0">
              <a:buNone/>
            </a:pPr>
            <a:r>
              <a:rPr lang="en-US" sz="1450" b="1" dirty="0">
                <a:solidFill>
                  <a:srgbClr val="1B2A49"/>
                </a:solidFill>
                <a:latin typeface="Tahoma" pitchFamily="34" charset="0"/>
                <a:ea typeface="Tahoma" pitchFamily="34" charset="-122"/>
                <a:cs typeface="Tahoma" pitchFamily="34" charset="-120"/>
              </a:rPr>
              <a:t>معین‌های تشکیل‌دهنده</a:t>
            </a:r>
            <a:endParaRPr lang="en-US" sz="1450" dirty="0"/>
          </a:p>
        </p:txBody>
      </p:sp>
      <p:sp>
        <p:nvSpPr>
          <p:cNvPr id="6" name="Shape 4"/>
          <p:cNvSpPr/>
          <p:nvPr/>
        </p:nvSpPr>
        <p:spPr>
          <a:xfrm>
            <a:off x="8119872" y="1691640"/>
            <a:ext cx="3657600" cy="3566160"/>
          </a:xfrm>
          <a:prstGeom prst="roundRect">
            <a:avLst>
              <a:gd name="adj" fmla="val 205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fs12">    </p:cNvPr>
          <p:cNvPicPr>
            <a:picLocks noChangeAspect="1"/>
          </p:cNvPicPr>
          <p:nvPr/>
        </p:nvPicPr>
        <p:blipFill>
          <a:blip r:embed="rId1"/>
          <a:stretch>
            <a:fillRect/>
          </a:stretch>
        </p:blipFill>
        <p:spPr>
          <a:xfrm>
            <a:off x="8165592" y="2358121"/>
            <a:ext cx="3566160" cy="2233199"/>
          </a:xfrm>
          <a:prstGeom prst="rect">
            <a:avLst/>
          </a:prstGeom>
        </p:spPr>
      </p:pic>
      <p:sp>
        <p:nvSpPr>
          <p:cNvPr id="8" name="Text 5"/>
          <p:cNvSpPr/>
          <p:nvPr/>
        </p:nvSpPr>
        <p:spPr>
          <a:xfrm>
            <a:off x="8119872" y="5394960"/>
            <a:ext cx="3657600" cy="91440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روی هر مبلغ ردیف «حساب» کلیک کنید (یا Enter)؛ پنل کناری سهم هر معین را نشان می‌دهد.</a:t>
            </a:r>
            <a:endParaRPr lang="en-US" sz="1250" dirty="0"/>
          </a:p>
        </p:txBody>
      </p:sp>
      <p:sp>
        <p:nvSpPr>
          <p:cNvPr id="9" name="Shape 6"/>
          <p:cNvSpPr/>
          <p:nvPr/>
        </p:nvSpPr>
        <p:spPr>
          <a:xfrm>
            <a:off x="7539228" y="1188720"/>
            <a:ext cx="384048" cy="384048"/>
          </a:xfrm>
          <a:prstGeom prst="ellipse">
            <a:avLst/>
          </a:prstGeom>
          <a:solidFill>
            <a:srgbClr val="C9A227"/>
          </a:solidFill>
          <a:ln w="12700">
            <a:solidFill>
              <a:srgbClr val="C9A227"/>
            </a:solidFill>
            <a:prstDash val="solid"/>
          </a:ln>
        </p:spPr>
      </p:sp>
      <p:sp>
        <p:nvSpPr>
          <p:cNvPr id="10" name="Text 7"/>
          <p:cNvSpPr/>
          <p:nvPr/>
        </p:nvSpPr>
        <p:spPr>
          <a:xfrm>
            <a:off x="7539228"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p:nvPr/>
        </p:nvSpPr>
        <p:spPr>
          <a:xfrm>
            <a:off x="4265676" y="1188720"/>
            <a:ext cx="3154680" cy="384048"/>
          </a:xfrm>
          <a:prstGeom prst="rect">
            <a:avLst/>
          </a:prstGeom>
          <a:noFill/>
          <a:ln/>
        </p:spPr>
        <p:txBody>
          <a:bodyPr wrap="square" lIns="0" tIns="0" rIns="0" bIns="0" rtlCol="0" anchor="ctr"/>
          <a:lstStyle/>
          <a:p>
            <a:pPr rtl="1" algn="r" indent="0" marL="0">
              <a:buNone/>
            </a:pPr>
            <a:r>
              <a:rPr lang="en-US" sz="1450" b="1" dirty="0">
                <a:solidFill>
                  <a:srgbClr val="1B2A49"/>
                </a:solidFill>
                <a:latin typeface="Tahoma" pitchFamily="34" charset="0"/>
                <a:ea typeface="Tahoma" pitchFamily="34" charset="-122"/>
                <a:cs typeface="Tahoma" pitchFamily="34" charset="-120"/>
              </a:rPr>
              <a:t>تفکیک به واحدها</a:t>
            </a:r>
            <a:endParaRPr lang="en-US" sz="1450" dirty="0"/>
          </a:p>
        </p:txBody>
      </p:sp>
      <p:sp>
        <p:nvSpPr>
          <p:cNvPr id="12" name="Shape 9"/>
          <p:cNvSpPr/>
          <p:nvPr/>
        </p:nvSpPr>
        <p:spPr>
          <a:xfrm>
            <a:off x="4265676" y="1691640"/>
            <a:ext cx="3657600" cy="3566160"/>
          </a:xfrm>
          <a:prstGeom prst="roundRect">
            <a:avLst>
              <a:gd name="adj" fmla="val 205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3" name="Image 1" descr="fs12b">    </p:cNvPr>
          <p:cNvPicPr>
            <a:picLocks noChangeAspect="1"/>
          </p:cNvPicPr>
          <p:nvPr/>
        </p:nvPicPr>
        <p:blipFill>
          <a:blip r:embed="rId2"/>
          <a:stretch>
            <a:fillRect/>
          </a:stretch>
        </p:blipFill>
        <p:spPr>
          <a:xfrm>
            <a:off x="4311396" y="2209168"/>
            <a:ext cx="3566160" cy="2531104"/>
          </a:xfrm>
          <a:prstGeom prst="rect">
            <a:avLst/>
          </a:prstGeom>
        </p:spPr>
      </p:pic>
      <p:sp>
        <p:nvSpPr>
          <p:cNvPr id="14" name="Text 10"/>
          <p:cNvSpPr/>
          <p:nvPr/>
        </p:nvSpPr>
        <p:spPr>
          <a:xfrm>
            <a:off x="4265676" y="5394960"/>
            <a:ext cx="3657600" cy="91440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«به تفکیک واحد» سهم هر اداره کل را می‌دهد؛ با مسیر بالای پنل برگردید.</a:t>
            </a:r>
            <a:endParaRPr lang="en-US" sz="1250" dirty="0"/>
          </a:p>
        </p:txBody>
      </p:sp>
      <p:sp>
        <p:nvSpPr>
          <p:cNvPr id="15" name="Shape 11"/>
          <p:cNvSpPr/>
          <p:nvPr/>
        </p:nvSpPr>
        <p:spPr>
          <a:xfrm>
            <a:off x="3685032" y="1188720"/>
            <a:ext cx="384048" cy="384048"/>
          </a:xfrm>
          <a:prstGeom prst="ellipse">
            <a:avLst/>
          </a:prstGeom>
          <a:solidFill>
            <a:srgbClr val="C9A227"/>
          </a:solidFill>
          <a:ln w="12700">
            <a:solidFill>
              <a:srgbClr val="C9A227"/>
            </a:solidFill>
            <a:prstDash val="solid"/>
          </a:ln>
        </p:spPr>
      </p:sp>
      <p:sp>
        <p:nvSpPr>
          <p:cNvPr id="16" name="Text 12"/>
          <p:cNvSpPr/>
          <p:nvPr/>
        </p:nvSpPr>
        <p:spPr>
          <a:xfrm>
            <a:off x="3685032" y="1188720"/>
            <a:ext cx="384048" cy="384048"/>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7" name="Text 13"/>
          <p:cNvSpPr/>
          <p:nvPr/>
        </p:nvSpPr>
        <p:spPr>
          <a:xfrm>
            <a:off x="411480" y="1188720"/>
            <a:ext cx="3154680" cy="384048"/>
          </a:xfrm>
          <a:prstGeom prst="rect">
            <a:avLst/>
          </a:prstGeom>
          <a:noFill/>
          <a:ln/>
        </p:spPr>
        <p:txBody>
          <a:bodyPr wrap="square" lIns="0" tIns="0" rIns="0" bIns="0" rtlCol="0" anchor="ctr"/>
          <a:lstStyle/>
          <a:p>
            <a:pPr rtl="1" algn="r" indent="0" marL="0">
              <a:buNone/>
            </a:pPr>
            <a:r>
              <a:rPr lang="en-US" sz="1450" b="1" dirty="0">
                <a:solidFill>
                  <a:srgbClr val="1B2A49"/>
                </a:solidFill>
                <a:latin typeface="Tahoma" pitchFamily="34" charset="0"/>
                <a:ea typeface="Tahoma" pitchFamily="34" charset="-122"/>
                <a:cs typeface="Tahoma" pitchFamily="34" charset="-120"/>
              </a:rPr>
              <a:t>اسناد حسابداری</a:t>
            </a:r>
            <a:endParaRPr lang="en-US" sz="1450" dirty="0"/>
          </a:p>
        </p:txBody>
      </p:sp>
      <p:sp>
        <p:nvSpPr>
          <p:cNvPr id="18" name="Shape 14"/>
          <p:cNvSpPr/>
          <p:nvPr/>
        </p:nvSpPr>
        <p:spPr>
          <a:xfrm>
            <a:off x="411480" y="1691640"/>
            <a:ext cx="3657600" cy="3566160"/>
          </a:xfrm>
          <a:prstGeom prst="roundRect">
            <a:avLst>
              <a:gd name="adj" fmla="val 205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9" name="Image 2" descr="fs12d">    </p:cNvPr>
          <p:cNvPicPr>
            <a:picLocks noChangeAspect="1"/>
          </p:cNvPicPr>
          <p:nvPr/>
        </p:nvPicPr>
        <p:blipFill>
          <a:blip r:embed="rId3"/>
          <a:stretch>
            <a:fillRect/>
          </a:stretch>
        </p:blipFill>
        <p:spPr>
          <a:xfrm>
            <a:off x="457200" y="1797103"/>
            <a:ext cx="3566160" cy="3355235"/>
          </a:xfrm>
          <a:prstGeom prst="rect">
            <a:avLst/>
          </a:prstGeom>
        </p:spPr>
      </p:pic>
      <p:sp>
        <p:nvSpPr>
          <p:cNvPr id="20" name="Text 15"/>
          <p:cNvSpPr/>
          <p:nvPr/>
        </p:nvSpPr>
        <p:spPr>
          <a:xfrm>
            <a:off x="411480" y="5394960"/>
            <a:ext cx="3657600" cy="914400"/>
          </a:xfrm>
          <a:prstGeom prst="rect">
            <a:avLst/>
          </a:prstGeom>
          <a:noFill/>
          <a:ln/>
        </p:spPr>
        <p:txBody>
          <a:bodyPr wrap="square" lIns="0" tIns="0" rIns="0" bIns="0" rtlCol="0" anchor="t"/>
          <a:lstStyle/>
          <a:p>
            <a:pPr rtl="1" algn="r" indent="0" marL="0">
              <a:buNone/>
            </a:pPr>
            <a:r>
              <a:rPr lang="en-US" sz="1250" dirty="0">
                <a:solidFill>
                  <a:srgbClr val="1F2937"/>
                </a:solidFill>
                <a:latin typeface="Tahoma" pitchFamily="34" charset="0"/>
                <a:ea typeface="Tahoma" pitchFamily="34" charset="-122"/>
                <a:cs typeface="Tahoma" pitchFamily="34" charset="-120"/>
              </a:rPr>
              <a:t>روی «اسناد …» بزنید: ریز اسناد با جمع بدهکار/بستانکار؛ آیکون کنار هر ردیف سند را باز می‌کند. هر سطح خروجی Excel دارد.</a:t>
            </a:r>
            <a:endParaRPr lang="en-US" sz="1250" dirty="0"/>
          </a:p>
        </p:txBody>
      </p:sp>
      <p:sp>
        <p:nvSpPr>
          <p:cNvPr id="21" name="Text 16"/>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۲۱۷</a:t>
            </a:r>
            <a:endParaRPr lang="en-US" sz="1000" dirty="0"/>
          </a:p>
        </p:txBody>
      </p:sp>
      <p:sp>
        <p:nvSpPr>
          <p:cNvPr id="22" name="Text 17"/>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۸ — کنترل‌ها، مقادیر دستی و گردش</a:t>
            </a:r>
            <a:endParaRPr lang="en-US" sz="2500" dirty="0"/>
          </a:p>
        </p:txBody>
      </p:sp>
      <p:sp>
        <p:nvSpPr>
          <p:cNvPr id="3" name="Shape 1"/>
          <p:cNvSpPr/>
          <p:nvPr/>
        </p:nvSpPr>
        <p:spPr>
          <a:xfrm>
            <a:off x="411480" y="1143000"/>
            <a:ext cx="7223760" cy="5212080"/>
          </a:xfrm>
          <a:prstGeom prst="roundRect">
            <a:avLst>
              <a:gd name="adj" fmla="val 1404"/>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fsn13">    </p:cNvPr>
          <p:cNvPicPr>
            <a:picLocks noChangeAspect="1"/>
          </p:cNvPicPr>
          <p:nvPr/>
        </p:nvPicPr>
        <p:blipFill>
          <a:blip r:embed="rId1"/>
          <a:stretch>
            <a:fillRect/>
          </a:stretch>
        </p:blipFill>
        <p:spPr>
          <a:xfrm>
            <a:off x="600538" y="1216152"/>
            <a:ext cx="6845643" cy="5065776"/>
          </a:xfrm>
          <a:prstGeom prst="rect">
            <a:avLst/>
          </a:prstGeom>
        </p:spPr>
      </p:pic>
      <p:sp>
        <p:nvSpPr>
          <p:cNvPr id="5" name="Shape 2"/>
          <p:cNvSpPr/>
          <p:nvPr/>
        </p:nvSpPr>
        <p:spPr>
          <a:xfrm>
            <a:off x="11411712" y="1188720"/>
            <a:ext cx="329184" cy="329184"/>
          </a:xfrm>
          <a:prstGeom prst="ellipse">
            <a:avLst/>
          </a:prstGeom>
          <a:solidFill>
            <a:srgbClr val="C9A227"/>
          </a:solidFill>
          <a:ln w="12700">
            <a:solidFill>
              <a:srgbClr val="C9A227"/>
            </a:solidFill>
            <a:prstDash val="solid"/>
          </a:ln>
        </p:spPr>
      </p:sp>
      <p:sp>
        <p:nvSpPr>
          <p:cNvPr id="6" name="Text 3"/>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7" name="Text 4"/>
          <p:cNvSpPr/>
          <p:nvPr/>
        </p:nvSpPr>
        <p:spPr>
          <a:xfrm>
            <a:off x="7909560" y="1188720"/>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کنترل‌ها</a:t>
            </a:r>
            <a:endParaRPr lang="en-US" sz="1350" dirty="0"/>
          </a:p>
        </p:txBody>
      </p:sp>
      <p:sp>
        <p:nvSpPr>
          <p:cNvPr id="8" name="Text 5"/>
          <p:cNvSpPr/>
          <p:nvPr/>
        </p:nvSpPr>
        <p:spPr>
          <a:xfrm>
            <a:off x="7909560" y="1517904"/>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کنترل با شدت، نتیجه و اختلاف؛ مسدودکنندهٔ ناموفق جلوی «ارسال برای بازبینی» را می‌گیرد.</a:t>
            </a:r>
            <a:endParaRPr lang="en-US" sz="1300" dirty="0"/>
          </a:p>
        </p:txBody>
      </p:sp>
      <p:sp>
        <p:nvSpPr>
          <p:cNvPr id="9" name="Shape 6"/>
          <p:cNvSpPr/>
          <p:nvPr/>
        </p:nvSpPr>
        <p:spPr>
          <a:xfrm>
            <a:off x="11411712" y="2323033"/>
            <a:ext cx="329184" cy="329184"/>
          </a:xfrm>
          <a:prstGeom prst="ellipse">
            <a:avLst/>
          </a:prstGeom>
          <a:solidFill>
            <a:srgbClr val="C9A227"/>
          </a:solidFill>
          <a:ln w="12700">
            <a:solidFill>
              <a:srgbClr val="C9A227"/>
            </a:solidFill>
            <a:prstDash val="solid"/>
          </a:ln>
        </p:spPr>
      </p:sp>
      <p:sp>
        <p:nvSpPr>
          <p:cNvPr id="10" name="Text 7"/>
          <p:cNvSpPr/>
          <p:nvPr/>
        </p:nvSpPr>
        <p:spPr>
          <a:xfrm>
            <a:off x="11411712" y="23230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1" name="Text 8"/>
          <p:cNvSpPr/>
          <p:nvPr/>
        </p:nvSpPr>
        <p:spPr>
          <a:xfrm>
            <a:off x="7909560" y="2323033"/>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مقادیر دستی</a:t>
            </a:r>
            <a:endParaRPr lang="en-US" sz="1350" dirty="0"/>
          </a:p>
        </p:txBody>
      </p:sp>
      <p:sp>
        <p:nvSpPr>
          <p:cNvPr id="12" name="Text 9"/>
          <p:cNvSpPr/>
          <p:nvPr/>
        </p:nvSpPr>
        <p:spPr>
          <a:xfrm>
            <a:off x="7909560" y="2652217"/>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ردیف‌های «مقدار دستی» را با دلیل اجباری وارد کنید؛ اجرای تازه ساخته می‌شود.</a:t>
            </a:r>
            <a:endParaRPr lang="en-US" sz="1300" dirty="0"/>
          </a:p>
        </p:txBody>
      </p:sp>
      <p:sp>
        <p:nvSpPr>
          <p:cNvPr id="13" name="Shape 10"/>
          <p:cNvSpPr/>
          <p:nvPr/>
        </p:nvSpPr>
        <p:spPr>
          <a:xfrm>
            <a:off x="11411712" y="3225546"/>
            <a:ext cx="329184" cy="329184"/>
          </a:xfrm>
          <a:prstGeom prst="ellipse">
            <a:avLst/>
          </a:prstGeom>
          <a:solidFill>
            <a:srgbClr val="C9A227"/>
          </a:solidFill>
          <a:ln w="12700">
            <a:solidFill>
              <a:srgbClr val="C9A227"/>
            </a:solidFill>
            <a:prstDash val="solid"/>
          </a:ln>
        </p:spPr>
      </p:sp>
      <p:sp>
        <p:nvSpPr>
          <p:cNvPr id="14" name="Text 11"/>
          <p:cNvSpPr/>
          <p:nvPr/>
        </p:nvSpPr>
        <p:spPr>
          <a:xfrm>
            <a:off x="11411712" y="32255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5" name="Text 12"/>
          <p:cNvSpPr/>
          <p:nvPr/>
        </p:nvSpPr>
        <p:spPr>
          <a:xfrm>
            <a:off x="7909560" y="3225546"/>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گردش</a:t>
            </a:r>
            <a:endParaRPr lang="en-US" sz="1350" dirty="0"/>
          </a:p>
        </p:txBody>
      </p:sp>
      <p:sp>
        <p:nvSpPr>
          <p:cNvPr id="16" name="Text 13"/>
          <p:cNvSpPr/>
          <p:nvPr/>
        </p:nvSpPr>
        <p:spPr>
          <a:xfrm>
            <a:off x="7909560" y="3554730"/>
            <a:ext cx="339242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پیش‌نویس ⇐ بازبینی ⇐ تأیید (یک یا چند مرحله) ⇐ انتشار؛ برگشت با دلیل.</a:t>
            </a:r>
            <a:endParaRPr lang="en-US" sz="1300" dirty="0"/>
          </a:p>
        </p:txBody>
      </p:sp>
      <p:sp>
        <p:nvSpPr>
          <p:cNvPr id="17" name="Shape 14"/>
          <p:cNvSpPr/>
          <p:nvPr/>
        </p:nvSpPr>
        <p:spPr>
          <a:xfrm>
            <a:off x="11411712" y="4128059"/>
            <a:ext cx="329184" cy="329184"/>
          </a:xfrm>
          <a:prstGeom prst="ellipse">
            <a:avLst/>
          </a:prstGeom>
          <a:solidFill>
            <a:srgbClr val="C9A227"/>
          </a:solidFill>
          <a:ln w="12700">
            <a:solidFill>
              <a:srgbClr val="C9A227"/>
            </a:solidFill>
            <a:prstDash val="solid"/>
          </a:ln>
        </p:spPr>
      </p:sp>
      <p:sp>
        <p:nvSpPr>
          <p:cNvPr id="18" name="Text 15"/>
          <p:cNvSpPr/>
          <p:nvPr/>
        </p:nvSpPr>
        <p:spPr>
          <a:xfrm>
            <a:off x="11411712" y="412805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9" name="Text 16"/>
          <p:cNvSpPr/>
          <p:nvPr/>
        </p:nvSpPr>
        <p:spPr>
          <a:xfrm>
            <a:off x="7909560" y="4128059"/>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انتشار</a:t>
            </a:r>
            <a:endParaRPr lang="en-US" sz="1350" dirty="0"/>
          </a:p>
        </p:txBody>
      </p:sp>
      <p:sp>
        <p:nvSpPr>
          <p:cNvPr id="20" name="Text 17"/>
          <p:cNvSpPr/>
          <p:nvPr/>
        </p:nvSpPr>
        <p:spPr>
          <a:xfrm>
            <a:off x="7909560" y="4457243"/>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تهیه‌کننده تأیید و منتشر نمی‌کند؛ انتشار، نسخهٔ منتشرشدهٔ قبلی همان دوره را «جایگزین‌شده» می‌کند.</a:t>
            </a:r>
            <a:endParaRPr lang="en-US" sz="1300" dirty="0"/>
          </a:p>
        </p:txBody>
      </p:sp>
      <p:sp>
        <p:nvSpPr>
          <p:cNvPr id="21" name="Shape 18"/>
          <p:cNvSpPr/>
          <p:nvPr/>
        </p:nvSpPr>
        <p:spPr>
          <a:xfrm>
            <a:off x="11411712" y="5262372"/>
            <a:ext cx="329184" cy="329184"/>
          </a:xfrm>
          <a:prstGeom prst="ellipse">
            <a:avLst/>
          </a:prstGeom>
          <a:solidFill>
            <a:srgbClr val="C9A227"/>
          </a:solidFill>
          <a:ln w="12700">
            <a:solidFill>
              <a:srgbClr val="C9A227"/>
            </a:solidFill>
            <a:prstDash val="solid"/>
          </a:ln>
        </p:spPr>
      </p:sp>
      <p:sp>
        <p:nvSpPr>
          <p:cNvPr id="22" name="Text 19"/>
          <p:cNvSpPr/>
          <p:nvPr/>
        </p:nvSpPr>
        <p:spPr>
          <a:xfrm>
            <a:off x="11411712" y="526237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3" name="Text 20"/>
          <p:cNvSpPr/>
          <p:nvPr/>
        </p:nvSpPr>
        <p:spPr>
          <a:xfrm>
            <a:off x="7909560" y="5262372"/>
            <a:ext cx="339242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کهنگی و مقایسه</a:t>
            </a:r>
            <a:endParaRPr lang="en-US" sz="1350" dirty="0"/>
          </a:p>
        </p:txBody>
      </p:sp>
      <p:sp>
        <p:nvSpPr>
          <p:cNvPr id="24" name="Text 21"/>
          <p:cNvSpPr/>
          <p:nvPr/>
        </p:nvSpPr>
        <p:spPr>
          <a:xfrm>
            <a:off x="7909560" y="5591556"/>
            <a:ext cx="3392424" cy="7502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نوار زرد یعنی اسناد بعد از اجرا عوض شده؛ «مقایسه با اجرای دیگر» تفاوت ردیف‌ها را می‌دهد.</a:t>
            </a:r>
            <a:endParaRPr lang="en-US" sz="1300" dirty="0"/>
          </a:p>
        </p:txBody>
      </p:sp>
      <p:sp>
        <p:nvSpPr>
          <p:cNvPr id="25" name="Text 22"/>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۲۱۸</a:t>
            </a:r>
            <a:endParaRPr lang="en-US" sz="1000" dirty="0"/>
          </a:p>
        </p:txBody>
      </p:sp>
      <p:sp>
        <p:nvSpPr>
          <p:cNvPr id="26" name="Text 23"/>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نظرها روی ردیف صورت</a:t>
            </a:r>
            <a:endParaRPr lang="en-US" sz="2500" dirty="0"/>
          </a:p>
        </p:txBody>
      </p:sp>
      <p:sp>
        <p:nvSpPr>
          <p:cNvPr id="3" name="Shape 1"/>
          <p:cNvSpPr/>
          <p:nvPr/>
        </p:nvSpPr>
        <p:spPr>
          <a:xfrm>
            <a:off x="411480" y="1143000"/>
            <a:ext cx="5120640" cy="5212080"/>
          </a:xfrm>
          <a:prstGeom prst="roundRect">
            <a:avLst>
              <a:gd name="adj" fmla="val 1429"/>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4" name="Image 0" descr="fsn15">    </p:cNvPr>
          <p:cNvPicPr>
            <a:picLocks noChangeAspect="1"/>
          </p:cNvPicPr>
          <p:nvPr/>
        </p:nvPicPr>
        <p:blipFill>
          <a:blip r:embed="rId1"/>
          <a:stretch>
            <a:fillRect/>
          </a:stretch>
        </p:blipFill>
        <p:spPr>
          <a:xfrm>
            <a:off x="484632" y="1232263"/>
            <a:ext cx="4974336" cy="5033554"/>
          </a:xfrm>
          <a:prstGeom prst="rect">
            <a:avLst/>
          </a:prstGeom>
        </p:spPr>
      </p:pic>
      <p:sp>
        <p:nvSpPr>
          <p:cNvPr id="5" name="Shape 2"/>
          <p:cNvSpPr/>
          <p:nvPr/>
        </p:nvSpPr>
        <p:spPr>
          <a:xfrm>
            <a:off x="5806440" y="5451653"/>
            <a:ext cx="5971032" cy="903427"/>
          </a:xfrm>
          <a:prstGeom prst="roundRect">
            <a:avLst>
              <a:gd name="adj" fmla="val 8097"/>
            </a:avLst>
          </a:prstGeom>
          <a:solidFill>
            <a:srgbClr val="E3F3EA"/>
          </a:solidFill>
          <a:ln w="9525">
            <a:solidFill>
              <a:srgbClr val="1E7A4C"/>
            </a:solidFill>
            <a:prstDash val="solid"/>
          </a:ln>
        </p:spPr>
      </p:sp>
      <p:sp>
        <p:nvSpPr>
          <p:cNvPr id="6" name="Text 3"/>
          <p:cNvSpPr/>
          <p:nvPr/>
        </p:nvSpPr>
        <p:spPr>
          <a:xfrm>
            <a:off x="5943600" y="5515661"/>
            <a:ext cx="5696712" cy="274320"/>
          </a:xfrm>
          <a:prstGeom prst="rect">
            <a:avLst/>
          </a:prstGeom>
          <a:noFill/>
          <a:ln/>
        </p:spPr>
        <p:txBody>
          <a:bodyPr wrap="square" lIns="0" tIns="0" rIns="0" bIns="0" rtlCol="0" anchor="ctr"/>
          <a:lstStyle/>
          <a:p>
            <a:pPr rtl="1" algn="r" indent="0" marL="0">
              <a:buNone/>
            </a:pPr>
            <a:r>
              <a:rPr lang="en-US" sz="1250" b="1" dirty="0">
                <a:solidFill>
                  <a:srgbClr val="1E7A4C"/>
                </a:solidFill>
                <a:latin typeface="Tahoma" pitchFamily="34" charset="0"/>
                <a:ea typeface="Tahoma" pitchFamily="34" charset="-122"/>
                <a:cs typeface="Tahoma" pitchFamily="34" charset="-120"/>
              </a:rPr>
              <a:t>مثال</a:t>
            </a:r>
            <a:endParaRPr lang="en-US" sz="1250" dirty="0"/>
          </a:p>
        </p:txBody>
      </p:sp>
      <p:sp>
        <p:nvSpPr>
          <p:cNvPr id="7" name="Text 4"/>
          <p:cNvSpPr/>
          <p:nvPr/>
        </p:nvSpPr>
        <p:spPr>
          <a:xfrm>
            <a:off x="5943600" y="5789981"/>
            <a:ext cx="5696712" cy="482803"/>
          </a:xfrm>
          <a:prstGeom prst="rect">
            <a:avLst/>
          </a:prstGeom>
          <a:noFill/>
          <a:ln/>
        </p:spPr>
        <p:txBody>
          <a:bodyPr wrap="square" lIns="0" tIns="0" rIns="0" bIns="0" rtlCol="0" anchor="t"/>
          <a:lstStyle/>
          <a:p>
            <a:pPr rtl="1" algn="r" indent="0" marL="0">
              <a:buNone/>
            </a:pPr>
            <a:r>
              <a:rPr lang="en-US" sz="1200" dirty="0">
                <a:solidFill>
                  <a:srgbClr val="1F2937"/>
                </a:solidFill>
                <a:latin typeface="Tahoma" pitchFamily="34" charset="0"/>
                <a:ea typeface="Tahoma" pitchFamily="34" charset="-122"/>
                <a:cs typeface="Tahoma" pitchFamily="34" charset="-120"/>
              </a:rPr>
              <a:t>بازبین روی «موجودی نقد» می‌نویسد: «افزایش ۵۰٪ نسبت به پارسال؟». تهیه‌کننده همان‌جا پاسخ می‌دهد: «سپرده‌های سررسیدشده به جاری منتقل شد».</a:t>
            </a:r>
            <a:endParaRPr lang="en-US" sz="1200" dirty="0"/>
          </a:p>
        </p:txBody>
      </p:sp>
      <p:sp>
        <p:nvSpPr>
          <p:cNvPr id="8" name="Shape 5"/>
          <p:cNvSpPr/>
          <p:nvPr/>
        </p:nvSpPr>
        <p:spPr>
          <a:xfrm>
            <a:off x="11411712" y="1188720"/>
            <a:ext cx="329184" cy="329184"/>
          </a:xfrm>
          <a:prstGeom prst="ellipse">
            <a:avLst/>
          </a:prstGeom>
          <a:solidFill>
            <a:srgbClr val="C9A227"/>
          </a:solidFill>
          <a:ln w="12700">
            <a:solidFill>
              <a:srgbClr val="C9A227"/>
            </a:solidFill>
            <a:prstDash val="solid"/>
          </a:ln>
        </p:spPr>
      </p:sp>
      <p:sp>
        <p:nvSpPr>
          <p:cNvPr id="9" name="Text 6"/>
          <p:cNvSpPr/>
          <p:nvPr/>
        </p:nvSpPr>
        <p:spPr>
          <a:xfrm>
            <a:off x="11411712" y="118872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0" name="Text 7"/>
          <p:cNvSpPr/>
          <p:nvPr/>
        </p:nvSpPr>
        <p:spPr>
          <a:xfrm>
            <a:off x="5806440" y="1188720"/>
            <a:ext cx="549554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باز کردن</a:t>
            </a:r>
            <a:endParaRPr lang="en-US" sz="1350" dirty="0"/>
          </a:p>
        </p:txBody>
      </p:sp>
      <p:sp>
        <p:nvSpPr>
          <p:cNvPr id="11" name="Text 8"/>
          <p:cNvSpPr/>
          <p:nvPr/>
        </p:nvSpPr>
        <p:spPr>
          <a:xfrm>
            <a:off x="5806440" y="1517904"/>
            <a:ext cx="549554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آیکون گفت‌وگو کنار عنوان ردیف را بزنید؛ عدد کنار آیکون تعداد نظرهاست.</a:t>
            </a:r>
            <a:endParaRPr lang="en-US" sz="1300" dirty="0"/>
          </a:p>
        </p:txBody>
      </p:sp>
      <p:sp>
        <p:nvSpPr>
          <p:cNvPr id="12" name="Shape 9"/>
          <p:cNvSpPr/>
          <p:nvPr/>
        </p:nvSpPr>
        <p:spPr>
          <a:xfrm>
            <a:off x="11411712" y="2091233"/>
            <a:ext cx="329184" cy="329184"/>
          </a:xfrm>
          <a:prstGeom prst="ellipse">
            <a:avLst/>
          </a:prstGeom>
          <a:solidFill>
            <a:srgbClr val="C9A227"/>
          </a:solidFill>
          <a:ln w="12700">
            <a:solidFill>
              <a:srgbClr val="C9A227"/>
            </a:solidFill>
            <a:prstDash val="solid"/>
          </a:ln>
        </p:spPr>
      </p:sp>
      <p:sp>
        <p:nvSpPr>
          <p:cNvPr id="13" name="Text 10"/>
          <p:cNvSpPr/>
          <p:nvPr/>
        </p:nvSpPr>
        <p:spPr>
          <a:xfrm>
            <a:off x="11411712" y="209123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4" name="Text 11"/>
          <p:cNvSpPr/>
          <p:nvPr/>
        </p:nvSpPr>
        <p:spPr>
          <a:xfrm>
            <a:off x="5806440" y="2091233"/>
            <a:ext cx="549554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گفت‌وگو</a:t>
            </a:r>
            <a:endParaRPr lang="en-US" sz="1350" dirty="0"/>
          </a:p>
        </p:txBody>
      </p:sp>
      <p:sp>
        <p:nvSpPr>
          <p:cNvPr id="15" name="Text 12"/>
          <p:cNvSpPr/>
          <p:nvPr/>
        </p:nvSpPr>
        <p:spPr>
          <a:xfrm>
            <a:off x="5806440" y="2420417"/>
            <a:ext cx="549554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هر نظر با کد کاربر و زمان ثبت می‌شود؛ نظر خودتان را می‌توانید حذف کنید.</a:t>
            </a:r>
            <a:endParaRPr lang="en-US" sz="1300" dirty="0"/>
          </a:p>
        </p:txBody>
      </p:sp>
      <p:sp>
        <p:nvSpPr>
          <p:cNvPr id="16" name="Shape 13"/>
          <p:cNvSpPr/>
          <p:nvPr/>
        </p:nvSpPr>
        <p:spPr>
          <a:xfrm>
            <a:off x="11411712" y="2993746"/>
            <a:ext cx="329184" cy="329184"/>
          </a:xfrm>
          <a:prstGeom prst="ellipse">
            <a:avLst/>
          </a:prstGeom>
          <a:solidFill>
            <a:srgbClr val="C9A227"/>
          </a:solidFill>
          <a:ln w="12700">
            <a:solidFill>
              <a:srgbClr val="C9A227"/>
            </a:solidFill>
            <a:prstDash val="solid"/>
          </a:ln>
        </p:spPr>
      </p:sp>
      <p:sp>
        <p:nvSpPr>
          <p:cNvPr id="17" name="Text 14"/>
          <p:cNvSpPr/>
          <p:nvPr/>
        </p:nvSpPr>
        <p:spPr>
          <a:xfrm>
            <a:off x="11411712" y="2993746"/>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8" name="Text 15"/>
          <p:cNvSpPr/>
          <p:nvPr/>
        </p:nvSpPr>
        <p:spPr>
          <a:xfrm>
            <a:off x="5806440" y="2993746"/>
            <a:ext cx="549554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ثبت نظر</a:t>
            </a:r>
            <a:endParaRPr lang="en-US" sz="1350" dirty="0"/>
          </a:p>
        </p:txBody>
      </p:sp>
      <p:sp>
        <p:nvSpPr>
          <p:cNvPr id="19" name="Text 16"/>
          <p:cNvSpPr/>
          <p:nvPr/>
        </p:nvSpPr>
        <p:spPr>
          <a:xfrm>
            <a:off x="5806440" y="3322930"/>
            <a:ext cx="5495544" cy="286664"/>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متن را در «نظر تازه» بنویسید و «ثبت نظر» را بزنید.</a:t>
            </a:r>
            <a:endParaRPr lang="en-US" sz="1300" dirty="0"/>
          </a:p>
        </p:txBody>
      </p:sp>
      <p:sp>
        <p:nvSpPr>
          <p:cNvPr id="20" name="Shape 17"/>
          <p:cNvSpPr/>
          <p:nvPr/>
        </p:nvSpPr>
        <p:spPr>
          <a:xfrm>
            <a:off x="11411712" y="3664458"/>
            <a:ext cx="329184" cy="329184"/>
          </a:xfrm>
          <a:prstGeom prst="ellipse">
            <a:avLst/>
          </a:prstGeom>
          <a:solidFill>
            <a:srgbClr val="C9A227"/>
          </a:solidFill>
          <a:ln w="12700">
            <a:solidFill>
              <a:srgbClr val="C9A227"/>
            </a:solidFill>
            <a:prstDash val="solid"/>
          </a:ln>
        </p:spPr>
      </p:sp>
      <p:sp>
        <p:nvSpPr>
          <p:cNvPr id="21" name="Text 18"/>
          <p:cNvSpPr/>
          <p:nvPr/>
        </p:nvSpPr>
        <p:spPr>
          <a:xfrm>
            <a:off x="11411712" y="366445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2" name="Text 19"/>
          <p:cNvSpPr/>
          <p:nvPr/>
        </p:nvSpPr>
        <p:spPr>
          <a:xfrm>
            <a:off x="5806440" y="3664458"/>
            <a:ext cx="5495544" cy="329184"/>
          </a:xfrm>
          <a:prstGeom prst="rect">
            <a:avLst/>
          </a:prstGeom>
          <a:noFill/>
          <a:ln/>
        </p:spPr>
        <p:txBody>
          <a:bodyPr wrap="square" lIns="0" tIns="0" rIns="0" bIns="0" rtlCol="0" anchor="ctr"/>
          <a:lstStyle/>
          <a:p>
            <a:pPr rtl="1" algn="r" indent="0" marL="0">
              <a:buNone/>
            </a:pPr>
            <a:r>
              <a:rPr lang="en-US" sz="1350" b="1" dirty="0">
                <a:solidFill>
                  <a:srgbClr val="1B2A49"/>
                </a:solidFill>
                <a:latin typeface="Tahoma" pitchFamily="34" charset="0"/>
                <a:ea typeface="Tahoma" pitchFamily="34" charset="-122"/>
                <a:cs typeface="Tahoma" pitchFamily="34" charset="-120"/>
              </a:rPr>
              <a:t>نظرهای کل اجرا</a:t>
            </a:r>
            <a:endParaRPr lang="en-US" sz="1350" dirty="0"/>
          </a:p>
        </p:txBody>
      </p:sp>
      <p:sp>
        <p:nvSpPr>
          <p:cNvPr id="23" name="Text 20"/>
          <p:cNvSpPr/>
          <p:nvPr/>
        </p:nvSpPr>
        <p:spPr>
          <a:xfrm>
            <a:off x="5806440" y="3993642"/>
            <a:ext cx="5495544" cy="518465"/>
          </a:xfrm>
          <a:prstGeom prst="rect">
            <a:avLst/>
          </a:prstGeom>
          <a:noFill/>
          <a:ln/>
        </p:spPr>
        <p:txBody>
          <a:bodyPr wrap="square" lIns="0" tIns="0" rIns="0" bIns="0" rtlCol="0" anchor="t"/>
          <a:lstStyle/>
          <a:p>
            <a:pPr rtl="1" algn="r" indent="0" marL="0">
              <a:buNone/>
            </a:pPr>
            <a:r>
              <a:rPr lang="en-US" sz="1300" dirty="0">
                <a:solidFill>
                  <a:srgbClr val="1F2937"/>
                </a:solidFill>
                <a:latin typeface="Tahoma" pitchFamily="34" charset="0"/>
                <a:ea typeface="Tahoma" pitchFamily="34" charset="-122"/>
                <a:cs typeface="Tahoma" pitchFamily="34" charset="-120"/>
              </a:rPr>
              <a:t>در زبانهٔ «کنترل‌ها»، دکمهٔ «نظرهای کل اجرا» همهٔ گفت‌وگوها را یک‌جا نشان می‌دهد.</a:t>
            </a:r>
            <a:endParaRPr lang="en-US" sz="1300" dirty="0"/>
          </a:p>
        </p:txBody>
      </p:sp>
      <p:sp>
        <p:nvSpPr>
          <p:cNvPr id="24" name="Text 2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۲۱۹</a:t>
            </a:r>
            <a:endParaRPr lang="en-US" sz="1000" dirty="0"/>
          </a:p>
        </p:txBody>
      </p:sp>
      <p:sp>
        <p:nvSpPr>
          <p:cNvPr id="25" name="Text 2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۹ — مراحل تأیید و بستن دوره</a:t>
            </a:r>
            <a:endParaRPr lang="en-US" sz="2500" dirty="0"/>
          </a:p>
        </p:txBody>
      </p:sp>
      <p:sp>
        <p:nvSpPr>
          <p:cNvPr id="3" name="Shape 1"/>
          <p:cNvSpPr/>
          <p:nvPr/>
        </p:nvSpPr>
        <p:spPr>
          <a:xfrm>
            <a:off x="7562088" y="896112"/>
            <a:ext cx="421538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7671816" y="896112"/>
            <a:ext cx="399592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گردش تأیید صورت‌ها / بستن دوره</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گردش تأیید صورت‌ها</a:t>
            </a:r>
            <a:endParaRPr lang="en-US" sz="1200" dirty="0"/>
          </a:p>
        </p:txBody>
      </p:sp>
      <p:sp>
        <p:nvSpPr>
          <p:cNvPr id="6" name="Shape 4"/>
          <p:cNvSpPr/>
          <p:nvPr/>
        </p:nvSpPr>
        <p:spPr>
          <a:xfrm>
            <a:off x="6208776" y="1618488"/>
            <a:ext cx="5568696" cy="2411730"/>
          </a:xfrm>
          <a:prstGeom prst="roundRect">
            <a:avLst>
              <a:gd name="adj" fmla="val 303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fsn02s">    </p:cNvPr>
          <p:cNvPicPr>
            <a:picLocks noChangeAspect="1"/>
          </p:cNvPicPr>
          <p:nvPr/>
        </p:nvPicPr>
        <p:blipFill>
          <a:blip r:embed="rId1"/>
          <a:stretch>
            <a:fillRect/>
          </a:stretch>
        </p:blipFill>
        <p:spPr>
          <a:xfrm>
            <a:off x="6254496" y="1728902"/>
            <a:ext cx="5477256" cy="2190902"/>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بستن دوره</a:t>
            </a:r>
            <a:endParaRPr lang="en-US" sz="1200" dirty="0"/>
          </a:p>
        </p:txBody>
      </p:sp>
      <p:sp>
        <p:nvSpPr>
          <p:cNvPr id="9" name="Shape 6"/>
          <p:cNvSpPr/>
          <p:nvPr/>
        </p:nvSpPr>
        <p:spPr>
          <a:xfrm>
            <a:off x="411480" y="1618488"/>
            <a:ext cx="5568696" cy="2411730"/>
          </a:xfrm>
          <a:prstGeom prst="roundRect">
            <a:avLst>
              <a:gd name="adj" fmla="val 3033"/>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fsn03s">    </p:cNvPr>
          <p:cNvPicPr>
            <a:picLocks noChangeAspect="1"/>
          </p:cNvPicPr>
          <p:nvPr/>
        </p:nvPicPr>
        <p:blipFill>
          <a:blip r:embed="rId2"/>
          <a:stretch>
            <a:fillRect/>
          </a:stretch>
        </p:blipFill>
        <p:spPr>
          <a:xfrm>
            <a:off x="457200" y="1683258"/>
            <a:ext cx="5477256" cy="2282190"/>
          </a:xfrm>
          <a:prstGeom prst="rect">
            <a:avLst/>
          </a:prstGeom>
        </p:spPr>
      </p:pic>
      <p:sp>
        <p:nvSpPr>
          <p:cNvPr id="11" name="Shape 7"/>
          <p:cNvSpPr/>
          <p:nvPr/>
        </p:nvSpPr>
        <p:spPr>
          <a:xfrm>
            <a:off x="9038844" y="4213098"/>
            <a:ext cx="2738628" cy="1346454"/>
          </a:xfrm>
          <a:prstGeom prst="roundRect">
            <a:avLst>
              <a:gd name="adj" fmla="val 5433"/>
            </a:avLst>
          </a:prstGeom>
          <a:solidFill>
            <a:srgbClr val="FFFFFF"/>
          </a:solidFill>
          <a:ln w="6350">
            <a:solidFill>
              <a:srgbClr val="D9DEE7"/>
            </a:solidFill>
            <a:prstDash val="solid"/>
          </a:ln>
        </p:spPr>
      </p:sp>
      <p:sp>
        <p:nvSpPr>
          <p:cNvPr id="12" name="Shape 8"/>
          <p:cNvSpPr/>
          <p:nvPr/>
        </p:nvSpPr>
        <p:spPr>
          <a:xfrm>
            <a:off x="11356848" y="4304538"/>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045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286250"/>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مراحل تأیید</a:t>
            </a:r>
            <a:endParaRPr lang="en-US" sz="1300" dirty="0"/>
          </a:p>
        </p:txBody>
      </p:sp>
      <p:sp>
        <p:nvSpPr>
          <p:cNvPr id="15" name="Text 11"/>
          <p:cNvSpPr/>
          <p:nvPr/>
        </p:nvSpPr>
        <p:spPr>
          <a:xfrm>
            <a:off x="9148572" y="4688586"/>
            <a:ext cx="2519172" cy="81610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برای هر مجموعه مراحل (بازبین، مدیرکل، معاون…) را با کد کاربری تأییدکنندگان تعریف کنید.</a:t>
            </a:r>
            <a:endParaRPr lang="en-US" sz="1150" dirty="0"/>
          </a:p>
        </p:txBody>
      </p:sp>
      <p:sp>
        <p:nvSpPr>
          <p:cNvPr id="16" name="Shape 12"/>
          <p:cNvSpPr/>
          <p:nvPr/>
        </p:nvSpPr>
        <p:spPr>
          <a:xfrm>
            <a:off x="6163056" y="4213098"/>
            <a:ext cx="2738628" cy="1346454"/>
          </a:xfrm>
          <a:prstGeom prst="roundRect">
            <a:avLst>
              <a:gd name="adj" fmla="val 5433"/>
            </a:avLst>
          </a:prstGeom>
          <a:solidFill>
            <a:srgbClr val="FFFFFF"/>
          </a:solidFill>
          <a:ln w="6350">
            <a:solidFill>
              <a:srgbClr val="D9DEE7"/>
            </a:solidFill>
            <a:prstDash val="solid"/>
          </a:ln>
        </p:spPr>
      </p:sp>
      <p:sp>
        <p:nvSpPr>
          <p:cNvPr id="17" name="Shape 13"/>
          <p:cNvSpPr/>
          <p:nvPr/>
        </p:nvSpPr>
        <p:spPr>
          <a:xfrm>
            <a:off x="8481060" y="4304538"/>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3045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286250"/>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مرحله‌به‌مرحله</a:t>
            </a:r>
            <a:endParaRPr lang="en-US" sz="1300" dirty="0"/>
          </a:p>
        </p:txBody>
      </p:sp>
      <p:sp>
        <p:nvSpPr>
          <p:cNvPr id="20" name="Text 16"/>
          <p:cNvSpPr/>
          <p:nvPr/>
        </p:nvSpPr>
        <p:spPr>
          <a:xfrm>
            <a:off x="6272784" y="4688586"/>
            <a:ext cx="2519172" cy="81610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دکمهٔ «تأیید» نام مرحلهٔ جاری را دارد؛ یک نفر دو مرحلهٔ یک اجرا را تأیید نمی‌کند.</a:t>
            </a:r>
            <a:endParaRPr lang="en-US" sz="1150" dirty="0"/>
          </a:p>
        </p:txBody>
      </p:sp>
      <p:sp>
        <p:nvSpPr>
          <p:cNvPr id="21" name="Shape 17"/>
          <p:cNvSpPr/>
          <p:nvPr/>
        </p:nvSpPr>
        <p:spPr>
          <a:xfrm>
            <a:off x="3287268" y="4213098"/>
            <a:ext cx="2738628" cy="1346454"/>
          </a:xfrm>
          <a:prstGeom prst="roundRect">
            <a:avLst>
              <a:gd name="adj" fmla="val 5433"/>
            </a:avLst>
          </a:prstGeom>
          <a:solidFill>
            <a:srgbClr val="FFFFFF"/>
          </a:solidFill>
          <a:ln w="6350">
            <a:solidFill>
              <a:srgbClr val="D9DEE7"/>
            </a:solidFill>
            <a:prstDash val="solid"/>
          </a:ln>
        </p:spPr>
      </p:sp>
      <p:sp>
        <p:nvSpPr>
          <p:cNvPr id="22" name="Shape 18"/>
          <p:cNvSpPr/>
          <p:nvPr/>
        </p:nvSpPr>
        <p:spPr>
          <a:xfrm>
            <a:off x="5605272" y="4304538"/>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3045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286250"/>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بستن دوره</a:t>
            </a:r>
            <a:endParaRPr lang="en-US" sz="1300" dirty="0"/>
          </a:p>
        </p:txBody>
      </p:sp>
      <p:sp>
        <p:nvSpPr>
          <p:cNvPr id="25" name="Text 21"/>
          <p:cNvSpPr/>
          <p:nvPr/>
        </p:nvSpPr>
        <p:spPr>
          <a:xfrm>
            <a:off x="3396996" y="4688586"/>
            <a:ext cx="2519172" cy="81610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باز ⇐ بستهٔ موقت ⇐ قفل؛ قفل هر واحد زیرواحدهایش را هم قفل‌شده حساب می‌کند.</a:t>
            </a:r>
            <a:endParaRPr lang="en-US" sz="1150" dirty="0"/>
          </a:p>
        </p:txBody>
      </p:sp>
      <p:sp>
        <p:nvSpPr>
          <p:cNvPr id="26" name="Shape 22"/>
          <p:cNvSpPr/>
          <p:nvPr/>
        </p:nvSpPr>
        <p:spPr>
          <a:xfrm>
            <a:off x="411480" y="4213098"/>
            <a:ext cx="2738628" cy="1346454"/>
          </a:xfrm>
          <a:prstGeom prst="roundRect">
            <a:avLst>
              <a:gd name="adj" fmla="val 5433"/>
            </a:avLst>
          </a:prstGeom>
          <a:solidFill>
            <a:srgbClr val="FFFFFF"/>
          </a:solidFill>
          <a:ln w="6350">
            <a:solidFill>
              <a:srgbClr val="D9DEE7"/>
            </a:solidFill>
            <a:prstDash val="solid"/>
          </a:ln>
        </p:spPr>
      </p:sp>
      <p:sp>
        <p:nvSpPr>
          <p:cNvPr id="27" name="Shape 23"/>
          <p:cNvSpPr/>
          <p:nvPr/>
        </p:nvSpPr>
        <p:spPr>
          <a:xfrm>
            <a:off x="2729484" y="4304538"/>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304538"/>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286250"/>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بازگشایی و تاریخچه</a:t>
            </a:r>
            <a:endParaRPr lang="en-US" sz="1300" dirty="0"/>
          </a:p>
        </p:txBody>
      </p:sp>
      <p:sp>
        <p:nvSpPr>
          <p:cNvPr id="30" name="Text 26"/>
          <p:cNvSpPr/>
          <p:nvPr/>
        </p:nvSpPr>
        <p:spPr>
          <a:xfrm>
            <a:off x="521208" y="4688586"/>
            <a:ext cx="2519172" cy="816102"/>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دورهٔ قفل با «درخواست بازگشایی» و تأیید ستاد؛ هر اقدام در «تاریخچه» ثبت می‌شود.</a:t>
            </a:r>
            <a:endParaRPr lang="en-US" sz="1150" dirty="0"/>
          </a:p>
        </p:txBody>
      </p:sp>
      <p:sp>
        <p:nvSpPr>
          <p:cNvPr id="31" name="Shape 27"/>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انتشار فقط وقتی ممکن است که دورهٔ همهٔ واحدهای دامنه «قفل» شده باشد (کنترل V-11). این قفل ثبت سند را نمی‌بندد.</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۲۲۰</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۱۰ — یادداشت‌های توضیحی</a:t>
            </a:r>
            <a:endParaRPr lang="en-US" sz="2500" dirty="0"/>
          </a:p>
        </p:txBody>
      </p:sp>
      <p:sp>
        <p:nvSpPr>
          <p:cNvPr id="3" name="Shape 1"/>
          <p:cNvSpPr/>
          <p:nvPr/>
        </p:nvSpPr>
        <p:spPr>
          <a:xfrm>
            <a:off x="8494776" y="896112"/>
            <a:ext cx="328269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604504" y="896112"/>
            <a:ext cx="306324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یادداشت‌های توضیحی</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فهرست یادداشت‌ها و پیشرفت</a:t>
            </a:r>
            <a:endParaRPr lang="en-US" sz="1200" dirty="0"/>
          </a:p>
        </p:txBody>
      </p:sp>
      <p:sp>
        <p:nvSpPr>
          <p:cNvPr id="6" name="Shape 4"/>
          <p:cNvSpPr/>
          <p:nvPr/>
        </p:nvSpPr>
        <p:spPr>
          <a:xfrm>
            <a:off x="6208776" y="1618488"/>
            <a:ext cx="5568696" cy="2055952"/>
          </a:xfrm>
          <a:prstGeom prst="roundRect">
            <a:avLst>
              <a:gd name="adj" fmla="val 3558"/>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fsn04s">    </p:cNvPr>
          <p:cNvPicPr>
            <a:picLocks noChangeAspect="1"/>
          </p:cNvPicPr>
          <p:nvPr/>
        </p:nvPicPr>
        <p:blipFill>
          <a:blip r:embed="rId1"/>
          <a:stretch>
            <a:fillRect/>
          </a:stretch>
        </p:blipFill>
        <p:spPr>
          <a:xfrm>
            <a:off x="6254496" y="1680337"/>
            <a:ext cx="5477256" cy="1932254"/>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یادداشت تازه و ویرایشگر</a:t>
            </a:r>
            <a:endParaRPr lang="en-US" sz="1200" dirty="0"/>
          </a:p>
        </p:txBody>
      </p:sp>
      <p:sp>
        <p:nvSpPr>
          <p:cNvPr id="9" name="Shape 6"/>
          <p:cNvSpPr/>
          <p:nvPr/>
        </p:nvSpPr>
        <p:spPr>
          <a:xfrm>
            <a:off x="411480" y="1618488"/>
            <a:ext cx="5568696" cy="2055952"/>
          </a:xfrm>
          <a:prstGeom prst="roundRect">
            <a:avLst>
              <a:gd name="adj" fmla="val 3558"/>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fsn05s">    </p:cNvPr>
          <p:cNvPicPr>
            <a:picLocks noChangeAspect="1"/>
          </p:cNvPicPr>
          <p:nvPr/>
        </p:nvPicPr>
        <p:blipFill>
          <a:blip r:embed="rId2"/>
          <a:stretch>
            <a:fillRect/>
          </a:stretch>
        </p:blipFill>
        <p:spPr>
          <a:xfrm>
            <a:off x="457200" y="1764017"/>
            <a:ext cx="5477256" cy="1764894"/>
          </a:xfrm>
          <a:prstGeom prst="rect">
            <a:avLst/>
          </a:prstGeom>
        </p:spPr>
      </p:pic>
      <p:sp>
        <p:nvSpPr>
          <p:cNvPr id="11" name="Shape 7"/>
          <p:cNvSpPr/>
          <p:nvPr/>
        </p:nvSpPr>
        <p:spPr>
          <a:xfrm>
            <a:off x="9038844" y="3857320"/>
            <a:ext cx="2738628" cy="1702232"/>
          </a:xfrm>
          <a:prstGeom prst="roundRect">
            <a:avLst>
              <a:gd name="adj" fmla="val 4297"/>
            </a:avLst>
          </a:prstGeom>
          <a:solidFill>
            <a:srgbClr val="FFFFFF"/>
          </a:solidFill>
          <a:ln w="6350">
            <a:solidFill>
              <a:srgbClr val="D9DEE7"/>
            </a:solidFill>
            <a:prstDash val="solid"/>
          </a:ln>
        </p:spPr>
      </p:sp>
      <p:sp>
        <p:nvSpPr>
          <p:cNvPr id="12" name="Shape 8"/>
          <p:cNvSpPr/>
          <p:nvPr/>
        </p:nvSpPr>
        <p:spPr>
          <a:xfrm>
            <a:off x="11356848" y="3948760"/>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394876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3930472"/>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نوع یادداشت</a:t>
            </a:r>
            <a:endParaRPr lang="en-US" sz="1300" dirty="0"/>
          </a:p>
        </p:txBody>
      </p:sp>
      <p:sp>
        <p:nvSpPr>
          <p:cNvPr id="15" name="Text 11"/>
          <p:cNvSpPr/>
          <p:nvPr/>
        </p:nvSpPr>
        <p:spPr>
          <a:xfrm>
            <a:off x="9148572" y="4332808"/>
            <a:ext cx="2519172" cy="1171880"/>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مستقل (تاریخچه، مبنا، رویه‌ها) یا همراه یک یادداشت عددی که زیر جدول آن می‌آید.</a:t>
            </a:r>
            <a:endParaRPr lang="en-US" sz="1150" dirty="0"/>
          </a:p>
        </p:txBody>
      </p:sp>
      <p:sp>
        <p:nvSpPr>
          <p:cNvPr id="16" name="Shape 12"/>
          <p:cNvSpPr/>
          <p:nvPr/>
        </p:nvSpPr>
        <p:spPr>
          <a:xfrm>
            <a:off x="6163056" y="3857320"/>
            <a:ext cx="2738628" cy="1702232"/>
          </a:xfrm>
          <a:prstGeom prst="roundRect">
            <a:avLst>
              <a:gd name="adj" fmla="val 4297"/>
            </a:avLst>
          </a:prstGeom>
          <a:solidFill>
            <a:srgbClr val="FFFFFF"/>
          </a:solidFill>
          <a:ln w="6350">
            <a:solidFill>
              <a:srgbClr val="D9DEE7"/>
            </a:solidFill>
            <a:prstDash val="solid"/>
          </a:ln>
        </p:spPr>
      </p:sp>
      <p:sp>
        <p:nvSpPr>
          <p:cNvPr id="17" name="Shape 13"/>
          <p:cNvSpPr/>
          <p:nvPr/>
        </p:nvSpPr>
        <p:spPr>
          <a:xfrm>
            <a:off x="8481060" y="3948760"/>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394876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3930472"/>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ویرایشگر</a:t>
            </a:r>
            <a:endParaRPr lang="en-US" sz="1300" dirty="0"/>
          </a:p>
        </p:txBody>
      </p:sp>
      <p:sp>
        <p:nvSpPr>
          <p:cNvPr id="20" name="Text 16"/>
          <p:cNvSpPr/>
          <p:nvPr/>
        </p:nvSpPr>
        <p:spPr>
          <a:xfrm>
            <a:off x="6272784" y="4332808"/>
            <a:ext cx="2519172" cy="1171880"/>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پررنگ، فهرست، عنوان و «درج متغیر»؛ پیش‌نمایش زنده با اعداد یک اجرای همان سال.</a:t>
            </a:r>
            <a:endParaRPr lang="en-US" sz="1150" dirty="0"/>
          </a:p>
        </p:txBody>
      </p:sp>
      <p:sp>
        <p:nvSpPr>
          <p:cNvPr id="21" name="Shape 17"/>
          <p:cNvSpPr/>
          <p:nvPr/>
        </p:nvSpPr>
        <p:spPr>
          <a:xfrm>
            <a:off x="3287268" y="3857320"/>
            <a:ext cx="2738628" cy="1702232"/>
          </a:xfrm>
          <a:prstGeom prst="roundRect">
            <a:avLst>
              <a:gd name="adj" fmla="val 4297"/>
            </a:avLst>
          </a:prstGeom>
          <a:solidFill>
            <a:srgbClr val="FFFFFF"/>
          </a:solidFill>
          <a:ln w="6350">
            <a:solidFill>
              <a:srgbClr val="D9DEE7"/>
            </a:solidFill>
            <a:prstDash val="solid"/>
          </a:ln>
        </p:spPr>
      </p:sp>
      <p:sp>
        <p:nvSpPr>
          <p:cNvPr id="22" name="Shape 18"/>
          <p:cNvSpPr/>
          <p:nvPr/>
        </p:nvSpPr>
        <p:spPr>
          <a:xfrm>
            <a:off x="5605272" y="3948760"/>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394876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3930472"/>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بازبینی</a:t>
            </a:r>
            <a:endParaRPr lang="en-US" sz="1300" dirty="0"/>
          </a:p>
        </p:txBody>
      </p:sp>
      <p:sp>
        <p:nvSpPr>
          <p:cNvPr id="25" name="Text 21"/>
          <p:cNvSpPr/>
          <p:nvPr/>
        </p:nvSpPr>
        <p:spPr>
          <a:xfrm>
            <a:off x="3396996" y="4332808"/>
            <a:ext cx="2519172" cy="1171880"/>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ارسال ⇐ تأیید (نه آخرین ویرایشگر) ⇐ برگشت با دلیل؛ نوار پیشرفت بالای فهرست.</a:t>
            </a:r>
            <a:endParaRPr lang="en-US" sz="1150" dirty="0"/>
          </a:p>
        </p:txBody>
      </p:sp>
      <p:sp>
        <p:nvSpPr>
          <p:cNvPr id="26" name="Shape 22"/>
          <p:cNvSpPr/>
          <p:nvPr/>
        </p:nvSpPr>
        <p:spPr>
          <a:xfrm>
            <a:off x="411480" y="3857320"/>
            <a:ext cx="2738628" cy="1702232"/>
          </a:xfrm>
          <a:prstGeom prst="roundRect">
            <a:avLst>
              <a:gd name="adj" fmla="val 4297"/>
            </a:avLst>
          </a:prstGeom>
          <a:solidFill>
            <a:srgbClr val="FFFFFF"/>
          </a:solidFill>
          <a:ln w="6350">
            <a:solidFill>
              <a:srgbClr val="D9DEE7"/>
            </a:solidFill>
            <a:prstDash val="solid"/>
          </a:ln>
        </p:spPr>
      </p:sp>
      <p:sp>
        <p:nvSpPr>
          <p:cNvPr id="27" name="Shape 23"/>
          <p:cNvSpPr/>
          <p:nvPr/>
        </p:nvSpPr>
        <p:spPr>
          <a:xfrm>
            <a:off x="2729484" y="3948760"/>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3948760"/>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3930472"/>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نسخه و انتقال</a:t>
            </a:r>
            <a:endParaRPr lang="en-US" sz="1300" dirty="0"/>
          </a:p>
        </p:txBody>
      </p:sp>
      <p:sp>
        <p:nvSpPr>
          <p:cNvPr id="30" name="Text 26"/>
          <p:cNvSpPr/>
          <p:nvPr/>
        </p:nvSpPr>
        <p:spPr>
          <a:xfrm>
            <a:off x="521208" y="4332808"/>
            <a:ext cx="2519172" cy="1171880"/>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هر ذخیره یک نسخه است؛ «انتقال از سال قبل» کپی می‌کند؛ با انتشار متن ثابت می‌شود.</a:t>
            </a:r>
            <a:endParaRPr lang="en-US" sz="1150" dirty="0"/>
          </a:p>
        </p:txBody>
      </p:sp>
      <p:sp>
        <p:nvSpPr>
          <p:cNvPr id="31" name="Shape 27"/>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3" name="Text 29"/>
          <p:cNvSpPr/>
          <p:nvPr/>
        </p:nvSpPr>
        <p:spPr>
          <a:xfrm>
            <a:off x="4754880" y="5696712"/>
            <a:ext cx="603504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متغیرها: مبلغ جاری، سال قبل و درصد تغییر — از اعداد همان اجرا. «Word یادداشت‌ها» در صفحهٔ صورت است.</a:t>
            </a:r>
            <a:endParaRPr lang="en-US" sz="1250" dirty="0"/>
          </a:p>
        </p:txBody>
      </p:sp>
      <p:sp>
        <p:nvSpPr>
          <p:cNvPr id="34" name="Text 30"/>
          <p:cNvSpPr/>
          <p:nvPr/>
        </p:nvSpPr>
        <p:spPr>
          <a:xfrm>
            <a:off x="566928" y="5806440"/>
            <a:ext cx="4114800" cy="438912"/>
          </a:xfrm>
          <a:prstGeom prst="rect">
            <a:avLst/>
          </a:prstGeom>
          <a:solidFill>
            <a:srgbClr val="FFFFFF"/>
          </a:solidFill>
          <a:ln/>
        </p:spPr>
        <p:txBody>
          <a:bodyPr wrap="square" rtlCol="0" anchor="ctr"/>
          <a:lstStyle/>
          <a:p>
            <a:pPr algn="ctr" indent="0" marL="0">
              <a:buNone/>
            </a:pPr>
            <a:r>
              <a:rPr lang="en-US" sz="1100" dirty="0">
                <a:solidFill>
                  <a:srgbClr val="1B2A49"/>
                </a:solidFill>
                <a:latin typeface="Consolas" pitchFamily="34" charset="0"/>
                <a:ea typeface="Consolas" pitchFamily="34" charset="-122"/>
                <a:cs typeface="Consolas" pitchFamily="34" charset="-120"/>
              </a:rPr>
              <a:t>{{A01}}   {{A01.prior}}   {{A01.change%}}</a:t>
            </a:r>
            <a:endParaRPr lang="en-US" sz="1100" dirty="0"/>
          </a:p>
        </p:txBody>
      </p:sp>
      <p:sp>
        <p:nvSpPr>
          <p:cNvPr id="35" name="Text 3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۲۲۱</a:t>
            </a:r>
            <a:endParaRPr lang="en-US" sz="1000" dirty="0"/>
          </a:p>
        </p:txBody>
      </p:sp>
      <p:sp>
        <p:nvSpPr>
          <p:cNvPr id="36" name="Text 3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۱۱ — تحلیل، نسبت‌ها و داشبورد</a:t>
            </a:r>
            <a:endParaRPr lang="en-US" sz="2500" dirty="0"/>
          </a:p>
        </p:txBody>
      </p:sp>
      <p:sp>
        <p:nvSpPr>
          <p:cNvPr id="3" name="Shape 1"/>
          <p:cNvSpPr/>
          <p:nvPr/>
        </p:nvSpPr>
        <p:spPr>
          <a:xfrm>
            <a:off x="7484364" y="896112"/>
            <a:ext cx="4293108"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7594092" y="896112"/>
            <a:ext cx="4073652"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تحلیل و نسبت‌ها / تعریف نسبت‌ها</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تحلیل و نسبت‌ها — نسبت‌های کلیدی</a:t>
            </a:r>
            <a:endParaRPr lang="en-US" sz="1200" dirty="0"/>
          </a:p>
        </p:txBody>
      </p:sp>
      <p:sp>
        <p:nvSpPr>
          <p:cNvPr id="6" name="Shape 4"/>
          <p:cNvSpPr/>
          <p:nvPr/>
        </p:nvSpPr>
        <p:spPr>
          <a:xfrm>
            <a:off x="6208776" y="1618488"/>
            <a:ext cx="5568696" cy="2257044"/>
          </a:xfrm>
          <a:prstGeom prst="roundRect">
            <a:avLst>
              <a:gd name="adj" fmla="val 324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fsn07s">    </p:cNvPr>
          <p:cNvPicPr>
            <a:picLocks noChangeAspect="1"/>
          </p:cNvPicPr>
          <p:nvPr/>
        </p:nvPicPr>
        <p:blipFill>
          <a:blip r:embed="rId1"/>
          <a:stretch>
            <a:fillRect/>
          </a:stretch>
        </p:blipFill>
        <p:spPr>
          <a:xfrm>
            <a:off x="6254496" y="1681988"/>
            <a:ext cx="5477256" cy="2130044"/>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تعریف نسبت‌ها</a:t>
            </a:r>
            <a:endParaRPr lang="en-US" sz="1200" dirty="0"/>
          </a:p>
        </p:txBody>
      </p:sp>
      <p:sp>
        <p:nvSpPr>
          <p:cNvPr id="9" name="Shape 6"/>
          <p:cNvSpPr/>
          <p:nvPr/>
        </p:nvSpPr>
        <p:spPr>
          <a:xfrm>
            <a:off x="411480" y="1618488"/>
            <a:ext cx="5568696" cy="2257044"/>
          </a:xfrm>
          <a:prstGeom prst="roundRect">
            <a:avLst>
              <a:gd name="adj" fmla="val 3241"/>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fsn06s">    </p:cNvPr>
          <p:cNvPicPr>
            <a:picLocks noChangeAspect="1"/>
          </p:cNvPicPr>
          <p:nvPr/>
        </p:nvPicPr>
        <p:blipFill>
          <a:blip r:embed="rId2"/>
          <a:stretch>
            <a:fillRect/>
          </a:stretch>
        </p:blipFill>
        <p:spPr>
          <a:xfrm>
            <a:off x="457200" y="1727632"/>
            <a:ext cx="5477256" cy="2038756"/>
          </a:xfrm>
          <a:prstGeom prst="rect">
            <a:avLst/>
          </a:prstGeom>
        </p:spPr>
      </p:pic>
      <p:sp>
        <p:nvSpPr>
          <p:cNvPr id="11" name="Shape 7"/>
          <p:cNvSpPr/>
          <p:nvPr/>
        </p:nvSpPr>
        <p:spPr>
          <a:xfrm>
            <a:off x="9038844" y="4058412"/>
            <a:ext cx="2738628" cy="1501140"/>
          </a:xfrm>
          <a:prstGeom prst="roundRect">
            <a:avLst>
              <a:gd name="adj" fmla="val 4873"/>
            </a:avLst>
          </a:prstGeom>
          <a:solidFill>
            <a:srgbClr val="FFFFFF"/>
          </a:solidFill>
          <a:ln w="6350">
            <a:solidFill>
              <a:srgbClr val="D9DEE7"/>
            </a:solidFill>
            <a:prstDash val="solid"/>
          </a:ln>
        </p:spPr>
      </p:sp>
      <p:sp>
        <p:nvSpPr>
          <p:cNvPr id="12" name="Shape 8"/>
          <p:cNvSpPr/>
          <p:nvPr/>
        </p:nvSpPr>
        <p:spPr>
          <a:xfrm>
            <a:off x="11356848" y="4149852"/>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14985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131564"/>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تعریف نسبت‌ها</a:t>
            </a:r>
            <a:endParaRPr lang="en-US" sz="1300" dirty="0"/>
          </a:p>
        </p:txBody>
      </p:sp>
      <p:sp>
        <p:nvSpPr>
          <p:cNvPr id="15" name="Text 11"/>
          <p:cNvSpPr/>
          <p:nvPr/>
        </p:nvSpPr>
        <p:spPr>
          <a:xfrm>
            <a:off x="9148572" y="4533900"/>
            <a:ext cx="2519172" cy="970788"/>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«نسبت‌های پیش‌فرض» ده نسبت رایج می‌سازد؛ هر نسبت یک صورت و یک مخرج دارد.</a:t>
            </a:r>
            <a:endParaRPr lang="en-US" sz="1150" dirty="0"/>
          </a:p>
        </p:txBody>
      </p:sp>
      <p:sp>
        <p:nvSpPr>
          <p:cNvPr id="16" name="Shape 12"/>
          <p:cNvSpPr/>
          <p:nvPr/>
        </p:nvSpPr>
        <p:spPr>
          <a:xfrm>
            <a:off x="6163056" y="4058412"/>
            <a:ext cx="2738628" cy="1501140"/>
          </a:xfrm>
          <a:prstGeom prst="roundRect">
            <a:avLst>
              <a:gd name="adj" fmla="val 4873"/>
            </a:avLst>
          </a:prstGeom>
          <a:solidFill>
            <a:srgbClr val="FFFFFF"/>
          </a:solidFill>
          <a:ln w="6350">
            <a:solidFill>
              <a:srgbClr val="D9DEE7"/>
            </a:solidFill>
            <a:prstDash val="solid"/>
          </a:ln>
        </p:spPr>
      </p:sp>
      <p:sp>
        <p:nvSpPr>
          <p:cNvPr id="17" name="Shape 13"/>
          <p:cNvSpPr/>
          <p:nvPr/>
        </p:nvSpPr>
        <p:spPr>
          <a:xfrm>
            <a:off x="8481060" y="4149852"/>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14985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131564"/>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تحلیل</a:t>
            </a:r>
            <a:endParaRPr lang="en-US" sz="1300" dirty="0"/>
          </a:p>
        </p:txBody>
      </p:sp>
      <p:sp>
        <p:nvSpPr>
          <p:cNvPr id="20" name="Text 16"/>
          <p:cNvSpPr/>
          <p:nvPr/>
        </p:nvSpPr>
        <p:spPr>
          <a:xfrm>
            <a:off x="6272784" y="4533900"/>
            <a:ext cx="2519172" cy="970788"/>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نسبت‌های اجرا کنار سال قبل، و مقایسه و سهم اقلام اصلی هر صورت.</a:t>
            </a:r>
            <a:endParaRPr lang="en-US" sz="1150" dirty="0"/>
          </a:p>
        </p:txBody>
      </p:sp>
      <p:sp>
        <p:nvSpPr>
          <p:cNvPr id="21" name="Shape 17"/>
          <p:cNvSpPr/>
          <p:nvPr/>
        </p:nvSpPr>
        <p:spPr>
          <a:xfrm>
            <a:off x="3287268" y="4058412"/>
            <a:ext cx="2738628" cy="1501140"/>
          </a:xfrm>
          <a:prstGeom prst="roundRect">
            <a:avLst>
              <a:gd name="adj" fmla="val 4873"/>
            </a:avLst>
          </a:prstGeom>
          <a:solidFill>
            <a:srgbClr val="FFFFFF"/>
          </a:solidFill>
          <a:ln w="6350">
            <a:solidFill>
              <a:srgbClr val="D9DEE7"/>
            </a:solidFill>
            <a:prstDash val="solid"/>
          </a:ln>
        </p:spPr>
      </p:sp>
      <p:sp>
        <p:nvSpPr>
          <p:cNvPr id="22" name="Shape 18"/>
          <p:cNvSpPr/>
          <p:nvPr/>
        </p:nvSpPr>
        <p:spPr>
          <a:xfrm>
            <a:off x="5605272" y="4149852"/>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14985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131564"/>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روند</a:t>
            </a:r>
            <a:endParaRPr lang="en-US" sz="1300" dirty="0"/>
          </a:p>
        </p:txBody>
      </p:sp>
      <p:sp>
        <p:nvSpPr>
          <p:cNvPr id="25" name="Text 21"/>
          <p:cNvSpPr/>
          <p:nvPr/>
        </p:nvSpPr>
        <p:spPr>
          <a:xfrm>
            <a:off x="3396996" y="4533900"/>
            <a:ext cx="2519172" cy="970788"/>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نسبت‌های پنج سال اخیر از آخرین اجرای منتشرشدهٔ هر سال.</a:t>
            </a:r>
            <a:endParaRPr lang="en-US" sz="1150" dirty="0"/>
          </a:p>
        </p:txBody>
      </p:sp>
      <p:sp>
        <p:nvSpPr>
          <p:cNvPr id="26" name="Shape 22"/>
          <p:cNvSpPr/>
          <p:nvPr/>
        </p:nvSpPr>
        <p:spPr>
          <a:xfrm>
            <a:off x="411480" y="4058412"/>
            <a:ext cx="2738628" cy="1501140"/>
          </a:xfrm>
          <a:prstGeom prst="roundRect">
            <a:avLst>
              <a:gd name="adj" fmla="val 4873"/>
            </a:avLst>
          </a:prstGeom>
          <a:solidFill>
            <a:srgbClr val="FFFFFF"/>
          </a:solidFill>
          <a:ln w="6350">
            <a:solidFill>
              <a:srgbClr val="D9DEE7"/>
            </a:solidFill>
            <a:prstDash val="solid"/>
          </a:ln>
        </p:spPr>
      </p:sp>
      <p:sp>
        <p:nvSpPr>
          <p:cNvPr id="27" name="Shape 23"/>
          <p:cNvSpPr/>
          <p:nvPr/>
        </p:nvSpPr>
        <p:spPr>
          <a:xfrm>
            <a:off x="2729484" y="4149852"/>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149852"/>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131564"/>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داشبورد</a:t>
            </a:r>
            <a:endParaRPr lang="en-US" sz="1300" dirty="0"/>
          </a:p>
        </p:txBody>
      </p:sp>
      <p:sp>
        <p:nvSpPr>
          <p:cNvPr id="30" name="Text 26"/>
          <p:cNvSpPr/>
          <p:nvPr/>
        </p:nvSpPr>
        <p:spPr>
          <a:xfrm>
            <a:off x="521208" y="4533900"/>
            <a:ext cx="2519172" cy="970788"/>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چهار نسبت اول به‌عنوان شاخص در داشبورد صورت‌ها دیده می‌شوند.</a:t>
            </a:r>
            <a:endParaRPr lang="en-US" sz="1150" dirty="0"/>
          </a:p>
        </p:txBody>
      </p:sp>
      <p:sp>
        <p:nvSpPr>
          <p:cNvPr id="31" name="Shape 27"/>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3" name="Text 29"/>
          <p:cNvSpPr/>
          <p:nvPr/>
        </p:nvSpPr>
        <p:spPr>
          <a:xfrm>
            <a:off x="4754880" y="5696712"/>
            <a:ext cx="603504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صورت و مخرج نسبت با زبان فرمول قالب نوشته می‌شود؛ مثلاً جمع مصارف:</a:t>
            </a:r>
            <a:endParaRPr lang="en-US" sz="1250" dirty="0"/>
          </a:p>
        </p:txBody>
      </p:sp>
      <p:sp>
        <p:nvSpPr>
          <p:cNvPr id="34" name="Text 30"/>
          <p:cNvSpPr/>
          <p:nvPr/>
        </p:nvSpPr>
        <p:spPr>
          <a:xfrm>
            <a:off x="566928" y="5806440"/>
            <a:ext cx="4114800" cy="438912"/>
          </a:xfrm>
          <a:prstGeom prst="rect">
            <a:avLst/>
          </a:prstGeom>
          <a:solidFill>
            <a:srgbClr val="FFFFFF"/>
          </a:solidFill>
          <a:ln/>
        </p:spPr>
        <p:txBody>
          <a:bodyPr wrap="square" rtlCol="0" anchor="ctr"/>
          <a:lstStyle/>
          <a:p>
            <a:pPr algn="ctr" indent="0" marL="0">
              <a:buNone/>
            </a:pPr>
            <a:r>
              <a:rPr lang="en-US" sz="1100" dirty="0">
                <a:solidFill>
                  <a:srgbClr val="1B2A49"/>
                </a:solidFill>
                <a:latin typeface="Consolas" pitchFamily="34" charset="0"/>
                <a:ea typeface="Consolas" pitchFamily="34" charset="-122"/>
                <a:cs typeface="Consolas" pitchFamily="34" charset="-120"/>
              </a:rPr>
              <a:t>STMT(PENSION.CHANGES_IN_NET_ASSETS, C99)</a:t>
            </a:r>
            <a:endParaRPr lang="en-US" sz="1100" dirty="0"/>
          </a:p>
        </p:txBody>
      </p:sp>
      <p:sp>
        <p:nvSpPr>
          <p:cNvPr id="35" name="Text 3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۲۲۲</a:t>
            </a:r>
            <a:endParaRPr lang="en-US" sz="1000" dirty="0"/>
          </a:p>
        </p:txBody>
      </p:sp>
      <p:sp>
        <p:nvSpPr>
          <p:cNvPr id="36" name="Text 3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۱۲ — تطبیق فی‌مابین به تفکیک واحد</a:t>
            </a:r>
            <a:endParaRPr lang="en-US" sz="2500" dirty="0"/>
          </a:p>
        </p:txBody>
      </p:sp>
      <p:sp>
        <p:nvSpPr>
          <p:cNvPr id="3" name="Shape 1"/>
          <p:cNvSpPr/>
          <p:nvPr/>
        </p:nvSpPr>
        <p:spPr>
          <a:xfrm>
            <a:off x="8339328" y="896112"/>
            <a:ext cx="3438144"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449056" y="896112"/>
            <a:ext cx="3218688"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تلفیق و حذف فی‌مابین</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جفت واحدها و وضعیت تطبیق</a:t>
            </a:r>
            <a:endParaRPr lang="en-US" sz="1200" dirty="0"/>
          </a:p>
        </p:txBody>
      </p:sp>
      <p:sp>
        <p:nvSpPr>
          <p:cNvPr id="6" name="Shape 4"/>
          <p:cNvSpPr/>
          <p:nvPr/>
        </p:nvSpPr>
        <p:spPr>
          <a:xfrm>
            <a:off x="6208776"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fsn18s">    </p:cNvPr>
          <p:cNvPicPr>
            <a:picLocks noChangeAspect="1"/>
          </p:cNvPicPr>
          <p:nvPr/>
        </p:nvPicPr>
        <p:blipFill>
          <a:blip r:embed="rId1"/>
          <a:stretch>
            <a:fillRect/>
          </a:stretch>
        </p:blipFill>
        <p:spPr>
          <a:xfrm>
            <a:off x="6618199" y="1664208"/>
            <a:ext cx="4749851" cy="2374925"/>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«بررسی»: ردیف‌های سند دو سو</a:t>
            </a:r>
            <a:endParaRPr lang="en-US" sz="1200" dirty="0"/>
          </a:p>
        </p:txBody>
      </p:sp>
      <p:sp>
        <p:nvSpPr>
          <p:cNvPr id="9" name="Shape 6"/>
          <p:cNvSpPr/>
          <p:nvPr/>
        </p:nvSpPr>
        <p:spPr>
          <a:xfrm>
            <a:off x="411480"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fsn19">    </p:cNvPr>
          <p:cNvPicPr>
            <a:picLocks noChangeAspect="1"/>
          </p:cNvPicPr>
          <p:nvPr/>
        </p:nvPicPr>
        <p:blipFill>
          <a:blip r:embed="rId2"/>
          <a:stretch>
            <a:fillRect/>
          </a:stretch>
        </p:blipFill>
        <p:spPr>
          <a:xfrm>
            <a:off x="457200" y="1702968"/>
            <a:ext cx="5477256" cy="2297405"/>
          </a:xfrm>
          <a:prstGeom prst="rect">
            <a:avLst/>
          </a:prstGeom>
        </p:spPr>
      </p:pic>
      <p:sp>
        <p:nvSpPr>
          <p:cNvPr id="11" name="Shape 7"/>
          <p:cNvSpPr/>
          <p:nvPr/>
        </p:nvSpPr>
        <p:spPr>
          <a:xfrm>
            <a:off x="9038844" y="4267733"/>
            <a:ext cx="2738628" cy="1291819"/>
          </a:xfrm>
          <a:prstGeom prst="roundRect">
            <a:avLst>
              <a:gd name="adj" fmla="val 5663"/>
            </a:avLst>
          </a:prstGeom>
          <a:solidFill>
            <a:srgbClr val="FFFFFF"/>
          </a:solidFill>
          <a:ln w="6350">
            <a:solidFill>
              <a:srgbClr val="D9DEE7"/>
            </a:solidFill>
            <a:prstDash val="solid"/>
          </a:ln>
        </p:spPr>
      </p:sp>
      <p:sp>
        <p:nvSpPr>
          <p:cNvPr id="12" name="Shape 8"/>
          <p:cNvSpPr/>
          <p:nvPr/>
        </p:nvSpPr>
        <p:spPr>
          <a:xfrm>
            <a:off x="11356848" y="4359173"/>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انتخاب اجرا</a:t>
            </a:r>
            <a:endParaRPr lang="en-US" sz="1300" dirty="0"/>
          </a:p>
        </p:txBody>
      </p:sp>
      <p:sp>
        <p:nvSpPr>
          <p:cNvPr id="15" name="Text 11"/>
          <p:cNvSpPr/>
          <p:nvPr/>
        </p:nvSpPr>
        <p:spPr>
          <a:xfrm>
            <a:off x="9148572"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اجرای ترکیبی و واحد مبلغ؛ همین بخش در زبانهٔ «کاربرگ» اجرا هم هست.</a:t>
            </a:r>
            <a:endParaRPr lang="en-US" sz="1150" dirty="0"/>
          </a:p>
        </p:txBody>
      </p:sp>
      <p:sp>
        <p:nvSpPr>
          <p:cNvPr id="16" name="Shape 12"/>
          <p:cNvSpPr/>
          <p:nvPr/>
        </p:nvSpPr>
        <p:spPr>
          <a:xfrm>
            <a:off x="6163056" y="4267733"/>
            <a:ext cx="2738628" cy="1291819"/>
          </a:xfrm>
          <a:prstGeom prst="roundRect">
            <a:avLst>
              <a:gd name="adj" fmla="val 5663"/>
            </a:avLst>
          </a:prstGeom>
          <a:solidFill>
            <a:srgbClr val="FFFFFF"/>
          </a:solidFill>
          <a:ln w="6350">
            <a:solidFill>
              <a:srgbClr val="D9DEE7"/>
            </a:solidFill>
            <a:prstDash val="solid"/>
          </a:ln>
        </p:spPr>
      </p:sp>
      <p:sp>
        <p:nvSpPr>
          <p:cNvPr id="17" name="Shape 13"/>
          <p:cNvSpPr/>
          <p:nvPr/>
        </p:nvSpPr>
        <p:spPr>
          <a:xfrm>
            <a:off x="8481060" y="4359173"/>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کاشی‌ها و دامنه</a:t>
            </a:r>
            <a:endParaRPr lang="en-US" sz="1300" dirty="0"/>
          </a:p>
        </p:txBody>
      </p:sp>
      <p:sp>
        <p:nvSpPr>
          <p:cNvPr id="20" name="Text 16"/>
          <p:cNvSpPr/>
          <p:nvPr/>
        </p:nvSpPr>
        <p:spPr>
          <a:xfrm>
            <a:off x="6272784"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پنج وضعیت تطبیق؛ زبانه‌های «همه»، «واحد اصلی ↔ زیرواحدها» و «بین زیرواحدها».</a:t>
            </a:r>
            <a:endParaRPr lang="en-US" sz="1150" dirty="0"/>
          </a:p>
        </p:txBody>
      </p:sp>
      <p:sp>
        <p:nvSpPr>
          <p:cNvPr id="21" name="Shape 17"/>
          <p:cNvSpPr/>
          <p:nvPr/>
        </p:nvSpPr>
        <p:spPr>
          <a:xfrm>
            <a:off x="3287268" y="4267733"/>
            <a:ext cx="2738628" cy="1291819"/>
          </a:xfrm>
          <a:prstGeom prst="roundRect">
            <a:avLst>
              <a:gd name="adj" fmla="val 5663"/>
            </a:avLst>
          </a:prstGeom>
          <a:solidFill>
            <a:srgbClr val="FFFFFF"/>
          </a:solidFill>
          <a:ln w="6350">
            <a:solidFill>
              <a:srgbClr val="D9DEE7"/>
            </a:solidFill>
            <a:prstDash val="solid"/>
          </a:ln>
        </p:spPr>
      </p:sp>
      <p:sp>
        <p:nvSpPr>
          <p:cNvPr id="22" name="Shape 18"/>
          <p:cNvSpPr/>
          <p:nvPr/>
        </p:nvSpPr>
        <p:spPr>
          <a:xfrm>
            <a:off x="5605272" y="4359173"/>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بررسی</a:t>
            </a:r>
            <a:endParaRPr lang="en-US" sz="1300" dirty="0"/>
          </a:p>
        </p:txBody>
      </p:sp>
      <p:sp>
        <p:nvSpPr>
          <p:cNvPr id="25" name="Text 21"/>
          <p:cNvSpPr/>
          <p:nvPr/>
        </p:nvSpPr>
        <p:spPr>
          <a:xfrm>
            <a:off x="3396996"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ردیف‌های سند دو سو با شناسه و منبع تشخیص؛ آیکون کنار ردیف سند را باز می‌کند.</a:t>
            </a:r>
            <a:endParaRPr lang="en-US" sz="1150" dirty="0"/>
          </a:p>
        </p:txBody>
      </p:sp>
      <p:sp>
        <p:nvSpPr>
          <p:cNvPr id="26" name="Shape 22"/>
          <p:cNvSpPr/>
          <p:nvPr/>
        </p:nvSpPr>
        <p:spPr>
          <a:xfrm>
            <a:off x="411480" y="4267733"/>
            <a:ext cx="2738628" cy="1291819"/>
          </a:xfrm>
          <a:prstGeom prst="roundRect">
            <a:avLst>
              <a:gd name="adj" fmla="val 5663"/>
            </a:avLst>
          </a:prstGeom>
          <a:solidFill>
            <a:srgbClr val="FFFFFF"/>
          </a:solidFill>
          <a:ln w="6350">
            <a:solidFill>
              <a:srgbClr val="D9DEE7"/>
            </a:solidFill>
            <a:prstDash val="solid"/>
          </a:ln>
        </p:spPr>
      </p:sp>
      <p:sp>
        <p:nvSpPr>
          <p:cNvPr id="27" name="Shape 23"/>
          <p:cNvSpPr/>
          <p:nvPr/>
        </p:nvSpPr>
        <p:spPr>
          <a:xfrm>
            <a:off x="2729484" y="4359173"/>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اصلاح</a:t>
            </a:r>
            <a:endParaRPr lang="en-US" sz="1300" dirty="0"/>
          </a:p>
        </p:txBody>
      </p:sp>
      <p:sp>
        <p:nvSpPr>
          <p:cNvPr id="30" name="Text 26"/>
          <p:cNvSpPr/>
          <p:nvPr/>
        </p:nvSpPr>
        <p:spPr>
          <a:xfrm>
            <a:off x="521208"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شناسهٔ ردیف یا سند اصلاحی را در واحد مربوط ثبت و صورت را دوباره تهیه کنید.</a:t>
            </a:r>
            <a:endParaRPr lang="en-US" sz="1150" dirty="0"/>
          </a:p>
        </p:txBody>
      </p:sp>
      <p:sp>
        <p:nvSpPr>
          <p:cNvPr id="31" name="Shape 27"/>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طرف مقابل از ۴ رقم اول شناسهٔ ردیف یا از اعلامیهٔ همان سند شناخته می‌شود؛ وگرنه «طرف مقابل نامعلوم» است.</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۲۲۳</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۱۳ — کاربرگ تلفیق و قواعد حذف</a:t>
            </a:r>
            <a:endParaRPr lang="en-US" sz="2500" dirty="0"/>
          </a:p>
        </p:txBody>
      </p:sp>
      <p:sp>
        <p:nvSpPr>
          <p:cNvPr id="3" name="Shape 1"/>
          <p:cNvSpPr/>
          <p:nvPr/>
        </p:nvSpPr>
        <p:spPr>
          <a:xfrm>
            <a:off x="8106156" y="896112"/>
            <a:ext cx="367131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215884" y="896112"/>
            <a:ext cx="345186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تلفیق، جریان نقد و XBRL</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زبانهٔ «کاربرگ ترکیب / تلفیق» در صفحهٔ اجرا</a:t>
            </a:r>
            <a:endParaRPr lang="en-US" sz="1200" dirty="0"/>
          </a:p>
        </p:txBody>
      </p:sp>
      <p:sp>
        <p:nvSpPr>
          <p:cNvPr id="6" name="Shape 4"/>
          <p:cNvSpPr/>
          <p:nvPr/>
        </p:nvSpPr>
        <p:spPr>
          <a:xfrm>
            <a:off x="6208776"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fsn12s">    </p:cNvPr>
          <p:cNvPicPr>
            <a:picLocks noChangeAspect="1"/>
          </p:cNvPicPr>
          <p:nvPr/>
        </p:nvPicPr>
        <p:blipFill>
          <a:blip r:embed="rId1"/>
          <a:stretch>
            <a:fillRect/>
          </a:stretch>
        </p:blipFill>
        <p:spPr>
          <a:xfrm>
            <a:off x="6411683" y="1664208"/>
            <a:ext cx="5162881" cy="2374925"/>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قواعد حذف فی‌مابین</a:t>
            </a:r>
            <a:endParaRPr lang="en-US" sz="1200" dirty="0"/>
          </a:p>
        </p:txBody>
      </p:sp>
      <p:sp>
        <p:nvSpPr>
          <p:cNvPr id="9" name="Shape 6"/>
          <p:cNvSpPr/>
          <p:nvPr/>
        </p:nvSpPr>
        <p:spPr>
          <a:xfrm>
            <a:off x="411480" y="1618488"/>
            <a:ext cx="5568696" cy="2466365"/>
          </a:xfrm>
          <a:prstGeom prst="roundRect">
            <a:avLst>
              <a:gd name="adj" fmla="val 2966"/>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fsn10s">    </p:cNvPr>
          <p:cNvPicPr>
            <a:picLocks noChangeAspect="1"/>
          </p:cNvPicPr>
          <p:nvPr/>
        </p:nvPicPr>
        <p:blipFill>
          <a:blip r:embed="rId2"/>
          <a:stretch>
            <a:fillRect/>
          </a:stretch>
        </p:blipFill>
        <p:spPr>
          <a:xfrm>
            <a:off x="457200" y="1938795"/>
            <a:ext cx="5477256" cy="1825752"/>
          </a:xfrm>
          <a:prstGeom prst="rect">
            <a:avLst/>
          </a:prstGeom>
        </p:spPr>
      </p:pic>
      <p:sp>
        <p:nvSpPr>
          <p:cNvPr id="11" name="Shape 7"/>
          <p:cNvSpPr/>
          <p:nvPr/>
        </p:nvSpPr>
        <p:spPr>
          <a:xfrm>
            <a:off x="9038844" y="4267733"/>
            <a:ext cx="2738628" cy="1291819"/>
          </a:xfrm>
          <a:prstGeom prst="roundRect">
            <a:avLst>
              <a:gd name="adj" fmla="val 5663"/>
            </a:avLst>
          </a:prstGeom>
          <a:solidFill>
            <a:srgbClr val="FFFFFF"/>
          </a:solidFill>
          <a:ln w="6350">
            <a:solidFill>
              <a:srgbClr val="D9DEE7"/>
            </a:solidFill>
            <a:prstDash val="solid"/>
          </a:ln>
        </p:spPr>
      </p:sp>
      <p:sp>
        <p:nvSpPr>
          <p:cNvPr id="12" name="Shape 8"/>
          <p:cNvSpPr/>
          <p:nvPr/>
        </p:nvSpPr>
        <p:spPr>
          <a:xfrm>
            <a:off x="11356848" y="4359173"/>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کاربرگ</a:t>
            </a:r>
            <a:endParaRPr lang="en-US" sz="1300" dirty="0"/>
          </a:p>
        </p:txBody>
      </p:sp>
      <p:sp>
        <p:nvSpPr>
          <p:cNvPr id="15" name="Text 11"/>
          <p:cNvSpPr/>
          <p:nvPr/>
        </p:nvSpPr>
        <p:spPr>
          <a:xfrm>
            <a:off x="9148572"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ستون هر واحد، ستون حذفیات و جمع صورت کنار هم؛ دکمهٔ Excel خروجی می‌دهد.</a:t>
            </a:r>
            <a:endParaRPr lang="en-US" sz="1150" dirty="0"/>
          </a:p>
        </p:txBody>
      </p:sp>
      <p:sp>
        <p:nvSpPr>
          <p:cNvPr id="16" name="Shape 12"/>
          <p:cNvSpPr/>
          <p:nvPr/>
        </p:nvSpPr>
        <p:spPr>
          <a:xfrm>
            <a:off x="6163056" y="4267733"/>
            <a:ext cx="2738628" cy="1291819"/>
          </a:xfrm>
          <a:prstGeom prst="roundRect">
            <a:avLst>
              <a:gd name="adj" fmla="val 5663"/>
            </a:avLst>
          </a:prstGeom>
          <a:solidFill>
            <a:srgbClr val="FFFFFF"/>
          </a:solidFill>
          <a:ln w="6350">
            <a:solidFill>
              <a:srgbClr val="D9DEE7"/>
            </a:solidFill>
            <a:prstDash val="solid"/>
          </a:ln>
        </p:spPr>
      </p:sp>
      <p:sp>
        <p:nvSpPr>
          <p:cNvPr id="17" name="Shape 13"/>
          <p:cNvSpPr/>
          <p:nvPr/>
        </p:nvSpPr>
        <p:spPr>
          <a:xfrm>
            <a:off x="8481060" y="4359173"/>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قاعدهٔ حذف</a:t>
            </a:r>
            <a:endParaRPr lang="en-US" sz="1300" dirty="0"/>
          </a:p>
        </p:txBody>
      </p:sp>
      <p:sp>
        <p:nvSpPr>
          <p:cNvPr id="20" name="Text 16"/>
          <p:cNvSpPr/>
          <p:nvPr/>
        </p:nvSpPr>
        <p:spPr>
          <a:xfrm>
            <a:off x="6272784"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کد، عنوان، حساب‌های «سوی اول» و «سوی دوم» (مثل جاری ستاد ↔ ادارات کل) و آستانهٔ اختلاف.</a:t>
            </a:r>
            <a:endParaRPr lang="en-US" sz="1150" dirty="0"/>
          </a:p>
        </p:txBody>
      </p:sp>
      <p:sp>
        <p:nvSpPr>
          <p:cNvPr id="21" name="Shape 17"/>
          <p:cNvSpPr/>
          <p:nvPr/>
        </p:nvSpPr>
        <p:spPr>
          <a:xfrm>
            <a:off x="3287268" y="4267733"/>
            <a:ext cx="2738628" cy="1291819"/>
          </a:xfrm>
          <a:prstGeom prst="roundRect">
            <a:avLst>
              <a:gd name="adj" fmla="val 5663"/>
            </a:avLst>
          </a:prstGeom>
          <a:solidFill>
            <a:srgbClr val="FFFFFF"/>
          </a:solidFill>
          <a:ln w="6350">
            <a:solidFill>
              <a:srgbClr val="D9DEE7"/>
            </a:solidFill>
            <a:prstDash val="solid"/>
          </a:ln>
        </p:spPr>
      </p:sp>
      <p:sp>
        <p:nvSpPr>
          <p:cNvPr id="22" name="Shape 18"/>
          <p:cNvSpPr/>
          <p:nvPr/>
        </p:nvSpPr>
        <p:spPr>
          <a:xfrm>
            <a:off x="5605272" y="4359173"/>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نتیجه</a:t>
            </a:r>
            <a:endParaRPr lang="en-US" sz="1300" dirty="0"/>
          </a:p>
        </p:txBody>
      </p:sp>
      <p:sp>
        <p:nvSpPr>
          <p:cNvPr id="25" name="Text 21"/>
          <p:cNvSpPr/>
          <p:nvPr/>
        </p:nvSpPr>
        <p:spPr>
          <a:xfrm>
            <a:off x="3396996"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جدول «حذف فی‌مابین» بالای کاربرگ: تطبیق کامل (سبز) یا عدم تطبیق با مبلغ اختلاف.</a:t>
            </a:r>
            <a:endParaRPr lang="en-US" sz="1150" dirty="0"/>
          </a:p>
        </p:txBody>
      </p:sp>
      <p:sp>
        <p:nvSpPr>
          <p:cNvPr id="26" name="Shape 22"/>
          <p:cNvSpPr/>
          <p:nvPr/>
        </p:nvSpPr>
        <p:spPr>
          <a:xfrm>
            <a:off x="411480" y="4267733"/>
            <a:ext cx="2738628" cy="1291819"/>
          </a:xfrm>
          <a:prstGeom prst="roundRect">
            <a:avLst>
              <a:gd name="adj" fmla="val 5663"/>
            </a:avLst>
          </a:prstGeom>
          <a:solidFill>
            <a:srgbClr val="FFFFFF"/>
          </a:solidFill>
          <a:ln w="6350">
            <a:solidFill>
              <a:srgbClr val="D9DEE7"/>
            </a:solidFill>
            <a:prstDash val="solid"/>
          </a:ln>
        </p:spPr>
      </p:sp>
      <p:sp>
        <p:nvSpPr>
          <p:cNvPr id="27" name="Shape 23"/>
          <p:cNvSpPr/>
          <p:nvPr/>
        </p:nvSpPr>
        <p:spPr>
          <a:xfrm>
            <a:off x="2729484" y="4359173"/>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359173"/>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340885"/>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اصلاح</a:t>
            </a:r>
            <a:endParaRPr lang="en-US" sz="1300" dirty="0"/>
          </a:p>
        </p:txBody>
      </p:sp>
      <p:sp>
        <p:nvSpPr>
          <p:cNvPr id="30" name="Text 26"/>
          <p:cNvSpPr/>
          <p:nvPr/>
        </p:nvSpPr>
        <p:spPr>
          <a:xfrm>
            <a:off x="521208" y="4743221"/>
            <a:ext cx="2519172" cy="761467"/>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اختلاف را با سند اصلاحی در واحد مربوط رفع و صورت را دوباره تهیه کنید.</a:t>
            </a:r>
            <a:endParaRPr lang="en-US" sz="1150" dirty="0"/>
          </a:p>
        </p:txBody>
      </p:sp>
      <p:sp>
        <p:nvSpPr>
          <p:cNvPr id="31" name="Shape 27"/>
          <p:cNvSpPr/>
          <p:nvPr/>
        </p:nvSpPr>
        <p:spPr>
          <a:xfrm>
            <a:off x="411480" y="5696712"/>
            <a:ext cx="11365992" cy="658368"/>
          </a:xfrm>
          <a:prstGeom prst="roundRect">
            <a:avLst>
              <a:gd name="adj" fmla="val 11111"/>
            </a:avLst>
          </a:prstGeom>
          <a:solidFill>
            <a:srgbClr val="E3F3EA"/>
          </a:solidFill>
          <a:ln w="9525">
            <a:solidFill>
              <a:srgbClr val="1E7A4C"/>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1E7A4C"/>
                </a:solidFill>
                <a:latin typeface="Tahoma" pitchFamily="34" charset="0"/>
                <a:ea typeface="Tahoma" pitchFamily="34" charset="-122"/>
                <a:cs typeface="Tahoma" pitchFamily="34" charset="-120"/>
              </a:rPr>
              <a:t>مثال</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در کاربرگ، «سایر دریافتنی‌ها» و «پرداختنی‌ها» هر کدام (۱,۲۰۰) حذف دارند: طلب و بدهی ۱,۲۰۰ میلیونی واحدها به هم.</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۲۲۴</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گام ۱۴ — شرکت‌های تابعه، جریان نقد و XBRL</a:t>
            </a:r>
            <a:endParaRPr lang="en-US" sz="2500" dirty="0"/>
          </a:p>
        </p:txBody>
      </p:sp>
      <p:sp>
        <p:nvSpPr>
          <p:cNvPr id="3" name="Shape 1"/>
          <p:cNvSpPr/>
          <p:nvPr/>
        </p:nvSpPr>
        <p:spPr>
          <a:xfrm>
            <a:off x="8106156" y="896112"/>
            <a:ext cx="3671316" cy="292608"/>
          </a:xfrm>
          <a:prstGeom prst="roundRect">
            <a:avLst>
              <a:gd name="adj" fmla="val 25000"/>
            </a:avLst>
          </a:prstGeom>
          <a:solidFill>
            <a:srgbClr val="F6EDCF"/>
          </a:solidFill>
          <a:ln w="12700">
            <a:solidFill>
              <a:srgbClr val="F6EDCF"/>
            </a:solidFill>
            <a:prstDash val="solid"/>
          </a:ln>
        </p:spPr>
      </p:sp>
      <p:sp>
        <p:nvSpPr>
          <p:cNvPr id="4" name="Text 2"/>
          <p:cNvSpPr/>
          <p:nvPr/>
        </p:nvSpPr>
        <p:spPr>
          <a:xfrm>
            <a:off x="8215884" y="896112"/>
            <a:ext cx="3451860" cy="292608"/>
          </a:xfrm>
          <a:prstGeom prst="rect">
            <a:avLst/>
          </a:prstGeom>
          <a:noFill/>
          <a:ln/>
        </p:spPr>
        <p:txBody>
          <a:bodyPr wrap="square" lIns="0" tIns="0" rIns="0" bIns="0" rtlCol="0" anchor="ctr"/>
          <a:lstStyle/>
          <a:p>
            <a:pPr rtl="1" algn="r" indent="0" marL="0">
              <a:buNone/>
            </a:pPr>
            <a:r>
              <a:rPr lang="en-US" sz="1100" dirty="0">
                <a:solidFill>
                  <a:srgbClr val="6B5410"/>
                </a:solidFill>
                <a:latin typeface="Tahoma" pitchFamily="34" charset="0"/>
                <a:ea typeface="Tahoma" pitchFamily="34" charset="-122"/>
                <a:cs typeface="Tahoma" pitchFamily="34" charset="-120"/>
              </a:rPr>
              <a:t>مسیر منو:  صورت‌های مالی ← تلفیق، جریان نقد و XBRL</a:t>
            </a:r>
            <a:endParaRPr lang="en-US" sz="1100" dirty="0"/>
          </a:p>
        </p:txBody>
      </p:sp>
      <p:sp>
        <p:nvSpPr>
          <p:cNvPr id="5" name="Text 3"/>
          <p:cNvSpPr/>
          <p:nvPr/>
        </p:nvSpPr>
        <p:spPr>
          <a:xfrm>
            <a:off x="6208776"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شرکت‌های تابعه</a:t>
            </a:r>
            <a:endParaRPr lang="en-US" sz="1200" dirty="0"/>
          </a:p>
        </p:txBody>
      </p:sp>
      <p:sp>
        <p:nvSpPr>
          <p:cNvPr id="6" name="Shape 4"/>
          <p:cNvSpPr/>
          <p:nvPr/>
        </p:nvSpPr>
        <p:spPr>
          <a:xfrm>
            <a:off x="6208776" y="1618488"/>
            <a:ext cx="5568696" cy="2287981"/>
          </a:xfrm>
          <a:prstGeom prst="roundRect">
            <a:avLst>
              <a:gd name="adj" fmla="val 3197"/>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7" name="Image 0" descr="fsn11s">    </p:cNvPr>
          <p:cNvPicPr>
            <a:picLocks noChangeAspect="1"/>
          </p:cNvPicPr>
          <p:nvPr/>
        </p:nvPicPr>
        <p:blipFill>
          <a:blip r:embed="rId1"/>
          <a:stretch>
            <a:fillRect/>
          </a:stretch>
        </p:blipFill>
        <p:spPr>
          <a:xfrm>
            <a:off x="6254496" y="1758315"/>
            <a:ext cx="5477256" cy="2008327"/>
          </a:xfrm>
          <a:prstGeom prst="rect">
            <a:avLst/>
          </a:prstGeom>
        </p:spPr>
      </p:pic>
      <p:sp>
        <p:nvSpPr>
          <p:cNvPr id="8" name="Text 5"/>
          <p:cNvSpPr/>
          <p:nvPr/>
        </p:nvSpPr>
        <p:spPr>
          <a:xfrm>
            <a:off x="411480" y="1325880"/>
            <a:ext cx="5568696" cy="274320"/>
          </a:xfrm>
          <a:prstGeom prst="rect">
            <a:avLst/>
          </a:prstGeom>
          <a:noFill/>
          <a:ln/>
        </p:spPr>
        <p:txBody>
          <a:bodyPr wrap="square" lIns="0" tIns="0" rIns="0" bIns="0" rtlCol="0" anchor="ctr"/>
          <a:lstStyle/>
          <a:p>
            <a:pPr rtl="1" algn="r" indent="0" marL="0">
              <a:buNone/>
            </a:pPr>
            <a:r>
              <a:rPr lang="en-US" sz="1200" b="1" dirty="0">
                <a:solidFill>
                  <a:srgbClr val="5B6475"/>
                </a:solidFill>
                <a:latin typeface="Tahoma" pitchFamily="34" charset="0"/>
                <a:ea typeface="Tahoma" pitchFamily="34" charset="-122"/>
                <a:cs typeface="Tahoma" pitchFamily="34" charset="-120"/>
              </a:rPr>
              <a:t>تنظیمات مجموعه</a:t>
            </a:r>
            <a:endParaRPr lang="en-US" sz="1200" dirty="0"/>
          </a:p>
        </p:txBody>
      </p:sp>
      <p:sp>
        <p:nvSpPr>
          <p:cNvPr id="9" name="Shape 6"/>
          <p:cNvSpPr/>
          <p:nvPr/>
        </p:nvSpPr>
        <p:spPr>
          <a:xfrm>
            <a:off x="411480" y="1618488"/>
            <a:ext cx="5568696" cy="2287981"/>
          </a:xfrm>
          <a:prstGeom prst="roundRect">
            <a:avLst>
              <a:gd name="adj" fmla="val 3197"/>
            </a:avLst>
          </a:prstGeom>
          <a:solidFill>
            <a:srgbClr val="FFFFFF"/>
          </a:solidFill>
          <a:ln w="9525">
            <a:solidFill>
              <a:srgbClr val="D9DEE7"/>
            </a:solidFill>
            <a:prstDash val="solid"/>
          </a:ln>
          <a:effectLst>
            <a:outerShdw sx="100000" sy="100000" kx="0" ky="0" algn="bl" rotWithShape="0" blurRad="76200" dist="25400" dir="5400000">
              <a:srgbClr val="000000">
                <a:alpha val="12000"/>
              </a:srgbClr>
            </a:outerShdw>
          </a:effectLst>
        </p:spPr>
      </p:sp>
      <p:pic>
        <p:nvPicPr>
          <p:cNvPr id="10" name="Image 1" descr="fsn09s">    </p:cNvPr>
          <p:cNvPicPr>
            <a:picLocks noChangeAspect="1"/>
          </p:cNvPicPr>
          <p:nvPr/>
        </p:nvPicPr>
        <p:blipFill>
          <a:blip r:embed="rId2"/>
          <a:stretch>
            <a:fillRect/>
          </a:stretch>
        </p:blipFill>
        <p:spPr>
          <a:xfrm>
            <a:off x="457200" y="1682242"/>
            <a:ext cx="5477256" cy="2160473"/>
          </a:xfrm>
          <a:prstGeom prst="rect">
            <a:avLst/>
          </a:prstGeom>
        </p:spPr>
      </p:pic>
      <p:sp>
        <p:nvSpPr>
          <p:cNvPr id="11" name="Shape 7"/>
          <p:cNvSpPr/>
          <p:nvPr/>
        </p:nvSpPr>
        <p:spPr>
          <a:xfrm>
            <a:off x="9038844" y="4089349"/>
            <a:ext cx="2738628" cy="1470203"/>
          </a:xfrm>
          <a:prstGeom prst="roundRect">
            <a:avLst>
              <a:gd name="adj" fmla="val 4976"/>
            </a:avLst>
          </a:prstGeom>
          <a:solidFill>
            <a:srgbClr val="FFFFFF"/>
          </a:solidFill>
          <a:ln w="6350">
            <a:solidFill>
              <a:srgbClr val="D9DEE7"/>
            </a:solidFill>
            <a:prstDash val="solid"/>
          </a:ln>
        </p:spPr>
      </p:sp>
      <p:sp>
        <p:nvSpPr>
          <p:cNvPr id="12" name="Shape 8"/>
          <p:cNvSpPr/>
          <p:nvPr/>
        </p:nvSpPr>
        <p:spPr>
          <a:xfrm>
            <a:off x="11356848" y="4180789"/>
            <a:ext cx="329184" cy="329184"/>
          </a:xfrm>
          <a:prstGeom prst="ellipse">
            <a:avLst/>
          </a:prstGeom>
          <a:solidFill>
            <a:srgbClr val="C9A227"/>
          </a:solidFill>
          <a:ln w="12700">
            <a:solidFill>
              <a:srgbClr val="C9A227"/>
            </a:solidFill>
            <a:prstDash val="solid"/>
          </a:ln>
        </p:spPr>
      </p:sp>
      <p:sp>
        <p:nvSpPr>
          <p:cNvPr id="13" name="Text 9"/>
          <p:cNvSpPr/>
          <p:nvPr/>
        </p:nvSpPr>
        <p:spPr>
          <a:xfrm>
            <a:off x="11356848" y="418078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14" name="Text 10"/>
          <p:cNvSpPr/>
          <p:nvPr/>
        </p:nvSpPr>
        <p:spPr>
          <a:xfrm>
            <a:off x="9130284" y="4162501"/>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شرکت تابعه</a:t>
            </a:r>
            <a:endParaRPr lang="en-US" sz="1300" dirty="0"/>
          </a:p>
        </p:txBody>
      </p:sp>
      <p:sp>
        <p:nvSpPr>
          <p:cNvPr id="15" name="Text 11"/>
          <p:cNvSpPr/>
          <p:nvPr/>
        </p:nvSpPr>
        <p:spPr>
          <a:xfrm>
            <a:off x="9148572" y="4564837"/>
            <a:ext cx="2519172" cy="939851"/>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کد، نام، ارز و درصد مالکیت؛ تراز هر دوره از Excel؛ تسعیر به ریال و سهم غیرکنترلی جدا.</a:t>
            </a:r>
            <a:endParaRPr lang="en-US" sz="1150" dirty="0"/>
          </a:p>
        </p:txBody>
      </p:sp>
      <p:sp>
        <p:nvSpPr>
          <p:cNvPr id="16" name="Shape 12"/>
          <p:cNvSpPr/>
          <p:nvPr/>
        </p:nvSpPr>
        <p:spPr>
          <a:xfrm>
            <a:off x="6163056" y="4089349"/>
            <a:ext cx="2738628" cy="1470203"/>
          </a:xfrm>
          <a:prstGeom prst="roundRect">
            <a:avLst>
              <a:gd name="adj" fmla="val 4976"/>
            </a:avLst>
          </a:prstGeom>
          <a:solidFill>
            <a:srgbClr val="FFFFFF"/>
          </a:solidFill>
          <a:ln w="6350">
            <a:solidFill>
              <a:srgbClr val="D9DEE7"/>
            </a:solidFill>
            <a:prstDash val="solid"/>
          </a:ln>
        </p:spPr>
      </p:sp>
      <p:sp>
        <p:nvSpPr>
          <p:cNvPr id="17" name="Shape 13"/>
          <p:cNvSpPr/>
          <p:nvPr/>
        </p:nvSpPr>
        <p:spPr>
          <a:xfrm>
            <a:off x="8481060" y="4180789"/>
            <a:ext cx="329184" cy="329184"/>
          </a:xfrm>
          <a:prstGeom prst="ellipse">
            <a:avLst/>
          </a:prstGeom>
          <a:solidFill>
            <a:srgbClr val="C9A227"/>
          </a:solidFill>
          <a:ln w="12700">
            <a:solidFill>
              <a:srgbClr val="C9A227"/>
            </a:solidFill>
            <a:prstDash val="solid"/>
          </a:ln>
        </p:spPr>
      </p:sp>
      <p:sp>
        <p:nvSpPr>
          <p:cNvPr id="18" name="Text 14"/>
          <p:cNvSpPr/>
          <p:nvPr/>
        </p:nvSpPr>
        <p:spPr>
          <a:xfrm>
            <a:off x="8481060" y="418078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9" name="Text 15"/>
          <p:cNvSpPr/>
          <p:nvPr/>
        </p:nvSpPr>
        <p:spPr>
          <a:xfrm>
            <a:off x="6254496" y="4162501"/>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جریان نقد</a:t>
            </a:r>
            <a:endParaRPr lang="en-US" sz="1300" dirty="0"/>
          </a:p>
        </p:txBody>
      </p:sp>
      <p:sp>
        <p:nvSpPr>
          <p:cNvPr id="20" name="Text 16"/>
          <p:cNvSpPr/>
          <p:nvPr/>
        </p:nvSpPr>
        <p:spPr>
          <a:xfrm>
            <a:off x="6272784" y="4564837"/>
            <a:ext cx="2519172" cy="939851"/>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«حساب‌های نقد (انتخاب‌گر)»؛ ردیف‌های جریان نقد از طرف مقابل اسناد نقدی پر می‌شوند.</a:t>
            </a:r>
            <a:endParaRPr lang="en-US" sz="1150" dirty="0"/>
          </a:p>
        </p:txBody>
      </p:sp>
      <p:sp>
        <p:nvSpPr>
          <p:cNvPr id="21" name="Shape 17"/>
          <p:cNvSpPr/>
          <p:nvPr/>
        </p:nvSpPr>
        <p:spPr>
          <a:xfrm>
            <a:off x="3287268" y="4089349"/>
            <a:ext cx="2738628" cy="1470203"/>
          </a:xfrm>
          <a:prstGeom prst="roundRect">
            <a:avLst>
              <a:gd name="adj" fmla="val 4976"/>
            </a:avLst>
          </a:prstGeom>
          <a:solidFill>
            <a:srgbClr val="FFFFFF"/>
          </a:solidFill>
          <a:ln w="6350">
            <a:solidFill>
              <a:srgbClr val="D9DEE7"/>
            </a:solidFill>
            <a:prstDash val="solid"/>
          </a:ln>
        </p:spPr>
      </p:sp>
      <p:sp>
        <p:nvSpPr>
          <p:cNvPr id="22" name="Shape 18"/>
          <p:cNvSpPr/>
          <p:nvPr/>
        </p:nvSpPr>
        <p:spPr>
          <a:xfrm>
            <a:off x="5605272" y="4180789"/>
            <a:ext cx="329184" cy="329184"/>
          </a:xfrm>
          <a:prstGeom prst="ellipse">
            <a:avLst/>
          </a:prstGeom>
          <a:solidFill>
            <a:srgbClr val="C9A227"/>
          </a:solidFill>
          <a:ln w="12700">
            <a:solidFill>
              <a:srgbClr val="C9A227"/>
            </a:solidFill>
            <a:prstDash val="solid"/>
          </a:ln>
        </p:spPr>
      </p:sp>
      <p:sp>
        <p:nvSpPr>
          <p:cNvPr id="23" name="Text 19"/>
          <p:cNvSpPr/>
          <p:nvPr/>
        </p:nvSpPr>
        <p:spPr>
          <a:xfrm>
            <a:off x="5605272" y="418078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24" name="Text 20"/>
          <p:cNvSpPr/>
          <p:nvPr/>
        </p:nvSpPr>
        <p:spPr>
          <a:xfrm>
            <a:off x="3378708" y="4162501"/>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تعدیلات سنواتی</a:t>
            </a:r>
            <a:endParaRPr lang="en-US" sz="1300" dirty="0"/>
          </a:p>
        </p:txBody>
      </p:sp>
      <p:sp>
        <p:nvSpPr>
          <p:cNvPr id="25" name="Text 21"/>
          <p:cNvSpPr/>
          <p:nvPr/>
        </p:nvSpPr>
        <p:spPr>
          <a:xfrm>
            <a:off x="3396996" y="4564837"/>
            <a:ext cx="2519172" cy="939851"/>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«حساب تعدیلات سنواتی» برای ستون سال قبلِ تجدید ارائه‌شده به کار می‌رود.</a:t>
            </a:r>
            <a:endParaRPr lang="en-US" sz="1150" dirty="0"/>
          </a:p>
        </p:txBody>
      </p:sp>
      <p:sp>
        <p:nvSpPr>
          <p:cNvPr id="26" name="Shape 22"/>
          <p:cNvSpPr/>
          <p:nvPr/>
        </p:nvSpPr>
        <p:spPr>
          <a:xfrm>
            <a:off x="411480" y="4089349"/>
            <a:ext cx="2738628" cy="1470203"/>
          </a:xfrm>
          <a:prstGeom prst="roundRect">
            <a:avLst>
              <a:gd name="adj" fmla="val 4976"/>
            </a:avLst>
          </a:prstGeom>
          <a:solidFill>
            <a:srgbClr val="FFFFFF"/>
          </a:solidFill>
          <a:ln w="6350">
            <a:solidFill>
              <a:srgbClr val="D9DEE7"/>
            </a:solidFill>
            <a:prstDash val="solid"/>
          </a:ln>
        </p:spPr>
      </p:sp>
      <p:sp>
        <p:nvSpPr>
          <p:cNvPr id="27" name="Shape 23"/>
          <p:cNvSpPr/>
          <p:nvPr/>
        </p:nvSpPr>
        <p:spPr>
          <a:xfrm>
            <a:off x="2729484" y="4180789"/>
            <a:ext cx="329184" cy="329184"/>
          </a:xfrm>
          <a:prstGeom prst="ellipse">
            <a:avLst/>
          </a:prstGeom>
          <a:solidFill>
            <a:srgbClr val="C9A227"/>
          </a:solidFill>
          <a:ln w="12700">
            <a:solidFill>
              <a:srgbClr val="C9A227"/>
            </a:solidFill>
            <a:prstDash val="solid"/>
          </a:ln>
        </p:spPr>
      </p:sp>
      <p:sp>
        <p:nvSpPr>
          <p:cNvPr id="28" name="Text 24"/>
          <p:cNvSpPr/>
          <p:nvPr/>
        </p:nvSpPr>
        <p:spPr>
          <a:xfrm>
            <a:off x="2729484" y="4180789"/>
            <a:ext cx="329184" cy="329184"/>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29" name="Text 25"/>
          <p:cNvSpPr/>
          <p:nvPr/>
        </p:nvSpPr>
        <p:spPr>
          <a:xfrm>
            <a:off x="502920" y="4162501"/>
            <a:ext cx="2171700" cy="365760"/>
          </a:xfrm>
          <a:prstGeom prst="rect">
            <a:avLst/>
          </a:prstGeom>
          <a:noFill/>
          <a:ln/>
        </p:spPr>
        <p:txBody>
          <a:bodyPr wrap="square" lIns="0" tIns="0" rIns="0" bIns="0" rtlCol="0" anchor="ctr"/>
          <a:lstStyle/>
          <a:p>
            <a:pPr rtl="1" algn="r" indent="0" marL="0">
              <a:buNone/>
            </a:pPr>
            <a:r>
              <a:rPr lang="en-US" sz="1300" b="1" dirty="0">
                <a:solidFill>
                  <a:srgbClr val="1B2A49"/>
                </a:solidFill>
                <a:latin typeface="Tahoma" pitchFamily="34" charset="0"/>
                <a:ea typeface="Tahoma" pitchFamily="34" charset="-122"/>
                <a:cs typeface="Tahoma" pitchFamily="34" charset="-120"/>
              </a:rPr>
              <a:t>XBRL</a:t>
            </a:r>
            <a:endParaRPr lang="en-US" sz="1300" dirty="0"/>
          </a:p>
        </p:txBody>
      </p:sp>
      <p:sp>
        <p:nvSpPr>
          <p:cNvPr id="30" name="Text 26"/>
          <p:cNvSpPr/>
          <p:nvPr/>
        </p:nvSpPr>
        <p:spPr>
          <a:xfrm>
            <a:off x="521208" y="4564837"/>
            <a:ext cx="2519172" cy="939851"/>
          </a:xfrm>
          <a:prstGeom prst="rect">
            <a:avLst/>
          </a:prstGeom>
          <a:noFill/>
          <a:ln/>
        </p:spPr>
        <p:txBody>
          <a:bodyPr wrap="square" lIns="0" tIns="0" rIns="0" bIns="0" rtlCol="0" anchor="t"/>
          <a:lstStyle/>
          <a:p>
            <a:pPr rtl="1" algn="r" indent="0" marL="0">
              <a:buNone/>
            </a:pPr>
            <a:r>
              <a:rPr lang="en-US" sz="1150" dirty="0">
                <a:solidFill>
                  <a:srgbClr val="1F2937"/>
                </a:solidFill>
                <a:latin typeface="Tahoma" pitchFamily="34" charset="0"/>
                <a:ea typeface="Tahoma" pitchFamily="34" charset="-122"/>
                <a:cs typeface="Tahoma" pitchFamily="34" charset="-120"/>
              </a:rPr>
              <a:t>آدرس طبقه‌بندی، فضای نام و طرح شناسهٔ واحد؛ در «نگاشت XBRL» ردیف‌ها را به عناصر وصل کنید.</a:t>
            </a:r>
            <a:endParaRPr lang="en-US" sz="1150" dirty="0"/>
          </a:p>
        </p:txBody>
      </p:sp>
      <p:sp>
        <p:nvSpPr>
          <p:cNvPr id="31" name="Shape 27"/>
          <p:cNvSpPr/>
          <p:nvPr/>
        </p:nvSpPr>
        <p:spPr>
          <a:xfrm>
            <a:off x="411480" y="5696712"/>
            <a:ext cx="11365992" cy="658368"/>
          </a:xfrm>
          <a:prstGeom prst="roundRect">
            <a:avLst>
              <a:gd name="adj" fmla="val 11111"/>
            </a:avLst>
          </a:prstGeom>
          <a:solidFill>
            <a:srgbClr val="F6EDCF"/>
          </a:solidFill>
          <a:ln w="9525">
            <a:solidFill>
              <a:srgbClr val="C9A227"/>
            </a:solidFill>
            <a:prstDash val="solid"/>
          </a:ln>
        </p:spPr>
      </p:sp>
      <p:sp>
        <p:nvSpPr>
          <p:cNvPr id="32" name="Text 28"/>
          <p:cNvSpPr/>
          <p:nvPr/>
        </p:nvSpPr>
        <p:spPr>
          <a:xfrm>
            <a:off x="10863072" y="5696712"/>
            <a:ext cx="822960" cy="658368"/>
          </a:xfrm>
          <a:prstGeom prst="rect">
            <a:avLst/>
          </a:prstGeom>
          <a:noFill/>
          <a:ln/>
        </p:spPr>
        <p:txBody>
          <a:bodyPr wrap="square" lIns="0" tIns="0" rIns="0" bIns="0" rtlCol="0" anchor="ctr"/>
          <a:lstStyle/>
          <a:p>
            <a:pPr rtl="1" algn="r" indent="0" marL="0">
              <a:buNone/>
            </a:pPr>
            <a:r>
              <a:rPr lang="en-US" sz="1350" b="1" dirty="0">
                <a:solidFill>
                  <a:srgbClr val="6B5410"/>
                </a:solidFill>
                <a:latin typeface="Tahoma" pitchFamily="34" charset="0"/>
                <a:ea typeface="Tahoma" pitchFamily="34" charset="-122"/>
                <a:cs typeface="Tahoma" pitchFamily="34" charset="-120"/>
              </a:rPr>
              <a:t>نکته</a:t>
            </a:r>
            <a:endParaRPr lang="en-US" sz="1350" dirty="0"/>
          </a:p>
        </p:txBody>
      </p:sp>
      <p:sp>
        <p:nvSpPr>
          <p:cNvPr id="33" name="Text 29"/>
          <p:cNvSpPr/>
          <p:nvPr/>
        </p:nvSpPr>
        <p:spPr>
          <a:xfrm>
            <a:off x="548640" y="5696712"/>
            <a:ext cx="10241280" cy="658368"/>
          </a:xfrm>
          <a:prstGeom prst="rect">
            <a:avLst/>
          </a:prstGeom>
          <a:noFill/>
          <a:ln/>
        </p:spPr>
        <p:txBody>
          <a:bodyPr wrap="square" lIns="0" tIns="0" rIns="0" bIns="0" rtlCol="0" anchor="ctr"/>
          <a:lstStyle/>
          <a:p>
            <a:pPr rtl="1" algn="r" indent="0" marL="0">
              <a:buNone/>
            </a:pPr>
            <a:r>
              <a:rPr lang="en-US" sz="1250" dirty="0">
                <a:solidFill>
                  <a:srgbClr val="1F2937"/>
                </a:solidFill>
                <a:latin typeface="Tahoma" pitchFamily="34" charset="0"/>
                <a:ea typeface="Tahoma" pitchFamily="34" charset="-122"/>
                <a:cs typeface="Tahoma" pitchFamily="34" charset="-120"/>
              </a:rPr>
              <a:t>XBRL قالب الکترونیکی استاندارد گزارش مالی برای نهادهای ناظر است؛ خروجی آن از دکمهٔ XBRL صفحهٔ اجرا گرفته می‌شود.</a:t>
            </a:r>
            <a:endParaRPr lang="en-US" sz="1250" dirty="0"/>
          </a:p>
        </p:txBody>
      </p:sp>
      <p:sp>
        <p:nvSpPr>
          <p:cNvPr id="34" name="Text 30"/>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۲۲۵</a:t>
            </a:r>
            <a:endParaRPr lang="en-US" sz="1000" dirty="0"/>
          </a:p>
        </p:txBody>
      </p:sp>
      <p:sp>
        <p:nvSpPr>
          <p:cNvPr id="35" name="Text 31"/>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مشکلات رایج صورت‌های مالی</a:t>
            </a:r>
            <a:endParaRPr lang="en-US" sz="2500" dirty="0"/>
          </a:p>
        </p:txBody>
      </p:sp>
      <p:graphicFrame>
        <p:nvGraphicFramePr>
          <p:cNvPr id="227"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11365992" cy="914400"/>
        </p:xfrm>
        <a:graphic>
          <a:graphicData uri="http://schemas.openxmlformats.org/drawingml/2006/table">
            <a:tbl>
              <a:tblPr rtl="1"/>
              <a:tblGrid>
                <a:gridCol w="4389120"/>
                <a:gridCol w="6976872"/>
              </a:tblGrid>
              <a:tr h="502920">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پیام یا مشکل</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250" b="1" dirty="0">
                          <a:solidFill>
                            <a:srgbClr val="FFFFFF"/>
                          </a:solidFill>
                          <a:latin typeface="Tahoma" pitchFamily="34" charset="0"/>
                          <a:ea typeface="Tahoma" pitchFamily="34" charset="-122"/>
                          <a:cs typeface="Tahoma" pitchFamily="34" charset="-120"/>
                        </a:rPr>
                        <a:t>چه باید کرد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«۱ خطای مسدودکننده» و ارسال برای بازبینی ممکن نیست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زبانهٔ «کنترل‌ها» را باز کنید؛ کنترل ناموفق را رفع یا با مهلت به مسئولش ارجاع دهید و اجرای تازه بگیرید.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معین در «نگاشت حساب‌ها» قرمز است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معین در هیچ ردیفی نیست؛ «اعمال پیشنهادها» یا اصلاح قالب پیش‌نویس، سپس فعال‌سازی.</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V-08: جمع یادداشت ≠ ردیف صورت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انتخاب‌گر حساب ردیف صورت و ردیف‌های یادداشت را یکسان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V-07: عدم تطبیق حذف فی‌مابین</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در «تلفیق و حذف فی‌مابین» جفت ناجور را «بررسی» و سند اصلاحی را در واحد مربوط ثبت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V-11: انتشار ممکن نیست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دورهٔ همهٔ واحدهای دامنه باید «قفل» باشد؛ از صفحهٔ «بستن دوره» پیگیری کنید.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نوار زرد کهنگی بالای اجرا</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اسناد بعد از اجرا عوض شده‌اند؛ برای عدد تازه، اجرای جدید بگیرید.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ردیف قالب ویرایش نمی‌شود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فقط نسخهٔ پیش‌نویس ویرایش می‌شود؛ نسخهٔ فعال و بازنشسته فقط خواندنی‌اند.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دکمهٔ تأیید برای من نیست</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نام مرحلهٔ جاری روی دکمه است؛ تهیه‌کننده یا تأییدکنندهٔ مرحلهٔ قبل همان اجرا مرحلهٔ بعد را تأیید نمی‌کند.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502920">
                <a:tc>
                  <a:txBody>
                    <a:bodyPr/>
                    <a:lstStyle/>
                    <a:p>
                      <a:pPr algn="r" indent="0" marL="0">
                        <a:buNone/>
                      </a:pPr>
                      <a:r>
                        <a:rPr lang="en-US" sz="1250" b="1" dirty="0">
                          <a:solidFill>
                            <a:srgbClr val="1B2A49"/>
                          </a:solidFill>
                          <a:latin typeface="Tahoma" pitchFamily="34" charset="0"/>
                          <a:ea typeface="Tahoma" pitchFamily="34" charset="-122"/>
                          <a:cs typeface="Tahoma" pitchFamily="34" charset="-120"/>
                        </a:rPr>
                        <a:t>دورهٔ قفل باید باز شود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250" dirty="0">
                          <a:solidFill>
                            <a:srgbClr val="1F2937"/>
                          </a:solidFill>
                          <a:latin typeface="Tahoma" pitchFamily="34" charset="0"/>
                          <a:ea typeface="Tahoma" pitchFamily="34" charset="-122"/>
                          <a:cs typeface="Tahoma" pitchFamily="34" charset="-120"/>
                        </a:rPr>
                        <a:t>«درخواست بازگشایی» با دلیل؛ ستاد تأیید می‌کند و اقدام در «تاریخچه» می‌ماند.</a:t>
                      </a:r>
                      <a:endParaRPr lang="en-US" sz="1250" dirty="0">
                        <a:latin typeface="Tahoma" charset="0"/>
                        <a:ea typeface="Tahoma" charset="0"/>
                        <a:cs typeface="Tahoma" charset="0"/>
                      </a:endParaRPr>
                    </a:p>
                  </a:txBody>
                  <a:tcPr marL="109728" marR="109728"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bl>
          </a:graphicData>
        </a:graphic>
      </p:graphicFrame>
      <p:sp>
        <p:nvSpPr>
          <p:cNvPr id="4" name="Text 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۲۲۶</a:t>
            </a:r>
            <a:endParaRPr lang="en-US" sz="1000" dirty="0"/>
          </a:p>
        </p:txBody>
      </p:sp>
      <p:sp>
        <p:nvSpPr>
          <p:cNvPr id="5" name="Text 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صورت‌های مالی</a:t>
            </a:r>
            <a:endParaRPr lang="en-US" sz="10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sp>
        <p:nvSpPr>
          <p:cNvPr id="2" name="Text 0"/>
          <p:cNvSpPr/>
          <p:nvPr/>
        </p:nvSpPr>
        <p:spPr>
          <a:xfrm>
            <a:off x="411480" y="274320"/>
            <a:ext cx="11365992" cy="566928"/>
          </a:xfrm>
          <a:prstGeom prst="rect">
            <a:avLst/>
          </a:prstGeom>
          <a:noFill/>
          <a:ln/>
        </p:spPr>
        <p:txBody>
          <a:bodyPr wrap="square" lIns="0" tIns="0" rIns="0" bIns="0" rtlCol="0" anchor="ctr"/>
          <a:lstStyle/>
          <a:p>
            <a:pPr rtl="1" algn="r" indent="0" marL="0">
              <a:buNone/>
            </a:pPr>
            <a:r>
              <a:rPr lang="en-US" sz="2500" b="1" dirty="0">
                <a:solidFill>
                  <a:srgbClr val="1B2A49"/>
                </a:solidFill>
                <a:latin typeface="Tahoma" pitchFamily="34" charset="0"/>
                <a:ea typeface="Tahoma" pitchFamily="34" charset="-122"/>
                <a:cs typeface="Tahoma" pitchFamily="34" charset="-120"/>
              </a:rPr>
              <a:t>واژه‌نامهٔ حسابداری برای تازه‌کارها</a:t>
            </a:r>
            <a:endParaRPr lang="en-US" sz="2500" dirty="0"/>
          </a:p>
        </p:txBody>
      </p:sp>
      <p:graphicFrame>
        <p:nvGraphicFramePr>
          <p:cNvPr id="228" name="Table 0"/>
          <p:cNvGraphicFramePr>
            <a:graphicFrameLocks noGrp="1"/>
          </p:cNvGraphicFramePr>
          <p:nvPr>
            <p:extLst>
              <p:ext uri="{D42A27DB-BD31-4B8C-83A1-F6EECF244321}">
                <p14:modId xmlns:p14="http://schemas.microsoft.com/office/powerpoint/2010/main" val="1579011935"/>
              </p:ext>
            </p:extLst>
          </p:nvPr>
        </p:nvGraphicFramePr>
        <p:xfrm>
          <a:off x="6245352" y="1188720"/>
          <a:ext cx="5532120" cy="914400"/>
        </p:xfrm>
        <a:graphic>
          <a:graphicData uri="http://schemas.openxmlformats.org/drawingml/2006/table">
            <a:tbl>
              <a:tblPr rtl="1"/>
              <a:tblGrid>
                <a:gridCol w="1600200"/>
                <a:gridCol w="3931920"/>
              </a:tblGrid>
              <a:tr h="461356">
                <a:tc>
                  <a:txBody>
                    <a:bodyPr/>
                    <a:lstStyle/>
                    <a:p>
                      <a:pPr algn="r" indent="0" marL="0">
                        <a:buNone/>
                      </a:pPr>
                      <a:r>
                        <a:rPr lang="en-US" sz="1100" b="1" dirty="0">
                          <a:solidFill>
                            <a:srgbClr val="FFFFFF"/>
                          </a:solidFill>
                          <a:latin typeface="Tahoma" pitchFamily="34" charset="0"/>
                          <a:ea typeface="Tahoma" pitchFamily="34" charset="-122"/>
                          <a:cs typeface="Tahoma" pitchFamily="34" charset="-120"/>
                        </a:rPr>
                        <a:t>اصطلاح</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100" b="1" dirty="0">
                          <a:solidFill>
                            <a:srgbClr val="FFFFFF"/>
                          </a:solidFill>
                          <a:latin typeface="Tahoma" pitchFamily="34" charset="0"/>
                          <a:ea typeface="Tahoma" pitchFamily="34" charset="-122"/>
                          <a:cs typeface="Tahoma" pitchFamily="34" charset="-120"/>
                        </a:rPr>
                        <a:t>یعنی</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سند حسابداری</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برگهٔ ثبت یک رویداد مالی با ردیف‌های بدهکار و بستانکار</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بدهکار</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ستونی که افزایش دارایی و هزینه یا کاهش بدهی در آن ثبت می‌شود</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بستانکار</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ستونی که کاهش دارایی یا افزایش بدهی و درآمد در آن ثبت می‌شود</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تراز بودن</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برابری جمع بدهکار و بستانکار یک سند یا یک گزارش</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گروه / کل / معین</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سه سطح کدینگ حساب از کلی به جزئی (۲، ۴ و ۶ رقم)</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تفصیلی</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جزئیات زیر معین؛ مثل نام شرکت، حساب بانکی یا مرکز هزینه</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مانده</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آنچه پس از همهٔ گردش‌ها در یک حساب باقی مانده است</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گردش</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جمع ثبت‌های بدهکار یا بستانکار یک حساب در یک بازه</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یادداشت / موقت / دائم</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مراحل عمر سند؛ سند دائم دیگر قابل تغییر نیست</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سند افتتاحیه</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سند اول سال که مانده‌های سال قبل را می‌آورد</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bl>
          </a:graphicData>
        </a:graphic>
      </p:graphicFrame>
      <p:graphicFrame>
        <p:nvGraphicFramePr>
          <p:cNvPr id="455" name="Table 1"/>
          <p:cNvGraphicFramePr>
            <a:graphicFrameLocks noGrp="1"/>
          </p:cNvGraphicFramePr>
          <p:nvPr>
            <p:extLst>
              <p:ext uri="{D42A27DB-BD31-4B8C-83A1-F6EECF244321}">
                <p14:modId xmlns:p14="http://schemas.microsoft.com/office/powerpoint/2010/main" val="1579011935"/>
              </p:ext>
            </p:extLst>
          </p:nvPr>
        </p:nvGraphicFramePr>
        <p:xfrm>
          <a:off x="411480" y="1188720"/>
          <a:ext cx="5532120" cy="914400"/>
        </p:xfrm>
        <a:graphic>
          <a:graphicData uri="http://schemas.openxmlformats.org/drawingml/2006/table">
            <a:tbl>
              <a:tblPr rtl="1"/>
              <a:tblGrid>
                <a:gridCol w="1600200"/>
                <a:gridCol w="3931920"/>
              </a:tblGrid>
              <a:tr h="461356">
                <a:tc>
                  <a:txBody>
                    <a:bodyPr/>
                    <a:lstStyle/>
                    <a:p>
                      <a:pPr algn="r" indent="0" marL="0">
                        <a:buNone/>
                      </a:pPr>
                      <a:r>
                        <a:rPr lang="en-US" sz="1100" b="1" dirty="0">
                          <a:solidFill>
                            <a:srgbClr val="FFFFFF"/>
                          </a:solidFill>
                          <a:latin typeface="Tahoma" pitchFamily="34" charset="0"/>
                          <a:ea typeface="Tahoma" pitchFamily="34" charset="-122"/>
                          <a:cs typeface="Tahoma" pitchFamily="34" charset="-120"/>
                        </a:rPr>
                        <a:t>اصطلاح</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c>
                  <a:txBody>
                    <a:bodyPr/>
                    <a:lstStyle/>
                    <a:p>
                      <a:pPr algn="r" indent="0" marL="0">
                        <a:buNone/>
                      </a:pPr>
                      <a:r>
                        <a:rPr lang="en-US" sz="1100" b="1" dirty="0">
                          <a:solidFill>
                            <a:srgbClr val="FFFFFF"/>
                          </a:solidFill>
                          <a:latin typeface="Tahoma" pitchFamily="34" charset="0"/>
                          <a:ea typeface="Tahoma" pitchFamily="34" charset="-122"/>
                          <a:cs typeface="Tahoma" pitchFamily="34" charset="-120"/>
                        </a:rPr>
                        <a:t>یعنی</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1B2A49"/>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سند اختتامیه</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سند آخر سال که حساب‌های موقت را می‌بندد</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صورتحساب ماه</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بستن یک ماه؛ پس از آن سند همان ماه تغییر نمی‌کند</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تراز آزمایشی</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فهرست مانده و گردش همهٔ حساب‌ها برای کنترل درستی</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تنخواه‌گردان</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مبلغی که برای هزینه‌های کوچک در اختیار یک نفر است</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مغایرت‌گیری بانکی</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مقایسهٔ دفتر سازمان با صورت‌حساب بانک و یافتن تفاوت‌ها</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اعلامیه</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سند جابه‌جایی پول یا حساب بین دو واحد سازمان</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حساب رابط</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حسابی که دو طرف یک جابه‌جایی بین واحدها را به هم وصل می‌کند</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پیش‌پرداخت</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پولی که زودتر پرداخت شده و هر ماه سهمی از آن هزینه می‌شود</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الگوی عملیات</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دستور ساخت سند برای یک کار روزمره در حسابیار</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FFFFF"/>
                    </a:solidFill>
                  </a:tcPr>
                </a:tc>
              </a:tr>
              <a:tr h="461356">
                <a:tc>
                  <a:txBody>
                    <a:bodyPr/>
                    <a:lstStyle/>
                    <a:p>
                      <a:pPr algn="r" indent="0" marL="0">
                        <a:buNone/>
                      </a:pPr>
                      <a:r>
                        <a:rPr lang="en-US" sz="1100" b="1" dirty="0">
                          <a:solidFill>
                            <a:srgbClr val="1B2A49"/>
                          </a:solidFill>
                          <a:latin typeface="Tahoma" pitchFamily="34" charset="0"/>
                          <a:ea typeface="Tahoma" pitchFamily="34" charset="-122"/>
                          <a:cs typeface="Tahoma" pitchFamily="34" charset="-120"/>
                        </a:rPr>
                        <a:t>صورت‌های مالی</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c>
                  <a:txBody>
                    <a:bodyPr/>
                    <a:lstStyle/>
                    <a:p>
                      <a:pPr algn="r" indent="0" marL="0">
                        <a:buNone/>
                      </a:pPr>
                      <a:r>
                        <a:rPr lang="en-US" sz="1100" dirty="0">
                          <a:solidFill>
                            <a:srgbClr val="1F2937"/>
                          </a:solidFill>
                          <a:latin typeface="Tahoma" pitchFamily="34" charset="0"/>
                          <a:ea typeface="Tahoma" pitchFamily="34" charset="-122"/>
                          <a:cs typeface="Tahoma" pitchFamily="34" charset="-120"/>
                        </a:rPr>
                        <a:t>گزارش‌های رسمی پایان دوره از وضعیت و عملکرد مالی</a:t>
                      </a:r>
                      <a:endParaRPr lang="en-US" sz="1100" dirty="0">
                        <a:latin typeface="Tahoma" charset="0"/>
                        <a:ea typeface="Tahoma" charset="0"/>
                        <a:cs typeface="Tahoma" charset="0"/>
                      </a:endParaRPr>
                    </a:p>
                  </a:txBody>
                  <a:tcPr marL="73152" marR="73152" marT="27432" marB="27432" anchor="ctr">
                    <a:lnL w="6350" cap="flat" cmpd="sng" algn="ctr">
                      <a:solidFill>
                        <a:srgbClr val="D9DEE7"/>
                      </a:solidFill>
                      <a:prstDash val="solid"/>
                      <a:round/>
                      <a:headEnd type="none" w="med" len="med"/>
                      <a:tailEnd type="none" w="med" len="med"/>
                    </a:lnL>
                    <a:lnR w="6350" cap="flat" cmpd="sng" algn="ctr">
                      <a:solidFill>
                        <a:srgbClr val="D9DEE7"/>
                      </a:solidFill>
                      <a:prstDash val="solid"/>
                      <a:round/>
                      <a:headEnd type="none" w="med" len="med"/>
                      <a:tailEnd type="none" w="med" len="med"/>
                    </a:lnR>
                    <a:lnT w="6350" cap="flat" cmpd="sng" algn="ctr">
                      <a:solidFill>
                        <a:srgbClr val="D9DEE7"/>
                      </a:solidFill>
                      <a:prstDash val="solid"/>
                      <a:round/>
                      <a:headEnd type="none" w="med" len="med"/>
                      <a:tailEnd type="none" w="med" len="med"/>
                    </a:lnT>
                    <a:lnB w="6350" cap="flat" cmpd="sng" algn="ctr">
                      <a:solidFill>
                        <a:srgbClr val="D9DEE7"/>
                      </a:solidFill>
                      <a:prstDash val="solid"/>
                      <a:round/>
                      <a:headEnd type="none" w="med" len="med"/>
                      <a:tailEnd type="none" w="med" len="med"/>
                    </a:lnB>
                    <a:solidFill>
                      <a:srgbClr val="F8FAFC"/>
                    </a:solidFill>
                  </a:tcPr>
                </a:tc>
              </a:tr>
            </a:tbl>
          </a:graphicData>
        </a:graphic>
      </p:graphicFrame>
      <p:sp>
        <p:nvSpPr>
          <p:cNvPr id="5" name="Text 1"/>
          <p:cNvSpPr/>
          <p:nvPr/>
        </p:nvSpPr>
        <p:spPr>
          <a:xfrm>
            <a:off x="411480" y="6473952"/>
            <a:ext cx="731520" cy="274320"/>
          </a:xfrm>
          <a:prstGeom prst="rect">
            <a:avLst/>
          </a:prstGeom>
          <a:noFill/>
          <a:ln/>
        </p:spPr>
        <p:txBody>
          <a:bodyPr wrap="square" lIns="0" tIns="0" rIns="0" bIns="0" rtlCol="0" anchor="ctr"/>
          <a:lstStyle/>
          <a:p>
            <a:pPr rtl="1" algn="l" indent="0" marL="0">
              <a:buNone/>
            </a:pPr>
            <a:r>
              <a:rPr lang="en-US" sz="1000" dirty="0">
                <a:solidFill>
                  <a:srgbClr val="5B6475"/>
                </a:solidFill>
                <a:latin typeface="Tahoma" pitchFamily="34" charset="0"/>
                <a:ea typeface="Tahoma" pitchFamily="34" charset="-122"/>
                <a:cs typeface="Tahoma" pitchFamily="34" charset="-120"/>
              </a:rPr>
              <a:t>۲۲۷</a:t>
            </a:r>
            <a:endParaRPr lang="en-US" sz="1000" dirty="0"/>
          </a:p>
        </p:txBody>
      </p:sp>
      <p:sp>
        <p:nvSpPr>
          <p:cNvPr id="6" name="Text 2"/>
          <p:cNvSpPr/>
          <p:nvPr/>
        </p:nvSpPr>
        <p:spPr>
          <a:xfrm>
            <a:off x="5760720" y="6473952"/>
            <a:ext cx="6016752" cy="274320"/>
          </a:xfrm>
          <a:prstGeom prst="rect">
            <a:avLst/>
          </a:prstGeom>
          <a:noFill/>
          <a:ln/>
        </p:spPr>
        <p:txBody>
          <a:bodyPr wrap="square" lIns="0" tIns="0" rIns="0" bIns="0" rtlCol="0" anchor="ctr"/>
          <a:lstStyle/>
          <a:p>
            <a:pPr rtl="1" algn="r" indent="0" marL="0">
              <a:buNone/>
            </a:pPr>
            <a:r>
              <a:rPr lang="en-US" sz="1000" dirty="0">
                <a:solidFill>
                  <a:srgbClr val="5B6475"/>
                </a:solidFill>
                <a:latin typeface="Tahoma" pitchFamily="34" charset="0"/>
                <a:ea typeface="Tahoma" pitchFamily="34" charset="-122"/>
                <a:cs typeface="Tahoma" pitchFamily="34" charset="-120"/>
              </a:rPr>
              <a:t>راهنمای کاربری سامانهٔ حسابداری  ·  پیوست</a:t>
            </a:r>
            <a:endParaRPr lang="en-US" sz="10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1B2A49"/>
        </a:solidFill>
      </p:bgPr>
    </p:bg>
    <p:spTree>
      <p:nvGrpSpPr>
        <p:cNvPr id="1" name=""/>
        <p:cNvGrpSpPr/>
        <p:nvPr/>
      </p:nvGrpSpPr>
      <p:grpSpPr>
        <a:xfrm>
          <a:off x="0" y="0"/>
          <a:ext cx="0" cy="0"/>
          <a:chOff x="0" y="0"/>
          <a:chExt cx="0" cy="0"/>
        </a:xfrm>
      </p:grpSpPr>
      <p:sp>
        <p:nvSpPr>
          <p:cNvPr id="2" name="Shape 0"/>
          <p:cNvSpPr/>
          <p:nvPr/>
        </p:nvSpPr>
        <p:spPr>
          <a:xfrm>
            <a:off x="9326880" y="-1371600"/>
            <a:ext cx="4572000" cy="4572000"/>
          </a:xfrm>
          <a:prstGeom prst="ellipse">
            <a:avLst/>
          </a:prstGeom>
          <a:solidFill>
            <a:srgbClr val="25385F"/>
          </a:solidFill>
          <a:ln w="12700">
            <a:solidFill>
              <a:srgbClr val="25385F"/>
            </a:solidFill>
            <a:prstDash val="solid"/>
          </a:ln>
        </p:spPr>
      </p:sp>
      <p:sp>
        <p:nvSpPr>
          <p:cNvPr id="3" name="Text 1"/>
          <p:cNvSpPr/>
          <p:nvPr/>
        </p:nvSpPr>
        <p:spPr>
          <a:xfrm>
            <a:off x="731520" y="640080"/>
            <a:ext cx="10698480" cy="731520"/>
          </a:xfrm>
          <a:prstGeom prst="rect">
            <a:avLst/>
          </a:prstGeom>
          <a:noFill/>
          <a:ln/>
        </p:spPr>
        <p:txBody>
          <a:bodyPr wrap="square" lIns="0" tIns="0" rIns="0" bIns="0" rtlCol="0" anchor="ctr"/>
          <a:lstStyle/>
          <a:p>
            <a:pPr rtl="1" algn="r" indent="0" marL="0">
              <a:buNone/>
            </a:pPr>
            <a:r>
              <a:rPr lang="en-US" sz="3400" b="1" dirty="0">
                <a:solidFill>
                  <a:srgbClr val="FFFFFF"/>
                </a:solidFill>
                <a:latin typeface="Tahoma" pitchFamily="34" charset="0"/>
                <a:ea typeface="Tahoma" pitchFamily="34" charset="-122"/>
                <a:cs typeface="Tahoma" pitchFamily="34" charset="-120"/>
              </a:rPr>
              <a:t>جمع‌بندی</a:t>
            </a:r>
            <a:endParaRPr lang="en-US" sz="3400" dirty="0"/>
          </a:p>
        </p:txBody>
      </p:sp>
      <p:sp>
        <p:nvSpPr>
          <p:cNvPr id="4" name="Shape 2"/>
          <p:cNvSpPr/>
          <p:nvPr/>
        </p:nvSpPr>
        <p:spPr>
          <a:xfrm>
            <a:off x="11155680" y="1591056"/>
            <a:ext cx="365760" cy="365760"/>
          </a:xfrm>
          <a:prstGeom prst="ellipse">
            <a:avLst/>
          </a:prstGeom>
          <a:solidFill>
            <a:srgbClr val="C9A227"/>
          </a:solidFill>
          <a:ln w="12700">
            <a:solidFill>
              <a:srgbClr val="C9A227"/>
            </a:solidFill>
            <a:prstDash val="solid"/>
          </a:ln>
        </p:spPr>
      </p:sp>
      <p:sp>
        <p:nvSpPr>
          <p:cNvPr id="5" name="Text 3"/>
          <p:cNvSpPr/>
          <p:nvPr/>
        </p:nvSpPr>
        <p:spPr>
          <a:xfrm>
            <a:off x="11155680" y="1591056"/>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۱</a:t>
            </a:r>
            <a:endParaRPr lang="en-US" sz="1300" dirty="0"/>
          </a:p>
        </p:txBody>
      </p:sp>
      <p:sp>
        <p:nvSpPr>
          <p:cNvPr id="6" name="Text 4"/>
          <p:cNvSpPr/>
          <p:nvPr/>
        </p:nvSpPr>
        <p:spPr>
          <a:xfrm>
            <a:off x="8229600" y="1554480"/>
            <a:ext cx="2788920" cy="438912"/>
          </a:xfrm>
          <a:prstGeom prst="rect">
            <a:avLst/>
          </a:prstGeom>
          <a:noFill/>
          <a:ln/>
        </p:spPr>
        <p:txBody>
          <a:bodyPr wrap="square" lIns="0" tIns="0" rIns="0" bIns="0" rtlCol="0" anchor="ctr"/>
          <a:lstStyle/>
          <a:p>
            <a:pPr rtl="1" algn="r" indent="0" marL="0">
              <a:buNone/>
            </a:pPr>
            <a:r>
              <a:rPr lang="en-US" sz="1550" b="1" dirty="0">
                <a:solidFill>
                  <a:srgbClr val="C9A227"/>
                </a:solidFill>
                <a:latin typeface="Tahoma" pitchFamily="34" charset="0"/>
                <a:ea typeface="Tahoma" pitchFamily="34" charset="-122"/>
                <a:cs typeface="Tahoma" pitchFamily="34" charset="-120"/>
              </a:rPr>
              <a:t>مبانی و اطلاعات پایه</a:t>
            </a:r>
            <a:endParaRPr lang="en-US" sz="1550" dirty="0"/>
          </a:p>
        </p:txBody>
      </p:sp>
      <p:sp>
        <p:nvSpPr>
          <p:cNvPr id="7" name="Text 5"/>
          <p:cNvSpPr/>
          <p:nvPr/>
        </p:nvSpPr>
        <p:spPr>
          <a:xfrm>
            <a:off x="731520" y="1554480"/>
            <a:ext cx="7406640" cy="438912"/>
          </a:xfrm>
          <a:prstGeom prst="rect">
            <a:avLst/>
          </a:prstGeom>
          <a:noFill/>
          <a:ln/>
        </p:spPr>
        <p:txBody>
          <a:bodyPr wrap="square" lIns="0" tIns="0" rIns="0" bIns="0" rtlCol="0" anchor="ctr"/>
          <a:lstStyle/>
          <a:p>
            <a:pPr rtl="1" algn="r" indent="0" marL="0">
              <a:buNone/>
            </a:pPr>
            <a:r>
              <a:rPr lang="en-US" sz="1250" dirty="0">
                <a:solidFill>
                  <a:srgbClr val="D7DEEA"/>
                </a:solidFill>
                <a:latin typeface="Tahoma" pitchFamily="34" charset="0"/>
                <a:ea typeface="Tahoma" pitchFamily="34" charset="-122"/>
                <a:cs typeface="Tahoma" pitchFamily="34" charset="-120"/>
              </a:rPr>
              <a:t>سند، بدهکار و بستانکار ← سال مالی، کدینگ، تفصیلی و دسترسی‌ها</a:t>
            </a:r>
            <a:endParaRPr lang="en-US" sz="1250" dirty="0"/>
          </a:p>
        </p:txBody>
      </p:sp>
      <p:sp>
        <p:nvSpPr>
          <p:cNvPr id="8" name="Shape 6"/>
          <p:cNvSpPr/>
          <p:nvPr/>
        </p:nvSpPr>
        <p:spPr>
          <a:xfrm>
            <a:off x="11155680" y="2157984"/>
            <a:ext cx="365760" cy="365760"/>
          </a:xfrm>
          <a:prstGeom prst="ellipse">
            <a:avLst/>
          </a:prstGeom>
          <a:solidFill>
            <a:srgbClr val="C9A227"/>
          </a:solidFill>
          <a:ln w="12700">
            <a:solidFill>
              <a:srgbClr val="C9A227"/>
            </a:solidFill>
            <a:prstDash val="solid"/>
          </a:ln>
        </p:spPr>
      </p:sp>
      <p:sp>
        <p:nvSpPr>
          <p:cNvPr id="9" name="Text 7"/>
          <p:cNvSpPr/>
          <p:nvPr/>
        </p:nvSpPr>
        <p:spPr>
          <a:xfrm>
            <a:off x="11155680" y="2157984"/>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۲</a:t>
            </a:r>
            <a:endParaRPr lang="en-US" sz="1300" dirty="0"/>
          </a:p>
        </p:txBody>
      </p:sp>
      <p:sp>
        <p:nvSpPr>
          <p:cNvPr id="10" name="Text 8"/>
          <p:cNvSpPr/>
          <p:nvPr/>
        </p:nvSpPr>
        <p:spPr>
          <a:xfrm>
            <a:off x="8229600" y="2121408"/>
            <a:ext cx="2788920" cy="438912"/>
          </a:xfrm>
          <a:prstGeom prst="rect">
            <a:avLst/>
          </a:prstGeom>
          <a:noFill/>
          <a:ln/>
        </p:spPr>
        <p:txBody>
          <a:bodyPr wrap="square" lIns="0" tIns="0" rIns="0" bIns="0" rtlCol="0" anchor="ctr"/>
          <a:lstStyle/>
          <a:p>
            <a:pPr rtl="1" algn="r" indent="0" marL="0">
              <a:buNone/>
            </a:pPr>
            <a:r>
              <a:rPr lang="en-US" sz="1550" b="1" dirty="0">
                <a:solidFill>
                  <a:srgbClr val="C9A227"/>
                </a:solidFill>
                <a:latin typeface="Tahoma" pitchFamily="34" charset="0"/>
                <a:ea typeface="Tahoma" pitchFamily="34" charset="-122"/>
                <a:cs typeface="Tahoma" pitchFamily="34" charset="-120"/>
              </a:rPr>
              <a:t>صدور سند و گزارش</a:t>
            </a:r>
            <a:endParaRPr lang="en-US" sz="1550" dirty="0"/>
          </a:p>
        </p:txBody>
      </p:sp>
      <p:sp>
        <p:nvSpPr>
          <p:cNvPr id="11" name="Text 9"/>
          <p:cNvSpPr/>
          <p:nvPr/>
        </p:nvSpPr>
        <p:spPr>
          <a:xfrm>
            <a:off x="731520" y="2121408"/>
            <a:ext cx="7406640" cy="438912"/>
          </a:xfrm>
          <a:prstGeom prst="rect">
            <a:avLst/>
          </a:prstGeom>
          <a:noFill/>
          <a:ln/>
        </p:spPr>
        <p:txBody>
          <a:bodyPr wrap="square" lIns="0" tIns="0" rIns="0" bIns="0" rtlCol="0" anchor="ctr"/>
          <a:lstStyle/>
          <a:p>
            <a:pPr rtl="1" algn="r" indent="0" marL="0">
              <a:buNone/>
            </a:pPr>
            <a:r>
              <a:rPr lang="en-US" sz="1250" dirty="0">
                <a:solidFill>
                  <a:srgbClr val="D7DEEA"/>
                </a:solidFill>
                <a:latin typeface="Tahoma" pitchFamily="34" charset="0"/>
                <a:ea typeface="Tahoma" pitchFamily="34" charset="-122"/>
                <a:cs typeface="Tahoma" pitchFamily="34" charset="-120"/>
              </a:rPr>
              <a:t>سرسند و ردیف‌ها ← تأیید ← دفتر روزنامه، دفتر کل و تراز آزمایشی</a:t>
            </a:r>
            <a:endParaRPr lang="en-US" sz="1250" dirty="0"/>
          </a:p>
        </p:txBody>
      </p:sp>
      <p:sp>
        <p:nvSpPr>
          <p:cNvPr id="12" name="Shape 10"/>
          <p:cNvSpPr/>
          <p:nvPr/>
        </p:nvSpPr>
        <p:spPr>
          <a:xfrm>
            <a:off x="11155680" y="2724912"/>
            <a:ext cx="365760" cy="365760"/>
          </a:xfrm>
          <a:prstGeom prst="ellipse">
            <a:avLst/>
          </a:prstGeom>
          <a:solidFill>
            <a:srgbClr val="C9A227"/>
          </a:solidFill>
          <a:ln w="12700">
            <a:solidFill>
              <a:srgbClr val="C9A227"/>
            </a:solidFill>
            <a:prstDash val="solid"/>
          </a:ln>
        </p:spPr>
      </p:sp>
      <p:sp>
        <p:nvSpPr>
          <p:cNvPr id="13" name="Text 11"/>
          <p:cNvSpPr/>
          <p:nvPr/>
        </p:nvSpPr>
        <p:spPr>
          <a:xfrm>
            <a:off x="11155680" y="2724912"/>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۳</a:t>
            </a:r>
            <a:endParaRPr lang="en-US" sz="1300" dirty="0"/>
          </a:p>
        </p:txBody>
      </p:sp>
      <p:sp>
        <p:nvSpPr>
          <p:cNvPr id="14" name="Text 12"/>
          <p:cNvSpPr/>
          <p:nvPr/>
        </p:nvSpPr>
        <p:spPr>
          <a:xfrm>
            <a:off x="8229600" y="2688336"/>
            <a:ext cx="2788920" cy="438912"/>
          </a:xfrm>
          <a:prstGeom prst="rect">
            <a:avLst/>
          </a:prstGeom>
          <a:noFill/>
          <a:ln/>
        </p:spPr>
        <p:txBody>
          <a:bodyPr wrap="square" lIns="0" tIns="0" rIns="0" bIns="0" rtlCol="0" anchor="ctr"/>
          <a:lstStyle/>
          <a:p>
            <a:pPr rtl="1" algn="r" indent="0" marL="0">
              <a:buNone/>
            </a:pPr>
            <a:r>
              <a:rPr lang="en-US" sz="1550" b="1" dirty="0">
                <a:solidFill>
                  <a:srgbClr val="C9A227"/>
                </a:solidFill>
                <a:latin typeface="Tahoma" pitchFamily="34" charset="0"/>
                <a:ea typeface="Tahoma" pitchFamily="34" charset="-122"/>
                <a:cs typeface="Tahoma" pitchFamily="34" charset="-120"/>
              </a:rPr>
              <a:t>بانک و چک</a:t>
            </a:r>
            <a:endParaRPr lang="en-US" sz="1550" dirty="0"/>
          </a:p>
        </p:txBody>
      </p:sp>
      <p:sp>
        <p:nvSpPr>
          <p:cNvPr id="15" name="Text 13"/>
          <p:cNvSpPr/>
          <p:nvPr/>
        </p:nvSpPr>
        <p:spPr>
          <a:xfrm>
            <a:off x="731520" y="2688336"/>
            <a:ext cx="7406640" cy="438912"/>
          </a:xfrm>
          <a:prstGeom prst="rect">
            <a:avLst/>
          </a:prstGeom>
          <a:noFill/>
          <a:ln/>
        </p:spPr>
        <p:txBody>
          <a:bodyPr wrap="square" lIns="0" tIns="0" rIns="0" bIns="0" rtlCol="0" anchor="ctr"/>
          <a:lstStyle/>
          <a:p>
            <a:pPr rtl="1" algn="r" indent="0" marL="0">
              <a:buNone/>
            </a:pPr>
            <a:r>
              <a:rPr lang="en-US" sz="1250" dirty="0">
                <a:solidFill>
                  <a:srgbClr val="D7DEEA"/>
                </a:solidFill>
                <a:latin typeface="Tahoma" pitchFamily="34" charset="0"/>
                <a:ea typeface="Tahoma" pitchFamily="34" charset="-122"/>
                <a:cs typeface="Tahoma" pitchFamily="34" charset="-120"/>
              </a:rPr>
              <a:t>دسته‌چک و دفتر چک ← دستور پرداخت ← مغایرت‌گیری ← اعلامیه بین واحدها</a:t>
            </a:r>
            <a:endParaRPr lang="en-US" sz="1250" dirty="0"/>
          </a:p>
        </p:txBody>
      </p:sp>
      <p:sp>
        <p:nvSpPr>
          <p:cNvPr id="16" name="Shape 14"/>
          <p:cNvSpPr/>
          <p:nvPr/>
        </p:nvSpPr>
        <p:spPr>
          <a:xfrm>
            <a:off x="11155680" y="3291840"/>
            <a:ext cx="365760" cy="365760"/>
          </a:xfrm>
          <a:prstGeom prst="ellipse">
            <a:avLst/>
          </a:prstGeom>
          <a:solidFill>
            <a:srgbClr val="C9A227"/>
          </a:solidFill>
          <a:ln w="12700">
            <a:solidFill>
              <a:srgbClr val="C9A227"/>
            </a:solidFill>
            <a:prstDash val="solid"/>
          </a:ln>
        </p:spPr>
      </p:sp>
      <p:sp>
        <p:nvSpPr>
          <p:cNvPr id="17" name="Text 15"/>
          <p:cNvSpPr/>
          <p:nvPr/>
        </p:nvSpPr>
        <p:spPr>
          <a:xfrm>
            <a:off x="11155680" y="3291840"/>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۴</a:t>
            </a:r>
            <a:endParaRPr lang="en-US" sz="1300" dirty="0"/>
          </a:p>
        </p:txBody>
      </p:sp>
      <p:sp>
        <p:nvSpPr>
          <p:cNvPr id="18" name="Text 16"/>
          <p:cNvSpPr/>
          <p:nvPr/>
        </p:nvSpPr>
        <p:spPr>
          <a:xfrm>
            <a:off x="8229600" y="3255264"/>
            <a:ext cx="2788920" cy="438912"/>
          </a:xfrm>
          <a:prstGeom prst="rect">
            <a:avLst/>
          </a:prstGeom>
          <a:noFill/>
          <a:ln/>
        </p:spPr>
        <p:txBody>
          <a:bodyPr wrap="square" lIns="0" tIns="0" rIns="0" bIns="0" rtlCol="0" anchor="ctr"/>
          <a:lstStyle/>
          <a:p>
            <a:pPr rtl="1" algn="r" indent="0" marL="0">
              <a:buNone/>
            </a:pPr>
            <a:r>
              <a:rPr lang="en-US" sz="1550" b="1" dirty="0">
                <a:solidFill>
                  <a:srgbClr val="C9A227"/>
                </a:solidFill>
                <a:latin typeface="Tahoma" pitchFamily="34" charset="0"/>
                <a:ea typeface="Tahoma" pitchFamily="34" charset="-122"/>
                <a:cs typeface="Tahoma" pitchFamily="34" charset="-120"/>
              </a:rPr>
              <a:t>تنخواه و خزانه</a:t>
            </a:r>
            <a:endParaRPr lang="en-US" sz="1550" dirty="0"/>
          </a:p>
        </p:txBody>
      </p:sp>
      <p:sp>
        <p:nvSpPr>
          <p:cNvPr id="19" name="Text 17"/>
          <p:cNvSpPr/>
          <p:nvPr/>
        </p:nvSpPr>
        <p:spPr>
          <a:xfrm>
            <a:off x="731520" y="3255264"/>
            <a:ext cx="7406640" cy="438912"/>
          </a:xfrm>
          <a:prstGeom prst="rect">
            <a:avLst/>
          </a:prstGeom>
          <a:noFill/>
          <a:ln/>
        </p:spPr>
        <p:txBody>
          <a:bodyPr wrap="square" lIns="0" tIns="0" rIns="0" bIns="0" rtlCol="0" anchor="ctr"/>
          <a:lstStyle/>
          <a:p>
            <a:pPr rtl="1" algn="r" indent="0" marL="0">
              <a:buNone/>
            </a:pPr>
            <a:r>
              <a:rPr lang="en-US" sz="1250" dirty="0">
                <a:solidFill>
                  <a:srgbClr val="D7DEEA"/>
                </a:solidFill>
                <a:latin typeface="Tahoma" pitchFamily="34" charset="0"/>
                <a:ea typeface="Tahoma" pitchFamily="34" charset="-122"/>
                <a:cs typeface="Tahoma" pitchFamily="34" charset="-120"/>
              </a:rPr>
              <a:t>صورت‌هزینه، ترمیم و تسویه؛ درخواست، اجرا و مغایرت بانکی</a:t>
            </a:r>
            <a:endParaRPr lang="en-US" sz="1250" dirty="0"/>
          </a:p>
        </p:txBody>
      </p:sp>
      <p:sp>
        <p:nvSpPr>
          <p:cNvPr id="20" name="Shape 18"/>
          <p:cNvSpPr/>
          <p:nvPr/>
        </p:nvSpPr>
        <p:spPr>
          <a:xfrm>
            <a:off x="11155680" y="3858768"/>
            <a:ext cx="365760" cy="365760"/>
          </a:xfrm>
          <a:prstGeom prst="ellipse">
            <a:avLst/>
          </a:prstGeom>
          <a:solidFill>
            <a:srgbClr val="C9A227"/>
          </a:solidFill>
          <a:ln w="12700">
            <a:solidFill>
              <a:srgbClr val="C9A227"/>
            </a:solidFill>
            <a:prstDash val="solid"/>
          </a:ln>
        </p:spPr>
      </p:sp>
      <p:sp>
        <p:nvSpPr>
          <p:cNvPr id="21" name="Text 19"/>
          <p:cNvSpPr/>
          <p:nvPr/>
        </p:nvSpPr>
        <p:spPr>
          <a:xfrm>
            <a:off x="11155680" y="3858768"/>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۵</a:t>
            </a:r>
            <a:endParaRPr lang="en-US" sz="1300" dirty="0"/>
          </a:p>
        </p:txBody>
      </p:sp>
      <p:sp>
        <p:nvSpPr>
          <p:cNvPr id="22" name="Text 20"/>
          <p:cNvSpPr/>
          <p:nvPr/>
        </p:nvSpPr>
        <p:spPr>
          <a:xfrm>
            <a:off x="8229600" y="3822192"/>
            <a:ext cx="2788920" cy="438912"/>
          </a:xfrm>
          <a:prstGeom prst="rect">
            <a:avLst/>
          </a:prstGeom>
          <a:noFill/>
          <a:ln/>
        </p:spPr>
        <p:txBody>
          <a:bodyPr wrap="square" lIns="0" tIns="0" rIns="0" bIns="0" rtlCol="0" anchor="ctr"/>
          <a:lstStyle/>
          <a:p>
            <a:pPr rtl="1" algn="r" indent="0" marL="0">
              <a:buNone/>
            </a:pPr>
            <a:r>
              <a:rPr lang="en-US" sz="1550" b="1" dirty="0">
                <a:solidFill>
                  <a:srgbClr val="C9A227"/>
                </a:solidFill>
                <a:latin typeface="Tahoma" pitchFamily="34" charset="0"/>
                <a:ea typeface="Tahoma" pitchFamily="34" charset="-122"/>
                <a:cs typeface="Tahoma" pitchFamily="34" charset="-120"/>
              </a:rPr>
              <a:t>حسابیار و تعهدی</a:t>
            </a:r>
            <a:endParaRPr lang="en-US" sz="1550" dirty="0"/>
          </a:p>
        </p:txBody>
      </p:sp>
      <p:sp>
        <p:nvSpPr>
          <p:cNvPr id="23" name="Text 21"/>
          <p:cNvSpPr/>
          <p:nvPr/>
        </p:nvSpPr>
        <p:spPr>
          <a:xfrm>
            <a:off x="731520" y="3822192"/>
            <a:ext cx="7406640" cy="438912"/>
          </a:xfrm>
          <a:prstGeom prst="rect">
            <a:avLst/>
          </a:prstGeom>
          <a:noFill/>
          <a:ln/>
        </p:spPr>
        <p:txBody>
          <a:bodyPr wrap="square" lIns="0" tIns="0" rIns="0" bIns="0" rtlCol="0" anchor="ctr"/>
          <a:lstStyle/>
          <a:p>
            <a:pPr rtl="1" algn="r" indent="0" marL="0">
              <a:buNone/>
            </a:pPr>
            <a:r>
              <a:rPr lang="en-US" sz="1250" dirty="0">
                <a:solidFill>
                  <a:srgbClr val="D7DEEA"/>
                </a:solidFill>
                <a:latin typeface="Tahoma" pitchFamily="34" charset="0"/>
                <a:ea typeface="Tahoma" pitchFamily="34" charset="-122"/>
                <a:cs typeface="Tahoma" pitchFamily="34" charset="-120"/>
              </a:rPr>
              <a:t>سند با یک جمله ← بررسی حسابدار؛ تقسیم ماهانهٔ پیش‌پرداخت و برگشت برآورد</a:t>
            </a:r>
            <a:endParaRPr lang="en-US" sz="1250" dirty="0"/>
          </a:p>
        </p:txBody>
      </p:sp>
      <p:sp>
        <p:nvSpPr>
          <p:cNvPr id="24" name="Shape 22"/>
          <p:cNvSpPr/>
          <p:nvPr/>
        </p:nvSpPr>
        <p:spPr>
          <a:xfrm>
            <a:off x="11155680" y="4425696"/>
            <a:ext cx="365760" cy="365760"/>
          </a:xfrm>
          <a:prstGeom prst="ellipse">
            <a:avLst/>
          </a:prstGeom>
          <a:solidFill>
            <a:srgbClr val="C9A227"/>
          </a:solidFill>
          <a:ln w="12700">
            <a:solidFill>
              <a:srgbClr val="C9A227"/>
            </a:solidFill>
            <a:prstDash val="solid"/>
          </a:ln>
        </p:spPr>
      </p:sp>
      <p:sp>
        <p:nvSpPr>
          <p:cNvPr id="25" name="Text 23"/>
          <p:cNvSpPr/>
          <p:nvPr/>
        </p:nvSpPr>
        <p:spPr>
          <a:xfrm>
            <a:off x="11155680" y="4425696"/>
            <a:ext cx="365760" cy="365760"/>
          </a:xfrm>
          <a:prstGeom prst="rect">
            <a:avLst/>
          </a:prstGeom>
          <a:noFill/>
          <a:ln/>
        </p:spPr>
        <p:txBody>
          <a:bodyPr wrap="square" lIns="0" tIns="0" rIns="0" bIns="0" rtlCol="0" anchor="ctr"/>
          <a:lstStyle/>
          <a:p>
            <a:pPr rtl="1" algn="ctr" indent="0" marL="0">
              <a:buNone/>
            </a:pPr>
            <a:r>
              <a:rPr lang="en-US" sz="1300" b="1" dirty="0">
                <a:solidFill>
                  <a:srgbClr val="1B2A49"/>
                </a:solidFill>
                <a:latin typeface="Tahoma" pitchFamily="34" charset="0"/>
                <a:ea typeface="Tahoma" pitchFamily="34" charset="-122"/>
                <a:cs typeface="Tahoma" pitchFamily="34" charset="-120"/>
              </a:rPr>
              <a:t>۶</a:t>
            </a:r>
            <a:endParaRPr lang="en-US" sz="1300" dirty="0"/>
          </a:p>
        </p:txBody>
      </p:sp>
      <p:sp>
        <p:nvSpPr>
          <p:cNvPr id="26" name="Text 24"/>
          <p:cNvSpPr/>
          <p:nvPr/>
        </p:nvSpPr>
        <p:spPr>
          <a:xfrm>
            <a:off x="8229600" y="4389120"/>
            <a:ext cx="2788920" cy="438912"/>
          </a:xfrm>
          <a:prstGeom prst="rect">
            <a:avLst/>
          </a:prstGeom>
          <a:noFill/>
          <a:ln/>
        </p:spPr>
        <p:txBody>
          <a:bodyPr wrap="square" lIns="0" tIns="0" rIns="0" bIns="0" rtlCol="0" anchor="ctr"/>
          <a:lstStyle/>
          <a:p>
            <a:pPr rtl="1" algn="r" indent="0" marL="0">
              <a:buNone/>
            </a:pPr>
            <a:r>
              <a:rPr lang="en-US" sz="1550" b="1" dirty="0">
                <a:solidFill>
                  <a:srgbClr val="C9A227"/>
                </a:solidFill>
                <a:latin typeface="Tahoma" pitchFamily="34" charset="0"/>
                <a:ea typeface="Tahoma" pitchFamily="34" charset="-122"/>
                <a:cs typeface="Tahoma" pitchFamily="34" charset="-120"/>
              </a:rPr>
              <a:t>فروش و صورت‌ها</a:t>
            </a:r>
            <a:endParaRPr lang="en-US" sz="1550" dirty="0"/>
          </a:p>
        </p:txBody>
      </p:sp>
      <p:sp>
        <p:nvSpPr>
          <p:cNvPr id="27" name="Text 25"/>
          <p:cNvSpPr/>
          <p:nvPr/>
        </p:nvSpPr>
        <p:spPr>
          <a:xfrm>
            <a:off x="731520" y="4389120"/>
            <a:ext cx="7406640" cy="438912"/>
          </a:xfrm>
          <a:prstGeom prst="rect">
            <a:avLst/>
          </a:prstGeom>
          <a:noFill/>
          <a:ln/>
        </p:spPr>
        <p:txBody>
          <a:bodyPr wrap="square" lIns="0" tIns="0" rIns="0" bIns="0" rtlCol="0" anchor="ctr"/>
          <a:lstStyle/>
          <a:p>
            <a:pPr rtl="1" algn="r" indent="0" marL="0">
              <a:buNone/>
            </a:pPr>
            <a:r>
              <a:rPr lang="en-US" sz="1250" dirty="0">
                <a:solidFill>
                  <a:srgbClr val="D7DEEA"/>
                </a:solidFill>
                <a:latin typeface="Tahoma" pitchFamily="34" charset="0"/>
                <a:ea typeface="Tahoma" pitchFamily="34" charset="-122"/>
                <a:cs typeface="Tahoma" pitchFamily="34" charset="-120"/>
              </a:rPr>
              <a:t>پیش‌فاکتور تا فاکتور؛ تهیه، تأیید و انتشار صورت‌های مالی</a:t>
            </a:r>
            <a:endParaRPr lang="en-US" sz="1250" dirty="0"/>
          </a:p>
        </p:txBody>
      </p:sp>
      <p:sp>
        <p:nvSpPr>
          <p:cNvPr id="28" name="Text 26"/>
          <p:cNvSpPr/>
          <p:nvPr/>
        </p:nvSpPr>
        <p:spPr>
          <a:xfrm>
            <a:off x="731520" y="6263640"/>
            <a:ext cx="10698480" cy="365760"/>
          </a:xfrm>
          <a:prstGeom prst="rect">
            <a:avLst/>
          </a:prstGeom>
          <a:noFill/>
          <a:ln/>
        </p:spPr>
        <p:txBody>
          <a:bodyPr wrap="square" lIns="0" tIns="0" rIns="0" bIns="0" rtlCol="0" anchor="ctr"/>
          <a:lstStyle/>
          <a:p>
            <a:pPr rtl="1" algn="r" indent="0" marL="0">
              <a:buNone/>
            </a:pPr>
            <a:r>
              <a:rPr lang="en-US" sz="1300" dirty="0">
                <a:solidFill>
                  <a:srgbClr val="A9B4C8"/>
                </a:solidFill>
                <a:latin typeface="Tahoma" pitchFamily="34" charset="0"/>
                <a:ea typeface="Tahoma" pitchFamily="34" charset="-122"/>
                <a:cs typeface="Tahoma" pitchFamily="34" charset="-120"/>
              </a:rPr>
              <a:t>تصاویر و مثال‌ها نمونه‌اند؛ نام‌ها، اشخاص و اعداد ساختگی‌اند.</a:t>
            </a:r>
            <a:endParaRPr lang="en-US" sz="1300" dirty="0"/>
          </a:p>
        </p:txBody>
      </p:sp>
    </p:spTree>
  </p:cSld>
  <p:clrMapOvr>
    <a:masterClrMapping/>
  </p:clrMapOvr>
</p:sld>
</file>

<file path=ppt/theme/theme1.xml><?xml version="1.0" encoding="utf-8"?>
<a:theme xmlns:a="http://schemas.openxmlformats.org/drawingml/2006/main" name="AccountCore">
  <a:themeElements>
    <a:clrScheme name="AccountCore">
      <a:dk1>
        <a:srgbClr val="1F2937"/>
      </a:dk1>
      <a:lt1>
        <a:srgbClr val="FFFFFF"/>
      </a:lt1>
      <a:dk2>
        <a:srgbClr val="1B2A49"/>
      </a:dk2>
      <a:lt2>
        <a:srgbClr val="F4F6FA"/>
      </a:lt2>
      <a:accent1>
        <a:srgbClr val="1B2A49"/>
      </a:accent1>
      <a:accent2>
        <a:srgbClr val="C9A227"/>
      </a:accent2>
      <a:accent3>
        <a:srgbClr val="2F6FB5"/>
      </a:accent3>
      <a:accent4>
        <a:srgbClr val="1E7A4C"/>
      </a:accent4>
      <a:accent5>
        <a:srgbClr val="8A5A00"/>
      </a:accent5>
      <a:accent6>
        <a:srgbClr val="B42318"/>
      </a:accent6>
      <a:hlink>
        <a:srgbClr val="2F6FB5"/>
      </a:hlink>
      <a:folHlink>
        <a:srgbClr val="6B5410"/>
      </a:folHlink>
    </a:clrScheme>
    <a:fontScheme name="AccountCore">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228</Slides>
  <Notes>228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228</vt:i4>
      </vt:variant>
    </vt:vector>
  </HeadingPairs>
  <TitlesOfParts>
    <vt:vector size="2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راهنمای کاربری سامانهٔ جامع حسابداری</dc:title>
  <dc:subject>PptxGenJS Presentation</dc:subject>
  <dc:creator>PptxGenJS</dc:creator>
  <cp:lastModifiedBy>PptxGenJS</cp:lastModifiedBy>
  <cp:revision>1</cp:revision>
  <dcterms:created xsi:type="dcterms:W3CDTF">2026-10-31T06:16:10Z</dcterms:created>
  <dcterms:modified xsi:type="dcterms:W3CDTF">2026-10-31T06:16:10Z</dcterms:modified>
</cp:coreProperties>
</file>