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Lst>
  <p:notesMasterIdLst>
    <p:notesMasterId r:id="rId8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مقدمه" id="{f1698205-0154-94ce-4d95-2485365e922e}">
          <p14:sldIdLst>
            <p14:sldId id="256"/>
            <p14:sldId id="257"/>
          </p14:sldIdLst>
        </p14:section>
        <p14:section name="شروع کار" id="{eee0b803-af3c-fc1f-e806-bba543878e58}">
          <p14:sldIdLst>
            <p14:sldId id="258"/>
            <p14:sldId id="259"/>
            <p14:sldId id="260"/>
          </p14:sldIdLst>
        </p14:section>
        <p14:section name="تنخواه‌گردان" id="{5eb770f8-d151-c8c1-fc52-e90ec490b911}">
          <p14:sldIdLst>
            <p14:sldId id="261"/>
          </p14:sldIdLst>
        </p14:section>
        <p14:section name="تنخواه" id="{6eb831b1-2028-727d-7b6c-a2d2ec70294b}">
          <p14:sldIdLst>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 name="دریافت و پرداخت (خزانه‌داری)" id="{1bb6f7dd-5b8c-894c-0cdc-d4fb510b72bb}">
          <p14:sldIdLst>
            <p14:sldId id="279"/>
          </p14:sldIdLst>
        </p14:section>
        <p14:section name="خزانه" id="{e88b2f0a-6e58-0f0a-352f-d2a61fc6b3a6}">
          <p14:sldIdLst>
            <p14:sldId id="280"/>
            <p14:sldId id="281"/>
            <p14:sldId id="282"/>
            <p14:sldId id="283"/>
            <p14:sldId id="284"/>
            <p14:sldId id="285"/>
            <p14:sldId id="286"/>
            <p14:sldId id="287"/>
            <p14:sldId id="288"/>
            <p14:sldId id="289"/>
            <p14:sldId id="290"/>
            <p14:sldId id="291"/>
            <p14:sldId id="292"/>
            <p14:sldId id="293"/>
          </p14:sldIdLst>
        </p14:section>
        <p14:section name="صورت‌های مالی" id="{97b4e9f5-1816-8550-6c29-94b2fdda85e6}">
          <p14:sldIdLst>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Lst>
        </p14:section>
        <p14:section name="فروش" id="{9b52a177-1713-1462-464b-42e476ae0135}">
          <p14:sldIdLst>
            <p14:sldId id="319"/>
            <p14:sldId id="320"/>
            <p14:sldId id="321"/>
            <p14:sldId id="322"/>
            <p14:sldId id="323"/>
            <p14:sldId id="324"/>
            <p14:sldId id="325"/>
            <p14:sldId id="326"/>
            <p14:sldId id="327"/>
            <p14:sldId id="328"/>
            <p14:sldId id="329"/>
            <p14:sldId id="330"/>
            <p14:sldId id="331"/>
            <p14:sldId id="332"/>
          </p14:sldIdLst>
        </p14:section>
        <p14:section name="پیوست" id="{7d780d05-33b3-0de2-909f-cea49c7ebc75}">
          <p14:sldIdLst>
            <p14:sldId id="33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notesMaster" Target="notesMasters/notesMaster1.xml"/><Relationship Id="rId81" Type="http://schemas.openxmlformats.org/officeDocument/2006/relationships/presProps" Target="presProps.xml"/><Relationship Id="rId82" Type="http://schemas.openxmlformats.org/officeDocument/2006/relationships/viewProps" Target="viewProps.xml"/><Relationship Id="rId83" Type="http://schemas.openxmlformats.org/officeDocument/2006/relationships/theme" Target="theme/theme1.xml"/><Relationship Id="rId8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راهنما بر اساس فرم‌های واقعی نسخهٔ جاری برنامه تهیه شده است. اعداد و نام‌ها در تصاویر نمونه‌اند.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ورود: با دکمهٔ «ورود با حساب سازمانی» از سامانهٔ احراز هویت سازمان وارد شوید.
2. سال مالی و واحد: در نوار بالا روی نام واحد و سال کلیک کنید و سال مالی و واحدی را که می‌خواهید به نام آن کار کنید انتخاب کنید.
3. اثر انتخاب: همهٔ فرم‌ها، فهرست‌ها و گزارش‌ها فقط دادهٔ همین واحد و سال را نشان می‌دهند؛ واحدی که مجوزش را ندارید با خطای «دسترسی ندارید» رد می‌شود.
4. ستاد مرکزی: کاربر ستاد می‌تواند به جای هر واحد عمل کند و در صورت‌های مالی، ترکیبی همهٔ زیرمجموعه‌ها را ببیند.
5. نقش و منو: منوها و دکمه‌ها بر اساس نقش شما در سامانهٔ ورود سازمان نمایش داده می‌شوند؛ مدیر ستاد در «اطلاعات پایه ← دسترسی نقش‌ها» دسترسی هر منو و زبانه را تعیین می‌کند.
نکته: پیش از هر کاری سال مالی و واحد را بررسی کنید؛ بیشتر خطاهای «یافت نشد» به‌خاطر انتخاب واحد یا سال اشتباه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زبانه: هر گزینهٔ منو در یک زبانهٔ جدا باز می‌شود (حداکثر ۱۰)؛ ویرایش و جزئیات در همان زبانه.
2. جابه‌جایی و بستن: کلیک روی عنوان زبانه؛ × یا کلیک وسط ماوس می‌بندد و برای فرم ذخیره‌نشده هشدار می‌دهد.
3. کلیک راست: نسخهٔ دیگر در تب جدید یا کنار همین تب، نمایش کنار تب فعال، بستن بقیه یا همه.
4. کنار هم: دو فرم هم‌زمان؛ خط وسط را بکشید. «نمای تک‌صفحه» به حالت عادی برمی‌گردد.
5. لایسنس: نوار آبی بالای صفحه یعنی لایسنس نزدیک انقضاست؛ پس از پایان مهلت، سامانه فقط‌خواندنی می‌شود.
نکته: زبانه‌های پشتی باز می‌مانند و فرم نیمه‌پر، فیلتر و صفحهٔ جدولشان از دست نمی‌رود؛ ولی بعد از تازه‌سازی (F5) فقط فهرست زبانه‌ها برمی‌گردد، نه محتوای فرم‌ها.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مرتب‌سازی: روی سرستون کلیک کنید: صعودی ← نزولی ← ترتیب اصلی. مرتب‌سازی فقط روی ردیف‌های همین صفحه است.
2. ستون‌ها: دکمهٔ «ستون‌ها» فهرست تیک‌دار ستون‌ها را باز می‌کند؛ انتخاب شما برای همان جدول در مرورگرتان به خاطر سپرده می‌شود.
3. نمایش همه: «نمایش همهٔ ستون‌ها» تنظیم را برمی‌گرداند؛ ستون «عملیات» همیشه می‌ماند.
4. تعداد ردیف: پایین جدول، تعداد ردیف هر صفحه را عوض کنید و بین صفحه‌ها بروید.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تعریف تنخواه — سقف، تنخواه‌دار، بررسی‌کنندگان
2. ثبت صورت‌هزینه — تنخواه‌دار + پیوست
3. بررسی و تأیید — بازرس ← مدیر مالی/مدیرعامل
4. ترمیم (شارژ) — مدیر مالی ← خزانه‌دار
5. تسویهٔ دوره — شمارش صندوق + سند حسابداری
معادلهٔ تراز تنخواه:  سقف تنخواه = موجودی نقد + تأییدشدهٔ منتظر ترمیم + اسناد در جریان − استرداد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فهرست: هر ردیف یک تنخواه است با کد، عنوان، تنخواه‌دار، سقف، سقف هر سند و موجودی نقد لحظه‌ای.
2. تنخواه جدید: دکمهٔ «تنخواه جدید» را بزنید تا فرم تعریف باز شود (اسلاید بعد).
3. آیکون‌های ردیف: ویرایش، «بررسی‌کنندگان»، «تفصیلی‌های حساب معین» و حذف.
4. غیرفعال‌سازی: تنخواه غیرفعال صورت‌هزینهٔ جدید نمی‌پذیرد؛ حذف فقط وقتی ممکن است که هیچ صورت‌هزینه‌ای نداشته باشد.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کد و عنوان: کد در هر واحد باید یکتا باشد؛ مثلاً TN-01 «تنخواه اداری ستاد».
2. تنخواه‌دار: کد کاربری و نام مسئول تنخواه؛ فقط او می‌تواند سند ثبت کند.
3. سقف‌ها: سقف تنخواه، سقف هر سند و سقف اختیار تأیید مدیر مالی (بیشتر از آن ⇐ مدیرعامل).
4. آستانهٔ هشدار: وقتی موجودی نقد از این درصد سقف کمتر شود داشبورد هشدار می‌دهد.
5. حساب معین و دورهٔ تسویه: حساب «تنخواه‌گردان‌ها» و ماهانه/فصلی؛ «ثبت‌کنندهٔ استرداد» را هم تعیین کنید.
6. ذخیره: وضعیت «فعال» را روشن بگذارید و ذخیره کنید.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باز کردن: در فهرست تنخواه‌ها آیکون «بررسی‌کنندگان» را بزنید.
2. افزودن: کد کاربری، نام و نقش (بازرس مالی، مدیر مالی، مدیرعامل، حسابدار ارشد، خزانه‌دار) را وارد و «افزودن» کنید.
3. چند نقش: یک کاربر می‌تواند روی یک تنخواه بیش از یک نقش داشته باشد.
4. تفصیلی معین: از آیکون «تفصیلی‌های حساب معین» تفصیلی‌های لازم برای سند تسویه را تعیین کنید.
نکته: بدون بررسی‌کننده، اسناد ارسال‌شده در کارتابل کسی قابل اقدام نیستند. حداقل یک بازرس مالی و یک مدیر مالی تعریف کنید.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تنخواه و تاریخ: تنخواه را انتخاب کنید؛ کارت «ماندهٔ تنخواه» موجودی نقد و ماندهٔ پس از این سند را نشان می‌دهد.
2. فروشنده و فاکتور: نام و شناسهٔ ملی فروشنده، نوع مدرک، شماره و تاریخ فاکتور (در سال مالی جاری).
3. شرح و مبلغ: حساب هزینه، شرح، مبلغ قبل از مالیات و ارزش افزوده (۱۰٪ پیشنهاد می‌شود)؛ مبلغ کل خودکار است.
4. کنترل‌های لحظه‌ای: تیک سبز یعنی در سقف هر سند، موجودی کافی و تاریخ معتبر است.
5. ذخیره یا ارسال: «ذخیرهٔ پیش‌نویس» برای ادامه بعدی؛ «ارسال برای بررسی» سند را به کارتابل می‌فرستد.
6. پیوست: پس از اولین ذخیره، فاکتور و رسید را پیوست کنید.
نکته: فاکتور تکراری (همان شناسهٔ ملی + شماره فاکتور) پذیرفته نمی‌شود. فقط پیش‌نویس و برگشتی قابل ویرایش‌اند و فقط پیش‌نویس حذف 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زبانه‌ها: «در جریان»، جدید، در انتظار بررسی، برگشتی، تأییدشده، ردشده، پیش‌نویس و همه — با تعداد هر وضعیت.
2. جستجو و فیلتر: بر اساس تنخواه، شرح، فروشنده یا شماره فاکتور.
3. ستون عمر: روزهای گذشته از ارسال؛ عمر بالای ۵ روز قرمز می‌شود.
4. اقدام‌ها: نمایش، شروع بررسی، تأیید کنترل، تأیید نهایی، برگشت و رد — فقط اقدام‌های مجاز نقش شما فعال است.
5. تأیید گروهی: اسناد کنترل‌شده را تیک بزنید و «تأیید گروهی» کنید؛ همه با هم تأیید می‌شوند یا هیچ‌کدام.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شروع بررسی: بازرس روی سند «جدید» «شروع بررسی» را می‌زند؛ وضعیت «در انتظار بررسی» می‌شود.
2. بررسی مدارک: فیلدها فقط‌خواندنی‌اند؛ پیوست‌ها را در پنل کناری باز و پیش‌نمایش کنید.
3. نوار اقدام: «تأیید نهایی»، «برگشت برای اصلاح» و «رد سند…»؛ برچسب آبی نشان می‌دهد چه کسی و کی کنترل کرده.
4. میانبر: کلید A برای تأیید و R برای برگشت؛ با پیکان‌ها به سند قبلی/بعدی بروید.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تأیید کنترل: بازرس پس از بررسی، «تأیید کنترل» را با یادداشت اختیاری ثبت می‌کند؛ وضعیت سند تغییر نمی‌کند.
2. تأیید نهایی: مدیر مالی (تا سقف اختیار) یا مدیرعامل (بالاتر از سقف) سند کنترل‌شده را تأیید می‌کند ⇐ «تأییدشده».
3. قید: تأییدکنندهٔ نهایی نباید همان بازرس یا ثبت‌کنندهٔ سند باشد.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دلایل: یک یا چند دلیل: پیوست ناقص، حساب هزینه نادرست، مبلغ با مدرک مطابقت ندارد، شرح نیازمند توضیح، سایر.
2. مهلت: تاریخ مهلت اصلاح (بعد از امروز) الزامی است.
3. توضیح: متن توضیح برای تنخواه‌دار الزامی است.
4. قفل فیلدها: تنخواه‌دار فقط فیلدهای مرتبط با دلیل را می‌تواند تغییر دهد؛ مثلاً «پیوست ناقص» فقط پیوست را باز می‌کند.
5. رد سند: برای رد، دلیل بنویسید؛ سند ردشده پایانی است و ترمیم نمی‌شود.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کادر نارنجی: مهلت، دلایل و توضیح بررسی‌کننده بالای فرم نمایش داده می‌شود.
2. فیلدهای مجاز: فقط فیلدهای قاب‌دار رنگی قابل ویرایش‌اند؛ بقیه قفل‌اند.
3. ارسال دوباره: «ارسال برای بررسی» را بزنید؛ سند دوباره باید کنترل بازرس شود.
4. تاریخچه: پنل «تاریخچهٔ اقدامات» همهٔ رویدادها را با کاربر، زمان و IP نشان می‌دهد.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کارت‌ها: موجودی نقد (و درصد از سقف)، تأییدشدهٔ منتظر ترمیم، در جریان بررسی و برگشتی‌ها.
2. تراز تنخواه: معادلهٔ سقف را با اعداد واقعی نشان می‌دهد؛ برچسب «متوازن» یعنی داده سالم است.
3. اقدامات امروز: اسنادی که منتظر اقدام‌اند؛ دکمهٔ «بررسی» یا «پیگیری» مستقیم سند را باز می‌کند.
4. هشدارها: اسناد معطل و مبلغ منتظر ترمیم؛ دکمهٔ «ایجاد درخواست ترمیم» میانبر گام بعدی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انتخاب تنخواه: سامانه همهٔ صورت‌هزینه‌های تأییدشدهٔ ترمیم‌نشده را جمع می‌کند.
2. ریز حساب‌ها: جدول «مبلغ ترمیم بر اساس اسناد تأییدشده» جمع هر حساب هزینه و تعداد سند را نشان می‌دهد.
3. اطلاعات ترمیم: حساب بانکی مبدأ، روش پرداخت (پایا، چک، نقد، سایر)، تاریخ و یادداشت.
4. اثر ترمیم: موجودی نقد قبل و بعد؛ کنترل «در حد سقف» و «هیچ سندی دو بار ترمیم نمی‌شود».
5. ارسال: «ارسال برای تأیید»: مسیر ۱. مدیر مالی ← ۲. خزانه‌دار.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فهرست: در «شارژ و ترمیم» همهٔ درخواست‌ها با وضعیت: پیش‌نویس، در انتظار مدیر مالی، در انتظار خزانه‌دار، پرداخت‌شده، ردشده.
2. تأیید مدیر مالی: مدیر مالی (غیر از سازنده) «تأیید» یا «رد» می‌کند.
3. ثبت پرداخت: خزانه‌دار پس از واریز، پرداخت را ثبت می‌کند ⇐ «پرداخت‌شده» و موجودی نقد افزایش می‌یابد.
4. مسیر تأیید: کارت «مسیر تأیید» مرحلهٔ جاری را نشان می‌دهد.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فیلتر: تنخواه، از تاریخ، تا تاریخ و نوع (ترمیم، هزینه، استرداد).
2. ستون‌ها: دریافت (ترمیم/استرداد)، پرداخت (هزینه) و ماندهٔ جاری پس از هر ردیف.
3. مرجع: روی کد مرجع بزنید تا سند مبدأ باز شود.
4. خروجی: دکمهٔ «خروجی اکسل» گزارش را با جمع‌ها ذخیره می‌کند.
نکته: این گزارش حرکت واقعی وجه است؛ اسناد در جریان (هنوز تأییدنشده) در آن نیستند، پس ماندهٔ پایان آن با موجودی نقد داشبورد به اندازهٔ اسناد در جریان فرق دارد.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دورهٔ جاری: بر اساس دورهٔ تسویهٔ تنخواه (ماهانه/فصلی) خودکار تعیین می‌شود.
2. کارت‌ها: ماندهٔ ابتدای دوره، ترمیم و استرداد، هزینهٔ تأییدشده و ماندهٔ نقد پایان دوره.
3. اسناد در جریان: به دورهٔ بعد منتقل می‌شوند؛ پیام آبی تعداد و مبلغ آن‌ها را می‌گوید.
4. شمارش: مبلغ شمارش‌شدهٔ صندوق/حساب را وارد و «ذخیرهٔ شمارش» کنید؛ باید با ماندهٔ محاسبه‌شده برابر باشد.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پیش‌نمایش سند: بدهکار هر حساب هزینه با تفصیلی‌ها، بستانکار حساب تنخواه؛ برچسب «متوازن».
2. کنترل‌های پیش از بستن: اسناد منظورشده، برابری شمارش، اسناد در جریان و نقش کاربر.
3. تأیید انتقال: اگر سند در جریان هست، تیک «انتقال به دورهٔ بعد را تأیید می‌کنم» را بزنید.
4. نهایی‌سازی: حسابدار ارشد «نهایی‌سازی و صدور سند» را می‌زند ⇐ سند موقت صادر و اسناد «تسویه‌شده» می‌شوند.
5. تاریخچه: دوره‌های نهایی‌شده با شمارهٔ سند در جدول پایین صفحه.
نکته: پس از نهایی‌سازی، دوره قفل می‌شود و اصلاح فقط با سند اصلاحی ممکن است. حذف استردادی که در دورهٔ نهایی‌شده است مجاز نیست.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ثبت درخواست — ثبت‌کننده
2. تأیید مدیر واحد — مرحلهٔ ۱
3. تأیید مدیر مالی — مرحلهٔ ۲
4. تأیید مدیرعامل — فقط بالای آستانه
5. آمادهٔ اجرا — سند شناسایی بدهی
6. اجرای پرداخت — خزانه‌دار — سند پرداخت
از هر مرحلهٔ «در انتظار» می‌توان برگشت (دلیل اجباری) یا رد داد. یک کاربر دو مرحلهٔ پشت‌سرهم را تأیید نمی‌کند و ثبت‌کننده تأییدکننده نیست.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آستانه‌ها: آستانهٔ تأیید مدیرعامل و سقف تأیید گروهی (بدون مقدار پیش‌فرض؛ تا تعریف نشوند ارسال ممکن نیست).
2. تفصیلی ذی‌نفع: گروه تفصیلی تأمین‌کنندگان برای شناسایی ذی‌نفع.
3. حساب‌های سند خودکار: بستانکاران، اعتبار مالیات بر ارزش افزوده و کسور بیمه.
4. دریافت و انتقال: حساب دریافتنی، گروه تفصیلی مشتریان و سقف انتقال روزانه.
5. مغایرت بانکی: حساب کارمزد بانکی؛ سپس «ذخیره تنظیمات» (فقط مدیر مالی).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نقش‌ها: مدیر واحد، مدیر مالی، مدیرعامل، حسابدار ارشد و خزانه‌دار — فهرستی جدا از نقش‌های تنخواه.
2. افزودن: کد کاربری، نقش و نام را وارد و «افزودن» کنید.
3. اولین مدیر مالی: اگر واحد هنوز مدیر مالی ندارد هر کاربری می‌تواند اولین نقش را ثبت کند؛ بعد از آن فقط مدیر مالی.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زبانه‌های وضعیت: پیش‌نویس، در انتظار مدیر واحد/مالی/مدیرعامل، آمادهٔ اجرا، پرداخت شد، برگشتی، ردشده، معلق.
2. درخواست جدید: دکمهٔ «درخواست پرداخت جدید» در بالای صفحه.
3. اقدام ردیف: پیش‌نویس و برگشتی: ویرایش، ارسال و حذف؛ بقیه فقط نمایش.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ذی‌نفع: نام، نوع (تأمین‌کننده، کارمند، سایر)، شناسه ملی و تفصیلی ذی‌نفع.
2. فاکتور: شماره فاکتور و تیک «فاکتور تأیید شده» (اگر شماره وارد شود الزامی است).
3. حساب و مرکز هزینه: حساب هزینهٔ معین و تفصیلی‌های مرکز هزینه که آن معین لازم دارد.
4. مبلغ: مبلغ قبل از مالیات، درصد یا مبلغ ارزش افزوده و کسر بیمه؛ خالص قابل پرداخت خودکار.
5. سررسید و پرداخت: تاریخ سررسید (گذشته نباشد)، حساب بانکی و روش پرداخت (ساتنا، پایا، چک، نقد).
6. ذخیره/ارسال: «ذخیرهٔ پیش‌نویس» یا «ارسال برای تأیید».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یک کارتابل: درخواست‌های پرداخت، ترمیم‌های تنخواه منتظر خزانه‌دار و انتقال‌های وجه — قدیمی‌ترین در بالا.
2. برچسب «منتظر شما»: فقط مواردی که مرحلهٔ فعلی با نقش شما است اقدام‌پذیرند.
3. تأیید/برگشت/رد: برگشت و رد دلیل اجباری دارند؛ برگشتی دوباره از مدیر واحد شروع می‌شود.
4. تأیید گروهی: فقط برای مبالغ زیر «سقف تأیید گروهی».
نکته: در لحظهٔ آخرین تأیید (مدیر مالی یا مدیرعامل) سند «شناسایی بدهی» به‌صورت موقت و خودکار صادر می‌شود؛ اگر حساب‌های تنظیمات کامل نباشد، خود تأیید هم انجام نمی‌شود.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پرداخت در بانک: خزانه‌دار ابتدا وجه را در سامانهٔ بانک پرداخت می‌کند.
2. ثبت اجرا: شمارهٔ پیگیری بانک، تاریخ پرداخت، شبای مقصد و روش پرداخت را وارد و «اجرای پرداخت» کنید.
3. نتیجه: سند «پرداخت» موقت و رکورد دریافت/پرداخت صادر و وضعیت «پرداخت شد» می‌شود.
4. تعلیق: با دلیل، درخواست را معلق و بعداً «رفع تعلیق» کنید.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سند شناسایی بدهی: بدهکار هزینه (با مرکز هزینه) و اعتبار مالیات؛ بستانکار بستانکاران (ذی‌نفع) و کسور بیمه.
2. سند پرداخت: بدهکار بستانکاران، بستانکار بانک (با تفصیلی حساب بانکی).
3. کجا ببینیم: پایین صفحهٔ درخواست، پنل «اسناد حسابداری» با شمارهٔ سند و برچسب «متوازن».
4. وضعیت: هر دو سند «موقت»‌اند و در کارتابل اسناد قطعی می‌شوند.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دو زبانه: «دریافت وجه» از مشتریان/کارفرمایان و «انتقال وجه» بین حساب‌های بانکی واحد.
2. وضعیت دریافت: پیش‌نویس ← ثبت‌شده (فقط خزانه‌دار) یا لغوشده.
3. وضعیت انتقال: پیش‌نویس ← در انتظار خزانه‌دار ← اجراشده؛ یا برگشتی/ردشده.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پرداخت‌کننده: تفصیلی مشتری از گروه تفصیلی مشتریان (الزامی).
2. مبلغ و حساب: مبلغ، حساب بانکی مقصد، روش، تاریخ و شمارهٔ پیگیری بانک (تکراری پذیرفته نمی‌شود).
3. ثبت: خزانه‌دار «ثبت» را می‌زند ⇐ سند دریافت موقت: بدهکار بانک / بستانکار حساب دریافتنی.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مبدأ و مقصد: دو حساب بانکی متفاوت از همین واحد؛ موجودی دفتری مبدأ نمایش داده می‌شود.
2. مبلغ و روش: مبلغ، تاریخ، روش انتقال و دلیل انتقال.
3. ارسال: «ارسال برای تأیید» به خزانه‌دار.
4. کنترل‌های مسدودکننده: موجودی کافی مبدأ و سقف انتقال روزانه؛ تأییدکننده ≠ ثبت‌کننده.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صورت‌حساب جدید: حساب بانکی، بازهٔ تاریخ و ماندهٔ طبق بانک؛ ردیف‌ها را دستی اضافه یا با «بارگذاری فایل دیسکت» (بانک رفاه) وارد کنید.
2. تطبیق خودکار: بر اساس شمارهٔ چک/فیش، مرجع بانک و مبلغ در بازهٔ ±۳ روز.
3. تطبیق‌نیافته‌ها: تطبیق دستی، صدور سند کارمزد، اتصال به دریافت یا «نادیده» با یادداشت.
4. بستن: وقتی مغایرت صفر شد صورت‌حساب را «بستن» کنید.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باز کردن: در جزئیات صورت‌حساب، دکمهٔ «صورت مغایرت» را بزنید.
2. ساختار: ماندهٔ دفتر ± واریز و برداشت‌های بانک که در دفتر نیامده و چک‌های وصول‌نشده = ماندهٔ تعدیل‌شده، در برابر ماندهٔ طبق بانک.
3. اختلاف: سطر «اختلاف توضیح‌داده‌نشده» باید صفر شود؛ اگر نشد، ردیف‌های تطبیق‌نیافته را بررسی کنید.
4. ریز اقلام: هر گروه با تاریخ، شماره/مرجع، شرح و مبلغ و جمع؛ پایین برگه جای امضای تهیه‌کننده، رئیس حسابداری و مدیر مالی.
5. چاپ: دکمهٔ «چاپ / PDF» را بزنید.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موجودی کل: جمع و تفکیک موجودی دفتری حساب‌های بانکی.
2. تعهدات ۷ روز: درخواست‌های آمادهٔ اجرا و نسبت پوشش آن با موجودی.
3. در انتظار تأیید و امروز: تعداد و مبلغ موارد منتظر تأیید؛ دریافت و پرداخت امروز.
4. اقلام باز و هشدارها: سررسیدهای نزدیک و ردیف‌های مغایرت؛ اقدام سریع برای درخواست، دریافت یا انتقال.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قالب و نگاشت — نسخهٔ فعال؛ هیچ معینی جا نماند
2. تهیهٔ صورت‌ها — ویزارد سه‌مرحله‌ای
3. بررسی و Drill-down — تا سند حسابداری
4. کنترل و یادداشت‌ها — ارجاع کنترل، متن یادداشت
5. تأیید مرحله‌ای — بازبین ← مدیرکل ← معاون
6. بستن دوره و انتشار — قفل دوره، PDF و XBRL
هر اجرا یک «عکس ثابت» از اعداد است؛ تغییر بعدی قالب یا اسناد، اجرای قبلی را عوض نمی‌کند — برای عدد تازه، اجرای جدید بگیرید.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شاخص‌ها: چهار نسبت اول از آخرین اجرای سال، در کنار مقدار سال قبل.
2. وضعیت بستن سال: کاشی هر زیرواحد با وضعیت دوره (باز، بستهٔ موقت، قفل)، تعداد خطا و درصد پیشرفت.
3. کارهای من: تأییدهای منتظر شما، کنترل‌های ارجاع‌شده، یادداشت‌های در بازبینی و درخواست‌های بازگشایی؛ با کلیک به همان صفحه می‌روید.
4. میانبرها: «تهیهٔ صورت‌ها»، «مشاهدهٔ صورت‌ها»، «تحلیل» و «یادداشت‌ها» در بالای صفحه.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سه بُعد: هر دسترسی می‌گوید چه کسی، روی کدام واحد (و زیرمجموعه‌ها)، در کدام مجموعهٔ صورت، چه کاری انجام دهد.
2. عملیات: مشاهده، تهیه، تغییر قالب، فعال‌سازی، تأیید/برگشت، انتشار، بستن دوره و مدیریت دسترسی.
3. تفکیک وظایف: تهیه‌کننده و تأییدکننده، و ویرایشگر قالب و فعال‌کننده را به افراد جدا بدهید.
4. دسترسی جدید: دکمهٔ «دسترسی جدید»: کد کاربری، واحد، مجموعه و تیک عملیات‌ها؛ فقط دارندهٔ «مدیریت دسترسی» این صفحه را تغییر می‌دهد.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مجموعه‌ها: زبانه‌ها: طرح بیمه‌ای (استاندارد ۲۷)، واحد تجاری (استاندارد ۱)، بخش عمومی، مدیریتی.
2. قالب‌های پیش‌فرض: دکمهٔ «قالب‌های پیش‌فرض» صورت‌ها و یادداشت‌های نمونه را می‌سازد (فقط ستاد).
3. نسخه‌ها: هر قالب نسخه‌های فعال، پیش‌نویس و بازنشسته دارد؛ فقط پیش‌نویس ویرایش می‌شود.
4. مالکیت: «مشترک» برای همهٔ واحدها؛ قالب اختصاصی یک واحد، قالب مشترک هم‌کد را برای آن واحد جایگزین می‌کند.
5. قالب جدید: نوع صورت را انتخاب کنید؛ برای «یادداشت» صورت و ردیف والد را هم تعیین کنید.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ستون‌ها: کد، عنوان، نوع، حساب/فرمول، ماهیت و مقدار، یادداشت.
2. انواع ردیف: عنوان، حساب، فرمول، مقدار دستی، متن و خالی.
3. ترتیب: پیکان‌های بالا/پایین، یا نمای «درخت»: کشیدن و رها کردن.
4. بررسی قالب: خطاها (مانع فعال‌سازی) و هشدارها را نشان می‌دهد.
5. فعال‌سازی: سال شروع اعتبار را بدهید؛ نسخهٔ فعال قبلی با همان سال بازنشسته 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باز کردن: در صفحهٔ نسخهٔ پیش‌نویس، کلید «درخت» کنار «جدول» را بزنید.
2. جابه‌جایی: ردیف را با دستگیرهٔ کنارش بکشید و رها کنید؛ نیمهٔ بالا/پایین ⇐ پیش یا پس از ردیف، وسط «عنوان» ⇐ زیرمجموعهٔ آن.
3. زیرمجموعه: ردیف‌های زیر یک عنوان با هم جابه‌جا می‌شوند و تورفتگی خودکار تنظیم می‌شود.
4. جمع‌ها: فرمول‌های بازه‌ای مثل SUM(A01:A06) بر اساس ترتیب جدید محاسبه می‌شوند؛ بعد از جابه‌جایی «بررسی قالب» را بزنید.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انتخاب‌گر: 1301 معین دقیق · 13* پیشوند · 1301..1309 بازه · !1305 استثنا · [D]/[C] فقط مانده بدهکار/بستانکار.
2. نوع مقدار: مانده پایان، مانده ابتدا، گردش خالص، گردش بدهکار یا بستانکار.
3. فرمول: مثل SUM(A01:A08)، A99+L99، ROUND، IF، PRIOR و STMT(صورت دیگر، ردیف).
4. قالب‌بندی: تورفتگی، پررنگ، خط بالا/دو خط زیر، ستون داخلی، پنهان اگر صفر، صفحهٔ جدید.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کاربرد: پیش از فعال‌سازی، قالب پیش‌نویس را روی اسناد واقعی امتحان کنید؛ چیزی ذخیره نمی‌شود.
2. پارامترها: سال، پایان دوره، حداقل وضعیت سند، با زیرمجموعه‌ها و واحد مبلغ.
3. واترمارک: برچسب «آزمایشی» یعنی این عدد رسمی نیست.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نمای حساب‌محور: هر معین کدینگ به کدام ردیف و صورت رفته است.
2. بدون نگاشت: معین‌هایی که در هیچ صورت اصلی نیستند (قرمز) — اعدادشان از صورت جا می‌ماند.
3. دوبار شمرده: معینی که در یک صورت در دو ردیف آمده (نارنجی).
4. اصلاح: کلیک روی ردیف ⇐ قالب؛ یا «ورود از Excel» و «اعمال پیشنهادها» روی پیش‌نویس.
5. پیشنهاد: برای معین بی‌نگاشت، ردیفی که معین‌های هم‌گروهش در آن هستند پیشنهاد می‌شود؛ بعد از اعمال، قالب را فعال کنید.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شکل قاعده: عبارت چپ = عبارت راست با اختلاف مجاز؛ مثل «نقد صورت جریان = موجودی نقد خالص دارایی‌ها».
2. شدت: اطلاع، هشدار، یا مسدودکننده (مانع ارسال برای بازبینی).
3. کنترل‌های ثابت: تراز آزمایشی، پوشش حساب، مانده معکوس، جمع یادداشت، اسناد خارج از سال، حذف فی‌مابین (V-07) و قفل دوره (V-11) خودکار اجرا می‌شوند.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هر ردیف یک اجرا: شماره، مجموعه، دوره، دامنه (ترکیبی/جداگانه)، وضعیت و تاریخ تهیه.
2. وضعیت‌ها: پیش‌نویس، در بازبینی، تأییدشده، منتشرشده، جایگزین‌شده.
3. تهیهٔ صورت‌ها: دکمهٔ بالای صفحه ویزارد را باز می‌کند.
4. حذف: فقط پیش‌نویس و جایگزین‌شده حذف می‌شوند.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مجموعهٔ صورت، سال مالی و «پایان دوره» (از ابتدای سال تا پایان آن ماه).
2. صورت ترکیبی (همهٔ زیرمجموعه‌ها) یا جداگانه؛ در ترکیبی «گروه واحدها» (بیمه‌ای، درمانی یا ستادی) هم قابل انتخاب است؛ حداقل وضعیت سند (پیش‌فرض تأیید دائم).
3. ستون سال قبل، «تجدید ارائه‌شده»، تلفیق با شرکت‌های تابعه، اجرا در پس‌زمینه و شمارهٔ اولین یادداشت ⇐ «تهیهٔ صورت‌ها»؛ «ذخیره به‌عنوان پیش‌فرض» تنظیمات را نگه می‌دارد.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قالب رسمی: عنوان سه‌سطری، ستون یادداشت، سال جاری و قبل، خط جمع و پرانتز برای منفی.
2. ابزارها: واحد مبلغ، تغییرات، تحلیل عمودی، فشرده و جستجو؛ خروجی Excel، Word یادداشت‌ها، XBRL و «بستهٔ رسمی / PDF».
3. زبانه‌ها: هر صورت، یادداشت‌ها، کنترل‌ها و «کاربرگ ترکیب / تلفیق».
4. اثر انگشت: کد Hash محتوا برای اطمینان از تغییرنکردن اعداد.
5. شمارهٔ یادداشت: کلیک روی شماره همان یادداشت را باز 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یادداشت: ریز ردیف صورت؛ مثلاً یادداشت ۵ «موجودی نقد» با صندوق، بانک و تنخواه.
2. شماره‌گذاری: خودکار به ترتیب ارائه؛ عنوان‌های داخل یادداشت ۵-۱، ۵-۲ می‌شوند.
3. کنترل V-08: برچسب سبز «جمع یادداشت = ردیف صورت»؛ قرمز یعنی مغایرت و مانع ارسال.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روی هر مبلغ ردیف «حساب» کلیک کنید (یا Enter)؛ پنل کناری سهم هر معین را نشان می‌دهد.
2. «به تفکیک واحد» سهم هر اداره کل را می‌دهد؛ با مسیر بالای پنل برگردید.
3. روی «اسناد …» بزنید: ریز اسناد با جمع بدهکار/بستانکار؛ آیکون کنار هر ردیف سند را باز می‌کند. هر سطح Excel دارد.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کنترل‌ها: هر کنترل با شدت، نتیجه و اختلاف؛ مسدودکنندهٔ ناموفق جلوی «ارسال برای بازبینی» را می‌گیرد.
2. مقادیر دستی: ردیف‌های «مقدار دستی» را با دلیل اجباری وارد کنید؛ اجرای تازه ساخته می‌شود.
3. گردش: پیش‌نویس ⇐ بازبینی ⇐ تأیید (یک یا چند مرحله) ⇐ انتشار؛ برگشت با دلیل.
4. تفکیک وظایف: تهیه‌کننده تأیید و منتشر نمی‌کند؛ انتشار، نسخهٔ منتشرشدهٔ قبلی همان دوره را «جایگزین‌شده» می‌کند.
5. کهنگی و مقایسه: نوار زرد یعنی اسناد بعد از اجرا عوض شده‌اند؛ «مقایسه با اجرای دیگر» تفاوت ردیف‌ها را می‌دهد.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مراحل تأیید: برای هر مجموعه، مراحل (بازبین، مدیرکل، معاون…) را با کد کاربری تأییدکنندگان تعریف کنید.
2. تأیید مرحله‌به‌مرحله: دکمهٔ «تأیید» نام مرحلهٔ جاری را دارد؛ یک نفر دو مرحلهٔ یک اجرا را تأیید نمی‌کند.
3. بستن دوره: باز ⇐ بستهٔ موقت ⇐ قفل؛ قفل هر واحد، زیرواحدهایش را هم قفل‌شده حساب می‌کند.
4. بازگشایی: بستهٔ موقت مستقیم باز می‌شود؛ دورهٔ قفل با «درخواست بازگشایی» و تأیید ستاد.
5. تاریخچه: هر اقدام روی دوره با کاربر، زمان و دلیل در «تاریخچه» ثبت می‌شود.
نکته: انتشار فقط وقتی ممکن است که دورهٔ همهٔ واحدهای دامنه «قفل» شده باشد (کنترل V-11). این قفل ثبت سند را نمی‌بندد.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نوع یادداشت: مستقل (تاریخچه، مبنا، رویه‌ها) یا همراه یک یادداشت عددی که زیر جدول آن می‌آید.
2. ویرایشگر: پررنگ، فهرست، عنوان و «درج متغیر»؛ پیش‌نمایش زنده با اعداد یک اجرای همان سال.
3. بازبینی: ارسال ⇐ تأیید (نه آخرین ویرایشگر) ⇐ برگشت با دلیل؛ نوار پیشرفت بالای فهرست.
4. نسخه و انتقال: هر ذخیره یک نسخه است و بازگرداندنی؛ «انتقال از سال قبل» یادداشت‌ها را کپی می‌کند.
5. Word و انتشار: دکمهٔ «Word یادداشت‌ها» در صفحهٔ صورت؛ با انتشار، متن یادداشت‌ها ثابت می‌شود.
نکته: متغیرها به ترتیب: مبلغ جاری، سال قبل و درصد تغییر؛ مقدار از اعداد همان اجرا گرفته می‌شود.
{{A01}}   {{A01.prior}}   {{A01.change%}}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تحلیل عمودی: درصد هر ردیف از یک ردیف پایه (مثل جمع دارایی‌ها)؛ «فشرده» ردیف‌ها را نزدیک‌تر می‌کند.
2. میانبرها: ↑↓ حرکت بین ردیف‌ها، Enter ریز مبلغ، Esc بستن پنل، Ctrl+K جستجوی ردیف.
3. نظر روی ردیف: آیکون گفت‌وگو کنار عنوان ردیف؛ بازبین و تهیه‌کننده روی همان ردیف گفت‌وگو می‌کنند.
4. ارجاع کنترل: در زبانهٔ «کنترل‌ها» کنترل ناموفق را با مهلت به مسئول بدهید؛ بعد «رفع شد».
5. تجدید ارائه: در ویزارد، ستون سال قبل برچسب «تجدید ارائه‌شده» می‌گیرد؛ تنظیمات قابل ذخیره است.
نکته: دکمهٔ «بستهٔ رسمی / PDF» صفحهٔ چاپ رسمی را باز می‌کند؛ در پنجرهٔ چاپ «ذخیره به‌صورت PDF» را انتخاب کنید.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باز کردن: آیکون گفت‌وگو کنار عنوان ردیف را بزنید؛ عدد کنار آیکون تعداد نظرهاست.
2. گفت‌وگو: هر نظر با کد کاربر و زمان ثبت می‌شود؛ نظر خودتان را می‌توانید حذف کنید.
3. ثبت نظر: متن را در «نظر تازه» بنویسید و «ثبت نظر» را بزنید.
4. نظرهای کل اجرا: در زبانهٔ «کنترل‌ها»، دکمهٔ «نظرهای کل اجرا» همهٔ گفت‌وگوها را یک‌جا نشان می‌دهد.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تعریف نسبت‌ها: «نسبت‌های پیش‌فرض» ده نسبت رایج می‌سازد؛ هر نسبت یک صورت و یک مخرج دارد.
2. تحلیل: نسبت‌های اجرا در کنار سال قبل، و مقایسه و سهم اقلام اصلی هر صورت.
3. روند: نسبت‌های پنج سال اخیر از آخرین اجرای منتشرشدهٔ هر سال.
4. داشبورد: چهار نسبت اول به‌عنوان شاخص، و کاشی وضعیت بستن هر زیرواحد با درصد پیشرفت.
5. کارهای من: تأیید و انتشار، کنترل‌های ارجاع‌شده، بازبینی یادداشت و درخواست بازگشایی.
نکته: صورت و مخرج نسبت با همان زبان فرمول قالب نوشته می‌شود؛ مثلاً جمع مصارف:
STMT(PENSION.CHANGES_IN_NET_ASSETS, C99)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انتخاب اجرا: اجرای ترکیبی و واحد مبلغ؛ همین بخش در زبانهٔ «کاربرگ» اجرا هم هست.
2. کاشی‌ها: پنج وضعیت تطبیق با تعداد جفت‌ها؛ کلیک روی هر کاشی فهرست را فیلتر می‌کند.
3. دامنه: زبانه‌های «همه»، «واحد اصلی ↔ زیرواحدها» و «بین زیرواحدها».
4. بررسی: ردیف‌های سند دو سو با شناسه و منبع تشخیص؛ آیکون کنار ردیف سند را باز می‌کند.
5. اصلاح: شناسهٔ ردیف یا سند اصلاحی را در واحد مربوط ثبت و صورت را دوباره تهیه کنید.
نکته: طرف مقابل هر ردیف از ۴ رقم اول شناسهٔ ردیف (حساب شناسه‌دار) یا از اعلامیهٔ همان سند شناخته می‌شود؛ اگر هیچ‌کدام نباشد «طرف مقابل نامعلوم»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کاربرگ: در صورت ترکیبی، ستون هر واحد، ستون حذفیات و جمع صورت کنار هم دیده می‌شود؛ دکمهٔ Excel کاربرگ را خروجی می‌دهد.
2. قاعدهٔ حذف: کد، عنوان، حساب‌های «سوی اول» و «سوی دوم» (مثل حساب جاری ستاد ↔ ادارات کل) و آستانهٔ اختلاف.
3. نتیجه: جدول «حذف فی‌مابین» بالای کاربرگ: تطبیق کامل (سبز) یا عدم تطبیق با مبلغ اختلاف.
4. اصلاح: اختلاف را با سند اصلاحی در واحد مربوط رفع و صورت را دوباره تهیه کنید.
نکته: اگر جمع دو سوی یک قاعده از آستانه بیشتر شود، کنترل V-07 مسدودکننده است و اجرا قابل ارسال نیست.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شرکت تابعه: کد، نام، ارز و درصد مالکیت؛ تراز آزمایشی هر دوره را از Excel وارد کنید.
2. تسعیر و NCI: مبالغ با نرخ‌های تسعیر به ریال برمی‌گردد؛ سهم غیرکنترلی و اختلاف تسعیر در حساب‌های جدا می‌نشیند.
3. جریان نقد: «حساب‌های نقد (انتخاب‌گر)» را تعیین کنید؛ ردیف‌های صورت جریان نقد از طرف مقابل اسناد نقدی پر می‌شوند.
4. تعدیلات سنواتی: «حساب تعدیلات سنواتی» برای ستون سال قبلِ تجدید ارائه‌شده به کار می‌رود.
5. XBRL: آدرس طبقه‌بندی، فضای نام و طرح شناسهٔ واحد را تنظیم و در «نگاشت XBRL» ردیف‌ها را به عناصر وصل کنید؛ خروجی از دکمهٔ XBRL صفحهٔ اجرا.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پیش‌فاکتور — قیمت، تخفیف و اعتبار
2. سفارش فروش — تعهد به مشتری
3. حواله تحویل — خروج کالا و بهای تمام‌شده
4. فاکتور فروش — دریافتنی، درآمد و مالیات
5. برگشت از فروش — تنها راه اصلاح فاکتور قطعی
هر سند: پیش‌نویس ← (در انتظار تأیید) ← تأییدشده ← قطعی‌شده. فقط حواله، فاکتور و برگشت قطعی می‌شوند و سند حسابداری موقت می‌سازند. خدمات بدون حواله مستقیم فاکتور می‌شوند و «فاکتور مستقیم» هم بدون پیش‌فاکتور و سفارش ممکن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قواعد کنترلی: آستانهٔ تخفیفی که بالاتر از آن تأیید لازم است، و سیاست سقف اعتبار: ارجاع به مدیر فروش، جلوگیری از ثبت یا فقط هشدار.
2. گزینه‌ها: تفکیک وظایف (تأییدکننده ≠ ایجادکننده)، فاکتور کالا پیش از تحویل (در بدهی قراردادی) و اجازهٔ موجودی منفی.
3. حساب‌ها: برای ۹ نقش (دریافتنی، فروش، خدمات، تخفیف، برگشت، مالیات، بدهی قراردادی، بهای تمام‌شده، موجودی) معین انتخاب کنید؛ دریافتنی الزامی است.
4. نرخ مالیات: نرخ ارزش افزوده با «از تاریخ» — سراسری؛ نرخ مؤثر در تاریخ هر سند به کار می‌رود.
5. نقش‌ها: کد ملی کاربر و نقش (کارشناس، مدیر فروش، حسابدار) را اضافه کنید.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کد و نوع: کد، نام، گروه و نوع (کالا یا خدمت) با واحد سنجش.
2. قیمت: قیمت فروش پیش‌فرض؛ برای کالا «بهای استاندارد» مبنای بهای تمام‌شده است.
3. مودیان: شناسهٔ ۱۳ رقمی کالا/خدمت و تیک «معاف از مالیات بر ارزش افزوده».
4. غیرفعال: کالای غیرفعال در سندهای تازه انتخاب نمی‌شود.
نکته: موجودی فقط با حواله، فاکتور مستقیم و برگشت از فروش تغییر می‌کند؛ «موجودی اول دوره» فقط هنگام تعریف کالا وارد 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تفصیلی: تفصیلی شخص یا شرکت را از سطح تفصیلی حساب دریافتنی انتخاب کنید.
2. هویت: حقیقی/حقوقی، شناسهٔ ملی یا کد ملی، کد اقتصادی و کد پستی.
3. مودیان: اطلاعات کامل ⇐ صورتحساب نوع اول؛ ناقص (قرمز/زرد) ⇐ نوع دوم.
4. اعتبار: سقف اعتبار (صفر = بدون سقف) و مهلت پرداخت پیش‌فرض.
5. مسدود: برای مشتری مسدود سند تازه صادر نمی‌شود.
نکته: مشتری تفصیلی جدید نمی‌سازد: یکی از تفصیلی‌های موجودِ حساب دریافتنی انتخاب و پروفایل فروش به آن اضافه 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نقش شما: زیر عنوان صفحه نقش‌های فروش شما نمایش داده می‌شود.
2. کارتابل‌ها: «در انتظار تأیید من» برای مدیر فروش، «آمادهٔ قطعی‌سازی» برای حسابدار و «پیش‌نویس‌ها» برای کارشناس.
3. اقدام سریع: دکمه‌های «پیش‌فاکتور جدید» و «فاکتور مستقیم».
4. هشدار تنظیمات: اگر حساب دریافتنی تعریف نشده باشد، نوار زرد شما را به تنظیمات فروش می‌برد.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زبانه‌ها: همهٔ اسناد، یا فقط پیش‌فاکتور، سفارش، حواله، فاکتور و برگشت.
2. جستجو و فیلتر: شمارهٔ سند، نام مشتری یا شمارهٔ سفارش مشتری؛ و فیلتر وضعیت.
3. صدور: «پیش‌فاکتور جدید»، «سفارش جدید» یا «فاکتور مستقیم».
4. بررسی: دکمهٔ «بررسی» جزئیات، زنجیره و اقدام‌های هر سند را باز 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سربرگ: نوع سند، تاریخ، مهلت پرداخت، مشتری، نوع فروش، شمارهٔ سفارش مشتری و اعتبار پیش‌فاکتور.
2. وضعیت مشتری: نوار خط‌چین: مانده حساب، سفارش باز، سقف اعتبار و نوع صورتحساب مودیان.
3. ردیف‌ها: کالا/خدمت، تعداد، فی و درصد تخفیف؛ موجودی کالا زیر نامش دیده می‌شود.
4. جمع‌ها: ستون کنار: ناخالص، تخفیف کلی، مشمول، مالیات و قابل پرداخت — محاسبهٔ سرور.
5. کنترل‌ها و ثبت: هشدار تخفیف یا اعتبار ⇐ «ثبت و ارسال برای تأیید»؛ یا «ذخیرهٔ پیش‌نویس».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مراحل: نوار بالا مرحلهٔ سند را نشان می‌دهد: پیش‌نویس، در انتظار تأیید، تأییدشده.
2. دلیل ارجاع: کادر زرد علت ارجاع را می‌گوید، مثل تخفیف بیش از آستانه.
3. تأیید: مدیر فروش «تأیید» می‌زند؛ با تفکیک وظایف، ایجادکننده نمی‌تواند سند خودش را تأیید کند.
4. رد: «رد و بازگشت به پیش‌نویس» با دلیل اختیاری؛ کارشناس اصلاح و دوباره ثبت می‌کند.
5. زنجیره و تاریخچه: ستون کنار: کنترل‌ها، زنجیرهٔ اسناد مبدأ و مقصد، و تاریخچهٔ اقدام‌ها.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ترتیب: پیش‌فاکتور ← سفارش ← حواله (کالا) ← فاکتور ← برگشت.
2. دکمهٔ صدور: در سند تأییدشده «صدور …» را بزنید؛ دکمهٔ غیرفعال دلیلش را زیر نوار می‌گوید.
3. خدمات: سفارش خدمت مستقیم به فاکتور تبدیل می‌شود؛ کالا اول حواله می‌خواهد مگر «فاکتور پیش از تحویل» روشن باشد.
4. تحویل جزئی: مقدار را کم کنید تا حواله یا فاکتور جزئی صادر شود؛ باقی‌مانده برای سند بعدی می‌ماند.
نکته: سند تبدیلی مشتری، کالا و قیمت را از مبدأ می‌گیرد و فقط مقدار کم می‌شود؛ سرور مقدار بیش از باقی‌ماندهٔ مبدأ را رد 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پیش‌نمایش: پیش از قطعی‌سازی، ردیف‌های سند حسابداری با حساب، تفصیلی، شرح و برچسب «سند تراز است» دیده می‌شود.
2. کنترل‌ها: تراز سند، باز بودن دوره و سال مالی، و کافی بودن موجودی.
3. قطعی‌سازی: حسابدار فروش «قطعی‌سازی و ثبت حسابداری» را می‌زند و تأیید می‌کند.
4. نتیجه: شمارهٔ نهایی، سند حسابداری موقت و تغییر موجودی — همه در یک تراکنش.
نکته: حواله: بهای تمام‌شده / موجودی کالا. فاکتور: دریافتنی (با تفصیلی مشتری) و تخفیف / فروش، خدمات و مالیات. برگشت: عکس فاکتور و بازگشت کالا به موجودی.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قفل: سند قطعی ویرایش یا ابطال نمی‌شود؛ پیام قفل بالای صفحه همین را می‌گوید.
2. سند حسابداری: «مشاهدهٔ سند حسابداری» سند موقت صادرشده را باز می‌کند.
3. برگشت: برای اصلاح، «صدور برگشت از فروش» را بزنید و ردیف‌ها و مقدار برگشتی را تعیین کنید.
4. ابطال: دکمهٔ «ابطال» فقط در سند قطعی‌نشده هست؛ سند باطل دیگر استفاده نمی‌شود.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6F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A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image" Target="../media/image-31-2.jp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image" Target="../media/image-34-2.jp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image" Target="../media/image-36-2.jpg"/><Relationship Id="rId3" Type="http://schemas.openxmlformats.org/officeDocument/2006/relationships/slideLayout" Target="../slideLayouts/slideLayout2.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image" Target="../media/image-51-2.jpg"/><Relationship Id="rId3" Type="http://schemas.openxmlformats.org/officeDocument/2006/relationships/image" Target="../media/image-51-3.jpg"/><Relationship Id="rId4" Type="http://schemas.openxmlformats.org/officeDocument/2006/relationships/slideLayout" Target="../slideLayouts/slideLayout2.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image" Target="../media/image-54-2.jpg"/><Relationship Id="rId3" Type="http://schemas.openxmlformats.org/officeDocument/2006/relationships/image" Target="../media/image-54-3.jpg"/><Relationship Id="rId4" Type="http://schemas.openxmlformats.org/officeDocument/2006/relationships/slideLayout" Target="../slideLayouts/slideLayout2.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image" Target="../media/image-56-2.jpg"/><Relationship Id="rId3" Type="http://schemas.openxmlformats.org/officeDocument/2006/relationships/slideLayout" Target="../slideLayouts/slideLayout2.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image" Target="../media/image-57-2.jpg"/><Relationship Id="rId3" Type="http://schemas.openxmlformats.org/officeDocument/2006/relationships/slideLayout" Target="../slideLayouts/slideLayout2.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image" Target="../media/image-58-2.jpg"/><Relationship Id="rId3" Type="http://schemas.openxmlformats.org/officeDocument/2006/relationships/slideLayout" Target="../slideLayouts/slideLayout2.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image" Target="../media/image-60-2.jpg"/><Relationship Id="rId3" Type="http://schemas.openxmlformats.org/officeDocument/2006/relationships/slideLayout" Target="../slideLayouts/slideLayout2.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image" Target="../media/image-61-2.jpg"/><Relationship Id="rId3" Type="http://schemas.openxmlformats.org/officeDocument/2006/relationships/slideLayout" Target="../slideLayouts/slideLayout2.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image" Target="../media/image-62-2.jpg"/><Relationship Id="rId3" Type="http://schemas.openxmlformats.org/officeDocument/2006/relationships/slideLayout" Target="../slideLayouts/slideLayout2.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image" Target="../media/image-63-2.jpg"/><Relationship Id="rId3" Type="http://schemas.openxmlformats.org/officeDocument/2006/relationships/slideLayout" Target="../slideLayouts/slideLayout2.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slideLayout" Target="../slideLayouts/slideLayout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image" Target="../media/image-68-2.jpg"/><Relationship Id="rId3" Type="http://schemas.openxmlformats.org/officeDocument/2006/relationships/slideLayout" Target="../slideLayouts/slideLayout2.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image" Target="../media/image-69-2.jpg"/><Relationship Id="rId3" Type="http://schemas.openxmlformats.org/officeDocument/2006/relationships/slideLayout" Target="../slideLayouts/slideLayout2.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slideLayout" Target="../slideLayouts/slideLayout2.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image" Target="../media/image-74-2.jpg"/><Relationship Id="rId3" Type="http://schemas.openxmlformats.org/officeDocument/2006/relationships/slideLayout" Target="../slideLayouts/slideLayout2.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image" Target="../media/image-75-2.jpg"/><Relationship Id="rId3" Type="http://schemas.openxmlformats.org/officeDocument/2006/relationships/slideLayout" Target="../slideLayouts/slideLayout2.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jpg"/><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2011680" y="3291840"/>
            <a:ext cx="5669280" cy="5669280"/>
          </a:xfrm>
          <a:prstGeom prst="ellipse">
            <a:avLst/>
          </a:prstGeom>
          <a:solidFill>
            <a:srgbClr val="25385F"/>
          </a:solidFill>
          <a:ln w="12700">
            <a:solidFill>
              <a:srgbClr val="25385F"/>
            </a:solidFill>
            <a:prstDash val="solid"/>
          </a:ln>
        </p:spPr>
      </p:sp>
      <p:sp>
        <p:nvSpPr>
          <p:cNvPr id="3" name="Shape 1"/>
          <p:cNvSpPr/>
          <p:nvPr/>
        </p:nvSpPr>
        <p:spPr>
          <a:xfrm>
            <a:off x="822960" y="548640"/>
            <a:ext cx="1280160" cy="1280160"/>
          </a:xfrm>
          <a:prstGeom prst="ellipse">
            <a:avLst/>
          </a:prstGeom>
          <a:solidFill>
            <a:srgbClr val="C9A227"/>
          </a:solidFill>
          <a:ln w="12700">
            <a:solidFill>
              <a:srgbClr val="C9A227"/>
            </a:solidFill>
            <a:prstDash val="solid"/>
          </a:ln>
        </p:spPr>
      </p:sp>
      <p:sp>
        <p:nvSpPr>
          <p:cNvPr id="4" name="Text 2"/>
          <p:cNvSpPr txBox="1"/>
          <p:nvPr/>
        </p:nvSpPr>
        <p:spPr>
          <a:xfrm>
            <a:off x="2743200" y="1234440"/>
            <a:ext cx="9052560" cy="548640"/>
          </a:xfrm>
          <a:prstGeom prst="rect">
            <a:avLst/>
          </a:prstGeom>
          <a:noFill/>
          <a:ln/>
        </p:spPr>
        <p:txBody>
          <a:bodyPr wrap="square" lIns="0" tIns="0" rIns="0" bIns="0" rtlCol="0" anchor="ctr"/>
          <a:lstStyle/>
          <a:p>
            <a:pPr rtl="1" algn="r" indent="0" marL="0">
              <a:buNone/>
            </a:pPr>
            <a:r>
              <a:rPr lang="en-US" sz="2200" b="1" dirty="0">
                <a:solidFill>
                  <a:srgbClr val="C9A227"/>
                </a:solidFill>
                <a:latin typeface="Tahoma" pitchFamily="34" charset="0"/>
                <a:ea typeface="Tahoma" pitchFamily="34" charset="-122"/>
                <a:cs typeface="Tahoma" pitchFamily="34" charset="-120"/>
              </a:rPr>
              <a:t>راهنمای کاربری</a:t>
            </a:r>
            <a:endParaRPr lang="en-US" sz="2200" dirty="0"/>
          </a:p>
        </p:txBody>
      </p:sp>
      <p:sp>
        <p:nvSpPr>
          <p:cNvPr id="5" name="Text 3"/>
          <p:cNvSpPr txBox="1"/>
          <p:nvPr/>
        </p:nvSpPr>
        <p:spPr>
          <a:xfrm>
            <a:off x="2743200" y="1783080"/>
            <a:ext cx="9052560" cy="914400"/>
          </a:xfrm>
          <a:prstGeom prst="rect">
            <a:avLst/>
          </a:prstGeom>
          <a:noFill/>
          <a:ln/>
        </p:spPr>
        <p:txBody>
          <a:bodyPr wrap="square" lIns="0" tIns="0" rIns="0" bIns="0" rtlCol="0" anchor="ctr"/>
          <a:lstStyle/>
          <a:p>
            <a:pPr rtl="1" algn="r" indent="0" marL="0">
              <a:buNone/>
            </a:pPr>
            <a:r>
              <a:rPr lang="en-US" sz="4400" b="1" dirty="0">
                <a:solidFill>
                  <a:srgbClr val="FFFFFF"/>
                </a:solidFill>
                <a:latin typeface="Tahoma" pitchFamily="34" charset="0"/>
                <a:ea typeface="Tahoma" pitchFamily="34" charset="-122"/>
                <a:cs typeface="Tahoma" pitchFamily="34" charset="-120"/>
              </a:rPr>
              <a:t>سامانهٔ جامع حسابداری</a:t>
            </a:r>
            <a:endParaRPr lang="en-US" sz="4400" dirty="0"/>
          </a:p>
        </p:txBody>
      </p:sp>
      <p:sp>
        <p:nvSpPr>
          <p:cNvPr id="6" name="Text 4"/>
          <p:cNvSpPr txBox="1"/>
          <p:nvPr/>
        </p:nvSpPr>
        <p:spPr>
          <a:xfrm>
            <a:off x="2743200" y="2743200"/>
            <a:ext cx="9052560" cy="502920"/>
          </a:xfrm>
          <a:prstGeom prst="rect">
            <a:avLst/>
          </a:prstGeom>
          <a:noFill/>
          <a:ln/>
        </p:spPr>
        <p:txBody>
          <a:bodyPr wrap="square" lIns="0" tIns="0" rIns="0" bIns="0" rtlCol="0" anchor="ctr"/>
          <a:lstStyle/>
          <a:p>
            <a:pPr rtl="1" algn="r" indent="0" marL="0">
              <a:buNone/>
            </a:pPr>
            <a:r>
              <a:rPr lang="en-US" sz="2000" dirty="0">
                <a:solidFill>
                  <a:srgbClr val="C9D3E6"/>
                </a:solidFill>
                <a:latin typeface="Tahoma" pitchFamily="34" charset="0"/>
                <a:ea typeface="Tahoma" pitchFamily="34" charset="-122"/>
                <a:cs typeface="Tahoma" pitchFamily="34" charset="-120"/>
              </a:rPr>
              <a:t>آموزش گام‌به‌گام فرم‌ها و فرایندها، از صفر تا صد</a:t>
            </a:r>
            <a:endParaRPr lang="en-US" sz="2000" dirty="0"/>
          </a:p>
        </p:txBody>
      </p:sp>
      <p:sp>
        <p:nvSpPr>
          <p:cNvPr id="7" name="Shape 5"/>
          <p:cNvSpPr/>
          <p:nvPr/>
        </p:nvSpPr>
        <p:spPr>
          <a:xfrm>
            <a:off x="11384280" y="3657600"/>
            <a:ext cx="420624" cy="420624"/>
          </a:xfrm>
          <a:prstGeom prst="ellipse">
            <a:avLst/>
          </a:prstGeom>
          <a:solidFill>
            <a:srgbClr val="C9A227"/>
          </a:solidFill>
          <a:ln w="12700">
            <a:solidFill>
              <a:srgbClr val="C9A227"/>
            </a:solidFill>
            <a:prstDash val="solid"/>
          </a:ln>
        </p:spPr>
      </p:sp>
      <p:sp>
        <p:nvSpPr>
          <p:cNvPr id="8" name="Text 6"/>
          <p:cNvSpPr txBox="1"/>
          <p:nvPr/>
        </p:nvSpPr>
        <p:spPr>
          <a:xfrm>
            <a:off x="11384280" y="3657600"/>
            <a:ext cx="420624" cy="42062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7"/>
          <p:cNvSpPr txBox="1"/>
          <p:nvPr/>
        </p:nvSpPr>
        <p:spPr>
          <a:xfrm>
            <a:off x="5943600" y="3657600"/>
            <a:ext cx="5303520" cy="420624"/>
          </a:xfrm>
          <a:prstGeom prst="rect">
            <a:avLst/>
          </a:prstGeom>
          <a:noFill/>
          <a:ln/>
        </p:spPr>
        <p:txBody>
          <a:bodyPr wrap="square" lIns="0" tIns="0" rIns="0" bIns="0" rtlCol="0" anchor="ctr"/>
          <a:lstStyle/>
          <a:p>
            <a:pPr rtl="1" algn="r" indent="0" marL="0">
              <a:buNone/>
            </a:pPr>
            <a:r>
              <a:rPr lang="en-US" sz="1900" dirty="0">
                <a:solidFill>
                  <a:srgbClr val="FFFFFF"/>
                </a:solidFill>
                <a:latin typeface="Tahoma" pitchFamily="34" charset="0"/>
                <a:ea typeface="Tahoma" pitchFamily="34" charset="-122"/>
                <a:cs typeface="Tahoma" pitchFamily="34" charset="-120"/>
              </a:rPr>
              <a:t>تنخواه‌گردان</a:t>
            </a:r>
            <a:endParaRPr lang="en-US" sz="1900" dirty="0"/>
          </a:p>
        </p:txBody>
      </p:sp>
      <p:sp>
        <p:nvSpPr>
          <p:cNvPr id="10" name="Shape 8"/>
          <p:cNvSpPr/>
          <p:nvPr/>
        </p:nvSpPr>
        <p:spPr>
          <a:xfrm>
            <a:off x="11384280" y="4261104"/>
            <a:ext cx="420624" cy="420624"/>
          </a:xfrm>
          <a:prstGeom prst="ellipse">
            <a:avLst/>
          </a:prstGeom>
          <a:solidFill>
            <a:srgbClr val="C9A227"/>
          </a:solidFill>
          <a:ln w="12700">
            <a:solidFill>
              <a:srgbClr val="C9A227"/>
            </a:solidFill>
            <a:prstDash val="solid"/>
          </a:ln>
        </p:spPr>
      </p:sp>
      <p:sp>
        <p:nvSpPr>
          <p:cNvPr id="11" name="Text 9"/>
          <p:cNvSpPr txBox="1"/>
          <p:nvPr/>
        </p:nvSpPr>
        <p:spPr>
          <a:xfrm>
            <a:off x="11384280" y="4261104"/>
            <a:ext cx="420624" cy="42062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2" name="Text 10"/>
          <p:cNvSpPr txBox="1"/>
          <p:nvPr/>
        </p:nvSpPr>
        <p:spPr>
          <a:xfrm>
            <a:off x="5943600" y="4261104"/>
            <a:ext cx="5303520" cy="420624"/>
          </a:xfrm>
          <a:prstGeom prst="rect">
            <a:avLst/>
          </a:prstGeom>
          <a:noFill/>
          <a:ln/>
        </p:spPr>
        <p:txBody>
          <a:bodyPr wrap="square" lIns="0" tIns="0" rIns="0" bIns="0" rtlCol="0" anchor="ctr"/>
          <a:lstStyle/>
          <a:p>
            <a:pPr rtl="1" algn="r" indent="0" marL="0">
              <a:buNone/>
            </a:pPr>
            <a:r>
              <a:rPr lang="en-US" sz="1900" dirty="0">
                <a:solidFill>
                  <a:srgbClr val="FFFFFF"/>
                </a:solidFill>
                <a:latin typeface="Tahoma" pitchFamily="34" charset="0"/>
                <a:ea typeface="Tahoma" pitchFamily="34" charset="-122"/>
                <a:cs typeface="Tahoma" pitchFamily="34" charset="-120"/>
              </a:rPr>
              <a:t>دریافت و پرداخت (خزانه‌داری)</a:t>
            </a:r>
            <a:endParaRPr lang="en-US" sz="1900" dirty="0"/>
          </a:p>
        </p:txBody>
      </p:sp>
      <p:sp>
        <p:nvSpPr>
          <p:cNvPr id="13" name="Shape 11"/>
          <p:cNvSpPr/>
          <p:nvPr/>
        </p:nvSpPr>
        <p:spPr>
          <a:xfrm>
            <a:off x="11384280" y="4864608"/>
            <a:ext cx="420624" cy="420624"/>
          </a:xfrm>
          <a:prstGeom prst="ellipse">
            <a:avLst/>
          </a:prstGeom>
          <a:solidFill>
            <a:srgbClr val="C9A227"/>
          </a:solidFill>
          <a:ln w="12700">
            <a:solidFill>
              <a:srgbClr val="C9A227"/>
            </a:solidFill>
            <a:prstDash val="solid"/>
          </a:ln>
        </p:spPr>
      </p:sp>
      <p:sp>
        <p:nvSpPr>
          <p:cNvPr id="14" name="Text 12"/>
          <p:cNvSpPr txBox="1"/>
          <p:nvPr/>
        </p:nvSpPr>
        <p:spPr>
          <a:xfrm>
            <a:off x="11384280" y="4864608"/>
            <a:ext cx="420624" cy="42062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3"/>
          <p:cNvSpPr txBox="1"/>
          <p:nvPr/>
        </p:nvSpPr>
        <p:spPr>
          <a:xfrm>
            <a:off x="5943600" y="4864608"/>
            <a:ext cx="5303520" cy="420624"/>
          </a:xfrm>
          <a:prstGeom prst="rect">
            <a:avLst/>
          </a:prstGeom>
          <a:noFill/>
          <a:ln/>
        </p:spPr>
        <p:txBody>
          <a:bodyPr wrap="square" lIns="0" tIns="0" rIns="0" bIns="0" rtlCol="0" anchor="ctr"/>
          <a:lstStyle/>
          <a:p>
            <a:pPr rtl="1" algn="r" indent="0" marL="0">
              <a:buNone/>
            </a:pPr>
            <a:r>
              <a:rPr lang="en-US" sz="1900" dirty="0">
                <a:solidFill>
                  <a:srgbClr val="FFFFFF"/>
                </a:solidFill>
                <a:latin typeface="Tahoma" pitchFamily="34" charset="0"/>
                <a:ea typeface="Tahoma" pitchFamily="34" charset="-122"/>
                <a:cs typeface="Tahoma" pitchFamily="34" charset="-120"/>
              </a:rPr>
              <a:t>صورت‌های مالی</a:t>
            </a:r>
            <a:endParaRPr lang="en-US" sz="1900" dirty="0"/>
          </a:p>
        </p:txBody>
      </p:sp>
      <p:sp>
        <p:nvSpPr>
          <p:cNvPr id="16" name="Shape 14"/>
          <p:cNvSpPr/>
          <p:nvPr/>
        </p:nvSpPr>
        <p:spPr>
          <a:xfrm>
            <a:off x="11384280" y="5468112"/>
            <a:ext cx="420624" cy="420624"/>
          </a:xfrm>
          <a:prstGeom prst="ellipse">
            <a:avLst/>
          </a:prstGeom>
          <a:solidFill>
            <a:srgbClr val="C9A227"/>
          </a:solidFill>
          <a:ln w="12700">
            <a:solidFill>
              <a:srgbClr val="C9A227"/>
            </a:solidFill>
            <a:prstDash val="solid"/>
          </a:ln>
        </p:spPr>
      </p:sp>
      <p:sp>
        <p:nvSpPr>
          <p:cNvPr id="17" name="Text 15"/>
          <p:cNvSpPr txBox="1"/>
          <p:nvPr/>
        </p:nvSpPr>
        <p:spPr>
          <a:xfrm>
            <a:off x="11384280" y="5468112"/>
            <a:ext cx="420624" cy="42062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8" name="Text 16"/>
          <p:cNvSpPr txBox="1"/>
          <p:nvPr/>
        </p:nvSpPr>
        <p:spPr>
          <a:xfrm>
            <a:off x="5943600" y="5468112"/>
            <a:ext cx="5303520" cy="420624"/>
          </a:xfrm>
          <a:prstGeom prst="rect">
            <a:avLst/>
          </a:prstGeom>
          <a:noFill/>
          <a:ln/>
        </p:spPr>
        <p:txBody>
          <a:bodyPr wrap="square" lIns="0" tIns="0" rIns="0" bIns="0" rtlCol="0" anchor="ctr"/>
          <a:lstStyle/>
          <a:p>
            <a:pPr rtl="1" algn="r" indent="0" marL="0">
              <a:buNone/>
            </a:pPr>
            <a:r>
              <a:rPr lang="en-US" sz="1900" dirty="0">
                <a:solidFill>
                  <a:srgbClr val="FFFFFF"/>
                </a:solidFill>
                <a:latin typeface="Tahoma" pitchFamily="34" charset="0"/>
                <a:ea typeface="Tahoma" pitchFamily="34" charset="-122"/>
                <a:cs typeface="Tahoma" pitchFamily="34" charset="-120"/>
              </a:rPr>
              <a:t>فروش</a:t>
            </a:r>
            <a:endParaRPr lang="en-US" sz="1900" dirty="0"/>
          </a:p>
        </p:txBody>
      </p:sp>
      <p:sp>
        <p:nvSpPr>
          <p:cNvPr id="19" name="Text 17"/>
          <p:cNvSpPr txBox="1"/>
          <p:nvPr/>
        </p:nvSpPr>
        <p:spPr>
          <a:xfrm>
            <a:off x="2743200" y="5989320"/>
            <a:ext cx="9052560" cy="365760"/>
          </a:xfrm>
          <a:prstGeom prst="rect">
            <a:avLst/>
          </a:prstGeom>
          <a:noFill/>
          <a:ln/>
        </p:spPr>
        <p:txBody>
          <a:bodyPr wrap="square" lIns="0" tIns="0" rIns="0" bIns="0" rtlCol="0" anchor="ctr"/>
          <a:lstStyle/>
          <a:p>
            <a:pPr rtl="1" algn="r" indent="0" marL="0">
              <a:buNone/>
            </a:pPr>
            <a:r>
              <a:rPr lang="en-US" sz="1300" dirty="0">
                <a:solidFill>
                  <a:srgbClr val="A9B4C8"/>
                </a:solidFill>
                <a:latin typeface="Tahoma" pitchFamily="34" charset="0"/>
                <a:ea typeface="Tahoma" pitchFamily="34" charset="-122"/>
                <a:cs typeface="Tahoma" pitchFamily="34" charset="-120"/>
              </a:rPr>
              <a:t>مرحلهٔ اول  ·  مهر ۱۴۰۵</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این راهنما را چگونه بخوانید</a:t>
            </a:r>
            <a:endParaRPr lang="en-US" sz="2600" dirty="0"/>
          </a:p>
        </p:txBody>
      </p:sp>
      <p:sp>
        <p:nvSpPr>
          <p:cNvPr id="3" name="Shape 1"/>
          <p:cNvSpPr/>
          <p:nvPr/>
        </p:nvSpPr>
        <p:spPr>
          <a:xfrm>
            <a:off x="8119872" y="1371600"/>
            <a:ext cx="3657600" cy="2240280"/>
          </a:xfrm>
          <a:prstGeom prst="roundRect">
            <a:avLst>
              <a:gd name="adj" fmla="val 4082"/>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11183112" y="1600200"/>
            <a:ext cx="420624" cy="420624"/>
          </a:xfrm>
          <a:prstGeom prst="ellipse">
            <a:avLst/>
          </a:prstGeom>
          <a:solidFill>
            <a:srgbClr val="C9A227"/>
          </a:solidFill>
          <a:ln w="12700">
            <a:solidFill>
              <a:srgbClr val="C9A227"/>
            </a:solidFill>
            <a:prstDash val="solid"/>
          </a:ln>
        </p:spPr>
      </p:sp>
      <p:sp>
        <p:nvSpPr>
          <p:cNvPr id="5" name="Text 3"/>
          <p:cNvSpPr txBox="1"/>
          <p:nvPr/>
        </p:nvSpPr>
        <p:spPr>
          <a:xfrm>
            <a:off x="11183112" y="1600200"/>
            <a:ext cx="420624" cy="42062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6" name="Text 4"/>
          <p:cNvSpPr txBox="1"/>
          <p:nvPr/>
        </p:nvSpPr>
        <p:spPr>
          <a:xfrm>
            <a:off x="8348472" y="1600200"/>
            <a:ext cx="2743200" cy="420624"/>
          </a:xfrm>
          <a:prstGeom prst="rect">
            <a:avLst/>
          </a:prstGeom>
          <a:noFill/>
          <a:ln/>
        </p:spPr>
        <p:txBody>
          <a:bodyPr wrap="square" lIns="0" tIns="0" rIns="0" bIns="0" rtlCol="0" anchor="ctr"/>
          <a:lstStyle/>
          <a:p>
            <a:pPr rtl="1" algn="r" indent="0" marL="0">
              <a:buNone/>
            </a:pPr>
            <a:r>
              <a:rPr lang="en-US" sz="1700" b="1" dirty="0">
                <a:solidFill>
                  <a:srgbClr val="1B2A49"/>
                </a:solidFill>
                <a:latin typeface="Tahoma" pitchFamily="34" charset="0"/>
                <a:ea typeface="Tahoma" pitchFamily="34" charset="-122"/>
                <a:cs typeface="Tahoma" pitchFamily="34" charset="-120"/>
              </a:rPr>
              <a:t>هر اسلاید = یک فرم</a:t>
            </a:r>
            <a:endParaRPr lang="en-US" sz="1700" dirty="0"/>
          </a:p>
        </p:txBody>
      </p:sp>
      <p:sp>
        <p:nvSpPr>
          <p:cNvPr id="7" name="Text 5"/>
          <p:cNvSpPr txBox="1"/>
          <p:nvPr/>
        </p:nvSpPr>
        <p:spPr>
          <a:xfrm>
            <a:off x="8348472" y="2194560"/>
            <a:ext cx="3246120" cy="1280160"/>
          </a:xfrm>
          <a:prstGeom prst="rect">
            <a:avLst/>
          </a:prstGeom>
          <a:noFill/>
          <a:ln/>
        </p:spPr>
        <p:txBody>
          <a:bodyPr wrap="square" lIns="0" tIns="0" rIns="0" bIns="0" rtlCol="0" anchor="t"/>
          <a:lstStyle/>
          <a:p>
            <a:pPr rtl="1" algn="r" indent="0" marL="0">
              <a:buNone/>
            </a:pPr>
            <a:r>
              <a:rPr lang="en-US" sz="1300" dirty="0">
                <a:solidFill>
                  <a:srgbClr val="1F2937"/>
                </a:solidFill>
                <a:latin typeface="Tahoma" pitchFamily="34" charset="0"/>
                <a:ea typeface="Tahoma" pitchFamily="34" charset="-122"/>
                <a:cs typeface="Tahoma" pitchFamily="34" charset="-120"/>
              </a:rPr>
              <a:t>تصویر واقعی فرم در سمت چپ و گام‌های شماره‌دار کار با آن در سمت راست. مسیر منو در کادر طلایی زیر عنوان آمده است</a:t>
            </a:r>
            <a:endParaRPr lang="en-US" sz="1300" dirty="0"/>
          </a:p>
        </p:txBody>
      </p:sp>
      <p:sp>
        <p:nvSpPr>
          <p:cNvPr id="8" name="Shape 6"/>
          <p:cNvSpPr/>
          <p:nvPr/>
        </p:nvSpPr>
        <p:spPr>
          <a:xfrm>
            <a:off x="4279392" y="1371600"/>
            <a:ext cx="3657600" cy="2240280"/>
          </a:xfrm>
          <a:prstGeom prst="roundRect">
            <a:avLst>
              <a:gd name="adj" fmla="val 4082"/>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9" name="Shape 7"/>
          <p:cNvSpPr/>
          <p:nvPr/>
        </p:nvSpPr>
        <p:spPr>
          <a:xfrm>
            <a:off x="7342632" y="1600200"/>
            <a:ext cx="420624" cy="420624"/>
          </a:xfrm>
          <a:prstGeom prst="ellipse">
            <a:avLst/>
          </a:prstGeom>
          <a:solidFill>
            <a:srgbClr val="C9A227"/>
          </a:solidFill>
          <a:ln w="12700">
            <a:solidFill>
              <a:srgbClr val="C9A227"/>
            </a:solidFill>
            <a:prstDash val="solid"/>
          </a:ln>
        </p:spPr>
      </p:sp>
      <p:sp>
        <p:nvSpPr>
          <p:cNvPr id="10" name="Text 8"/>
          <p:cNvSpPr txBox="1"/>
          <p:nvPr/>
        </p:nvSpPr>
        <p:spPr>
          <a:xfrm>
            <a:off x="7342632" y="1600200"/>
            <a:ext cx="420624" cy="42062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9"/>
          <p:cNvSpPr txBox="1"/>
          <p:nvPr/>
        </p:nvSpPr>
        <p:spPr>
          <a:xfrm>
            <a:off x="4507992" y="1600200"/>
            <a:ext cx="2743200" cy="420624"/>
          </a:xfrm>
          <a:prstGeom prst="rect">
            <a:avLst/>
          </a:prstGeom>
          <a:noFill/>
          <a:ln/>
        </p:spPr>
        <p:txBody>
          <a:bodyPr wrap="square" lIns="0" tIns="0" rIns="0" bIns="0" rtlCol="0" anchor="ctr"/>
          <a:lstStyle/>
          <a:p>
            <a:pPr rtl="1" algn="r" indent="0" marL="0">
              <a:buNone/>
            </a:pPr>
            <a:r>
              <a:rPr lang="en-US" sz="1700" b="1" dirty="0">
                <a:solidFill>
                  <a:srgbClr val="1B2A49"/>
                </a:solidFill>
                <a:latin typeface="Tahoma" pitchFamily="34" charset="0"/>
                <a:ea typeface="Tahoma" pitchFamily="34" charset="-122"/>
                <a:cs typeface="Tahoma" pitchFamily="34" charset="-120"/>
              </a:rPr>
              <a:t>ترتیب = ترتیب کار</a:t>
            </a:r>
            <a:endParaRPr lang="en-US" sz="1700" dirty="0"/>
          </a:p>
        </p:txBody>
      </p:sp>
      <p:sp>
        <p:nvSpPr>
          <p:cNvPr id="12" name="Text 10"/>
          <p:cNvSpPr txBox="1"/>
          <p:nvPr/>
        </p:nvSpPr>
        <p:spPr>
          <a:xfrm>
            <a:off x="4507992" y="2194560"/>
            <a:ext cx="3246120" cy="1280160"/>
          </a:xfrm>
          <a:prstGeom prst="rect">
            <a:avLst/>
          </a:prstGeom>
          <a:noFill/>
          <a:ln/>
        </p:spPr>
        <p:txBody>
          <a:bodyPr wrap="square" lIns="0" tIns="0" rIns="0" bIns="0" rtlCol="0" anchor="t"/>
          <a:lstStyle/>
          <a:p>
            <a:pPr rtl="1" algn="r" indent="0" marL="0">
              <a:buNone/>
            </a:pPr>
            <a:r>
              <a:rPr lang="en-US" sz="1300" dirty="0">
                <a:solidFill>
                  <a:srgbClr val="1F2937"/>
                </a:solidFill>
                <a:latin typeface="Tahoma" pitchFamily="34" charset="0"/>
                <a:ea typeface="Tahoma" pitchFamily="34" charset="-122"/>
                <a:cs typeface="Tahoma" pitchFamily="34" charset="-120"/>
              </a:rPr>
              <a:t>اسلایدهای هر بخش به همان ترتیبی چیده شده‌اند که کار در سازمان انجام می‌شود؛ از پیش‌نیازها تا سند حسابداری</a:t>
            </a:r>
            <a:endParaRPr lang="en-US" sz="1300" dirty="0"/>
          </a:p>
        </p:txBody>
      </p:sp>
      <p:sp>
        <p:nvSpPr>
          <p:cNvPr id="13" name="Shape 11"/>
          <p:cNvSpPr/>
          <p:nvPr/>
        </p:nvSpPr>
        <p:spPr>
          <a:xfrm>
            <a:off x="438912" y="1371600"/>
            <a:ext cx="3657600" cy="2240280"/>
          </a:xfrm>
          <a:prstGeom prst="roundRect">
            <a:avLst>
              <a:gd name="adj" fmla="val 4082"/>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14" name="Shape 12"/>
          <p:cNvSpPr/>
          <p:nvPr/>
        </p:nvSpPr>
        <p:spPr>
          <a:xfrm>
            <a:off x="3502152" y="1600200"/>
            <a:ext cx="420624" cy="420624"/>
          </a:xfrm>
          <a:prstGeom prst="ellipse">
            <a:avLst/>
          </a:prstGeom>
          <a:solidFill>
            <a:srgbClr val="C9A227"/>
          </a:solidFill>
          <a:ln w="12700">
            <a:solidFill>
              <a:srgbClr val="C9A227"/>
            </a:solidFill>
            <a:prstDash val="solid"/>
          </a:ln>
        </p:spPr>
      </p:sp>
      <p:sp>
        <p:nvSpPr>
          <p:cNvPr id="15" name="Text 13"/>
          <p:cNvSpPr txBox="1"/>
          <p:nvPr/>
        </p:nvSpPr>
        <p:spPr>
          <a:xfrm>
            <a:off x="3502152" y="1600200"/>
            <a:ext cx="420624" cy="42062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6" name="Text 14"/>
          <p:cNvSpPr txBox="1"/>
          <p:nvPr/>
        </p:nvSpPr>
        <p:spPr>
          <a:xfrm>
            <a:off x="667512" y="1600200"/>
            <a:ext cx="2743200" cy="420624"/>
          </a:xfrm>
          <a:prstGeom prst="rect">
            <a:avLst/>
          </a:prstGeom>
          <a:noFill/>
          <a:ln/>
        </p:spPr>
        <p:txBody>
          <a:bodyPr wrap="square" lIns="0" tIns="0" rIns="0" bIns="0" rtlCol="0" anchor="ctr"/>
          <a:lstStyle/>
          <a:p>
            <a:pPr rtl="1" algn="r" indent="0" marL="0">
              <a:buNone/>
            </a:pPr>
            <a:r>
              <a:rPr lang="en-US" sz="1700" b="1" dirty="0">
                <a:solidFill>
                  <a:srgbClr val="1B2A49"/>
                </a:solidFill>
                <a:latin typeface="Tahoma" pitchFamily="34" charset="0"/>
                <a:ea typeface="Tahoma" pitchFamily="34" charset="-122"/>
                <a:cs typeface="Tahoma" pitchFamily="34" charset="-120"/>
              </a:rPr>
              <a:t>نقش‌ها مهم‌اند</a:t>
            </a:r>
            <a:endParaRPr lang="en-US" sz="1700" dirty="0"/>
          </a:p>
        </p:txBody>
      </p:sp>
      <p:sp>
        <p:nvSpPr>
          <p:cNvPr id="17" name="Text 15"/>
          <p:cNvSpPr txBox="1"/>
          <p:nvPr/>
        </p:nvSpPr>
        <p:spPr>
          <a:xfrm>
            <a:off x="667512" y="2194560"/>
            <a:ext cx="3246120" cy="1280160"/>
          </a:xfrm>
          <a:prstGeom prst="rect">
            <a:avLst/>
          </a:prstGeom>
          <a:noFill/>
          <a:ln/>
        </p:spPr>
        <p:txBody>
          <a:bodyPr wrap="square" lIns="0" tIns="0" rIns="0" bIns="0" rtlCol="0" anchor="t"/>
          <a:lstStyle/>
          <a:p>
            <a:pPr rtl="1" algn="r" indent="0" marL="0">
              <a:buNone/>
            </a:pPr>
            <a:r>
              <a:rPr lang="en-US" sz="1300" dirty="0">
                <a:solidFill>
                  <a:srgbClr val="1F2937"/>
                </a:solidFill>
                <a:latin typeface="Tahoma" pitchFamily="34" charset="0"/>
                <a:ea typeface="Tahoma" pitchFamily="34" charset="-122"/>
                <a:cs typeface="Tahoma" pitchFamily="34" charset="-120"/>
              </a:rPr>
              <a:t>هر اقدام فقط برای نقش مشخصی فعال است. اگر دکمه‌ای غیرفعال است، نشانگر را روی آن نگه دارید تا علتش را ببینید</a:t>
            </a:r>
            <a:endParaRPr lang="en-US" sz="1300" dirty="0"/>
          </a:p>
        </p:txBody>
      </p:sp>
      <p:sp>
        <p:nvSpPr>
          <p:cNvPr id="18" name="Text 16"/>
          <p:cNvSpPr txBox="1"/>
          <p:nvPr/>
        </p:nvSpPr>
        <p:spPr>
          <a:xfrm>
            <a:off x="411480" y="3931920"/>
            <a:ext cx="11365992" cy="411480"/>
          </a:xfrm>
          <a:prstGeom prst="rect">
            <a:avLst/>
          </a:prstGeom>
          <a:noFill/>
          <a:ln/>
        </p:spPr>
        <p:txBody>
          <a:bodyPr wrap="square" lIns="0" tIns="0" rIns="0" bIns="0" rtlCol="0" anchor="ctr"/>
          <a:lstStyle/>
          <a:p>
            <a:pPr rtl="1" algn="r" indent="0" marL="0">
              <a:buNone/>
            </a:pPr>
            <a:r>
              <a:rPr lang="en-US" sz="1800" b="1" dirty="0">
                <a:solidFill>
                  <a:srgbClr val="1B2A49"/>
                </a:solidFill>
                <a:latin typeface="Tahoma" pitchFamily="34" charset="0"/>
                <a:ea typeface="Tahoma" pitchFamily="34" charset="-122"/>
                <a:cs typeface="Tahoma" pitchFamily="34" charset="-120"/>
              </a:rPr>
              <a:t>قراردادهای مشترک همهٔ فرم‌ها</a:t>
            </a:r>
            <a:endParaRPr lang="en-US" sz="1800" dirty="0"/>
          </a:p>
        </p:txBody>
      </p:sp>
      <p:sp>
        <p:nvSpPr>
          <p:cNvPr id="19" name="Shape 17"/>
          <p:cNvSpPr/>
          <p:nvPr/>
        </p:nvSpPr>
        <p:spPr>
          <a:xfrm>
            <a:off x="8028432" y="4480560"/>
            <a:ext cx="3611880" cy="731520"/>
          </a:xfrm>
          <a:prstGeom prst="roundRect">
            <a:avLst>
              <a:gd name="adj" fmla="val 10000"/>
            </a:avLst>
          </a:prstGeom>
          <a:solidFill>
            <a:srgbClr val="FFFFFF"/>
          </a:solidFill>
          <a:ln w="6350">
            <a:solidFill>
              <a:srgbClr val="D9DEE7"/>
            </a:solidFill>
            <a:prstDash val="solid"/>
          </a:ln>
        </p:spPr>
      </p:sp>
      <p:sp>
        <p:nvSpPr>
          <p:cNvPr id="20" name="Text 18"/>
          <p:cNvSpPr txBox="1"/>
          <p:nvPr/>
        </p:nvSpPr>
        <p:spPr>
          <a:xfrm>
            <a:off x="8165592" y="4480560"/>
            <a:ext cx="3337560" cy="731520"/>
          </a:xfrm>
          <a:prstGeom prst="rect">
            <a:avLst/>
          </a:prstGeom>
          <a:noFill/>
          <a:ln/>
        </p:spPr>
        <p:txBody>
          <a:bodyPr wrap="square" lIns="0" tIns="0" rIns="0" bIns="0" rtlCol="0" anchor="ctr"/>
          <a:lstStyle/>
          <a:p>
            <a:pPr algn="r" indent="0" marL="0">
              <a:buNone/>
            </a:pPr>
            <a:r>
              <a:rPr lang="en-US" sz="1250" b="1" dirty="0">
                <a:solidFill>
                  <a:srgbClr val="1B2A49"/>
                </a:solidFill>
                <a:latin typeface="Tahoma" pitchFamily="34" charset="0"/>
                <a:ea typeface="Tahoma" pitchFamily="34" charset="-122"/>
                <a:cs typeface="Tahoma" pitchFamily="34" charset="-120"/>
              </a:rPr>
              <a:t>ستاره (*):  </a:t>
            </a:r>
            <a:pPr algn="r" indent="0" marL="0">
              <a:buNone/>
            </a:pPr>
            <a:r>
              <a:rPr lang="en-US" sz="1250" dirty="0">
                <a:solidFill>
                  <a:srgbClr val="1F2937"/>
                </a:solidFill>
                <a:latin typeface="Tahoma" pitchFamily="34" charset="0"/>
                <a:ea typeface="Tahoma" pitchFamily="34" charset="-122"/>
                <a:cs typeface="Tahoma" pitchFamily="34" charset="-120"/>
              </a:rPr>
              <a:t>فیلد الزامی</a:t>
            </a:r>
            <a:endParaRPr lang="en-US" sz="1250" dirty="0"/>
          </a:p>
        </p:txBody>
      </p:sp>
      <p:sp>
        <p:nvSpPr>
          <p:cNvPr id="21" name="Shape 19"/>
          <p:cNvSpPr/>
          <p:nvPr/>
        </p:nvSpPr>
        <p:spPr>
          <a:xfrm>
            <a:off x="4279392" y="4480560"/>
            <a:ext cx="3611880" cy="731520"/>
          </a:xfrm>
          <a:prstGeom prst="roundRect">
            <a:avLst>
              <a:gd name="adj" fmla="val 10000"/>
            </a:avLst>
          </a:prstGeom>
          <a:solidFill>
            <a:srgbClr val="FFFFFF"/>
          </a:solidFill>
          <a:ln w="6350">
            <a:solidFill>
              <a:srgbClr val="D9DEE7"/>
            </a:solidFill>
            <a:prstDash val="solid"/>
          </a:ln>
        </p:spPr>
      </p:sp>
      <p:sp>
        <p:nvSpPr>
          <p:cNvPr id="22" name="Text 20"/>
          <p:cNvSpPr txBox="1"/>
          <p:nvPr/>
        </p:nvSpPr>
        <p:spPr>
          <a:xfrm>
            <a:off x="4416552" y="4480560"/>
            <a:ext cx="3337560" cy="731520"/>
          </a:xfrm>
          <a:prstGeom prst="rect">
            <a:avLst/>
          </a:prstGeom>
          <a:noFill/>
          <a:ln/>
        </p:spPr>
        <p:txBody>
          <a:bodyPr wrap="square" lIns="0" tIns="0" rIns="0" bIns="0" rtlCol="0" anchor="ctr"/>
          <a:lstStyle/>
          <a:p>
            <a:pPr algn="r" indent="0" marL="0">
              <a:buNone/>
            </a:pPr>
            <a:r>
              <a:rPr lang="en-US" sz="1250" b="1" dirty="0">
                <a:solidFill>
                  <a:srgbClr val="1B2A49"/>
                </a:solidFill>
                <a:latin typeface="Tahoma" pitchFamily="34" charset="0"/>
                <a:ea typeface="Tahoma" pitchFamily="34" charset="-122"/>
                <a:cs typeface="Tahoma" pitchFamily="34" charset="-120"/>
              </a:rPr>
              <a:t>پیش‌نویس:  </a:t>
            </a:r>
            <a:pPr algn="r" indent="0" marL="0">
              <a:buNone/>
            </a:pPr>
            <a:r>
              <a:rPr lang="en-US" sz="1250" dirty="0">
                <a:solidFill>
                  <a:srgbClr val="1F2937"/>
                </a:solidFill>
                <a:latin typeface="Tahoma" pitchFamily="34" charset="0"/>
                <a:ea typeface="Tahoma" pitchFamily="34" charset="-122"/>
                <a:cs typeface="Tahoma" pitchFamily="34" charset="-120"/>
              </a:rPr>
              <a:t>ذخیره شده ولی هنوز ارسال نشده؛ تنها وضعیت قابل حذف</a:t>
            </a:r>
            <a:endParaRPr lang="en-US" sz="1250" dirty="0"/>
          </a:p>
        </p:txBody>
      </p:sp>
      <p:sp>
        <p:nvSpPr>
          <p:cNvPr id="23" name="Shape 21"/>
          <p:cNvSpPr/>
          <p:nvPr/>
        </p:nvSpPr>
        <p:spPr>
          <a:xfrm>
            <a:off x="530352" y="4480560"/>
            <a:ext cx="3611880" cy="731520"/>
          </a:xfrm>
          <a:prstGeom prst="roundRect">
            <a:avLst>
              <a:gd name="adj" fmla="val 10000"/>
            </a:avLst>
          </a:prstGeom>
          <a:solidFill>
            <a:srgbClr val="FFFFFF"/>
          </a:solidFill>
          <a:ln w="6350">
            <a:solidFill>
              <a:srgbClr val="D9DEE7"/>
            </a:solidFill>
            <a:prstDash val="solid"/>
          </a:ln>
        </p:spPr>
      </p:sp>
      <p:sp>
        <p:nvSpPr>
          <p:cNvPr id="24" name="Text 22"/>
          <p:cNvSpPr txBox="1"/>
          <p:nvPr/>
        </p:nvSpPr>
        <p:spPr>
          <a:xfrm>
            <a:off x="667512" y="4480560"/>
            <a:ext cx="3337560" cy="731520"/>
          </a:xfrm>
          <a:prstGeom prst="rect">
            <a:avLst/>
          </a:prstGeom>
          <a:noFill/>
          <a:ln/>
        </p:spPr>
        <p:txBody>
          <a:bodyPr wrap="square" lIns="0" tIns="0" rIns="0" bIns="0" rtlCol="0" anchor="ctr"/>
          <a:lstStyle/>
          <a:p>
            <a:pPr algn="r" indent="0" marL="0">
              <a:buNone/>
            </a:pPr>
            <a:r>
              <a:rPr lang="en-US" sz="1250" b="1" dirty="0">
                <a:solidFill>
                  <a:srgbClr val="1B2A49"/>
                </a:solidFill>
                <a:latin typeface="Tahoma" pitchFamily="34" charset="0"/>
                <a:ea typeface="Tahoma" pitchFamily="34" charset="-122"/>
                <a:cs typeface="Tahoma" pitchFamily="34" charset="-120"/>
              </a:rPr>
              <a:t>برگشتی:  </a:t>
            </a:r>
            <a:pPr algn="r" indent="0" marL="0">
              <a:buNone/>
            </a:pPr>
            <a:r>
              <a:rPr lang="en-US" sz="1250" dirty="0">
                <a:solidFill>
                  <a:srgbClr val="1F2937"/>
                </a:solidFill>
                <a:latin typeface="Tahoma" pitchFamily="34" charset="0"/>
                <a:ea typeface="Tahoma" pitchFamily="34" charset="-122"/>
                <a:cs typeface="Tahoma" pitchFamily="34" charset="-120"/>
              </a:rPr>
              <a:t>برای اصلاح برگشت خورده؛ دوباره قابل ویرایش و ارسال</a:t>
            </a:r>
            <a:endParaRPr lang="en-US" sz="1250" dirty="0"/>
          </a:p>
        </p:txBody>
      </p:sp>
      <p:sp>
        <p:nvSpPr>
          <p:cNvPr id="25" name="Shape 23"/>
          <p:cNvSpPr/>
          <p:nvPr/>
        </p:nvSpPr>
        <p:spPr>
          <a:xfrm>
            <a:off x="8028432" y="5349240"/>
            <a:ext cx="3611880" cy="731520"/>
          </a:xfrm>
          <a:prstGeom prst="roundRect">
            <a:avLst>
              <a:gd name="adj" fmla="val 10000"/>
            </a:avLst>
          </a:prstGeom>
          <a:solidFill>
            <a:srgbClr val="FFFFFF"/>
          </a:solidFill>
          <a:ln w="6350">
            <a:solidFill>
              <a:srgbClr val="D9DEE7"/>
            </a:solidFill>
            <a:prstDash val="solid"/>
          </a:ln>
        </p:spPr>
      </p:sp>
      <p:sp>
        <p:nvSpPr>
          <p:cNvPr id="26" name="Text 24"/>
          <p:cNvSpPr txBox="1"/>
          <p:nvPr/>
        </p:nvSpPr>
        <p:spPr>
          <a:xfrm>
            <a:off x="8165592" y="5349240"/>
            <a:ext cx="3337560" cy="731520"/>
          </a:xfrm>
          <a:prstGeom prst="rect">
            <a:avLst/>
          </a:prstGeom>
          <a:noFill/>
          <a:ln/>
        </p:spPr>
        <p:txBody>
          <a:bodyPr wrap="square" lIns="0" tIns="0" rIns="0" bIns="0" rtlCol="0" anchor="ctr"/>
          <a:lstStyle/>
          <a:p>
            <a:pPr algn="r" indent="0" marL="0">
              <a:buNone/>
            </a:pPr>
            <a:r>
              <a:rPr lang="en-US" sz="1250" b="1" dirty="0">
                <a:solidFill>
                  <a:srgbClr val="1B2A49"/>
                </a:solidFill>
                <a:latin typeface="Tahoma" pitchFamily="34" charset="0"/>
                <a:ea typeface="Tahoma" pitchFamily="34" charset="-122"/>
                <a:cs typeface="Tahoma" pitchFamily="34" charset="-120"/>
              </a:rPr>
              <a:t>اسناد خودکار:  </a:t>
            </a:r>
            <a:pPr algn="r" indent="0" marL="0">
              <a:buNone/>
            </a:pPr>
            <a:r>
              <a:rPr lang="en-US" sz="1250" dirty="0">
                <a:solidFill>
                  <a:srgbClr val="1F2937"/>
                </a:solidFill>
                <a:latin typeface="Tahoma" pitchFamily="34" charset="0"/>
                <a:ea typeface="Tahoma" pitchFamily="34" charset="-122"/>
                <a:cs typeface="Tahoma" pitchFamily="34" charset="-120"/>
              </a:rPr>
              <a:t>همه «موقت»‌اند و در کارتابل اسناد قطعی می‌شوند</a:t>
            </a:r>
            <a:endParaRPr lang="en-US" sz="1250" dirty="0"/>
          </a:p>
        </p:txBody>
      </p:sp>
      <p:sp>
        <p:nvSpPr>
          <p:cNvPr id="27" name="Shape 25"/>
          <p:cNvSpPr/>
          <p:nvPr/>
        </p:nvSpPr>
        <p:spPr>
          <a:xfrm>
            <a:off x="4279392" y="5349240"/>
            <a:ext cx="3611880" cy="731520"/>
          </a:xfrm>
          <a:prstGeom prst="roundRect">
            <a:avLst>
              <a:gd name="adj" fmla="val 10000"/>
            </a:avLst>
          </a:prstGeom>
          <a:solidFill>
            <a:srgbClr val="FFFFFF"/>
          </a:solidFill>
          <a:ln w="6350">
            <a:solidFill>
              <a:srgbClr val="D9DEE7"/>
            </a:solidFill>
            <a:prstDash val="solid"/>
          </a:ln>
        </p:spPr>
      </p:sp>
      <p:sp>
        <p:nvSpPr>
          <p:cNvPr id="28" name="Text 26"/>
          <p:cNvSpPr txBox="1"/>
          <p:nvPr/>
        </p:nvSpPr>
        <p:spPr>
          <a:xfrm>
            <a:off x="4416552" y="5349240"/>
            <a:ext cx="3337560" cy="731520"/>
          </a:xfrm>
          <a:prstGeom prst="rect">
            <a:avLst/>
          </a:prstGeom>
          <a:noFill/>
          <a:ln/>
        </p:spPr>
        <p:txBody>
          <a:bodyPr wrap="square" lIns="0" tIns="0" rIns="0" bIns="0" rtlCol="0" anchor="ctr"/>
          <a:lstStyle/>
          <a:p>
            <a:pPr algn="r" indent="0" marL="0">
              <a:buNone/>
            </a:pPr>
            <a:r>
              <a:rPr lang="en-US" sz="1250" b="1" dirty="0">
                <a:solidFill>
                  <a:srgbClr val="1B2A49"/>
                </a:solidFill>
                <a:latin typeface="Tahoma" pitchFamily="34" charset="0"/>
                <a:ea typeface="Tahoma" pitchFamily="34" charset="-122"/>
                <a:cs typeface="Tahoma" pitchFamily="34" charset="-120"/>
              </a:rPr>
              <a:t>تاریخ‌ها:  </a:t>
            </a:r>
            <a:pPr algn="r" indent="0" marL="0">
              <a:buNone/>
            </a:pPr>
            <a:r>
              <a:rPr lang="en-US" sz="1250" dirty="0">
                <a:solidFill>
                  <a:srgbClr val="1F2937"/>
                </a:solidFill>
                <a:latin typeface="Tahoma" pitchFamily="34" charset="0"/>
                <a:ea typeface="Tahoma" pitchFamily="34" charset="-122"/>
                <a:cs typeface="Tahoma" pitchFamily="34" charset="-120"/>
              </a:rPr>
              <a:t>شمسی؛ مبالغ به ریال مگر خلافش ذکر شود</a:t>
            </a:r>
            <a:endParaRPr lang="en-US" sz="1250" dirty="0"/>
          </a:p>
        </p:txBody>
      </p:sp>
      <p:sp>
        <p:nvSpPr>
          <p:cNvPr id="29" name="Shape 27"/>
          <p:cNvSpPr/>
          <p:nvPr/>
        </p:nvSpPr>
        <p:spPr>
          <a:xfrm>
            <a:off x="530352" y="5349240"/>
            <a:ext cx="3611880" cy="731520"/>
          </a:xfrm>
          <a:prstGeom prst="roundRect">
            <a:avLst>
              <a:gd name="adj" fmla="val 10000"/>
            </a:avLst>
          </a:prstGeom>
          <a:solidFill>
            <a:srgbClr val="FFFFFF"/>
          </a:solidFill>
          <a:ln w="6350">
            <a:solidFill>
              <a:srgbClr val="D9DEE7"/>
            </a:solidFill>
            <a:prstDash val="solid"/>
          </a:ln>
        </p:spPr>
      </p:sp>
      <p:sp>
        <p:nvSpPr>
          <p:cNvPr id="30" name="Text 28"/>
          <p:cNvSpPr txBox="1"/>
          <p:nvPr/>
        </p:nvSpPr>
        <p:spPr>
          <a:xfrm>
            <a:off x="667512" y="5349240"/>
            <a:ext cx="3337560" cy="731520"/>
          </a:xfrm>
          <a:prstGeom prst="rect">
            <a:avLst/>
          </a:prstGeom>
          <a:noFill/>
          <a:ln/>
        </p:spPr>
        <p:txBody>
          <a:bodyPr wrap="square" lIns="0" tIns="0" rIns="0" bIns="0" rtlCol="0" anchor="ctr"/>
          <a:lstStyle/>
          <a:p>
            <a:pPr algn="r" indent="0" marL="0">
              <a:buNone/>
            </a:pPr>
            <a:r>
              <a:rPr lang="en-US" sz="1250" b="1" dirty="0">
                <a:solidFill>
                  <a:srgbClr val="1B2A49"/>
                </a:solidFill>
                <a:latin typeface="Tahoma" pitchFamily="34" charset="0"/>
                <a:ea typeface="Tahoma" pitchFamily="34" charset="-122"/>
                <a:cs typeface="Tahoma" pitchFamily="34" charset="-120"/>
              </a:rPr>
              <a:t>تفکیک وظایف:  </a:t>
            </a:r>
            <a:pPr algn="r" indent="0" marL="0">
              <a:buNone/>
            </a:pPr>
            <a:r>
              <a:rPr lang="en-US" sz="1250" dirty="0">
                <a:solidFill>
                  <a:srgbClr val="1F2937"/>
                </a:solidFill>
                <a:latin typeface="Tahoma" pitchFamily="34" charset="0"/>
                <a:ea typeface="Tahoma" pitchFamily="34" charset="-122"/>
                <a:cs typeface="Tahoma" pitchFamily="34" charset="-120"/>
              </a:rPr>
              <a:t>ثبت‌کننده هرگز تأییدکنندهٔ همان سند نیست</a:t>
            </a:r>
            <a:endParaRPr lang="en-US" sz="1250" dirty="0"/>
          </a:p>
        </p:txBody>
      </p:sp>
      <p:sp>
        <p:nvSpPr>
          <p:cNvPr id="31" name="Text 29"/>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مقدمه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ورود، سال مالی و واحد سازمانی</a:t>
            </a:r>
            <a:endParaRPr lang="en-US" sz="2600" dirty="0"/>
          </a:p>
        </p:txBody>
      </p:sp>
      <p:sp>
        <p:nvSpPr>
          <p:cNvPr id="3" name="Shape 1"/>
          <p:cNvSpPr/>
          <p:nvPr/>
        </p:nvSpPr>
        <p:spPr>
          <a:xfrm>
            <a:off x="411480" y="1188720"/>
            <a:ext cx="11365992" cy="748142"/>
          </a:xfrm>
          <a:prstGeom prst="roundRect">
            <a:avLst>
              <a:gd name="adj" fmla="val 9778"/>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topbar">    </p:cNvPr>
          <p:cNvPicPr>
            <a:picLocks noChangeAspect="1"/>
          </p:cNvPicPr>
          <p:nvPr/>
        </p:nvPicPr>
        <p:blipFill>
          <a:blip r:embed="rId1"/>
          <a:stretch>
            <a:fillRect/>
          </a:stretch>
        </p:blipFill>
        <p:spPr>
          <a:xfrm>
            <a:off x="457200" y="1237082"/>
            <a:ext cx="11274552" cy="651419"/>
          </a:xfrm>
          <a:prstGeom prst="rect">
            <a:avLst/>
          </a:prstGeom>
        </p:spPr>
      </p:pic>
      <p:sp>
        <p:nvSpPr>
          <p:cNvPr id="5" name="Shape 2"/>
          <p:cNvSpPr/>
          <p:nvPr/>
        </p:nvSpPr>
        <p:spPr>
          <a:xfrm>
            <a:off x="9650578" y="2165462"/>
            <a:ext cx="2126894" cy="2496312"/>
          </a:xfrm>
          <a:prstGeom prst="roundRect">
            <a:avLst>
              <a:gd name="adj" fmla="val 4299"/>
            </a:avLst>
          </a:prstGeom>
          <a:solidFill>
            <a:srgbClr val="FFFFFF"/>
          </a:solidFill>
          <a:ln w="6350">
            <a:solidFill>
              <a:srgbClr val="D9DEE7"/>
            </a:solidFill>
            <a:prstDash val="solid"/>
          </a:ln>
        </p:spPr>
      </p:sp>
      <p:sp>
        <p:nvSpPr>
          <p:cNvPr id="6" name="Shape 3"/>
          <p:cNvSpPr/>
          <p:nvPr/>
        </p:nvSpPr>
        <p:spPr>
          <a:xfrm>
            <a:off x="11274552" y="2302622"/>
            <a:ext cx="365760" cy="365760"/>
          </a:xfrm>
          <a:prstGeom prst="ellipse">
            <a:avLst/>
          </a:prstGeom>
          <a:solidFill>
            <a:srgbClr val="C9A227"/>
          </a:solidFill>
          <a:ln w="12700">
            <a:solidFill>
              <a:srgbClr val="C9A227"/>
            </a:solidFill>
            <a:prstDash val="solid"/>
          </a:ln>
        </p:spPr>
      </p:sp>
      <p:sp>
        <p:nvSpPr>
          <p:cNvPr id="7" name="Text 4"/>
          <p:cNvSpPr txBox="1"/>
          <p:nvPr/>
        </p:nvSpPr>
        <p:spPr>
          <a:xfrm>
            <a:off x="11274552" y="2302622"/>
            <a:ext cx="365760" cy="365760"/>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8" name="Text 5"/>
          <p:cNvSpPr txBox="1"/>
          <p:nvPr/>
        </p:nvSpPr>
        <p:spPr>
          <a:xfrm>
            <a:off x="9833458" y="2284334"/>
            <a:ext cx="1349654" cy="402336"/>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ورود</a:t>
            </a:r>
            <a:endParaRPr lang="en-US" sz="1400" dirty="0"/>
          </a:p>
        </p:txBody>
      </p:sp>
      <p:sp>
        <p:nvSpPr>
          <p:cNvPr id="9" name="Text 6"/>
          <p:cNvSpPr txBox="1"/>
          <p:nvPr/>
        </p:nvSpPr>
        <p:spPr>
          <a:xfrm>
            <a:off x="9833458" y="2732390"/>
            <a:ext cx="1761134" cy="1856232"/>
          </a:xfrm>
          <a:prstGeom prst="rect">
            <a:avLst/>
          </a:prstGeom>
          <a:noFill/>
          <a:ln/>
        </p:spPr>
        <p:txBody>
          <a:bodyPr wrap="square" lIns="0" tIns="0" rIns="0" bIns="0" rtlCol="0" anchor="t"/>
          <a:lstStyle/>
          <a:p>
            <a:pPr rtl="1" algn="r" indent="0" marL="0">
              <a:buNone/>
            </a:pPr>
            <a:r>
              <a:rPr lang="en-US" sz="1250" dirty="0">
                <a:solidFill>
                  <a:srgbClr val="1F2937"/>
                </a:solidFill>
                <a:latin typeface="Tahoma" pitchFamily="34" charset="0"/>
                <a:ea typeface="Tahoma" pitchFamily="34" charset="-122"/>
                <a:cs typeface="Tahoma" pitchFamily="34" charset="-120"/>
              </a:rPr>
              <a:t>با دکمهٔ «ورود با حساب سازمانی» از سامانهٔ احراز هویت سازمان وارد شوید.</a:t>
            </a:r>
            <a:endParaRPr lang="en-US" sz="1250" dirty="0"/>
          </a:p>
        </p:txBody>
      </p:sp>
      <p:sp>
        <p:nvSpPr>
          <p:cNvPr id="10" name="Shape 7"/>
          <p:cNvSpPr/>
          <p:nvPr/>
        </p:nvSpPr>
        <p:spPr>
          <a:xfrm>
            <a:off x="7340803" y="2165462"/>
            <a:ext cx="2126894" cy="2496312"/>
          </a:xfrm>
          <a:prstGeom prst="roundRect">
            <a:avLst>
              <a:gd name="adj" fmla="val 4299"/>
            </a:avLst>
          </a:prstGeom>
          <a:solidFill>
            <a:srgbClr val="FFFFFF"/>
          </a:solidFill>
          <a:ln w="6350">
            <a:solidFill>
              <a:srgbClr val="D9DEE7"/>
            </a:solidFill>
            <a:prstDash val="solid"/>
          </a:ln>
        </p:spPr>
      </p:sp>
      <p:sp>
        <p:nvSpPr>
          <p:cNvPr id="11" name="Shape 8"/>
          <p:cNvSpPr/>
          <p:nvPr/>
        </p:nvSpPr>
        <p:spPr>
          <a:xfrm>
            <a:off x="8964778" y="2302622"/>
            <a:ext cx="365760" cy="365760"/>
          </a:xfrm>
          <a:prstGeom prst="ellipse">
            <a:avLst/>
          </a:prstGeom>
          <a:solidFill>
            <a:srgbClr val="C9A227"/>
          </a:solidFill>
          <a:ln w="12700">
            <a:solidFill>
              <a:srgbClr val="C9A227"/>
            </a:solidFill>
            <a:prstDash val="solid"/>
          </a:ln>
        </p:spPr>
      </p:sp>
      <p:sp>
        <p:nvSpPr>
          <p:cNvPr id="12" name="Text 9"/>
          <p:cNvSpPr txBox="1"/>
          <p:nvPr/>
        </p:nvSpPr>
        <p:spPr>
          <a:xfrm>
            <a:off x="8964778" y="2302622"/>
            <a:ext cx="365760" cy="365760"/>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7523683" y="2284334"/>
            <a:ext cx="1349654" cy="402336"/>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سال مالی و واحد</a:t>
            </a:r>
            <a:endParaRPr lang="en-US" sz="1400" dirty="0"/>
          </a:p>
        </p:txBody>
      </p:sp>
      <p:sp>
        <p:nvSpPr>
          <p:cNvPr id="14" name="Text 11"/>
          <p:cNvSpPr txBox="1"/>
          <p:nvPr/>
        </p:nvSpPr>
        <p:spPr>
          <a:xfrm>
            <a:off x="7523683" y="2732390"/>
            <a:ext cx="1761134" cy="1856232"/>
          </a:xfrm>
          <a:prstGeom prst="rect">
            <a:avLst/>
          </a:prstGeom>
          <a:noFill/>
          <a:ln/>
        </p:spPr>
        <p:txBody>
          <a:bodyPr wrap="square" lIns="0" tIns="0" rIns="0" bIns="0" rtlCol="0" anchor="t"/>
          <a:lstStyle/>
          <a:p>
            <a:pPr rtl="1" algn="r" indent="0" marL="0">
              <a:buNone/>
            </a:pPr>
            <a:r>
              <a:rPr lang="en-US" sz="1250" dirty="0">
                <a:solidFill>
                  <a:srgbClr val="1F2937"/>
                </a:solidFill>
                <a:latin typeface="Tahoma" pitchFamily="34" charset="0"/>
                <a:ea typeface="Tahoma" pitchFamily="34" charset="-122"/>
                <a:cs typeface="Tahoma" pitchFamily="34" charset="-120"/>
              </a:rPr>
              <a:t>در نوار بالا روی نام واحد و سال کلیک کنید و سال مالی و واحدی را که می‌خواهید به نام آن کار کنید انتخاب کنید.</a:t>
            </a:r>
            <a:endParaRPr lang="en-US" sz="1250" dirty="0"/>
          </a:p>
        </p:txBody>
      </p:sp>
      <p:sp>
        <p:nvSpPr>
          <p:cNvPr id="15" name="Shape 12"/>
          <p:cNvSpPr/>
          <p:nvPr/>
        </p:nvSpPr>
        <p:spPr>
          <a:xfrm>
            <a:off x="5031029" y="2165462"/>
            <a:ext cx="2126894" cy="2496312"/>
          </a:xfrm>
          <a:prstGeom prst="roundRect">
            <a:avLst>
              <a:gd name="adj" fmla="val 4299"/>
            </a:avLst>
          </a:prstGeom>
          <a:solidFill>
            <a:srgbClr val="FFFFFF"/>
          </a:solidFill>
          <a:ln w="6350">
            <a:solidFill>
              <a:srgbClr val="D9DEE7"/>
            </a:solidFill>
            <a:prstDash val="solid"/>
          </a:ln>
        </p:spPr>
      </p:sp>
      <p:sp>
        <p:nvSpPr>
          <p:cNvPr id="16" name="Shape 13"/>
          <p:cNvSpPr/>
          <p:nvPr/>
        </p:nvSpPr>
        <p:spPr>
          <a:xfrm>
            <a:off x="6655003" y="2302622"/>
            <a:ext cx="365760" cy="365760"/>
          </a:xfrm>
          <a:prstGeom prst="ellipse">
            <a:avLst/>
          </a:prstGeom>
          <a:solidFill>
            <a:srgbClr val="C9A227"/>
          </a:solidFill>
          <a:ln w="12700">
            <a:solidFill>
              <a:srgbClr val="C9A227"/>
            </a:solidFill>
            <a:prstDash val="solid"/>
          </a:ln>
        </p:spPr>
      </p:sp>
      <p:sp>
        <p:nvSpPr>
          <p:cNvPr id="17" name="Text 14"/>
          <p:cNvSpPr txBox="1"/>
          <p:nvPr/>
        </p:nvSpPr>
        <p:spPr>
          <a:xfrm>
            <a:off x="6655003" y="2302622"/>
            <a:ext cx="365760" cy="365760"/>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8" name="Text 15"/>
          <p:cNvSpPr txBox="1"/>
          <p:nvPr/>
        </p:nvSpPr>
        <p:spPr>
          <a:xfrm>
            <a:off x="5213909" y="2284334"/>
            <a:ext cx="1349654" cy="402336"/>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اثر انتخاب</a:t>
            </a:r>
            <a:endParaRPr lang="en-US" sz="1400" dirty="0"/>
          </a:p>
        </p:txBody>
      </p:sp>
      <p:sp>
        <p:nvSpPr>
          <p:cNvPr id="19" name="Text 16"/>
          <p:cNvSpPr txBox="1"/>
          <p:nvPr/>
        </p:nvSpPr>
        <p:spPr>
          <a:xfrm>
            <a:off x="5213909" y="2732390"/>
            <a:ext cx="1761134" cy="1856232"/>
          </a:xfrm>
          <a:prstGeom prst="rect">
            <a:avLst/>
          </a:prstGeom>
          <a:noFill/>
          <a:ln/>
        </p:spPr>
        <p:txBody>
          <a:bodyPr wrap="square" lIns="0" tIns="0" rIns="0" bIns="0" rtlCol="0" anchor="t"/>
          <a:lstStyle/>
          <a:p>
            <a:pPr rtl="1" algn="r" indent="0" marL="0">
              <a:buNone/>
            </a:pPr>
            <a:r>
              <a:rPr lang="en-US" sz="1250" dirty="0">
                <a:solidFill>
                  <a:srgbClr val="1F2937"/>
                </a:solidFill>
                <a:latin typeface="Tahoma" pitchFamily="34" charset="0"/>
                <a:ea typeface="Tahoma" pitchFamily="34" charset="-122"/>
                <a:cs typeface="Tahoma" pitchFamily="34" charset="-120"/>
              </a:rPr>
              <a:t>همهٔ فرم‌ها، فهرست‌ها و گزارش‌ها فقط دادهٔ همین واحد و سال را نشان می‌دهند؛ واحدی که مجوزش را ندارید با خطای «دسترسی ندارید» رد می‌شود.</a:t>
            </a:r>
            <a:endParaRPr lang="en-US" sz="1250" dirty="0"/>
          </a:p>
        </p:txBody>
      </p:sp>
      <p:sp>
        <p:nvSpPr>
          <p:cNvPr id="20" name="Shape 17"/>
          <p:cNvSpPr/>
          <p:nvPr/>
        </p:nvSpPr>
        <p:spPr>
          <a:xfrm>
            <a:off x="2721254" y="2165462"/>
            <a:ext cx="2126894" cy="2496312"/>
          </a:xfrm>
          <a:prstGeom prst="roundRect">
            <a:avLst>
              <a:gd name="adj" fmla="val 4299"/>
            </a:avLst>
          </a:prstGeom>
          <a:solidFill>
            <a:srgbClr val="FFFFFF"/>
          </a:solidFill>
          <a:ln w="6350">
            <a:solidFill>
              <a:srgbClr val="D9DEE7"/>
            </a:solidFill>
            <a:prstDash val="solid"/>
          </a:ln>
        </p:spPr>
      </p:sp>
      <p:sp>
        <p:nvSpPr>
          <p:cNvPr id="21" name="Shape 18"/>
          <p:cNvSpPr/>
          <p:nvPr/>
        </p:nvSpPr>
        <p:spPr>
          <a:xfrm>
            <a:off x="4345229" y="2302622"/>
            <a:ext cx="365760" cy="365760"/>
          </a:xfrm>
          <a:prstGeom prst="ellipse">
            <a:avLst/>
          </a:prstGeom>
          <a:solidFill>
            <a:srgbClr val="C9A227"/>
          </a:solidFill>
          <a:ln w="12700">
            <a:solidFill>
              <a:srgbClr val="C9A227"/>
            </a:solidFill>
            <a:prstDash val="solid"/>
          </a:ln>
        </p:spPr>
      </p:sp>
      <p:sp>
        <p:nvSpPr>
          <p:cNvPr id="22" name="Text 19"/>
          <p:cNvSpPr txBox="1"/>
          <p:nvPr/>
        </p:nvSpPr>
        <p:spPr>
          <a:xfrm>
            <a:off x="4345229" y="2302622"/>
            <a:ext cx="365760" cy="365760"/>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3" name="Text 20"/>
          <p:cNvSpPr txBox="1"/>
          <p:nvPr/>
        </p:nvSpPr>
        <p:spPr>
          <a:xfrm>
            <a:off x="2904134" y="2284334"/>
            <a:ext cx="1349654" cy="402336"/>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ستاد مرکزی</a:t>
            </a:r>
            <a:endParaRPr lang="en-US" sz="1400" dirty="0"/>
          </a:p>
        </p:txBody>
      </p:sp>
      <p:sp>
        <p:nvSpPr>
          <p:cNvPr id="24" name="Text 21"/>
          <p:cNvSpPr txBox="1"/>
          <p:nvPr/>
        </p:nvSpPr>
        <p:spPr>
          <a:xfrm>
            <a:off x="2904134" y="2732390"/>
            <a:ext cx="1761134" cy="1856232"/>
          </a:xfrm>
          <a:prstGeom prst="rect">
            <a:avLst/>
          </a:prstGeom>
          <a:noFill/>
          <a:ln/>
        </p:spPr>
        <p:txBody>
          <a:bodyPr wrap="square" lIns="0" tIns="0" rIns="0" bIns="0" rtlCol="0" anchor="t"/>
          <a:lstStyle/>
          <a:p>
            <a:pPr rtl="1" algn="r" indent="0" marL="0">
              <a:buNone/>
            </a:pPr>
            <a:r>
              <a:rPr lang="en-US" sz="1250" dirty="0">
                <a:solidFill>
                  <a:srgbClr val="1F2937"/>
                </a:solidFill>
                <a:latin typeface="Tahoma" pitchFamily="34" charset="0"/>
                <a:ea typeface="Tahoma" pitchFamily="34" charset="-122"/>
                <a:cs typeface="Tahoma" pitchFamily="34" charset="-120"/>
              </a:rPr>
              <a:t>کاربر ستاد می‌تواند به جای هر واحد عمل کند و در صورت‌های مالی، ترکیبی همهٔ زیرمجموعه‌ها را ببیند.</a:t>
            </a:r>
            <a:endParaRPr lang="en-US" sz="1250" dirty="0"/>
          </a:p>
        </p:txBody>
      </p:sp>
      <p:sp>
        <p:nvSpPr>
          <p:cNvPr id="25" name="Shape 22"/>
          <p:cNvSpPr/>
          <p:nvPr/>
        </p:nvSpPr>
        <p:spPr>
          <a:xfrm>
            <a:off x="411480" y="2165462"/>
            <a:ext cx="2126894" cy="2496312"/>
          </a:xfrm>
          <a:prstGeom prst="roundRect">
            <a:avLst>
              <a:gd name="adj" fmla="val 4299"/>
            </a:avLst>
          </a:prstGeom>
          <a:solidFill>
            <a:srgbClr val="FFFFFF"/>
          </a:solidFill>
          <a:ln w="6350">
            <a:solidFill>
              <a:srgbClr val="D9DEE7"/>
            </a:solidFill>
            <a:prstDash val="solid"/>
          </a:ln>
        </p:spPr>
      </p:sp>
      <p:sp>
        <p:nvSpPr>
          <p:cNvPr id="26" name="Shape 23"/>
          <p:cNvSpPr/>
          <p:nvPr/>
        </p:nvSpPr>
        <p:spPr>
          <a:xfrm>
            <a:off x="2035454" y="2302622"/>
            <a:ext cx="365760" cy="365760"/>
          </a:xfrm>
          <a:prstGeom prst="ellipse">
            <a:avLst/>
          </a:prstGeom>
          <a:solidFill>
            <a:srgbClr val="C9A227"/>
          </a:solidFill>
          <a:ln w="12700">
            <a:solidFill>
              <a:srgbClr val="C9A227"/>
            </a:solidFill>
            <a:prstDash val="solid"/>
          </a:ln>
        </p:spPr>
      </p:sp>
      <p:sp>
        <p:nvSpPr>
          <p:cNvPr id="27" name="Text 24"/>
          <p:cNvSpPr txBox="1"/>
          <p:nvPr/>
        </p:nvSpPr>
        <p:spPr>
          <a:xfrm>
            <a:off x="2035454" y="2302622"/>
            <a:ext cx="365760" cy="365760"/>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28" name="Text 25"/>
          <p:cNvSpPr txBox="1"/>
          <p:nvPr/>
        </p:nvSpPr>
        <p:spPr>
          <a:xfrm>
            <a:off x="594360" y="2284334"/>
            <a:ext cx="1349654" cy="402336"/>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نقش و منو</a:t>
            </a:r>
            <a:endParaRPr lang="en-US" sz="1400" dirty="0"/>
          </a:p>
        </p:txBody>
      </p:sp>
      <p:sp>
        <p:nvSpPr>
          <p:cNvPr id="29" name="Text 26"/>
          <p:cNvSpPr txBox="1"/>
          <p:nvPr/>
        </p:nvSpPr>
        <p:spPr>
          <a:xfrm>
            <a:off x="594360" y="2732390"/>
            <a:ext cx="1761134" cy="1856232"/>
          </a:xfrm>
          <a:prstGeom prst="rect">
            <a:avLst/>
          </a:prstGeom>
          <a:noFill/>
          <a:ln/>
        </p:spPr>
        <p:txBody>
          <a:bodyPr wrap="square" lIns="0" tIns="0" rIns="0" bIns="0" rtlCol="0" anchor="t"/>
          <a:lstStyle/>
          <a:p>
            <a:pPr rtl="1" algn="r" indent="0" marL="0">
              <a:buNone/>
            </a:pPr>
            <a:r>
              <a:rPr lang="en-US" sz="1250" dirty="0">
                <a:solidFill>
                  <a:srgbClr val="1F2937"/>
                </a:solidFill>
                <a:latin typeface="Tahoma" pitchFamily="34" charset="0"/>
                <a:ea typeface="Tahoma" pitchFamily="34" charset="-122"/>
                <a:cs typeface="Tahoma" pitchFamily="34" charset="-120"/>
              </a:rPr>
              <a:t>منوها و دکمه‌ها بر اساس نقش شما در سامانهٔ ورود سازمان نمایش داده می‌شوند؛ مدیر ستاد در «اطلاعات پایه ← دسترسی نقش‌ها» دسترسی هر منو و زبانه را تعیین می‌کند.</a:t>
            </a:r>
            <a:endParaRPr lang="en-US" sz="1250" dirty="0"/>
          </a:p>
        </p:txBody>
      </p:sp>
      <p:sp>
        <p:nvSpPr>
          <p:cNvPr id="30" name="Text 27"/>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شروع کار</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محیط کار — زبانه‌ها و نمای کنار هم</a:t>
            </a:r>
            <a:endParaRPr lang="en-US" sz="2600" dirty="0"/>
          </a:p>
        </p:txBody>
      </p:sp>
      <p:sp>
        <p:nvSpPr>
          <p:cNvPr id="3" name="Text 1"/>
          <p:cNvSpPr txBox="1"/>
          <p:nvPr/>
        </p:nvSpPr>
        <p:spPr>
          <a:xfrm>
            <a:off x="6208776"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هر گزینهٔ منو یک زبانه؛ کلیک راست روی زبانه</a:t>
            </a:r>
            <a:endParaRPr lang="en-US" sz="1200" dirty="0"/>
          </a:p>
        </p:txBody>
      </p:sp>
      <p:sp>
        <p:nvSpPr>
          <p:cNvPr id="4" name="Shape 2"/>
          <p:cNvSpPr/>
          <p:nvPr/>
        </p:nvSpPr>
        <p:spPr>
          <a:xfrm>
            <a:off x="6208776" y="1618488"/>
            <a:ext cx="5568696" cy="2697480"/>
          </a:xfrm>
          <a:prstGeom prst="roundRect">
            <a:avLst>
              <a:gd name="adj" fmla="val 2712"/>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5" name="Image 0" descr="ws01s">    </p:cNvPr>
          <p:cNvPicPr>
            <a:picLocks noChangeAspect="1"/>
          </p:cNvPicPr>
          <p:nvPr/>
        </p:nvPicPr>
        <p:blipFill>
          <a:blip r:embed="rId1"/>
          <a:stretch>
            <a:fillRect/>
          </a:stretch>
        </p:blipFill>
        <p:spPr>
          <a:xfrm>
            <a:off x="6254496" y="1706277"/>
            <a:ext cx="5477256" cy="2521902"/>
          </a:xfrm>
          <a:prstGeom prst="rect">
            <a:avLst/>
          </a:prstGeom>
        </p:spPr>
      </p:pic>
      <p:sp>
        <p:nvSpPr>
          <p:cNvPr id="6" name="Text 3"/>
          <p:cNvSpPr txBox="1"/>
          <p:nvPr/>
        </p:nvSpPr>
        <p:spPr>
          <a:xfrm>
            <a:off x="411480"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دو زبانه کنار هم</a:t>
            </a:r>
            <a:endParaRPr lang="en-US" sz="1200" dirty="0"/>
          </a:p>
        </p:txBody>
      </p:sp>
      <p:sp>
        <p:nvSpPr>
          <p:cNvPr id="7" name="Shape 4"/>
          <p:cNvSpPr/>
          <p:nvPr/>
        </p:nvSpPr>
        <p:spPr>
          <a:xfrm>
            <a:off x="411480" y="1618488"/>
            <a:ext cx="5568696" cy="2697480"/>
          </a:xfrm>
          <a:prstGeom prst="roundRect">
            <a:avLst>
              <a:gd name="adj" fmla="val 2712"/>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8" name="Image 1" descr="ws02s">    </p:cNvPr>
          <p:cNvPicPr>
            <a:picLocks noChangeAspect="1"/>
          </p:cNvPicPr>
          <p:nvPr/>
        </p:nvPicPr>
        <p:blipFill>
          <a:blip r:embed="rId2"/>
          <a:stretch>
            <a:fillRect/>
          </a:stretch>
        </p:blipFill>
        <p:spPr>
          <a:xfrm>
            <a:off x="812673" y="1664208"/>
            <a:ext cx="4766310" cy="2606040"/>
          </a:xfrm>
          <a:prstGeom prst="rect">
            <a:avLst/>
          </a:prstGeom>
        </p:spPr>
      </p:pic>
      <p:sp>
        <p:nvSpPr>
          <p:cNvPr id="9" name="Shape 5"/>
          <p:cNvSpPr/>
          <p:nvPr/>
        </p:nvSpPr>
        <p:spPr>
          <a:xfrm>
            <a:off x="9614002" y="4498848"/>
            <a:ext cx="2163470" cy="1060704"/>
          </a:xfrm>
          <a:prstGeom prst="roundRect">
            <a:avLst>
              <a:gd name="adj" fmla="val 6897"/>
            </a:avLst>
          </a:prstGeom>
          <a:solidFill>
            <a:srgbClr val="FFFFFF"/>
          </a:solidFill>
          <a:ln w="6350">
            <a:solidFill>
              <a:srgbClr val="D9DEE7"/>
            </a:solidFill>
            <a:prstDash val="solid"/>
          </a:ln>
        </p:spPr>
      </p:sp>
      <p:sp>
        <p:nvSpPr>
          <p:cNvPr id="10" name="Shape 6"/>
          <p:cNvSpPr/>
          <p:nvPr/>
        </p:nvSpPr>
        <p:spPr>
          <a:xfrm>
            <a:off x="11347704" y="4590288"/>
            <a:ext cx="329184" cy="329184"/>
          </a:xfrm>
          <a:prstGeom prst="ellipse">
            <a:avLst/>
          </a:prstGeom>
          <a:solidFill>
            <a:srgbClr val="C9A227"/>
          </a:solidFill>
          <a:ln w="12700">
            <a:solidFill>
              <a:srgbClr val="C9A227"/>
            </a:solidFill>
            <a:prstDash val="solid"/>
          </a:ln>
        </p:spPr>
      </p:sp>
      <p:sp>
        <p:nvSpPr>
          <p:cNvPr id="11" name="Text 7"/>
          <p:cNvSpPr txBox="1"/>
          <p:nvPr/>
        </p:nvSpPr>
        <p:spPr>
          <a:xfrm>
            <a:off x="11347704" y="459028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12" name="Text 8"/>
          <p:cNvSpPr txBox="1"/>
          <p:nvPr/>
        </p:nvSpPr>
        <p:spPr>
          <a:xfrm>
            <a:off x="9705442" y="457200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زبانه</a:t>
            </a:r>
            <a:endParaRPr lang="en-US" sz="1300" dirty="0"/>
          </a:p>
        </p:txBody>
      </p:sp>
      <p:sp>
        <p:nvSpPr>
          <p:cNvPr id="13" name="Text 9"/>
          <p:cNvSpPr txBox="1"/>
          <p:nvPr/>
        </p:nvSpPr>
        <p:spPr>
          <a:xfrm>
            <a:off x="9723730" y="4974336"/>
            <a:ext cx="1944014" cy="53035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هر گزینهٔ منو در یک زبانهٔ جدا باز می‌شود (حداکثر ۱۰)؛ ویرایش و جزئیات در همان زبانه.</a:t>
            </a:r>
            <a:endParaRPr lang="en-US" sz="1150" dirty="0"/>
          </a:p>
        </p:txBody>
      </p:sp>
      <p:sp>
        <p:nvSpPr>
          <p:cNvPr id="14" name="Shape 10"/>
          <p:cNvSpPr/>
          <p:nvPr/>
        </p:nvSpPr>
        <p:spPr>
          <a:xfrm>
            <a:off x="7313371" y="4498848"/>
            <a:ext cx="2163470" cy="1060704"/>
          </a:xfrm>
          <a:prstGeom prst="roundRect">
            <a:avLst>
              <a:gd name="adj" fmla="val 6897"/>
            </a:avLst>
          </a:prstGeom>
          <a:solidFill>
            <a:srgbClr val="FFFFFF"/>
          </a:solidFill>
          <a:ln w="6350">
            <a:solidFill>
              <a:srgbClr val="D9DEE7"/>
            </a:solidFill>
            <a:prstDash val="solid"/>
          </a:ln>
        </p:spPr>
      </p:sp>
      <p:sp>
        <p:nvSpPr>
          <p:cNvPr id="15" name="Shape 11"/>
          <p:cNvSpPr/>
          <p:nvPr/>
        </p:nvSpPr>
        <p:spPr>
          <a:xfrm>
            <a:off x="9047074" y="4590288"/>
            <a:ext cx="329184" cy="329184"/>
          </a:xfrm>
          <a:prstGeom prst="ellipse">
            <a:avLst/>
          </a:prstGeom>
          <a:solidFill>
            <a:srgbClr val="C9A227"/>
          </a:solidFill>
          <a:ln w="12700">
            <a:solidFill>
              <a:srgbClr val="C9A227"/>
            </a:solidFill>
            <a:prstDash val="solid"/>
          </a:ln>
        </p:spPr>
      </p:sp>
      <p:sp>
        <p:nvSpPr>
          <p:cNvPr id="16" name="Text 12"/>
          <p:cNvSpPr txBox="1"/>
          <p:nvPr/>
        </p:nvSpPr>
        <p:spPr>
          <a:xfrm>
            <a:off x="9047074" y="459028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7" name="Text 13"/>
          <p:cNvSpPr txBox="1"/>
          <p:nvPr/>
        </p:nvSpPr>
        <p:spPr>
          <a:xfrm>
            <a:off x="7404811" y="457200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جابه‌جایی و بستن</a:t>
            </a:r>
            <a:endParaRPr lang="en-US" sz="1300" dirty="0"/>
          </a:p>
        </p:txBody>
      </p:sp>
      <p:sp>
        <p:nvSpPr>
          <p:cNvPr id="18" name="Text 14"/>
          <p:cNvSpPr txBox="1"/>
          <p:nvPr/>
        </p:nvSpPr>
        <p:spPr>
          <a:xfrm>
            <a:off x="7423099" y="4974336"/>
            <a:ext cx="1944014" cy="53035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کلیک روی عنوان زبانه؛ × یا کلیک وسط ماوس می‌بندد و برای فرم ذخیره‌نشده هشدار می‌دهد.</a:t>
            </a:r>
            <a:endParaRPr lang="en-US" sz="1150" dirty="0"/>
          </a:p>
        </p:txBody>
      </p:sp>
      <p:sp>
        <p:nvSpPr>
          <p:cNvPr id="19" name="Shape 15"/>
          <p:cNvSpPr/>
          <p:nvPr/>
        </p:nvSpPr>
        <p:spPr>
          <a:xfrm>
            <a:off x="5012741" y="4498848"/>
            <a:ext cx="2163470" cy="1060704"/>
          </a:xfrm>
          <a:prstGeom prst="roundRect">
            <a:avLst>
              <a:gd name="adj" fmla="val 6897"/>
            </a:avLst>
          </a:prstGeom>
          <a:solidFill>
            <a:srgbClr val="FFFFFF"/>
          </a:solidFill>
          <a:ln w="6350">
            <a:solidFill>
              <a:srgbClr val="D9DEE7"/>
            </a:solidFill>
            <a:prstDash val="solid"/>
          </a:ln>
        </p:spPr>
      </p:sp>
      <p:sp>
        <p:nvSpPr>
          <p:cNvPr id="20" name="Shape 16"/>
          <p:cNvSpPr/>
          <p:nvPr/>
        </p:nvSpPr>
        <p:spPr>
          <a:xfrm>
            <a:off x="6746443" y="4590288"/>
            <a:ext cx="329184" cy="329184"/>
          </a:xfrm>
          <a:prstGeom prst="ellipse">
            <a:avLst/>
          </a:prstGeom>
          <a:solidFill>
            <a:srgbClr val="C9A227"/>
          </a:solidFill>
          <a:ln w="12700">
            <a:solidFill>
              <a:srgbClr val="C9A227"/>
            </a:solidFill>
            <a:prstDash val="solid"/>
          </a:ln>
        </p:spPr>
      </p:sp>
      <p:sp>
        <p:nvSpPr>
          <p:cNvPr id="21" name="Text 17"/>
          <p:cNvSpPr txBox="1"/>
          <p:nvPr/>
        </p:nvSpPr>
        <p:spPr>
          <a:xfrm>
            <a:off x="6746443" y="459028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22" name="Text 18"/>
          <p:cNvSpPr txBox="1"/>
          <p:nvPr/>
        </p:nvSpPr>
        <p:spPr>
          <a:xfrm>
            <a:off x="5104181" y="457200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کلیک راست</a:t>
            </a:r>
            <a:endParaRPr lang="en-US" sz="1300" dirty="0"/>
          </a:p>
        </p:txBody>
      </p:sp>
      <p:sp>
        <p:nvSpPr>
          <p:cNvPr id="23" name="Text 19"/>
          <p:cNvSpPr txBox="1"/>
          <p:nvPr/>
        </p:nvSpPr>
        <p:spPr>
          <a:xfrm>
            <a:off x="5122469" y="4974336"/>
            <a:ext cx="1944014" cy="53035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نسخهٔ دیگر در تب جدید یا کنار همین تب، نمایش کنار تب فعال، بستن بقیه یا همه.</a:t>
            </a:r>
            <a:endParaRPr lang="en-US" sz="1150" dirty="0"/>
          </a:p>
        </p:txBody>
      </p:sp>
      <p:sp>
        <p:nvSpPr>
          <p:cNvPr id="24" name="Shape 20"/>
          <p:cNvSpPr/>
          <p:nvPr/>
        </p:nvSpPr>
        <p:spPr>
          <a:xfrm>
            <a:off x="2712110" y="4498848"/>
            <a:ext cx="2163470" cy="1060704"/>
          </a:xfrm>
          <a:prstGeom prst="roundRect">
            <a:avLst>
              <a:gd name="adj" fmla="val 6897"/>
            </a:avLst>
          </a:prstGeom>
          <a:solidFill>
            <a:srgbClr val="FFFFFF"/>
          </a:solidFill>
          <a:ln w="6350">
            <a:solidFill>
              <a:srgbClr val="D9DEE7"/>
            </a:solidFill>
            <a:prstDash val="solid"/>
          </a:ln>
        </p:spPr>
      </p:sp>
      <p:sp>
        <p:nvSpPr>
          <p:cNvPr id="25" name="Shape 21"/>
          <p:cNvSpPr/>
          <p:nvPr/>
        </p:nvSpPr>
        <p:spPr>
          <a:xfrm>
            <a:off x="4445813" y="4590288"/>
            <a:ext cx="329184" cy="329184"/>
          </a:xfrm>
          <a:prstGeom prst="ellipse">
            <a:avLst/>
          </a:prstGeom>
          <a:solidFill>
            <a:srgbClr val="C9A227"/>
          </a:solidFill>
          <a:ln w="12700">
            <a:solidFill>
              <a:srgbClr val="C9A227"/>
            </a:solidFill>
            <a:prstDash val="solid"/>
          </a:ln>
        </p:spPr>
      </p:sp>
      <p:sp>
        <p:nvSpPr>
          <p:cNvPr id="26" name="Text 22"/>
          <p:cNvSpPr txBox="1"/>
          <p:nvPr/>
        </p:nvSpPr>
        <p:spPr>
          <a:xfrm>
            <a:off x="4445813" y="459028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7" name="Text 23"/>
          <p:cNvSpPr txBox="1"/>
          <p:nvPr/>
        </p:nvSpPr>
        <p:spPr>
          <a:xfrm>
            <a:off x="2803550" y="457200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کنار هم</a:t>
            </a:r>
            <a:endParaRPr lang="en-US" sz="1300" dirty="0"/>
          </a:p>
        </p:txBody>
      </p:sp>
      <p:sp>
        <p:nvSpPr>
          <p:cNvPr id="28" name="Text 24"/>
          <p:cNvSpPr txBox="1"/>
          <p:nvPr/>
        </p:nvSpPr>
        <p:spPr>
          <a:xfrm>
            <a:off x="2821838" y="4974336"/>
            <a:ext cx="1944014" cy="53035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دو فرم هم‌زمان؛ خط وسط را بکشید. «نمای تک‌صفحه» به حالت عادی برمی‌گردد.</a:t>
            </a:r>
            <a:endParaRPr lang="en-US" sz="1150" dirty="0"/>
          </a:p>
        </p:txBody>
      </p:sp>
      <p:sp>
        <p:nvSpPr>
          <p:cNvPr id="29" name="Shape 25"/>
          <p:cNvSpPr/>
          <p:nvPr/>
        </p:nvSpPr>
        <p:spPr>
          <a:xfrm>
            <a:off x="411480" y="4498848"/>
            <a:ext cx="2163470" cy="1060704"/>
          </a:xfrm>
          <a:prstGeom prst="roundRect">
            <a:avLst>
              <a:gd name="adj" fmla="val 6897"/>
            </a:avLst>
          </a:prstGeom>
          <a:solidFill>
            <a:srgbClr val="FFFFFF"/>
          </a:solidFill>
          <a:ln w="6350">
            <a:solidFill>
              <a:srgbClr val="D9DEE7"/>
            </a:solidFill>
            <a:prstDash val="solid"/>
          </a:ln>
        </p:spPr>
      </p:sp>
      <p:sp>
        <p:nvSpPr>
          <p:cNvPr id="30" name="Shape 26"/>
          <p:cNvSpPr/>
          <p:nvPr/>
        </p:nvSpPr>
        <p:spPr>
          <a:xfrm>
            <a:off x="2145182" y="4590288"/>
            <a:ext cx="329184" cy="329184"/>
          </a:xfrm>
          <a:prstGeom prst="ellipse">
            <a:avLst/>
          </a:prstGeom>
          <a:solidFill>
            <a:srgbClr val="C9A227"/>
          </a:solidFill>
          <a:ln w="12700">
            <a:solidFill>
              <a:srgbClr val="C9A227"/>
            </a:solidFill>
            <a:prstDash val="solid"/>
          </a:ln>
        </p:spPr>
      </p:sp>
      <p:sp>
        <p:nvSpPr>
          <p:cNvPr id="31" name="Text 27"/>
          <p:cNvSpPr txBox="1"/>
          <p:nvPr/>
        </p:nvSpPr>
        <p:spPr>
          <a:xfrm>
            <a:off x="2145182" y="459028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32" name="Text 28"/>
          <p:cNvSpPr txBox="1"/>
          <p:nvPr/>
        </p:nvSpPr>
        <p:spPr>
          <a:xfrm>
            <a:off x="502920" y="457200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لایسنس</a:t>
            </a:r>
            <a:endParaRPr lang="en-US" sz="1300" dirty="0"/>
          </a:p>
        </p:txBody>
      </p:sp>
      <p:sp>
        <p:nvSpPr>
          <p:cNvPr id="33" name="Text 29"/>
          <p:cNvSpPr txBox="1"/>
          <p:nvPr/>
        </p:nvSpPr>
        <p:spPr>
          <a:xfrm>
            <a:off x="521208" y="4974336"/>
            <a:ext cx="1944014" cy="53035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نوار آبی بالای صفحه یعنی لایسنس نزدیک انقضاست؛ پس از پایان مهلت، سامانه فقط‌خواندنی می‌شود.</a:t>
            </a:r>
            <a:endParaRPr lang="en-US" sz="1150" dirty="0"/>
          </a:p>
        </p:txBody>
      </p:sp>
      <p:sp>
        <p:nvSpPr>
          <p:cNvPr id="34" name="Shape 30"/>
          <p:cNvSpPr/>
          <p:nvPr/>
        </p:nvSpPr>
        <p:spPr>
          <a:xfrm>
            <a:off x="411480" y="5696712"/>
            <a:ext cx="11365992" cy="658368"/>
          </a:xfrm>
          <a:prstGeom prst="roundRect">
            <a:avLst>
              <a:gd name="adj" fmla="val 11111"/>
            </a:avLst>
          </a:prstGeom>
          <a:solidFill>
            <a:srgbClr val="F6EDCF"/>
          </a:solidFill>
          <a:ln w="9525">
            <a:solidFill>
              <a:srgbClr val="C9A227"/>
            </a:solidFill>
            <a:prstDash val="solid"/>
          </a:ln>
        </p:spPr>
      </p:sp>
      <p:sp>
        <p:nvSpPr>
          <p:cNvPr id="35" name="Text 31"/>
          <p:cNvSpPr txBox="1"/>
          <p:nvPr/>
        </p:nvSpPr>
        <p:spPr>
          <a:xfrm>
            <a:off x="10954512" y="5696712"/>
            <a:ext cx="731520" cy="658368"/>
          </a:xfrm>
          <a:prstGeom prst="rect">
            <a:avLst/>
          </a:prstGeom>
          <a:noFill/>
          <a:ln/>
        </p:spPr>
        <p:txBody>
          <a:bodyPr wrap="square" lIns="0" tIns="0" rIns="0" bIns="0" rtlCol="0" anchor="ctr"/>
          <a:lstStyle/>
          <a:p>
            <a:pPr rtl="1" algn="r" indent="0" marL="0">
              <a:buNone/>
            </a:pPr>
            <a:r>
              <a:rPr lang="en-US" sz="1400" b="1" dirty="0">
                <a:solidFill>
                  <a:srgbClr val="6B5410"/>
                </a:solidFill>
                <a:latin typeface="Tahoma" pitchFamily="34" charset="0"/>
                <a:ea typeface="Tahoma" pitchFamily="34" charset="-122"/>
                <a:cs typeface="Tahoma" pitchFamily="34" charset="-120"/>
              </a:rPr>
              <a:t>نکته</a:t>
            </a:r>
            <a:endParaRPr lang="en-US" sz="1400" dirty="0"/>
          </a:p>
        </p:txBody>
      </p:sp>
      <p:sp>
        <p:nvSpPr>
          <p:cNvPr id="36" name="Text 32"/>
          <p:cNvSpPr txBox="1"/>
          <p:nvPr/>
        </p:nvSpPr>
        <p:spPr>
          <a:xfrm>
            <a:off x="548640" y="5696712"/>
            <a:ext cx="10360152" cy="658368"/>
          </a:xfrm>
          <a:prstGeom prst="rect">
            <a:avLst/>
          </a:prstGeom>
          <a:noFill/>
          <a:ln/>
        </p:spPr>
        <p:txBody>
          <a:bodyPr wrap="square" lIns="0" tIns="0" rIns="0" bIns="0" rtlCol="0" anchor="ctr"/>
          <a:lstStyle/>
          <a:p>
            <a:pPr rtl="1" algn="r" indent="0" marL="0">
              <a:buNone/>
            </a:pPr>
            <a:r>
              <a:rPr lang="en-US" sz="1300" dirty="0">
                <a:solidFill>
                  <a:srgbClr val="4A3B0B"/>
                </a:solidFill>
                <a:latin typeface="Tahoma" pitchFamily="34" charset="0"/>
                <a:ea typeface="Tahoma" pitchFamily="34" charset="-122"/>
                <a:cs typeface="Tahoma" pitchFamily="34" charset="-120"/>
              </a:rPr>
              <a:t>زبانه‌های پشتی باز می‌مانند و فرم نیمه‌پر، فیلتر و صفحهٔ جدولشان از دست نمی‌رود؛ ولی بعد از تازه‌سازی (F5) فقط فهرست زبانه‌ها برمی‌گردد، نه محتوای فرم‌ها.</a:t>
            </a:r>
            <a:endParaRPr lang="en-US" sz="1300" dirty="0"/>
          </a:p>
        </p:txBody>
      </p:sp>
      <p:sp>
        <p:nvSpPr>
          <p:cNvPr id="37" name="Text 33"/>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شروع کار</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جدول‌ها — مرتب‌سازی، انتخاب ستون و تعداد ردیف</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ws03">    </p:cNvPr>
          <p:cNvPicPr>
            <a:picLocks noChangeAspect="1"/>
          </p:cNvPicPr>
          <p:nvPr/>
        </p:nvPicPr>
        <p:blipFill>
          <a:blip r:embed="rId1"/>
          <a:stretch>
            <a:fillRect/>
          </a:stretch>
        </p:blipFill>
        <p:spPr>
          <a:xfrm>
            <a:off x="484632" y="1302710"/>
            <a:ext cx="7260336" cy="4892660"/>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مرتب‌سازی</a:t>
            </a:r>
            <a:endParaRPr lang="en-US" sz="1400" dirty="0"/>
          </a:p>
        </p:txBody>
      </p:sp>
      <p:sp>
        <p:nvSpPr>
          <p:cNvPr id="8" name="Text 5"/>
          <p:cNvSpPr txBox="1"/>
          <p:nvPr/>
        </p:nvSpPr>
        <p:spPr>
          <a:xfrm>
            <a:off x="8046720" y="1517904"/>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روی سرستون کلیک کنید: صعودی ← نزولی ← ترتیب اصلی. مرتب‌سازی فقط روی ردیف‌های همین صفحه است.</a:t>
            </a:r>
            <a:endParaRPr lang="en-US" sz="1300" dirty="0"/>
          </a:p>
        </p:txBody>
      </p:sp>
      <p:sp>
        <p:nvSpPr>
          <p:cNvPr id="9" name="Shape 6"/>
          <p:cNvSpPr/>
          <p:nvPr/>
        </p:nvSpPr>
        <p:spPr>
          <a:xfrm>
            <a:off x="11393424" y="2323948"/>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32394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32394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ستون‌ها</a:t>
            </a:r>
            <a:endParaRPr lang="en-US" sz="1400" dirty="0"/>
          </a:p>
        </p:txBody>
      </p:sp>
      <p:sp>
        <p:nvSpPr>
          <p:cNvPr id="12" name="Text 9"/>
          <p:cNvSpPr txBox="1"/>
          <p:nvPr/>
        </p:nvSpPr>
        <p:spPr>
          <a:xfrm>
            <a:off x="8046720" y="2653132"/>
            <a:ext cx="3227832" cy="916229"/>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دکمهٔ «ستون‌ها» فهرست تیک‌دار ستون‌ها را باز می‌کند؛ انتخاب شما برای همان جدول در مرورگرتان به خاطر سپرده می‌شود.</a:t>
            </a:r>
            <a:endParaRPr lang="en-US" sz="1300" dirty="0"/>
          </a:p>
        </p:txBody>
      </p:sp>
      <p:sp>
        <p:nvSpPr>
          <p:cNvPr id="13" name="Shape 10"/>
          <p:cNvSpPr/>
          <p:nvPr/>
        </p:nvSpPr>
        <p:spPr>
          <a:xfrm>
            <a:off x="11393424" y="3679088"/>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67908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67908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نمایش همه</a:t>
            </a:r>
            <a:endParaRPr lang="en-US" sz="1400" dirty="0"/>
          </a:p>
        </p:txBody>
      </p:sp>
      <p:sp>
        <p:nvSpPr>
          <p:cNvPr id="16" name="Text 13"/>
          <p:cNvSpPr txBox="1"/>
          <p:nvPr/>
        </p:nvSpPr>
        <p:spPr>
          <a:xfrm>
            <a:off x="8046720" y="4008272"/>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«نمایش همهٔ ستون‌ها» تنظیم را برمی‌گرداند؛ ستون «عملیات» همیشه می‌ماند.</a:t>
            </a:r>
            <a:endParaRPr lang="en-US" sz="1300" dirty="0"/>
          </a:p>
        </p:txBody>
      </p:sp>
      <p:sp>
        <p:nvSpPr>
          <p:cNvPr id="17" name="Shape 14"/>
          <p:cNvSpPr/>
          <p:nvPr/>
        </p:nvSpPr>
        <p:spPr>
          <a:xfrm>
            <a:off x="11393424" y="4594403"/>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4594403"/>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4594403"/>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تعداد ردیف</a:t>
            </a:r>
            <a:endParaRPr lang="en-US" sz="1400" dirty="0"/>
          </a:p>
        </p:txBody>
      </p:sp>
      <p:sp>
        <p:nvSpPr>
          <p:cNvPr id="20" name="Text 17"/>
          <p:cNvSpPr txBox="1"/>
          <p:nvPr/>
        </p:nvSpPr>
        <p:spPr>
          <a:xfrm>
            <a:off x="8046720" y="4923587"/>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پایین جدول، تعداد ردیف هر صفحه را عوض کنید و بین صفحه‌ها بروید.</a:t>
            </a:r>
            <a:endParaRPr lang="en-US" sz="1300" dirty="0"/>
          </a:p>
        </p:txBody>
      </p:sp>
      <p:sp>
        <p:nvSpPr>
          <p:cNvPr id="21" name="Text 18"/>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شروع کار</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40080" y="457200"/>
            <a:ext cx="3840480" cy="5943600"/>
          </a:xfrm>
          <a:prstGeom prst="roundRect">
            <a:avLst>
              <a:gd name="adj" fmla="val 190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3" name="Image 0" descr="menu_pc">    </p:cNvPr>
          <p:cNvPicPr>
            <a:picLocks noChangeAspect="1"/>
          </p:cNvPicPr>
          <p:nvPr/>
        </p:nvPicPr>
        <p:blipFill>
          <a:blip r:embed="rId1"/>
          <a:stretch>
            <a:fillRect/>
          </a:stretch>
        </p:blipFill>
        <p:spPr>
          <a:xfrm>
            <a:off x="1564293" y="512064"/>
            <a:ext cx="1992054" cy="5833872"/>
          </a:xfrm>
          <a:prstGeom prst="rect">
            <a:avLst/>
          </a:prstGeom>
        </p:spPr>
      </p:pic>
      <p:sp>
        <p:nvSpPr>
          <p:cNvPr id="4" name="Shape 1"/>
          <p:cNvSpPr/>
          <p:nvPr/>
        </p:nvSpPr>
        <p:spPr>
          <a:xfrm>
            <a:off x="10515600" y="1188720"/>
            <a:ext cx="1234440" cy="1234440"/>
          </a:xfrm>
          <a:prstGeom prst="ellipse">
            <a:avLst/>
          </a:prstGeom>
          <a:solidFill>
            <a:srgbClr val="C9A227"/>
          </a:solidFill>
          <a:ln w="12700">
            <a:solidFill>
              <a:srgbClr val="C9A227"/>
            </a:solidFill>
            <a:prstDash val="solid"/>
          </a:ln>
        </p:spPr>
      </p:sp>
      <p:sp>
        <p:nvSpPr>
          <p:cNvPr id="5" name="Text 2"/>
          <p:cNvSpPr txBox="1"/>
          <p:nvPr/>
        </p:nvSpPr>
        <p:spPr>
          <a:xfrm>
            <a:off x="10515600" y="1188720"/>
            <a:ext cx="1234440" cy="1234440"/>
          </a:xfrm>
          <a:prstGeom prst="rect">
            <a:avLst/>
          </a:prstGeom>
          <a:noFill/>
          <a:ln/>
        </p:spPr>
        <p:txBody>
          <a:bodyPr wrap="square" lIns="0" tIns="0" rIns="0" bIns="0" rtlCol="0" anchor="ctr"/>
          <a:lstStyle/>
          <a:p>
            <a:pPr rtl="1" algn="ctr" indent="0" marL="0">
              <a:buNone/>
            </a:pPr>
            <a:r>
              <a:rPr lang="en-US" sz="4000" b="1" dirty="0">
                <a:solidFill>
                  <a:srgbClr val="1B2A49"/>
                </a:solidFill>
                <a:latin typeface="Tahoma" pitchFamily="34" charset="0"/>
                <a:ea typeface="Tahoma" pitchFamily="34" charset="-122"/>
                <a:cs typeface="Tahoma" pitchFamily="34" charset="-120"/>
              </a:rPr>
              <a:t>۱</a:t>
            </a:r>
            <a:endParaRPr lang="en-US" sz="4000" dirty="0"/>
          </a:p>
        </p:txBody>
      </p:sp>
      <p:sp>
        <p:nvSpPr>
          <p:cNvPr id="6" name="Text 3"/>
          <p:cNvSpPr txBox="1"/>
          <p:nvPr/>
        </p:nvSpPr>
        <p:spPr>
          <a:xfrm>
            <a:off x="5120640" y="2651760"/>
            <a:ext cx="6629400" cy="457200"/>
          </a:xfrm>
          <a:prstGeom prst="rect">
            <a:avLst/>
          </a:prstGeom>
          <a:noFill/>
          <a:ln/>
        </p:spPr>
        <p:txBody>
          <a:bodyPr wrap="square" lIns="0" tIns="0" rIns="0" bIns="0" rtlCol="0" anchor="ctr"/>
          <a:lstStyle/>
          <a:p>
            <a:pPr rtl="1" algn="r" indent="0" marL="0">
              <a:buNone/>
            </a:pPr>
            <a:r>
              <a:rPr lang="en-US" sz="1800" b="1" dirty="0">
                <a:solidFill>
                  <a:srgbClr val="C9A227"/>
                </a:solidFill>
                <a:latin typeface="Tahoma" pitchFamily="34" charset="0"/>
                <a:ea typeface="Tahoma" pitchFamily="34" charset="-122"/>
                <a:cs typeface="Tahoma" pitchFamily="34" charset="-120"/>
              </a:rPr>
              <a:t>بخش ۱</a:t>
            </a:r>
            <a:endParaRPr lang="en-US" sz="1800" dirty="0"/>
          </a:p>
        </p:txBody>
      </p:sp>
      <p:sp>
        <p:nvSpPr>
          <p:cNvPr id="7" name="Text 4"/>
          <p:cNvSpPr txBox="1"/>
          <p:nvPr/>
        </p:nvSpPr>
        <p:spPr>
          <a:xfrm>
            <a:off x="5120640" y="3108960"/>
            <a:ext cx="6629400" cy="1005840"/>
          </a:xfrm>
          <a:prstGeom prst="rect">
            <a:avLst/>
          </a:prstGeom>
          <a:noFill/>
          <a:ln/>
        </p:spPr>
        <p:txBody>
          <a:bodyPr wrap="square" lIns="0" tIns="0" rIns="0" bIns="0" rtlCol="0" anchor="ctr"/>
          <a:lstStyle/>
          <a:p>
            <a:pPr rtl="1" algn="r" indent="0" marL="0">
              <a:buNone/>
            </a:pPr>
            <a:r>
              <a:rPr lang="en-US" sz="3800" b="1" dirty="0">
                <a:solidFill>
                  <a:srgbClr val="FFFFFF"/>
                </a:solidFill>
                <a:latin typeface="Tahoma" pitchFamily="34" charset="0"/>
                <a:ea typeface="Tahoma" pitchFamily="34" charset="-122"/>
                <a:cs typeface="Tahoma" pitchFamily="34" charset="-120"/>
              </a:rPr>
              <a:t>تنخواه‌گردان</a:t>
            </a:r>
            <a:endParaRPr lang="en-US" sz="3800" dirty="0"/>
          </a:p>
        </p:txBody>
      </p:sp>
      <p:sp>
        <p:nvSpPr>
          <p:cNvPr id="8" name="Text 5"/>
          <p:cNvSpPr txBox="1"/>
          <p:nvPr/>
        </p:nvSpPr>
        <p:spPr>
          <a:xfrm>
            <a:off x="5120640" y="4206240"/>
            <a:ext cx="6629400" cy="1097280"/>
          </a:xfrm>
          <a:prstGeom prst="rect">
            <a:avLst/>
          </a:prstGeom>
          <a:noFill/>
          <a:ln/>
        </p:spPr>
        <p:txBody>
          <a:bodyPr wrap="square" lIns="0" tIns="0" rIns="0" bIns="0" rtlCol="0" anchor="t"/>
          <a:lstStyle/>
          <a:p>
            <a:pPr rtl="1" algn="r" indent="0" marL="0">
              <a:buNone/>
            </a:pPr>
            <a:r>
              <a:rPr lang="en-US" sz="1700" dirty="0">
                <a:solidFill>
                  <a:srgbClr val="C9D3E6"/>
                </a:solidFill>
                <a:latin typeface="Tahoma" pitchFamily="34" charset="0"/>
                <a:ea typeface="Tahoma" pitchFamily="34" charset="-122"/>
                <a:cs typeface="Tahoma" pitchFamily="34" charset="-120"/>
              </a:rPr>
              <a:t>از تعریف تنخواه تا ثبت هزینه، تأیید، ترمیم و تسویهٔ دوره با سند حسابداری</a:t>
            </a:r>
            <a:endParaRPr lang="en-US" sz="1700" dirty="0"/>
          </a:p>
        </p:txBody>
      </p:sp>
      <p:sp>
        <p:nvSpPr>
          <p:cNvPr id="9" name="Text 6"/>
          <p:cNvSpPr txBox="1"/>
          <p:nvPr/>
        </p:nvSpPr>
        <p:spPr>
          <a:xfrm>
            <a:off x="640080" y="6446520"/>
            <a:ext cx="3840480" cy="274320"/>
          </a:xfrm>
          <a:prstGeom prst="rect">
            <a:avLst/>
          </a:prstGeom>
          <a:noFill/>
          <a:ln/>
        </p:spPr>
        <p:txBody>
          <a:bodyPr wrap="square" lIns="0" tIns="0" rIns="0" bIns="0" rtlCol="0" anchor="ctr"/>
          <a:lstStyle/>
          <a:p>
            <a:pPr rtl="1" algn="ctr" indent="0" marL="0">
              <a:buNone/>
            </a:pPr>
            <a:r>
              <a:rPr lang="en-US" sz="1000" dirty="0">
                <a:solidFill>
                  <a:srgbClr val="A9B4C8"/>
                </a:solidFill>
                <a:latin typeface="Tahoma" pitchFamily="34" charset="0"/>
                <a:ea typeface="Tahoma" pitchFamily="34" charset="-122"/>
                <a:cs typeface="Tahoma" pitchFamily="34" charset="-120"/>
              </a:rPr>
              <a:t>تصویر: گروه منوی این بخش در نوار کناری</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چرخهٔ کامل تنخواه در یک نگاه</a:t>
            </a:r>
            <a:endParaRPr lang="en-US" sz="2600" dirty="0"/>
          </a:p>
        </p:txBody>
      </p:sp>
      <p:sp>
        <p:nvSpPr>
          <p:cNvPr id="3" name="Shape 1"/>
          <p:cNvSpPr/>
          <p:nvPr/>
        </p:nvSpPr>
        <p:spPr>
          <a:xfrm>
            <a:off x="9796882" y="2103120"/>
            <a:ext cx="1980590" cy="2011680"/>
          </a:xfrm>
          <a:prstGeom prst="roundRect">
            <a:avLst>
              <a:gd name="adj" fmla="val 5540"/>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10512857" y="1828800"/>
            <a:ext cx="548640" cy="548640"/>
          </a:xfrm>
          <a:prstGeom prst="ellipse">
            <a:avLst/>
          </a:prstGeom>
          <a:solidFill>
            <a:srgbClr val="C9A227"/>
          </a:solidFill>
          <a:ln w="12700">
            <a:solidFill>
              <a:srgbClr val="C9A227"/>
            </a:solidFill>
            <a:prstDash val="solid"/>
          </a:ln>
        </p:spPr>
      </p:sp>
      <p:sp>
        <p:nvSpPr>
          <p:cNvPr id="5" name="Text 3"/>
          <p:cNvSpPr txBox="1"/>
          <p:nvPr/>
        </p:nvSpPr>
        <p:spPr>
          <a:xfrm>
            <a:off x="10512857"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۱</a:t>
            </a:r>
            <a:endParaRPr lang="en-US" sz="1800" dirty="0"/>
          </a:p>
        </p:txBody>
      </p:sp>
      <p:sp>
        <p:nvSpPr>
          <p:cNvPr id="6" name="Text 4"/>
          <p:cNvSpPr txBox="1"/>
          <p:nvPr/>
        </p:nvSpPr>
        <p:spPr>
          <a:xfrm>
            <a:off x="9906610" y="2560320"/>
            <a:ext cx="1761134" cy="685800"/>
          </a:xfrm>
          <a:prstGeom prst="rect">
            <a:avLst/>
          </a:prstGeom>
          <a:noFill/>
          <a:ln/>
        </p:spPr>
        <p:txBody>
          <a:bodyPr wrap="square" lIns="0" tIns="0" rIns="0" bIns="0" rtlCol="0" anchor="ctr"/>
          <a:lstStyle/>
          <a:p>
            <a:pPr rtl="1" algn="ctr" indent="0" marL="0">
              <a:buNone/>
            </a:pPr>
            <a:r>
              <a:rPr lang="en-US" sz="1600" b="1" dirty="0">
                <a:solidFill>
                  <a:srgbClr val="1B2A49"/>
                </a:solidFill>
                <a:latin typeface="Tahoma" pitchFamily="34" charset="0"/>
                <a:ea typeface="Tahoma" pitchFamily="34" charset="-122"/>
                <a:cs typeface="Tahoma" pitchFamily="34" charset="-120"/>
              </a:rPr>
              <a:t>تعریف تنخواه</a:t>
            </a:r>
            <a:endParaRPr lang="en-US" sz="1600" dirty="0"/>
          </a:p>
        </p:txBody>
      </p:sp>
      <p:sp>
        <p:nvSpPr>
          <p:cNvPr id="7" name="Text 5"/>
          <p:cNvSpPr txBox="1"/>
          <p:nvPr/>
        </p:nvSpPr>
        <p:spPr>
          <a:xfrm>
            <a:off x="9906610" y="3246120"/>
            <a:ext cx="1761134" cy="685800"/>
          </a:xfrm>
          <a:prstGeom prst="rect">
            <a:avLst/>
          </a:prstGeom>
          <a:noFill/>
          <a:ln/>
        </p:spPr>
        <p:txBody>
          <a:bodyPr wrap="square" lIns="0" tIns="0" rIns="0" bIns="0" rtlCol="0" anchor="t"/>
          <a:lstStyle/>
          <a:p>
            <a:pPr rtl="1" algn="ctr" indent="0" marL="0">
              <a:buNone/>
            </a:pPr>
            <a:r>
              <a:rPr lang="en-US" sz="1250" dirty="0">
                <a:solidFill>
                  <a:srgbClr val="5B6678"/>
                </a:solidFill>
                <a:latin typeface="Tahoma" pitchFamily="34" charset="0"/>
                <a:ea typeface="Tahoma" pitchFamily="34" charset="-122"/>
                <a:cs typeface="Tahoma" pitchFamily="34" charset="-120"/>
              </a:rPr>
              <a:t>سقف، تنخواه‌دار، بررسی‌کنندگان</a:t>
            </a:r>
            <a:endParaRPr lang="en-US" sz="1250" dirty="0"/>
          </a:p>
        </p:txBody>
      </p:sp>
      <p:sp>
        <p:nvSpPr>
          <p:cNvPr id="8" name="Text 6"/>
          <p:cNvSpPr txBox="1"/>
          <p:nvPr/>
        </p:nvSpPr>
        <p:spPr>
          <a:xfrm>
            <a:off x="9431122" y="2880360"/>
            <a:ext cx="365760" cy="457200"/>
          </a:xfrm>
          <a:prstGeom prst="rect">
            <a:avLst/>
          </a:prstGeom>
          <a:noFill/>
          <a:ln/>
        </p:spPr>
        <p:txBody>
          <a:bodyPr wrap="square" lIns="0" tIns="0" rIns="0" bIns="0" rtlCol="0" anchor="ctr"/>
          <a:lstStyle/>
          <a:p>
            <a:pPr rtl="1" algn="ctr" indent="0" marL="0">
              <a:buNone/>
            </a:pPr>
            <a:r>
              <a:rPr lang="en-US" sz="1600" dirty="0">
                <a:solidFill>
                  <a:srgbClr val="C9A227"/>
                </a:solidFill>
                <a:latin typeface="Tahoma" pitchFamily="34" charset="0"/>
                <a:ea typeface="Tahoma" pitchFamily="34" charset="-122"/>
                <a:cs typeface="Tahoma" pitchFamily="34" charset="-120"/>
              </a:rPr>
              <a:t>◀</a:t>
            </a:r>
            <a:endParaRPr lang="en-US" sz="1600" dirty="0"/>
          </a:p>
        </p:txBody>
      </p:sp>
      <p:sp>
        <p:nvSpPr>
          <p:cNvPr id="9" name="Shape 7"/>
          <p:cNvSpPr/>
          <p:nvPr/>
        </p:nvSpPr>
        <p:spPr>
          <a:xfrm>
            <a:off x="7450531" y="2103120"/>
            <a:ext cx="1980590" cy="2011680"/>
          </a:xfrm>
          <a:prstGeom prst="roundRect">
            <a:avLst>
              <a:gd name="adj" fmla="val 5540"/>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10" name="Shape 8"/>
          <p:cNvSpPr/>
          <p:nvPr/>
        </p:nvSpPr>
        <p:spPr>
          <a:xfrm>
            <a:off x="8166506" y="1828800"/>
            <a:ext cx="548640" cy="548640"/>
          </a:xfrm>
          <a:prstGeom prst="ellipse">
            <a:avLst/>
          </a:prstGeom>
          <a:solidFill>
            <a:srgbClr val="C9A227"/>
          </a:solidFill>
          <a:ln w="12700">
            <a:solidFill>
              <a:srgbClr val="C9A227"/>
            </a:solidFill>
            <a:prstDash val="solid"/>
          </a:ln>
        </p:spPr>
      </p:sp>
      <p:sp>
        <p:nvSpPr>
          <p:cNvPr id="11" name="Text 9"/>
          <p:cNvSpPr txBox="1"/>
          <p:nvPr/>
        </p:nvSpPr>
        <p:spPr>
          <a:xfrm>
            <a:off x="8166506"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۲</a:t>
            </a:r>
            <a:endParaRPr lang="en-US" sz="1800" dirty="0"/>
          </a:p>
        </p:txBody>
      </p:sp>
      <p:sp>
        <p:nvSpPr>
          <p:cNvPr id="12" name="Text 10"/>
          <p:cNvSpPr txBox="1"/>
          <p:nvPr/>
        </p:nvSpPr>
        <p:spPr>
          <a:xfrm>
            <a:off x="7560259" y="2560320"/>
            <a:ext cx="1761134" cy="685800"/>
          </a:xfrm>
          <a:prstGeom prst="rect">
            <a:avLst/>
          </a:prstGeom>
          <a:noFill/>
          <a:ln/>
        </p:spPr>
        <p:txBody>
          <a:bodyPr wrap="square" lIns="0" tIns="0" rIns="0" bIns="0" rtlCol="0" anchor="ctr"/>
          <a:lstStyle/>
          <a:p>
            <a:pPr rtl="1" algn="ctr" indent="0" marL="0">
              <a:buNone/>
            </a:pPr>
            <a:r>
              <a:rPr lang="en-US" sz="1600" b="1" dirty="0">
                <a:solidFill>
                  <a:srgbClr val="1B2A49"/>
                </a:solidFill>
                <a:latin typeface="Tahoma" pitchFamily="34" charset="0"/>
                <a:ea typeface="Tahoma" pitchFamily="34" charset="-122"/>
                <a:cs typeface="Tahoma" pitchFamily="34" charset="-120"/>
              </a:rPr>
              <a:t>ثبت صورت‌هزینه</a:t>
            </a:r>
            <a:endParaRPr lang="en-US" sz="1600" dirty="0"/>
          </a:p>
        </p:txBody>
      </p:sp>
      <p:sp>
        <p:nvSpPr>
          <p:cNvPr id="13" name="Text 11"/>
          <p:cNvSpPr txBox="1"/>
          <p:nvPr/>
        </p:nvSpPr>
        <p:spPr>
          <a:xfrm>
            <a:off x="7560259" y="3246120"/>
            <a:ext cx="1761134" cy="685800"/>
          </a:xfrm>
          <a:prstGeom prst="rect">
            <a:avLst/>
          </a:prstGeom>
          <a:noFill/>
          <a:ln/>
        </p:spPr>
        <p:txBody>
          <a:bodyPr wrap="square" lIns="0" tIns="0" rIns="0" bIns="0" rtlCol="0" anchor="t"/>
          <a:lstStyle/>
          <a:p>
            <a:pPr rtl="1" algn="ctr" indent="0" marL="0">
              <a:buNone/>
            </a:pPr>
            <a:r>
              <a:rPr lang="en-US" sz="1250" dirty="0">
                <a:solidFill>
                  <a:srgbClr val="5B6678"/>
                </a:solidFill>
                <a:latin typeface="Tahoma" pitchFamily="34" charset="0"/>
                <a:ea typeface="Tahoma" pitchFamily="34" charset="-122"/>
                <a:cs typeface="Tahoma" pitchFamily="34" charset="-120"/>
              </a:rPr>
              <a:t>تنخواه‌دار + پیوست</a:t>
            </a:r>
            <a:endParaRPr lang="en-US" sz="1250" dirty="0"/>
          </a:p>
        </p:txBody>
      </p:sp>
      <p:sp>
        <p:nvSpPr>
          <p:cNvPr id="14" name="Text 12"/>
          <p:cNvSpPr txBox="1"/>
          <p:nvPr/>
        </p:nvSpPr>
        <p:spPr>
          <a:xfrm>
            <a:off x="7084771" y="2880360"/>
            <a:ext cx="365760" cy="457200"/>
          </a:xfrm>
          <a:prstGeom prst="rect">
            <a:avLst/>
          </a:prstGeom>
          <a:noFill/>
          <a:ln/>
        </p:spPr>
        <p:txBody>
          <a:bodyPr wrap="square" lIns="0" tIns="0" rIns="0" bIns="0" rtlCol="0" anchor="ctr"/>
          <a:lstStyle/>
          <a:p>
            <a:pPr rtl="1" algn="ctr" indent="0" marL="0">
              <a:buNone/>
            </a:pPr>
            <a:r>
              <a:rPr lang="en-US" sz="1600" dirty="0">
                <a:solidFill>
                  <a:srgbClr val="C9A227"/>
                </a:solidFill>
                <a:latin typeface="Tahoma" pitchFamily="34" charset="0"/>
                <a:ea typeface="Tahoma" pitchFamily="34" charset="-122"/>
                <a:cs typeface="Tahoma" pitchFamily="34" charset="-120"/>
              </a:rPr>
              <a:t>◀</a:t>
            </a:r>
            <a:endParaRPr lang="en-US" sz="1600" dirty="0"/>
          </a:p>
        </p:txBody>
      </p:sp>
      <p:sp>
        <p:nvSpPr>
          <p:cNvPr id="15" name="Shape 13"/>
          <p:cNvSpPr/>
          <p:nvPr/>
        </p:nvSpPr>
        <p:spPr>
          <a:xfrm>
            <a:off x="5104181" y="2103120"/>
            <a:ext cx="1980590" cy="2011680"/>
          </a:xfrm>
          <a:prstGeom prst="roundRect">
            <a:avLst>
              <a:gd name="adj" fmla="val 5540"/>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16" name="Shape 14"/>
          <p:cNvSpPr/>
          <p:nvPr/>
        </p:nvSpPr>
        <p:spPr>
          <a:xfrm>
            <a:off x="5820156" y="1828800"/>
            <a:ext cx="548640" cy="548640"/>
          </a:xfrm>
          <a:prstGeom prst="ellipse">
            <a:avLst/>
          </a:prstGeom>
          <a:solidFill>
            <a:srgbClr val="C9A227"/>
          </a:solidFill>
          <a:ln w="12700">
            <a:solidFill>
              <a:srgbClr val="C9A227"/>
            </a:solidFill>
            <a:prstDash val="solid"/>
          </a:ln>
        </p:spPr>
      </p:sp>
      <p:sp>
        <p:nvSpPr>
          <p:cNvPr id="17" name="Text 15"/>
          <p:cNvSpPr txBox="1"/>
          <p:nvPr/>
        </p:nvSpPr>
        <p:spPr>
          <a:xfrm>
            <a:off x="5820156"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۳</a:t>
            </a:r>
            <a:endParaRPr lang="en-US" sz="1800" dirty="0"/>
          </a:p>
        </p:txBody>
      </p:sp>
      <p:sp>
        <p:nvSpPr>
          <p:cNvPr id="18" name="Text 16"/>
          <p:cNvSpPr txBox="1"/>
          <p:nvPr/>
        </p:nvSpPr>
        <p:spPr>
          <a:xfrm>
            <a:off x="5213909" y="2560320"/>
            <a:ext cx="1761134" cy="685800"/>
          </a:xfrm>
          <a:prstGeom prst="rect">
            <a:avLst/>
          </a:prstGeom>
          <a:noFill/>
          <a:ln/>
        </p:spPr>
        <p:txBody>
          <a:bodyPr wrap="square" lIns="0" tIns="0" rIns="0" bIns="0" rtlCol="0" anchor="ctr"/>
          <a:lstStyle/>
          <a:p>
            <a:pPr rtl="1" algn="ctr" indent="0" marL="0">
              <a:buNone/>
            </a:pPr>
            <a:r>
              <a:rPr lang="en-US" sz="1600" b="1" dirty="0">
                <a:solidFill>
                  <a:srgbClr val="1B2A49"/>
                </a:solidFill>
                <a:latin typeface="Tahoma" pitchFamily="34" charset="0"/>
                <a:ea typeface="Tahoma" pitchFamily="34" charset="-122"/>
                <a:cs typeface="Tahoma" pitchFamily="34" charset="-120"/>
              </a:rPr>
              <a:t>بررسی و تأیید</a:t>
            </a:r>
            <a:endParaRPr lang="en-US" sz="1600" dirty="0"/>
          </a:p>
        </p:txBody>
      </p:sp>
      <p:sp>
        <p:nvSpPr>
          <p:cNvPr id="19" name="Text 17"/>
          <p:cNvSpPr txBox="1"/>
          <p:nvPr/>
        </p:nvSpPr>
        <p:spPr>
          <a:xfrm>
            <a:off x="5213909" y="3246120"/>
            <a:ext cx="1761134" cy="685800"/>
          </a:xfrm>
          <a:prstGeom prst="rect">
            <a:avLst/>
          </a:prstGeom>
          <a:noFill/>
          <a:ln/>
        </p:spPr>
        <p:txBody>
          <a:bodyPr wrap="square" lIns="0" tIns="0" rIns="0" bIns="0" rtlCol="0" anchor="t"/>
          <a:lstStyle/>
          <a:p>
            <a:pPr rtl="1" algn="ctr" indent="0" marL="0">
              <a:buNone/>
            </a:pPr>
            <a:r>
              <a:rPr lang="en-US" sz="1250" dirty="0">
                <a:solidFill>
                  <a:srgbClr val="5B6678"/>
                </a:solidFill>
                <a:latin typeface="Tahoma" pitchFamily="34" charset="0"/>
                <a:ea typeface="Tahoma" pitchFamily="34" charset="-122"/>
                <a:cs typeface="Tahoma" pitchFamily="34" charset="-120"/>
              </a:rPr>
              <a:t>بازرس ← مدیر مالی/مدیرعامل</a:t>
            </a:r>
            <a:endParaRPr lang="en-US" sz="1250" dirty="0"/>
          </a:p>
        </p:txBody>
      </p:sp>
      <p:sp>
        <p:nvSpPr>
          <p:cNvPr id="20" name="Text 18"/>
          <p:cNvSpPr txBox="1"/>
          <p:nvPr/>
        </p:nvSpPr>
        <p:spPr>
          <a:xfrm>
            <a:off x="4738421" y="2880360"/>
            <a:ext cx="365760" cy="457200"/>
          </a:xfrm>
          <a:prstGeom prst="rect">
            <a:avLst/>
          </a:prstGeom>
          <a:noFill/>
          <a:ln/>
        </p:spPr>
        <p:txBody>
          <a:bodyPr wrap="square" lIns="0" tIns="0" rIns="0" bIns="0" rtlCol="0" anchor="ctr"/>
          <a:lstStyle/>
          <a:p>
            <a:pPr rtl="1" algn="ctr" indent="0" marL="0">
              <a:buNone/>
            </a:pPr>
            <a:r>
              <a:rPr lang="en-US" sz="1600" dirty="0">
                <a:solidFill>
                  <a:srgbClr val="C9A227"/>
                </a:solidFill>
                <a:latin typeface="Tahoma" pitchFamily="34" charset="0"/>
                <a:ea typeface="Tahoma" pitchFamily="34" charset="-122"/>
                <a:cs typeface="Tahoma" pitchFamily="34" charset="-120"/>
              </a:rPr>
              <a:t>◀</a:t>
            </a:r>
            <a:endParaRPr lang="en-US" sz="1600" dirty="0"/>
          </a:p>
        </p:txBody>
      </p:sp>
      <p:sp>
        <p:nvSpPr>
          <p:cNvPr id="21" name="Shape 19"/>
          <p:cNvSpPr/>
          <p:nvPr/>
        </p:nvSpPr>
        <p:spPr>
          <a:xfrm>
            <a:off x="2757830" y="2103120"/>
            <a:ext cx="1980590" cy="2011680"/>
          </a:xfrm>
          <a:prstGeom prst="roundRect">
            <a:avLst>
              <a:gd name="adj" fmla="val 5540"/>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22" name="Shape 20"/>
          <p:cNvSpPr/>
          <p:nvPr/>
        </p:nvSpPr>
        <p:spPr>
          <a:xfrm>
            <a:off x="3473806" y="1828800"/>
            <a:ext cx="548640" cy="548640"/>
          </a:xfrm>
          <a:prstGeom prst="ellipse">
            <a:avLst/>
          </a:prstGeom>
          <a:solidFill>
            <a:srgbClr val="C9A227"/>
          </a:solidFill>
          <a:ln w="12700">
            <a:solidFill>
              <a:srgbClr val="C9A227"/>
            </a:solidFill>
            <a:prstDash val="solid"/>
          </a:ln>
        </p:spPr>
      </p:sp>
      <p:sp>
        <p:nvSpPr>
          <p:cNvPr id="23" name="Text 21"/>
          <p:cNvSpPr txBox="1"/>
          <p:nvPr/>
        </p:nvSpPr>
        <p:spPr>
          <a:xfrm>
            <a:off x="3473806"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۴</a:t>
            </a:r>
            <a:endParaRPr lang="en-US" sz="1800" dirty="0"/>
          </a:p>
        </p:txBody>
      </p:sp>
      <p:sp>
        <p:nvSpPr>
          <p:cNvPr id="24" name="Text 22"/>
          <p:cNvSpPr txBox="1"/>
          <p:nvPr/>
        </p:nvSpPr>
        <p:spPr>
          <a:xfrm>
            <a:off x="2867558" y="2560320"/>
            <a:ext cx="1761134" cy="685800"/>
          </a:xfrm>
          <a:prstGeom prst="rect">
            <a:avLst/>
          </a:prstGeom>
          <a:noFill/>
          <a:ln/>
        </p:spPr>
        <p:txBody>
          <a:bodyPr wrap="square" lIns="0" tIns="0" rIns="0" bIns="0" rtlCol="0" anchor="ctr"/>
          <a:lstStyle/>
          <a:p>
            <a:pPr rtl="1" algn="ctr" indent="0" marL="0">
              <a:buNone/>
            </a:pPr>
            <a:r>
              <a:rPr lang="en-US" sz="1600" b="1" dirty="0">
                <a:solidFill>
                  <a:srgbClr val="1B2A49"/>
                </a:solidFill>
                <a:latin typeface="Tahoma" pitchFamily="34" charset="0"/>
                <a:ea typeface="Tahoma" pitchFamily="34" charset="-122"/>
                <a:cs typeface="Tahoma" pitchFamily="34" charset="-120"/>
              </a:rPr>
              <a:t>ترمیم (شارژ)</a:t>
            </a:r>
            <a:endParaRPr lang="en-US" sz="1600" dirty="0"/>
          </a:p>
        </p:txBody>
      </p:sp>
      <p:sp>
        <p:nvSpPr>
          <p:cNvPr id="25" name="Text 23"/>
          <p:cNvSpPr txBox="1"/>
          <p:nvPr/>
        </p:nvSpPr>
        <p:spPr>
          <a:xfrm>
            <a:off x="2867558" y="3246120"/>
            <a:ext cx="1761134" cy="685800"/>
          </a:xfrm>
          <a:prstGeom prst="rect">
            <a:avLst/>
          </a:prstGeom>
          <a:noFill/>
          <a:ln/>
        </p:spPr>
        <p:txBody>
          <a:bodyPr wrap="square" lIns="0" tIns="0" rIns="0" bIns="0" rtlCol="0" anchor="t"/>
          <a:lstStyle/>
          <a:p>
            <a:pPr rtl="1" algn="ctr" indent="0" marL="0">
              <a:buNone/>
            </a:pPr>
            <a:r>
              <a:rPr lang="en-US" sz="1250" dirty="0">
                <a:solidFill>
                  <a:srgbClr val="5B6678"/>
                </a:solidFill>
                <a:latin typeface="Tahoma" pitchFamily="34" charset="0"/>
                <a:ea typeface="Tahoma" pitchFamily="34" charset="-122"/>
                <a:cs typeface="Tahoma" pitchFamily="34" charset="-120"/>
              </a:rPr>
              <a:t>مدیر مالی ← خزانه‌دار</a:t>
            </a:r>
            <a:endParaRPr lang="en-US" sz="1250" dirty="0"/>
          </a:p>
        </p:txBody>
      </p:sp>
      <p:sp>
        <p:nvSpPr>
          <p:cNvPr id="26" name="Text 24"/>
          <p:cNvSpPr txBox="1"/>
          <p:nvPr/>
        </p:nvSpPr>
        <p:spPr>
          <a:xfrm>
            <a:off x="2392070" y="2880360"/>
            <a:ext cx="365760" cy="457200"/>
          </a:xfrm>
          <a:prstGeom prst="rect">
            <a:avLst/>
          </a:prstGeom>
          <a:noFill/>
          <a:ln/>
        </p:spPr>
        <p:txBody>
          <a:bodyPr wrap="square" lIns="0" tIns="0" rIns="0" bIns="0" rtlCol="0" anchor="ctr"/>
          <a:lstStyle/>
          <a:p>
            <a:pPr rtl="1" algn="ctr" indent="0" marL="0">
              <a:buNone/>
            </a:pPr>
            <a:r>
              <a:rPr lang="en-US" sz="1600" dirty="0">
                <a:solidFill>
                  <a:srgbClr val="C9A227"/>
                </a:solidFill>
                <a:latin typeface="Tahoma" pitchFamily="34" charset="0"/>
                <a:ea typeface="Tahoma" pitchFamily="34" charset="-122"/>
                <a:cs typeface="Tahoma" pitchFamily="34" charset="-120"/>
              </a:rPr>
              <a:t>◀</a:t>
            </a:r>
            <a:endParaRPr lang="en-US" sz="1600" dirty="0"/>
          </a:p>
        </p:txBody>
      </p:sp>
      <p:sp>
        <p:nvSpPr>
          <p:cNvPr id="27" name="Shape 25"/>
          <p:cNvSpPr/>
          <p:nvPr/>
        </p:nvSpPr>
        <p:spPr>
          <a:xfrm>
            <a:off x="411480" y="2103120"/>
            <a:ext cx="1980590" cy="2011680"/>
          </a:xfrm>
          <a:prstGeom prst="roundRect">
            <a:avLst>
              <a:gd name="adj" fmla="val 5540"/>
            </a:avLst>
          </a:prstGeom>
          <a:solidFill>
            <a:srgbClr val="1B2A49"/>
          </a:solidFill>
          <a:ln w="9525">
            <a:solidFill>
              <a:srgbClr val="1B2A49"/>
            </a:solidFill>
            <a:prstDash val="solid"/>
          </a:ln>
          <a:effectLst>
            <a:outerShdw sx="100000" sy="100000" kx="0" ky="0" algn="bl" rotWithShape="0" blurRad="101600" dist="25400" dir="5400000">
              <a:srgbClr val="000000">
                <a:alpha val="12000"/>
              </a:srgbClr>
            </a:outerShdw>
          </a:effectLst>
        </p:spPr>
      </p:sp>
      <p:sp>
        <p:nvSpPr>
          <p:cNvPr id="28" name="Shape 26"/>
          <p:cNvSpPr/>
          <p:nvPr/>
        </p:nvSpPr>
        <p:spPr>
          <a:xfrm>
            <a:off x="1127455" y="1828800"/>
            <a:ext cx="548640" cy="548640"/>
          </a:xfrm>
          <a:prstGeom prst="ellipse">
            <a:avLst/>
          </a:prstGeom>
          <a:solidFill>
            <a:srgbClr val="C9A227"/>
          </a:solidFill>
          <a:ln w="12700">
            <a:solidFill>
              <a:srgbClr val="C9A227"/>
            </a:solidFill>
            <a:prstDash val="solid"/>
          </a:ln>
        </p:spPr>
      </p:sp>
      <p:sp>
        <p:nvSpPr>
          <p:cNvPr id="29" name="Text 27"/>
          <p:cNvSpPr txBox="1"/>
          <p:nvPr/>
        </p:nvSpPr>
        <p:spPr>
          <a:xfrm>
            <a:off x="1127455"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۵</a:t>
            </a:r>
            <a:endParaRPr lang="en-US" sz="1800" dirty="0"/>
          </a:p>
        </p:txBody>
      </p:sp>
      <p:sp>
        <p:nvSpPr>
          <p:cNvPr id="30" name="Text 28"/>
          <p:cNvSpPr txBox="1"/>
          <p:nvPr/>
        </p:nvSpPr>
        <p:spPr>
          <a:xfrm>
            <a:off x="521208" y="2560320"/>
            <a:ext cx="1761134" cy="685800"/>
          </a:xfrm>
          <a:prstGeom prst="rect">
            <a:avLst/>
          </a:prstGeom>
          <a:noFill/>
          <a:ln/>
        </p:spPr>
        <p:txBody>
          <a:bodyPr wrap="square" lIns="0" tIns="0" rIns="0" bIns="0" rtlCol="0" anchor="ctr"/>
          <a:lstStyle/>
          <a:p>
            <a:pPr rtl="1" algn="ctr" indent="0" marL="0">
              <a:buNone/>
            </a:pPr>
            <a:r>
              <a:rPr lang="en-US" sz="1600" b="1" dirty="0">
                <a:solidFill>
                  <a:srgbClr val="FFFFFF"/>
                </a:solidFill>
                <a:latin typeface="Tahoma" pitchFamily="34" charset="0"/>
                <a:ea typeface="Tahoma" pitchFamily="34" charset="-122"/>
                <a:cs typeface="Tahoma" pitchFamily="34" charset="-120"/>
              </a:rPr>
              <a:t>تسویهٔ دوره</a:t>
            </a:r>
            <a:endParaRPr lang="en-US" sz="1600" dirty="0"/>
          </a:p>
        </p:txBody>
      </p:sp>
      <p:sp>
        <p:nvSpPr>
          <p:cNvPr id="31" name="Text 29"/>
          <p:cNvSpPr txBox="1"/>
          <p:nvPr/>
        </p:nvSpPr>
        <p:spPr>
          <a:xfrm>
            <a:off x="521208" y="3246120"/>
            <a:ext cx="1761134" cy="685800"/>
          </a:xfrm>
          <a:prstGeom prst="rect">
            <a:avLst/>
          </a:prstGeom>
          <a:noFill/>
          <a:ln/>
        </p:spPr>
        <p:txBody>
          <a:bodyPr wrap="square" lIns="0" tIns="0" rIns="0" bIns="0" rtlCol="0" anchor="t"/>
          <a:lstStyle/>
          <a:p>
            <a:pPr rtl="1" algn="ctr" indent="0" marL="0">
              <a:buNone/>
            </a:pPr>
            <a:r>
              <a:rPr lang="en-US" sz="1250" dirty="0">
                <a:solidFill>
                  <a:srgbClr val="C9D3E6"/>
                </a:solidFill>
                <a:latin typeface="Tahoma" pitchFamily="34" charset="0"/>
                <a:ea typeface="Tahoma" pitchFamily="34" charset="-122"/>
                <a:cs typeface="Tahoma" pitchFamily="34" charset="-120"/>
              </a:rPr>
              <a:t>شمارش صندوق + سند حسابداری</a:t>
            </a:r>
            <a:endParaRPr lang="en-US" sz="1250" dirty="0"/>
          </a:p>
        </p:txBody>
      </p:sp>
      <p:sp>
        <p:nvSpPr>
          <p:cNvPr id="32" name="Shape 30"/>
          <p:cNvSpPr/>
          <p:nvPr/>
        </p:nvSpPr>
        <p:spPr>
          <a:xfrm>
            <a:off x="411480" y="4754880"/>
            <a:ext cx="11365992" cy="1143000"/>
          </a:xfrm>
          <a:prstGeom prst="roundRect">
            <a:avLst>
              <a:gd name="adj" fmla="val 8000"/>
            </a:avLst>
          </a:prstGeom>
          <a:solidFill>
            <a:srgbClr val="F6EDCF"/>
          </a:solidFill>
          <a:ln w="12700">
            <a:solidFill>
              <a:srgbClr val="F6EDCF"/>
            </a:solidFill>
            <a:prstDash val="solid"/>
          </a:ln>
        </p:spPr>
      </p:sp>
      <p:sp>
        <p:nvSpPr>
          <p:cNvPr id="33" name="Text 31"/>
          <p:cNvSpPr txBox="1"/>
          <p:nvPr/>
        </p:nvSpPr>
        <p:spPr>
          <a:xfrm>
            <a:off x="685800" y="4754880"/>
            <a:ext cx="10817352" cy="1143000"/>
          </a:xfrm>
          <a:prstGeom prst="rect">
            <a:avLst/>
          </a:prstGeom>
          <a:noFill/>
          <a:ln/>
        </p:spPr>
        <p:txBody>
          <a:bodyPr wrap="square" lIns="0" tIns="0" rIns="0" bIns="0" rtlCol="0" anchor="ctr"/>
          <a:lstStyle/>
          <a:p>
            <a:pPr rtl="1" algn="r" indent="0" marL="0">
              <a:buNone/>
            </a:pPr>
            <a:r>
              <a:rPr lang="en-US" sz="1500" dirty="0">
                <a:solidFill>
                  <a:srgbClr val="4A3B0B"/>
                </a:solidFill>
                <a:latin typeface="Tahoma" pitchFamily="34" charset="0"/>
                <a:ea typeface="Tahoma" pitchFamily="34" charset="-122"/>
                <a:cs typeface="Tahoma" pitchFamily="34" charset="-120"/>
              </a:rPr>
              <a:t>معادلهٔ تراز تنخواه:  سقف تنخواه = موجودی نقد + تأییدشدهٔ منتظر ترمیم + اسناد در جریان − استرداد</a:t>
            </a:r>
            <a:endParaRPr lang="en-US" sz="1500" dirty="0"/>
          </a:p>
        </p:txBody>
      </p:sp>
      <p:sp>
        <p:nvSpPr>
          <p:cNvPr id="34" name="Text 32"/>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تنخواه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نقش‌ها و وضعیت‌های صورت‌هزینه</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245352" y="1234440"/>
          <a:ext cx="5532120" cy="914400"/>
        </p:xfrm>
        <a:graphic>
          <a:graphicData uri="http://schemas.openxmlformats.org/drawingml/2006/table">
            <a:tbl>
              <a:tblPr/>
              <a:tblGrid>
                <a:gridCol w="1659636"/>
                <a:gridCol w="3872484"/>
              </a:tblGrid>
              <a:tr h="475488">
                <a:tc>
                  <a:txBody>
                    <a:bodyPr/>
                    <a:lstStyle/>
                    <a:p>
                      <a:pPr algn="r" indent="0" marL="0">
                        <a:buNone/>
                      </a:pPr>
                      <a:r>
                        <a:rPr lang="en-US" sz="1200" b="1" dirty="0">
                          <a:solidFill>
                            <a:srgbClr val="FFFFFF"/>
                          </a:solidFill>
                          <a:latin typeface="Tahoma" pitchFamily="34" charset="0"/>
                          <a:ea typeface="Tahoma" pitchFamily="34" charset="-122"/>
                          <a:cs typeface="Tahoma" pitchFamily="34" charset="-120"/>
                        </a:rPr>
                        <a:t>نقش</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B2A49"/>
                    </a:solidFill>
                  </a:tcPr>
                </a:tc>
                <a:tc>
                  <a:txBody>
                    <a:bodyPr/>
                    <a:lstStyle/>
                    <a:p>
                      <a:pPr algn="r" indent="0" marL="0">
                        <a:buNone/>
                      </a:pPr>
                      <a:r>
                        <a:rPr lang="en-US" sz="1200" b="1" dirty="0">
                          <a:solidFill>
                            <a:srgbClr val="FFFFFF"/>
                          </a:solidFill>
                          <a:latin typeface="Tahoma" pitchFamily="34" charset="0"/>
                          <a:ea typeface="Tahoma" pitchFamily="34" charset="-122"/>
                          <a:cs typeface="Tahoma" pitchFamily="34" charset="-120"/>
                        </a:rPr>
                        <a:t>چه کاری می‌کند</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B2A49"/>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تنخواه‌دار</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تنها کسی که صورت‌هزینه ثبت، ویرایش، ارسال یا حذف می‌کند</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بازرس مالی</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شروع بررسی و «تأیید کنترل» مدارک؛ برگشت یا رد</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مدیر مالی</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تأیید نهایی تا «سقف اختیار مدیر مالی»؛ ساخت و تأیید ترمیم</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مدیرعامل</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تأیید نهایی اسناد بالاتر از سقف اختیار مدیر مالی</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حسابدار ارشد</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نهایی‌سازی تسویهٔ دوره و صدور سند</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خزانه‌دار</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ثبت پرداخت ترمیم و ثبت استرداد وجه</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11480" y="1234440"/>
          <a:ext cx="5532120" cy="914400"/>
        </p:xfrm>
        <a:graphic>
          <a:graphicData uri="http://schemas.openxmlformats.org/drawingml/2006/table">
            <a:tbl>
              <a:tblPr/>
              <a:tblGrid>
                <a:gridCol w="1659636"/>
                <a:gridCol w="3872484"/>
              </a:tblGrid>
              <a:tr h="475488">
                <a:tc>
                  <a:txBody>
                    <a:bodyPr/>
                    <a:lstStyle/>
                    <a:p>
                      <a:pPr algn="r" indent="0" marL="0">
                        <a:buNone/>
                      </a:pPr>
                      <a:r>
                        <a:rPr lang="en-US" sz="1200" b="1" dirty="0">
                          <a:solidFill>
                            <a:srgbClr val="FFFFFF"/>
                          </a:solidFill>
                          <a:latin typeface="Tahoma" pitchFamily="34" charset="0"/>
                          <a:ea typeface="Tahoma" pitchFamily="34" charset="-122"/>
                          <a:cs typeface="Tahoma" pitchFamily="34" charset="-120"/>
                        </a:rPr>
                        <a:t>وضعیت</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B2A49"/>
                    </a:solidFill>
                  </a:tcPr>
                </a:tc>
                <a:tc>
                  <a:txBody>
                    <a:bodyPr/>
                    <a:lstStyle/>
                    <a:p>
                      <a:pPr algn="r" indent="0" marL="0">
                        <a:buNone/>
                      </a:pPr>
                      <a:r>
                        <a:rPr lang="en-US" sz="1200" b="1" dirty="0">
                          <a:solidFill>
                            <a:srgbClr val="FFFFFF"/>
                          </a:solidFill>
                          <a:latin typeface="Tahoma" pitchFamily="34" charset="0"/>
                          <a:ea typeface="Tahoma" pitchFamily="34" charset="-122"/>
                          <a:cs typeface="Tahoma" pitchFamily="34" charset="-120"/>
                        </a:rPr>
                        <a:t>معنا</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B2A49"/>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پیش‌نویس</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ذخیره شده، هنوز ارسال نشده (قابل ویرایش و حذف)</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جدید</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ارسال شده و در کارتابل بررسی</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در انتظار بررسی</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بازرس بررسی را شروع کرده است</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برگشتی</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برای اصلاح به تنخواه‌دار برگشته (با مهلت و دلیل)</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تأییدشده</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تأیید نهایی شده و منتظر ترمیم است</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ردشده</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پایانی؛ ترمیم نمی‌شود</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تسویه‌شده</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در سند تسویهٔ دوره منظور شده؛ قفل</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bl>
          </a:graphicData>
        </a:graphic>
      </p:graphicFrame>
      <p:sp>
        <p:nvSpPr>
          <p:cNvPr id="5" name="Shape 1"/>
          <p:cNvSpPr/>
          <p:nvPr/>
        </p:nvSpPr>
        <p:spPr>
          <a:xfrm>
            <a:off x="411480" y="5532120"/>
            <a:ext cx="11365992" cy="731520"/>
          </a:xfrm>
          <a:prstGeom prst="roundRect">
            <a:avLst>
              <a:gd name="adj" fmla="val 10000"/>
            </a:avLst>
          </a:prstGeom>
          <a:solidFill>
            <a:srgbClr val="F6EDCF"/>
          </a:solidFill>
          <a:ln w="12700">
            <a:solidFill>
              <a:srgbClr val="F6EDCF"/>
            </a:solidFill>
            <a:prstDash val="solid"/>
          </a:ln>
        </p:spPr>
      </p:sp>
      <p:sp>
        <p:nvSpPr>
          <p:cNvPr id="6" name="Text 2"/>
          <p:cNvSpPr txBox="1"/>
          <p:nvPr/>
        </p:nvSpPr>
        <p:spPr>
          <a:xfrm>
            <a:off x="640080" y="5532120"/>
            <a:ext cx="10908792" cy="731520"/>
          </a:xfrm>
          <a:prstGeom prst="rect">
            <a:avLst/>
          </a:prstGeom>
          <a:noFill/>
          <a:ln/>
        </p:spPr>
        <p:txBody>
          <a:bodyPr wrap="square" lIns="0" tIns="0" rIns="0" bIns="0" rtlCol="0" anchor="ctr"/>
          <a:lstStyle/>
          <a:p>
            <a:pPr rtl="1" algn="r" indent="0" marL="0">
              <a:buNone/>
            </a:pPr>
            <a:r>
              <a:rPr lang="en-US" sz="1400" dirty="0">
                <a:solidFill>
                  <a:srgbClr val="4A3B0B"/>
                </a:solidFill>
                <a:latin typeface="Tahoma" pitchFamily="34" charset="0"/>
                <a:ea typeface="Tahoma" pitchFamily="34" charset="-122"/>
                <a:cs typeface="Tahoma" pitchFamily="34" charset="-120"/>
              </a:rPr>
              <a:t>تفکیک وظایف: ثبت‌کنندهٔ سند نمی‌تواند آن را بررسی کند و کنترل‌کننده (بازرس) نمی‌تواند همان سند را تأیید نهایی کند.</a:t>
            </a:r>
            <a:endParaRPr lang="en-US" sz="1400" dirty="0"/>
          </a:p>
        </p:txBody>
      </p:sp>
      <p:sp>
        <p:nvSpPr>
          <p:cNvPr id="7" name="Text 3"/>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تنخواه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۱ — فهرست و تعریف تنخواه‌ها</a:t>
            </a:r>
            <a:endParaRPr lang="en-US" sz="2600" dirty="0"/>
          </a:p>
        </p:txBody>
      </p:sp>
      <p:sp>
        <p:nvSpPr>
          <p:cNvPr id="3" name="Shape 1"/>
          <p:cNvSpPr/>
          <p:nvPr/>
        </p:nvSpPr>
        <p:spPr>
          <a:xfrm>
            <a:off x="8586216" y="896112"/>
            <a:ext cx="3191256"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تنخواه و خزانه‌داری ← تعریف تنخواه</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pc01">    </p:cNvPr>
          <p:cNvPicPr>
            <a:picLocks noChangeAspect="1"/>
          </p:cNvPicPr>
          <p:nvPr/>
        </p:nvPicPr>
        <p:blipFill>
          <a:blip r:embed="rId1"/>
          <a:stretch>
            <a:fillRect/>
          </a:stretch>
        </p:blipFill>
        <p:spPr>
          <a:xfrm>
            <a:off x="491876" y="1399032"/>
            <a:ext cx="7245847"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فهرست</a:t>
            </a:r>
            <a:endParaRPr lang="en-US" sz="1400" dirty="0"/>
          </a:p>
        </p:txBody>
      </p:sp>
      <p:sp>
        <p:nvSpPr>
          <p:cNvPr id="10" name="Text 7"/>
          <p:cNvSpPr txBox="1"/>
          <p:nvPr/>
        </p:nvSpPr>
        <p:spPr>
          <a:xfrm>
            <a:off x="8046720" y="1700784"/>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هر ردیف یک تنخواه است با کد، عنوان، تنخواه‌دار، سقف، سقف هر سند و موجودی نقد لحظه‌ای.</a:t>
            </a:r>
            <a:endParaRPr lang="en-US" sz="1300" dirty="0"/>
          </a:p>
        </p:txBody>
      </p:sp>
      <p:sp>
        <p:nvSpPr>
          <p:cNvPr id="11" name="Shape 8"/>
          <p:cNvSpPr/>
          <p:nvPr/>
        </p:nvSpPr>
        <p:spPr>
          <a:xfrm>
            <a:off x="11393424" y="2506828"/>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50682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50682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تنخواه جدید</a:t>
            </a:r>
            <a:endParaRPr lang="en-US" sz="1400" dirty="0"/>
          </a:p>
        </p:txBody>
      </p:sp>
      <p:sp>
        <p:nvSpPr>
          <p:cNvPr id="14" name="Text 11"/>
          <p:cNvSpPr txBox="1"/>
          <p:nvPr/>
        </p:nvSpPr>
        <p:spPr>
          <a:xfrm>
            <a:off x="8046720" y="2836012"/>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دکمهٔ «تنخواه جدید» را بزنید تا فرم تعریف باز شود (اسلاید بعد).</a:t>
            </a:r>
            <a:endParaRPr lang="en-US" sz="1300" dirty="0"/>
          </a:p>
        </p:txBody>
      </p:sp>
      <p:sp>
        <p:nvSpPr>
          <p:cNvPr id="15" name="Shape 12"/>
          <p:cNvSpPr/>
          <p:nvPr/>
        </p:nvSpPr>
        <p:spPr>
          <a:xfrm>
            <a:off x="11393424" y="3422142"/>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42214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42214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آیکون‌های ردیف</a:t>
            </a:r>
            <a:endParaRPr lang="en-US" sz="1400" dirty="0"/>
          </a:p>
        </p:txBody>
      </p:sp>
      <p:sp>
        <p:nvSpPr>
          <p:cNvPr id="18" name="Text 15"/>
          <p:cNvSpPr txBox="1"/>
          <p:nvPr/>
        </p:nvSpPr>
        <p:spPr>
          <a:xfrm>
            <a:off x="8046720" y="3751326"/>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ویرایش، «بررسی‌کنندگان»، «تفصیلی‌های حساب معین» و حذف.</a:t>
            </a:r>
            <a:endParaRPr lang="en-US" sz="1300" dirty="0"/>
          </a:p>
        </p:txBody>
      </p:sp>
      <p:sp>
        <p:nvSpPr>
          <p:cNvPr id="19" name="Shape 16"/>
          <p:cNvSpPr/>
          <p:nvPr/>
        </p:nvSpPr>
        <p:spPr>
          <a:xfrm>
            <a:off x="11393424" y="4337456"/>
            <a:ext cx="347472" cy="347472"/>
          </a:xfrm>
          <a:prstGeom prst="ellipse">
            <a:avLst/>
          </a:prstGeom>
          <a:solidFill>
            <a:srgbClr val="C9A227"/>
          </a:solidFill>
          <a:ln w="12700">
            <a:solidFill>
              <a:srgbClr val="C9A227"/>
            </a:solidFill>
            <a:prstDash val="solid"/>
          </a:ln>
        </p:spPr>
      </p:sp>
      <p:sp>
        <p:nvSpPr>
          <p:cNvPr id="20" name="Text 17"/>
          <p:cNvSpPr txBox="1"/>
          <p:nvPr/>
        </p:nvSpPr>
        <p:spPr>
          <a:xfrm>
            <a:off x="11393424" y="4337456"/>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1" name="Text 18"/>
          <p:cNvSpPr txBox="1"/>
          <p:nvPr/>
        </p:nvSpPr>
        <p:spPr>
          <a:xfrm>
            <a:off x="8046720" y="4337456"/>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غیرفعال‌سازی</a:t>
            </a:r>
            <a:endParaRPr lang="en-US" sz="1400" dirty="0"/>
          </a:p>
        </p:txBody>
      </p:sp>
      <p:sp>
        <p:nvSpPr>
          <p:cNvPr id="22" name="Text 19"/>
          <p:cNvSpPr txBox="1"/>
          <p:nvPr/>
        </p:nvSpPr>
        <p:spPr>
          <a:xfrm>
            <a:off x="8046720" y="4666640"/>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تنخواه غیرفعال صورت‌هزینهٔ جدید نمی‌پذیرد؛ حذف فقط وقتی ممکن است که هیچ صورت‌هزینه‌ای نداشته باشد.</a:t>
            </a:r>
            <a:endParaRPr lang="en-US" sz="1300" dirty="0"/>
          </a:p>
        </p:txBody>
      </p:sp>
      <p:sp>
        <p:nvSpPr>
          <p:cNvPr id="23" name="Text 20"/>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تنخواه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۲ — فرم تعریف تنخواه</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pc02">    </p:cNvPr>
          <p:cNvPicPr>
            <a:picLocks noChangeAspect="1"/>
          </p:cNvPicPr>
          <p:nvPr/>
        </p:nvPicPr>
        <p:blipFill>
          <a:blip r:embed="rId1"/>
          <a:stretch>
            <a:fillRect/>
          </a:stretch>
        </p:blipFill>
        <p:spPr>
          <a:xfrm>
            <a:off x="1889715" y="1216152"/>
            <a:ext cx="4450169" cy="5065776"/>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کد و عنوان</a:t>
            </a:r>
            <a:endParaRPr lang="en-US" sz="1400" dirty="0"/>
          </a:p>
        </p:txBody>
      </p:sp>
      <p:sp>
        <p:nvSpPr>
          <p:cNvPr id="8" name="Text 5"/>
          <p:cNvSpPr txBox="1"/>
          <p:nvPr/>
        </p:nvSpPr>
        <p:spPr>
          <a:xfrm>
            <a:off x="8046720" y="1517904"/>
            <a:ext cx="3227832" cy="459486"/>
          </a:xfrm>
          <a:prstGeom prst="rect">
            <a:avLst/>
          </a:prstGeom>
          <a:noFill/>
          <a:ln/>
        </p:spPr>
        <p:txBody>
          <a:bodyPr wrap="square" lIns="0" tIns="0" rIns="0" bIns="0" rtlCol="0" anchor="t"/>
          <a:lstStyle/>
          <a:p>
            <a:pPr rtl="1" algn="r" indent="0" marL="0">
              <a:lnSpc>
                <a:spcPct val="105000"/>
              </a:lnSpc>
              <a:buNone/>
            </a:pPr>
            <a:r>
              <a:rPr lang="en-US" sz="1250" dirty="0">
                <a:solidFill>
                  <a:srgbClr val="1F2937"/>
                </a:solidFill>
                <a:latin typeface="Tahoma" pitchFamily="34" charset="0"/>
                <a:ea typeface="Tahoma" pitchFamily="34" charset="-122"/>
                <a:cs typeface="Tahoma" pitchFamily="34" charset="-120"/>
              </a:rPr>
              <a:t>کد در هر واحد باید یکتا باشد؛ مثلاً TN-01 «تنخواه اداری ستاد».</a:t>
            </a:r>
            <a:endParaRPr lang="en-US" sz="1250" dirty="0"/>
          </a:p>
        </p:txBody>
      </p:sp>
      <p:sp>
        <p:nvSpPr>
          <p:cNvPr id="9" name="Shape 6"/>
          <p:cNvSpPr/>
          <p:nvPr/>
        </p:nvSpPr>
        <p:spPr>
          <a:xfrm>
            <a:off x="11393424" y="2087118"/>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08711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08711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تنخواه‌دار</a:t>
            </a:r>
            <a:endParaRPr lang="en-US" sz="1400" dirty="0"/>
          </a:p>
        </p:txBody>
      </p:sp>
      <p:sp>
        <p:nvSpPr>
          <p:cNvPr id="12" name="Text 9"/>
          <p:cNvSpPr txBox="1"/>
          <p:nvPr/>
        </p:nvSpPr>
        <p:spPr>
          <a:xfrm>
            <a:off x="8046720" y="2416302"/>
            <a:ext cx="3227832" cy="459486"/>
          </a:xfrm>
          <a:prstGeom prst="rect">
            <a:avLst/>
          </a:prstGeom>
          <a:noFill/>
          <a:ln/>
        </p:spPr>
        <p:txBody>
          <a:bodyPr wrap="square" lIns="0" tIns="0" rIns="0" bIns="0" rtlCol="0" anchor="t"/>
          <a:lstStyle/>
          <a:p>
            <a:pPr rtl="1" algn="r" indent="0" marL="0">
              <a:lnSpc>
                <a:spcPct val="105000"/>
              </a:lnSpc>
              <a:buNone/>
            </a:pPr>
            <a:r>
              <a:rPr lang="en-US" sz="1250" dirty="0">
                <a:solidFill>
                  <a:srgbClr val="1F2937"/>
                </a:solidFill>
                <a:latin typeface="Tahoma" pitchFamily="34" charset="0"/>
                <a:ea typeface="Tahoma" pitchFamily="34" charset="-122"/>
                <a:cs typeface="Tahoma" pitchFamily="34" charset="-120"/>
              </a:rPr>
              <a:t>کد کاربری و نام مسئول تنخواه؛ فقط او می‌تواند سند ثبت کند.</a:t>
            </a:r>
            <a:endParaRPr lang="en-US" sz="1250" dirty="0"/>
          </a:p>
        </p:txBody>
      </p:sp>
      <p:sp>
        <p:nvSpPr>
          <p:cNvPr id="13" name="Shape 10"/>
          <p:cNvSpPr/>
          <p:nvPr/>
        </p:nvSpPr>
        <p:spPr>
          <a:xfrm>
            <a:off x="11393424" y="2985516"/>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2985516"/>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2985516"/>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سقف‌ها</a:t>
            </a:r>
            <a:endParaRPr lang="en-US" sz="1400" dirty="0"/>
          </a:p>
        </p:txBody>
      </p:sp>
      <p:sp>
        <p:nvSpPr>
          <p:cNvPr id="16" name="Text 13"/>
          <p:cNvSpPr txBox="1"/>
          <p:nvPr/>
        </p:nvSpPr>
        <p:spPr>
          <a:xfrm>
            <a:off x="8046720" y="3314700"/>
            <a:ext cx="3227832" cy="459486"/>
          </a:xfrm>
          <a:prstGeom prst="rect">
            <a:avLst/>
          </a:prstGeom>
          <a:noFill/>
          <a:ln/>
        </p:spPr>
        <p:txBody>
          <a:bodyPr wrap="square" lIns="0" tIns="0" rIns="0" bIns="0" rtlCol="0" anchor="t"/>
          <a:lstStyle/>
          <a:p>
            <a:pPr rtl="1" algn="r" indent="0" marL="0">
              <a:lnSpc>
                <a:spcPct val="105000"/>
              </a:lnSpc>
              <a:buNone/>
            </a:pPr>
            <a:r>
              <a:rPr lang="en-US" sz="1250" dirty="0">
                <a:solidFill>
                  <a:srgbClr val="1F2937"/>
                </a:solidFill>
                <a:latin typeface="Tahoma" pitchFamily="34" charset="0"/>
                <a:ea typeface="Tahoma" pitchFamily="34" charset="-122"/>
                <a:cs typeface="Tahoma" pitchFamily="34" charset="-120"/>
              </a:rPr>
              <a:t>سقف تنخواه، سقف هر سند و سقف اختیار تأیید مدیر مالی (بیشتر از آن ⇐ مدیرعامل).</a:t>
            </a:r>
            <a:endParaRPr lang="en-US" sz="1250" dirty="0"/>
          </a:p>
        </p:txBody>
      </p:sp>
      <p:sp>
        <p:nvSpPr>
          <p:cNvPr id="17" name="Shape 14"/>
          <p:cNvSpPr/>
          <p:nvPr/>
        </p:nvSpPr>
        <p:spPr>
          <a:xfrm>
            <a:off x="11393424" y="3883914"/>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388391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388391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آستانهٔ هشدار</a:t>
            </a:r>
            <a:endParaRPr lang="en-US" sz="1400" dirty="0"/>
          </a:p>
        </p:txBody>
      </p:sp>
      <p:sp>
        <p:nvSpPr>
          <p:cNvPr id="20" name="Text 17"/>
          <p:cNvSpPr txBox="1"/>
          <p:nvPr/>
        </p:nvSpPr>
        <p:spPr>
          <a:xfrm>
            <a:off x="8046720" y="4213098"/>
            <a:ext cx="3227832" cy="459486"/>
          </a:xfrm>
          <a:prstGeom prst="rect">
            <a:avLst/>
          </a:prstGeom>
          <a:noFill/>
          <a:ln/>
        </p:spPr>
        <p:txBody>
          <a:bodyPr wrap="square" lIns="0" tIns="0" rIns="0" bIns="0" rtlCol="0" anchor="t"/>
          <a:lstStyle/>
          <a:p>
            <a:pPr rtl="1" algn="r" indent="0" marL="0">
              <a:lnSpc>
                <a:spcPct val="105000"/>
              </a:lnSpc>
              <a:buNone/>
            </a:pPr>
            <a:r>
              <a:rPr lang="en-US" sz="1250" dirty="0">
                <a:solidFill>
                  <a:srgbClr val="1F2937"/>
                </a:solidFill>
                <a:latin typeface="Tahoma" pitchFamily="34" charset="0"/>
                <a:ea typeface="Tahoma" pitchFamily="34" charset="-122"/>
                <a:cs typeface="Tahoma" pitchFamily="34" charset="-120"/>
              </a:rPr>
              <a:t>وقتی موجودی نقد از این درصد سقف کمتر شود داشبورد هشدار می‌دهد.</a:t>
            </a:r>
            <a:endParaRPr lang="en-US" sz="1250" dirty="0"/>
          </a:p>
        </p:txBody>
      </p:sp>
      <p:sp>
        <p:nvSpPr>
          <p:cNvPr id="21" name="Shape 18"/>
          <p:cNvSpPr/>
          <p:nvPr/>
        </p:nvSpPr>
        <p:spPr>
          <a:xfrm>
            <a:off x="11393424" y="4782312"/>
            <a:ext cx="347472" cy="347472"/>
          </a:xfrm>
          <a:prstGeom prst="ellipse">
            <a:avLst/>
          </a:prstGeom>
          <a:solidFill>
            <a:srgbClr val="C9A227"/>
          </a:solidFill>
          <a:ln w="12700">
            <a:solidFill>
              <a:srgbClr val="C9A227"/>
            </a:solidFill>
            <a:prstDash val="solid"/>
          </a:ln>
        </p:spPr>
      </p:sp>
      <p:sp>
        <p:nvSpPr>
          <p:cNvPr id="22" name="Text 19"/>
          <p:cNvSpPr txBox="1"/>
          <p:nvPr/>
        </p:nvSpPr>
        <p:spPr>
          <a:xfrm>
            <a:off x="11393424" y="478231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23" name="Text 20"/>
          <p:cNvSpPr txBox="1"/>
          <p:nvPr/>
        </p:nvSpPr>
        <p:spPr>
          <a:xfrm>
            <a:off x="8046720" y="478231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حساب معین و دورهٔ تسویه</a:t>
            </a:r>
            <a:endParaRPr lang="en-US" sz="1400" dirty="0"/>
          </a:p>
        </p:txBody>
      </p:sp>
      <p:sp>
        <p:nvSpPr>
          <p:cNvPr id="24" name="Text 21"/>
          <p:cNvSpPr txBox="1"/>
          <p:nvPr/>
        </p:nvSpPr>
        <p:spPr>
          <a:xfrm>
            <a:off x="8046720" y="5111496"/>
            <a:ext cx="3227832" cy="459486"/>
          </a:xfrm>
          <a:prstGeom prst="rect">
            <a:avLst/>
          </a:prstGeom>
          <a:noFill/>
          <a:ln/>
        </p:spPr>
        <p:txBody>
          <a:bodyPr wrap="square" lIns="0" tIns="0" rIns="0" bIns="0" rtlCol="0" anchor="t"/>
          <a:lstStyle/>
          <a:p>
            <a:pPr rtl="1" algn="r" indent="0" marL="0">
              <a:lnSpc>
                <a:spcPct val="105000"/>
              </a:lnSpc>
              <a:buNone/>
            </a:pPr>
            <a:r>
              <a:rPr lang="en-US" sz="1250" dirty="0">
                <a:solidFill>
                  <a:srgbClr val="1F2937"/>
                </a:solidFill>
                <a:latin typeface="Tahoma" pitchFamily="34" charset="0"/>
                <a:ea typeface="Tahoma" pitchFamily="34" charset="-122"/>
                <a:cs typeface="Tahoma" pitchFamily="34" charset="-120"/>
              </a:rPr>
              <a:t>حساب «تنخواه‌گردان‌ها» و ماهانه/فصلی؛ «ثبت‌کنندهٔ استرداد» را هم تعیین کنید.</a:t>
            </a:r>
            <a:endParaRPr lang="en-US" sz="1250" dirty="0"/>
          </a:p>
        </p:txBody>
      </p:sp>
      <p:sp>
        <p:nvSpPr>
          <p:cNvPr id="25" name="Shape 22"/>
          <p:cNvSpPr/>
          <p:nvPr/>
        </p:nvSpPr>
        <p:spPr>
          <a:xfrm>
            <a:off x="11393424" y="5680710"/>
            <a:ext cx="347472" cy="347472"/>
          </a:xfrm>
          <a:prstGeom prst="ellipse">
            <a:avLst/>
          </a:prstGeom>
          <a:solidFill>
            <a:srgbClr val="C9A227"/>
          </a:solidFill>
          <a:ln w="12700">
            <a:solidFill>
              <a:srgbClr val="C9A227"/>
            </a:solidFill>
            <a:prstDash val="solid"/>
          </a:ln>
        </p:spPr>
      </p:sp>
      <p:sp>
        <p:nvSpPr>
          <p:cNvPr id="26" name="Text 23"/>
          <p:cNvSpPr txBox="1"/>
          <p:nvPr/>
        </p:nvSpPr>
        <p:spPr>
          <a:xfrm>
            <a:off x="11393424" y="568071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۶</a:t>
            </a:r>
            <a:endParaRPr lang="en-US" sz="1300" dirty="0"/>
          </a:p>
        </p:txBody>
      </p:sp>
      <p:sp>
        <p:nvSpPr>
          <p:cNvPr id="27" name="Text 24"/>
          <p:cNvSpPr txBox="1"/>
          <p:nvPr/>
        </p:nvSpPr>
        <p:spPr>
          <a:xfrm>
            <a:off x="8046720" y="568071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ذخیره</a:t>
            </a:r>
            <a:endParaRPr lang="en-US" sz="1400" dirty="0"/>
          </a:p>
        </p:txBody>
      </p:sp>
      <p:sp>
        <p:nvSpPr>
          <p:cNvPr id="28" name="Text 25"/>
          <p:cNvSpPr txBox="1"/>
          <p:nvPr/>
        </p:nvSpPr>
        <p:spPr>
          <a:xfrm>
            <a:off x="8046720" y="6009894"/>
            <a:ext cx="3227832" cy="459486"/>
          </a:xfrm>
          <a:prstGeom prst="rect">
            <a:avLst/>
          </a:prstGeom>
          <a:noFill/>
          <a:ln/>
        </p:spPr>
        <p:txBody>
          <a:bodyPr wrap="square" lIns="0" tIns="0" rIns="0" bIns="0" rtlCol="0" anchor="t"/>
          <a:lstStyle/>
          <a:p>
            <a:pPr rtl="1" algn="r" indent="0" marL="0">
              <a:lnSpc>
                <a:spcPct val="105000"/>
              </a:lnSpc>
              <a:buNone/>
            </a:pPr>
            <a:r>
              <a:rPr lang="en-US" sz="1250" dirty="0">
                <a:solidFill>
                  <a:srgbClr val="1F2937"/>
                </a:solidFill>
                <a:latin typeface="Tahoma" pitchFamily="34" charset="0"/>
                <a:ea typeface="Tahoma" pitchFamily="34" charset="-122"/>
                <a:cs typeface="Tahoma" pitchFamily="34" charset="-120"/>
              </a:rPr>
              <a:t>وضعیت «فعال» را روشن بگذارید و ذخیره کنید.</a:t>
            </a:r>
            <a:endParaRPr lang="en-US" sz="1250" dirty="0"/>
          </a:p>
        </p:txBody>
      </p:sp>
      <p:sp>
        <p:nvSpPr>
          <p:cNvPr id="29" name="Text 26"/>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تنخواه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۳ — تعیین بررسی‌کنندگان تنخواه</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pc03">    </p:cNvPr>
          <p:cNvPicPr>
            <a:picLocks noChangeAspect="1"/>
          </p:cNvPicPr>
          <p:nvPr/>
        </p:nvPicPr>
        <p:blipFill>
          <a:blip r:embed="rId1"/>
          <a:stretch>
            <a:fillRect/>
          </a:stretch>
        </p:blipFill>
        <p:spPr>
          <a:xfrm>
            <a:off x="1710159" y="1216152"/>
            <a:ext cx="4809281" cy="5065776"/>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باز کردن</a:t>
            </a:r>
            <a:endParaRPr lang="en-US" sz="1400" dirty="0"/>
          </a:p>
        </p:txBody>
      </p:sp>
      <p:sp>
        <p:nvSpPr>
          <p:cNvPr id="8" name="Text 5"/>
          <p:cNvSpPr txBox="1"/>
          <p:nvPr/>
        </p:nvSpPr>
        <p:spPr>
          <a:xfrm>
            <a:off x="8046720" y="151790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در فهرست تنخواه‌ها آیکون «بررسی‌کنندگان» را بزنید.</a:t>
            </a:r>
            <a:endParaRPr lang="en-US" sz="1300" dirty="0"/>
          </a:p>
        </p:txBody>
      </p:sp>
      <p:sp>
        <p:nvSpPr>
          <p:cNvPr id="9" name="Shape 6"/>
          <p:cNvSpPr/>
          <p:nvPr/>
        </p:nvSpPr>
        <p:spPr>
          <a:xfrm>
            <a:off x="11393424" y="2104034"/>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10403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10403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افزودن</a:t>
            </a:r>
            <a:endParaRPr lang="en-US" sz="1400" dirty="0"/>
          </a:p>
        </p:txBody>
      </p:sp>
      <p:sp>
        <p:nvSpPr>
          <p:cNvPr id="12" name="Text 9"/>
          <p:cNvSpPr txBox="1"/>
          <p:nvPr/>
        </p:nvSpPr>
        <p:spPr>
          <a:xfrm>
            <a:off x="8046720" y="2433218"/>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کد کاربری، نام و نقش (بازرس مالی، مدیر مالی، مدیرعامل، حسابدار ارشد، خزانه‌دار) را وارد و «افزودن» کنید.</a:t>
            </a:r>
            <a:endParaRPr lang="en-US" sz="1300" dirty="0"/>
          </a:p>
        </p:txBody>
      </p:sp>
      <p:sp>
        <p:nvSpPr>
          <p:cNvPr id="13" name="Shape 10"/>
          <p:cNvSpPr/>
          <p:nvPr/>
        </p:nvSpPr>
        <p:spPr>
          <a:xfrm>
            <a:off x="11393424" y="3239262"/>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23926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23926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چند نقش</a:t>
            </a:r>
            <a:endParaRPr lang="en-US" sz="1400" dirty="0"/>
          </a:p>
        </p:txBody>
      </p:sp>
      <p:sp>
        <p:nvSpPr>
          <p:cNvPr id="16" name="Text 13"/>
          <p:cNvSpPr txBox="1"/>
          <p:nvPr/>
        </p:nvSpPr>
        <p:spPr>
          <a:xfrm>
            <a:off x="8046720" y="3568446"/>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یک کاربر می‌تواند روی یک تنخواه بیش از یک نقش داشته باشد.</a:t>
            </a:r>
            <a:endParaRPr lang="en-US" sz="1300" dirty="0"/>
          </a:p>
        </p:txBody>
      </p:sp>
      <p:sp>
        <p:nvSpPr>
          <p:cNvPr id="17" name="Shape 14"/>
          <p:cNvSpPr/>
          <p:nvPr/>
        </p:nvSpPr>
        <p:spPr>
          <a:xfrm>
            <a:off x="11393424" y="4154576"/>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4154576"/>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4154576"/>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تفصیلی معین</a:t>
            </a:r>
            <a:endParaRPr lang="en-US" sz="1400" dirty="0"/>
          </a:p>
        </p:txBody>
      </p:sp>
      <p:sp>
        <p:nvSpPr>
          <p:cNvPr id="20" name="Text 17"/>
          <p:cNvSpPr txBox="1"/>
          <p:nvPr/>
        </p:nvSpPr>
        <p:spPr>
          <a:xfrm>
            <a:off x="8046720" y="4483760"/>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از آیکون «تفصیلی‌های حساب معین» تفصیلی‌های لازم برای سند تسویه را تعیین کنید.</a:t>
            </a:r>
            <a:endParaRPr lang="en-US" sz="1300" dirty="0"/>
          </a:p>
        </p:txBody>
      </p:sp>
      <p:sp>
        <p:nvSpPr>
          <p:cNvPr id="21" name="Text 18"/>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تنخواه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۴ — ثبت صورت‌هزینه (تنخواه‌دار)</a:t>
            </a:r>
            <a:endParaRPr lang="en-US" sz="2600" dirty="0"/>
          </a:p>
        </p:txBody>
      </p:sp>
      <p:sp>
        <p:nvSpPr>
          <p:cNvPr id="3" name="Shape 1"/>
          <p:cNvSpPr/>
          <p:nvPr/>
        </p:nvSpPr>
        <p:spPr>
          <a:xfrm>
            <a:off x="8430768" y="896112"/>
            <a:ext cx="3346704"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تنخواه و خزانه‌داری ← ثبت صورت‌هزینه</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pc05">    </p:cNvPr>
          <p:cNvPicPr>
            <a:picLocks noChangeAspect="1"/>
          </p:cNvPicPr>
          <p:nvPr/>
        </p:nvPicPr>
        <p:blipFill>
          <a:blip r:embed="rId1"/>
          <a:stretch>
            <a:fillRect/>
          </a:stretch>
        </p:blipFill>
        <p:spPr>
          <a:xfrm>
            <a:off x="815546" y="1399032"/>
            <a:ext cx="6598508"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تنخواه و تاریخ</a:t>
            </a:r>
            <a:endParaRPr lang="en-US" sz="1400" dirty="0"/>
          </a:p>
        </p:txBody>
      </p:sp>
      <p:sp>
        <p:nvSpPr>
          <p:cNvPr id="10" name="Text 7"/>
          <p:cNvSpPr txBox="1"/>
          <p:nvPr/>
        </p:nvSpPr>
        <p:spPr>
          <a:xfrm>
            <a:off x="8046720" y="1700784"/>
            <a:ext cx="3227832" cy="594817"/>
          </a:xfrm>
          <a:prstGeom prst="rect">
            <a:avLst/>
          </a:prstGeom>
          <a:noFill/>
          <a:ln/>
        </p:spPr>
        <p:txBody>
          <a:bodyPr wrap="square" lIns="0" tIns="0" rIns="0" bIns="0" rtlCol="0" anchor="t"/>
          <a:lstStyle/>
          <a:p>
            <a:pPr rtl="1" algn="r" indent="0" marL="0">
              <a:lnSpc>
                <a:spcPct val="105000"/>
              </a:lnSpc>
              <a:buNone/>
            </a:pPr>
            <a:r>
              <a:rPr lang="en-US" sz="1100" dirty="0">
                <a:solidFill>
                  <a:srgbClr val="1F2937"/>
                </a:solidFill>
                <a:latin typeface="Tahoma" pitchFamily="34" charset="0"/>
                <a:ea typeface="Tahoma" pitchFamily="34" charset="-122"/>
                <a:cs typeface="Tahoma" pitchFamily="34" charset="-120"/>
              </a:rPr>
              <a:t>تنخواه را انتخاب کنید؛ کارت «ماندهٔ تنخواه» موجودی نقد و ماندهٔ پس از این سند را نشان می‌دهد.</a:t>
            </a:r>
            <a:endParaRPr lang="en-US" sz="1100" dirty="0"/>
          </a:p>
        </p:txBody>
      </p:sp>
      <p:sp>
        <p:nvSpPr>
          <p:cNvPr id="11" name="Shape 8"/>
          <p:cNvSpPr/>
          <p:nvPr/>
        </p:nvSpPr>
        <p:spPr>
          <a:xfrm>
            <a:off x="11393424" y="2405329"/>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405329"/>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405329"/>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فروشنده و فاکتور</a:t>
            </a:r>
            <a:endParaRPr lang="en-US" sz="1400" dirty="0"/>
          </a:p>
        </p:txBody>
      </p:sp>
      <p:sp>
        <p:nvSpPr>
          <p:cNvPr id="14" name="Text 11"/>
          <p:cNvSpPr txBox="1"/>
          <p:nvPr/>
        </p:nvSpPr>
        <p:spPr>
          <a:xfrm>
            <a:off x="8046720" y="2734513"/>
            <a:ext cx="3227832" cy="408737"/>
          </a:xfrm>
          <a:prstGeom prst="rect">
            <a:avLst/>
          </a:prstGeom>
          <a:noFill/>
          <a:ln/>
        </p:spPr>
        <p:txBody>
          <a:bodyPr wrap="square" lIns="0" tIns="0" rIns="0" bIns="0" rtlCol="0" anchor="t"/>
          <a:lstStyle/>
          <a:p>
            <a:pPr rtl="1" algn="r" indent="0" marL="0">
              <a:lnSpc>
                <a:spcPct val="105000"/>
              </a:lnSpc>
              <a:buNone/>
            </a:pPr>
            <a:r>
              <a:rPr lang="en-US" sz="1100" dirty="0">
                <a:solidFill>
                  <a:srgbClr val="1F2937"/>
                </a:solidFill>
                <a:latin typeface="Tahoma" pitchFamily="34" charset="0"/>
                <a:ea typeface="Tahoma" pitchFamily="34" charset="-122"/>
                <a:cs typeface="Tahoma" pitchFamily="34" charset="-120"/>
              </a:rPr>
              <a:t>نام و شناسهٔ ملی فروشنده، نوع مدرک، شماره و تاریخ فاکتور (در سال مالی جاری).</a:t>
            </a:r>
            <a:endParaRPr lang="en-US" sz="1100" dirty="0"/>
          </a:p>
        </p:txBody>
      </p:sp>
      <p:sp>
        <p:nvSpPr>
          <p:cNvPr id="15" name="Shape 12"/>
          <p:cNvSpPr/>
          <p:nvPr/>
        </p:nvSpPr>
        <p:spPr>
          <a:xfrm>
            <a:off x="11393424" y="3252978"/>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25297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25297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شرح و مبلغ</a:t>
            </a:r>
            <a:endParaRPr lang="en-US" sz="1400" dirty="0"/>
          </a:p>
        </p:txBody>
      </p:sp>
      <p:sp>
        <p:nvSpPr>
          <p:cNvPr id="18" name="Text 15"/>
          <p:cNvSpPr txBox="1"/>
          <p:nvPr/>
        </p:nvSpPr>
        <p:spPr>
          <a:xfrm>
            <a:off x="8046720" y="3582162"/>
            <a:ext cx="3227832" cy="594817"/>
          </a:xfrm>
          <a:prstGeom prst="rect">
            <a:avLst/>
          </a:prstGeom>
          <a:noFill/>
          <a:ln/>
        </p:spPr>
        <p:txBody>
          <a:bodyPr wrap="square" lIns="0" tIns="0" rIns="0" bIns="0" rtlCol="0" anchor="t"/>
          <a:lstStyle/>
          <a:p>
            <a:pPr rtl="1" algn="r" indent="0" marL="0">
              <a:lnSpc>
                <a:spcPct val="105000"/>
              </a:lnSpc>
              <a:buNone/>
            </a:pPr>
            <a:r>
              <a:rPr lang="en-US" sz="1100" dirty="0">
                <a:solidFill>
                  <a:srgbClr val="1F2937"/>
                </a:solidFill>
                <a:latin typeface="Tahoma" pitchFamily="34" charset="0"/>
                <a:ea typeface="Tahoma" pitchFamily="34" charset="-122"/>
                <a:cs typeface="Tahoma" pitchFamily="34" charset="-120"/>
              </a:rPr>
              <a:t>حساب هزینه، شرح، مبلغ قبل از مالیات و ارزش افزوده (۱۰٪ پیشنهاد می‌شود)؛ مبلغ کل خودکار است.</a:t>
            </a:r>
            <a:endParaRPr lang="en-US" sz="1100" dirty="0"/>
          </a:p>
        </p:txBody>
      </p:sp>
      <p:sp>
        <p:nvSpPr>
          <p:cNvPr id="19" name="Shape 16"/>
          <p:cNvSpPr/>
          <p:nvPr/>
        </p:nvSpPr>
        <p:spPr>
          <a:xfrm>
            <a:off x="11393424" y="4286707"/>
            <a:ext cx="347472" cy="347472"/>
          </a:xfrm>
          <a:prstGeom prst="ellipse">
            <a:avLst/>
          </a:prstGeom>
          <a:solidFill>
            <a:srgbClr val="C9A227"/>
          </a:solidFill>
          <a:ln w="12700">
            <a:solidFill>
              <a:srgbClr val="C9A227"/>
            </a:solidFill>
            <a:prstDash val="solid"/>
          </a:ln>
        </p:spPr>
      </p:sp>
      <p:sp>
        <p:nvSpPr>
          <p:cNvPr id="20" name="Text 17"/>
          <p:cNvSpPr txBox="1"/>
          <p:nvPr/>
        </p:nvSpPr>
        <p:spPr>
          <a:xfrm>
            <a:off x="11393424" y="4286707"/>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1" name="Text 18"/>
          <p:cNvSpPr txBox="1"/>
          <p:nvPr/>
        </p:nvSpPr>
        <p:spPr>
          <a:xfrm>
            <a:off x="8046720" y="4286707"/>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کنترل‌های لحظه‌ای</a:t>
            </a:r>
            <a:endParaRPr lang="en-US" sz="1400" dirty="0"/>
          </a:p>
        </p:txBody>
      </p:sp>
      <p:sp>
        <p:nvSpPr>
          <p:cNvPr id="22" name="Text 19"/>
          <p:cNvSpPr txBox="1"/>
          <p:nvPr/>
        </p:nvSpPr>
        <p:spPr>
          <a:xfrm>
            <a:off x="8046720" y="4615891"/>
            <a:ext cx="3227832" cy="408737"/>
          </a:xfrm>
          <a:prstGeom prst="rect">
            <a:avLst/>
          </a:prstGeom>
          <a:noFill/>
          <a:ln/>
        </p:spPr>
        <p:txBody>
          <a:bodyPr wrap="square" lIns="0" tIns="0" rIns="0" bIns="0" rtlCol="0" anchor="t"/>
          <a:lstStyle/>
          <a:p>
            <a:pPr rtl="1" algn="r" indent="0" marL="0">
              <a:lnSpc>
                <a:spcPct val="105000"/>
              </a:lnSpc>
              <a:buNone/>
            </a:pPr>
            <a:r>
              <a:rPr lang="en-US" sz="1100" dirty="0">
                <a:solidFill>
                  <a:srgbClr val="1F2937"/>
                </a:solidFill>
                <a:latin typeface="Tahoma" pitchFamily="34" charset="0"/>
                <a:ea typeface="Tahoma" pitchFamily="34" charset="-122"/>
                <a:cs typeface="Tahoma" pitchFamily="34" charset="-120"/>
              </a:rPr>
              <a:t>تیک سبز یعنی در سقف هر سند، موجودی کافی و تاریخ معتبر است.</a:t>
            </a:r>
            <a:endParaRPr lang="en-US" sz="1100" dirty="0"/>
          </a:p>
        </p:txBody>
      </p:sp>
      <p:sp>
        <p:nvSpPr>
          <p:cNvPr id="23" name="Shape 20"/>
          <p:cNvSpPr/>
          <p:nvPr/>
        </p:nvSpPr>
        <p:spPr>
          <a:xfrm>
            <a:off x="11393424" y="5134356"/>
            <a:ext cx="347472" cy="347472"/>
          </a:xfrm>
          <a:prstGeom prst="ellipse">
            <a:avLst/>
          </a:prstGeom>
          <a:solidFill>
            <a:srgbClr val="C9A227"/>
          </a:solidFill>
          <a:ln w="12700">
            <a:solidFill>
              <a:srgbClr val="C9A227"/>
            </a:solidFill>
            <a:prstDash val="solid"/>
          </a:ln>
        </p:spPr>
      </p:sp>
      <p:sp>
        <p:nvSpPr>
          <p:cNvPr id="24" name="Text 21"/>
          <p:cNvSpPr txBox="1"/>
          <p:nvPr/>
        </p:nvSpPr>
        <p:spPr>
          <a:xfrm>
            <a:off x="11393424" y="5134356"/>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25" name="Text 22"/>
          <p:cNvSpPr txBox="1"/>
          <p:nvPr/>
        </p:nvSpPr>
        <p:spPr>
          <a:xfrm>
            <a:off x="8046720" y="5134356"/>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ذخیره یا ارسال</a:t>
            </a:r>
            <a:endParaRPr lang="en-US" sz="1400" dirty="0"/>
          </a:p>
        </p:txBody>
      </p:sp>
      <p:sp>
        <p:nvSpPr>
          <p:cNvPr id="26" name="Text 23"/>
          <p:cNvSpPr txBox="1"/>
          <p:nvPr/>
        </p:nvSpPr>
        <p:spPr>
          <a:xfrm>
            <a:off x="8046720" y="5463540"/>
            <a:ext cx="3227832" cy="408737"/>
          </a:xfrm>
          <a:prstGeom prst="rect">
            <a:avLst/>
          </a:prstGeom>
          <a:noFill/>
          <a:ln/>
        </p:spPr>
        <p:txBody>
          <a:bodyPr wrap="square" lIns="0" tIns="0" rIns="0" bIns="0" rtlCol="0" anchor="t"/>
          <a:lstStyle/>
          <a:p>
            <a:pPr rtl="1" algn="r" indent="0" marL="0">
              <a:lnSpc>
                <a:spcPct val="105000"/>
              </a:lnSpc>
              <a:buNone/>
            </a:pPr>
            <a:r>
              <a:rPr lang="en-US" sz="1100" dirty="0">
                <a:solidFill>
                  <a:srgbClr val="1F2937"/>
                </a:solidFill>
                <a:latin typeface="Tahoma" pitchFamily="34" charset="0"/>
                <a:ea typeface="Tahoma" pitchFamily="34" charset="-122"/>
                <a:cs typeface="Tahoma" pitchFamily="34" charset="-120"/>
              </a:rPr>
              <a:t>«ذخیرهٔ پیش‌نویس» برای ادامه بعدی؛ «ارسال برای بررسی» سند را به کارتابل می‌فرستد.</a:t>
            </a:r>
            <a:endParaRPr lang="en-US" sz="1100" dirty="0"/>
          </a:p>
        </p:txBody>
      </p:sp>
      <p:sp>
        <p:nvSpPr>
          <p:cNvPr id="27" name="Shape 24"/>
          <p:cNvSpPr/>
          <p:nvPr/>
        </p:nvSpPr>
        <p:spPr>
          <a:xfrm>
            <a:off x="11393424" y="5982005"/>
            <a:ext cx="347472" cy="347472"/>
          </a:xfrm>
          <a:prstGeom prst="ellipse">
            <a:avLst/>
          </a:prstGeom>
          <a:solidFill>
            <a:srgbClr val="C9A227"/>
          </a:solidFill>
          <a:ln w="12700">
            <a:solidFill>
              <a:srgbClr val="C9A227"/>
            </a:solidFill>
            <a:prstDash val="solid"/>
          </a:ln>
        </p:spPr>
      </p:sp>
      <p:sp>
        <p:nvSpPr>
          <p:cNvPr id="28" name="Text 25"/>
          <p:cNvSpPr txBox="1"/>
          <p:nvPr/>
        </p:nvSpPr>
        <p:spPr>
          <a:xfrm>
            <a:off x="11393424" y="5982005"/>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۶</a:t>
            </a:r>
            <a:endParaRPr lang="en-US" sz="1300" dirty="0"/>
          </a:p>
        </p:txBody>
      </p:sp>
      <p:sp>
        <p:nvSpPr>
          <p:cNvPr id="29" name="Text 26"/>
          <p:cNvSpPr txBox="1"/>
          <p:nvPr/>
        </p:nvSpPr>
        <p:spPr>
          <a:xfrm>
            <a:off x="8046720" y="5982005"/>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پیوست</a:t>
            </a:r>
            <a:endParaRPr lang="en-US" sz="1400" dirty="0"/>
          </a:p>
        </p:txBody>
      </p:sp>
      <p:sp>
        <p:nvSpPr>
          <p:cNvPr id="30" name="Text 27"/>
          <p:cNvSpPr txBox="1"/>
          <p:nvPr/>
        </p:nvSpPr>
        <p:spPr>
          <a:xfrm>
            <a:off x="8046720" y="6311189"/>
            <a:ext cx="3227832" cy="408737"/>
          </a:xfrm>
          <a:prstGeom prst="rect">
            <a:avLst/>
          </a:prstGeom>
          <a:noFill/>
          <a:ln/>
        </p:spPr>
        <p:txBody>
          <a:bodyPr wrap="square" lIns="0" tIns="0" rIns="0" bIns="0" rtlCol="0" anchor="t"/>
          <a:lstStyle/>
          <a:p>
            <a:pPr rtl="1" algn="r" indent="0" marL="0">
              <a:lnSpc>
                <a:spcPct val="105000"/>
              </a:lnSpc>
              <a:buNone/>
            </a:pPr>
            <a:r>
              <a:rPr lang="en-US" sz="1100" dirty="0">
                <a:solidFill>
                  <a:srgbClr val="1F2937"/>
                </a:solidFill>
                <a:latin typeface="Tahoma" pitchFamily="34" charset="0"/>
                <a:ea typeface="Tahoma" pitchFamily="34" charset="-122"/>
                <a:cs typeface="Tahoma" pitchFamily="34" charset="-120"/>
              </a:rPr>
              <a:t>پس از اولین ذخیره، فاکتور و رسید را پیوست کنید.</a:t>
            </a:r>
            <a:endParaRPr lang="en-US" sz="1100" dirty="0"/>
          </a:p>
        </p:txBody>
      </p:sp>
      <p:sp>
        <p:nvSpPr>
          <p:cNvPr id="31" name="Text 28"/>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تنخواه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۵ — کارتابل تنخواه</a:t>
            </a:r>
            <a:endParaRPr lang="en-US" sz="2600" dirty="0"/>
          </a:p>
        </p:txBody>
      </p:sp>
      <p:sp>
        <p:nvSpPr>
          <p:cNvPr id="3" name="Shape 1"/>
          <p:cNvSpPr/>
          <p:nvPr/>
        </p:nvSpPr>
        <p:spPr>
          <a:xfrm>
            <a:off x="8430768" y="896112"/>
            <a:ext cx="3346704"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تنخواه و خزانه‌داری ← کارتابل تنخواه</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pc07">    </p:cNvPr>
          <p:cNvPicPr>
            <a:picLocks noChangeAspect="1"/>
          </p:cNvPicPr>
          <p:nvPr/>
        </p:nvPicPr>
        <p:blipFill>
          <a:blip r:embed="rId1"/>
          <a:stretch>
            <a:fillRect/>
          </a:stretch>
        </p:blipFill>
        <p:spPr>
          <a:xfrm>
            <a:off x="815546" y="1399032"/>
            <a:ext cx="6598508"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زبانه‌ها</a:t>
            </a:r>
            <a:endParaRPr lang="en-US" sz="1400" dirty="0"/>
          </a:p>
        </p:txBody>
      </p:sp>
      <p:sp>
        <p:nvSpPr>
          <p:cNvPr id="10" name="Text 7"/>
          <p:cNvSpPr txBox="1"/>
          <p:nvPr/>
        </p:nvSpPr>
        <p:spPr>
          <a:xfrm>
            <a:off x="8046720" y="1700784"/>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«در جریان»، جدید، در انتظار بررسی، برگشتی، تأییدشده، ردشده، پیش‌نویس و همه — با تعداد هر وضعیت.</a:t>
            </a:r>
            <a:endParaRPr lang="en-US" sz="1300" dirty="0"/>
          </a:p>
        </p:txBody>
      </p:sp>
      <p:sp>
        <p:nvSpPr>
          <p:cNvPr id="11" name="Shape 8"/>
          <p:cNvSpPr/>
          <p:nvPr/>
        </p:nvSpPr>
        <p:spPr>
          <a:xfrm>
            <a:off x="11393424" y="2506828"/>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50682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50682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جستجو و فیلتر</a:t>
            </a:r>
            <a:endParaRPr lang="en-US" sz="1400" dirty="0"/>
          </a:p>
        </p:txBody>
      </p:sp>
      <p:sp>
        <p:nvSpPr>
          <p:cNvPr id="14" name="Text 11"/>
          <p:cNvSpPr txBox="1"/>
          <p:nvPr/>
        </p:nvSpPr>
        <p:spPr>
          <a:xfrm>
            <a:off x="8046720" y="2836012"/>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بر اساس تنخواه، شرح، فروشنده یا شماره فاکتور.</a:t>
            </a:r>
            <a:endParaRPr lang="en-US" sz="1300" dirty="0"/>
          </a:p>
        </p:txBody>
      </p:sp>
      <p:sp>
        <p:nvSpPr>
          <p:cNvPr id="15" name="Shape 12"/>
          <p:cNvSpPr/>
          <p:nvPr/>
        </p:nvSpPr>
        <p:spPr>
          <a:xfrm>
            <a:off x="11393424" y="3422142"/>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42214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42214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ستون عمر</a:t>
            </a:r>
            <a:endParaRPr lang="en-US" sz="1400" dirty="0"/>
          </a:p>
        </p:txBody>
      </p:sp>
      <p:sp>
        <p:nvSpPr>
          <p:cNvPr id="18" name="Text 15"/>
          <p:cNvSpPr txBox="1"/>
          <p:nvPr/>
        </p:nvSpPr>
        <p:spPr>
          <a:xfrm>
            <a:off x="8046720" y="3751326"/>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روزهای گذشته از ارسال؛ عمر بالای ۵ روز قرمز می‌شود.</a:t>
            </a:r>
            <a:endParaRPr lang="en-US" sz="1300" dirty="0"/>
          </a:p>
        </p:txBody>
      </p:sp>
      <p:sp>
        <p:nvSpPr>
          <p:cNvPr id="19" name="Shape 16"/>
          <p:cNvSpPr/>
          <p:nvPr/>
        </p:nvSpPr>
        <p:spPr>
          <a:xfrm>
            <a:off x="11393424" y="4337456"/>
            <a:ext cx="347472" cy="347472"/>
          </a:xfrm>
          <a:prstGeom prst="ellipse">
            <a:avLst/>
          </a:prstGeom>
          <a:solidFill>
            <a:srgbClr val="C9A227"/>
          </a:solidFill>
          <a:ln w="12700">
            <a:solidFill>
              <a:srgbClr val="C9A227"/>
            </a:solidFill>
            <a:prstDash val="solid"/>
          </a:ln>
        </p:spPr>
      </p:sp>
      <p:sp>
        <p:nvSpPr>
          <p:cNvPr id="20" name="Text 17"/>
          <p:cNvSpPr txBox="1"/>
          <p:nvPr/>
        </p:nvSpPr>
        <p:spPr>
          <a:xfrm>
            <a:off x="11393424" y="4337456"/>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1" name="Text 18"/>
          <p:cNvSpPr txBox="1"/>
          <p:nvPr/>
        </p:nvSpPr>
        <p:spPr>
          <a:xfrm>
            <a:off x="8046720" y="4337456"/>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اقدام‌ها</a:t>
            </a:r>
            <a:endParaRPr lang="en-US" sz="1400" dirty="0"/>
          </a:p>
        </p:txBody>
      </p:sp>
      <p:sp>
        <p:nvSpPr>
          <p:cNvPr id="22" name="Text 19"/>
          <p:cNvSpPr txBox="1"/>
          <p:nvPr/>
        </p:nvSpPr>
        <p:spPr>
          <a:xfrm>
            <a:off x="8046720" y="4666640"/>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نمایش، شروع بررسی، تأیید کنترل، تأیید نهایی، برگشت و رد — فقط اقدام‌های مجاز نقش شما فعال است.</a:t>
            </a:r>
            <a:endParaRPr lang="en-US" sz="1300" dirty="0"/>
          </a:p>
        </p:txBody>
      </p:sp>
      <p:sp>
        <p:nvSpPr>
          <p:cNvPr id="23" name="Shape 20"/>
          <p:cNvSpPr/>
          <p:nvPr/>
        </p:nvSpPr>
        <p:spPr>
          <a:xfrm>
            <a:off x="11393424" y="5472684"/>
            <a:ext cx="347472" cy="347472"/>
          </a:xfrm>
          <a:prstGeom prst="ellipse">
            <a:avLst/>
          </a:prstGeom>
          <a:solidFill>
            <a:srgbClr val="C9A227"/>
          </a:solidFill>
          <a:ln w="12700">
            <a:solidFill>
              <a:srgbClr val="C9A227"/>
            </a:solidFill>
            <a:prstDash val="solid"/>
          </a:ln>
        </p:spPr>
      </p:sp>
      <p:sp>
        <p:nvSpPr>
          <p:cNvPr id="24" name="Text 21"/>
          <p:cNvSpPr txBox="1"/>
          <p:nvPr/>
        </p:nvSpPr>
        <p:spPr>
          <a:xfrm>
            <a:off x="11393424" y="547268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25" name="Text 22"/>
          <p:cNvSpPr txBox="1"/>
          <p:nvPr/>
        </p:nvSpPr>
        <p:spPr>
          <a:xfrm>
            <a:off x="8046720" y="547268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تأیید گروهی</a:t>
            </a:r>
            <a:endParaRPr lang="en-US" sz="1400" dirty="0"/>
          </a:p>
        </p:txBody>
      </p:sp>
      <p:sp>
        <p:nvSpPr>
          <p:cNvPr id="26" name="Text 23"/>
          <p:cNvSpPr txBox="1"/>
          <p:nvPr/>
        </p:nvSpPr>
        <p:spPr>
          <a:xfrm>
            <a:off x="8046720" y="5801868"/>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اسناد کنترل‌شده را تیک بزنید و «تأیید گروهی» کنید؛ همه با هم تأیید می‌شوند یا هیچ‌کدام.</a:t>
            </a:r>
            <a:endParaRPr lang="en-US" sz="1300" dirty="0"/>
          </a:p>
        </p:txBody>
      </p:sp>
      <p:sp>
        <p:nvSpPr>
          <p:cNvPr id="27" name="Text 24"/>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تنخواه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۶ — بررسی سند در صفحهٔ جزئیات</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pc08">    </p:cNvPr>
          <p:cNvPicPr>
            <a:picLocks noChangeAspect="1"/>
          </p:cNvPicPr>
          <p:nvPr/>
        </p:nvPicPr>
        <p:blipFill>
          <a:blip r:embed="rId1"/>
          <a:stretch>
            <a:fillRect/>
          </a:stretch>
        </p:blipFill>
        <p:spPr>
          <a:xfrm>
            <a:off x="691978" y="1216152"/>
            <a:ext cx="6845643" cy="5065776"/>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شروع بررسی</a:t>
            </a:r>
            <a:endParaRPr lang="en-US" sz="1400" dirty="0"/>
          </a:p>
        </p:txBody>
      </p:sp>
      <p:sp>
        <p:nvSpPr>
          <p:cNvPr id="8" name="Text 5"/>
          <p:cNvSpPr txBox="1"/>
          <p:nvPr/>
        </p:nvSpPr>
        <p:spPr>
          <a:xfrm>
            <a:off x="8046720" y="1517904"/>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بازرس روی سند «جدید» «شروع بررسی» را می‌زند؛ وضعیت «در انتظار بررسی» می‌شود.</a:t>
            </a:r>
            <a:endParaRPr lang="en-US" sz="1300" dirty="0"/>
          </a:p>
        </p:txBody>
      </p:sp>
      <p:sp>
        <p:nvSpPr>
          <p:cNvPr id="9" name="Shape 6"/>
          <p:cNvSpPr/>
          <p:nvPr/>
        </p:nvSpPr>
        <p:spPr>
          <a:xfrm>
            <a:off x="11393424" y="2323948"/>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32394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32394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بررسی مدارک</a:t>
            </a:r>
            <a:endParaRPr lang="en-US" sz="1400" dirty="0"/>
          </a:p>
        </p:txBody>
      </p:sp>
      <p:sp>
        <p:nvSpPr>
          <p:cNvPr id="12" name="Text 9"/>
          <p:cNvSpPr txBox="1"/>
          <p:nvPr/>
        </p:nvSpPr>
        <p:spPr>
          <a:xfrm>
            <a:off x="8046720" y="2653132"/>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فیلدها فقط‌خواندنی‌اند؛ پیوست‌ها را در پنل کناری باز و پیش‌نمایش کنید.</a:t>
            </a:r>
            <a:endParaRPr lang="en-US" sz="1300" dirty="0"/>
          </a:p>
        </p:txBody>
      </p:sp>
      <p:sp>
        <p:nvSpPr>
          <p:cNvPr id="13" name="Shape 10"/>
          <p:cNvSpPr/>
          <p:nvPr/>
        </p:nvSpPr>
        <p:spPr>
          <a:xfrm>
            <a:off x="11393424" y="3239262"/>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23926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23926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نوار اقدام</a:t>
            </a:r>
            <a:endParaRPr lang="en-US" sz="1400" dirty="0"/>
          </a:p>
        </p:txBody>
      </p:sp>
      <p:sp>
        <p:nvSpPr>
          <p:cNvPr id="16" name="Text 13"/>
          <p:cNvSpPr txBox="1"/>
          <p:nvPr/>
        </p:nvSpPr>
        <p:spPr>
          <a:xfrm>
            <a:off x="8046720" y="3568446"/>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«تأیید نهایی»، «برگشت برای اصلاح» و «رد سند…»؛ برچسب آبی نشان می‌دهد چه کسی و کی کنترل کرده.</a:t>
            </a:r>
            <a:endParaRPr lang="en-US" sz="1300" dirty="0"/>
          </a:p>
        </p:txBody>
      </p:sp>
      <p:sp>
        <p:nvSpPr>
          <p:cNvPr id="17" name="Shape 14"/>
          <p:cNvSpPr/>
          <p:nvPr/>
        </p:nvSpPr>
        <p:spPr>
          <a:xfrm>
            <a:off x="11393424" y="4374490"/>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437449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437449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میانبر</a:t>
            </a:r>
            <a:endParaRPr lang="en-US" sz="1400" dirty="0"/>
          </a:p>
        </p:txBody>
      </p:sp>
      <p:sp>
        <p:nvSpPr>
          <p:cNvPr id="20" name="Text 17"/>
          <p:cNvSpPr txBox="1"/>
          <p:nvPr/>
        </p:nvSpPr>
        <p:spPr>
          <a:xfrm>
            <a:off x="8046720" y="470367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کلید A برای تأیید و R برای برگشت؛ با پیکان‌ها به سند قبلی/بعدی بروید.</a:t>
            </a:r>
            <a:endParaRPr lang="en-US" sz="1300" dirty="0"/>
          </a:p>
        </p:txBody>
      </p:sp>
      <p:sp>
        <p:nvSpPr>
          <p:cNvPr id="21" name="Text 18"/>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تنخواه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۷ — تأیید دومرحله‌ای: کنترل بازرس و تأیید نهایی</a:t>
            </a:r>
            <a:endParaRPr lang="en-US" sz="2600" dirty="0"/>
          </a:p>
        </p:txBody>
      </p:sp>
      <p:sp>
        <p:nvSpPr>
          <p:cNvPr id="3" name="Text 1"/>
          <p:cNvSpPr txBox="1"/>
          <p:nvPr/>
        </p:nvSpPr>
        <p:spPr>
          <a:xfrm>
            <a:off x="411480" y="1143000"/>
            <a:ext cx="7406640"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۱. تأیید کنترل — بازرس مالی</a:t>
            </a:r>
            <a:endParaRPr lang="en-US" sz="1200" dirty="0"/>
          </a:p>
        </p:txBody>
      </p:sp>
      <p:sp>
        <p:nvSpPr>
          <p:cNvPr id="4" name="Shape 2"/>
          <p:cNvSpPr/>
          <p:nvPr/>
        </p:nvSpPr>
        <p:spPr>
          <a:xfrm>
            <a:off x="411480" y="1435608"/>
            <a:ext cx="7406640" cy="2244852"/>
          </a:xfrm>
          <a:prstGeom prst="roundRect">
            <a:avLst>
              <a:gd name="adj" fmla="val 3259"/>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5" name="Image 0" descr="pc09">    </p:cNvPr>
          <p:cNvPicPr>
            <a:picLocks noChangeAspect="1"/>
          </p:cNvPicPr>
          <p:nvPr/>
        </p:nvPicPr>
        <p:blipFill>
          <a:blip r:embed="rId1"/>
          <a:stretch>
            <a:fillRect/>
          </a:stretch>
        </p:blipFill>
        <p:spPr>
          <a:xfrm>
            <a:off x="1921876" y="1481328"/>
            <a:ext cx="4385848" cy="2153412"/>
          </a:xfrm>
          <a:prstGeom prst="rect">
            <a:avLst/>
          </a:prstGeom>
        </p:spPr>
      </p:pic>
      <p:sp>
        <p:nvSpPr>
          <p:cNvPr id="6" name="Text 3"/>
          <p:cNvSpPr txBox="1"/>
          <p:nvPr/>
        </p:nvSpPr>
        <p:spPr>
          <a:xfrm>
            <a:off x="411480" y="3817620"/>
            <a:ext cx="7406640"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۲. تأیید نهایی — مدیر مالی / مدیرعامل</a:t>
            </a:r>
            <a:endParaRPr lang="en-US" sz="1200" dirty="0"/>
          </a:p>
        </p:txBody>
      </p:sp>
      <p:sp>
        <p:nvSpPr>
          <p:cNvPr id="7" name="Shape 4"/>
          <p:cNvSpPr/>
          <p:nvPr/>
        </p:nvSpPr>
        <p:spPr>
          <a:xfrm>
            <a:off x="411480" y="4110228"/>
            <a:ext cx="7406640" cy="2244852"/>
          </a:xfrm>
          <a:prstGeom prst="roundRect">
            <a:avLst>
              <a:gd name="adj" fmla="val 3259"/>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8" name="Image 1" descr="pc10b">    </p:cNvPr>
          <p:cNvPicPr>
            <a:picLocks noChangeAspect="1"/>
          </p:cNvPicPr>
          <p:nvPr/>
        </p:nvPicPr>
        <p:blipFill>
          <a:blip r:embed="rId2"/>
          <a:stretch>
            <a:fillRect/>
          </a:stretch>
        </p:blipFill>
        <p:spPr>
          <a:xfrm>
            <a:off x="1921876" y="4155948"/>
            <a:ext cx="4385848" cy="2153412"/>
          </a:xfrm>
          <a:prstGeom prst="rect">
            <a:avLst/>
          </a:prstGeom>
        </p:spPr>
      </p:pic>
      <p:sp>
        <p:nvSpPr>
          <p:cNvPr id="9" name="Shape 5"/>
          <p:cNvSpPr/>
          <p:nvPr/>
        </p:nvSpPr>
        <p:spPr>
          <a:xfrm>
            <a:off x="11393424" y="1188720"/>
            <a:ext cx="347472" cy="347472"/>
          </a:xfrm>
          <a:prstGeom prst="ellipse">
            <a:avLst/>
          </a:prstGeom>
          <a:solidFill>
            <a:srgbClr val="C9A227"/>
          </a:solidFill>
          <a:ln w="12700">
            <a:solidFill>
              <a:srgbClr val="C9A227"/>
            </a:solidFill>
            <a:prstDash val="solid"/>
          </a:ln>
        </p:spPr>
      </p:sp>
      <p:sp>
        <p:nvSpPr>
          <p:cNvPr id="10" name="Text 6"/>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11" name="Text 7"/>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تأیید کنترل</a:t>
            </a:r>
            <a:endParaRPr lang="en-US" sz="1400" dirty="0"/>
          </a:p>
        </p:txBody>
      </p:sp>
      <p:sp>
        <p:nvSpPr>
          <p:cNvPr id="12" name="Text 8"/>
          <p:cNvSpPr txBox="1"/>
          <p:nvPr/>
        </p:nvSpPr>
        <p:spPr>
          <a:xfrm>
            <a:off x="8046720" y="1517904"/>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بازرس پس از بررسی، «تأیید کنترل» را با یادداشت اختیاری ثبت می‌کند؛ وضعیت سند تغییر نمی‌کند.</a:t>
            </a:r>
            <a:endParaRPr lang="en-US" sz="1300" dirty="0"/>
          </a:p>
        </p:txBody>
      </p:sp>
      <p:sp>
        <p:nvSpPr>
          <p:cNvPr id="13" name="Shape 9"/>
          <p:cNvSpPr/>
          <p:nvPr/>
        </p:nvSpPr>
        <p:spPr>
          <a:xfrm>
            <a:off x="11393424" y="2323948"/>
            <a:ext cx="347472" cy="347472"/>
          </a:xfrm>
          <a:prstGeom prst="ellipse">
            <a:avLst/>
          </a:prstGeom>
          <a:solidFill>
            <a:srgbClr val="C9A227"/>
          </a:solidFill>
          <a:ln w="12700">
            <a:solidFill>
              <a:srgbClr val="C9A227"/>
            </a:solidFill>
            <a:prstDash val="solid"/>
          </a:ln>
        </p:spPr>
      </p:sp>
      <p:sp>
        <p:nvSpPr>
          <p:cNvPr id="14" name="Text 10"/>
          <p:cNvSpPr txBox="1"/>
          <p:nvPr/>
        </p:nvSpPr>
        <p:spPr>
          <a:xfrm>
            <a:off x="11393424" y="232394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5" name="Text 11"/>
          <p:cNvSpPr txBox="1"/>
          <p:nvPr/>
        </p:nvSpPr>
        <p:spPr>
          <a:xfrm>
            <a:off x="8046720" y="232394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تأیید نهایی</a:t>
            </a:r>
            <a:endParaRPr lang="en-US" sz="1400" dirty="0"/>
          </a:p>
        </p:txBody>
      </p:sp>
      <p:sp>
        <p:nvSpPr>
          <p:cNvPr id="16" name="Text 12"/>
          <p:cNvSpPr txBox="1"/>
          <p:nvPr/>
        </p:nvSpPr>
        <p:spPr>
          <a:xfrm>
            <a:off x="8046720" y="2653132"/>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مدیر مالی (تا سقف اختیار) یا مدیرعامل (بالاتر از سقف) سند کنترل‌شده را تأیید می‌کند ⇐ «تأییدشده».</a:t>
            </a:r>
            <a:endParaRPr lang="en-US" sz="1300" dirty="0"/>
          </a:p>
        </p:txBody>
      </p:sp>
      <p:sp>
        <p:nvSpPr>
          <p:cNvPr id="17" name="Shape 13"/>
          <p:cNvSpPr/>
          <p:nvPr/>
        </p:nvSpPr>
        <p:spPr>
          <a:xfrm>
            <a:off x="11393424" y="3459175"/>
            <a:ext cx="347472" cy="347472"/>
          </a:xfrm>
          <a:prstGeom prst="ellipse">
            <a:avLst/>
          </a:prstGeom>
          <a:solidFill>
            <a:srgbClr val="C9A227"/>
          </a:solidFill>
          <a:ln w="12700">
            <a:solidFill>
              <a:srgbClr val="C9A227"/>
            </a:solidFill>
            <a:prstDash val="solid"/>
          </a:ln>
        </p:spPr>
      </p:sp>
      <p:sp>
        <p:nvSpPr>
          <p:cNvPr id="18" name="Text 14"/>
          <p:cNvSpPr txBox="1"/>
          <p:nvPr/>
        </p:nvSpPr>
        <p:spPr>
          <a:xfrm>
            <a:off x="11393424" y="3459175"/>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9" name="Text 15"/>
          <p:cNvSpPr txBox="1"/>
          <p:nvPr/>
        </p:nvSpPr>
        <p:spPr>
          <a:xfrm>
            <a:off x="8046720" y="3459175"/>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قید</a:t>
            </a:r>
            <a:endParaRPr lang="en-US" sz="1400" dirty="0"/>
          </a:p>
        </p:txBody>
      </p:sp>
      <p:sp>
        <p:nvSpPr>
          <p:cNvPr id="20" name="Text 16"/>
          <p:cNvSpPr txBox="1"/>
          <p:nvPr/>
        </p:nvSpPr>
        <p:spPr>
          <a:xfrm>
            <a:off x="8046720" y="3788359"/>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تأییدکنندهٔ نهایی نباید همان بازرس یا ثبت‌کنندهٔ سند باشد.</a:t>
            </a:r>
            <a:endParaRPr lang="en-US" sz="1300" dirty="0"/>
          </a:p>
        </p:txBody>
      </p:sp>
      <p:sp>
        <p:nvSpPr>
          <p:cNvPr id="21" name="Text 17"/>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تنخواه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۸ — برگشت سند برای اصلاح</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pc10">    </p:cNvPr>
          <p:cNvPicPr>
            <a:picLocks noChangeAspect="1"/>
          </p:cNvPicPr>
          <p:nvPr/>
        </p:nvPicPr>
        <p:blipFill>
          <a:blip r:embed="rId1"/>
          <a:stretch>
            <a:fillRect/>
          </a:stretch>
        </p:blipFill>
        <p:spPr>
          <a:xfrm>
            <a:off x="1471786" y="1216152"/>
            <a:ext cx="5286027" cy="5065776"/>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دلایل</a:t>
            </a:r>
            <a:endParaRPr lang="en-US" sz="1400" dirty="0"/>
          </a:p>
        </p:txBody>
      </p:sp>
      <p:sp>
        <p:nvSpPr>
          <p:cNvPr id="8" name="Text 5"/>
          <p:cNvSpPr txBox="1"/>
          <p:nvPr/>
        </p:nvSpPr>
        <p:spPr>
          <a:xfrm>
            <a:off x="8046720" y="1517904"/>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یک یا چند دلیل: پیوست ناقص، حساب هزینه نادرست، مبلغ با مدرک مطابقت ندارد، شرح نیازمند توضیح، سایر.</a:t>
            </a:r>
            <a:endParaRPr lang="en-US" sz="1300" dirty="0"/>
          </a:p>
        </p:txBody>
      </p:sp>
      <p:sp>
        <p:nvSpPr>
          <p:cNvPr id="9" name="Shape 6"/>
          <p:cNvSpPr/>
          <p:nvPr/>
        </p:nvSpPr>
        <p:spPr>
          <a:xfrm>
            <a:off x="11393424" y="2323948"/>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32394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32394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مهلت</a:t>
            </a:r>
            <a:endParaRPr lang="en-US" sz="1400" dirty="0"/>
          </a:p>
        </p:txBody>
      </p:sp>
      <p:sp>
        <p:nvSpPr>
          <p:cNvPr id="12" name="Text 9"/>
          <p:cNvSpPr txBox="1"/>
          <p:nvPr/>
        </p:nvSpPr>
        <p:spPr>
          <a:xfrm>
            <a:off x="8046720" y="2653132"/>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تاریخ مهلت اصلاح (بعد از امروز) الزامی است.</a:t>
            </a:r>
            <a:endParaRPr lang="en-US" sz="1300" dirty="0"/>
          </a:p>
        </p:txBody>
      </p:sp>
      <p:sp>
        <p:nvSpPr>
          <p:cNvPr id="13" name="Shape 10"/>
          <p:cNvSpPr/>
          <p:nvPr/>
        </p:nvSpPr>
        <p:spPr>
          <a:xfrm>
            <a:off x="11393424" y="3239262"/>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23926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23926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توضیح</a:t>
            </a:r>
            <a:endParaRPr lang="en-US" sz="1400" dirty="0"/>
          </a:p>
        </p:txBody>
      </p:sp>
      <p:sp>
        <p:nvSpPr>
          <p:cNvPr id="16" name="Text 13"/>
          <p:cNvSpPr txBox="1"/>
          <p:nvPr/>
        </p:nvSpPr>
        <p:spPr>
          <a:xfrm>
            <a:off x="8046720" y="3568446"/>
            <a:ext cx="3227832" cy="256489"/>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متن توضیح برای تنخواه‌دار الزامی است.</a:t>
            </a:r>
            <a:endParaRPr lang="en-US" sz="1300" dirty="0"/>
          </a:p>
        </p:txBody>
      </p:sp>
      <p:sp>
        <p:nvSpPr>
          <p:cNvPr id="17" name="Shape 14"/>
          <p:cNvSpPr/>
          <p:nvPr/>
        </p:nvSpPr>
        <p:spPr>
          <a:xfrm>
            <a:off x="11393424" y="3934663"/>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3934663"/>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3934663"/>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قفل فیلدها</a:t>
            </a:r>
            <a:endParaRPr lang="en-US" sz="1400" dirty="0"/>
          </a:p>
        </p:txBody>
      </p:sp>
      <p:sp>
        <p:nvSpPr>
          <p:cNvPr id="20" name="Text 17"/>
          <p:cNvSpPr txBox="1"/>
          <p:nvPr/>
        </p:nvSpPr>
        <p:spPr>
          <a:xfrm>
            <a:off x="8046720" y="4263847"/>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تنخواه‌دار فقط فیلدهای مرتبط با دلیل را می‌تواند تغییر دهد؛ مثلاً «پیوست ناقص» فقط پیوست را باز می‌کند.</a:t>
            </a:r>
            <a:endParaRPr lang="en-US" sz="1300" dirty="0"/>
          </a:p>
        </p:txBody>
      </p:sp>
      <p:sp>
        <p:nvSpPr>
          <p:cNvPr id="21" name="Shape 18"/>
          <p:cNvSpPr/>
          <p:nvPr/>
        </p:nvSpPr>
        <p:spPr>
          <a:xfrm>
            <a:off x="11393424" y="5069891"/>
            <a:ext cx="347472" cy="347472"/>
          </a:xfrm>
          <a:prstGeom prst="ellipse">
            <a:avLst/>
          </a:prstGeom>
          <a:solidFill>
            <a:srgbClr val="C9A227"/>
          </a:solidFill>
          <a:ln w="12700">
            <a:solidFill>
              <a:srgbClr val="C9A227"/>
            </a:solidFill>
            <a:prstDash val="solid"/>
          </a:ln>
        </p:spPr>
      </p:sp>
      <p:sp>
        <p:nvSpPr>
          <p:cNvPr id="22" name="Text 19"/>
          <p:cNvSpPr txBox="1"/>
          <p:nvPr/>
        </p:nvSpPr>
        <p:spPr>
          <a:xfrm>
            <a:off x="11393424" y="5069891"/>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23" name="Text 20"/>
          <p:cNvSpPr txBox="1"/>
          <p:nvPr/>
        </p:nvSpPr>
        <p:spPr>
          <a:xfrm>
            <a:off x="8046720" y="5069891"/>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رد سند</a:t>
            </a:r>
            <a:endParaRPr lang="en-US" sz="1400" dirty="0"/>
          </a:p>
        </p:txBody>
      </p:sp>
      <p:sp>
        <p:nvSpPr>
          <p:cNvPr id="24" name="Text 21"/>
          <p:cNvSpPr txBox="1"/>
          <p:nvPr/>
        </p:nvSpPr>
        <p:spPr>
          <a:xfrm>
            <a:off x="8046720" y="5399075"/>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برای رد، دلیل بنویسید؛ سند ردشده پایانی است و ترمیم نمی‌شود.</a:t>
            </a:r>
            <a:endParaRPr lang="en-US" sz="1300" dirty="0"/>
          </a:p>
        </p:txBody>
      </p:sp>
      <p:sp>
        <p:nvSpPr>
          <p:cNvPr id="25" name="Text 22"/>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تنخواه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۹ — اصلاح سند برگشتی (تنخواه‌دار)</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pc06">    </p:cNvPr>
          <p:cNvPicPr>
            <a:picLocks noChangeAspect="1"/>
          </p:cNvPicPr>
          <p:nvPr/>
        </p:nvPicPr>
        <p:blipFill>
          <a:blip r:embed="rId1"/>
          <a:stretch>
            <a:fillRect/>
          </a:stretch>
        </p:blipFill>
        <p:spPr>
          <a:xfrm>
            <a:off x="691978" y="1216152"/>
            <a:ext cx="6845643" cy="5065776"/>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کادر نارنجی</a:t>
            </a:r>
            <a:endParaRPr lang="en-US" sz="1400" dirty="0"/>
          </a:p>
        </p:txBody>
      </p:sp>
      <p:sp>
        <p:nvSpPr>
          <p:cNvPr id="8" name="Text 5"/>
          <p:cNvSpPr txBox="1"/>
          <p:nvPr/>
        </p:nvSpPr>
        <p:spPr>
          <a:xfrm>
            <a:off x="8046720" y="151790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مهلت، دلایل و توضیح بررسی‌کننده بالای فرم نمایش داده می‌شود.</a:t>
            </a:r>
            <a:endParaRPr lang="en-US" sz="1300" dirty="0"/>
          </a:p>
        </p:txBody>
      </p:sp>
      <p:sp>
        <p:nvSpPr>
          <p:cNvPr id="9" name="Shape 6"/>
          <p:cNvSpPr/>
          <p:nvPr/>
        </p:nvSpPr>
        <p:spPr>
          <a:xfrm>
            <a:off x="11393424" y="2104034"/>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10403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10403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فیلدهای مجاز</a:t>
            </a:r>
            <a:endParaRPr lang="en-US" sz="1400" dirty="0"/>
          </a:p>
        </p:txBody>
      </p:sp>
      <p:sp>
        <p:nvSpPr>
          <p:cNvPr id="12" name="Text 9"/>
          <p:cNvSpPr txBox="1"/>
          <p:nvPr/>
        </p:nvSpPr>
        <p:spPr>
          <a:xfrm>
            <a:off x="8046720" y="2433218"/>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فقط فیلدهای قاب‌دار رنگی قابل ویرایش‌اند؛ بقیه قفل‌اند.</a:t>
            </a:r>
            <a:endParaRPr lang="en-US" sz="1300" dirty="0"/>
          </a:p>
        </p:txBody>
      </p:sp>
      <p:sp>
        <p:nvSpPr>
          <p:cNvPr id="13" name="Shape 10"/>
          <p:cNvSpPr/>
          <p:nvPr/>
        </p:nvSpPr>
        <p:spPr>
          <a:xfrm>
            <a:off x="11393424" y="3019349"/>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019349"/>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019349"/>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ارسال دوباره</a:t>
            </a:r>
            <a:endParaRPr lang="en-US" sz="1400" dirty="0"/>
          </a:p>
        </p:txBody>
      </p:sp>
      <p:sp>
        <p:nvSpPr>
          <p:cNvPr id="16" name="Text 13"/>
          <p:cNvSpPr txBox="1"/>
          <p:nvPr/>
        </p:nvSpPr>
        <p:spPr>
          <a:xfrm>
            <a:off x="8046720" y="3348533"/>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«ارسال برای بررسی» را بزنید؛ سند دوباره باید کنترل بازرس شود.</a:t>
            </a:r>
            <a:endParaRPr lang="en-US" sz="1300" dirty="0"/>
          </a:p>
        </p:txBody>
      </p:sp>
      <p:sp>
        <p:nvSpPr>
          <p:cNvPr id="17" name="Shape 14"/>
          <p:cNvSpPr/>
          <p:nvPr/>
        </p:nvSpPr>
        <p:spPr>
          <a:xfrm>
            <a:off x="11393424" y="3934663"/>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3934663"/>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3934663"/>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تاریخچه</a:t>
            </a:r>
            <a:endParaRPr lang="en-US" sz="1400" dirty="0"/>
          </a:p>
        </p:txBody>
      </p:sp>
      <p:sp>
        <p:nvSpPr>
          <p:cNvPr id="20" name="Text 17"/>
          <p:cNvSpPr txBox="1"/>
          <p:nvPr/>
        </p:nvSpPr>
        <p:spPr>
          <a:xfrm>
            <a:off x="8046720" y="4263847"/>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پنل «تاریخچهٔ اقدامات» همهٔ رویدادها را با کاربر، زمان و IP نشان می‌دهد.</a:t>
            </a:r>
            <a:endParaRPr lang="en-US" sz="1300" dirty="0"/>
          </a:p>
        </p:txBody>
      </p:sp>
      <p:sp>
        <p:nvSpPr>
          <p:cNvPr id="21" name="Text 18"/>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تنخواه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داشبورد تنخواه</a:t>
            </a:r>
            <a:endParaRPr lang="en-US" sz="2600" dirty="0"/>
          </a:p>
        </p:txBody>
      </p:sp>
      <p:sp>
        <p:nvSpPr>
          <p:cNvPr id="3" name="Shape 1"/>
          <p:cNvSpPr/>
          <p:nvPr/>
        </p:nvSpPr>
        <p:spPr>
          <a:xfrm>
            <a:off x="8430768" y="896112"/>
            <a:ext cx="3346704"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تنخواه و خزانه‌داری ← داشبورد تنخواه</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pc11">    </p:cNvPr>
          <p:cNvPicPr>
            <a:picLocks noChangeAspect="1"/>
          </p:cNvPicPr>
          <p:nvPr/>
        </p:nvPicPr>
        <p:blipFill>
          <a:blip r:embed="rId1"/>
          <a:stretch>
            <a:fillRect/>
          </a:stretch>
        </p:blipFill>
        <p:spPr>
          <a:xfrm>
            <a:off x="815546" y="1399032"/>
            <a:ext cx="6598508"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کارت‌ها</a:t>
            </a:r>
            <a:endParaRPr lang="en-US" sz="1400" dirty="0"/>
          </a:p>
        </p:txBody>
      </p:sp>
      <p:sp>
        <p:nvSpPr>
          <p:cNvPr id="10" name="Text 7"/>
          <p:cNvSpPr txBox="1"/>
          <p:nvPr/>
        </p:nvSpPr>
        <p:spPr>
          <a:xfrm>
            <a:off x="8046720" y="1700784"/>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موجودی نقد (و درصد از سقف)، تأییدشدهٔ منتظر ترمیم، در جریان بررسی و برگشتی‌ها.</a:t>
            </a:r>
            <a:endParaRPr lang="en-US" sz="1300" dirty="0"/>
          </a:p>
        </p:txBody>
      </p:sp>
      <p:sp>
        <p:nvSpPr>
          <p:cNvPr id="11" name="Shape 8"/>
          <p:cNvSpPr/>
          <p:nvPr/>
        </p:nvSpPr>
        <p:spPr>
          <a:xfrm>
            <a:off x="11393424" y="2506828"/>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50682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50682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تراز تنخواه</a:t>
            </a:r>
            <a:endParaRPr lang="en-US" sz="1400" dirty="0"/>
          </a:p>
        </p:txBody>
      </p:sp>
      <p:sp>
        <p:nvSpPr>
          <p:cNvPr id="14" name="Text 11"/>
          <p:cNvSpPr txBox="1"/>
          <p:nvPr/>
        </p:nvSpPr>
        <p:spPr>
          <a:xfrm>
            <a:off x="8046720" y="2836012"/>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معادلهٔ سقف را با اعداد واقعی نشان می‌دهد؛ برچسب «متوازن» یعنی داده سالم است.</a:t>
            </a:r>
            <a:endParaRPr lang="en-US" sz="1300" dirty="0"/>
          </a:p>
        </p:txBody>
      </p:sp>
      <p:sp>
        <p:nvSpPr>
          <p:cNvPr id="15" name="Shape 12"/>
          <p:cNvSpPr/>
          <p:nvPr/>
        </p:nvSpPr>
        <p:spPr>
          <a:xfrm>
            <a:off x="11393424" y="3642055"/>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642055"/>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642055"/>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اقدامات امروز</a:t>
            </a:r>
            <a:endParaRPr lang="en-US" sz="1400" dirty="0"/>
          </a:p>
        </p:txBody>
      </p:sp>
      <p:sp>
        <p:nvSpPr>
          <p:cNvPr id="18" name="Text 15"/>
          <p:cNvSpPr txBox="1"/>
          <p:nvPr/>
        </p:nvSpPr>
        <p:spPr>
          <a:xfrm>
            <a:off x="8046720" y="3971239"/>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اسنادی که منتظر اقدام‌اند؛ دکمهٔ «بررسی» یا «پیگیری» مستقیم سند را باز می‌کند.</a:t>
            </a:r>
            <a:endParaRPr lang="en-US" sz="1300" dirty="0"/>
          </a:p>
        </p:txBody>
      </p:sp>
      <p:sp>
        <p:nvSpPr>
          <p:cNvPr id="19" name="Shape 16"/>
          <p:cNvSpPr/>
          <p:nvPr/>
        </p:nvSpPr>
        <p:spPr>
          <a:xfrm>
            <a:off x="11393424" y="4777283"/>
            <a:ext cx="347472" cy="347472"/>
          </a:xfrm>
          <a:prstGeom prst="ellipse">
            <a:avLst/>
          </a:prstGeom>
          <a:solidFill>
            <a:srgbClr val="C9A227"/>
          </a:solidFill>
          <a:ln w="12700">
            <a:solidFill>
              <a:srgbClr val="C9A227"/>
            </a:solidFill>
            <a:prstDash val="solid"/>
          </a:ln>
        </p:spPr>
      </p:sp>
      <p:sp>
        <p:nvSpPr>
          <p:cNvPr id="20" name="Text 17"/>
          <p:cNvSpPr txBox="1"/>
          <p:nvPr/>
        </p:nvSpPr>
        <p:spPr>
          <a:xfrm>
            <a:off x="11393424" y="4777283"/>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1" name="Text 18"/>
          <p:cNvSpPr txBox="1"/>
          <p:nvPr/>
        </p:nvSpPr>
        <p:spPr>
          <a:xfrm>
            <a:off x="8046720" y="4777283"/>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هشدارها</a:t>
            </a:r>
            <a:endParaRPr lang="en-US" sz="1400" dirty="0"/>
          </a:p>
        </p:txBody>
      </p:sp>
      <p:sp>
        <p:nvSpPr>
          <p:cNvPr id="22" name="Text 19"/>
          <p:cNvSpPr txBox="1"/>
          <p:nvPr/>
        </p:nvSpPr>
        <p:spPr>
          <a:xfrm>
            <a:off x="8046720" y="5106467"/>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اسناد معطل و مبلغ منتظر ترمیم؛ دکمهٔ «ایجاد درخواست ترمیم» میانبر گام بعدی است.</a:t>
            </a:r>
            <a:endParaRPr lang="en-US" sz="1300" dirty="0"/>
          </a:p>
        </p:txBody>
      </p:sp>
      <p:sp>
        <p:nvSpPr>
          <p:cNvPr id="23" name="Text 20"/>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تنخواه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۱۰ — درخواست ترمیم (شارژ) تنخواه</a:t>
            </a:r>
            <a:endParaRPr lang="en-US" sz="2600" dirty="0"/>
          </a:p>
        </p:txBody>
      </p:sp>
      <p:sp>
        <p:nvSpPr>
          <p:cNvPr id="3" name="Shape 1"/>
          <p:cNvSpPr/>
          <p:nvPr/>
        </p:nvSpPr>
        <p:spPr>
          <a:xfrm>
            <a:off x="6954012" y="896112"/>
            <a:ext cx="4823460"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تنخواه و خزانه‌داری ← شارژ و ترمیم ← درخواست ترمیم جدید</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pc13">    </p:cNvPr>
          <p:cNvPicPr>
            <a:picLocks noChangeAspect="1"/>
          </p:cNvPicPr>
          <p:nvPr/>
        </p:nvPicPr>
        <p:blipFill>
          <a:blip r:embed="rId1"/>
          <a:stretch>
            <a:fillRect/>
          </a:stretch>
        </p:blipFill>
        <p:spPr>
          <a:xfrm>
            <a:off x="815546" y="1399032"/>
            <a:ext cx="6598508"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انتخاب تنخواه</a:t>
            </a:r>
            <a:endParaRPr lang="en-US" sz="1400" dirty="0"/>
          </a:p>
        </p:txBody>
      </p:sp>
      <p:sp>
        <p:nvSpPr>
          <p:cNvPr id="10" name="Text 7"/>
          <p:cNvSpPr txBox="1"/>
          <p:nvPr/>
        </p:nvSpPr>
        <p:spPr>
          <a:xfrm>
            <a:off x="8046720" y="170078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سامانه همهٔ صورت‌هزینه‌های تأییدشدهٔ ترمیم‌نشده را جمع می‌کند.</a:t>
            </a:r>
            <a:endParaRPr lang="en-US" sz="1300" dirty="0"/>
          </a:p>
        </p:txBody>
      </p:sp>
      <p:sp>
        <p:nvSpPr>
          <p:cNvPr id="11" name="Shape 8"/>
          <p:cNvSpPr/>
          <p:nvPr/>
        </p:nvSpPr>
        <p:spPr>
          <a:xfrm>
            <a:off x="11393424" y="2286914"/>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28691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28691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ریز حساب‌ها</a:t>
            </a:r>
            <a:endParaRPr lang="en-US" sz="1400" dirty="0"/>
          </a:p>
        </p:txBody>
      </p:sp>
      <p:sp>
        <p:nvSpPr>
          <p:cNvPr id="14" name="Text 11"/>
          <p:cNvSpPr txBox="1"/>
          <p:nvPr/>
        </p:nvSpPr>
        <p:spPr>
          <a:xfrm>
            <a:off x="8046720" y="2616098"/>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جدول «مبلغ ترمیم بر اساس اسناد تأییدشده» جمع هر حساب هزینه و تعداد سند را نشان می‌دهد.</a:t>
            </a:r>
            <a:endParaRPr lang="en-US" sz="1300" dirty="0"/>
          </a:p>
        </p:txBody>
      </p:sp>
      <p:sp>
        <p:nvSpPr>
          <p:cNvPr id="15" name="Shape 12"/>
          <p:cNvSpPr/>
          <p:nvPr/>
        </p:nvSpPr>
        <p:spPr>
          <a:xfrm>
            <a:off x="11393424" y="3422142"/>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42214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42214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اطلاعات ترمیم</a:t>
            </a:r>
            <a:endParaRPr lang="en-US" sz="1400" dirty="0"/>
          </a:p>
        </p:txBody>
      </p:sp>
      <p:sp>
        <p:nvSpPr>
          <p:cNvPr id="18" name="Text 15"/>
          <p:cNvSpPr txBox="1"/>
          <p:nvPr/>
        </p:nvSpPr>
        <p:spPr>
          <a:xfrm>
            <a:off x="8046720" y="3751326"/>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حساب بانکی مبدأ، روش پرداخت (پایا، چک، نقد، سایر)، تاریخ و یادداشت.</a:t>
            </a:r>
            <a:endParaRPr lang="en-US" sz="1300" dirty="0"/>
          </a:p>
        </p:txBody>
      </p:sp>
      <p:sp>
        <p:nvSpPr>
          <p:cNvPr id="19" name="Shape 16"/>
          <p:cNvSpPr/>
          <p:nvPr/>
        </p:nvSpPr>
        <p:spPr>
          <a:xfrm>
            <a:off x="11393424" y="4337456"/>
            <a:ext cx="347472" cy="347472"/>
          </a:xfrm>
          <a:prstGeom prst="ellipse">
            <a:avLst/>
          </a:prstGeom>
          <a:solidFill>
            <a:srgbClr val="C9A227"/>
          </a:solidFill>
          <a:ln w="12700">
            <a:solidFill>
              <a:srgbClr val="C9A227"/>
            </a:solidFill>
            <a:prstDash val="solid"/>
          </a:ln>
        </p:spPr>
      </p:sp>
      <p:sp>
        <p:nvSpPr>
          <p:cNvPr id="20" name="Text 17"/>
          <p:cNvSpPr txBox="1"/>
          <p:nvPr/>
        </p:nvSpPr>
        <p:spPr>
          <a:xfrm>
            <a:off x="11393424" y="4337456"/>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1" name="Text 18"/>
          <p:cNvSpPr txBox="1"/>
          <p:nvPr/>
        </p:nvSpPr>
        <p:spPr>
          <a:xfrm>
            <a:off x="8046720" y="4337456"/>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اثر ترمیم</a:t>
            </a:r>
            <a:endParaRPr lang="en-US" sz="1400" dirty="0"/>
          </a:p>
        </p:txBody>
      </p:sp>
      <p:sp>
        <p:nvSpPr>
          <p:cNvPr id="22" name="Text 19"/>
          <p:cNvSpPr txBox="1"/>
          <p:nvPr/>
        </p:nvSpPr>
        <p:spPr>
          <a:xfrm>
            <a:off x="8046720" y="4666640"/>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موجودی نقد قبل و بعد؛ کنترل «در حد سقف» و «هیچ سندی دو بار ترمیم نمی‌شود».</a:t>
            </a:r>
            <a:endParaRPr lang="en-US" sz="1300" dirty="0"/>
          </a:p>
        </p:txBody>
      </p:sp>
      <p:sp>
        <p:nvSpPr>
          <p:cNvPr id="23" name="Shape 20"/>
          <p:cNvSpPr/>
          <p:nvPr/>
        </p:nvSpPr>
        <p:spPr>
          <a:xfrm>
            <a:off x="11393424" y="5252771"/>
            <a:ext cx="347472" cy="347472"/>
          </a:xfrm>
          <a:prstGeom prst="ellipse">
            <a:avLst/>
          </a:prstGeom>
          <a:solidFill>
            <a:srgbClr val="C9A227"/>
          </a:solidFill>
          <a:ln w="12700">
            <a:solidFill>
              <a:srgbClr val="C9A227"/>
            </a:solidFill>
            <a:prstDash val="solid"/>
          </a:ln>
        </p:spPr>
      </p:sp>
      <p:sp>
        <p:nvSpPr>
          <p:cNvPr id="24" name="Text 21"/>
          <p:cNvSpPr txBox="1"/>
          <p:nvPr/>
        </p:nvSpPr>
        <p:spPr>
          <a:xfrm>
            <a:off x="11393424" y="5252771"/>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25" name="Text 22"/>
          <p:cNvSpPr txBox="1"/>
          <p:nvPr/>
        </p:nvSpPr>
        <p:spPr>
          <a:xfrm>
            <a:off x="8046720" y="5252771"/>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ارسال</a:t>
            </a:r>
            <a:endParaRPr lang="en-US" sz="1400" dirty="0"/>
          </a:p>
        </p:txBody>
      </p:sp>
      <p:sp>
        <p:nvSpPr>
          <p:cNvPr id="26" name="Text 23"/>
          <p:cNvSpPr txBox="1"/>
          <p:nvPr/>
        </p:nvSpPr>
        <p:spPr>
          <a:xfrm>
            <a:off x="8046720" y="5581955"/>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«ارسال برای تأیید»: مسیر ۱. مدیر مالی ← ۲. خزانه‌دار.</a:t>
            </a:r>
            <a:endParaRPr lang="en-US" sz="1300" dirty="0"/>
          </a:p>
        </p:txBody>
      </p:sp>
      <p:sp>
        <p:nvSpPr>
          <p:cNvPr id="27" name="Text 24"/>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تنخواه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۱۱ — تأیید و پرداخت ترمیم</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pc14">    </p:cNvPr>
          <p:cNvPicPr>
            <a:picLocks noChangeAspect="1"/>
          </p:cNvPicPr>
          <p:nvPr/>
        </p:nvPicPr>
        <p:blipFill>
          <a:blip r:embed="rId1"/>
          <a:stretch>
            <a:fillRect/>
          </a:stretch>
        </p:blipFill>
        <p:spPr>
          <a:xfrm>
            <a:off x="691978" y="1216152"/>
            <a:ext cx="6845643" cy="5065776"/>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فهرست</a:t>
            </a:r>
            <a:endParaRPr lang="en-US" sz="1400" dirty="0"/>
          </a:p>
        </p:txBody>
      </p:sp>
      <p:sp>
        <p:nvSpPr>
          <p:cNvPr id="8" name="Text 5"/>
          <p:cNvSpPr txBox="1"/>
          <p:nvPr/>
        </p:nvSpPr>
        <p:spPr>
          <a:xfrm>
            <a:off x="8046720" y="1517904"/>
            <a:ext cx="3227832" cy="916229"/>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در «شارژ و ترمیم» همهٔ درخواست‌ها با وضعیت: پیش‌نویس، در انتظار مدیر مالی، در انتظار خزانه‌دار، پرداخت‌شده، ردشده.</a:t>
            </a:r>
            <a:endParaRPr lang="en-US" sz="1300" dirty="0"/>
          </a:p>
        </p:txBody>
      </p:sp>
      <p:sp>
        <p:nvSpPr>
          <p:cNvPr id="9" name="Shape 6"/>
          <p:cNvSpPr/>
          <p:nvPr/>
        </p:nvSpPr>
        <p:spPr>
          <a:xfrm>
            <a:off x="11393424" y="2543861"/>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543861"/>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543861"/>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تأیید مدیر مالی</a:t>
            </a:r>
            <a:endParaRPr lang="en-US" sz="1400" dirty="0"/>
          </a:p>
        </p:txBody>
      </p:sp>
      <p:sp>
        <p:nvSpPr>
          <p:cNvPr id="12" name="Text 9"/>
          <p:cNvSpPr txBox="1"/>
          <p:nvPr/>
        </p:nvSpPr>
        <p:spPr>
          <a:xfrm>
            <a:off x="8046720" y="2873045"/>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مدیر مالی (غیر از سازنده) «تأیید» یا «رد» می‌کند.</a:t>
            </a:r>
            <a:endParaRPr lang="en-US" sz="1300" dirty="0"/>
          </a:p>
        </p:txBody>
      </p:sp>
      <p:sp>
        <p:nvSpPr>
          <p:cNvPr id="13" name="Shape 10"/>
          <p:cNvSpPr/>
          <p:nvPr/>
        </p:nvSpPr>
        <p:spPr>
          <a:xfrm>
            <a:off x="11393424" y="3459175"/>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459175"/>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459175"/>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ثبت پرداخت</a:t>
            </a:r>
            <a:endParaRPr lang="en-US" sz="1400" dirty="0"/>
          </a:p>
        </p:txBody>
      </p:sp>
      <p:sp>
        <p:nvSpPr>
          <p:cNvPr id="16" name="Text 13"/>
          <p:cNvSpPr txBox="1"/>
          <p:nvPr/>
        </p:nvSpPr>
        <p:spPr>
          <a:xfrm>
            <a:off x="8046720" y="3788359"/>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خزانه‌دار پس از واریز، پرداخت را ثبت می‌کند ⇐ «پرداخت‌شده» و موجودی نقد افزایش می‌یابد.</a:t>
            </a:r>
            <a:endParaRPr lang="en-US" sz="1300" dirty="0"/>
          </a:p>
        </p:txBody>
      </p:sp>
      <p:sp>
        <p:nvSpPr>
          <p:cNvPr id="17" name="Shape 14"/>
          <p:cNvSpPr/>
          <p:nvPr/>
        </p:nvSpPr>
        <p:spPr>
          <a:xfrm>
            <a:off x="11393424" y="4594403"/>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4594403"/>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4594403"/>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مسیر تأیید</a:t>
            </a:r>
            <a:endParaRPr lang="en-US" sz="1400" dirty="0"/>
          </a:p>
        </p:txBody>
      </p:sp>
      <p:sp>
        <p:nvSpPr>
          <p:cNvPr id="20" name="Text 17"/>
          <p:cNvSpPr txBox="1"/>
          <p:nvPr/>
        </p:nvSpPr>
        <p:spPr>
          <a:xfrm>
            <a:off x="8046720" y="4923587"/>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کارت «مسیر تأیید» مرحلهٔ جاری را نشان می‌دهد.</a:t>
            </a:r>
            <a:endParaRPr lang="en-US" sz="1300" dirty="0"/>
          </a:p>
        </p:txBody>
      </p:sp>
      <p:sp>
        <p:nvSpPr>
          <p:cNvPr id="21" name="Text 18"/>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تنخواه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گزارش گردش تنخواه</a:t>
            </a:r>
            <a:endParaRPr lang="en-US" sz="2600" dirty="0"/>
          </a:p>
        </p:txBody>
      </p:sp>
      <p:sp>
        <p:nvSpPr>
          <p:cNvPr id="3" name="Shape 1"/>
          <p:cNvSpPr/>
          <p:nvPr/>
        </p:nvSpPr>
        <p:spPr>
          <a:xfrm>
            <a:off x="8197596" y="896112"/>
            <a:ext cx="3579876"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تنخواه و خزانه‌داری ← گزارش گردش تنخواه</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pc15">    </p:cNvPr>
          <p:cNvPicPr>
            <a:picLocks noChangeAspect="1"/>
          </p:cNvPicPr>
          <p:nvPr/>
        </p:nvPicPr>
        <p:blipFill>
          <a:blip r:embed="rId1"/>
          <a:stretch>
            <a:fillRect/>
          </a:stretch>
        </p:blipFill>
        <p:spPr>
          <a:xfrm>
            <a:off x="815546" y="1399032"/>
            <a:ext cx="6598508"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فیلتر</a:t>
            </a:r>
            <a:endParaRPr lang="en-US" sz="1400" dirty="0"/>
          </a:p>
        </p:txBody>
      </p:sp>
      <p:sp>
        <p:nvSpPr>
          <p:cNvPr id="10" name="Text 7"/>
          <p:cNvSpPr txBox="1"/>
          <p:nvPr/>
        </p:nvSpPr>
        <p:spPr>
          <a:xfrm>
            <a:off x="8046720" y="170078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تنخواه، از تاریخ، تا تاریخ و نوع (ترمیم، هزینه، استرداد).</a:t>
            </a:r>
            <a:endParaRPr lang="en-US" sz="1300" dirty="0"/>
          </a:p>
        </p:txBody>
      </p:sp>
      <p:sp>
        <p:nvSpPr>
          <p:cNvPr id="11" name="Shape 8"/>
          <p:cNvSpPr/>
          <p:nvPr/>
        </p:nvSpPr>
        <p:spPr>
          <a:xfrm>
            <a:off x="11393424" y="2286914"/>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28691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28691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ستون‌ها</a:t>
            </a:r>
            <a:endParaRPr lang="en-US" sz="1400" dirty="0"/>
          </a:p>
        </p:txBody>
      </p:sp>
      <p:sp>
        <p:nvSpPr>
          <p:cNvPr id="14" name="Text 11"/>
          <p:cNvSpPr txBox="1"/>
          <p:nvPr/>
        </p:nvSpPr>
        <p:spPr>
          <a:xfrm>
            <a:off x="8046720" y="2616098"/>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دریافت (ترمیم/استرداد)، پرداخت (هزینه) و ماندهٔ جاری پس از هر ردیف.</a:t>
            </a:r>
            <a:endParaRPr lang="en-US" sz="1300" dirty="0"/>
          </a:p>
        </p:txBody>
      </p:sp>
      <p:sp>
        <p:nvSpPr>
          <p:cNvPr id="15" name="Shape 12"/>
          <p:cNvSpPr/>
          <p:nvPr/>
        </p:nvSpPr>
        <p:spPr>
          <a:xfrm>
            <a:off x="11393424" y="3202229"/>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202229"/>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202229"/>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مرجع</a:t>
            </a:r>
            <a:endParaRPr lang="en-US" sz="1400" dirty="0"/>
          </a:p>
        </p:txBody>
      </p:sp>
      <p:sp>
        <p:nvSpPr>
          <p:cNvPr id="18" name="Text 15"/>
          <p:cNvSpPr txBox="1"/>
          <p:nvPr/>
        </p:nvSpPr>
        <p:spPr>
          <a:xfrm>
            <a:off x="8046720" y="3531413"/>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روی کد مرجع بزنید تا سند مبدأ باز شود.</a:t>
            </a:r>
            <a:endParaRPr lang="en-US" sz="1300" dirty="0"/>
          </a:p>
        </p:txBody>
      </p:sp>
      <p:sp>
        <p:nvSpPr>
          <p:cNvPr id="19" name="Shape 16"/>
          <p:cNvSpPr/>
          <p:nvPr/>
        </p:nvSpPr>
        <p:spPr>
          <a:xfrm>
            <a:off x="11393424" y="4117543"/>
            <a:ext cx="347472" cy="347472"/>
          </a:xfrm>
          <a:prstGeom prst="ellipse">
            <a:avLst/>
          </a:prstGeom>
          <a:solidFill>
            <a:srgbClr val="C9A227"/>
          </a:solidFill>
          <a:ln w="12700">
            <a:solidFill>
              <a:srgbClr val="C9A227"/>
            </a:solidFill>
            <a:prstDash val="solid"/>
          </a:ln>
        </p:spPr>
      </p:sp>
      <p:sp>
        <p:nvSpPr>
          <p:cNvPr id="20" name="Text 17"/>
          <p:cNvSpPr txBox="1"/>
          <p:nvPr/>
        </p:nvSpPr>
        <p:spPr>
          <a:xfrm>
            <a:off x="11393424" y="4117543"/>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1" name="Text 18"/>
          <p:cNvSpPr txBox="1"/>
          <p:nvPr/>
        </p:nvSpPr>
        <p:spPr>
          <a:xfrm>
            <a:off x="8046720" y="4117543"/>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خروجی</a:t>
            </a:r>
            <a:endParaRPr lang="en-US" sz="1400" dirty="0"/>
          </a:p>
        </p:txBody>
      </p:sp>
      <p:sp>
        <p:nvSpPr>
          <p:cNvPr id="22" name="Text 19"/>
          <p:cNvSpPr txBox="1"/>
          <p:nvPr/>
        </p:nvSpPr>
        <p:spPr>
          <a:xfrm>
            <a:off x="8046720" y="4446727"/>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دکمهٔ «خروجی اکسل» گزارش را با جمع‌ها ذخیره می‌کند.</a:t>
            </a:r>
            <a:endParaRPr lang="en-US" sz="1300" dirty="0"/>
          </a:p>
        </p:txBody>
      </p:sp>
      <p:sp>
        <p:nvSpPr>
          <p:cNvPr id="23" name="Text 20"/>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تنخواه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۱۲ — تسویهٔ دوره: شمارش صندوق</a:t>
            </a:r>
            <a:endParaRPr lang="en-US" sz="2600" dirty="0"/>
          </a:p>
        </p:txBody>
      </p:sp>
      <p:sp>
        <p:nvSpPr>
          <p:cNvPr id="3" name="Shape 1"/>
          <p:cNvSpPr/>
          <p:nvPr/>
        </p:nvSpPr>
        <p:spPr>
          <a:xfrm>
            <a:off x="8741664" y="896112"/>
            <a:ext cx="3035808"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تنخواه و خزانه‌داری ← تسویه دوره</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pc16a">    </p:cNvPr>
          <p:cNvPicPr>
            <a:picLocks noChangeAspect="1"/>
          </p:cNvPicPr>
          <p:nvPr/>
        </p:nvPicPr>
        <p:blipFill>
          <a:blip r:embed="rId1"/>
          <a:stretch>
            <a:fillRect/>
          </a:stretch>
        </p:blipFill>
        <p:spPr>
          <a:xfrm>
            <a:off x="815546" y="1399032"/>
            <a:ext cx="6598508"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دورهٔ جاری</a:t>
            </a:r>
            <a:endParaRPr lang="en-US" sz="1400" dirty="0"/>
          </a:p>
        </p:txBody>
      </p:sp>
      <p:sp>
        <p:nvSpPr>
          <p:cNvPr id="10" name="Text 7"/>
          <p:cNvSpPr txBox="1"/>
          <p:nvPr/>
        </p:nvSpPr>
        <p:spPr>
          <a:xfrm>
            <a:off x="8046720" y="170078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بر اساس دورهٔ تسویهٔ تنخواه (ماهانه/فصلی) خودکار تعیین می‌شود.</a:t>
            </a:r>
            <a:endParaRPr lang="en-US" sz="1300" dirty="0"/>
          </a:p>
        </p:txBody>
      </p:sp>
      <p:sp>
        <p:nvSpPr>
          <p:cNvPr id="11" name="Shape 8"/>
          <p:cNvSpPr/>
          <p:nvPr/>
        </p:nvSpPr>
        <p:spPr>
          <a:xfrm>
            <a:off x="11393424" y="2286914"/>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28691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28691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کارت‌ها</a:t>
            </a:r>
            <a:endParaRPr lang="en-US" sz="1400" dirty="0"/>
          </a:p>
        </p:txBody>
      </p:sp>
      <p:sp>
        <p:nvSpPr>
          <p:cNvPr id="14" name="Text 11"/>
          <p:cNvSpPr txBox="1"/>
          <p:nvPr/>
        </p:nvSpPr>
        <p:spPr>
          <a:xfrm>
            <a:off x="8046720" y="2616098"/>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ماندهٔ ابتدای دوره، ترمیم و استرداد، هزینهٔ تأییدشده و ماندهٔ نقد پایان دوره.</a:t>
            </a:r>
            <a:endParaRPr lang="en-US" sz="1300" dirty="0"/>
          </a:p>
        </p:txBody>
      </p:sp>
      <p:sp>
        <p:nvSpPr>
          <p:cNvPr id="15" name="Shape 12"/>
          <p:cNvSpPr/>
          <p:nvPr/>
        </p:nvSpPr>
        <p:spPr>
          <a:xfrm>
            <a:off x="11393424" y="3422142"/>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42214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42214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اسناد در جریان</a:t>
            </a:r>
            <a:endParaRPr lang="en-US" sz="1400" dirty="0"/>
          </a:p>
        </p:txBody>
      </p:sp>
      <p:sp>
        <p:nvSpPr>
          <p:cNvPr id="18" name="Text 15"/>
          <p:cNvSpPr txBox="1"/>
          <p:nvPr/>
        </p:nvSpPr>
        <p:spPr>
          <a:xfrm>
            <a:off x="8046720" y="3751326"/>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به دورهٔ بعد منتقل می‌شوند؛ پیام آبی تعداد و مبلغ آن‌ها را می‌گوید.</a:t>
            </a:r>
            <a:endParaRPr lang="en-US" sz="1300" dirty="0"/>
          </a:p>
        </p:txBody>
      </p:sp>
      <p:sp>
        <p:nvSpPr>
          <p:cNvPr id="19" name="Shape 16"/>
          <p:cNvSpPr/>
          <p:nvPr/>
        </p:nvSpPr>
        <p:spPr>
          <a:xfrm>
            <a:off x="11393424" y="4337456"/>
            <a:ext cx="347472" cy="347472"/>
          </a:xfrm>
          <a:prstGeom prst="ellipse">
            <a:avLst/>
          </a:prstGeom>
          <a:solidFill>
            <a:srgbClr val="C9A227"/>
          </a:solidFill>
          <a:ln w="12700">
            <a:solidFill>
              <a:srgbClr val="C9A227"/>
            </a:solidFill>
            <a:prstDash val="solid"/>
          </a:ln>
        </p:spPr>
      </p:sp>
      <p:sp>
        <p:nvSpPr>
          <p:cNvPr id="20" name="Text 17"/>
          <p:cNvSpPr txBox="1"/>
          <p:nvPr/>
        </p:nvSpPr>
        <p:spPr>
          <a:xfrm>
            <a:off x="11393424" y="4337456"/>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1" name="Text 18"/>
          <p:cNvSpPr txBox="1"/>
          <p:nvPr/>
        </p:nvSpPr>
        <p:spPr>
          <a:xfrm>
            <a:off x="8046720" y="4337456"/>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شمارش</a:t>
            </a:r>
            <a:endParaRPr lang="en-US" sz="1400" dirty="0"/>
          </a:p>
        </p:txBody>
      </p:sp>
      <p:sp>
        <p:nvSpPr>
          <p:cNvPr id="22" name="Text 19"/>
          <p:cNvSpPr txBox="1"/>
          <p:nvPr/>
        </p:nvSpPr>
        <p:spPr>
          <a:xfrm>
            <a:off x="8046720" y="4666640"/>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مبلغ شمارش‌شدهٔ صندوق/حساب را وارد و «ذخیرهٔ شمارش» کنید؛ باید با ماندهٔ محاسبه‌شده برابر باشد.</a:t>
            </a:r>
            <a:endParaRPr lang="en-US" sz="1300" dirty="0"/>
          </a:p>
        </p:txBody>
      </p:sp>
      <p:sp>
        <p:nvSpPr>
          <p:cNvPr id="23" name="Text 20"/>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تنخواه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۱۳ — پیش‌نمایش سند و نهایی‌سازی تسویه</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pc16b">    </p:cNvPr>
          <p:cNvPicPr>
            <a:picLocks noChangeAspect="1"/>
          </p:cNvPicPr>
          <p:nvPr/>
        </p:nvPicPr>
        <p:blipFill>
          <a:blip r:embed="rId1"/>
          <a:stretch>
            <a:fillRect/>
          </a:stretch>
        </p:blipFill>
        <p:spPr>
          <a:xfrm>
            <a:off x="691978" y="1216152"/>
            <a:ext cx="6845643" cy="5065776"/>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پیش‌نمایش سند</a:t>
            </a:r>
            <a:endParaRPr lang="en-US" sz="1400" dirty="0"/>
          </a:p>
        </p:txBody>
      </p:sp>
      <p:sp>
        <p:nvSpPr>
          <p:cNvPr id="8" name="Text 5"/>
          <p:cNvSpPr txBox="1"/>
          <p:nvPr/>
        </p:nvSpPr>
        <p:spPr>
          <a:xfrm>
            <a:off x="8046720" y="151790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بدهکار هر حساب هزینه با تفصیلی‌ها، بستانکار حساب تنخواه؛ برچسب «متوازن».</a:t>
            </a:r>
            <a:endParaRPr lang="en-US" sz="1300" dirty="0"/>
          </a:p>
        </p:txBody>
      </p:sp>
      <p:sp>
        <p:nvSpPr>
          <p:cNvPr id="9" name="Shape 6"/>
          <p:cNvSpPr/>
          <p:nvPr/>
        </p:nvSpPr>
        <p:spPr>
          <a:xfrm>
            <a:off x="11393424" y="2104034"/>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10403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10403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کنترل‌های پیش از بستن</a:t>
            </a:r>
            <a:endParaRPr lang="en-US" sz="1400" dirty="0"/>
          </a:p>
        </p:txBody>
      </p:sp>
      <p:sp>
        <p:nvSpPr>
          <p:cNvPr id="12" name="Text 9"/>
          <p:cNvSpPr txBox="1"/>
          <p:nvPr/>
        </p:nvSpPr>
        <p:spPr>
          <a:xfrm>
            <a:off x="8046720" y="2433218"/>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اسناد منظورشده، برابری شمارش، اسناد در جریان و نقش کاربر.</a:t>
            </a:r>
            <a:endParaRPr lang="en-US" sz="1300" dirty="0"/>
          </a:p>
        </p:txBody>
      </p:sp>
      <p:sp>
        <p:nvSpPr>
          <p:cNvPr id="13" name="Shape 10"/>
          <p:cNvSpPr/>
          <p:nvPr/>
        </p:nvSpPr>
        <p:spPr>
          <a:xfrm>
            <a:off x="11393424" y="3019349"/>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019349"/>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019349"/>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تأیید انتقال</a:t>
            </a:r>
            <a:endParaRPr lang="en-US" sz="1400" dirty="0"/>
          </a:p>
        </p:txBody>
      </p:sp>
      <p:sp>
        <p:nvSpPr>
          <p:cNvPr id="16" name="Text 13"/>
          <p:cNvSpPr txBox="1"/>
          <p:nvPr/>
        </p:nvSpPr>
        <p:spPr>
          <a:xfrm>
            <a:off x="8046720" y="3348533"/>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اگر سند در جریان هست، تیک «انتقال به دورهٔ بعد را تأیید می‌کنم» را بزنید.</a:t>
            </a:r>
            <a:endParaRPr lang="en-US" sz="1300" dirty="0"/>
          </a:p>
        </p:txBody>
      </p:sp>
      <p:sp>
        <p:nvSpPr>
          <p:cNvPr id="17" name="Shape 14"/>
          <p:cNvSpPr/>
          <p:nvPr/>
        </p:nvSpPr>
        <p:spPr>
          <a:xfrm>
            <a:off x="11393424" y="3934663"/>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3934663"/>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3934663"/>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نهایی‌سازی</a:t>
            </a:r>
            <a:endParaRPr lang="en-US" sz="1400" dirty="0"/>
          </a:p>
        </p:txBody>
      </p:sp>
      <p:sp>
        <p:nvSpPr>
          <p:cNvPr id="20" name="Text 17"/>
          <p:cNvSpPr txBox="1"/>
          <p:nvPr/>
        </p:nvSpPr>
        <p:spPr>
          <a:xfrm>
            <a:off x="8046720" y="4263847"/>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حسابدار ارشد «نهایی‌سازی و صدور سند» را می‌زند ⇐ سند موقت صادر و اسناد «تسویه‌شده» می‌شوند.</a:t>
            </a:r>
            <a:endParaRPr lang="en-US" sz="1300" dirty="0"/>
          </a:p>
        </p:txBody>
      </p:sp>
      <p:sp>
        <p:nvSpPr>
          <p:cNvPr id="21" name="Shape 18"/>
          <p:cNvSpPr/>
          <p:nvPr/>
        </p:nvSpPr>
        <p:spPr>
          <a:xfrm>
            <a:off x="11393424" y="5069891"/>
            <a:ext cx="347472" cy="347472"/>
          </a:xfrm>
          <a:prstGeom prst="ellipse">
            <a:avLst/>
          </a:prstGeom>
          <a:solidFill>
            <a:srgbClr val="C9A227"/>
          </a:solidFill>
          <a:ln w="12700">
            <a:solidFill>
              <a:srgbClr val="C9A227"/>
            </a:solidFill>
            <a:prstDash val="solid"/>
          </a:ln>
        </p:spPr>
      </p:sp>
      <p:sp>
        <p:nvSpPr>
          <p:cNvPr id="22" name="Text 19"/>
          <p:cNvSpPr txBox="1"/>
          <p:nvPr/>
        </p:nvSpPr>
        <p:spPr>
          <a:xfrm>
            <a:off x="11393424" y="5069891"/>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23" name="Text 20"/>
          <p:cNvSpPr txBox="1"/>
          <p:nvPr/>
        </p:nvSpPr>
        <p:spPr>
          <a:xfrm>
            <a:off x="8046720" y="5069891"/>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تاریخچه</a:t>
            </a:r>
            <a:endParaRPr lang="en-US" sz="1400" dirty="0"/>
          </a:p>
        </p:txBody>
      </p:sp>
      <p:sp>
        <p:nvSpPr>
          <p:cNvPr id="24" name="Text 21"/>
          <p:cNvSpPr txBox="1"/>
          <p:nvPr/>
        </p:nvSpPr>
        <p:spPr>
          <a:xfrm>
            <a:off x="8046720" y="5399075"/>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دوره‌های نهایی‌شده با شمارهٔ سند در جدول پایین صفحه.</a:t>
            </a:r>
            <a:endParaRPr lang="en-US" sz="1300" dirty="0"/>
          </a:p>
        </p:txBody>
      </p:sp>
      <p:sp>
        <p:nvSpPr>
          <p:cNvPr id="25" name="Text 22"/>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تنخواه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640080" y="457200"/>
            <a:ext cx="3840480" cy="5943600"/>
          </a:xfrm>
          <a:prstGeom prst="roundRect">
            <a:avLst>
              <a:gd name="adj" fmla="val 190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3" name="Image 0" descr="menu_tr">    </p:cNvPr>
          <p:cNvPicPr>
            <a:picLocks noChangeAspect="1"/>
          </p:cNvPicPr>
          <p:nvPr/>
        </p:nvPicPr>
        <p:blipFill>
          <a:blip r:embed="rId1"/>
          <a:stretch>
            <a:fillRect/>
          </a:stretch>
        </p:blipFill>
        <p:spPr>
          <a:xfrm>
            <a:off x="1564293" y="512064"/>
            <a:ext cx="1992054" cy="5833872"/>
          </a:xfrm>
          <a:prstGeom prst="rect">
            <a:avLst/>
          </a:prstGeom>
        </p:spPr>
      </p:pic>
      <p:sp>
        <p:nvSpPr>
          <p:cNvPr id="4" name="Shape 1"/>
          <p:cNvSpPr/>
          <p:nvPr/>
        </p:nvSpPr>
        <p:spPr>
          <a:xfrm>
            <a:off x="10515600" y="1188720"/>
            <a:ext cx="1234440" cy="1234440"/>
          </a:xfrm>
          <a:prstGeom prst="ellipse">
            <a:avLst/>
          </a:prstGeom>
          <a:solidFill>
            <a:srgbClr val="C9A227"/>
          </a:solidFill>
          <a:ln w="12700">
            <a:solidFill>
              <a:srgbClr val="C9A227"/>
            </a:solidFill>
            <a:prstDash val="solid"/>
          </a:ln>
        </p:spPr>
      </p:sp>
      <p:sp>
        <p:nvSpPr>
          <p:cNvPr id="5" name="Text 2"/>
          <p:cNvSpPr txBox="1"/>
          <p:nvPr/>
        </p:nvSpPr>
        <p:spPr>
          <a:xfrm>
            <a:off x="10515600" y="1188720"/>
            <a:ext cx="1234440" cy="1234440"/>
          </a:xfrm>
          <a:prstGeom prst="rect">
            <a:avLst/>
          </a:prstGeom>
          <a:noFill/>
          <a:ln/>
        </p:spPr>
        <p:txBody>
          <a:bodyPr wrap="square" lIns="0" tIns="0" rIns="0" bIns="0" rtlCol="0" anchor="ctr"/>
          <a:lstStyle/>
          <a:p>
            <a:pPr rtl="1" algn="ctr" indent="0" marL="0">
              <a:buNone/>
            </a:pPr>
            <a:r>
              <a:rPr lang="en-US" sz="4000" b="1" dirty="0">
                <a:solidFill>
                  <a:srgbClr val="1B2A49"/>
                </a:solidFill>
                <a:latin typeface="Tahoma" pitchFamily="34" charset="0"/>
                <a:ea typeface="Tahoma" pitchFamily="34" charset="-122"/>
                <a:cs typeface="Tahoma" pitchFamily="34" charset="-120"/>
              </a:rPr>
              <a:t>۲</a:t>
            </a:r>
            <a:endParaRPr lang="en-US" sz="4000" dirty="0"/>
          </a:p>
        </p:txBody>
      </p:sp>
      <p:sp>
        <p:nvSpPr>
          <p:cNvPr id="6" name="Text 3"/>
          <p:cNvSpPr txBox="1"/>
          <p:nvPr/>
        </p:nvSpPr>
        <p:spPr>
          <a:xfrm>
            <a:off x="5120640" y="2651760"/>
            <a:ext cx="6629400" cy="457200"/>
          </a:xfrm>
          <a:prstGeom prst="rect">
            <a:avLst/>
          </a:prstGeom>
          <a:noFill/>
          <a:ln/>
        </p:spPr>
        <p:txBody>
          <a:bodyPr wrap="square" lIns="0" tIns="0" rIns="0" bIns="0" rtlCol="0" anchor="ctr"/>
          <a:lstStyle/>
          <a:p>
            <a:pPr rtl="1" algn="r" indent="0" marL="0">
              <a:buNone/>
            </a:pPr>
            <a:r>
              <a:rPr lang="en-US" sz="1800" b="1" dirty="0">
                <a:solidFill>
                  <a:srgbClr val="C9A227"/>
                </a:solidFill>
                <a:latin typeface="Tahoma" pitchFamily="34" charset="0"/>
                <a:ea typeface="Tahoma" pitchFamily="34" charset="-122"/>
                <a:cs typeface="Tahoma" pitchFamily="34" charset="-120"/>
              </a:rPr>
              <a:t>بخش ۲</a:t>
            </a:r>
            <a:endParaRPr lang="en-US" sz="1800" dirty="0"/>
          </a:p>
        </p:txBody>
      </p:sp>
      <p:sp>
        <p:nvSpPr>
          <p:cNvPr id="7" name="Text 4"/>
          <p:cNvSpPr txBox="1"/>
          <p:nvPr/>
        </p:nvSpPr>
        <p:spPr>
          <a:xfrm>
            <a:off x="5120640" y="3108960"/>
            <a:ext cx="6629400" cy="1005840"/>
          </a:xfrm>
          <a:prstGeom prst="rect">
            <a:avLst/>
          </a:prstGeom>
          <a:noFill/>
          <a:ln/>
        </p:spPr>
        <p:txBody>
          <a:bodyPr wrap="square" lIns="0" tIns="0" rIns="0" bIns="0" rtlCol="0" anchor="ctr"/>
          <a:lstStyle/>
          <a:p>
            <a:pPr rtl="1" algn="r" indent="0" marL="0">
              <a:buNone/>
            </a:pPr>
            <a:r>
              <a:rPr lang="en-US" sz="3800" b="1" dirty="0">
                <a:solidFill>
                  <a:srgbClr val="FFFFFF"/>
                </a:solidFill>
                <a:latin typeface="Tahoma" pitchFamily="34" charset="0"/>
                <a:ea typeface="Tahoma" pitchFamily="34" charset="-122"/>
                <a:cs typeface="Tahoma" pitchFamily="34" charset="-120"/>
              </a:rPr>
              <a:t>دریافت و پرداخت (خزانه‌داری)</a:t>
            </a:r>
            <a:endParaRPr lang="en-US" sz="3800" dirty="0"/>
          </a:p>
        </p:txBody>
      </p:sp>
      <p:sp>
        <p:nvSpPr>
          <p:cNvPr id="8" name="Text 5"/>
          <p:cNvSpPr txBox="1"/>
          <p:nvPr/>
        </p:nvSpPr>
        <p:spPr>
          <a:xfrm>
            <a:off x="5120640" y="4206240"/>
            <a:ext cx="6629400" cy="1097280"/>
          </a:xfrm>
          <a:prstGeom prst="rect">
            <a:avLst/>
          </a:prstGeom>
          <a:noFill/>
          <a:ln/>
        </p:spPr>
        <p:txBody>
          <a:bodyPr wrap="square" lIns="0" tIns="0" rIns="0" bIns="0" rtlCol="0" anchor="t"/>
          <a:lstStyle/>
          <a:p>
            <a:pPr rtl="1" algn="r" indent="0" marL="0">
              <a:buNone/>
            </a:pPr>
            <a:r>
              <a:rPr lang="en-US" sz="1700" dirty="0">
                <a:solidFill>
                  <a:srgbClr val="C9D3E6"/>
                </a:solidFill>
                <a:latin typeface="Tahoma" pitchFamily="34" charset="0"/>
                <a:ea typeface="Tahoma" pitchFamily="34" charset="-122"/>
                <a:cs typeface="Tahoma" pitchFamily="34" charset="-120"/>
              </a:rPr>
              <a:t>درخواست پرداخت، تأیید چندمرحله‌ای، اجرای پرداخت، دریافت وجه، انتقال وجه و مغایرت بانکی</a:t>
            </a:r>
            <a:endParaRPr lang="en-US" sz="1700" dirty="0"/>
          </a:p>
        </p:txBody>
      </p:sp>
      <p:sp>
        <p:nvSpPr>
          <p:cNvPr id="9" name="Text 6"/>
          <p:cNvSpPr txBox="1"/>
          <p:nvPr/>
        </p:nvSpPr>
        <p:spPr>
          <a:xfrm>
            <a:off x="640080" y="6446520"/>
            <a:ext cx="3840480" cy="274320"/>
          </a:xfrm>
          <a:prstGeom prst="rect">
            <a:avLst/>
          </a:prstGeom>
          <a:noFill/>
          <a:ln/>
        </p:spPr>
        <p:txBody>
          <a:bodyPr wrap="square" lIns="0" tIns="0" rIns="0" bIns="0" rtlCol="0" anchor="ctr"/>
          <a:lstStyle/>
          <a:p>
            <a:pPr rtl="1" algn="ctr" indent="0" marL="0">
              <a:buNone/>
            </a:pPr>
            <a:r>
              <a:rPr lang="en-US" sz="1000" dirty="0">
                <a:solidFill>
                  <a:srgbClr val="A9B4C8"/>
                </a:solidFill>
                <a:latin typeface="Tahoma" pitchFamily="34" charset="0"/>
                <a:ea typeface="Tahoma" pitchFamily="34" charset="-122"/>
                <a:cs typeface="Tahoma" pitchFamily="34" charset="-120"/>
              </a:rPr>
              <a:t>تصویر: گروه منوی این بخش در نوار کناری</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مسیر درخواست پرداخت و اسناد خودکار</a:t>
            </a:r>
            <a:endParaRPr lang="en-US" sz="2600" dirty="0"/>
          </a:p>
        </p:txBody>
      </p:sp>
      <p:sp>
        <p:nvSpPr>
          <p:cNvPr id="3" name="Shape 1"/>
          <p:cNvSpPr/>
          <p:nvPr/>
        </p:nvSpPr>
        <p:spPr>
          <a:xfrm>
            <a:off x="10187940" y="2103120"/>
            <a:ext cx="1589532" cy="2011680"/>
          </a:xfrm>
          <a:prstGeom prst="roundRect">
            <a:avLst>
              <a:gd name="adj" fmla="val 6903"/>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10708386" y="1828800"/>
            <a:ext cx="548640" cy="548640"/>
          </a:xfrm>
          <a:prstGeom prst="ellipse">
            <a:avLst/>
          </a:prstGeom>
          <a:solidFill>
            <a:srgbClr val="C9A227"/>
          </a:solidFill>
          <a:ln w="12700">
            <a:solidFill>
              <a:srgbClr val="C9A227"/>
            </a:solidFill>
            <a:prstDash val="solid"/>
          </a:ln>
        </p:spPr>
      </p:sp>
      <p:sp>
        <p:nvSpPr>
          <p:cNvPr id="5" name="Text 3"/>
          <p:cNvSpPr txBox="1"/>
          <p:nvPr/>
        </p:nvSpPr>
        <p:spPr>
          <a:xfrm>
            <a:off x="10708386"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۱</a:t>
            </a:r>
            <a:endParaRPr lang="en-US" sz="1800" dirty="0"/>
          </a:p>
        </p:txBody>
      </p:sp>
      <p:sp>
        <p:nvSpPr>
          <p:cNvPr id="6" name="Text 4"/>
          <p:cNvSpPr txBox="1"/>
          <p:nvPr/>
        </p:nvSpPr>
        <p:spPr>
          <a:xfrm>
            <a:off x="10297668" y="2560320"/>
            <a:ext cx="1370076" cy="685800"/>
          </a:xfrm>
          <a:prstGeom prst="rect">
            <a:avLst/>
          </a:prstGeom>
          <a:noFill/>
          <a:ln/>
        </p:spPr>
        <p:txBody>
          <a:bodyPr wrap="square" lIns="0" tIns="0" rIns="0" bIns="0" rtlCol="0" anchor="ctr"/>
          <a:lstStyle/>
          <a:p>
            <a:pPr rtl="1" algn="ctr" indent="0" marL="0">
              <a:buNone/>
            </a:pPr>
            <a:r>
              <a:rPr lang="en-US" sz="1600" b="1" dirty="0">
                <a:solidFill>
                  <a:srgbClr val="1B2A49"/>
                </a:solidFill>
                <a:latin typeface="Tahoma" pitchFamily="34" charset="0"/>
                <a:ea typeface="Tahoma" pitchFamily="34" charset="-122"/>
                <a:cs typeface="Tahoma" pitchFamily="34" charset="-120"/>
              </a:rPr>
              <a:t>ثبت درخواست</a:t>
            </a:r>
            <a:endParaRPr lang="en-US" sz="1600" dirty="0"/>
          </a:p>
        </p:txBody>
      </p:sp>
      <p:sp>
        <p:nvSpPr>
          <p:cNvPr id="7" name="Text 5"/>
          <p:cNvSpPr txBox="1"/>
          <p:nvPr/>
        </p:nvSpPr>
        <p:spPr>
          <a:xfrm>
            <a:off x="10297668" y="3246120"/>
            <a:ext cx="1370076" cy="685800"/>
          </a:xfrm>
          <a:prstGeom prst="rect">
            <a:avLst/>
          </a:prstGeom>
          <a:noFill/>
          <a:ln/>
        </p:spPr>
        <p:txBody>
          <a:bodyPr wrap="square" lIns="0" tIns="0" rIns="0" bIns="0" rtlCol="0" anchor="t"/>
          <a:lstStyle/>
          <a:p>
            <a:pPr rtl="1" algn="ctr" indent="0" marL="0">
              <a:buNone/>
            </a:pPr>
            <a:r>
              <a:rPr lang="en-US" sz="1250" dirty="0">
                <a:solidFill>
                  <a:srgbClr val="5B6678"/>
                </a:solidFill>
                <a:latin typeface="Tahoma" pitchFamily="34" charset="0"/>
                <a:ea typeface="Tahoma" pitchFamily="34" charset="-122"/>
                <a:cs typeface="Tahoma" pitchFamily="34" charset="-120"/>
              </a:rPr>
              <a:t>ثبت‌کننده</a:t>
            </a:r>
            <a:endParaRPr lang="en-US" sz="1250" dirty="0"/>
          </a:p>
        </p:txBody>
      </p:sp>
      <p:sp>
        <p:nvSpPr>
          <p:cNvPr id="8" name="Text 6"/>
          <p:cNvSpPr txBox="1"/>
          <p:nvPr/>
        </p:nvSpPr>
        <p:spPr>
          <a:xfrm>
            <a:off x="9822180" y="2880360"/>
            <a:ext cx="365760" cy="457200"/>
          </a:xfrm>
          <a:prstGeom prst="rect">
            <a:avLst/>
          </a:prstGeom>
          <a:noFill/>
          <a:ln/>
        </p:spPr>
        <p:txBody>
          <a:bodyPr wrap="square" lIns="0" tIns="0" rIns="0" bIns="0" rtlCol="0" anchor="ctr"/>
          <a:lstStyle/>
          <a:p>
            <a:pPr rtl="1" algn="ctr" indent="0" marL="0">
              <a:buNone/>
            </a:pPr>
            <a:r>
              <a:rPr lang="en-US" sz="1600" dirty="0">
                <a:solidFill>
                  <a:srgbClr val="C9A227"/>
                </a:solidFill>
                <a:latin typeface="Tahoma" pitchFamily="34" charset="0"/>
                <a:ea typeface="Tahoma" pitchFamily="34" charset="-122"/>
                <a:cs typeface="Tahoma" pitchFamily="34" charset="-120"/>
              </a:rPr>
              <a:t>◀</a:t>
            </a:r>
            <a:endParaRPr lang="en-US" sz="1600" dirty="0"/>
          </a:p>
        </p:txBody>
      </p:sp>
      <p:sp>
        <p:nvSpPr>
          <p:cNvPr id="9" name="Shape 7"/>
          <p:cNvSpPr/>
          <p:nvPr/>
        </p:nvSpPr>
        <p:spPr>
          <a:xfrm>
            <a:off x="8232648" y="2103120"/>
            <a:ext cx="1589532" cy="2011680"/>
          </a:xfrm>
          <a:prstGeom prst="roundRect">
            <a:avLst>
              <a:gd name="adj" fmla="val 6903"/>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10" name="Shape 8"/>
          <p:cNvSpPr/>
          <p:nvPr/>
        </p:nvSpPr>
        <p:spPr>
          <a:xfrm>
            <a:off x="8753094" y="1828800"/>
            <a:ext cx="548640" cy="548640"/>
          </a:xfrm>
          <a:prstGeom prst="ellipse">
            <a:avLst/>
          </a:prstGeom>
          <a:solidFill>
            <a:srgbClr val="C9A227"/>
          </a:solidFill>
          <a:ln w="12700">
            <a:solidFill>
              <a:srgbClr val="C9A227"/>
            </a:solidFill>
            <a:prstDash val="solid"/>
          </a:ln>
        </p:spPr>
      </p:sp>
      <p:sp>
        <p:nvSpPr>
          <p:cNvPr id="11" name="Text 9"/>
          <p:cNvSpPr txBox="1"/>
          <p:nvPr/>
        </p:nvSpPr>
        <p:spPr>
          <a:xfrm>
            <a:off x="8753094"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۲</a:t>
            </a:r>
            <a:endParaRPr lang="en-US" sz="1800" dirty="0"/>
          </a:p>
        </p:txBody>
      </p:sp>
      <p:sp>
        <p:nvSpPr>
          <p:cNvPr id="12" name="Text 10"/>
          <p:cNvSpPr txBox="1"/>
          <p:nvPr/>
        </p:nvSpPr>
        <p:spPr>
          <a:xfrm>
            <a:off x="8342376" y="2560320"/>
            <a:ext cx="1370076" cy="685800"/>
          </a:xfrm>
          <a:prstGeom prst="rect">
            <a:avLst/>
          </a:prstGeom>
          <a:noFill/>
          <a:ln/>
        </p:spPr>
        <p:txBody>
          <a:bodyPr wrap="square" lIns="0" tIns="0" rIns="0" bIns="0" rtlCol="0" anchor="ctr"/>
          <a:lstStyle/>
          <a:p>
            <a:pPr rtl="1" algn="ctr" indent="0" marL="0">
              <a:buNone/>
            </a:pPr>
            <a:r>
              <a:rPr lang="en-US" sz="1600" b="1" dirty="0">
                <a:solidFill>
                  <a:srgbClr val="1B2A49"/>
                </a:solidFill>
                <a:latin typeface="Tahoma" pitchFamily="34" charset="0"/>
                <a:ea typeface="Tahoma" pitchFamily="34" charset="-122"/>
                <a:cs typeface="Tahoma" pitchFamily="34" charset="-120"/>
              </a:rPr>
              <a:t>تأیید مدیر واحد</a:t>
            </a:r>
            <a:endParaRPr lang="en-US" sz="1600" dirty="0"/>
          </a:p>
        </p:txBody>
      </p:sp>
      <p:sp>
        <p:nvSpPr>
          <p:cNvPr id="13" name="Text 11"/>
          <p:cNvSpPr txBox="1"/>
          <p:nvPr/>
        </p:nvSpPr>
        <p:spPr>
          <a:xfrm>
            <a:off x="8342376" y="3246120"/>
            <a:ext cx="1370076" cy="685800"/>
          </a:xfrm>
          <a:prstGeom prst="rect">
            <a:avLst/>
          </a:prstGeom>
          <a:noFill/>
          <a:ln/>
        </p:spPr>
        <p:txBody>
          <a:bodyPr wrap="square" lIns="0" tIns="0" rIns="0" bIns="0" rtlCol="0" anchor="t"/>
          <a:lstStyle/>
          <a:p>
            <a:pPr rtl="1" algn="ctr" indent="0" marL="0">
              <a:buNone/>
            </a:pPr>
            <a:r>
              <a:rPr lang="en-US" sz="1250" dirty="0">
                <a:solidFill>
                  <a:srgbClr val="5B6678"/>
                </a:solidFill>
                <a:latin typeface="Tahoma" pitchFamily="34" charset="0"/>
                <a:ea typeface="Tahoma" pitchFamily="34" charset="-122"/>
                <a:cs typeface="Tahoma" pitchFamily="34" charset="-120"/>
              </a:rPr>
              <a:t>مرحلهٔ ۱</a:t>
            </a:r>
            <a:endParaRPr lang="en-US" sz="1250" dirty="0"/>
          </a:p>
        </p:txBody>
      </p:sp>
      <p:sp>
        <p:nvSpPr>
          <p:cNvPr id="14" name="Text 12"/>
          <p:cNvSpPr txBox="1"/>
          <p:nvPr/>
        </p:nvSpPr>
        <p:spPr>
          <a:xfrm>
            <a:off x="7866888" y="2880360"/>
            <a:ext cx="365760" cy="457200"/>
          </a:xfrm>
          <a:prstGeom prst="rect">
            <a:avLst/>
          </a:prstGeom>
          <a:noFill/>
          <a:ln/>
        </p:spPr>
        <p:txBody>
          <a:bodyPr wrap="square" lIns="0" tIns="0" rIns="0" bIns="0" rtlCol="0" anchor="ctr"/>
          <a:lstStyle/>
          <a:p>
            <a:pPr rtl="1" algn="ctr" indent="0" marL="0">
              <a:buNone/>
            </a:pPr>
            <a:r>
              <a:rPr lang="en-US" sz="1600" dirty="0">
                <a:solidFill>
                  <a:srgbClr val="C9A227"/>
                </a:solidFill>
                <a:latin typeface="Tahoma" pitchFamily="34" charset="0"/>
                <a:ea typeface="Tahoma" pitchFamily="34" charset="-122"/>
                <a:cs typeface="Tahoma" pitchFamily="34" charset="-120"/>
              </a:rPr>
              <a:t>◀</a:t>
            </a:r>
            <a:endParaRPr lang="en-US" sz="1600" dirty="0"/>
          </a:p>
        </p:txBody>
      </p:sp>
      <p:sp>
        <p:nvSpPr>
          <p:cNvPr id="15" name="Shape 13"/>
          <p:cNvSpPr/>
          <p:nvPr/>
        </p:nvSpPr>
        <p:spPr>
          <a:xfrm>
            <a:off x="6277356" y="2103120"/>
            <a:ext cx="1589532" cy="2011680"/>
          </a:xfrm>
          <a:prstGeom prst="roundRect">
            <a:avLst>
              <a:gd name="adj" fmla="val 6903"/>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16" name="Shape 14"/>
          <p:cNvSpPr/>
          <p:nvPr/>
        </p:nvSpPr>
        <p:spPr>
          <a:xfrm>
            <a:off x="6797802" y="1828800"/>
            <a:ext cx="548640" cy="548640"/>
          </a:xfrm>
          <a:prstGeom prst="ellipse">
            <a:avLst/>
          </a:prstGeom>
          <a:solidFill>
            <a:srgbClr val="C9A227"/>
          </a:solidFill>
          <a:ln w="12700">
            <a:solidFill>
              <a:srgbClr val="C9A227"/>
            </a:solidFill>
            <a:prstDash val="solid"/>
          </a:ln>
        </p:spPr>
      </p:sp>
      <p:sp>
        <p:nvSpPr>
          <p:cNvPr id="17" name="Text 15"/>
          <p:cNvSpPr txBox="1"/>
          <p:nvPr/>
        </p:nvSpPr>
        <p:spPr>
          <a:xfrm>
            <a:off x="6797802"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۳</a:t>
            </a:r>
            <a:endParaRPr lang="en-US" sz="1800" dirty="0"/>
          </a:p>
        </p:txBody>
      </p:sp>
      <p:sp>
        <p:nvSpPr>
          <p:cNvPr id="18" name="Text 16"/>
          <p:cNvSpPr txBox="1"/>
          <p:nvPr/>
        </p:nvSpPr>
        <p:spPr>
          <a:xfrm>
            <a:off x="6387084" y="2560320"/>
            <a:ext cx="1370076" cy="685800"/>
          </a:xfrm>
          <a:prstGeom prst="rect">
            <a:avLst/>
          </a:prstGeom>
          <a:noFill/>
          <a:ln/>
        </p:spPr>
        <p:txBody>
          <a:bodyPr wrap="square" lIns="0" tIns="0" rIns="0" bIns="0" rtlCol="0" anchor="ctr"/>
          <a:lstStyle/>
          <a:p>
            <a:pPr rtl="1" algn="ctr" indent="0" marL="0">
              <a:buNone/>
            </a:pPr>
            <a:r>
              <a:rPr lang="en-US" sz="1600" b="1" dirty="0">
                <a:solidFill>
                  <a:srgbClr val="1B2A49"/>
                </a:solidFill>
                <a:latin typeface="Tahoma" pitchFamily="34" charset="0"/>
                <a:ea typeface="Tahoma" pitchFamily="34" charset="-122"/>
                <a:cs typeface="Tahoma" pitchFamily="34" charset="-120"/>
              </a:rPr>
              <a:t>تأیید مدیر مالی</a:t>
            </a:r>
            <a:endParaRPr lang="en-US" sz="1600" dirty="0"/>
          </a:p>
        </p:txBody>
      </p:sp>
      <p:sp>
        <p:nvSpPr>
          <p:cNvPr id="19" name="Text 17"/>
          <p:cNvSpPr txBox="1"/>
          <p:nvPr/>
        </p:nvSpPr>
        <p:spPr>
          <a:xfrm>
            <a:off x="6387084" y="3246120"/>
            <a:ext cx="1370076" cy="685800"/>
          </a:xfrm>
          <a:prstGeom prst="rect">
            <a:avLst/>
          </a:prstGeom>
          <a:noFill/>
          <a:ln/>
        </p:spPr>
        <p:txBody>
          <a:bodyPr wrap="square" lIns="0" tIns="0" rIns="0" bIns="0" rtlCol="0" anchor="t"/>
          <a:lstStyle/>
          <a:p>
            <a:pPr rtl="1" algn="ctr" indent="0" marL="0">
              <a:buNone/>
            </a:pPr>
            <a:r>
              <a:rPr lang="en-US" sz="1250" dirty="0">
                <a:solidFill>
                  <a:srgbClr val="5B6678"/>
                </a:solidFill>
                <a:latin typeface="Tahoma" pitchFamily="34" charset="0"/>
                <a:ea typeface="Tahoma" pitchFamily="34" charset="-122"/>
                <a:cs typeface="Tahoma" pitchFamily="34" charset="-120"/>
              </a:rPr>
              <a:t>مرحلهٔ ۲</a:t>
            </a:r>
            <a:endParaRPr lang="en-US" sz="1250" dirty="0"/>
          </a:p>
        </p:txBody>
      </p:sp>
      <p:sp>
        <p:nvSpPr>
          <p:cNvPr id="20" name="Text 18"/>
          <p:cNvSpPr txBox="1"/>
          <p:nvPr/>
        </p:nvSpPr>
        <p:spPr>
          <a:xfrm>
            <a:off x="5911596" y="2880360"/>
            <a:ext cx="365760" cy="457200"/>
          </a:xfrm>
          <a:prstGeom prst="rect">
            <a:avLst/>
          </a:prstGeom>
          <a:noFill/>
          <a:ln/>
        </p:spPr>
        <p:txBody>
          <a:bodyPr wrap="square" lIns="0" tIns="0" rIns="0" bIns="0" rtlCol="0" anchor="ctr"/>
          <a:lstStyle/>
          <a:p>
            <a:pPr rtl="1" algn="ctr" indent="0" marL="0">
              <a:buNone/>
            </a:pPr>
            <a:r>
              <a:rPr lang="en-US" sz="1600" dirty="0">
                <a:solidFill>
                  <a:srgbClr val="C9A227"/>
                </a:solidFill>
                <a:latin typeface="Tahoma" pitchFamily="34" charset="0"/>
                <a:ea typeface="Tahoma" pitchFamily="34" charset="-122"/>
                <a:cs typeface="Tahoma" pitchFamily="34" charset="-120"/>
              </a:rPr>
              <a:t>◀</a:t>
            </a:r>
            <a:endParaRPr lang="en-US" sz="1600" dirty="0"/>
          </a:p>
        </p:txBody>
      </p:sp>
      <p:sp>
        <p:nvSpPr>
          <p:cNvPr id="21" name="Shape 19"/>
          <p:cNvSpPr/>
          <p:nvPr/>
        </p:nvSpPr>
        <p:spPr>
          <a:xfrm>
            <a:off x="4322064" y="2103120"/>
            <a:ext cx="1589532" cy="2011680"/>
          </a:xfrm>
          <a:prstGeom prst="roundRect">
            <a:avLst>
              <a:gd name="adj" fmla="val 6903"/>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22" name="Shape 20"/>
          <p:cNvSpPr/>
          <p:nvPr/>
        </p:nvSpPr>
        <p:spPr>
          <a:xfrm>
            <a:off x="4842510" y="1828800"/>
            <a:ext cx="548640" cy="548640"/>
          </a:xfrm>
          <a:prstGeom prst="ellipse">
            <a:avLst/>
          </a:prstGeom>
          <a:solidFill>
            <a:srgbClr val="C9A227"/>
          </a:solidFill>
          <a:ln w="12700">
            <a:solidFill>
              <a:srgbClr val="C9A227"/>
            </a:solidFill>
            <a:prstDash val="solid"/>
          </a:ln>
        </p:spPr>
      </p:sp>
      <p:sp>
        <p:nvSpPr>
          <p:cNvPr id="23" name="Text 21"/>
          <p:cNvSpPr txBox="1"/>
          <p:nvPr/>
        </p:nvSpPr>
        <p:spPr>
          <a:xfrm>
            <a:off x="4842510"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۴</a:t>
            </a:r>
            <a:endParaRPr lang="en-US" sz="1800" dirty="0"/>
          </a:p>
        </p:txBody>
      </p:sp>
      <p:sp>
        <p:nvSpPr>
          <p:cNvPr id="24" name="Text 22"/>
          <p:cNvSpPr txBox="1"/>
          <p:nvPr/>
        </p:nvSpPr>
        <p:spPr>
          <a:xfrm>
            <a:off x="4431792" y="2560320"/>
            <a:ext cx="1370076" cy="685800"/>
          </a:xfrm>
          <a:prstGeom prst="rect">
            <a:avLst/>
          </a:prstGeom>
          <a:noFill/>
          <a:ln/>
        </p:spPr>
        <p:txBody>
          <a:bodyPr wrap="square" lIns="0" tIns="0" rIns="0" bIns="0" rtlCol="0" anchor="ctr"/>
          <a:lstStyle/>
          <a:p>
            <a:pPr rtl="1" algn="ctr" indent="0" marL="0">
              <a:buNone/>
            </a:pPr>
            <a:r>
              <a:rPr lang="en-US" sz="1600" b="1" dirty="0">
                <a:solidFill>
                  <a:srgbClr val="1B2A49"/>
                </a:solidFill>
                <a:latin typeface="Tahoma" pitchFamily="34" charset="0"/>
                <a:ea typeface="Tahoma" pitchFamily="34" charset="-122"/>
                <a:cs typeface="Tahoma" pitchFamily="34" charset="-120"/>
              </a:rPr>
              <a:t>تأیید مدیرعامل</a:t>
            </a:r>
            <a:endParaRPr lang="en-US" sz="1600" dirty="0"/>
          </a:p>
        </p:txBody>
      </p:sp>
      <p:sp>
        <p:nvSpPr>
          <p:cNvPr id="25" name="Text 23"/>
          <p:cNvSpPr txBox="1"/>
          <p:nvPr/>
        </p:nvSpPr>
        <p:spPr>
          <a:xfrm>
            <a:off x="4431792" y="3246120"/>
            <a:ext cx="1370076" cy="685800"/>
          </a:xfrm>
          <a:prstGeom prst="rect">
            <a:avLst/>
          </a:prstGeom>
          <a:noFill/>
          <a:ln/>
        </p:spPr>
        <p:txBody>
          <a:bodyPr wrap="square" lIns="0" tIns="0" rIns="0" bIns="0" rtlCol="0" anchor="t"/>
          <a:lstStyle/>
          <a:p>
            <a:pPr rtl="1" algn="ctr" indent="0" marL="0">
              <a:buNone/>
            </a:pPr>
            <a:r>
              <a:rPr lang="en-US" sz="1250" dirty="0">
                <a:solidFill>
                  <a:srgbClr val="5B6678"/>
                </a:solidFill>
                <a:latin typeface="Tahoma" pitchFamily="34" charset="0"/>
                <a:ea typeface="Tahoma" pitchFamily="34" charset="-122"/>
                <a:cs typeface="Tahoma" pitchFamily="34" charset="-120"/>
              </a:rPr>
              <a:t>فقط بالای آستانه</a:t>
            </a:r>
            <a:endParaRPr lang="en-US" sz="1250" dirty="0"/>
          </a:p>
        </p:txBody>
      </p:sp>
      <p:sp>
        <p:nvSpPr>
          <p:cNvPr id="26" name="Text 24"/>
          <p:cNvSpPr txBox="1"/>
          <p:nvPr/>
        </p:nvSpPr>
        <p:spPr>
          <a:xfrm>
            <a:off x="3956304" y="2880360"/>
            <a:ext cx="365760" cy="457200"/>
          </a:xfrm>
          <a:prstGeom prst="rect">
            <a:avLst/>
          </a:prstGeom>
          <a:noFill/>
          <a:ln/>
        </p:spPr>
        <p:txBody>
          <a:bodyPr wrap="square" lIns="0" tIns="0" rIns="0" bIns="0" rtlCol="0" anchor="ctr"/>
          <a:lstStyle/>
          <a:p>
            <a:pPr rtl="1" algn="ctr" indent="0" marL="0">
              <a:buNone/>
            </a:pPr>
            <a:r>
              <a:rPr lang="en-US" sz="1600" dirty="0">
                <a:solidFill>
                  <a:srgbClr val="C9A227"/>
                </a:solidFill>
                <a:latin typeface="Tahoma" pitchFamily="34" charset="0"/>
                <a:ea typeface="Tahoma" pitchFamily="34" charset="-122"/>
                <a:cs typeface="Tahoma" pitchFamily="34" charset="-120"/>
              </a:rPr>
              <a:t>◀</a:t>
            </a:r>
            <a:endParaRPr lang="en-US" sz="1600" dirty="0"/>
          </a:p>
        </p:txBody>
      </p:sp>
      <p:sp>
        <p:nvSpPr>
          <p:cNvPr id="27" name="Shape 25"/>
          <p:cNvSpPr/>
          <p:nvPr/>
        </p:nvSpPr>
        <p:spPr>
          <a:xfrm>
            <a:off x="2366772" y="2103120"/>
            <a:ext cx="1589532" cy="2011680"/>
          </a:xfrm>
          <a:prstGeom prst="roundRect">
            <a:avLst>
              <a:gd name="adj" fmla="val 6903"/>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28" name="Shape 26"/>
          <p:cNvSpPr/>
          <p:nvPr/>
        </p:nvSpPr>
        <p:spPr>
          <a:xfrm>
            <a:off x="2887218" y="1828800"/>
            <a:ext cx="548640" cy="548640"/>
          </a:xfrm>
          <a:prstGeom prst="ellipse">
            <a:avLst/>
          </a:prstGeom>
          <a:solidFill>
            <a:srgbClr val="C9A227"/>
          </a:solidFill>
          <a:ln w="12700">
            <a:solidFill>
              <a:srgbClr val="C9A227"/>
            </a:solidFill>
            <a:prstDash val="solid"/>
          </a:ln>
        </p:spPr>
      </p:sp>
      <p:sp>
        <p:nvSpPr>
          <p:cNvPr id="29" name="Text 27"/>
          <p:cNvSpPr txBox="1"/>
          <p:nvPr/>
        </p:nvSpPr>
        <p:spPr>
          <a:xfrm>
            <a:off x="2887218"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۵</a:t>
            </a:r>
            <a:endParaRPr lang="en-US" sz="1800" dirty="0"/>
          </a:p>
        </p:txBody>
      </p:sp>
      <p:sp>
        <p:nvSpPr>
          <p:cNvPr id="30" name="Text 28"/>
          <p:cNvSpPr txBox="1"/>
          <p:nvPr/>
        </p:nvSpPr>
        <p:spPr>
          <a:xfrm>
            <a:off x="2476500" y="2560320"/>
            <a:ext cx="1370076" cy="685800"/>
          </a:xfrm>
          <a:prstGeom prst="rect">
            <a:avLst/>
          </a:prstGeom>
          <a:noFill/>
          <a:ln/>
        </p:spPr>
        <p:txBody>
          <a:bodyPr wrap="square" lIns="0" tIns="0" rIns="0" bIns="0" rtlCol="0" anchor="ctr"/>
          <a:lstStyle/>
          <a:p>
            <a:pPr rtl="1" algn="ctr" indent="0" marL="0">
              <a:buNone/>
            </a:pPr>
            <a:r>
              <a:rPr lang="en-US" sz="1600" b="1" dirty="0">
                <a:solidFill>
                  <a:srgbClr val="1B2A49"/>
                </a:solidFill>
                <a:latin typeface="Tahoma" pitchFamily="34" charset="0"/>
                <a:ea typeface="Tahoma" pitchFamily="34" charset="-122"/>
                <a:cs typeface="Tahoma" pitchFamily="34" charset="-120"/>
              </a:rPr>
              <a:t>آمادهٔ اجرا</a:t>
            </a:r>
            <a:endParaRPr lang="en-US" sz="1600" dirty="0"/>
          </a:p>
        </p:txBody>
      </p:sp>
      <p:sp>
        <p:nvSpPr>
          <p:cNvPr id="31" name="Text 29"/>
          <p:cNvSpPr txBox="1"/>
          <p:nvPr/>
        </p:nvSpPr>
        <p:spPr>
          <a:xfrm>
            <a:off x="2476500" y="3246120"/>
            <a:ext cx="1370076" cy="685800"/>
          </a:xfrm>
          <a:prstGeom prst="rect">
            <a:avLst/>
          </a:prstGeom>
          <a:noFill/>
          <a:ln/>
        </p:spPr>
        <p:txBody>
          <a:bodyPr wrap="square" lIns="0" tIns="0" rIns="0" bIns="0" rtlCol="0" anchor="t"/>
          <a:lstStyle/>
          <a:p>
            <a:pPr rtl="1" algn="ctr" indent="0" marL="0">
              <a:buNone/>
            </a:pPr>
            <a:r>
              <a:rPr lang="en-US" sz="1250" dirty="0">
                <a:solidFill>
                  <a:srgbClr val="5B6678"/>
                </a:solidFill>
                <a:latin typeface="Tahoma" pitchFamily="34" charset="0"/>
                <a:ea typeface="Tahoma" pitchFamily="34" charset="-122"/>
                <a:cs typeface="Tahoma" pitchFamily="34" charset="-120"/>
              </a:rPr>
              <a:t>سند شناسایی بدهی</a:t>
            </a:r>
            <a:endParaRPr lang="en-US" sz="1250" dirty="0"/>
          </a:p>
        </p:txBody>
      </p:sp>
      <p:sp>
        <p:nvSpPr>
          <p:cNvPr id="32" name="Text 30"/>
          <p:cNvSpPr txBox="1"/>
          <p:nvPr/>
        </p:nvSpPr>
        <p:spPr>
          <a:xfrm>
            <a:off x="2001012" y="2880360"/>
            <a:ext cx="365760" cy="457200"/>
          </a:xfrm>
          <a:prstGeom prst="rect">
            <a:avLst/>
          </a:prstGeom>
          <a:noFill/>
          <a:ln/>
        </p:spPr>
        <p:txBody>
          <a:bodyPr wrap="square" lIns="0" tIns="0" rIns="0" bIns="0" rtlCol="0" anchor="ctr"/>
          <a:lstStyle/>
          <a:p>
            <a:pPr rtl="1" algn="ctr" indent="0" marL="0">
              <a:buNone/>
            </a:pPr>
            <a:r>
              <a:rPr lang="en-US" sz="1600" dirty="0">
                <a:solidFill>
                  <a:srgbClr val="C9A227"/>
                </a:solidFill>
                <a:latin typeface="Tahoma" pitchFamily="34" charset="0"/>
                <a:ea typeface="Tahoma" pitchFamily="34" charset="-122"/>
                <a:cs typeface="Tahoma" pitchFamily="34" charset="-120"/>
              </a:rPr>
              <a:t>◀</a:t>
            </a:r>
            <a:endParaRPr lang="en-US" sz="1600" dirty="0"/>
          </a:p>
        </p:txBody>
      </p:sp>
      <p:sp>
        <p:nvSpPr>
          <p:cNvPr id="33" name="Shape 31"/>
          <p:cNvSpPr/>
          <p:nvPr/>
        </p:nvSpPr>
        <p:spPr>
          <a:xfrm>
            <a:off x="411480" y="2103120"/>
            <a:ext cx="1589532" cy="2011680"/>
          </a:xfrm>
          <a:prstGeom prst="roundRect">
            <a:avLst>
              <a:gd name="adj" fmla="val 6903"/>
            </a:avLst>
          </a:prstGeom>
          <a:solidFill>
            <a:srgbClr val="1B2A49"/>
          </a:solidFill>
          <a:ln w="9525">
            <a:solidFill>
              <a:srgbClr val="1B2A49"/>
            </a:solidFill>
            <a:prstDash val="solid"/>
          </a:ln>
          <a:effectLst>
            <a:outerShdw sx="100000" sy="100000" kx="0" ky="0" algn="bl" rotWithShape="0" blurRad="101600" dist="25400" dir="5400000">
              <a:srgbClr val="000000">
                <a:alpha val="12000"/>
              </a:srgbClr>
            </a:outerShdw>
          </a:effectLst>
        </p:spPr>
      </p:sp>
      <p:sp>
        <p:nvSpPr>
          <p:cNvPr id="34" name="Shape 32"/>
          <p:cNvSpPr/>
          <p:nvPr/>
        </p:nvSpPr>
        <p:spPr>
          <a:xfrm>
            <a:off x="931926" y="1828800"/>
            <a:ext cx="548640" cy="548640"/>
          </a:xfrm>
          <a:prstGeom prst="ellipse">
            <a:avLst/>
          </a:prstGeom>
          <a:solidFill>
            <a:srgbClr val="C9A227"/>
          </a:solidFill>
          <a:ln w="12700">
            <a:solidFill>
              <a:srgbClr val="C9A227"/>
            </a:solidFill>
            <a:prstDash val="solid"/>
          </a:ln>
        </p:spPr>
      </p:sp>
      <p:sp>
        <p:nvSpPr>
          <p:cNvPr id="35" name="Text 33"/>
          <p:cNvSpPr txBox="1"/>
          <p:nvPr/>
        </p:nvSpPr>
        <p:spPr>
          <a:xfrm>
            <a:off x="931926"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۶</a:t>
            </a:r>
            <a:endParaRPr lang="en-US" sz="1800" dirty="0"/>
          </a:p>
        </p:txBody>
      </p:sp>
      <p:sp>
        <p:nvSpPr>
          <p:cNvPr id="36" name="Text 34"/>
          <p:cNvSpPr txBox="1"/>
          <p:nvPr/>
        </p:nvSpPr>
        <p:spPr>
          <a:xfrm>
            <a:off x="521208" y="2560320"/>
            <a:ext cx="1370076" cy="685800"/>
          </a:xfrm>
          <a:prstGeom prst="rect">
            <a:avLst/>
          </a:prstGeom>
          <a:noFill/>
          <a:ln/>
        </p:spPr>
        <p:txBody>
          <a:bodyPr wrap="square" lIns="0" tIns="0" rIns="0" bIns="0" rtlCol="0" anchor="ctr"/>
          <a:lstStyle/>
          <a:p>
            <a:pPr rtl="1" algn="ctr" indent="0" marL="0">
              <a:buNone/>
            </a:pPr>
            <a:r>
              <a:rPr lang="en-US" sz="1600" b="1" dirty="0">
                <a:solidFill>
                  <a:srgbClr val="FFFFFF"/>
                </a:solidFill>
                <a:latin typeface="Tahoma" pitchFamily="34" charset="0"/>
                <a:ea typeface="Tahoma" pitchFamily="34" charset="-122"/>
                <a:cs typeface="Tahoma" pitchFamily="34" charset="-120"/>
              </a:rPr>
              <a:t>اجرای پرداخت</a:t>
            </a:r>
            <a:endParaRPr lang="en-US" sz="1600" dirty="0"/>
          </a:p>
        </p:txBody>
      </p:sp>
      <p:sp>
        <p:nvSpPr>
          <p:cNvPr id="37" name="Text 35"/>
          <p:cNvSpPr txBox="1"/>
          <p:nvPr/>
        </p:nvSpPr>
        <p:spPr>
          <a:xfrm>
            <a:off x="521208" y="3246120"/>
            <a:ext cx="1370076" cy="685800"/>
          </a:xfrm>
          <a:prstGeom prst="rect">
            <a:avLst/>
          </a:prstGeom>
          <a:noFill/>
          <a:ln/>
        </p:spPr>
        <p:txBody>
          <a:bodyPr wrap="square" lIns="0" tIns="0" rIns="0" bIns="0" rtlCol="0" anchor="t"/>
          <a:lstStyle/>
          <a:p>
            <a:pPr rtl="1" algn="ctr" indent="0" marL="0">
              <a:buNone/>
            </a:pPr>
            <a:r>
              <a:rPr lang="en-US" sz="1250" dirty="0">
                <a:solidFill>
                  <a:srgbClr val="C9D3E6"/>
                </a:solidFill>
                <a:latin typeface="Tahoma" pitchFamily="34" charset="0"/>
                <a:ea typeface="Tahoma" pitchFamily="34" charset="-122"/>
                <a:cs typeface="Tahoma" pitchFamily="34" charset="-120"/>
              </a:rPr>
              <a:t>خزانه‌دار — سند پرداخت</a:t>
            </a:r>
            <a:endParaRPr lang="en-US" sz="1250" dirty="0"/>
          </a:p>
        </p:txBody>
      </p:sp>
      <p:sp>
        <p:nvSpPr>
          <p:cNvPr id="38" name="Shape 36"/>
          <p:cNvSpPr/>
          <p:nvPr/>
        </p:nvSpPr>
        <p:spPr>
          <a:xfrm>
            <a:off x="411480" y="4754880"/>
            <a:ext cx="11365992" cy="1143000"/>
          </a:xfrm>
          <a:prstGeom prst="roundRect">
            <a:avLst>
              <a:gd name="adj" fmla="val 8000"/>
            </a:avLst>
          </a:prstGeom>
          <a:solidFill>
            <a:srgbClr val="F6EDCF"/>
          </a:solidFill>
          <a:ln w="12700">
            <a:solidFill>
              <a:srgbClr val="F6EDCF"/>
            </a:solidFill>
            <a:prstDash val="solid"/>
          </a:ln>
        </p:spPr>
      </p:sp>
      <p:sp>
        <p:nvSpPr>
          <p:cNvPr id="39" name="Text 37"/>
          <p:cNvSpPr txBox="1"/>
          <p:nvPr/>
        </p:nvSpPr>
        <p:spPr>
          <a:xfrm>
            <a:off x="685800" y="4754880"/>
            <a:ext cx="10817352" cy="1143000"/>
          </a:xfrm>
          <a:prstGeom prst="rect">
            <a:avLst/>
          </a:prstGeom>
          <a:noFill/>
          <a:ln/>
        </p:spPr>
        <p:txBody>
          <a:bodyPr wrap="square" lIns="0" tIns="0" rIns="0" bIns="0" rtlCol="0" anchor="ctr"/>
          <a:lstStyle/>
          <a:p>
            <a:pPr rtl="1" algn="r" indent="0" marL="0">
              <a:buNone/>
            </a:pPr>
            <a:r>
              <a:rPr lang="en-US" sz="1500" dirty="0">
                <a:solidFill>
                  <a:srgbClr val="4A3B0B"/>
                </a:solidFill>
                <a:latin typeface="Tahoma" pitchFamily="34" charset="0"/>
                <a:ea typeface="Tahoma" pitchFamily="34" charset="-122"/>
                <a:cs typeface="Tahoma" pitchFamily="34" charset="-120"/>
              </a:rPr>
              <a:t>از هر مرحلهٔ «در انتظار» می‌توان برگشت (دلیل اجباری) یا رد داد. یک کاربر دو مرحلهٔ پشت‌سرهم را تأیید نمی‌کند و ثبت‌کننده تأییدکننده نیست.</a:t>
            </a:r>
            <a:endParaRPr lang="en-US" sz="1500" dirty="0"/>
          </a:p>
        </p:txBody>
      </p:sp>
      <p:sp>
        <p:nvSpPr>
          <p:cNvPr id="40" name="Text 38"/>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خزانه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پیش‌نیاز ۱ — تنظیمات خزانه</a:t>
            </a:r>
            <a:endParaRPr lang="en-US" sz="2600" dirty="0"/>
          </a:p>
        </p:txBody>
      </p:sp>
      <p:sp>
        <p:nvSpPr>
          <p:cNvPr id="3" name="Shape 1"/>
          <p:cNvSpPr/>
          <p:nvPr/>
        </p:nvSpPr>
        <p:spPr>
          <a:xfrm>
            <a:off x="8508492" y="896112"/>
            <a:ext cx="3268980"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تنخواه و خزانه‌داری ← تنظیمات خزانه</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tr02">    </p:cNvPr>
          <p:cNvPicPr>
            <a:picLocks noChangeAspect="1"/>
          </p:cNvPicPr>
          <p:nvPr/>
        </p:nvPicPr>
        <p:blipFill>
          <a:blip r:embed="rId1"/>
          <a:stretch>
            <a:fillRect/>
          </a:stretch>
        </p:blipFill>
        <p:spPr>
          <a:xfrm>
            <a:off x="815546" y="1399032"/>
            <a:ext cx="6598508"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آستانه‌ها</a:t>
            </a:r>
            <a:endParaRPr lang="en-US" sz="1400" dirty="0"/>
          </a:p>
        </p:txBody>
      </p:sp>
      <p:sp>
        <p:nvSpPr>
          <p:cNvPr id="10" name="Text 7"/>
          <p:cNvSpPr txBox="1"/>
          <p:nvPr/>
        </p:nvSpPr>
        <p:spPr>
          <a:xfrm>
            <a:off x="8046720" y="1700784"/>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آستانهٔ تأیید مدیرعامل و سقف تأیید گروهی (بدون مقدار پیش‌فرض؛ تا تعریف نشوند ارسال ممکن نیست).</a:t>
            </a:r>
            <a:endParaRPr lang="en-US" sz="1300" dirty="0"/>
          </a:p>
        </p:txBody>
      </p:sp>
      <p:sp>
        <p:nvSpPr>
          <p:cNvPr id="11" name="Shape 8"/>
          <p:cNvSpPr/>
          <p:nvPr/>
        </p:nvSpPr>
        <p:spPr>
          <a:xfrm>
            <a:off x="11393424" y="2506828"/>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50682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50682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تفصیلی ذی‌نفع</a:t>
            </a:r>
            <a:endParaRPr lang="en-US" sz="1400" dirty="0"/>
          </a:p>
        </p:txBody>
      </p:sp>
      <p:sp>
        <p:nvSpPr>
          <p:cNvPr id="14" name="Text 11"/>
          <p:cNvSpPr txBox="1"/>
          <p:nvPr/>
        </p:nvSpPr>
        <p:spPr>
          <a:xfrm>
            <a:off x="8046720" y="2836012"/>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گروه تفصیلی تأمین‌کنندگان برای شناسایی ذی‌نفع.</a:t>
            </a:r>
            <a:endParaRPr lang="en-US" sz="1300" dirty="0"/>
          </a:p>
        </p:txBody>
      </p:sp>
      <p:sp>
        <p:nvSpPr>
          <p:cNvPr id="15" name="Shape 12"/>
          <p:cNvSpPr/>
          <p:nvPr/>
        </p:nvSpPr>
        <p:spPr>
          <a:xfrm>
            <a:off x="11393424" y="3422142"/>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42214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42214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حساب‌های سند خودکار</a:t>
            </a:r>
            <a:endParaRPr lang="en-US" sz="1400" dirty="0"/>
          </a:p>
        </p:txBody>
      </p:sp>
      <p:sp>
        <p:nvSpPr>
          <p:cNvPr id="18" name="Text 15"/>
          <p:cNvSpPr txBox="1"/>
          <p:nvPr/>
        </p:nvSpPr>
        <p:spPr>
          <a:xfrm>
            <a:off x="8046720" y="3751326"/>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بستانکاران، اعتبار مالیات بر ارزش افزوده و کسور بیمه.</a:t>
            </a:r>
            <a:endParaRPr lang="en-US" sz="1300" dirty="0"/>
          </a:p>
        </p:txBody>
      </p:sp>
      <p:sp>
        <p:nvSpPr>
          <p:cNvPr id="19" name="Shape 16"/>
          <p:cNvSpPr/>
          <p:nvPr/>
        </p:nvSpPr>
        <p:spPr>
          <a:xfrm>
            <a:off x="11393424" y="4337456"/>
            <a:ext cx="347472" cy="347472"/>
          </a:xfrm>
          <a:prstGeom prst="ellipse">
            <a:avLst/>
          </a:prstGeom>
          <a:solidFill>
            <a:srgbClr val="C9A227"/>
          </a:solidFill>
          <a:ln w="12700">
            <a:solidFill>
              <a:srgbClr val="C9A227"/>
            </a:solidFill>
            <a:prstDash val="solid"/>
          </a:ln>
        </p:spPr>
      </p:sp>
      <p:sp>
        <p:nvSpPr>
          <p:cNvPr id="20" name="Text 17"/>
          <p:cNvSpPr txBox="1"/>
          <p:nvPr/>
        </p:nvSpPr>
        <p:spPr>
          <a:xfrm>
            <a:off x="11393424" y="4337456"/>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1" name="Text 18"/>
          <p:cNvSpPr txBox="1"/>
          <p:nvPr/>
        </p:nvSpPr>
        <p:spPr>
          <a:xfrm>
            <a:off x="8046720" y="4337456"/>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دریافت و انتقال</a:t>
            </a:r>
            <a:endParaRPr lang="en-US" sz="1400" dirty="0"/>
          </a:p>
        </p:txBody>
      </p:sp>
      <p:sp>
        <p:nvSpPr>
          <p:cNvPr id="22" name="Text 19"/>
          <p:cNvSpPr txBox="1"/>
          <p:nvPr/>
        </p:nvSpPr>
        <p:spPr>
          <a:xfrm>
            <a:off x="8046720" y="4666640"/>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حساب دریافتنی، گروه تفصیلی مشتریان و سقف انتقال روزانه.</a:t>
            </a:r>
            <a:endParaRPr lang="en-US" sz="1300" dirty="0"/>
          </a:p>
        </p:txBody>
      </p:sp>
      <p:sp>
        <p:nvSpPr>
          <p:cNvPr id="23" name="Shape 20"/>
          <p:cNvSpPr/>
          <p:nvPr/>
        </p:nvSpPr>
        <p:spPr>
          <a:xfrm>
            <a:off x="11393424" y="5252771"/>
            <a:ext cx="347472" cy="347472"/>
          </a:xfrm>
          <a:prstGeom prst="ellipse">
            <a:avLst/>
          </a:prstGeom>
          <a:solidFill>
            <a:srgbClr val="C9A227"/>
          </a:solidFill>
          <a:ln w="12700">
            <a:solidFill>
              <a:srgbClr val="C9A227"/>
            </a:solidFill>
            <a:prstDash val="solid"/>
          </a:ln>
        </p:spPr>
      </p:sp>
      <p:sp>
        <p:nvSpPr>
          <p:cNvPr id="24" name="Text 21"/>
          <p:cNvSpPr txBox="1"/>
          <p:nvPr/>
        </p:nvSpPr>
        <p:spPr>
          <a:xfrm>
            <a:off x="11393424" y="5252771"/>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25" name="Text 22"/>
          <p:cNvSpPr txBox="1"/>
          <p:nvPr/>
        </p:nvSpPr>
        <p:spPr>
          <a:xfrm>
            <a:off x="8046720" y="5252771"/>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مغایرت بانکی</a:t>
            </a:r>
            <a:endParaRPr lang="en-US" sz="1400" dirty="0"/>
          </a:p>
        </p:txBody>
      </p:sp>
      <p:sp>
        <p:nvSpPr>
          <p:cNvPr id="26" name="Text 23"/>
          <p:cNvSpPr txBox="1"/>
          <p:nvPr/>
        </p:nvSpPr>
        <p:spPr>
          <a:xfrm>
            <a:off x="8046720" y="5581955"/>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حساب کارمزد بانکی؛ سپس «ذخیره تنظیمات» (فقط مدیر مالی).</a:t>
            </a:r>
            <a:endParaRPr lang="en-US" sz="1300" dirty="0"/>
          </a:p>
        </p:txBody>
      </p:sp>
      <p:sp>
        <p:nvSpPr>
          <p:cNvPr id="27" name="Text 24"/>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خزانه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پیش‌نیاز ۲ — نقش‌های خزانه</a:t>
            </a:r>
            <a:endParaRPr lang="en-US" sz="2600" dirty="0"/>
          </a:p>
        </p:txBody>
      </p:sp>
      <p:sp>
        <p:nvSpPr>
          <p:cNvPr id="3" name="Shape 1"/>
          <p:cNvSpPr/>
          <p:nvPr/>
        </p:nvSpPr>
        <p:spPr>
          <a:xfrm>
            <a:off x="8508492" y="896112"/>
            <a:ext cx="3268980"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تنخواه و خزانه‌داری ← نقش‌های خزانه</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tr03">    </p:cNvPr>
          <p:cNvPicPr>
            <a:picLocks noChangeAspect="1"/>
          </p:cNvPicPr>
          <p:nvPr/>
        </p:nvPicPr>
        <p:blipFill>
          <a:blip r:embed="rId1"/>
          <a:stretch>
            <a:fillRect/>
          </a:stretch>
        </p:blipFill>
        <p:spPr>
          <a:xfrm>
            <a:off x="491876" y="1399032"/>
            <a:ext cx="7245847"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نقش‌ها</a:t>
            </a:r>
            <a:endParaRPr lang="en-US" sz="1400" dirty="0"/>
          </a:p>
        </p:txBody>
      </p:sp>
      <p:sp>
        <p:nvSpPr>
          <p:cNvPr id="10" name="Text 7"/>
          <p:cNvSpPr txBox="1"/>
          <p:nvPr/>
        </p:nvSpPr>
        <p:spPr>
          <a:xfrm>
            <a:off x="8046720" y="1700784"/>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مدیر واحد، مدیر مالی، مدیرعامل، حسابدار ارشد و خزانه‌دار — فهرستی جدا از نقش‌های تنخواه.</a:t>
            </a:r>
            <a:endParaRPr lang="en-US" sz="1300" dirty="0"/>
          </a:p>
        </p:txBody>
      </p:sp>
      <p:sp>
        <p:nvSpPr>
          <p:cNvPr id="11" name="Shape 8"/>
          <p:cNvSpPr/>
          <p:nvPr/>
        </p:nvSpPr>
        <p:spPr>
          <a:xfrm>
            <a:off x="11393424" y="2506828"/>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50682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50682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افزودن</a:t>
            </a:r>
            <a:endParaRPr lang="en-US" sz="1400" dirty="0"/>
          </a:p>
        </p:txBody>
      </p:sp>
      <p:sp>
        <p:nvSpPr>
          <p:cNvPr id="14" name="Text 11"/>
          <p:cNvSpPr txBox="1"/>
          <p:nvPr/>
        </p:nvSpPr>
        <p:spPr>
          <a:xfrm>
            <a:off x="8046720" y="2836012"/>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کد کاربری، نقش و نام را وارد و «افزودن» کنید.</a:t>
            </a:r>
            <a:endParaRPr lang="en-US" sz="1300" dirty="0"/>
          </a:p>
        </p:txBody>
      </p:sp>
      <p:sp>
        <p:nvSpPr>
          <p:cNvPr id="15" name="Shape 12"/>
          <p:cNvSpPr/>
          <p:nvPr/>
        </p:nvSpPr>
        <p:spPr>
          <a:xfrm>
            <a:off x="11393424" y="3422142"/>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42214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42214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اولین مدیر مالی</a:t>
            </a:r>
            <a:endParaRPr lang="en-US" sz="1400" dirty="0"/>
          </a:p>
        </p:txBody>
      </p:sp>
      <p:sp>
        <p:nvSpPr>
          <p:cNvPr id="18" name="Text 15"/>
          <p:cNvSpPr txBox="1"/>
          <p:nvPr/>
        </p:nvSpPr>
        <p:spPr>
          <a:xfrm>
            <a:off x="8046720" y="3751326"/>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اگر واحد هنوز مدیر مالی ندارد هر کاربری می‌تواند اولین نقش را ثبت کند؛ بعد از آن فقط مدیر مالی.</a:t>
            </a:r>
            <a:endParaRPr lang="en-US" sz="1300" dirty="0"/>
          </a:p>
        </p:txBody>
      </p:sp>
      <p:sp>
        <p:nvSpPr>
          <p:cNvPr id="19" name="Text 16"/>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خزانه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۱ — فهرست درخواست‌های پرداخت</a:t>
            </a:r>
            <a:endParaRPr lang="en-US" sz="2600" dirty="0"/>
          </a:p>
        </p:txBody>
      </p:sp>
      <p:sp>
        <p:nvSpPr>
          <p:cNvPr id="3" name="Shape 1"/>
          <p:cNvSpPr/>
          <p:nvPr/>
        </p:nvSpPr>
        <p:spPr>
          <a:xfrm>
            <a:off x="8430768" y="896112"/>
            <a:ext cx="3346704"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تنخواه و خزانه‌داری ← درخواست پرداخت</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tr04">    </p:cNvPr>
          <p:cNvPicPr>
            <a:picLocks noChangeAspect="1"/>
          </p:cNvPicPr>
          <p:nvPr/>
        </p:nvPicPr>
        <p:blipFill>
          <a:blip r:embed="rId1"/>
          <a:stretch>
            <a:fillRect/>
          </a:stretch>
        </p:blipFill>
        <p:spPr>
          <a:xfrm>
            <a:off x="491876" y="1399032"/>
            <a:ext cx="7245847"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زبانه‌های وضعیت</a:t>
            </a:r>
            <a:endParaRPr lang="en-US" sz="1400" dirty="0"/>
          </a:p>
        </p:txBody>
      </p:sp>
      <p:sp>
        <p:nvSpPr>
          <p:cNvPr id="10" name="Text 7"/>
          <p:cNvSpPr txBox="1"/>
          <p:nvPr/>
        </p:nvSpPr>
        <p:spPr>
          <a:xfrm>
            <a:off x="8046720" y="1700784"/>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پیش‌نویس، در انتظار مدیر واحد/مالی/مدیرعامل، آمادهٔ اجرا، پرداخت شد، برگشتی، ردشده، معلق.</a:t>
            </a:r>
            <a:endParaRPr lang="en-US" sz="1300" dirty="0"/>
          </a:p>
        </p:txBody>
      </p:sp>
      <p:sp>
        <p:nvSpPr>
          <p:cNvPr id="11" name="Shape 8"/>
          <p:cNvSpPr/>
          <p:nvPr/>
        </p:nvSpPr>
        <p:spPr>
          <a:xfrm>
            <a:off x="11393424" y="2506828"/>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50682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50682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درخواست جدید</a:t>
            </a:r>
            <a:endParaRPr lang="en-US" sz="1400" dirty="0"/>
          </a:p>
        </p:txBody>
      </p:sp>
      <p:sp>
        <p:nvSpPr>
          <p:cNvPr id="14" name="Text 11"/>
          <p:cNvSpPr txBox="1"/>
          <p:nvPr/>
        </p:nvSpPr>
        <p:spPr>
          <a:xfrm>
            <a:off x="8046720" y="2836012"/>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دکمهٔ «درخواست پرداخت جدید» در بالای صفحه.</a:t>
            </a:r>
            <a:endParaRPr lang="en-US" sz="1300" dirty="0"/>
          </a:p>
        </p:txBody>
      </p:sp>
      <p:sp>
        <p:nvSpPr>
          <p:cNvPr id="15" name="Shape 12"/>
          <p:cNvSpPr/>
          <p:nvPr/>
        </p:nvSpPr>
        <p:spPr>
          <a:xfrm>
            <a:off x="11393424" y="3422142"/>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42214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42214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اقدام ردیف</a:t>
            </a:r>
            <a:endParaRPr lang="en-US" sz="1400" dirty="0"/>
          </a:p>
        </p:txBody>
      </p:sp>
      <p:sp>
        <p:nvSpPr>
          <p:cNvPr id="18" name="Text 15"/>
          <p:cNvSpPr txBox="1"/>
          <p:nvPr/>
        </p:nvSpPr>
        <p:spPr>
          <a:xfrm>
            <a:off x="8046720" y="3751326"/>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پیش‌نویس و برگشتی: ویرایش، ارسال و حذف؛ بقیه فقط نمایش.</a:t>
            </a:r>
            <a:endParaRPr lang="en-US" sz="1300" dirty="0"/>
          </a:p>
        </p:txBody>
      </p:sp>
      <p:sp>
        <p:nvSpPr>
          <p:cNvPr id="19" name="Text 16"/>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خزانه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۲ — فرم ثبت درخواست پرداخت</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tr05">    </p:cNvPr>
          <p:cNvPicPr>
            <a:picLocks noChangeAspect="1"/>
          </p:cNvPicPr>
          <p:nvPr/>
        </p:nvPicPr>
        <p:blipFill>
          <a:blip r:embed="rId1"/>
          <a:stretch>
            <a:fillRect/>
          </a:stretch>
        </p:blipFill>
        <p:spPr>
          <a:xfrm>
            <a:off x="691978" y="1216152"/>
            <a:ext cx="6845643" cy="5065776"/>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ذی‌نفع</a:t>
            </a:r>
            <a:endParaRPr lang="en-US" sz="1400" dirty="0"/>
          </a:p>
        </p:txBody>
      </p:sp>
      <p:sp>
        <p:nvSpPr>
          <p:cNvPr id="8" name="Text 5"/>
          <p:cNvSpPr txBox="1"/>
          <p:nvPr/>
        </p:nvSpPr>
        <p:spPr>
          <a:xfrm>
            <a:off x="8046720" y="1517904"/>
            <a:ext cx="3227832" cy="442570"/>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نام، نوع (تأمین‌کننده، کارمند، سایر)، شناسه ملی و تفصیلی ذی‌نفع.</a:t>
            </a:r>
            <a:endParaRPr lang="en-US" sz="1200" dirty="0"/>
          </a:p>
        </p:txBody>
      </p:sp>
      <p:sp>
        <p:nvSpPr>
          <p:cNvPr id="9" name="Shape 6"/>
          <p:cNvSpPr/>
          <p:nvPr/>
        </p:nvSpPr>
        <p:spPr>
          <a:xfrm>
            <a:off x="11393424" y="2070202"/>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07020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07020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فاکتور</a:t>
            </a:r>
            <a:endParaRPr lang="en-US" sz="1400" dirty="0"/>
          </a:p>
        </p:txBody>
      </p:sp>
      <p:sp>
        <p:nvSpPr>
          <p:cNvPr id="12" name="Text 9"/>
          <p:cNvSpPr txBox="1"/>
          <p:nvPr/>
        </p:nvSpPr>
        <p:spPr>
          <a:xfrm>
            <a:off x="8046720" y="2399386"/>
            <a:ext cx="3227832" cy="442570"/>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شماره فاکتور و تیک «فاکتور تأیید شده» (اگر شماره وارد شود الزامی است).</a:t>
            </a:r>
            <a:endParaRPr lang="en-US" sz="1200" dirty="0"/>
          </a:p>
        </p:txBody>
      </p:sp>
      <p:sp>
        <p:nvSpPr>
          <p:cNvPr id="13" name="Shape 10"/>
          <p:cNvSpPr/>
          <p:nvPr/>
        </p:nvSpPr>
        <p:spPr>
          <a:xfrm>
            <a:off x="11393424" y="2951683"/>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2951683"/>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2951683"/>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حساب و مرکز هزینه</a:t>
            </a:r>
            <a:endParaRPr lang="en-US" sz="1400" dirty="0"/>
          </a:p>
        </p:txBody>
      </p:sp>
      <p:sp>
        <p:nvSpPr>
          <p:cNvPr id="16" name="Text 13"/>
          <p:cNvSpPr txBox="1"/>
          <p:nvPr/>
        </p:nvSpPr>
        <p:spPr>
          <a:xfrm>
            <a:off x="8046720" y="3280867"/>
            <a:ext cx="3227832" cy="442570"/>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حساب هزینهٔ معین و تفصیلی‌های مرکز هزینه که آن معین لازم دارد.</a:t>
            </a:r>
            <a:endParaRPr lang="en-US" sz="1200" dirty="0"/>
          </a:p>
        </p:txBody>
      </p:sp>
      <p:sp>
        <p:nvSpPr>
          <p:cNvPr id="17" name="Shape 14"/>
          <p:cNvSpPr/>
          <p:nvPr/>
        </p:nvSpPr>
        <p:spPr>
          <a:xfrm>
            <a:off x="11393424" y="3833165"/>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3833165"/>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3833165"/>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مبلغ</a:t>
            </a:r>
            <a:endParaRPr lang="en-US" sz="1400" dirty="0"/>
          </a:p>
        </p:txBody>
      </p:sp>
      <p:sp>
        <p:nvSpPr>
          <p:cNvPr id="20" name="Text 17"/>
          <p:cNvSpPr txBox="1"/>
          <p:nvPr/>
        </p:nvSpPr>
        <p:spPr>
          <a:xfrm>
            <a:off x="8046720" y="4162349"/>
            <a:ext cx="3227832" cy="645566"/>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مبلغ قبل از مالیات، درصد یا مبلغ ارزش افزوده و کسر بیمه؛ خالص قابل پرداخت خودکار.</a:t>
            </a:r>
            <a:endParaRPr lang="en-US" sz="1200" dirty="0"/>
          </a:p>
        </p:txBody>
      </p:sp>
      <p:sp>
        <p:nvSpPr>
          <p:cNvPr id="21" name="Shape 18"/>
          <p:cNvSpPr/>
          <p:nvPr/>
        </p:nvSpPr>
        <p:spPr>
          <a:xfrm>
            <a:off x="11393424" y="4917643"/>
            <a:ext cx="347472" cy="347472"/>
          </a:xfrm>
          <a:prstGeom prst="ellipse">
            <a:avLst/>
          </a:prstGeom>
          <a:solidFill>
            <a:srgbClr val="C9A227"/>
          </a:solidFill>
          <a:ln w="12700">
            <a:solidFill>
              <a:srgbClr val="C9A227"/>
            </a:solidFill>
            <a:prstDash val="solid"/>
          </a:ln>
        </p:spPr>
      </p:sp>
      <p:sp>
        <p:nvSpPr>
          <p:cNvPr id="22" name="Text 19"/>
          <p:cNvSpPr txBox="1"/>
          <p:nvPr/>
        </p:nvSpPr>
        <p:spPr>
          <a:xfrm>
            <a:off x="11393424" y="4917643"/>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23" name="Text 20"/>
          <p:cNvSpPr txBox="1"/>
          <p:nvPr/>
        </p:nvSpPr>
        <p:spPr>
          <a:xfrm>
            <a:off x="8046720" y="4917643"/>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سررسید و پرداخت</a:t>
            </a:r>
            <a:endParaRPr lang="en-US" sz="1400" dirty="0"/>
          </a:p>
        </p:txBody>
      </p:sp>
      <p:sp>
        <p:nvSpPr>
          <p:cNvPr id="24" name="Text 21"/>
          <p:cNvSpPr txBox="1"/>
          <p:nvPr/>
        </p:nvSpPr>
        <p:spPr>
          <a:xfrm>
            <a:off x="8046720" y="5246827"/>
            <a:ext cx="3227832" cy="442570"/>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تاریخ سررسید (گذشته نباشد)، حساب بانکی و روش پرداخت (ساتنا، پایا، چک، نقد).</a:t>
            </a:r>
            <a:endParaRPr lang="en-US" sz="1200" dirty="0"/>
          </a:p>
        </p:txBody>
      </p:sp>
      <p:sp>
        <p:nvSpPr>
          <p:cNvPr id="25" name="Shape 22"/>
          <p:cNvSpPr/>
          <p:nvPr/>
        </p:nvSpPr>
        <p:spPr>
          <a:xfrm>
            <a:off x="11393424" y="5799125"/>
            <a:ext cx="347472" cy="347472"/>
          </a:xfrm>
          <a:prstGeom prst="ellipse">
            <a:avLst/>
          </a:prstGeom>
          <a:solidFill>
            <a:srgbClr val="C9A227"/>
          </a:solidFill>
          <a:ln w="12700">
            <a:solidFill>
              <a:srgbClr val="C9A227"/>
            </a:solidFill>
            <a:prstDash val="solid"/>
          </a:ln>
        </p:spPr>
      </p:sp>
      <p:sp>
        <p:nvSpPr>
          <p:cNvPr id="26" name="Text 23"/>
          <p:cNvSpPr txBox="1"/>
          <p:nvPr/>
        </p:nvSpPr>
        <p:spPr>
          <a:xfrm>
            <a:off x="11393424" y="5799125"/>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۶</a:t>
            </a:r>
            <a:endParaRPr lang="en-US" sz="1300" dirty="0"/>
          </a:p>
        </p:txBody>
      </p:sp>
      <p:sp>
        <p:nvSpPr>
          <p:cNvPr id="27" name="Text 24"/>
          <p:cNvSpPr txBox="1"/>
          <p:nvPr/>
        </p:nvSpPr>
        <p:spPr>
          <a:xfrm>
            <a:off x="8046720" y="5799125"/>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ذخیره/ارسال</a:t>
            </a:r>
            <a:endParaRPr lang="en-US" sz="1400" dirty="0"/>
          </a:p>
        </p:txBody>
      </p:sp>
      <p:sp>
        <p:nvSpPr>
          <p:cNvPr id="28" name="Text 25"/>
          <p:cNvSpPr txBox="1"/>
          <p:nvPr/>
        </p:nvSpPr>
        <p:spPr>
          <a:xfrm>
            <a:off x="8046720" y="6128309"/>
            <a:ext cx="3227832" cy="239573"/>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«ذخیرهٔ پیش‌نویس» یا «ارسال برای تأیید».</a:t>
            </a:r>
            <a:endParaRPr lang="en-US" sz="1200" dirty="0"/>
          </a:p>
        </p:txBody>
      </p:sp>
      <p:sp>
        <p:nvSpPr>
          <p:cNvPr id="29" name="Text 26"/>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خزانه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۳ — کارتابل تأیید خزانه</a:t>
            </a:r>
            <a:endParaRPr lang="en-US" sz="2600" dirty="0"/>
          </a:p>
        </p:txBody>
      </p:sp>
      <p:sp>
        <p:nvSpPr>
          <p:cNvPr id="3" name="Shape 1"/>
          <p:cNvSpPr/>
          <p:nvPr/>
        </p:nvSpPr>
        <p:spPr>
          <a:xfrm>
            <a:off x="8508492" y="896112"/>
            <a:ext cx="3268980"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تنخواه و خزانه‌داری ← کارتابل تأیید</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tr07">    </p:cNvPr>
          <p:cNvPicPr>
            <a:picLocks noChangeAspect="1"/>
          </p:cNvPicPr>
          <p:nvPr/>
        </p:nvPicPr>
        <p:blipFill>
          <a:blip r:embed="rId1"/>
          <a:stretch>
            <a:fillRect/>
          </a:stretch>
        </p:blipFill>
        <p:spPr>
          <a:xfrm>
            <a:off x="491876" y="1399032"/>
            <a:ext cx="7245847"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یک کارتابل</a:t>
            </a:r>
            <a:endParaRPr lang="en-US" sz="1400" dirty="0"/>
          </a:p>
        </p:txBody>
      </p:sp>
      <p:sp>
        <p:nvSpPr>
          <p:cNvPr id="10" name="Text 7"/>
          <p:cNvSpPr txBox="1"/>
          <p:nvPr/>
        </p:nvSpPr>
        <p:spPr>
          <a:xfrm>
            <a:off x="8046720" y="1700784"/>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درخواست‌های پرداخت، ترمیم‌های تنخواه منتظر خزانه‌دار و انتقال‌های وجه — قدیمی‌ترین در بالا.</a:t>
            </a:r>
            <a:endParaRPr lang="en-US" sz="1300" dirty="0"/>
          </a:p>
        </p:txBody>
      </p:sp>
      <p:sp>
        <p:nvSpPr>
          <p:cNvPr id="11" name="Shape 8"/>
          <p:cNvSpPr/>
          <p:nvPr/>
        </p:nvSpPr>
        <p:spPr>
          <a:xfrm>
            <a:off x="11393424" y="2506828"/>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50682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50682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برچسب «منتظر شما»</a:t>
            </a:r>
            <a:endParaRPr lang="en-US" sz="1400" dirty="0"/>
          </a:p>
        </p:txBody>
      </p:sp>
      <p:sp>
        <p:nvSpPr>
          <p:cNvPr id="14" name="Text 11"/>
          <p:cNvSpPr txBox="1"/>
          <p:nvPr/>
        </p:nvSpPr>
        <p:spPr>
          <a:xfrm>
            <a:off x="8046720" y="2836012"/>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فقط مواردی که مرحلهٔ فعلی با نقش شما است اقدام‌پذیرند.</a:t>
            </a:r>
            <a:endParaRPr lang="en-US" sz="1300" dirty="0"/>
          </a:p>
        </p:txBody>
      </p:sp>
      <p:sp>
        <p:nvSpPr>
          <p:cNvPr id="15" name="Shape 12"/>
          <p:cNvSpPr/>
          <p:nvPr/>
        </p:nvSpPr>
        <p:spPr>
          <a:xfrm>
            <a:off x="11393424" y="3422142"/>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42214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42214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تأیید/برگشت/رد</a:t>
            </a:r>
            <a:endParaRPr lang="en-US" sz="1400" dirty="0"/>
          </a:p>
        </p:txBody>
      </p:sp>
      <p:sp>
        <p:nvSpPr>
          <p:cNvPr id="18" name="Text 15"/>
          <p:cNvSpPr txBox="1"/>
          <p:nvPr/>
        </p:nvSpPr>
        <p:spPr>
          <a:xfrm>
            <a:off x="8046720" y="3751326"/>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برگشت و رد دلیل اجباری دارند؛ برگشتی دوباره از مدیر واحد شروع می‌شود.</a:t>
            </a:r>
            <a:endParaRPr lang="en-US" sz="1300" dirty="0"/>
          </a:p>
        </p:txBody>
      </p:sp>
      <p:sp>
        <p:nvSpPr>
          <p:cNvPr id="19" name="Shape 16"/>
          <p:cNvSpPr/>
          <p:nvPr/>
        </p:nvSpPr>
        <p:spPr>
          <a:xfrm>
            <a:off x="11393424" y="4337456"/>
            <a:ext cx="347472" cy="347472"/>
          </a:xfrm>
          <a:prstGeom prst="ellipse">
            <a:avLst/>
          </a:prstGeom>
          <a:solidFill>
            <a:srgbClr val="C9A227"/>
          </a:solidFill>
          <a:ln w="12700">
            <a:solidFill>
              <a:srgbClr val="C9A227"/>
            </a:solidFill>
            <a:prstDash val="solid"/>
          </a:ln>
        </p:spPr>
      </p:sp>
      <p:sp>
        <p:nvSpPr>
          <p:cNvPr id="20" name="Text 17"/>
          <p:cNvSpPr txBox="1"/>
          <p:nvPr/>
        </p:nvSpPr>
        <p:spPr>
          <a:xfrm>
            <a:off x="11393424" y="4337456"/>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1" name="Text 18"/>
          <p:cNvSpPr txBox="1"/>
          <p:nvPr/>
        </p:nvSpPr>
        <p:spPr>
          <a:xfrm>
            <a:off x="8046720" y="4337456"/>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تأیید گروهی</a:t>
            </a:r>
            <a:endParaRPr lang="en-US" sz="1400" dirty="0"/>
          </a:p>
        </p:txBody>
      </p:sp>
      <p:sp>
        <p:nvSpPr>
          <p:cNvPr id="22" name="Text 19"/>
          <p:cNvSpPr txBox="1"/>
          <p:nvPr/>
        </p:nvSpPr>
        <p:spPr>
          <a:xfrm>
            <a:off x="8046720" y="4666640"/>
            <a:ext cx="3227832" cy="256489"/>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فقط برای مبالغ زیر «سقف تأیید گروهی».</a:t>
            </a:r>
            <a:endParaRPr lang="en-US" sz="1300" dirty="0"/>
          </a:p>
        </p:txBody>
      </p:sp>
      <p:sp>
        <p:nvSpPr>
          <p:cNvPr id="23" name="Text 20"/>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خزانه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۴ — اجرای پرداخت (خزانه‌دار)</a:t>
            </a:r>
            <a:endParaRPr lang="en-US" sz="2600" dirty="0"/>
          </a:p>
        </p:txBody>
      </p:sp>
      <p:sp>
        <p:nvSpPr>
          <p:cNvPr id="3" name="Shape 1"/>
          <p:cNvSpPr/>
          <p:nvPr/>
        </p:nvSpPr>
        <p:spPr>
          <a:xfrm>
            <a:off x="8586216" y="896112"/>
            <a:ext cx="3191256"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تنخواه و خزانه‌داری ← اجرای پرداخت</a:t>
            </a:r>
            <a:endParaRPr lang="en-US" sz="1100" dirty="0"/>
          </a:p>
        </p:txBody>
      </p:sp>
      <p:sp>
        <p:nvSpPr>
          <p:cNvPr id="5" name="Text 3"/>
          <p:cNvSpPr txBox="1"/>
          <p:nvPr/>
        </p:nvSpPr>
        <p:spPr>
          <a:xfrm>
            <a:off x="411480" y="1325880"/>
            <a:ext cx="7406640"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فهرست آمادهٔ اجرا و معلق</a:t>
            </a:r>
            <a:endParaRPr lang="en-US" sz="1200" dirty="0"/>
          </a:p>
        </p:txBody>
      </p:sp>
      <p:sp>
        <p:nvSpPr>
          <p:cNvPr id="6" name="Shape 4"/>
          <p:cNvSpPr/>
          <p:nvPr/>
        </p:nvSpPr>
        <p:spPr>
          <a:xfrm>
            <a:off x="411480" y="1618488"/>
            <a:ext cx="7406640" cy="2153412"/>
          </a:xfrm>
          <a:prstGeom prst="roundRect">
            <a:avLst>
              <a:gd name="adj" fmla="val 3397"/>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7" name="Image 0" descr="tr08">    </p:cNvPr>
          <p:cNvPicPr>
            <a:picLocks noChangeAspect="1"/>
          </p:cNvPicPr>
          <p:nvPr/>
        </p:nvPicPr>
        <p:blipFill>
          <a:blip r:embed="rId1"/>
          <a:stretch>
            <a:fillRect/>
          </a:stretch>
        </p:blipFill>
        <p:spPr>
          <a:xfrm>
            <a:off x="2584895" y="1664208"/>
            <a:ext cx="3059810" cy="2061972"/>
          </a:xfrm>
          <a:prstGeom prst="rect">
            <a:avLst/>
          </a:prstGeom>
        </p:spPr>
      </p:pic>
      <p:sp>
        <p:nvSpPr>
          <p:cNvPr id="8" name="Text 5"/>
          <p:cNvSpPr txBox="1"/>
          <p:nvPr/>
        </p:nvSpPr>
        <p:spPr>
          <a:xfrm>
            <a:off x="411480" y="3909060"/>
            <a:ext cx="7406640"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دیالوگ ثبت اجرا</a:t>
            </a:r>
            <a:endParaRPr lang="en-US" sz="1200" dirty="0"/>
          </a:p>
        </p:txBody>
      </p:sp>
      <p:sp>
        <p:nvSpPr>
          <p:cNvPr id="9" name="Shape 6"/>
          <p:cNvSpPr/>
          <p:nvPr/>
        </p:nvSpPr>
        <p:spPr>
          <a:xfrm>
            <a:off x="411480" y="4201668"/>
            <a:ext cx="7406640" cy="2153412"/>
          </a:xfrm>
          <a:prstGeom prst="roundRect">
            <a:avLst>
              <a:gd name="adj" fmla="val 3397"/>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10" name="Image 1" descr="tr09">    </p:cNvPr>
          <p:cNvPicPr>
            <a:picLocks noChangeAspect="1"/>
          </p:cNvPicPr>
          <p:nvPr/>
        </p:nvPicPr>
        <p:blipFill>
          <a:blip r:embed="rId2"/>
          <a:stretch>
            <a:fillRect/>
          </a:stretch>
        </p:blipFill>
        <p:spPr>
          <a:xfrm>
            <a:off x="2715271" y="4247388"/>
            <a:ext cx="2799057" cy="2061972"/>
          </a:xfrm>
          <a:prstGeom prst="rect">
            <a:avLst/>
          </a:prstGeom>
        </p:spPr>
      </p:pic>
      <p:sp>
        <p:nvSpPr>
          <p:cNvPr id="11" name="Shape 7"/>
          <p:cNvSpPr/>
          <p:nvPr/>
        </p:nvSpPr>
        <p:spPr>
          <a:xfrm>
            <a:off x="11393424" y="1371600"/>
            <a:ext cx="347472" cy="347472"/>
          </a:xfrm>
          <a:prstGeom prst="ellipse">
            <a:avLst/>
          </a:prstGeom>
          <a:solidFill>
            <a:srgbClr val="C9A227"/>
          </a:solidFill>
          <a:ln w="12700">
            <a:solidFill>
              <a:srgbClr val="C9A227"/>
            </a:solidFill>
            <a:prstDash val="solid"/>
          </a:ln>
        </p:spPr>
      </p:sp>
      <p:sp>
        <p:nvSpPr>
          <p:cNvPr id="12" name="Text 8"/>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13" name="Text 9"/>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پرداخت در بانک</a:t>
            </a:r>
            <a:endParaRPr lang="en-US" sz="1400" dirty="0"/>
          </a:p>
        </p:txBody>
      </p:sp>
      <p:sp>
        <p:nvSpPr>
          <p:cNvPr id="14" name="Text 10"/>
          <p:cNvSpPr txBox="1"/>
          <p:nvPr/>
        </p:nvSpPr>
        <p:spPr>
          <a:xfrm>
            <a:off x="8046720" y="170078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خزانه‌دار ابتدا وجه را در سامانهٔ بانک پرداخت می‌کند.</a:t>
            </a:r>
            <a:endParaRPr lang="en-US" sz="1300" dirty="0"/>
          </a:p>
        </p:txBody>
      </p:sp>
      <p:sp>
        <p:nvSpPr>
          <p:cNvPr id="15" name="Shape 11"/>
          <p:cNvSpPr/>
          <p:nvPr/>
        </p:nvSpPr>
        <p:spPr>
          <a:xfrm>
            <a:off x="11393424" y="2286914"/>
            <a:ext cx="347472" cy="347472"/>
          </a:xfrm>
          <a:prstGeom prst="ellipse">
            <a:avLst/>
          </a:prstGeom>
          <a:solidFill>
            <a:srgbClr val="C9A227"/>
          </a:solidFill>
          <a:ln w="12700">
            <a:solidFill>
              <a:srgbClr val="C9A227"/>
            </a:solidFill>
            <a:prstDash val="solid"/>
          </a:ln>
        </p:spPr>
      </p:sp>
      <p:sp>
        <p:nvSpPr>
          <p:cNvPr id="16" name="Text 12"/>
          <p:cNvSpPr txBox="1"/>
          <p:nvPr/>
        </p:nvSpPr>
        <p:spPr>
          <a:xfrm>
            <a:off x="11393424" y="228691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7" name="Text 13"/>
          <p:cNvSpPr txBox="1"/>
          <p:nvPr/>
        </p:nvSpPr>
        <p:spPr>
          <a:xfrm>
            <a:off x="8046720" y="228691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ثبت اجرا</a:t>
            </a:r>
            <a:endParaRPr lang="en-US" sz="1400" dirty="0"/>
          </a:p>
        </p:txBody>
      </p:sp>
      <p:sp>
        <p:nvSpPr>
          <p:cNvPr id="18" name="Text 14"/>
          <p:cNvSpPr txBox="1"/>
          <p:nvPr/>
        </p:nvSpPr>
        <p:spPr>
          <a:xfrm>
            <a:off x="8046720" y="2616098"/>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شمارهٔ پیگیری بانک، تاریخ پرداخت، شبای مقصد و روش پرداخت را وارد و «اجرای پرداخت» کنید.</a:t>
            </a:r>
            <a:endParaRPr lang="en-US" sz="1300" dirty="0"/>
          </a:p>
        </p:txBody>
      </p:sp>
      <p:sp>
        <p:nvSpPr>
          <p:cNvPr id="19" name="Shape 15"/>
          <p:cNvSpPr/>
          <p:nvPr/>
        </p:nvSpPr>
        <p:spPr>
          <a:xfrm>
            <a:off x="11393424" y="3422142"/>
            <a:ext cx="347472" cy="347472"/>
          </a:xfrm>
          <a:prstGeom prst="ellipse">
            <a:avLst/>
          </a:prstGeom>
          <a:solidFill>
            <a:srgbClr val="C9A227"/>
          </a:solidFill>
          <a:ln w="12700">
            <a:solidFill>
              <a:srgbClr val="C9A227"/>
            </a:solidFill>
            <a:prstDash val="solid"/>
          </a:ln>
        </p:spPr>
      </p:sp>
      <p:sp>
        <p:nvSpPr>
          <p:cNvPr id="20" name="Text 16"/>
          <p:cNvSpPr txBox="1"/>
          <p:nvPr/>
        </p:nvSpPr>
        <p:spPr>
          <a:xfrm>
            <a:off x="11393424" y="342214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21" name="Text 17"/>
          <p:cNvSpPr txBox="1"/>
          <p:nvPr/>
        </p:nvSpPr>
        <p:spPr>
          <a:xfrm>
            <a:off x="8046720" y="342214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نتیجه</a:t>
            </a:r>
            <a:endParaRPr lang="en-US" sz="1400" dirty="0"/>
          </a:p>
        </p:txBody>
      </p:sp>
      <p:sp>
        <p:nvSpPr>
          <p:cNvPr id="22" name="Text 18"/>
          <p:cNvSpPr txBox="1"/>
          <p:nvPr/>
        </p:nvSpPr>
        <p:spPr>
          <a:xfrm>
            <a:off x="8046720" y="3751326"/>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سند «پرداخت» موقت و رکورد دریافت/پرداخت صادر و وضعیت «پرداخت شد» می‌شود.</a:t>
            </a:r>
            <a:endParaRPr lang="en-US" sz="1300" dirty="0"/>
          </a:p>
        </p:txBody>
      </p:sp>
      <p:sp>
        <p:nvSpPr>
          <p:cNvPr id="23" name="Shape 19"/>
          <p:cNvSpPr/>
          <p:nvPr/>
        </p:nvSpPr>
        <p:spPr>
          <a:xfrm>
            <a:off x="11393424" y="4337456"/>
            <a:ext cx="347472" cy="347472"/>
          </a:xfrm>
          <a:prstGeom prst="ellipse">
            <a:avLst/>
          </a:prstGeom>
          <a:solidFill>
            <a:srgbClr val="C9A227"/>
          </a:solidFill>
          <a:ln w="12700">
            <a:solidFill>
              <a:srgbClr val="C9A227"/>
            </a:solidFill>
            <a:prstDash val="solid"/>
          </a:ln>
        </p:spPr>
      </p:sp>
      <p:sp>
        <p:nvSpPr>
          <p:cNvPr id="24" name="Text 20"/>
          <p:cNvSpPr txBox="1"/>
          <p:nvPr/>
        </p:nvSpPr>
        <p:spPr>
          <a:xfrm>
            <a:off x="11393424" y="4337456"/>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5" name="Text 21"/>
          <p:cNvSpPr txBox="1"/>
          <p:nvPr/>
        </p:nvSpPr>
        <p:spPr>
          <a:xfrm>
            <a:off x="8046720" y="4337456"/>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تعلیق</a:t>
            </a:r>
            <a:endParaRPr lang="en-US" sz="1400" dirty="0"/>
          </a:p>
        </p:txBody>
      </p:sp>
      <p:sp>
        <p:nvSpPr>
          <p:cNvPr id="26" name="Text 22"/>
          <p:cNvSpPr txBox="1"/>
          <p:nvPr/>
        </p:nvSpPr>
        <p:spPr>
          <a:xfrm>
            <a:off x="8046720" y="4666640"/>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با دلیل، درخواست را معلق و بعداً «رفع تعلیق» کنید.</a:t>
            </a:r>
            <a:endParaRPr lang="en-US" sz="1300" dirty="0"/>
          </a:p>
        </p:txBody>
      </p:sp>
      <p:sp>
        <p:nvSpPr>
          <p:cNvPr id="27" name="Text 23"/>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خزانه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اسناد حسابداری خودکار درخواست پرداخت</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tr06b">    </p:cNvPr>
          <p:cNvPicPr>
            <a:picLocks noChangeAspect="1"/>
          </p:cNvPicPr>
          <p:nvPr/>
        </p:nvPicPr>
        <p:blipFill>
          <a:blip r:embed="rId1"/>
          <a:stretch>
            <a:fillRect/>
          </a:stretch>
        </p:blipFill>
        <p:spPr>
          <a:xfrm>
            <a:off x="691978" y="1216152"/>
            <a:ext cx="6845643" cy="5065776"/>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سند شناسایی بدهی</a:t>
            </a:r>
            <a:endParaRPr lang="en-US" sz="1400" dirty="0"/>
          </a:p>
        </p:txBody>
      </p:sp>
      <p:sp>
        <p:nvSpPr>
          <p:cNvPr id="8" name="Text 5"/>
          <p:cNvSpPr txBox="1"/>
          <p:nvPr/>
        </p:nvSpPr>
        <p:spPr>
          <a:xfrm>
            <a:off x="8046720" y="1517904"/>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بدهکار هزینه (با مرکز هزینه) و اعتبار مالیات؛ بستانکار بستانکاران (ذی‌نفع) و کسور بیمه.</a:t>
            </a:r>
            <a:endParaRPr lang="en-US" sz="1300" dirty="0"/>
          </a:p>
        </p:txBody>
      </p:sp>
      <p:sp>
        <p:nvSpPr>
          <p:cNvPr id="9" name="Shape 6"/>
          <p:cNvSpPr/>
          <p:nvPr/>
        </p:nvSpPr>
        <p:spPr>
          <a:xfrm>
            <a:off x="11393424" y="2323948"/>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32394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32394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سند پرداخت</a:t>
            </a:r>
            <a:endParaRPr lang="en-US" sz="1400" dirty="0"/>
          </a:p>
        </p:txBody>
      </p:sp>
      <p:sp>
        <p:nvSpPr>
          <p:cNvPr id="12" name="Text 9"/>
          <p:cNvSpPr txBox="1"/>
          <p:nvPr/>
        </p:nvSpPr>
        <p:spPr>
          <a:xfrm>
            <a:off x="8046720" y="2653132"/>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بدهکار بستانکاران، بستانکار بانک (با تفصیلی حساب بانکی).</a:t>
            </a:r>
            <a:endParaRPr lang="en-US" sz="1300" dirty="0"/>
          </a:p>
        </p:txBody>
      </p:sp>
      <p:sp>
        <p:nvSpPr>
          <p:cNvPr id="13" name="Shape 10"/>
          <p:cNvSpPr/>
          <p:nvPr/>
        </p:nvSpPr>
        <p:spPr>
          <a:xfrm>
            <a:off x="11393424" y="3239262"/>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23926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23926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کجا ببینیم</a:t>
            </a:r>
            <a:endParaRPr lang="en-US" sz="1400" dirty="0"/>
          </a:p>
        </p:txBody>
      </p:sp>
      <p:sp>
        <p:nvSpPr>
          <p:cNvPr id="16" name="Text 13"/>
          <p:cNvSpPr txBox="1"/>
          <p:nvPr/>
        </p:nvSpPr>
        <p:spPr>
          <a:xfrm>
            <a:off x="8046720" y="3568446"/>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پایین صفحهٔ درخواست، پنل «اسناد حسابداری» با شمارهٔ سند و برچسب «متوازن».</a:t>
            </a:r>
            <a:endParaRPr lang="en-US" sz="1300" dirty="0"/>
          </a:p>
        </p:txBody>
      </p:sp>
      <p:sp>
        <p:nvSpPr>
          <p:cNvPr id="17" name="Shape 14"/>
          <p:cNvSpPr/>
          <p:nvPr/>
        </p:nvSpPr>
        <p:spPr>
          <a:xfrm>
            <a:off x="11393424" y="4154576"/>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4154576"/>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4154576"/>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وضعیت</a:t>
            </a:r>
            <a:endParaRPr lang="en-US" sz="1400" dirty="0"/>
          </a:p>
        </p:txBody>
      </p:sp>
      <p:sp>
        <p:nvSpPr>
          <p:cNvPr id="20" name="Text 17"/>
          <p:cNvSpPr txBox="1"/>
          <p:nvPr/>
        </p:nvSpPr>
        <p:spPr>
          <a:xfrm>
            <a:off x="8046720" y="4483760"/>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هر دو سند «موقت»‌اند و در کارتابل اسناد قطعی می‌شوند.</a:t>
            </a:r>
            <a:endParaRPr lang="en-US" sz="1300" dirty="0"/>
          </a:p>
        </p:txBody>
      </p:sp>
      <p:sp>
        <p:nvSpPr>
          <p:cNvPr id="21" name="Text 18"/>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خزانه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۵ — دریافت و انتقال وجه</a:t>
            </a:r>
            <a:endParaRPr lang="en-US" sz="2600" dirty="0"/>
          </a:p>
        </p:txBody>
      </p:sp>
      <p:sp>
        <p:nvSpPr>
          <p:cNvPr id="3" name="Shape 1"/>
          <p:cNvSpPr/>
          <p:nvPr/>
        </p:nvSpPr>
        <p:spPr>
          <a:xfrm>
            <a:off x="8353044" y="896112"/>
            <a:ext cx="3424428"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تنخواه و خزانه‌داری ← دریافت و انتقال</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tr10">    </p:cNvPr>
          <p:cNvPicPr>
            <a:picLocks noChangeAspect="1"/>
          </p:cNvPicPr>
          <p:nvPr/>
        </p:nvPicPr>
        <p:blipFill>
          <a:blip r:embed="rId1"/>
          <a:stretch>
            <a:fillRect/>
          </a:stretch>
        </p:blipFill>
        <p:spPr>
          <a:xfrm>
            <a:off x="491876" y="1399032"/>
            <a:ext cx="7245847"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دو زبانه</a:t>
            </a:r>
            <a:endParaRPr lang="en-US" sz="1400" dirty="0"/>
          </a:p>
        </p:txBody>
      </p:sp>
      <p:sp>
        <p:nvSpPr>
          <p:cNvPr id="10" name="Text 7"/>
          <p:cNvSpPr txBox="1"/>
          <p:nvPr/>
        </p:nvSpPr>
        <p:spPr>
          <a:xfrm>
            <a:off x="8046720" y="170078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«دریافت وجه» از مشتریان/کارفرمایان و «انتقال وجه» بین حساب‌های بانکی واحد.</a:t>
            </a:r>
            <a:endParaRPr lang="en-US" sz="1300" dirty="0"/>
          </a:p>
        </p:txBody>
      </p:sp>
      <p:sp>
        <p:nvSpPr>
          <p:cNvPr id="11" name="Shape 8"/>
          <p:cNvSpPr/>
          <p:nvPr/>
        </p:nvSpPr>
        <p:spPr>
          <a:xfrm>
            <a:off x="11393424" y="2286914"/>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28691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28691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وضعیت دریافت</a:t>
            </a:r>
            <a:endParaRPr lang="en-US" sz="1400" dirty="0"/>
          </a:p>
        </p:txBody>
      </p:sp>
      <p:sp>
        <p:nvSpPr>
          <p:cNvPr id="14" name="Text 11"/>
          <p:cNvSpPr txBox="1"/>
          <p:nvPr/>
        </p:nvSpPr>
        <p:spPr>
          <a:xfrm>
            <a:off x="8046720" y="2616098"/>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پیش‌نویس ← ثبت‌شده (فقط خزانه‌دار) یا لغوشده.</a:t>
            </a:r>
            <a:endParaRPr lang="en-US" sz="1300" dirty="0"/>
          </a:p>
        </p:txBody>
      </p:sp>
      <p:sp>
        <p:nvSpPr>
          <p:cNvPr id="15" name="Shape 12"/>
          <p:cNvSpPr/>
          <p:nvPr/>
        </p:nvSpPr>
        <p:spPr>
          <a:xfrm>
            <a:off x="11393424" y="3202229"/>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202229"/>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202229"/>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وضعیت انتقال</a:t>
            </a:r>
            <a:endParaRPr lang="en-US" sz="1400" dirty="0"/>
          </a:p>
        </p:txBody>
      </p:sp>
      <p:sp>
        <p:nvSpPr>
          <p:cNvPr id="18" name="Text 15"/>
          <p:cNvSpPr txBox="1"/>
          <p:nvPr/>
        </p:nvSpPr>
        <p:spPr>
          <a:xfrm>
            <a:off x="8046720" y="3531413"/>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پیش‌نویس ← در انتظار خزانه‌دار ← اجراشده؛ یا برگشتی/ردشده.</a:t>
            </a:r>
            <a:endParaRPr lang="en-US" sz="1300" dirty="0"/>
          </a:p>
        </p:txBody>
      </p:sp>
      <p:sp>
        <p:nvSpPr>
          <p:cNvPr id="19" name="Text 16"/>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خزانه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۶ — ثبت دریافت وجه</a:t>
            </a:r>
            <a:endParaRPr lang="en-US" sz="2600" dirty="0"/>
          </a:p>
        </p:txBody>
      </p:sp>
      <p:sp>
        <p:nvSpPr>
          <p:cNvPr id="3" name="Text 1"/>
          <p:cNvSpPr txBox="1"/>
          <p:nvPr/>
        </p:nvSpPr>
        <p:spPr>
          <a:xfrm>
            <a:off x="411480" y="1143000"/>
            <a:ext cx="7406640"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فرم دریافت جدید</a:t>
            </a:r>
            <a:endParaRPr lang="en-US" sz="1200" dirty="0"/>
          </a:p>
        </p:txBody>
      </p:sp>
      <p:sp>
        <p:nvSpPr>
          <p:cNvPr id="4" name="Shape 2"/>
          <p:cNvSpPr/>
          <p:nvPr/>
        </p:nvSpPr>
        <p:spPr>
          <a:xfrm>
            <a:off x="411480" y="1435608"/>
            <a:ext cx="7406640" cy="2244852"/>
          </a:xfrm>
          <a:prstGeom prst="roundRect">
            <a:avLst>
              <a:gd name="adj" fmla="val 3259"/>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5" name="Image 0" descr="tr11">    </p:cNvPr>
          <p:cNvPicPr>
            <a:picLocks noChangeAspect="1"/>
          </p:cNvPicPr>
          <p:nvPr/>
        </p:nvPicPr>
        <p:blipFill>
          <a:blip r:embed="rId1"/>
          <a:stretch>
            <a:fillRect/>
          </a:stretch>
        </p:blipFill>
        <p:spPr>
          <a:xfrm>
            <a:off x="2659792" y="1481328"/>
            <a:ext cx="2910016" cy="2153412"/>
          </a:xfrm>
          <a:prstGeom prst="rect">
            <a:avLst/>
          </a:prstGeom>
        </p:spPr>
      </p:pic>
      <p:sp>
        <p:nvSpPr>
          <p:cNvPr id="6" name="Text 3"/>
          <p:cNvSpPr txBox="1"/>
          <p:nvPr/>
        </p:nvSpPr>
        <p:spPr>
          <a:xfrm>
            <a:off x="411480" y="3817620"/>
            <a:ext cx="7406640"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دریافت ثبت‌شده و سند آن</a:t>
            </a:r>
            <a:endParaRPr lang="en-US" sz="1200" dirty="0"/>
          </a:p>
        </p:txBody>
      </p:sp>
      <p:sp>
        <p:nvSpPr>
          <p:cNvPr id="7" name="Shape 4"/>
          <p:cNvSpPr/>
          <p:nvPr/>
        </p:nvSpPr>
        <p:spPr>
          <a:xfrm>
            <a:off x="411480" y="4110228"/>
            <a:ext cx="7406640" cy="2244852"/>
          </a:xfrm>
          <a:prstGeom prst="roundRect">
            <a:avLst>
              <a:gd name="adj" fmla="val 3259"/>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8" name="Image 1" descr="tr12">    </p:cNvPr>
          <p:cNvPicPr>
            <a:picLocks noChangeAspect="1"/>
          </p:cNvPicPr>
          <p:nvPr/>
        </p:nvPicPr>
        <p:blipFill>
          <a:blip r:embed="rId2"/>
          <a:stretch>
            <a:fillRect/>
          </a:stretch>
        </p:blipFill>
        <p:spPr>
          <a:xfrm>
            <a:off x="2659792" y="4155948"/>
            <a:ext cx="2910016" cy="2153412"/>
          </a:xfrm>
          <a:prstGeom prst="rect">
            <a:avLst/>
          </a:prstGeom>
        </p:spPr>
      </p:pic>
      <p:sp>
        <p:nvSpPr>
          <p:cNvPr id="9" name="Shape 5"/>
          <p:cNvSpPr/>
          <p:nvPr/>
        </p:nvSpPr>
        <p:spPr>
          <a:xfrm>
            <a:off x="11393424" y="1188720"/>
            <a:ext cx="347472" cy="347472"/>
          </a:xfrm>
          <a:prstGeom prst="ellipse">
            <a:avLst/>
          </a:prstGeom>
          <a:solidFill>
            <a:srgbClr val="C9A227"/>
          </a:solidFill>
          <a:ln w="12700">
            <a:solidFill>
              <a:srgbClr val="C9A227"/>
            </a:solidFill>
            <a:prstDash val="solid"/>
          </a:ln>
        </p:spPr>
      </p:sp>
      <p:sp>
        <p:nvSpPr>
          <p:cNvPr id="10" name="Text 6"/>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11" name="Text 7"/>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پرداخت‌کننده</a:t>
            </a:r>
            <a:endParaRPr lang="en-US" sz="1400" dirty="0"/>
          </a:p>
        </p:txBody>
      </p:sp>
      <p:sp>
        <p:nvSpPr>
          <p:cNvPr id="12" name="Text 8"/>
          <p:cNvSpPr txBox="1"/>
          <p:nvPr/>
        </p:nvSpPr>
        <p:spPr>
          <a:xfrm>
            <a:off x="8046720" y="151790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تفصیلی مشتری از گروه تفصیلی مشتریان (الزامی).</a:t>
            </a:r>
            <a:endParaRPr lang="en-US" sz="1300" dirty="0"/>
          </a:p>
        </p:txBody>
      </p:sp>
      <p:sp>
        <p:nvSpPr>
          <p:cNvPr id="13" name="Shape 9"/>
          <p:cNvSpPr/>
          <p:nvPr/>
        </p:nvSpPr>
        <p:spPr>
          <a:xfrm>
            <a:off x="11393424" y="2104034"/>
            <a:ext cx="347472" cy="347472"/>
          </a:xfrm>
          <a:prstGeom prst="ellipse">
            <a:avLst/>
          </a:prstGeom>
          <a:solidFill>
            <a:srgbClr val="C9A227"/>
          </a:solidFill>
          <a:ln w="12700">
            <a:solidFill>
              <a:srgbClr val="C9A227"/>
            </a:solidFill>
            <a:prstDash val="solid"/>
          </a:ln>
        </p:spPr>
      </p:sp>
      <p:sp>
        <p:nvSpPr>
          <p:cNvPr id="14" name="Text 10"/>
          <p:cNvSpPr txBox="1"/>
          <p:nvPr/>
        </p:nvSpPr>
        <p:spPr>
          <a:xfrm>
            <a:off x="11393424" y="210403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5" name="Text 11"/>
          <p:cNvSpPr txBox="1"/>
          <p:nvPr/>
        </p:nvSpPr>
        <p:spPr>
          <a:xfrm>
            <a:off x="8046720" y="210403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مبلغ و حساب</a:t>
            </a:r>
            <a:endParaRPr lang="en-US" sz="1400" dirty="0"/>
          </a:p>
        </p:txBody>
      </p:sp>
      <p:sp>
        <p:nvSpPr>
          <p:cNvPr id="16" name="Text 12"/>
          <p:cNvSpPr txBox="1"/>
          <p:nvPr/>
        </p:nvSpPr>
        <p:spPr>
          <a:xfrm>
            <a:off x="8046720" y="2433218"/>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مبلغ، حساب بانکی مقصد، روش، تاریخ و شمارهٔ پیگیری بانک (تکراری پذیرفته نمی‌شود).</a:t>
            </a:r>
            <a:endParaRPr lang="en-US" sz="1300" dirty="0"/>
          </a:p>
        </p:txBody>
      </p:sp>
      <p:sp>
        <p:nvSpPr>
          <p:cNvPr id="17" name="Shape 13"/>
          <p:cNvSpPr/>
          <p:nvPr/>
        </p:nvSpPr>
        <p:spPr>
          <a:xfrm>
            <a:off x="11393424" y="3239262"/>
            <a:ext cx="347472" cy="347472"/>
          </a:xfrm>
          <a:prstGeom prst="ellipse">
            <a:avLst/>
          </a:prstGeom>
          <a:solidFill>
            <a:srgbClr val="C9A227"/>
          </a:solidFill>
          <a:ln w="12700">
            <a:solidFill>
              <a:srgbClr val="C9A227"/>
            </a:solidFill>
            <a:prstDash val="solid"/>
          </a:ln>
        </p:spPr>
      </p:sp>
      <p:sp>
        <p:nvSpPr>
          <p:cNvPr id="18" name="Text 14"/>
          <p:cNvSpPr txBox="1"/>
          <p:nvPr/>
        </p:nvSpPr>
        <p:spPr>
          <a:xfrm>
            <a:off x="11393424" y="323926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9" name="Text 15"/>
          <p:cNvSpPr txBox="1"/>
          <p:nvPr/>
        </p:nvSpPr>
        <p:spPr>
          <a:xfrm>
            <a:off x="8046720" y="323926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ثبت</a:t>
            </a:r>
            <a:endParaRPr lang="en-US" sz="1400" dirty="0"/>
          </a:p>
        </p:txBody>
      </p:sp>
      <p:sp>
        <p:nvSpPr>
          <p:cNvPr id="20" name="Text 16"/>
          <p:cNvSpPr txBox="1"/>
          <p:nvPr/>
        </p:nvSpPr>
        <p:spPr>
          <a:xfrm>
            <a:off x="8046720" y="3568446"/>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خزانه‌دار «ثبت» را می‌زند ⇐ سند دریافت موقت: بدهکار بانک / بستانکار حساب دریافتنی.</a:t>
            </a:r>
            <a:endParaRPr lang="en-US" sz="1300" dirty="0"/>
          </a:p>
        </p:txBody>
      </p:sp>
      <p:sp>
        <p:nvSpPr>
          <p:cNvPr id="21" name="Text 17"/>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خزانه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۷ — انتقال وجه بین حساب‌ها</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tr13">    </p:cNvPr>
          <p:cNvPicPr>
            <a:picLocks noChangeAspect="1"/>
          </p:cNvPicPr>
          <p:nvPr/>
        </p:nvPicPr>
        <p:blipFill>
          <a:blip r:embed="rId1"/>
          <a:stretch>
            <a:fillRect/>
          </a:stretch>
        </p:blipFill>
        <p:spPr>
          <a:xfrm>
            <a:off x="484632" y="1224056"/>
            <a:ext cx="7260336" cy="5049967"/>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مبدأ و مقصد</a:t>
            </a:r>
            <a:endParaRPr lang="en-US" sz="1400" dirty="0"/>
          </a:p>
        </p:txBody>
      </p:sp>
      <p:sp>
        <p:nvSpPr>
          <p:cNvPr id="8" name="Text 5"/>
          <p:cNvSpPr txBox="1"/>
          <p:nvPr/>
        </p:nvSpPr>
        <p:spPr>
          <a:xfrm>
            <a:off x="8046720" y="151790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دو حساب بانکی متفاوت از همین واحد؛ موجودی دفتری مبدأ نمایش داده می‌شود.</a:t>
            </a:r>
            <a:endParaRPr lang="en-US" sz="1300" dirty="0"/>
          </a:p>
        </p:txBody>
      </p:sp>
      <p:sp>
        <p:nvSpPr>
          <p:cNvPr id="9" name="Shape 6"/>
          <p:cNvSpPr/>
          <p:nvPr/>
        </p:nvSpPr>
        <p:spPr>
          <a:xfrm>
            <a:off x="11393424" y="2104034"/>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10403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10403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مبلغ و روش</a:t>
            </a:r>
            <a:endParaRPr lang="en-US" sz="1400" dirty="0"/>
          </a:p>
        </p:txBody>
      </p:sp>
      <p:sp>
        <p:nvSpPr>
          <p:cNvPr id="12" name="Text 9"/>
          <p:cNvSpPr txBox="1"/>
          <p:nvPr/>
        </p:nvSpPr>
        <p:spPr>
          <a:xfrm>
            <a:off x="8046720" y="2433218"/>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مبلغ، تاریخ، روش انتقال و دلیل انتقال.</a:t>
            </a:r>
            <a:endParaRPr lang="en-US" sz="1300" dirty="0"/>
          </a:p>
        </p:txBody>
      </p:sp>
      <p:sp>
        <p:nvSpPr>
          <p:cNvPr id="13" name="Shape 10"/>
          <p:cNvSpPr/>
          <p:nvPr/>
        </p:nvSpPr>
        <p:spPr>
          <a:xfrm>
            <a:off x="11393424" y="3019349"/>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019349"/>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019349"/>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ارسال</a:t>
            </a:r>
            <a:endParaRPr lang="en-US" sz="1400" dirty="0"/>
          </a:p>
        </p:txBody>
      </p:sp>
      <p:sp>
        <p:nvSpPr>
          <p:cNvPr id="16" name="Text 13"/>
          <p:cNvSpPr txBox="1"/>
          <p:nvPr/>
        </p:nvSpPr>
        <p:spPr>
          <a:xfrm>
            <a:off x="8046720" y="3348533"/>
            <a:ext cx="3227832" cy="256489"/>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«ارسال برای تأیید» به خزانه‌دار.</a:t>
            </a:r>
            <a:endParaRPr lang="en-US" sz="1300" dirty="0"/>
          </a:p>
        </p:txBody>
      </p:sp>
      <p:sp>
        <p:nvSpPr>
          <p:cNvPr id="17" name="Shape 14"/>
          <p:cNvSpPr/>
          <p:nvPr/>
        </p:nvSpPr>
        <p:spPr>
          <a:xfrm>
            <a:off x="11393424" y="3714750"/>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371475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371475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کنترل‌های مسدودکننده</a:t>
            </a:r>
            <a:endParaRPr lang="en-US" sz="1400" dirty="0"/>
          </a:p>
        </p:txBody>
      </p:sp>
      <p:sp>
        <p:nvSpPr>
          <p:cNvPr id="20" name="Text 17"/>
          <p:cNvSpPr txBox="1"/>
          <p:nvPr/>
        </p:nvSpPr>
        <p:spPr>
          <a:xfrm>
            <a:off x="8046720" y="404393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موجودی کافی مبدأ و سقف انتقال روزانه؛ تأییدکننده ≠ ثبت‌کننده.</a:t>
            </a:r>
            <a:endParaRPr lang="en-US" sz="1300" dirty="0"/>
          </a:p>
        </p:txBody>
      </p:sp>
      <p:sp>
        <p:nvSpPr>
          <p:cNvPr id="21" name="Text 18"/>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خزانه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۸ — مغایرت‌گیری بانکی</a:t>
            </a:r>
            <a:endParaRPr lang="en-US" sz="2600" dirty="0"/>
          </a:p>
        </p:txBody>
      </p:sp>
      <p:sp>
        <p:nvSpPr>
          <p:cNvPr id="3" name="Shape 1"/>
          <p:cNvSpPr/>
          <p:nvPr/>
        </p:nvSpPr>
        <p:spPr>
          <a:xfrm>
            <a:off x="8586216" y="896112"/>
            <a:ext cx="3191256"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تنخواه و خزانه‌داری ← مغایرت بانکی</a:t>
            </a:r>
            <a:endParaRPr lang="en-US" sz="1100" dirty="0"/>
          </a:p>
        </p:txBody>
      </p:sp>
      <p:sp>
        <p:nvSpPr>
          <p:cNvPr id="5" name="Text 3"/>
          <p:cNvSpPr txBox="1"/>
          <p:nvPr/>
        </p:nvSpPr>
        <p:spPr>
          <a:xfrm>
            <a:off x="411480" y="1325880"/>
            <a:ext cx="7406640"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فهرست صورت‌حساب‌ها</a:t>
            </a:r>
            <a:endParaRPr lang="en-US" sz="1200" dirty="0"/>
          </a:p>
        </p:txBody>
      </p:sp>
      <p:sp>
        <p:nvSpPr>
          <p:cNvPr id="6" name="Shape 4"/>
          <p:cNvSpPr/>
          <p:nvPr/>
        </p:nvSpPr>
        <p:spPr>
          <a:xfrm>
            <a:off x="411480" y="1618488"/>
            <a:ext cx="7406640" cy="2153412"/>
          </a:xfrm>
          <a:prstGeom prst="roundRect">
            <a:avLst>
              <a:gd name="adj" fmla="val 3397"/>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7" name="Image 0" descr="tr14">    </p:cNvPr>
          <p:cNvPicPr>
            <a:picLocks noChangeAspect="1"/>
          </p:cNvPicPr>
          <p:nvPr/>
        </p:nvPicPr>
        <p:blipFill>
          <a:blip r:embed="rId1"/>
          <a:stretch>
            <a:fillRect/>
          </a:stretch>
        </p:blipFill>
        <p:spPr>
          <a:xfrm>
            <a:off x="2584895" y="1664208"/>
            <a:ext cx="3059810" cy="2061972"/>
          </a:xfrm>
          <a:prstGeom prst="rect">
            <a:avLst/>
          </a:prstGeom>
        </p:spPr>
      </p:pic>
      <p:sp>
        <p:nvSpPr>
          <p:cNvPr id="8" name="Text 5"/>
          <p:cNvSpPr txBox="1"/>
          <p:nvPr/>
        </p:nvSpPr>
        <p:spPr>
          <a:xfrm>
            <a:off x="411480" y="3909060"/>
            <a:ext cx="7406640"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جزئیات و تطبیق ردیف‌ها</a:t>
            </a:r>
            <a:endParaRPr lang="en-US" sz="1200" dirty="0"/>
          </a:p>
        </p:txBody>
      </p:sp>
      <p:sp>
        <p:nvSpPr>
          <p:cNvPr id="9" name="Shape 6"/>
          <p:cNvSpPr/>
          <p:nvPr/>
        </p:nvSpPr>
        <p:spPr>
          <a:xfrm>
            <a:off x="411480" y="4201668"/>
            <a:ext cx="7406640" cy="2153412"/>
          </a:xfrm>
          <a:prstGeom prst="roundRect">
            <a:avLst>
              <a:gd name="adj" fmla="val 3397"/>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10" name="Image 1" descr="tr15">    </p:cNvPr>
          <p:cNvPicPr>
            <a:picLocks noChangeAspect="1"/>
          </p:cNvPicPr>
          <p:nvPr/>
        </p:nvPicPr>
        <p:blipFill>
          <a:blip r:embed="rId2"/>
          <a:stretch>
            <a:fillRect/>
          </a:stretch>
        </p:blipFill>
        <p:spPr>
          <a:xfrm>
            <a:off x="2721576" y="4247388"/>
            <a:ext cx="2786449" cy="2061972"/>
          </a:xfrm>
          <a:prstGeom prst="rect">
            <a:avLst/>
          </a:prstGeom>
        </p:spPr>
      </p:pic>
      <p:sp>
        <p:nvSpPr>
          <p:cNvPr id="11" name="Shape 7"/>
          <p:cNvSpPr/>
          <p:nvPr/>
        </p:nvSpPr>
        <p:spPr>
          <a:xfrm>
            <a:off x="11393424" y="1371600"/>
            <a:ext cx="347472" cy="347472"/>
          </a:xfrm>
          <a:prstGeom prst="ellipse">
            <a:avLst/>
          </a:prstGeom>
          <a:solidFill>
            <a:srgbClr val="C9A227"/>
          </a:solidFill>
          <a:ln w="12700">
            <a:solidFill>
              <a:srgbClr val="C9A227"/>
            </a:solidFill>
            <a:prstDash val="solid"/>
          </a:ln>
        </p:spPr>
      </p:sp>
      <p:sp>
        <p:nvSpPr>
          <p:cNvPr id="12" name="Text 8"/>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13" name="Text 9"/>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صورت‌حساب جدید</a:t>
            </a:r>
            <a:endParaRPr lang="en-US" sz="1400" dirty="0"/>
          </a:p>
        </p:txBody>
      </p:sp>
      <p:sp>
        <p:nvSpPr>
          <p:cNvPr id="14" name="Text 10"/>
          <p:cNvSpPr txBox="1"/>
          <p:nvPr/>
        </p:nvSpPr>
        <p:spPr>
          <a:xfrm>
            <a:off x="8046720" y="1700784"/>
            <a:ext cx="3227832" cy="916229"/>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حساب بانکی، بازهٔ تاریخ و ماندهٔ طبق بانک؛ ردیف‌ها را دستی اضافه یا با «بارگذاری فایل دیسکت» (بانک رفاه) وارد کنید.</a:t>
            </a:r>
            <a:endParaRPr lang="en-US" sz="1300" dirty="0"/>
          </a:p>
        </p:txBody>
      </p:sp>
      <p:sp>
        <p:nvSpPr>
          <p:cNvPr id="15" name="Shape 11"/>
          <p:cNvSpPr/>
          <p:nvPr/>
        </p:nvSpPr>
        <p:spPr>
          <a:xfrm>
            <a:off x="11393424" y="2726741"/>
            <a:ext cx="347472" cy="347472"/>
          </a:xfrm>
          <a:prstGeom prst="ellipse">
            <a:avLst/>
          </a:prstGeom>
          <a:solidFill>
            <a:srgbClr val="C9A227"/>
          </a:solidFill>
          <a:ln w="12700">
            <a:solidFill>
              <a:srgbClr val="C9A227"/>
            </a:solidFill>
            <a:prstDash val="solid"/>
          </a:ln>
        </p:spPr>
      </p:sp>
      <p:sp>
        <p:nvSpPr>
          <p:cNvPr id="16" name="Text 12"/>
          <p:cNvSpPr txBox="1"/>
          <p:nvPr/>
        </p:nvSpPr>
        <p:spPr>
          <a:xfrm>
            <a:off x="11393424" y="2726741"/>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7" name="Text 13"/>
          <p:cNvSpPr txBox="1"/>
          <p:nvPr/>
        </p:nvSpPr>
        <p:spPr>
          <a:xfrm>
            <a:off x="8046720" y="2726741"/>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تطبیق خودکار</a:t>
            </a:r>
            <a:endParaRPr lang="en-US" sz="1400" dirty="0"/>
          </a:p>
        </p:txBody>
      </p:sp>
      <p:sp>
        <p:nvSpPr>
          <p:cNvPr id="18" name="Text 14"/>
          <p:cNvSpPr txBox="1"/>
          <p:nvPr/>
        </p:nvSpPr>
        <p:spPr>
          <a:xfrm>
            <a:off x="8046720" y="3055925"/>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بر اساس شمارهٔ چک/فیش، مرجع بانک و مبلغ در بازهٔ ±۳ روز.</a:t>
            </a:r>
            <a:endParaRPr lang="en-US" sz="1300" dirty="0"/>
          </a:p>
        </p:txBody>
      </p:sp>
      <p:sp>
        <p:nvSpPr>
          <p:cNvPr id="19" name="Shape 15"/>
          <p:cNvSpPr/>
          <p:nvPr/>
        </p:nvSpPr>
        <p:spPr>
          <a:xfrm>
            <a:off x="11393424" y="3642055"/>
            <a:ext cx="347472" cy="347472"/>
          </a:xfrm>
          <a:prstGeom prst="ellipse">
            <a:avLst/>
          </a:prstGeom>
          <a:solidFill>
            <a:srgbClr val="C9A227"/>
          </a:solidFill>
          <a:ln w="12700">
            <a:solidFill>
              <a:srgbClr val="C9A227"/>
            </a:solidFill>
            <a:prstDash val="solid"/>
          </a:ln>
        </p:spPr>
      </p:sp>
      <p:sp>
        <p:nvSpPr>
          <p:cNvPr id="20" name="Text 16"/>
          <p:cNvSpPr txBox="1"/>
          <p:nvPr/>
        </p:nvSpPr>
        <p:spPr>
          <a:xfrm>
            <a:off x="11393424" y="3642055"/>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21" name="Text 17"/>
          <p:cNvSpPr txBox="1"/>
          <p:nvPr/>
        </p:nvSpPr>
        <p:spPr>
          <a:xfrm>
            <a:off x="8046720" y="3642055"/>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تطبیق‌نیافته‌ها</a:t>
            </a:r>
            <a:endParaRPr lang="en-US" sz="1400" dirty="0"/>
          </a:p>
        </p:txBody>
      </p:sp>
      <p:sp>
        <p:nvSpPr>
          <p:cNvPr id="22" name="Text 18"/>
          <p:cNvSpPr txBox="1"/>
          <p:nvPr/>
        </p:nvSpPr>
        <p:spPr>
          <a:xfrm>
            <a:off x="8046720" y="3971239"/>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تطبیق دستی، صدور سند کارمزد، اتصال به دریافت یا «نادیده» با یادداشت.</a:t>
            </a:r>
            <a:endParaRPr lang="en-US" sz="1300" dirty="0"/>
          </a:p>
        </p:txBody>
      </p:sp>
      <p:sp>
        <p:nvSpPr>
          <p:cNvPr id="23" name="Shape 19"/>
          <p:cNvSpPr/>
          <p:nvPr/>
        </p:nvSpPr>
        <p:spPr>
          <a:xfrm>
            <a:off x="11393424" y="4557370"/>
            <a:ext cx="347472" cy="347472"/>
          </a:xfrm>
          <a:prstGeom prst="ellipse">
            <a:avLst/>
          </a:prstGeom>
          <a:solidFill>
            <a:srgbClr val="C9A227"/>
          </a:solidFill>
          <a:ln w="12700">
            <a:solidFill>
              <a:srgbClr val="C9A227"/>
            </a:solidFill>
            <a:prstDash val="solid"/>
          </a:ln>
        </p:spPr>
      </p:sp>
      <p:sp>
        <p:nvSpPr>
          <p:cNvPr id="24" name="Text 20"/>
          <p:cNvSpPr txBox="1"/>
          <p:nvPr/>
        </p:nvSpPr>
        <p:spPr>
          <a:xfrm>
            <a:off x="11393424" y="455737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5" name="Text 21"/>
          <p:cNvSpPr txBox="1"/>
          <p:nvPr/>
        </p:nvSpPr>
        <p:spPr>
          <a:xfrm>
            <a:off x="8046720" y="455737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بستن</a:t>
            </a:r>
            <a:endParaRPr lang="en-US" sz="1400" dirty="0"/>
          </a:p>
        </p:txBody>
      </p:sp>
      <p:sp>
        <p:nvSpPr>
          <p:cNvPr id="26" name="Text 22"/>
          <p:cNvSpPr txBox="1"/>
          <p:nvPr/>
        </p:nvSpPr>
        <p:spPr>
          <a:xfrm>
            <a:off x="8046720" y="488655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وقتی مغایرت صفر شد صورت‌حساب را «بستن» کنید.</a:t>
            </a:r>
            <a:endParaRPr lang="en-US" sz="1300" dirty="0"/>
          </a:p>
        </p:txBody>
      </p:sp>
      <p:sp>
        <p:nvSpPr>
          <p:cNvPr id="27" name="Text 23"/>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خزانه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صورت مغایرت بانکی (چاپ / PDF)</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tr16">    </p:cNvPr>
          <p:cNvPicPr>
            <a:picLocks noChangeAspect="1"/>
          </p:cNvPicPr>
          <p:nvPr/>
        </p:nvPicPr>
        <p:blipFill>
          <a:blip r:embed="rId1"/>
          <a:stretch>
            <a:fillRect/>
          </a:stretch>
        </p:blipFill>
        <p:spPr>
          <a:xfrm>
            <a:off x="691978" y="1216152"/>
            <a:ext cx="6845643" cy="5065776"/>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باز کردن</a:t>
            </a:r>
            <a:endParaRPr lang="en-US" sz="1400" dirty="0"/>
          </a:p>
        </p:txBody>
      </p:sp>
      <p:sp>
        <p:nvSpPr>
          <p:cNvPr id="8" name="Text 5"/>
          <p:cNvSpPr txBox="1"/>
          <p:nvPr/>
        </p:nvSpPr>
        <p:spPr>
          <a:xfrm>
            <a:off x="8046720" y="151790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در جزئیات صورت‌حساب، دکمهٔ «صورت مغایرت» را بزنید.</a:t>
            </a:r>
            <a:endParaRPr lang="en-US" sz="1300" dirty="0"/>
          </a:p>
        </p:txBody>
      </p:sp>
      <p:sp>
        <p:nvSpPr>
          <p:cNvPr id="9" name="Shape 6"/>
          <p:cNvSpPr/>
          <p:nvPr/>
        </p:nvSpPr>
        <p:spPr>
          <a:xfrm>
            <a:off x="11393424" y="2104034"/>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10403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10403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ساختار</a:t>
            </a:r>
            <a:endParaRPr lang="en-US" sz="1400" dirty="0"/>
          </a:p>
        </p:txBody>
      </p:sp>
      <p:sp>
        <p:nvSpPr>
          <p:cNvPr id="12" name="Text 9"/>
          <p:cNvSpPr txBox="1"/>
          <p:nvPr/>
        </p:nvSpPr>
        <p:spPr>
          <a:xfrm>
            <a:off x="8046720" y="2433218"/>
            <a:ext cx="3227832" cy="916229"/>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ماندهٔ دفتر ± واریز و برداشت‌های بانک که در دفتر نیامده و چک‌های وصول‌نشده = ماندهٔ تعدیل‌شده، در برابر ماندهٔ طبق بانک.</a:t>
            </a:r>
            <a:endParaRPr lang="en-US" sz="1300" dirty="0"/>
          </a:p>
        </p:txBody>
      </p:sp>
      <p:sp>
        <p:nvSpPr>
          <p:cNvPr id="13" name="Shape 10"/>
          <p:cNvSpPr/>
          <p:nvPr/>
        </p:nvSpPr>
        <p:spPr>
          <a:xfrm>
            <a:off x="11393424" y="3459175"/>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459175"/>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459175"/>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اختلاف</a:t>
            </a:r>
            <a:endParaRPr lang="en-US" sz="1400" dirty="0"/>
          </a:p>
        </p:txBody>
      </p:sp>
      <p:sp>
        <p:nvSpPr>
          <p:cNvPr id="16" name="Text 13"/>
          <p:cNvSpPr txBox="1"/>
          <p:nvPr/>
        </p:nvSpPr>
        <p:spPr>
          <a:xfrm>
            <a:off x="8046720" y="3788359"/>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سطر «اختلاف توضیح‌داده‌نشده» باید صفر شود؛ اگر نشد، ردیف‌های تطبیق‌نیافته را بررسی کنید.</a:t>
            </a:r>
            <a:endParaRPr lang="en-US" sz="1300" dirty="0"/>
          </a:p>
        </p:txBody>
      </p:sp>
      <p:sp>
        <p:nvSpPr>
          <p:cNvPr id="17" name="Shape 14"/>
          <p:cNvSpPr/>
          <p:nvPr/>
        </p:nvSpPr>
        <p:spPr>
          <a:xfrm>
            <a:off x="11393424" y="4594403"/>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4594403"/>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4594403"/>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ریز اقلام</a:t>
            </a:r>
            <a:endParaRPr lang="en-US" sz="1400" dirty="0"/>
          </a:p>
        </p:txBody>
      </p:sp>
      <p:sp>
        <p:nvSpPr>
          <p:cNvPr id="20" name="Text 17"/>
          <p:cNvSpPr txBox="1"/>
          <p:nvPr/>
        </p:nvSpPr>
        <p:spPr>
          <a:xfrm>
            <a:off x="8046720" y="4923587"/>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هر گروه با تاریخ، شماره/مرجع، شرح و مبلغ و جمع؛ پایین برگه جای امضای تهیه‌کننده، رئیس حسابداری و مدیر مالی.</a:t>
            </a:r>
            <a:endParaRPr lang="en-US" sz="1300" dirty="0"/>
          </a:p>
        </p:txBody>
      </p:sp>
      <p:sp>
        <p:nvSpPr>
          <p:cNvPr id="21" name="Shape 18"/>
          <p:cNvSpPr/>
          <p:nvPr/>
        </p:nvSpPr>
        <p:spPr>
          <a:xfrm>
            <a:off x="11393424" y="5729630"/>
            <a:ext cx="347472" cy="347472"/>
          </a:xfrm>
          <a:prstGeom prst="ellipse">
            <a:avLst/>
          </a:prstGeom>
          <a:solidFill>
            <a:srgbClr val="C9A227"/>
          </a:solidFill>
          <a:ln w="12700">
            <a:solidFill>
              <a:srgbClr val="C9A227"/>
            </a:solidFill>
            <a:prstDash val="solid"/>
          </a:ln>
        </p:spPr>
      </p:sp>
      <p:sp>
        <p:nvSpPr>
          <p:cNvPr id="22" name="Text 19"/>
          <p:cNvSpPr txBox="1"/>
          <p:nvPr/>
        </p:nvSpPr>
        <p:spPr>
          <a:xfrm>
            <a:off x="11393424" y="572963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23" name="Text 20"/>
          <p:cNvSpPr txBox="1"/>
          <p:nvPr/>
        </p:nvSpPr>
        <p:spPr>
          <a:xfrm>
            <a:off x="8046720" y="572963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چاپ</a:t>
            </a:r>
            <a:endParaRPr lang="en-US" sz="1400" dirty="0"/>
          </a:p>
        </p:txBody>
      </p:sp>
      <p:sp>
        <p:nvSpPr>
          <p:cNvPr id="24" name="Text 21"/>
          <p:cNvSpPr txBox="1"/>
          <p:nvPr/>
        </p:nvSpPr>
        <p:spPr>
          <a:xfrm>
            <a:off x="8046720" y="6058814"/>
            <a:ext cx="3227832" cy="256489"/>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دکمهٔ «چاپ / PDF» را بزنید.</a:t>
            </a:r>
            <a:endParaRPr lang="en-US" sz="1300" dirty="0"/>
          </a:p>
        </p:txBody>
      </p:sp>
      <p:sp>
        <p:nvSpPr>
          <p:cNvPr id="25" name="Text 22"/>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خزانه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داشبورد خزانه</a:t>
            </a:r>
            <a:endParaRPr lang="en-US" sz="2600" dirty="0"/>
          </a:p>
        </p:txBody>
      </p:sp>
      <p:sp>
        <p:nvSpPr>
          <p:cNvPr id="3" name="Shape 1"/>
          <p:cNvSpPr/>
          <p:nvPr/>
        </p:nvSpPr>
        <p:spPr>
          <a:xfrm>
            <a:off x="8508492" y="896112"/>
            <a:ext cx="3268980"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تنخواه و خزانه‌داری ← داشبورد خزانه</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tr01">    </p:cNvPr>
          <p:cNvPicPr>
            <a:picLocks noChangeAspect="1"/>
          </p:cNvPicPr>
          <p:nvPr/>
        </p:nvPicPr>
        <p:blipFill>
          <a:blip r:embed="rId1"/>
          <a:stretch>
            <a:fillRect/>
          </a:stretch>
        </p:blipFill>
        <p:spPr>
          <a:xfrm>
            <a:off x="815546" y="1399032"/>
            <a:ext cx="6598508"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موجودی کل</a:t>
            </a:r>
            <a:endParaRPr lang="en-US" sz="1400" dirty="0"/>
          </a:p>
        </p:txBody>
      </p:sp>
      <p:sp>
        <p:nvSpPr>
          <p:cNvPr id="10" name="Text 7"/>
          <p:cNvSpPr txBox="1"/>
          <p:nvPr/>
        </p:nvSpPr>
        <p:spPr>
          <a:xfrm>
            <a:off x="8046720" y="170078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جمع و تفکیک موجودی دفتری حساب‌های بانکی.</a:t>
            </a:r>
            <a:endParaRPr lang="en-US" sz="1300" dirty="0"/>
          </a:p>
        </p:txBody>
      </p:sp>
      <p:sp>
        <p:nvSpPr>
          <p:cNvPr id="11" name="Shape 8"/>
          <p:cNvSpPr/>
          <p:nvPr/>
        </p:nvSpPr>
        <p:spPr>
          <a:xfrm>
            <a:off x="11393424" y="2286914"/>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28691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28691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تعهدات ۷ روز</a:t>
            </a:r>
            <a:endParaRPr lang="en-US" sz="1400" dirty="0"/>
          </a:p>
        </p:txBody>
      </p:sp>
      <p:sp>
        <p:nvSpPr>
          <p:cNvPr id="14" name="Text 11"/>
          <p:cNvSpPr txBox="1"/>
          <p:nvPr/>
        </p:nvSpPr>
        <p:spPr>
          <a:xfrm>
            <a:off x="8046720" y="2616098"/>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درخواست‌های آمادهٔ اجرا و نسبت پوشش آن با موجودی.</a:t>
            </a:r>
            <a:endParaRPr lang="en-US" sz="1300" dirty="0"/>
          </a:p>
        </p:txBody>
      </p:sp>
      <p:sp>
        <p:nvSpPr>
          <p:cNvPr id="15" name="Shape 12"/>
          <p:cNvSpPr/>
          <p:nvPr/>
        </p:nvSpPr>
        <p:spPr>
          <a:xfrm>
            <a:off x="11393424" y="3202229"/>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202229"/>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202229"/>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در انتظار تأیید و امروز</a:t>
            </a:r>
            <a:endParaRPr lang="en-US" sz="1400" dirty="0"/>
          </a:p>
        </p:txBody>
      </p:sp>
      <p:sp>
        <p:nvSpPr>
          <p:cNvPr id="18" name="Text 15"/>
          <p:cNvSpPr txBox="1"/>
          <p:nvPr/>
        </p:nvSpPr>
        <p:spPr>
          <a:xfrm>
            <a:off x="8046720" y="3531413"/>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تعداد و مبلغ موارد منتظر تأیید؛ دریافت و پرداخت امروز.</a:t>
            </a:r>
            <a:endParaRPr lang="en-US" sz="1300" dirty="0"/>
          </a:p>
        </p:txBody>
      </p:sp>
      <p:sp>
        <p:nvSpPr>
          <p:cNvPr id="19" name="Shape 16"/>
          <p:cNvSpPr/>
          <p:nvPr/>
        </p:nvSpPr>
        <p:spPr>
          <a:xfrm>
            <a:off x="11393424" y="4117543"/>
            <a:ext cx="347472" cy="347472"/>
          </a:xfrm>
          <a:prstGeom prst="ellipse">
            <a:avLst/>
          </a:prstGeom>
          <a:solidFill>
            <a:srgbClr val="C9A227"/>
          </a:solidFill>
          <a:ln w="12700">
            <a:solidFill>
              <a:srgbClr val="C9A227"/>
            </a:solidFill>
            <a:prstDash val="solid"/>
          </a:ln>
        </p:spPr>
      </p:sp>
      <p:sp>
        <p:nvSpPr>
          <p:cNvPr id="20" name="Text 17"/>
          <p:cNvSpPr txBox="1"/>
          <p:nvPr/>
        </p:nvSpPr>
        <p:spPr>
          <a:xfrm>
            <a:off x="11393424" y="4117543"/>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1" name="Text 18"/>
          <p:cNvSpPr txBox="1"/>
          <p:nvPr/>
        </p:nvSpPr>
        <p:spPr>
          <a:xfrm>
            <a:off x="8046720" y="4117543"/>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اقلام باز و هشدارها</a:t>
            </a:r>
            <a:endParaRPr lang="en-US" sz="1400" dirty="0"/>
          </a:p>
        </p:txBody>
      </p:sp>
      <p:sp>
        <p:nvSpPr>
          <p:cNvPr id="22" name="Text 19"/>
          <p:cNvSpPr txBox="1"/>
          <p:nvPr/>
        </p:nvSpPr>
        <p:spPr>
          <a:xfrm>
            <a:off x="8046720" y="4446727"/>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سررسیدهای نزدیک و ردیف‌های مغایرت؛ اقدام سریع برای درخواست، دریافت یا انتقال.</a:t>
            </a:r>
            <a:endParaRPr lang="en-US" sz="1300" dirty="0"/>
          </a:p>
        </p:txBody>
      </p:sp>
      <p:sp>
        <p:nvSpPr>
          <p:cNvPr id="23" name="Text 20"/>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خزانه</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640080" y="457200"/>
            <a:ext cx="3840480" cy="5943600"/>
          </a:xfrm>
          <a:prstGeom prst="roundRect">
            <a:avLst>
              <a:gd name="adj" fmla="val 190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3" name="Image 0" descr="menu_fs">    </p:cNvPr>
          <p:cNvPicPr>
            <a:picLocks noChangeAspect="1"/>
          </p:cNvPicPr>
          <p:nvPr/>
        </p:nvPicPr>
        <p:blipFill>
          <a:blip r:embed="rId1"/>
          <a:stretch>
            <a:fillRect/>
          </a:stretch>
        </p:blipFill>
        <p:spPr>
          <a:xfrm>
            <a:off x="1564293" y="512064"/>
            <a:ext cx="1992054" cy="5833872"/>
          </a:xfrm>
          <a:prstGeom prst="rect">
            <a:avLst/>
          </a:prstGeom>
        </p:spPr>
      </p:pic>
      <p:sp>
        <p:nvSpPr>
          <p:cNvPr id="4" name="Shape 1"/>
          <p:cNvSpPr/>
          <p:nvPr/>
        </p:nvSpPr>
        <p:spPr>
          <a:xfrm>
            <a:off x="10515600" y="1188720"/>
            <a:ext cx="1234440" cy="1234440"/>
          </a:xfrm>
          <a:prstGeom prst="ellipse">
            <a:avLst/>
          </a:prstGeom>
          <a:solidFill>
            <a:srgbClr val="C9A227"/>
          </a:solidFill>
          <a:ln w="12700">
            <a:solidFill>
              <a:srgbClr val="C9A227"/>
            </a:solidFill>
            <a:prstDash val="solid"/>
          </a:ln>
        </p:spPr>
      </p:sp>
      <p:sp>
        <p:nvSpPr>
          <p:cNvPr id="5" name="Text 2"/>
          <p:cNvSpPr txBox="1"/>
          <p:nvPr/>
        </p:nvSpPr>
        <p:spPr>
          <a:xfrm>
            <a:off x="10515600" y="1188720"/>
            <a:ext cx="1234440" cy="1234440"/>
          </a:xfrm>
          <a:prstGeom prst="rect">
            <a:avLst/>
          </a:prstGeom>
          <a:noFill/>
          <a:ln/>
        </p:spPr>
        <p:txBody>
          <a:bodyPr wrap="square" lIns="0" tIns="0" rIns="0" bIns="0" rtlCol="0" anchor="ctr"/>
          <a:lstStyle/>
          <a:p>
            <a:pPr rtl="1" algn="ctr" indent="0" marL="0">
              <a:buNone/>
            </a:pPr>
            <a:r>
              <a:rPr lang="en-US" sz="4000" b="1" dirty="0">
                <a:solidFill>
                  <a:srgbClr val="1B2A49"/>
                </a:solidFill>
                <a:latin typeface="Tahoma" pitchFamily="34" charset="0"/>
                <a:ea typeface="Tahoma" pitchFamily="34" charset="-122"/>
                <a:cs typeface="Tahoma" pitchFamily="34" charset="-120"/>
              </a:rPr>
              <a:t>۳</a:t>
            </a:r>
            <a:endParaRPr lang="en-US" sz="4000" dirty="0"/>
          </a:p>
        </p:txBody>
      </p:sp>
      <p:sp>
        <p:nvSpPr>
          <p:cNvPr id="6" name="Text 3"/>
          <p:cNvSpPr txBox="1"/>
          <p:nvPr/>
        </p:nvSpPr>
        <p:spPr>
          <a:xfrm>
            <a:off x="5120640" y="2651760"/>
            <a:ext cx="6629400" cy="457200"/>
          </a:xfrm>
          <a:prstGeom prst="rect">
            <a:avLst/>
          </a:prstGeom>
          <a:noFill/>
          <a:ln/>
        </p:spPr>
        <p:txBody>
          <a:bodyPr wrap="square" lIns="0" tIns="0" rIns="0" bIns="0" rtlCol="0" anchor="ctr"/>
          <a:lstStyle/>
          <a:p>
            <a:pPr rtl="1" algn="r" indent="0" marL="0">
              <a:buNone/>
            </a:pPr>
            <a:r>
              <a:rPr lang="en-US" sz="1800" b="1" dirty="0">
                <a:solidFill>
                  <a:srgbClr val="C9A227"/>
                </a:solidFill>
                <a:latin typeface="Tahoma" pitchFamily="34" charset="0"/>
                <a:ea typeface="Tahoma" pitchFamily="34" charset="-122"/>
                <a:cs typeface="Tahoma" pitchFamily="34" charset="-120"/>
              </a:rPr>
              <a:t>بخش ۳</a:t>
            </a:r>
            <a:endParaRPr lang="en-US" sz="1800" dirty="0"/>
          </a:p>
        </p:txBody>
      </p:sp>
      <p:sp>
        <p:nvSpPr>
          <p:cNvPr id="7" name="Text 4"/>
          <p:cNvSpPr txBox="1"/>
          <p:nvPr/>
        </p:nvSpPr>
        <p:spPr>
          <a:xfrm>
            <a:off x="5120640" y="3108960"/>
            <a:ext cx="6629400" cy="1005840"/>
          </a:xfrm>
          <a:prstGeom prst="rect">
            <a:avLst/>
          </a:prstGeom>
          <a:noFill/>
          <a:ln/>
        </p:spPr>
        <p:txBody>
          <a:bodyPr wrap="square" lIns="0" tIns="0" rIns="0" bIns="0" rtlCol="0" anchor="ctr"/>
          <a:lstStyle/>
          <a:p>
            <a:pPr rtl="1" algn="r" indent="0" marL="0">
              <a:buNone/>
            </a:pPr>
            <a:r>
              <a:rPr lang="en-US" sz="3800" b="1" dirty="0">
                <a:solidFill>
                  <a:srgbClr val="FFFFFF"/>
                </a:solidFill>
                <a:latin typeface="Tahoma" pitchFamily="34" charset="0"/>
                <a:ea typeface="Tahoma" pitchFamily="34" charset="-122"/>
                <a:cs typeface="Tahoma" pitchFamily="34" charset="-120"/>
              </a:rPr>
              <a:t>صورت‌های مالی</a:t>
            </a:r>
            <a:endParaRPr lang="en-US" sz="3800" dirty="0"/>
          </a:p>
        </p:txBody>
      </p:sp>
      <p:sp>
        <p:nvSpPr>
          <p:cNvPr id="8" name="Text 5"/>
          <p:cNvSpPr txBox="1"/>
          <p:nvPr/>
        </p:nvSpPr>
        <p:spPr>
          <a:xfrm>
            <a:off x="5120640" y="4206240"/>
            <a:ext cx="6629400" cy="1097280"/>
          </a:xfrm>
          <a:prstGeom prst="rect">
            <a:avLst/>
          </a:prstGeom>
          <a:noFill/>
          <a:ln/>
        </p:spPr>
        <p:txBody>
          <a:bodyPr wrap="square" lIns="0" tIns="0" rIns="0" bIns="0" rtlCol="0" anchor="t"/>
          <a:lstStyle/>
          <a:p>
            <a:pPr rtl="1" algn="r" indent="0" marL="0">
              <a:buNone/>
            </a:pPr>
            <a:r>
              <a:rPr lang="en-US" sz="1700" dirty="0">
                <a:solidFill>
                  <a:srgbClr val="C9D3E6"/>
                </a:solidFill>
                <a:latin typeface="Tahoma" pitchFamily="34" charset="0"/>
                <a:ea typeface="Tahoma" pitchFamily="34" charset="-122"/>
                <a:cs typeface="Tahoma" pitchFamily="34" charset="-120"/>
              </a:rPr>
              <a:t>قالب و نگاشت، تهیه و Drill-down، کنترل و یادداشت‌ها، تأیید مرحله‌ای، بستن دوره، تحلیل و تلفیق</a:t>
            </a:r>
            <a:endParaRPr lang="en-US" sz="1700" dirty="0"/>
          </a:p>
        </p:txBody>
      </p:sp>
      <p:sp>
        <p:nvSpPr>
          <p:cNvPr id="9" name="Text 6"/>
          <p:cNvSpPr txBox="1"/>
          <p:nvPr/>
        </p:nvSpPr>
        <p:spPr>
          <a:xfrm>
            <a:off x="640080" y="6446520"/>
            <a:ext cx="3840480" cy="274320"/>
          </a:xfrm>
          <a:prstGeom prst="rect">
            <a:avLst/>
          </a:prstGeom>
          <a:noFill/>
          <a:ln/>
        </p:spPr>
        <p:txBody>
          <a:bodyPr wrap="square" lIns="0" tIns="0" rIns="0" bIns="0" rtlCol="0" anchor="ctr"/>
          <a:lstStyle/>
          <a:p>
            <a:pPr rtl="1" algn="ctr" indent="0" marL="0">
              <a:buNone/>
            </a:pPr>
            <a:r>
              <a:rPr lang="en-US" sz="1000" dirty="0">
                <a:solidFill>
                  <a:srgbClr val="A9B4C8"/>
                </a:solidFill>
                <a:latin typeface="Tahoma" pitchFamily="34" charset="0"/>
                <a:ea typeface="Tahoma" pitchFamily="34" charset="-122"/>
                <a:cs typeface="Tahoma" pitchFamily="34" charset="-120"/>
              </a:rPr>
              <a:t>تصویر: گروه منوی این بخش در نوار کناری</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چرخهٔ تهیهٔ صورت‌های مالی</a:t>
            </a:r>
            <a:endParaRPr lang="en-US" sz="2600" dirty="0"/>
          </a:p>
        </p:txBody>
      </p:sp>
      <p:sp>
        <p:nvSpPr>
          <p:cNvPr id="3" name="Shape 1"/>
          <p:cNvSpPr/>
          <p:nvPr/>
        </p:nvSpPr>
        <p:spPr>
          <a:xfrm>
            <a:off x="10187940" y="2103120"/>
            <a:ext cx="1589532" cy="2011680"/>
          </a:xfrm>
          <a:prstGeom prst="roundRect">
            <a:avLst>
              <a:gd name="adj" fmla="val 6903"/>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10708386" y="1828800"/>
            <a:ext cx="548640" cy="548640"/>
          </a:xfrm>
          <a:prstGeom prst="ellipse">
            <a:avLst/>
          </a:prstGeom>
          <a:solidFill>
            <a:srgbClr val="C9A227"/>
          </a:solidFill>
          <a:ln w="12700">
            <a:solidFill>
              <a:srgbClr val="C9A227"/>
            </a:solidFill>
            <a:prstDash val="solid"/>
          </a:ln>
        </p:spPr>
      </p:sp>
      <p:sp>
        <p:nvSpPr>
          <p:cNvPr id="5" name="Text 3"/>
          <p:cNvSpPr txBox="1"/>
          <p:nvPr/>
        </p:nvSpPr>
        <p:spPr>
          <a:xfrm>
            <a:off x="10708386"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۱</a:t>
            </a:r>
            <a:endParaRPr lang="en-US" sz="1800" dirty="0"/>
          </a:p>
        </p:txBody>
      </p:sp>
      <p:sp>
        <p:nvSpPr>
          <p:cNvPr id="6" name="Text 4"/>
          <p:cNvSpPr txBox="1"/>
          <p:nvPr/>
        </p:nvSpPr>
        <p:spPr>
          <a:xfrm>
            <a:off x="10297668" y="2560320"/>
            <a:ext cx="1370076" cy="685800"/>
          </a:xfrm>
          <a:prstGeom prst="rect">
            <a:avLst/>
          </a:prstGeom>
          <a:noFill/>
          <a:ln/>
        </p:spPr>
        <p:txBody>
          <a:bodyPr wrap="square" lIns="0" tIns="0" rIns="0" bIns="0" rtlCol="0" anchor="ctr"/>
          <a:lstStyle/>
          <a:p>
            <a:pPr rtl="1" algn="ctr" indent="0" marL="0">
              <a:buNone/>
            </a:pPr>
            <a:r>
              <a:rPr lang="en-US" sz="1600" b="1" dirty="0">
                <a:solidFill>
                  <a:srgbClr val="1B2A49"/>
                </a:solidFill>
                <a:latin typeface="Tahoma" pitchFamily="34" charset="0"/>
                <a:ea typeface="Tahoma" pitchFamily="34" charset="-122"/>
                <a:cs typeface="Tahoma" pitchFamily="34" charset="-120"/>
              </a:rPr>
              <a:t>قالب و نگاشت</a:t>
            </a:r>
            <a:endParaRPr lang="en-US" sz="1600" dirty="0"/>
          </a:p>
        </p:txBody>
      </p:sp>
      <p:sp>
        <p:nvSpPr>
          <p:cNvPr id="7" name="Text 5"/>
          <p:cNvSpPr txBox="1"/>
          <p:nvPr/>
        </p:nvSpPr>
        <p:spPr>
          <a:xfrm>
            <a:off x="10297668" y="3246120"/>
            <a:ext cx="1370076" cy="685800"/>
          </a:xfrm>
          <a:prstGeom prst="rect">
            <a:avLst/>
          </a:prstGeom>
          <a:noFill/>
          <a:ln/>
        </p:spPr>
        <p:txBody>
          <a:bodyPr wrap="square" lIns="0" tIns="0" rIns="0" bIns="0" rtlCol="0" anchor="t"/>
          <a:lstStyle/>
          <a:p>
            <a:pPr rtl="1" algn="ctr" indent="0" marL="0">
              <a:buNone/>
            </a:pPr>
            <a:r>
              <a:rPr lang="en-US" sz="1250" dirty="0">
                <a:solidFill>
                  <a:srgbClr val="5B6678"/>
                </a:solidFill>
                <a:latin typeface="Tahoma" pitchFamily="34" charset="0"/>
                <a:ea typeface="Tahoma" pitchFamily="34" charset="-122"/>
                <a:cs typeface="Tahoma" pitchFamily="34" charset="-120"/>
              </a:rPr>
              <a:t>نسخهٔ فعال؛ هیچ معینی جا نماند</a:t>
            </a:r>
            <a:endParaRPr lang="en-US" sz="1250" dirty="0"/>
          </a:p>
        </p:txBody>
      </p:sp>
      <p:sp>
        <p:nvSpPr>
          <p:cNvPr id="8" name="Text 6"/>
          <p:cNvSpPr txBox="1"/>
          <p:nvPr/>
        </p:nvSpPr>
        <p:spPr>
          <a:xfrm>
            <a:off x="9822180" y="2880360"/>
            <a:ext cx="365760" cy="457200"/>
          </a:xfrm>
          <a:prstGeom prst="rect">
            <a:avLst/>
          </a:prstGeom>
          <a:noFill/>
          <a:ln/>
        </p:spPr>
        <p:txBody>
          <a:bodyPr wrap="square" lIns="0" tIns="0" rIns="0" bIns="0" rtlCol="0" anchor="ctr"/>
          <a:lstStyle/>
          <a:p>
            <a:pPr rtl="1" algn="ctr" indent="0" marL="0">
              <a:buNone/>
            </a:pPr>
            <a:r>
              <a:rPr lang="en-US" sz="1600" dirty="0">
                <a:solidFill>
                  <a:srgbClr val="C9A227"/>
                </a:solidFill>
                <a:latin typeface="Tahoma" pitchFamily="34" charset="0"/>
                <a:ea typeface="Tahoma" pitchFamily="34" charset="-122"/>
                <a:cs typeface="Tahoma" pitchFamily="34" charset="-120"/>
              </a:rPr>
              <a:t>◀</a:t>
            </a:r>
            <a:endParaRPr lang="en-US" sz="1600" dirty="0"/>
          </a:p>
        </p:txBody>
      </p:sp>
      <p:sp>
        <p:nvSpPr>
          <p:cNvPr id="9" name="Shape 7"/>
          <p:cNvSpPr/>
          <p:nvPr/>
        </p:nvSpPr>
        <p:spPr>
          <a:xfrm>
            <a:off x="8232648" y="2103120"/>
            <a:ext cx="1589532" cy="2011680"/>
          </a:xfrm>
          <a:prstGeom prst="roundRect">
            <a:avLst>
              <a:gd name="adj" fmla="val 6903"/>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10" name="Shape 8"/>
          <p:cNvSpPr/>
          <p:nvPr/>
        </p:nvSpPr>
        <p:spPr>
          <a:xfrm>
            <a:off x="8753094" y="1828800"/>
            <a:ext cx="548640" cy="548640"/>
          </a:xfrm>
          <a:prstGeom prst="ellipse">
            <a:avLst/>
          </a:prstGeom>
          <a:solidFill>
            <a:srgbClr val="C9A227"/>
          </a:solidFill>
          <a:ln w="12700">
            <a:solidFill>
              <a:srgbClr val="C9A227"/>
            </a:solidFill>
            <a:prstDash val="solid"/>
          </a:ln>
        </p:spPr>
      </p:sp>
      <p:sp>
        <p:nvSpPr>
          <p:cNvPr id="11" name="Text 9"/>
          <p:cNvSpPr txBox="1"/>
          <p:nvPr/>
        </p:nvSpPr>
        <p:spPr>
          <a:xfrm>
            <a:off x="8753094"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۲</a:t>
            </a:r>
            <a:endParaRPr lang="en-US" sz="1800" dirty="0"/>
          </a:p>
        </p:txBody>
      </p:sp>
      <p:sp>
        <p:nvSpPr>
          <p:cNvPr id="12" name="Text 10"/>
          <p:cNvSpPr txBox="1"/>
          <p:nvPr/>
        </p:nvSpPr>
        <p:spPr>
          <a:xfrm>
            <a:off x="8342376" y="2560320"/>
            <a:ext cx="1370076" cy="685800"/>
          </a:xfrm>
          <a:prstGeom prst="rect">
            <a:avLst/>
          </a:prstGeom>
          <a:noFill/>
          <a:ln/>
        </p:spPr>
        <p:txBody>
          <a:bodyPr wrap="square" lIns="0" tIns="0" rIns="0" bIns="0" rtlCol="0" anchor="ctr"/>
          <a:lstStyle/>
          <a:p>
            <a:pPr rtl="1" algn="ctr" indent="0" marL="0">
              <a:buNone/>
            </a:pPr>
            <a:r>
              <a:rPr lang="en-US" sz="1600" b="1" dirty="0">
                <a:solidFill>
                  <a:srgbClr val="1B2A49"/>
                </a:solidFill>
                <a:latin typeface="Tahoma" pitchFamily="34" charset="0"/>
                <a:ea typeface="Tahoma" pitchFamily="34" charset="-122"/>
                <a:cs typeface="Tahoma" pitchFamily="34" charset="-120"/>
              </a:rPr>
              <a:t>تهیهٔ صورت‌ها</a:t>
            </a:r>
            <a:endParaRPr lang="en-US" sz="1600" dirty="0"/>
          </a:p>
        </p:txBody>
      </p:sp>
      <p:sp>
        <p:nvSpPr>
          <p:cNvPr id="13" name="Text 11"/>
          <p:cNvSpPr txBox="1"/>
          <p:nvPr/>
        </p:nvSpPr>
        <p:spPr>
          <a:xfrm>
            <a:off x="8342376" y="3246120"/>
            <a:ext cx="1370076" cy="685800"/>
          </a:xfrm>
          <a:prstGeom prst="rect">
            <a:avLst/>
          </a:prstGeom>
          <a:noFill/>
          <a:ln/>
        </p:spPr>
        <p:txBody>
          <a:bodyPr wrap="square" lIns="0" tIns="0" rIns="0" bIns="0" rtlCol="0" anchor="t"/>
          <a:lstStyle/>
          <a:p>
            <a:pPr rtl="1" algn="ctr" indent="0" marL="0">
              <a:buNone/>
            </a:pPr>
            <a:r>
              <a:rPr lang="en-US" sz="1250" dirty="0">
                <a:solidFill>
                  <a:srgbClr val="5B6678"/>
                </a:solidFill>
                <a:latin typeface="Tahoma" pitchFamily="34" charset="0"/>
                <a:ea typeface="Tahoma" pitchFamily="34" charset="-122"/>
                <a:cs typeface="Tahoma" pitchFamily="34" charset="-120"/>
              </a:rPr>
              <a:t>ویزارد سه‌مرحله‌ای</a:t>
            </a:r>
            <a:endParaRPr lang="en-US" sz="1250" dirty="0"/>
          </a:p>
        </p:txBody>
      </p:sp>
      <p:sp>
        <p:nvSpPr>
          <p:cNvPr id="14" name="Text 12"/>
          <p:cNvSpPr txBox="1"/>
          <p:nvPr/>
        </p:nvSpPr>
        <p:spPr>
          <a:xfrm>
            <a:off x="7866888" y="2880360"/>
            <a:ext cx="365760" cy="457200"/>
          </a:xfrm>
          <a:prstGeom prst="rect">
            <a:avLst/>
          </a:prstGeom>
          <a:noFill/>
          <a:ln/>
        </p:spPr>
        <p:txBody>
          <a:bodyPr wrap="square" lIns="0" tIns="0" rIns="0" bIns="0" rtlCol="0" anchor="ctr"/>
          <a:lstStyle/>
          <a:p>
            <a:pPr rtl="1" algn="ctr" indent="0" marL="0">
              <a:buNone/>
            </a:pPr>
            <a:r>
              <a:rPr lang="en-US" sz="1600" dirty="0">
                <a:solidFill>
                  <a:srgbClr val="C9A227"/>
                </a:solidFill>
                <a:latin typeface="Tahoma" pitchFamily="34" charset="0"/>
                <a:ea typeface="Tahoma" pitchFamily="34" charset="-122"/>
                <a:cs typeface="Tahoma" pitchFamily="34" charset="-120"/>
              </a:rPr>
              <a:t>◀</a:t>
            </a:r>
            <a:endParaRPr lang="en-US" sz="1600" dirty="0"/>
          </a:p>
        </p:txBody>
      </p:sp>
      <p:sp>
        <p:nvSpPr>
          <p:cNvPr id="15" name="Shape 13"/>
          <p:cNvSpPr/>
          <p:nvPr/>
        </p:nvSpPr>
        <p:spPr>
          <a:xfrm>
            <a:off x="6277356" y="2103120"/>
            <a:ext cx="1589532" cy="2011680"/>
          </a:xfrm>
          <a:prstGeom prst="roundRect">
            <a:avLst>
              <a:gd name="adj" fmla="val 6903"/>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16" name="Shape 14"/>
          <p:cNvSpPr/>
          <p:nvPr/>
        </p:nvSpPr>
        <p:spPr>
          <a:xfrm>
            <a:off x="6797802" y="1828800"/>
            <a:ext cx="548640" cy="548640"/>
          </a:xfrm>
          <a:prstGeom prst="ellipse">
            <a:avLst/>
          </a:prstGeom>
          <a:solidFill>
            <a:srgbClr val="C9A227"/>
          </a:solidFill>
          <a:ln w="12700">
            <a:solidFill>
              <a:srgbClr val="C9A227"/>
            </a:solidFill>
            <a:prstDash val="solid"/>
          </a:ln>
        </p:spPr>
      </p:sp>
      <p:sp>
        <p:nvSpPr>
          <p:cNvPr id="17" name="Text 15"/>
          <p:cNvSpPr txBox="1"/>
          <p:nvPr/>
        </p:nvSpPr>
        <p:spPr>
          <a:xfrm>
            <a:off x="6797802"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۳</a:t>
            </a:r>
            <a:endParaRPr lang="en-US" sz="1800" dirty="0"/>
          </a:p>
        </p:txBody>
      </p:sp>
      <p:sp>
        <p:nvSpPr>
          <p:cNvPr id="18" name="Text 16"/>
          <p:cNvSpPr txBox="1"/>
          <p:nvPr/>
        </p:nvSpPr>
        <p:spPr>
          <a:xfrm>
            <a:off x="6387084" y="2560320"/>
            <a:ext cx="1370076" cy="685800"/>
          </a:xfrm>
          <a:prstGeom prst="rect">
            <a:avLst/>
          </a:prstGeom>
          <a:noFill/>
          <a:ln/>
        </p:spPr>
        <p:txBody>
          <a:bodyPr wrap="square" lIns="0" tIns="0" rIns="0" bIns="0" rtlCol="0" anchor="ctr"/>
          <a:lstStyle/>
          <a:p>
            <a:pPr rtl="1" algn="ctr" indent="0" marL="0">
              <a:buNone/>
            </a:pPr>
            <a:r>
              <a:rPr lang="en-US" sz="1600" b="1" dirty="0">
                <a:solidFill>
                  <a:srgbClr val="1B2A49"/>
                </a:solidFill>
                <a:latin typeface="Tahoma" pitchFamily="34" charset="0"/>
                <a:ea typeface="Tahoma" pitchFamily="34" charset="-122"/>
                <a:cs typeface="Tahoma" pitchFamily="34" charset="-120"/>
              </a:rPr>
              <a:t>بررسی و Drill-down</a:t>
            </a:r>
            <a:endParaRPr lang="en-US" sz="1600" dirty="0"/>
          </a:p>
        </p:txBody>
      </p:sp>
      <p:sp>
        <p:nvSpPr>
          <p:cNvPr id="19" name="Text 17"/>
          <p:cNvSpPr txBox="1"/>
          <p:nvPr/>
        </p:nvSpPr>
        <p:spPr>
          <a:xfrm>
            <a:off x="6387084" y="3246120"/>
            <a:ext cx="1370076" cy="685800"/>
          </a:xfrm>
          <a:prstGeom prst="rect">
            <a:avLst/>
          </a:prstGeom>
          <a:noFill/>
          <a:ln/>
        </p:spPr>
        <p:txBody>
          <a:bodyPr wrap="square" lIns="0" tIns="0" rIns="0" bIns="0" rtlCol="0" anchor="t"/>
          <a:lstStyle/>
          <a:p>
            <a:pPr rtl="1" algn="ctr" indent="0" marL="0">
              <a:buNone/>
            </a:pPr>
            <a:r>
              <a:rPr lang="en-US" sz="1250" dirty="0">
                <a:solidFill>
                  <a:srgbClr val="5B6678"/>
                </a:solidFill>
                <a:latin typeface="Tahoma" pitchFamily="34" charset="0"/>
                <a:ea typeface="Tahoma" pitchFamily="34" charset="-122"/>
                <a:cs typeface="Tahoma" pitchFamily="34" charset="-120"/>
              </a:rPr>
              <a:t>تا سند حسابداری</a:t>
            </a:r>
            <a:endParaRPr lang="en-US" sz="1250" dirty="0"/>
          </a:p>
        </p:txBody>
      </p:sp>
      <p:sp>
        <p:nvSpPr>
          <p:cNvPr id="20" name="Text 18"/>
          <p:cNvSpPr txBox="1"/>
          <p:nvPr/>
        </p:nvSpPr>
        <p:spPr>
          <a:xfrm>
            <a:off x="5911596" y="2880360"/>
            <a:ext cx="365760" cy="457200"/>
          </a:xfrm>
          <a:prstGeom prst="rect">
            <a:avLst/>
          </a:prstGeom>
          <a:noFill/>
          <a:ln/>
        </p:spPr>
        <p:txBody>
          <a:bodyPr wrap="square" lIns="0" tIns="0" rIns="0" bIns="0" rtlCol="0" anchor="ctr"/>
          <a:lstStyle/>
          <a:p>
            <a:pPr rtl="1" algn="ctr" indent="0" marL="0">
              <a:buNone/>
            </a:pPr>
            <a:r>
              <a:rPr lang="en-US" sz="1600" dirty="0">
                <a:solidFill>
                  <a:srgbClr val="C9A227"/>
                </a:solidFill>
                <a:latin typeface="Tahoma" pitchFamily="34" charset="0"/>
                <a:ea typeface="Tahoma" pitchFamily="34" charset="-122"/>
                <a:cs typeface="Tahoma" pitchFamily="34" charset="-120"/>
              </a:rPr>
              <a:t>◀</a:t>
            </a:r>
            <a:endParaRPr lang="en-US" sz="1600" dirty="0"/>
          </a:p>
        </p:txBody>
      </p:sp>
      <p:sp>
        <p:nvSpPr>
          <p:cNvPr id="21" name="Shape 19"/>
          <p:cNvSpPr/>
          <p:nvPr/>
        </p:nvSpPr>
        <p:spPr>
          <a:xfrm>
            <a:off x="4322064" y="2103120"/>
            <a:ext cx="1589532" cy="2011680"/>
          </a:xfrm>
          <a:prstGeom prst="roundRect">
            <a:avLst>
              <a:gd name="adj" fmla="val 6903"/>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22" name="Shape 20"/>
          <p:cNvSpPr/>
          <p:nvPr/>
        </p:nvSpPr>
        <p:spPr>
          <a:xfrm>
            <a:off x="4842510" y="1828800"/>
            <a:ext cx="548640" cy="548640"/>
          </a:xfrm>
          <a:prstGeom prst="ellipse">
            <a:avLst/>
          </a:prstGeom>
          <a:solidFill>
            <a:srgbClr val="C9A227"/>
          </a:solidFill>
          <a:ln w="12700">
            <a:solidFill>
              <a:srgbClr val="C9A227"/>
            </a:solidFill>
            <a:prstDash val="solid"/>
          </a:ln>
        </p:spPr>
      </p:sp>
      <p:sp>
        <p:nvSpPr>
          <p:cNvPr id="23" name="Text 21"/>
          <p:cNvSpPr txBox="1"/>
          <p:nvPr/>
        </p:nvSpPr>
        <p:spPr>
          <a:xfrm>
            <a:off x="4842510"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۴</a:t>
            </a:r>
            <a:endParaRPr lang="en-US" sz="1800" dirty="0"/>
          </a:p>
        </p:txBody>
      </p:sp>
      <p:sp>
        <p:nvSpPr>
          <p:cNvPr id="24" name="Text 22"/>
          <p:cNvSpPr txBox="1"/>
          <p:nvPr/>
        </p:nvSpPr>
        <p:spPr>
          <a:xfrm>
            <a:off x="4431792" y="2560320"/>
            <a:ext cx="1370076" cy="685800"/>
          </a:xfrm>
          <a:prstGeom prst="rect">
            <a:avLst/>
          </a:prstGeom>
          <a:noFill/>
          <a:ln/>
        </p:spPr>
        <p:txBody>
          <a:bodyPr wrap="square" lIns="0" tIns="0" rIns="0" bIns="0" rtlCol="0" anchor="ctr"/>
          <a:lstStyle/>
          <a:p>
            <a:pPr rtl="1" algn="ctr" indent="0" marL="0">
              <a:buNone/>
            </a:pPr>
            <a:r>
              <a:rPr lang="en-US" sz="1600" b="1" dirty="0">
                <a:solidFill>
                  <a:srgbClr val="1B2A49"/>
                </a:solidFill>
                <a:latin typeface="Tahoma" pitchFamily="34" charset="0"/>
                <a:ea typeface="Tahoma" pitchFamily="34" charset="-122"/>
                <a:cs typeface="Tahoma" pitchFamily="34" charset="-120"/>
              </a:rPr>
              <a:t>کنترل و یادداشت‌ها</a:t>
            </a:r>
            <a:endParaRPr lang="en-US" sz="1600" dirty="0"/>
          </a:p>
        </p:txBody>
      </p:sp>
      <p:sp>
        <p:nvSpPr>
          <p:cNvPr id="25" name="Text 23"/>
          <p:cNvSpPr txBox="1"/>
          <p:nvPr/>
        </p:nvSpPr>
        <p:spPr>
          <a:xfrm>
            <a:off x="4431792" y="3246120"/>
            <a:ext cx="1370076" cy="685800"/>
          </a:xfrm>
          <a:prstGeom prst="rect">
            <a:avLst/>
          </a:prstGeom>
          <a:noFill/>
          <a:ln/>
        </p:spPr>
        <p:txBody>
          <a:bodyPr wrap="square" lIns="0" tIns="0" rIns="0" bIns="0" rtlCol="0" anchor="t"/>
          <a:lstStyle/>
          <a:p>
            <a:pPr rtl="1" algn="ctr" indent="0" marL="0">
              <a:buNone/>
            </a:pPr>
            <a:r>
              <a:rPr lang="en-US" sz="1250" dirty="0">
                <a:solidFill>
                  <a:srgbClr val="5B6678"/>
                </a:solidFill>
                <a:latin typeface="Tahoma" pitchFamily="34" charset="0"/>
                <a:ea typeface="Tahoma" pitchFamily="34" charset="-122"/>
                <a:cs typeface="Tahoma" pitchFamily="34" charset="-120"/>
              </a:rPr>
              <a:t>ارجاع کنترل، متن یادداشت</a:t>
            </a:r>
            <a:endParaRPr lang="en-US" sz="1250" dirty="0"/>
          </a:p>
        </p:txBody>
      </p:sp>
      <p:sp>
        <p:nvSpPr>
          <p:cNvPr id="26" name="Text 24"/>
          <p:cNvSpPr txBox="1"/>
          <p:nvPr/>
        </p:nvSpPr>
        <p:spPr>
          <a:xfrm>
            <a:off x="3956304" y="2880360"/>
            <a:ext cx="365760" cy="457200"/>
          </a:xfrm>
          <a:prstGeom prst="rect">
            <a:avLst/>
          </a:prstGeom>
          <a:noFill/>
          <a:ln/>
        </p:spPr>
        <p:txBody>
          <a:bodyPr wrap="square" lIns="0" tIns="0" rIns="0" bIns="0" rtlCol="0" anchor="ctr"/>
          <a:lstStyle/>
          <a:p>
            <a:pPr rtl="1" algn="ctr" indent="0" marL="0">
              <a:buNone/>
            </a:pPr>
            <a:r>
              <a:rPr lang="en-US" sz="1600" dirty="0">
                <a:solidFill>
                  <a:srgbClr val="C9A227"/>
                </a:solidFill>
                <a:latin typeface="Tahoma" pitchFamily="34" charset="0"/>
                <a:ea typeface="Tahoma" pitchFamily="34" charset="-122"/>
                <a:cs typeface="Tahoma" pitchFamily="34" charset="-120"/>
              </a:rPr>
              <a:t>◀</a:t>
            </a:r>
            <a:endParaRPr lang="en-US" sz="1600" dirty="0"/>
          </a:p>
        </p:txBody>
      </p:sp>
      <p:sp>
        <p:nvSpPr>
          <p:cNvPr id="27" name="Shape 25"/>
          <p:cNvSpPr/>
          <p:nvPr/>
        </p:nvSpPr>
        <p:spPr>
          <a:xfrm>
            <a:off x="2366772" y="2103120"/>
            <a:ext cx="1589532" cy="2011680"/>
          </a:xfrm>
          <a:prstGeom prst="roundRect">
            <a:avLst>
              <a:gd name="adj" fmla="val 6903"/>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28" name="Shape 26"/>
          <p:cNvSpPr/>
          <p:nvPr/>
        </p:nvSpPr>
        <p:spPr>
          <a:xfrm>
            <a:off x="2887218" y="1828800"/>
            <a:ext cx="548640" cy="548640"/>
          </a:xfrm>
          <a:prstGeom prst="ellipse">
            <a:avLst/>
          </a:prstGeom>
          <a:solidFill>
            <a:srgbClr val="C9A227"/>
          </a:solidFill>
          <a:ln w="12700">
            <a:solidFill>
              <a:srgbClr val="C9A227"/>
            </a:solidFill>
            <a:prstDash val="solid"/>
          </a:ln>
        </p:spPr>
      </p:sp>
      <p:sp>
        <p:nvSpPr>
          <p:cNvPr id="29" name="Text 27"/>
          <p:cNvSpPr txBox="1"/>
          <p:nvPr/>
        </p:nvSpPr>
        <p:spPr>
          <a:xfrm>
            <a:off x="2887218"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۵</a:t>
            </a:r>
            <a:endParaRPr lang="en-US" sz="1800" dirty="0"/>
          </a:p>
        </p:txBody>
      </p:sp>
      <p:sp>
        <p:nvSpPr>
          <p:cNvPr id="30" name="Text 28"/>
          <p:cNvSpPr txBox="1"/>
          <p:nvPr/>
        </p:nvSpPr>
        <p:spPr>
          <a:xfrm>
            <a:off x="2476500" y="2560320"/>
            <a:ext cx="1370076" cy="685800"/>
          </a:xfrm>
          <a:prstGeom prst="rect">
            <a:avLst/>
          </a:prstGeom>
          <a:noFill/>
          <a:ln/>
        </p:spPr>
        <p:txBody>
          <a:bodyPr wrap="square" lIns="0" tIns="0" rIns="0" bIns="0" rtlCol="0" anchor="ctr"/>
          <a:lstStyle/>
          <a:p>
            <a:pPr rtl="1" algn="ctr" indent="0" marL="0">
              <a:buNone/>
            </a:pPr>
            <a:r>
              <a:rPr lang="en-US" sz="1600" b="1" dirty="0">
                <a:solidFill>
                  <a:srgbClr val="1B2A49"/>
                </a:solidFill>
                <a:latin typeface="Tahoma" pitchFamily="34" charset="0"/>
                <a:ea typeface="Tahoma" pitchFamily="34" charset="-122"/>
                <a:cs typeface="Tahoma" pitchFamily="34" charset="-120"/>
              </a:rPr>
              <a:t>تأیید مرحله‌ای</a:t>
            </a:r>
            <a:endParaRPr lang="en-US" sz="1600" dirty="0"/>
          </a:p>
        </p:txBody>
      </p:sp>
      <p:sp>
        <p:nvSpPr>
          <p:cNvPr id="31" name="Text 29"/>
          <p:cNvSpPr txBox="1"/>
          <p:nvPr/>
        </p:nvSpPr>
        <p:spPr>
          <a:xfrm>
            <a:off x="2476500" y="3246120"/>
            <a:ext cx="1370076" cy="685800"/>
          </a:xfrm>
          <a:prstGeom prst="rect">
            <a:avLst/>
          </a:prstGeom>
          <a:noFill/>
          <a:ln/>
        </p:spPr>
        <p:txBody>
          <a:bodyPr wrap="square" lIns="0" tIns="0" rIns="0" bIns="0" rtlCol="0" anchor="t"/>
          <a:lstStyle/>
          <a:p>
            <a:pPr rtl="1" algn="ctr" indent="0" marL="0">
              <a:buNone/>
            </a:pPr>
            <a:r>
              <a:rPr lang="en-US" sz="1250" dirty="0">
                <a:solidFill>
                  <a:srgbClr val="5B6678"/>
                </a:solidFill>
                <a:latin typeface="Tahoma" pitchFamily="34" charset="0"/>
                <a:ea typeface="Tahoma" pitchFamily="34" charset="-122"/>
                <a:cs typeface="Tahoma" pitchFamily="34" charset="-120"/>
              </a:rPr>
              <a:t>بازبین ← مدیرکل ← معاون</a:t>
            </a:r>
            <a:endParaRPr lang="en-US" sz="1250" dirty="0"/>
          </a:p>
        </p:txBody>
      </p:sp>
      <p:sp>
        <p:nvSpPr>
          <p:cNvPr id="32" name="Text 30"/>
          <p:cNvSpPr txBox="1"/>
          <p:nvPr/>
        </p:nvSpPr>
        <p:spPr>
          <a:xfrm>
            <a:off x="2001012" y="2880360"/>
            <a:ext cx="365760" cy="457200"/>
          </a:xfrm>
          <a:prstGeom prst="rect">
            <a:avLst/>
          </a:prstGeom>
          <a:noFill/>
          <a:ln/>
        </p:spPr>
        <p:txBody>
          <a:bodyPr wrap="square" lIns="0" tIns="0" rIns="0" bIns="0" rtlCol="0" anchor="ctr"/>
          <a:lstStyle/>
          <a:p>
            <a:pPr rtl="1" algn="ctr" indent="0" marL="0">
              <a:buNone/>
            </a:pPr>
            <a:r>
              <a:rPr lang="en-US" sz="1600" dirty="0">
                <a:solidFill>
                  <a:srgbClr val="C9A227"/>
                </a:solidFill>
                <a:latin typeface="Tahoma" pitchFamily="34" charset="0"/>
                <a:ea typeface="Tahoma" pitchFamily="34" charset="-122"/>
                <a:cs typeface="Tahoma" pitchFamily="34" charset="-120"/>
              </a:rPr>
              <a:t>◀</a:t>
            </a:r>
            <a:endParaRPr lang="en-US" sz="1600" dirty="0"/>
          </a:p>
        </p:txBody>
      </p:sp>
      <p:sp>
        <p:nvSpPr>
          <p:cNvPr id="33" name="Shape 31"/>
          <p:cNvSpPr/>
          <p:nvPr/>
        </p:nvSpPr>
        <p:spPr>
          <a:xfrm>
            <a:off x="411480" y="2103120"/>
            <a:ext cx="1589532" cy="2011680"/>
          </a:xfrm>
          <a:prstGeom prst="roundRect">
            <a:avLst>
              <a:gd name="adj" fmla="val 6903"/>
            </a:avLst>
          </a:prstGeom>
          <a:solidFill>
            <a:srgbClr val="1B2A49"/>
          </a:solidFill>
          <a:ln w="9525">
            <a:solidFill>
              <a:srgbClr val="1B2A49"/>
            </a:solidFill>
            <a:prstDash val="solid"/>
          </a:ln>
          <a:effectLst>
            <a:outerShdw sx="100000" sy="100000" kx="0" ky="0" algn="bl" rotWithShape="0" blurRad="101600" dist="25400" dir="5400000">
              <a:srgbClr val="000000">
                <a:alpha val="12000"/>
              </a:srgbClr>
            </a:outerShdw>
          </a:effectLst>
        </p:spPr>
      </p:sp>
      <p:sp>
        <p:nvSpPr>
          <p:cNvPr id="34" name="Shape 32"/>
          <p:cNvSpPr/>
          <p:nvPr/>
        </p:nvSpPr>
        <p:spPr>
          <a:xfrm>
            <a:off x="931926" y="1828800"/>
            <a:ext cx="548640" cy="548640"/>
          </a:xfrm>
          <a:prstGeom prst="ellipse">
            <a:avLst/>
          </a:prstGeom>
          <a:solidFill>
            <a:srgbClr val="C9A227"/>
          </a:solidFill>
          <a:ln w="12700">
            <a:solidFill>
              <a:srgbClr val="C9A227"/>
            </a:solidFill>
            <a:prstDash val="solid"/>
          </a:ln>
        </p:spPr>
      </p:sp>
      <p:sp>
        <p:nvSpPr>
          <p:cNvPr id="35" name="Text 33"/>
          <p:cNvSpPr txBox="1"/>
          <p:nvPr/>
        </p:nvSpPr>
        <p:spPr>
          <a:xfrm>
            <a:off x="931926"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۶</a:t>
            </a:r>
            <a:endParaRPr lang="en-US" sz="1800" dirty="0"/>
          </a:p>
        </p:txBody>
      </p:sp>
      <p:sp>
        <p:nvSpPr>
          <p:cNvPr id="36" name="Text 34"/>
          <p:cNvSpPr txBox="1"/>
          <p:nvPr/>
        </p:nvSpPr>
        <p:spPr>
          <a:xfrm>
            <a:off x="521208" y="2560320"/>
            <a:ext cx="1370076" cy="685800"/>
          </a:xfrm>
          <a:prstGeom prst="rect">
            <a:avLst/>
          </a:prstGeom>
          <a:noFill/>
          <a:ln/>
        </p:spPr>
        <p:txBody>
          <a:bodyPr wrap="square" lIns="0" tIns="0" rIns="0" bIns="0" rtlCol="0" anchor="ctr"/>
          <a:lstStyle/>
          <a:p>
            <a:pPr rtl="1" algn="ctr" indent="0" marL="0">
              <a:buNone/>
            </a:pPr>
            <a:r>
              <a:rPr lang="en-US" sz="1600" b="1" dirty="0">
                <a:solidFill>
                  <a:srgbClr val="FFFFFF"/>
                </a:solidFill>
                <a:latin typeface="Tahoma" pitchFamily="34" charset="0"/>
                <a:ea typeface="Tahoma" pitchFamily="34" charset="-122"/>
                <a:cs typeface="Tahoma" pitchFamily="34" charset="-120"/>
              </a:rPr>
              <a:t>بستن دوره و انتشار</a:t>
            </a:r>
            <a:endParaRPr lang="en-US" sz="1600" dirty="0"/>
          </a:p>
        </p:txBody>
      </p:sp>
      <p:sp>
        <p:nvSpPr>
          <p:cNvPr id="37" name="Text 35"/>
          <p:cNvSpPr txBox="1"/>
          <p:nvPr/>
        </p:nvSpPr>
        <p:spPr>
          <a:xfrm>
            <a:off x="521208" y="3246120"/>
            <a:ext cx="1370076" cy="685800"/>
          </a:xfrm>
          <a:prstGeom prst="rect">
            <a:avLst/>
          </a:prstGeom>
          <a:noFill/>
          <a:ln/>
        </p:spPr>
        <p:txBody>
          <a:bodyPr wrap="square" lIns="0" tIns="0" rIns="0" bIns="0" rtlCol="0" anchor="t"/>
          <a:lstStyle/>
          <a:p>
            <a:pPr rtl="1" algn="ctr" indent="0" marL="0">
              <a:buNone/>
            </a:pPr>
            <a:r>
              <a:rPr lang="en-US" sz="1250" dirty="0">
                <a:solidFill>
                  <a:srgbClr val="C9D3E6"/>
                </a:solidFill>
                <a:latin typeface="Tahoma" pitchFamily="34" charset="0"/>
                <a:ea typeface="Tahoma" pitchFamily="34" charset="-122"/>
                <a:cs typeface="Tahoma" pitchFamily="34" charset="-120"/>
              </a:rPr>
              <a:t>قفل دوره، PDF و XBRL</a:t>
            </a:r>
            <a:endParaRPr lang="en-US" sz="1250" dirty="0"/>
          </a:p>
        </p:txBody>
      </p:sp>
      <p:sp>
        <p:nvSpPr>
          <p:cNvPr id="38" name="Shape 36"/>
          <p:cNvSpPr/>
          <p:nvPr/>
        </p:nvSpPr>
        <p:spPr>
          <a:xfrm>
            <a:off x="411480" y="4754880"/>
            <a:ext cx="11365992" cy="1143000"/>
          </a:xfrm>
          <a:prstGeom prst="roundRect">
            <a:avLst>
              <a:gd name="adj" fmla="val 8000"/>
            </a:avLst>
          </a:prstGeom>
          <a:solidFill>
            <a:srgbClr val="F6EDCF"/>
          </a:solidFill>
          <a:ln w="12700">
            <a:solidFill>
              <a:srgbClr val="F6EDCF"/>
            </a:solidFill>
            <a:prstDash val="solid"/>
          </a:ln>
        </p:spPr>
      </p:sp>
      <p:sp>
        <p:nvSpPr>
          <p:cNvPr id="39" name="Text 37"/>
          <p:cNvSpPr txBox="1"/>
          <p:nvPr/>
        </p:nvSpPr>
        <p:spPr>
          <a:xfrm>
            <a:off x="685800" y="4754880"/>
            <a:ext cx="10817352" cy="1143000"/>
          </a:xfrm>
          <a:prstGeom prst="rect">
            <a:avLst/>
          </a:prstGeom>
          <a:noFill/>
          <a:ln/>
        </p:spPr>
        <p:txBody>
          <a:bodyPr wrap="square" lIns="0" tIns="0" rIns="0" bIns="0" rtlCol="0" anchor="ctr"/>
          <a:lstStyle/>
          <a:p>
            <a:pPr rtl="1" algn="r" indent="0" marL="0">
              <a:buNone/>
            </a:pPr>
            <a:r>
              <a:rPr lang="en-US" sz="1500" dirty="0">
                <a:solidFill>
                  <a:srgbClr val="4A3B0B"/>
                </a:solidFill>
                <a:latin typeface="Tahoma" pitchFamily="34" charset="0"/>
                <a:ea typeface="Tahoma" pitchFamily="34" charset="-122"/>
                <a:cs typeface="Tahoma" pitchFamily="34" charset="-120"/>
              </a:rPr>
              <a:t>هر اجرا یک «عکس ثابت» از اعداد است؛ تغییر بعدی قالب یا اسناد، اجرای قبلی را عوض نمی‌کند — برای عدد تازه، اجرای جدید بگیرید.</a:t>
            </a:r>
            <a:endParaRPr lang="en-US" sz="1500" dirty="0"/>
          </a:p>
        </p:txBody>
      </p:sp>
      <p:sp>
        <p:nvSpPr>
          <p:cNvPr id="40" name="Text 38"/>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نقطهٔ شروع — داشبورد صورت‌ها و «کارهای من»</a:t>
            </a:r>
            <a:endParaRPr lang="en-US" sz="2600" dirty="0"/>
          </a:p>
        </p:txBody>
      </p:sp>
      <p:sp>
        <p:nvSpPr>
          <p:cNvPr id="3" name="Shape 1"/>
          <p:cNvSpPr/>
          <p:nvPr/>
        </p:nvSpPr>
        <p:spPr>
          <a:xfrm>
            <a:off x="8819388" y="896112"/>
            <a:ext cx="2958084"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صورت‌های مالی ← داشبورد صورت‌ها</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fsn01">    </p:cNvPr>
          <p:cNvPicPr>
            <a:picLocks noChangeAspect="1"/>
          </p:cNvPicPr>
          <p:nvPr/>
        </p:nvPicPr>
        <p:blipFill>
          <a:blip r:embed="rId1"/>
          <a:stretch>
            <a:fillRect/>
          </a:stretch>
        </p:blipFill>
        <p:spPr>
          <a:xfrm>
            <a:off x="491876" y="1399032"/>
            <a:ext cx="7245847"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شاخص‌ها</a:t>
            </a:r>
            <a:endParaRPr lang="en-US" sz="1400" dirty="0"/>
          </a:p>
        </p:txBody>
      </p:sp>
      <p:sp>
        <p:nvSpPr>
          <p:cNvPr id="10" name="Text 7"/>
          <p:cNvSpPr txBox="1"/>
          <p:nvPr/>
        </p:nvSpPr>
        <p:spPr>
          <a:xfrm>
            <a:off x="8046720" y="170078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چهار نسبت اول از آخرین اجرای سال، در کنار مقدار سال قبل.</a:t>
            </a:r>
            <a:endParaRPr lang="en-US" sz="1300" dirty="0"/>
          </a:p>
        </p:txBody>
      </p:sp>
      <p:sp>
        <p:nvSpPr>
          <p:cNvPr id="11" name="Shape 8"/>
          <p:cNvSpPr/>
          <p:nvPr/>
        </p:nvSpPr>
        <p:spPr>
          <a:xfrm>
            <a:off x="11393424" y="2286914"/>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28691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28691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وضعیت بستن سال</a:t>
            </a:r>
            <a:endParaRPr lang="en-US" sz="1400" dirty="0"/>
          </a:p>
        </p:txBody>
      </p:sp>
      <p:sp>
        <p:nvSpPr>
          <p:cNvPr id="14" name="Text 11"/>
          <p:cNvSpPr txBox="1"/>
          <p:nvPr/>
        </p:nvSpPr>
        <p:spPr>
          <a:xfrm>
            <a:off x="8046720" y="2616098"/>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کاشی هر زیرواحد با وضعیت دوره (باز، بستهٔ موقت، قفل)، تعداد خطا و درصد پیشرفت.</a:t>
            </a:r>
            <a:endParaRPr lang="en-US" sz="1300" dirty="0"/>
          </a:p>
        </p:txBody>
      </p:sp>
      <p:sp>
        <p:nvSpPr>
          <p:cNvPr id="15" name="Shape 12"/>
          <p:cNvSpPr/>
          <p:nvPr/>
        </p:nvSpPr>
        <p:spPr>
          <a:xfrm>
            <a:off x="11393424" y="3422142"/>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42214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42214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کارهای من</a:t>
            </a:r>
            <a:endParaRPr lang="en-US" sz="1400" dirty="0"/>
          </a:p>
        </p:txBody>
      </p:sp>
      <p:sp>
        <p:nvSpPr>
          <p:cNvPr id="18" name="Text 15"/>
          <p:cNvSpPr txBox="1"/>
          <p:nvPr/>
        </p:nvSpPr>
        <p:spPr>
          <a:xfrm>
            <a:off x="8046720" y="3751326"/>
            <a:ext cx="3227832" cy="916229"/>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تأییدهای منتظر شما، کنترل‌های ارجاع‌شده، یادداشت‌های در بازبینی و درخواست‌های بازگشایی؛ با کلیک به همان صفحه می‌روید.</a:t>
            </a:r>
            <a:endParaRPr lang="en-US" sz="1300" dirty="0"/>
          </a:p>
        </p:txBody>
      </p:sp>
      <p:sp>
        <p:nvSpPr>
          <p:cNvPr id="19" name="Shape 16"/>
          <p:cNvSpPr/>
          <p:nvPr/>
        </p:nvSpPr>
        <p:spPr>
          <a:xfrm>
            <a:off x="11393424" y="4777283"/>
            <a:ext cx="347472" cy="347472"/>
          </a:xfrm>
          <a:prstGeom prst="ellipse">
            <a:avLst/>
          </a:prstGeom>
          <a:solidFill>
            <a:srgbClr val="C9A227"/>
          </a:solidFill>
          <a:ln w="12700">
            <a:solidFill>
              <a:srgbClr val="C9A227"/>
            </a:solidFill>
            <a:prstDash val="solid"/>
          </a:ln>
        </p:spPr>
      </p:sp>
      <p:sp>
        <p:nvSpPr>
          <p:cNvPr id="20" name="Text 17"/>
          <p:cNvSpPr txBox="1"/>
          <p:nvPr/>
        </p:nvSpPr>
        <p:spPr>
          <a:xfrm>
            <a:off x="11393424" y="4777283"/>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1" name="Text 18"/>
          <p:cNvSpPr txBox="1"/>
          <p:nvPr/>
        </p:nvSpPr>
        <p:spPr>
          <a:xfrm>
            <a:off x="8046720" y="4777283"/>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میانبرها</a:t>
            </a:r>
            <a:endParaRPr lang="en-US" sz="1400" dirty="0"/>
          </a:p>
        </p:txBody>
      </p:sp>
      <p:sp>
        <p:nvSpPr>
          <p:cNvPr id="22" name="Text 19"/>
          <p:cNvSpPr txBox="1"/>
          <p:nvPr/>
        </p:nvSpPr>
        <p:spPr>
          <a:xfrm>
            <a:off x="8046720" y="5106467"/>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«تهیهٔ صورت‌ها»، «مشاهدهٔ صورت‌ها»، «تحلیل» و «یادداشت‌ها» در بالای صفحه.</a:t>
            </a:r>
            <a:endParaRPr lang="en-US" sz="1300" dirty="0"/>
          </a:p>
        </p:txBody>
      </p:sp>
      <p:sp>
        <p:nvSpPr>
          <p:cNvPr id="23" name="Text 20"/>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پیش‌نیاز — دسترسی صورت‌های مالی</a:t>
            </a:r>
            <a:endParaRPr lang="en-US" sz="2600" dirty="0"/>
          </a:p>
        </p:txBody>
      </p:sp>
      <p:sp>
        <p:nvSpPr>
          <p:cNvPr id="3" name="Shape 1"/>
          <p:cNvSpPr/>
          <p:nvPr/>
        </p:nvSpPr>
        <p:spPr>
          <a:xfrm>
            <a:off x="8430768" y="896112"/>
            <a:ext cx="3346704"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صورت‌های مالی ← دسترسی صورت‌های مالی</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fsn08">    </p:cNvPr>
          <p:cNvPicPr>
            <a:picLocks noChangeAspect="1"/>
          </p:cNvPicPr>
          <p:nvPr/>
        </p:nvPicPr>
        <p:blipFill>
          <a:blip r:embed="rId1"/>
          <a:stretch>
            <a:fillRect/>
          </a:stretch>
        </p:blipFill>
        <p:spPr>
          <a:xfrm>
            <a:off x="491876" y="1399032"/>
            <a:ext cx="7245847"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سه بُعد</a:t>
            </a:r>
            <a:endParaRPr lang="en-US" sz="1400" dirty="0"/>
          </a:p>
        </p:txBody>
      </p:sp>
      <p:sp>
        <p:nvSpPr>
          <p:cNvPr id="10" name="Text 7"/>
          <p:cNvSpPr txBox="1"/>
          <p:nvPr/>
        </p:nvSpPr>
        <p:spPr>
          <a:xfrm>
            <a:off x="8046720" y="1700784"/>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هر دسترسی می‌گوید چه کسی، روی کدام واحد (و زیرمجموعه‌ها)، در کدام مجموعهٔ صورت، چه کاری انجام دهد.</a:t>
            </a:r>
            <a:endParaRPr lang="en-US" sz="1300" dirty="0"/>
          </a:p>
        </p:txBody>
      </p:sp>
      <p:sp>
        <p:nvSpPr>
          <p:cNvPr id="11" name="Shape 8"/>
          <p:cNvSpPr/>
          <p:nvPr/>
        </p:nvSpPr>
        <p:spPr>
          <a:xfrm>
            <a:off x="11393424" y="2506828"/>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50682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50682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عملیات</a:t>
            </a:r>
            <a:endParaRPr lang="en-US" sz="1400" dirty="0"/>
          </a:p>
        </p:txBody>
      </p:sp>
      <p:sp>
        <p:nvSpPr>
          <p:cNvPr id="14" name="Text 11"/>
          <p:cNvSpPr txBox="1"/>
          <p:nvPr/>
        </p:nvSpPr>
        <p:spPr>
          <a:xfrm>
            <a:off x="8046720" y="2836012"/>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مشاهده، تهیه، تغییر قالب، فعال‌سازی، تأیید/برگشت، انتشار، بستن دوره و مدیریت دسترسی.</a:t>
            </a:r>
            <a:endParaRPr lang="en-US" sz="1300" dirty="0"/>
          </a:p>
        </p:txBody>
      </p:sp>
      <p:sp>
        <p:nvSpPr>
          <p:cNvPr id="15" name="Shape 12"/>
          <p:cNvSpPr/>
          <p:nvPr/>
        </p:nvSpPr>
        <p:spPr>
          <a:xfrm>
            <a:off x="11393424" y="3642055"/>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642055"/>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642055"/>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تفکیک وظایف</a:t>
            </a:r>
            <a:endParaRPr lang="en-US" sz="1400" dirty="0"/>
          </a:p>
        </p:txBody>
      </p:sp>
      <p:sp>
        <p:nvSpPr>
          <p:cNvPr id="18" name="Text 15"/>
          <p:cNvSpPr txBox="1"/>
          <p:nvPr/>
        </p:nvSpPr>
        <p:spPr>
          <a:xfrm>
            <a:off x="8046720" y="3971239"/>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تهیه‌کننده و تأییدکننده، و ویرایشگر قالب و فعال‌کننده را به افراد جدا بدهید.</a:t>
            </a:r>
            <a:endParaRPr lang="en-US" sz="1300" dirty="0"/>
          </a:p>
        </p:txBody>
      </p:sp>
      <p:sp>
        <p:nvSpPr>
          <p:cNvPr id="19" name="Shape 16"/>
          <p:cNvSpPr/>
          <p:nvPr/>
        </p:nvSpPr>
        <p:spPr>
          <a:xfrm>
            <a:off x="11393424" y="4777283"/>
            <a:ext cx="347472" cy="347472"/>
          </a:xfrm>
          <a:prstGeom prst="ellipse">
            <a:avLst/>
          </a:prstGeom>
          <a:solidFill>
            <a:srgbClr val="C9A227"/>
          </a:solidFill>
          <a:ln w="12700">
            <a:solidFill>
              <a:srgbClr val="C9A227"/>
            </a:solidFill>
            <a:prstDash val="solid"/>
          </a:ln>
        </p:spPr>
      </p:sp>
      <p:sp>
        <p:nvSpPr>
          <p:cNvPr id="20" name="Text 17"/>
          <p:cNvSpPr txBox="1"/>
          <p:nvPr/>
        </p:nvSpPr>
        <p:spPr>
          <a:xfrm>
            <a:off x="11393424" y="4777283"/>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1" name="Text 18"/>
          <p:cNvSpPr txBox="1"/>
          <p:nvPr/>
        </p:nvSpPr>
        <p:spPr>
          <a:xfrm>
            <a:off x="8046720" y="4777283"/>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دسترسی جدید</a:t>
            </a:r>
            <a:endParaRPr lang="en-US" sz="1400" dirty="0"/>
          </a:p>
        </p:txBody>
      </p:sp>
      <p:sp>
        <p:nvSpPr>
          <p:cNvPr id="22" name="Text 19"/>
          <p:cNvSpPr txBox="1"/>
          <p:nvPr/>
        </p:nvSpPr>
        <p:spPr>
          <a:xfrm>
            <a:off x="8046720" y="5106467"/>
            <a:ext cx="3227832" cy="916229"/>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دکمهٔ «دسترسی جدید»: کد کاربری، واحد، مجموعه و تیک عملیات‌ها؛ فقط دارندهٔ «مدیریت دسترسی» این صفحه را تغییر می‌دهد.</a:t>
            </a:r>
            <a:endParaRPr lang="en-US" sz="1300" dirty="0"/>
          </a:p>
        </p:txBody>
      </p:sp>
      <p:sp>
        <p:nvSpPr>
          <p:cNvPr id="23" name="Text 20"/>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۱ — قالب صورت‌ها</a:t>
            </a:r>
            <a:endParaRPr lang="en-US" sz="2600" dirty="0"/>
          </a:p>
        </p:txBody>
      </p:sp>
      <p:sp>
        <p:nvSpPr>
          <p:cNvPr id="3" name="Shape 1"/>
          <p:cNvSpPr/>
          <p:nvPr/>
        </p:nvSpPr>
        <p:spPr>
          <a:xfrm>
            <a:off x="9052560" y="896112"/>
            <a:ext cx="2724912"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صورت‌های مالی ← قالب صورت‌ها</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fs01">    </p:cNvPr>
          <p:cNvPicPr>
            <a:picLocks noChangeAspect="1"/>
          </p:cNvPicPr>
          <p:nvPr/>
        </p:nvPicPr>
        <p:blipFill>
          <a:blip r:embed="rId1"/>
          <a:stretch>
            <a:fillRect/>
          </a:stretch>
        </p:blipFill>
        <p:spPr>
          <a:xfrm>
            <a:off x="491876" y="1399032"/>
            <a:ext cx="7245847"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مجموعه‌ها</a:t>
            </a:r>
            <a:endParaRPr lang="en-US" sz="1400" dirty="0"/>
          </a:p>
        </p:txBody>
      </p:sp>
      <p:sp>
        <p:nvSpPr>
          <p:cNvPr id="10" name="Text 7"/>
          <p:cNvSpPr txBox="1"/>
          <p:nvPr/>
        </p:nvSpPr>
        <p:spPr>
          <a:xfrm>
            <a:off x="8046720" y="1700784"/>
            <a:ext cx="3227832" cy="670941"/>
          </a:xfrm>
          <a:prstGeom prst="rect">
            <a:avLst/>
          </a:prstGeom>
          <a:noFill/>
          <a:ln/>
        </p:spPr>
        <p:txBody>
          <a:bodyPr wrap="square" lIns="0" tIns="0" rIns="0" bIns="0" rtlCol="0" anchor="t"/>
          <a:lstStyle/>
          <a:p>
            <a:pPr rtl="1" algn="r" indent="0" marL="0">
              <a:lnSpc>
                <a:spcPct val="105000"/>
              </a:lnSpc>
              <a:buNone/>
            </a:pPr>
            <a:r>
              <a:rPr lang="en-US" sz="1250" dirty="0">
                <a:solidFill>
                  <a:srgbClr val="1F2937"/>
                </a:solidFill>
                <a:latin typeface="Tahoma" pitchFamily="34" charset="0"/>
                <a:ea typeface="Tahoma" pitchFamily="34" charset="-122"/>
                <a:cs typeface="Tahoma" pitchFamily="34" charset="-120"/>
              </a:rPr>
              <a:t>زبانه‌ها: طرح بیمه‌ای (استاندارد ۲۷)، واحد تجاری (استاندارد ۱)، بخش عمومی، مدیریتی.</a:t>
            </a:r>
            <a:endParaRPr lang="en-US" sz="1250" dirty="0"/>
          </a:p>
        </p:txBody>
      </p:sp>
      <p:sp>
        <p:nvSpPr>
          <p:cNvPr id="11" name="Shape 8"/>
          <p:cNvSpPr/>
          <p:nvPr/>
        </p:nvSpPr>
        <p:spPr>
          <a:xfrm>
            <a:off x="11393424" y="2481453"/>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481453"/>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481453"/>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قالب‌های پیش‌فرض</a:t>
            </a:r>
            <a:endParaRPr lang="en-US" sz="1400" dirty="0"/>
          </a:p>
        </p:txBody>
      </p:sp>
      <p:sp>
        <p:nvSpPr>
          <p:cNvPr id="14" name="Text 11"/>
          <p:cNvSpPr txBox="1"/>
          <p:nvPr/>
        </p:nvSpPr>
        <p:spPr>
          <a:xfrm>
            <a:off x="8046720" y="2810637"/>
            <a:ext cx="3227832" cy="459486"/>
          </a:xfrm>
          <a:prstGeom prst="rect">
            <a:avLst/>
          </a:prstGeom>
          <a:noFill/>
          <a:ln/>
        </p:spPr>
        <p:txBody>
          <a:bodyPr wrap="square" lIns="0" tIns="0" rIns="0" bIns="0" rtlCol="0" anchor="t"/>
          <a:lstStyle/>
          <a:p>
            <a:pPr rtl="1" algn="r" indent="0" marL="0">
              <a:lnSpc>
                <a:spcPct val="105000"/>
              </a:lnSpc>
              <a:buNone/>
            </a:pPr>
            <a:r>
              <a:rPr lang="en-US" sz="1250" dirty="0">
                <a:solidFill>
                  <a:srgbClr val="1F2937"/>
                </a:solidFill>
                <a:latin typeface="Tahoma" pitchFamily="34" charset="0"/>
                <a:ea typeface="Tahoma" pitchFamily="34" charset="-122"/>
                <a:cs typeface="Tahoma" pitchFamily="34" charset="-120"/>
              </a:rPr>
              <a:t>دکمهٔ «قالب‌های پیش‌فرض» صورت‌ها و یادداشت‌های نمونه را می‌سازد (فقط ستاد).</a:t>
            </a:r>
            <a:endParaRPr lang="en-US" sz="1250" dirty="0"/>
          </a:p>
        </p:txBody>
      </p:sp>
      <p:sp>
        <p:nvSpPr>
          <p:cNvPr id="15" name="Shape 12"/>
          <p:cNvSpPr/>
          <p:nvPr/>
        </p:nvSpPr>
        <p:spPr>
          <a:xfrm>
            <a:off x="11393424" y="3379851"/>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379851"/>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379851"/>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نسخه‌ها</a:t>
            </a:r>
            <a:endParaRPr lang="en-US" sz="1400" dirty="0"/>
          </a:p>
        </p:txBody>
      </p:sp>
      <p:sp>
        <p:nvSpPr>
          <p:cNvPr id="18" name="Text 15"/>
          <p:cNvSpPr txBox="1"/>
          <p:nvPr/>
        </p:nvSpPr>
        <p:spPr>
          <a:xfrm>
            <a:off x="8046720" y="3709035"/>
            <a:ext cx="3227832" cy="459486"/>
          </a:xfrm>
          <a:prstGeom prst="rect">
            <a:avLst/>
          </a:prstGeom>
          <a:noFill/>
          <a:ln/>
        </p:spPr>
        <p:txBody>
          <a:bodyPr wrap="square" lIns="0" tIns="0" rIns="0" bIns="0" rtlCol="0" anchor="t"/>
          <a:lstStyle/>
          <a:p>
            <a:pPr rtl="1" algn="r" indent="0" marL="0">
              <a:lnSpc>
                <a:spcPct val="105000"/>
              </a:lnSpc>
              <a:buNone/>
            </a:pPr>
            <a:r>
              <a:rPr lang="en-US" sz="1250" dirty="0">
                <a:solidFill>
                  <a:srgbClr val="1F2937"/>
                </a:solidFill>
                <a:latin typeface="Tahoma" pitchFamily="34" charset="0"/>
                <a:ea typeface="Tahoma" pitchFamily="34" charset="-122"/>
                <a:cs typeface="Tahoma" pitchFamily="34" charset="-120"/>
              </a:rPr>
              <a:t>هر قالب نسخه‌های فعال، پیش‌نویس و بازنشسته دارد؛ فقط پیش‌نویس ویرایش می‌شود.</a:t>
            </a:r>
            <a:endParaRPr lang="en-US" sz="1250" dirty="0"/>
          </a:p>
        </p:txBody>
      </p:sp>
      <p:sp>
        <p:nvSpPr>
          <p:cNvPr id="19" name="Shape 16"/>
          <p:cNvSpPr/>
          <p:nvPr/>
        </p:nvSpPr>
        <p:spPr>
          <a:xfrm>
            <a:off x="11393424" y="4278249"/>
            <a:ext cx="347472" cy="347472"/>
          </a:xfrm>
          <a:prstGeom prst="ellipse">
            <a:avLst/>
          </a:prstGeom>
          <a:solidFill>
            <a:srgbClr val="C9A227"/>
          </a:solidFill>
          <a:ln w="12700">
            <a:solidFill>
              <a:srgbClr val="C9A227"/>
            </a:solidFill>
            <a:prstDash val="solid"/>
          </a:ln>
        </p:spPr>
      </p:sp>
      <p:sp>
        <p:nvSpPr>
          <p:cNvPr id="20" name="Text 17"/>
          <p:cNvSpPr txBox="1"/>
          <p:nvPr/>
        </p:nvSpPr>
        <p:spPr>
          <a:xfrm>
            <a:off x="11393424" y="4278249"/>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1" name="Text 18"/>
          <p:cNvSpPr txBox="1"/>
          <p:nvPr/>
        </p:nvSpPr>
        <p:spPr>
          <a:xfrm>
            <a:off x="8046720" y="4278249"/>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مالکیت</a:t>
            </a:r>
            <a:endParaRPr lang="en-US" sz="1400" dirty="0"/>
          </a:p>
        </p:txBody>
      </p:sp>
      <p:sp>
        <p:nvSpPr>
          <p:cNvPr id="22" name="Text 19"/>
          <p:cNvSpPr txBox="1"/>
          <p:nvPr/>
        </p:nvSpPr>
        <p:spPr>
          <a:xfrm>
            <a:off x="8046720" y="4607433"/>
            <a:ext cx="3227832" cy="670941"/>
          </a:xfrm>
          <a:prstGeom prst="rect">
            <a:avLst/>
          </a:prstGeom>
          <a:noFill/>
          <a:ln/>
        </p:spPr>
        <p:txBody>
          <a:bodyPr wrap="square" lIns="0" tIns="0" rIns="0" bIns="0" rtlCol="0" anchor="t"/>
          <a:lstStyle/>
          <a:p>
            <a:pPr rtl="1" algn="r" indent="0" marL="0">
              <a:lnSpc>
                <a:spcPct val="105000"/>
              </a:lnSpc>
              <a:buNone/>
            </a:pPr>
            <a:r>
              <a:rPr lang="en-US" sz="1250" dirty="0">
                <a:solidFill>
                  <a:srgbClr val="1F2937"/>
                </a:solidFill>
                <a:latin typeface="Tahoma" pitchFamily="34" charset="0"/>
                <a:ea typeface="Tahoma" pitchFamily="34" charset="-122"/>
                <a:cs typeface="Tahoma" pitchFamily="34" charset="-120"/>
              </a:rPr>
              <a:t>«مشترک» برای همهٔ واحدها؛ قالب اختصاصی یک واحد، قالب مشترک هم‌کد را برای آن واحد جایگزین می‌کند.</a:t>
            </a:r>
            <a:endParaRPr lang="en-US" sz="1250" dirty="0"/>
          </a:p>
        </p:txBody>
      </p:sp>
      <p:sp>
        <p:nvSpPr>
          <p:cNvPr id="23" name="Shape 20"/>
          <p:cNvSpPr/>
          <p:nvPr/>
        </p:nvSpPr>
        <p:spPr>
          <a:xfrm>
            <a:off x="11393424" y="5388102"/>
            <a:ext cx="347472" cy="347472"/>
          </a:xfrm>
          <a:prstGeom prst="ellipse">
            <a:avLst/>
          </a:prstGeom>
          <a:solidFill>
            <a:srgbClr val="C9A227"/>
          </a:solidFill>
          <a:ln w="12700">
            <a:solidFill>
              <a:srgbClr val="C9A227"/>
            </a:solidFill>
            <a:prstDash val="solid"/>
          </a:ln>
        </p:spPr>
      </p:sp>
      <p:sp>
        <p:nvSpPr>
          <p:cNvPr id="24" name="Text 21"/>
          <p:cNvSpPr txBox="1"/>
          <p:nvPr/>
        </p:nvSpPr>
        <p:spPr>
          <a:xfrm>
            <a:off x="11393424" y="538810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25" name="Text 22"/>
          <p:cNvSpPr txBox="1"/>
          <p:nvPr/>
        </p:nvSpPr>
        <p:spPr>
          <a:xfrm>
            <a:off x="8046720" y="538810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قالب جدید</a:t>
            </a:r>
            <a:endParaRPr lang="en-US" sz="1400" dirty="0"/>
          </a:p>
        </p:txBody>
      </p:sp>
      <p:sp>
        <p:nvSpPr>
          <p:cNvPr id="26" name="Text 23"/>
          <p:cNvSpPr txBox="1"/>
          <p:nvPr/>
        </p:nvSpPr>
        <p:spPr>
          <a:xfrm>
            <a:off x="8046720" y="5717286"/>
            <a:ext cx="3227832" cy="459486"/>
          </a:xfrm>
          <a:prstGeom prst="rect">
            <a:avLst/>
          </a:prstGeom>
          <a:noFill/>
          <a:ln/>
        </p:spPr>
        <p:txBody>
          <a:bodyPr wrap="square" lIns="0" tIns="0" rIns="0" bIns="0" rtlCol="0" anchor="t"/>
          <a:lstStyle/>
          <a:p>
            <a:pPr rtl="1" algn="r" indent="0" marL="0">
              <a:lnSpc>
                <a:spcPct val="105000"/>
              </a:lnSpc>
              <a:buNone/>
            </a:pPr>
            <a:r>
              <a:rPr lang="en-US" sz="1250" dirty="0">
                <a:solidFill>
                  <a:srgbClr val="1F2937"/>
                </a:solidFill>
                <a:latin typeface="Tahoma" pitchFamily="34" charset="0"/>
                <a:ea typeface="Tahoma" pitchFamily="34" charset="-122"/>
                <a:cs typeface="Tahoma" pitchFamily="34" charset="-120"/>
              </a:rPr>
              <a:t>نوع صورت را انتخاب کنید؛ برای «یادداشت» صورت و ردیف والد را هم تعیین کنید.</a:t>
            </a:r>
            <a:endParaRPr lang="en-US" sz="1250" dirty="0"/>
          </a:p>
        </p:txBody>
      </p:sp>
      <p:sp>
        <p:nvSpPr>
          <p:cNvPr id="27" name="Text 24"/>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۲ — ردیف‌های نسخهٔ قالب</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fs02">    </p:cNvPr>
          <p:cNvPicPr>
            <a:picLocks noChangeAspect="1"/>
          </p:cNvPicPr>
          <p:nvPr/>
        </p:nvPicPr>
        <p:blipFill>
          <a:blip r:embed="rId1"/>
          <a:stretch>
            <a:fillRect/>
          </a:stretch>
        </p:blipFill>
        <p:spPr>
          <a:xfrm>
            <a:off x="691978" y="1216152"/>
            <a:ext cx="6845643" cy="5065776"/>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ستون‌ها</a:t>
            </a:r>
            <a:endParaRPr lang="en-US" sz="1400" dirty="0"/>
          </a:p>
        </p:txBody>
      </p:sp>
      <p:sp>
        <p:nvSpPr>
          <p:cNvPr id="8" name="Text 5"/>
          <p:cNvSpPr txBox="1"/>
          <p:nvPr/>
        </p:nvSpPr>
        <p:spPr>
          <a:xfrm>
            <a:off x="8046720" y="151790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کد، عنوان، نوع، حساب/فرمول، ماهیت و مقدار، یادداشت.</a:t>
            </a:r>
            <a:endParaRPr lang="en-US" sz="1300" dirty="0"/>
          </a:p>
        </p:txBody>
      </p:sp>
      <p:sp>
        <p:nvSpPr>
          <p:cNvPr id="9" name="Shape 6"/>
          <p:cNvSpPr/>
          <p:nvPr/>
        </p:nvSpPr>
        <p:spPr>
          <a:xfrm>
            <a:off x="11393424" y="2104034"/>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10403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10403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انواع ردیف</a:t>
            </a:r>
            <a:endParaRPr lang="en-US" sz="1400" dirty="0"/>
          </a:p>
        </p:txBody>
      </p:sp>
      <p:sp>
        <p:nvSpPr>
          <p:cNvPr id="12" name="Text 9"/>
          <p:cNvSpPr txBox="1"/>
          <p:nvPr/>
        </p:nvSpPr>
        <p:spPr>
          <a:xfrm>
            <a:off x="8046720" y="2433218"/>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عنوان، حساب، فرمول، مقدار دستی، متن و خالی.</a:t>
            </a:r>
            <a:endParaRPr lang="en-US" sz="1300" dirty="0"/>
          </a:p>
        </p:txBody>
      </p:sp>
      <p:sp>
        <p:nvSpPr>
          <p:cNvPr id="13" name="Shape 10"/>
          <p:cNvSpPr/>
          <p:nvPr/>
        </p:nvSpPr>
        <p:spPr>
          <a:xfrm>
            <a:off x="11393424" y="3019349"/>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019349"/>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019349"/>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ترتیب</a:t>
            </a:r>
            <a:endParaRPr lang="en-US" sz="1400" dirty="0"/>
          </a:p>
        </p:txBody>
      </p:sp>
      <p:sp>
        <p:nvSpPr>
          <p:cNvPr id="16" name="Text 13"/>
          <p:cNvSpPr txBox="1"/>
          <p:nvPr/>
        </p:nvSpPr>
        <p:spPr>
          <a:xfrm>
            <a:off x="8046720" y="3348533"/>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پیکان‌های بالا/پایین، یا نمای «درخت»: کشیدن و رها کردن.</a:t>
            </a:r>
            <a:endParaRPr lang="en-US" sz="1300" dirty="0"/>
          </a:p>
        </p:txBody>
      </p:sp>
      <p:sp>
        <p:nvSpPr>
          <p:cNvPr id="17" name="Shape 14"/>
          <p:cNvSpPr/>
          <p:nvPr/>
        </p:nvSpPr>
        <p:spPr>
          <a:xfrm>
            <a:off x="11393424" y="3934663"/>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3934663"/>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3934663"/>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بررسی قالب</a:t>
            </a:r>
            <a:endParaRPr lang="en-US" sz="1400" dirty="0"/>
          </a:p>
        </p:txBody>
      </p:sp>
      <p:sp>
        <p:nvSpPr>
          <p:cNvPr id="20" name="Text 17"/>
          <p:cNvSpPr txBox="1"/>
          <p:nvPr/>
        </p:nvSpPr>
        <p:spPr>
          <a:xfrm>
            <a:off x="8046720" y="4263847"/>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خطاها (مانع فعال‌سازی) و هشدارها را نشان می‌دهد.</a:t>
            </a:r>
            <a:endParaRPr lang="en-US" sz="1300" dirty="0"/>
          </a:p>
        </p:txBody>
      </p:sp>
      <p:sp>
        <p:nvSpPr>
          <p:cNvPr id="21" name="Shape 18"/>
          <p:cNvSpPr/>
          <p:nvPr/>
        </p:nvSpPr>
        <p:spPr>
          <a:xfrm>
            <a:off x="11393424" y="4849978"/>
            <a:ext cx="347472" cy="347472"/>
          </a:xfrm>
          <a:prstGeom prst="ellipse">
            <a:avLst/>
          </a:prstGeom>
          <a:solidFill>
            <a:srgbClr val="C9A227"/>
          </a:solidFill>
          <a:ln w="12700">
            <a:solidFill>
              <a:srgbClr val="C9A227"/>
            </a:solidFill>
            <a:prstDash val="solid"/>
          </a:ln>
        </p:spPr>
      </p:sp>
      <p:sp>
        <p:nvSpPr>
          <p:cNvPr id="22" name="Text 19"/>
          <p:cNvSpPr txBox="1"/>
          <p:nvPr/>
        </p:nvSpPr>
        <p:spPr>
          <a:xfrm>
            <a:off x="11393424" y="484997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23" name="Text 20"/>
          <p:cNvSpPr txBox="1"/>
          <p:nvPr/>
        </p:nvSpPr>
        <p:spPr>
          <a:xfrm>
            <a:off x="8046720" y="484997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فعال‌سازی</a:t>
            </a:r>
            <a:endParaRPr lang="en-US" sz="1400" dirty="0"/>
          </a:p>
        </p:txBody>
      </p:sp>
      <p:sp>
        <p:nvSpPr>
          <p:cNvPr id="24" name="Text 21"/>
          <p:cNvSpPr txBox="1"/>
          <p:nvPr/>
        </p:nvSpPr>
        <p:spPr>
          <a:xfrm>
            <a:off x="8046720" y="5179162"/>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سال شروع اعتبار را بدهید؛ نسخهٔ فعال قبلی با همان سال بازنشسته می‌شود.</a:t>
            </a:r>
            <a:endParaRPr lang="en-US" sz="1300" dirty="0"/>
          </a:p>
        </p:txBody>
      </p:sp>
      <p:sp>
        <p:nvSpPr>
          <p:cNvPr id="25" name="Text 22"/>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طراح درختی قالب</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fsn17">    </p:cNvPr>
          <p:cNvPicPr>
            <a:picLocks noChangeAspect="1"/>
          </p:cNvPicPr>
          <p:nvPr/>
        </p:nvPicPr>
        <p:blipFill>
          <a:blip r:embed="rId1"/>
          <a:stretch>
            <a:fillRect/>
          </a:stretch>
        </p:blipFill>
        <p:spPr>
          <a:xfrm>
            <a:off x="691978" y="1216152"/>
            <a:ext cx="6845643" cy="5065776"/>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باز کردن</a:t>
            </a:r>
            <a:endParaRPr lang="en-US" sz="1400" dirty="0"/>
          </a:p>
        </p:txBody>
      </p:sp>
      <p:sp>
        <p:nvSpPr>
          <p:cNvPr id="8" name="Text 5"/>
          <p:cNvSpPr txBox="1"/>
          <p:nvPr/>
        </p:nvSpPr>
        <p:spPr>
          <a:xfrm>
            <a:off x="8046720" y="151790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در صفحهٔ نسخهٔ پیش‌نویس، کلید «درخت» کنار «جدول» را بزنید.</a:t>
            </a:r>
            <a:endParaRPr lang="en-US" sz="1300" dirty="0"/>
          </a:p>
        </p:txBody>
      </p:sp>
      <p:sp>
        <p:nvSpPr>
          <p:cNvPr id="9" name="Shape 6"/>
          <p:cNvSpPr/>
          <p:nvPr/>
        </p:nvSpPr>
        <p:spPr>
          <a:xfrm>
            <a:off x="11393424" y="2104034"/>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10403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10403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جابه‌جایی</a:t>
            </a:r>
            <a:endParaRPr lang="en-US" sz="1400" dirty="0"/>
          </a:p>
        </p:txBody>
      </p:sp>
      <p:sp>
        <p:nvSpPr>
          <p:cNvPr id="12" name="Text 9"/>
          <p:cNvSpPr txBox="1"/>
          <p:nvPr/>
        </p:nvSpPr>
        <p:spPr>
          <a:xfrm>
            <a:off x="8046720" y="2433218"/>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ردیف را با دستگیرهٔ کنارش بکشید و رها کنید؛ نیمهٔ بالا/پایین ⇐ پیش یا پس از ردیف، وسط «عنوان» ⇐ زیرمجموعهٔ آن.</a:t>
            </a:r>
            <a:endParaRPr lang="en-US" sz="1300" dirty="0"/>
          </a:p>
        </p:txBody>
      </p:sp>
      <p:sp>
        <p:nvSpPr>
          <p:cNvPr id="13" name="Shape 10"/>
          <p:cNvSpPr/>
          <p:nvPr/>
        </p:nvSpPr>
        <p:spPr>
          <a:xfrm>
            <a:off x="11393424" y="3239262"/>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23926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23926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زیرمجموعه</a:t>
            </a:r>
            <a:endParaRPr lang="en-US" sz="1400" dirty="0"/>
          </a:p>
        </p:txBody>
      </p:sp>
      <p:sp>
        <p:nvSpPr>
          <p:cNvPr id="16" name="Text 13"/>
          <p:cNvSpPr txBox="1"/>
          <p:nvPr/>
        </p:nvSpPr>
        <p:spPr>
          <a:xfrm>
            <a:off x="8046720" y="3568446"/>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ردیف‌های زیر یک عنوان با هم جابه‌جا می‌شوند و تورفتگی خودکار تنظیم می‌شود.</a:t>
            </a:r>
            <a:endParaRPr lang="en-US" sz="1300" dirty="0"/>
          </a:p>
        </p:txBody>
      </p:sp>
      <p:sp>
        <p:nvSpPr>
          <p:cNvPr id="17" name="Shape 14"/>
          <p:cNvSpPr/>
          <p:nvPr/>
        </p:nvSpPr>
        <p:spPr>
          <a:xfrm>
            <a:off x="11393424" y="4154576"/>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4154576"/>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4154576"/>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جمع‌ها</a:t>
            </a:r>
            <a:endParaRPr lang="en-US" sz="1400" dirty="0"/>
          </a:p>
        </p:txBody>
      </p:sp>
      <p:sp>
        <p:nvSpPr>
          <p:cNvPr id="20" name="Text 17"/>
          <p:cNvSpPr txBox="1"/>
          <p:nvPr/>
        </p:nvSpPr>
        <p:spPr>
          <a:xfrm>
            <a:off x="8046720" y="4483760"/>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فرمول‌های بازه‌ای مثل SUM(A01:A06) بر اساس ترتیب جدید محاسبه می‌شوند؛ بعد از جابه‌جایی «بررسی قالب» را بزنید.</a:t>
            </a:r>
            <a:endParaRPr lang="en-US" sz="1300" dirty="0"/>
          </a:p>
        </p:txBody>
      </p:sp>
      <p:sp>
        <p:nvSpPr>
          <p:cNvPr id="21" name="Text 18"/>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۳ — ویرایش ردیف: انتخاب‌گر حساب و فرمول</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fs03">    </p:cNvPr>
          <p:cNvPicPr>
            <a:picLocks noChangeAspect="1"/>
          </p:cNvPicPr>
          <p:nvPr/>
        </p:nvPicPr>
        <p:blipFill>
          <a:blip r:embed="rId1"/>
          <a:stretch>
            <a:fillRect/>
          </a:stretch>
        </p:blipFill>
        <p:spPr>
          <a:xfrm>
            <a:off x="484632" y="2079163"/>
            <a:ext cx="7260336" cy="3339755"/>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انتخاب‌گر</a:t>
            </a:r>
            <a:endParaRPr lang="en-US" sz="1400" dirty="0"/>
          </a:p>
        </p:txBody>
      </p:sp>
      <p:sp>
        <p:nvSpPr>
          <p:cNvPr id="8" name="Text 5"/>
          <p:cNvSpPr txBox="1"/>
          <p:nvPr/>
        </p:nvSpPr>
        <p:spPr>
          <a:xfrm>
            <a:off x="8046720" y="1517904"/>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1301 معین دقیق · 13* پیشوند · 1301..1309 بازه · !1305 استثنا · [D]/[C] فقط مانده بدهکار/بستانکار.</a:t>
            </a:r>
            <a:endParaRPr lang="en-US" sz="1300" dirty="0"/>
          </a:p>
        </p:txBody>
      </p:sp>
      <p:sp>
        <p:nvSpPr>
          <p:cNvPr id="9" name="Shape 6"/>
          <p:cNvSpPr/>
          <p:nvPr/>
        </p:nvSpPr>
        <p:spPr>
          <a:xfrm>
            <a:off x="11393424" y="2323948"/>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32394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32394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نوع مقدار</a:t>
            </a:r>
            <a:endParaRPr lang="en-US" sz="1400" dirty="0"/>
          </a:p>
        </p:txBody>
      </p:sp>
      <p:sp>
        <p:nvSpPr>
          <p:cNvPr id="12" name="Text 9"/>
          <p:cNvSpPr txBox="1"/>
          <p:nvPr/>
        </p:nvSpPr>
        <p:spPr>
          <a:xfrm>
            <a:off x="8046720" y="2653132"/>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مانده پایان، مانده ابتدا، گردش خالص، گردش بدهکار یا بستانکار.</a:t>
            </a:r>
            <a:endParaRPr lang="en-US" sz="1300" dirty="0"/>
          </a:p>
        </p:txBody>
      </p:sp>
      <p:sp>
        <p:nvSpPr>
          <p:cNvPr id="13" name="Shape 10"/>
          <p:cNvSpPr/>
          <p:nvPr/>
        </p:nvSpPr>
        <p:spPr>
          <a:xfrm>
            <a:off x="11393424" y="3239262"/>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23926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23926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فرمول</a:t>
            </a:r>
            <a:endParaRPr lang="en-US" sz="1400" dirty="0"/>
          </a:p>
        </p:txBody>
      </p:sp>
      <p:sp>
        <p:nvSpPr>
          <p:cNvPr id="16" name="Text 13"/>
          <p:cNvSpPr txBox="1"/>
          <p:nvPr/>
        </p:nvSpPr>
        <p:spPr>
          <a:xfrm>
            <a:off x="8046720" y="3568446"/>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مثل SUM(A01:A08)، A99+L99، ROUND، IF، PRIOR و STMT(صورت دیگر، ردیف).</a:t>
            </a:r>
            <a:endParaRPr lang="en-US" sz="1300" dirty="0"/>
          </a:p>
        </p:txBody>
      </p:sp>
      <p:sp>
        <p:nvSpPr>
          <p:cNvPr id="17" name="Shape 14"/>
          <p:cNvSpPr/>
          <p:nvPr/>
        </p:nvSpPr>
        <p:spPr>
          <a:xfrm>
            <a:off x="11393424" y="4154576"/>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4154576"/>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4154576"/>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قالب‌بندی</a:t>
            </a:r>
            <a:endParaRPr lang="en-US" sz="1400" dirty="0"/>
          </a:p>
        </p:txBody>
      </p:sp>
      <p:sp>
        <p:nvSpPr>
          <p:cNvPr id="20" name="Text 17"/>
          <p:cNvSpPr txBox="1"/>
          <p:nvPr/>
        </p:nvSpPr>
        <p:spPr>
          <a:xfrm>
            <a:off x="8046720" y="4483760"/>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تورفتگی، پررنگ، خط بالا/دو خط زیر، ستون داخلی، پنهان اگر صفر، صفحهٔ جدید.</a:t>
            </a:r>
            <a:endParaRPr lang="en-US" sz="1300" dirty="0"/>
          </a:p>
        </p:txBody>
      </p:sp>
      <p:sp>
        <p:nvSpPr>
          <p:cNvPr id="21" name="Text 18"/>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پیش‌نمایش زندهٔ قالب</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fs03b">    </p:cNvPr>
          <p:cNvPicPr>
            <a:picLocks noChangeAspect="1"/>
          </p:cNvPicPr>
          <p:nvPr/>
        </p:nvPicPr>
        <p:blipFill>
          <a:blip r:embed="rId1"/>
          <a:stretch>
            <a:fillRect/>
          </a:stretch>
        </p:blipFill>
        <p:spPr>
          <a:xfrm>
            <a:off x="484632" y="1347079"/>
            <a:ext cx="7260336" cy="4803922"/>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کاربرد</a:t>
            </a:r>
            <a:endParaRPr lang="en-US" sz="1400" dirty="0"/>
          </a:p>
        </p:txBody>
      </p:sp>
      <p:sp>
        <p:nvSpPr>
          <p:cNvPr id="8" name="Text 5"/>
          <p:cNvSpPr txBox="1"/>
          <p:nvPr/>
        </p:nvSpPr>
        <p:spPr>
          <a:xfrm>
            <a:off x="8046720" y="1517904"/>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پیش از فعال‌سازی، قالب پیش‌نویس را روی اسناد واقعی امتحان کنید؛ چیزی ذخیره نمی‌شود.</a:t>
            </a:r>
            <a:endParaRPr lang="en-US" sz="1300" dirty="0"/>
          </a:p>
        </p:txBody>
      </p:sp>
      <p:sp>
        <p:nvSpPr>
          <p:cNvPr id="9" name="Shape 6"/>
          <p:cNvSpPr/>
          <p:nvPr/>
        </p:nvSpPr>
        <p:spPr>
          <a:xfrm>
            <a:off x="11393424" y="2323948"/>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32394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32394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پارامترها</a:t>
            </a:r>
            <a:endParaRPr lang="en-US" sz="1400" dirty="0"/>
          </a:p>
        </p:txBody>
      </p:sp>
      <p:sp>
        <p:nvSpPr>
          <p:cNvPr id="12" name="Text 9"/>
          <p:cNvSpPr txBox="1"/>
          <p:nvPr/>
        </p:nvSpPr>
        <p:spPr>
          <a:xfrm>
            <a:off x="8046720" y="2653132"/>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سال، پایان دوره، حداقل وضعیت سند، با زیرمجموعه‌ها و واحد مبلغ.</a:t>
            </a:r>
            <a:endParaRPr lang="en-US" sz="1300" dirty="0"/>
          </a:p>
        </p:txBody>
      </p:sp>
      <p:sp>
        <p:nvSpPr>
          <p:cNvPr id="13" name="Shape 10"/>
          <p:cNvSpPr/>
          <p:nvPr/>
        </p:nvSpPr>
        <p:spPr>
          <a:xfrm>
            <a:off x="11393424" y="3239262"/>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23926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23926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واترمارک</a:t>
            </a:r>
            <a:endParaRPr lang="en-US" sz="1400" dirty="0"/>
          </a:p>
        </p:txBody>
      </p:sp>
      <p:sp>
        <p:nvSpPr>
          <p:cNvPr id="16" name="Text 13"/>
          <p:cNvSpPr txBox="1"/>
          <p:nvPr/>
        </p:nvSpPr>
        <p:spPr>
          <a:xfrm>
            <a:off x="8046720" y="3568446"/>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برچسب «آزمایشی» یعنی این عدد رسمی نیست.</a:t>
            </a:r>
            <a:endParaRPr lang="en-US" sz="1300" dirty="0"/>
          </a:p>
        </p:txBody>
      </p:sp>
      <p:sp>
        <p:nvSpPr>
          <p:cNvPr id="17" name="Text 14"/>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۴ — نگاشت حساب‌ها</a:t>
            </a:r>
            <a:endParaRPr lang="en-US" sz="2600" dirty="0"/>
          </a:p>
        </p:txBody>
      </p:sp>
      <p:sp>
        <p:nvSpPr>
          <p:cNvPr id="3" name="Shape 1"/>
          <p:cNvSpPr/>
          <p:nvPr/>
        </p:nvSpPr>
        <p:spPr>
          <a:xfrm>
            <a:off x="8974836" y="896112"/>
            <a:ext cx="2802636"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صورت‌های مالی ← نگاشت حساب‌ها</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fs14">    </p:cNvPr>
          <p:cNvPicPr>
            <a:picLocks noChangeAspect="1"/>
          </p:cNvPicPr>
          <p:nvPr/>
        </p:nvPicPr>
        <p:blipFill>
          <a:blip r:embed="rId1"/>
          <a:stretch>
            <a:fillRect/>
          </a:stretch>
        </p:blipFill>
        <p:spPr>
          <a:xfrm>
            <a:off x="491876" y="1399032"/>
            <a:ext cx="7245847"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نمای حساب‌محور</a:t>
            </a:r>
            <a:endParaRPr lang="en-US" sz="1400" dirty="0"/>
          </a:p>
        </p:txBody>
      </p:sp>
      <p:sp>
        <p:nvSpPr>
          <p:cNvPr id="10" name="Text 7"/>
          <p:cNvSpPr txBox="1"/>
          <p:nvPr/>
        </p:nvSpPr>
        <p:spPr>
          <a:xfrm>
            <a:off x="8046720" y="170078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هر معین کدینگ به کدام ردیف و صورت رفته است.</a:t>
            </a:r>
            <a:endParaRPr lang="en-US" sz="1300" dirty="0"/>
          </a:p>
        </p:txBody>
      </p:sp>
      <p:sp>
        <p:nvSpPr>
          <p:cNvPr id="11" name="Shape 8"/>
          <p:cNvSpPr/>
          <p:nvPr/>
        </p:nvSpPr>
        <p:spPr>
          <a:xfrm>
            <a:off x="11393424" y="2286914"/>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28691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28691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بدون نگاشت</a:t>
            </a:r>
            <a:endParaRPr lang="en-US" sz="1400" dirty="0"/>
          </a:p>
        </p:txBody>
      </p:sp>
      <p:sp>
        <p:nvSpPr>
          <p:cNvPr id="14" name="Text 11"/>
          <p:cNvSpPr txBox="1"/>
          <p:nvPr/>
        </p:nvSpPr>
        <p:spPr>
          <a:xfrm>
            <a:off x="8046720" y="2616098"/>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معین‌هایی که در هیچ صورت اصلی نیستند (قرمز) — اعدادشان از صورت جا می‌ماند.</a:t>
            </a:r>
            <a:endParaRPr lang="en-US" sz="1300" dirty="0"/>
          </a:p>
        </p:txBody>
      </p:sp>
      <p:sp>
        <p:nvSpPr>
          <p:cNvPr id="15" name="Shape 12"/>
          <p:cNvSpPr/>
          <p:nvPr/>
        </p:nvSpPr>
        <p:spPr>
          <a:xfrm>
            <a:off x="11393424" y="3202229"/>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202229"/>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202229"/>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دوبار شمرده</a:t>
            </a:r>
            <a:endParaRPr lang="en-US" sz="1400" dirty="0"/>
          </a:p>
        </p:txBody>
      </p:sp>
      <p:sp>
        <p:nvSpPr>
          <p:cNvPr id="18" name="Text 15"/>
          <p:cNvSpPr txBox="1"/>
          <p:nvPr/>
        </p:nvSpPr>
        <p:spPr>
          <a:xfrm>
            <a:off x="8046720" y="3531413"/>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معینی که در یک صورت در دو ردیف آمده (نارنجی).</a:t>
            </a:r>
            <a:endParaRPr lang="en-US" sz="1300" dirty="0"/>
          </a:p>
        </p:txBody>
      </p:sp>
      <p:sp>
        <p:nvSpPr>
          <p:cNvPr id="19" name="Shape 16"/>
          <p:cNvSpPr/>
          <p:nvPr/>
        </p:nvSpPr>
        <p:spPr>
          <a:xfrm>
            <a:off x="11393424" y="4117543"/>
            <a:ext cx="347472" cy="347472"/>
          </a:xfrm>
          <a:prstGeom prst="ellipse">
            <a:avLst/>
          </a:prstGeom>
          <a:solidFill>
            <a:srgbClr val="C9A227"/>
          </a:solidFill>
          <a:ln w="12700">
            <a:solidFill>
              <a:srgbClr val="C9A227"/>
            </a:solidFill>
            <a:prstDash val="solid"/>
          </a:ln>
        </p:spPr>
      </p:sp>
      <p:sp>
        <p:nvSpPr>
          <p:cNvPr id="20" name="Text 17"/>
          <p:cNvSpPr txBox="1"/>
          <p:nvPr/>
        </p:nvSpPr>
        <p:spPr>
          <a:xfrm>
            <a:off x="11393424" y="4117543"/>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1" name="Text 18"/>
          <p:cNvSpPr txBox="1"/>
          <p:nvPr/>
        </p:nvSpPr>
        <p:spPr>
          <a:xfrm>
            <a:off x="8046720" y="4117543"/>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اصلاح</a:t>
            </a:r>
            <a:endParaRPr lang="en-US" sz="1400" dirty="0"/>
          </a:p>
        </p:txBody>
      </p:sp>
      <p:sp>
        <p:nvSpPr>
          <p:cNvPr id="22" name="Text 19"/>
          <p:cNvSpPr txBox="1"/>
          <p:nvPr/>
        </p:nvSpPr>
        <p:spPr>
          <a:xfrm>
            <a:off x="8046720" y="4446727"/>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کلیک روی ردیف ⇐ قالب؛ یا «ورود از Excel» و «اعمال پیشنهادها» روی پیش‌نویس.</a:t>
            </a:r>
            <a:endParaRPr lang="en-US" sz="1300" dirty="0"/>
          </a:p>
        </p:txBody>
      </p:sp>
      <p:sp>
        <p:nvSpPr>
          <p:cNvPr id="23" name="Shape 20"/>
          <p:cNvSpPr/>
          <p:nvPr/>
        </p:nvSpPr>
        <p:spPr>
          <a:xfrm>
            <a:off x="11393424" y="5032858"/>
            <a:ext cx="347472" cy="347472"/>
          </a:xfrm>
          <a:prstGeom prst="ellipse">
            <a:avLst/>
          </a:prstGeom>
          <a:solidFill>
            <a:srgbClr val="C9A227"/>
          </a:solidFill>
          <a:ln w="12700">
            <a:solidFill>
              <a:srgbClr val="C9A227"/>
            </a:solidFill>
            <a:prstDash val="solid"/>
          </a:ln>
        </p:spPr>
      </p:sp>
      <p:sp>
        <p:nvSpPr>
          <p:cNvPr id="24" name="Text 21"/>
          <p:cNvSpPr txBox="1"/>
          <p:nvPr/>
        </p:nvSpPr>
        <p:spPr>
          <a:xfrm>
            <a:off x="11393424" y="503285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25" name="Text 22"/>
          <p:cNvSpPr txBox="1"/>
          <p:nvPr/>
        </p:nvSpPr>
        <p:spPr>
          <a:xfrm>
            <a:off x="8046720" y="503285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پیشنهاد</a:t>
            </a:r>
            <a:endParaRPr lang="en-US" sz="1400" dirty="0"/>
          </a:p>
        </p:txBody>
      </p:sp>
      <p:sp>
        <p:nvSpPr>
          <p:cNvPr id="26" name="Text 23"/>
          <p:cNvSpPr txBox="1"/>
          <p:nvPr/>
        </p:nvSpPr>
        <p:spPr>
          <a:xfrm>
            <a:off x="8046720" y="5362042"/>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برای معین بی‌نگاشت، ردیفی که معین‌های هم‌گروهش در آن هستند پیشنهاد می‌شود؛ بعد از اعمال، قالب را فعال کنید.</a:t>
            </a:r>
            <a:endParaRPr lang="en-US" sz="1300" dirty="0"/>
          </a:p>
        </p:txBody>
      </p:sp>
      <p:sp>
        <p:nvSpPr>
          <p:cNvPr id="27" name="Text 24"/>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۵ — قواعد کنترل صورت‌ها</a:t>
            </a:r>
            <a:endParaRPr lang="en-US" sz="2600" dirty="0"/>
          </a:p>
        </p:txBody>
      </p:sp>
      <p:sp>
        <p:nvSpPr>
          <p:cNvPr id="3" name="Shape 1"/>
          <p:cNvSpPr/>
          <p:nvPr/>
        </p:nvSpPr>
        <p:spPr>
          <a:xfrm>
            <a:off x="8663940" y="896112"/>
            <a:ext cx="3113532"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صورت‌های مالی ← کنترل‌های صورت‌ها</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fs13">    </p:cNvPr>
          <p:cNvPicPr>
            <a:picLocks noChangeAspect="1"/>
          </p:cNvPicPr>
          <p:nvPr/>
        </p:nvPicPr>
        <p:blipFill>
          <a:blip r:embed="rId1"/>
          <a:stretch>
            <a:fillRect/>
          </a:stretch>
        </p:blipFill>
        <p:spPr>
          <a:xfrm>
            <a:off x="491876" y="1399032"/>
            <a:ext cx="7245847"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شکل قاعده</a:t>
            </a:r>
            <a:endParaRPr lang="en-US" sz="1400" dirty="0"/>
          </a:p>
        </p:txBody>
      </p:sp>
      <p:sp>
        <p:nvSpPr>
          <p:cNvPr id="10" name="Text 7"/>
          <p:cNvSpPr txBox="1"/>
          <p:nvPr/>
        </p:nvSpPr>
        <p:spPr>
          <a:xfrm>
            <a:off x="8046720" y="1700784"/>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عبارت چپ = عبارت راست با اختلاف مجاز؛ مثل «نقد صورت جریان = موجودی نقد خالص دارایی‌ها».</a:t>
            </a:r>
            <a:endParaRPr lang="en-US" sz="1300" dirty="0"/>
          </a:p>
        </p:txBody>
      </p:sp>
      <p:sp>
        <p:nvSpPr>
          <p:cNvPr id="11" name="Shape 8"/>
          <p:cNvSpPr/>
          <p:nvPr/>
        </p:nvSpPr>
        <p:spPr>
          <a:xfrm>
            <a:off x="11393424" y="2506828"/>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50682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50682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شدت</a:t>
            </a:r>
            <a:endParaRPr lang="en-US" sz="1400" dirty="0"/>
          </a:p>
        </p:txBody>
      </p:sp>
      <p:sp>
        <p:nvSpPr>
          <p:cNvPr id="14" name="Text 11"/>
          <p:cNvSpPr txBox="1"/>
          <p:nvPr/>
        </p:nvSpPr>
        <p:spPr>
          <a:xfrm>
            <a:off x="8046720" y="2836012"/>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اطلاع، هشدار، یا مسدودکننده (مانع ارسال برای بازبینی).</a:t>
            </a:r>
            <a:endParaRPr lang="en-US" sz="1300" dirty="0"/>
          </a:p>
        </p:txBody>
      </p:sp>
      <p:sp>
        <p:nvSpPr>
          <p:cNvPr id="15" name="Shape 12"/>
          <p:cNvSpPr/>
          <p:nvPr/>
        </p:nvSpPr>
        <p:spPr>
          <a:xfrm>
            <a:off x="11393424" y="3422142"/>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42214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42214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کنترل‌های ثابت</a:t>
            </a:r>
            <a:endParaRPr lang="en-US" sz="1400" dirty="0"/>
          </a:p>
        </p:txBody>
      </p:sp>
      <p:sp>
        <p:nvSpPr>
          <p:cNvPr id="18" name="Text 15"/>
          <p:cNvSpPr txBox="1"/>
          <p:nvPr/>
        </p:nvSpPr>
        <p:spPr>
          <a:xfrm>
            <a:off x="8046720" y="3751326"/>
            <a:ext cx="3227832" cy="916229"/>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تراز آزمایشی، پوشش حساب، مانده معکوس، جمع یادداشت، اسناد خارج از سال، حذف فی‌مابین (V-07) و قفل دوره (V-11) خودکار اجرا می‌شوند.</a:t>
            </a:r>
            <a:endParaRPr lang="en-US" sz="1300" dirty="0"/>
          </a:p>
        </p:txBody>
      </p:sp>
      <p:sp>
        <p:nvSpPr>
          <p:cNvPr id="19" name="Text 16"/>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۶ — فهرست اجراها</a:t>
            </a:r>
            <a:endParaRPr lang="en-US" sz="2600" dirty="0"/>
          </a:p>
        </p:txBody>
      </p:sp>
      <p:sp>
        <p:nvSpPr>
          <p:cNvPr id="3" name="Shape 1"/>
          <p:cNvSpPr/>
          <p:nvPr/>
        </p:nvSpPr>
        <p:spPr>
          <a:xfrm>
            <a:off x="8508492" y="896112"/>
            <a:ext cx="3268980"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صورت‌های مالی ← تهیهٔ صورت‌های مالی</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fs04">    </p:cNvPr>
          <p:cNvPicPr>
            <a:picLocks noChangeAspect="1"/>
          </p:cNvPicPr>
          <p:nvPr/>
        </p:nvPicPr>
        <p:blipFill>
          <a:blip r:embed="rId1"/>
          <a:stretch>
            <a:fillRect/>
          </a:stretch>
        </p:blipFill>
        <p:spPr>
          <a:xfrm>
            <a:off x="491876" y="1399032"/>
            <a:ext cx="7245847"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هر ردیف یک اجرا</a:t>
            </a:r>
            <a:endParaRPr lang="en-US" sz="1400" dirty="0"/>
          </a:p>
        </p:txBody>
      </p:sp>
      <p:sp>
        <p:nvSpPr>
          <p:cNvPr id="10" name="Text 7"/>
          <p:cNvSpPr txBox="1"/>
          <p:nvPr/>
        </p:nvSpPr>
        <p:spPr>
          <a:xfrm>
            <a:off x="8046720" y="170078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شماره، مجموعه، دوره، دامنه (ترکیبی/جداگانه)، وضعیت و تاریخ تهیه.</a:t>
            </a:r>
            <a:endParaRPr lang="en-US" sz="1300" dirty="0"/>
          </a:p>
        </p:txBody>
      </p:sp>
      <p:sp>
        <p:nvSpPr>
          <p:cNvPr id="11" name="Shape 8"/>
          <p:cNvSpPr/>
          <p:nvPr/>
        </p:nvSpPr>
        <p:spPr>
          <a:xfrm>
            <a:off x="11393424" y="2286914"/>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28691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28691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وضعیت‌ها</a:t>
            </a:r>
            <a:endParaRPr lang="en-US" sz="1400" dirty="0"/>
          </a:p>
        </p:txBody>
      </p:sp>
      <p:sp>
        <p:nvSpPr>
          <p:cNvPr id="14" name="Text 11"/>
          <p:cNvSpPr txBox="1"/>
          <p:nvPr/>
        </p:nvSpPr>
        <p:spPr>
          <a:xfrm>
            <a:off x="8046720" y="2616098"/>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پیش‌نویس، در بازبینی، تأییدشده، منتشرشده، جایگزین‌شده.</a:t>
            </a:r>
            <a:endParaRPr lang="en-US" sz="1300" dirty="0"/>
          </a:p>
        </p:txBody>
      </p:sp>
      <p:sp>
        <p:nvSpPr>
          <p:cNvPr id="15" name="Shape 12"/>
          <p:cNvSpPr/>
          <p:nvPr/>
        </p:nvSpPr>
        <p:spPr>
          <a:xfrm>
            <a:off x="11393424" y="3202229"/>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202229"/>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202229"/>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تهیهٔ صورت‌ها</a:t>
            </a:r>
            <a:endParaRPr lang="en-US" sz="1400" dirty="0"/>
          </a:p>
        </p:txBody>
      </p:sp>
      <p:sp>
        <p:nvSpPr>
          <p:cNvPr id="18" name="Text 15"/>
          <p:cNvSpPr txBox="1"/>
          <p:nvPr/>
        </p:nvSpPr>
        <p:spPr>
          <a:xfrm>
            <a:off x="8046720" y="3531413"/>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دکمهٔ بالای صفحه ویزارد را باز می‌کند.</a:t>
            </a:r>
            <a:endParaRPr lang="en-US" sz="1300" dirty="0"/>
          </a:p>
        </p:txBody>
      </p:sp>
      <p:sp>
        <p:nvSpPr>
          <p:cNvPr id="19" name="Shape 16"/>
          <p:cNvSpPr/>
          <p:nvPr/>
        </p:nvSpPr>
        <p:spPr>
          <a:xfrm>
            <a:off x="11393424" y="4117543"/>
            <a:ext cx="347472" cy="347472"/>
          </a:xfrm>
          <a:prstGeom prst="ellipse">
            <a:avLst/>
          </a:prstGeom>
          <a:solidFill>
            <a:srgbClr val="C9A227"/>
          </a:solidFill>
          <a:ln w="12700">
            <a:solidFill>
              <a:srgbClr val="C9A227"/>
            </a:solidFill>
            <a:prstDash val="solid"/>
          </a:ln>
        </p:spPr>
      </p:sp>
      <p:sp>
        <p:nvSpPr>
          <p:cNvPr id="20" name="Text 17"/>
          <p:cNvSpPr txBox="1"/>
          <p:nvPr/>
        </p:nvSpPr>
        <p:spPr>
          <a:xfrm>
            <a:off x="11393424" y="4117543"/>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1" name="Text 18"/>
          <p:cNvSpPr txBox="1"/>
          <p:nvPr/>
        </p:nvSpPr>
        <p:spPr>
          <a:xfrm>
            <a:off x="8046720" y="4117543"/>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حذف</a:t>
            </a:r>
            <a:endParaRPr lang="en-US" sz="1400" dirty="0"/>
          </a:p>
        </p:txBody>
      </p:sp>
      <p:sp>
        <p:nvSpPr>
          <p:cNvPr id="22" name="Text 19"/>
          <p:cNvSpPr txBox="1"/>
          <p:nvPr/>
        </p:nvSpPr>
        <p:spPr>
          <a:xfrm>
            <a:off x="8046720" y="4446727"/>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فقط پیش‌نویس و جایگزین‌شده حذف می‌شوند.</a:t>
            </a:r>
            <a:endParaRPr lang="en-US" sz="1300" dirty="0"/>
          </a:p>
        </p:txBody>
      </p:sp>
      <p:sp>
        <p:nvSpPr>
          <p:cNvPr id="23" name="Text 20"/>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۷ — ویزارد تهیهٔ صورت‌ها</a:t>
            </a:r>
            <a:endParaRPr lang="en-US" sz="2600" dirty="0"/>
          </a:p>
        </p:txBody>
      </p:sp>
      <p:sp>
        <p:nvSpPr>
          <p:cNvPr id="3" name="Shape 1"/>
          <p:cNvSpPr/>
          <p:nvPr/>
        </p:nvSpPr>
        <p:spPr>
          <a:xfrm>
            <a:off x="11393424" y="1188720"/>
            <a:ext cx="384048" cy="384048"/>
          </a:xfrm>
          <a:prstGeom prst="ellipse">
            <a:avLst/>
          </a:prstGeom>
          <a:solidFill>
            <a:srgbClr val="C9A227"/>
          </a:solidFill>
          <a:ln w="12700">
            <a:solidFill>
              <a:srgbClr val="C9A227"/>
            </a:solidFill>
            <a:prstDash val="solid"/>
          </a:ln>
        </p:spPr>
      </p:sp>
      <p:sp>
        <p:nvSpPr>
          <p:cNvPr id="4" name="Text 2"/>
          <p:cNvSpPr txBox="1"/>
          <p:nvPr/>
        </p:nvSpPr>
        <p:spPr>
          <a:xfrm>
            <a:off x="11393424" y="1188720"/>
            <a:ext cx="384048" cy="384048"/>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5" name="Text 3"/>
          <p:cNvSpPr txBox="1"/>
          <p:nvPr/>
        </p:nvSpPr>
        <p:spPr>
          <a:xfrm>
            <a:off x="8119872" y="1188720"/>
            <a:ext cx="3154680" cy="384048"/>
          </a:xfrm>
          <a:prstGeom prst="rect">
            <a:avLst/>
          </a:prstGeom>
          <a:noFill/>
          <a:ln/>
        </p:spPr>
        <p:txBody>
          <a:bodyPr wrap="square" lIns="0" tIns="0" rIns="0" bIns="0" rtlCol="0" anchor="ctr"/>
          <a:lstStyle/>
          <a:p>
            <a:pPr rtl="1" algn="r" indent="0" marL="0">
              <a:buNone/>
            </a:pPr>
            <a:r>
              <a:rPr lang="en-US" sz="1500" b="1" dirty="0">
                <a:solidFill>
                  <a:srgbClr val="1B2A49"/>
                </a:solidFill>
                <a:latin typeface="Tahoma" pitchFamily="34" charset="0"/>
                <a:ea typeface="Tahoma" pitchFamily="34" charset="-122"/>
                <a:cs typeface="Tahoma" pitchFamily="34" charset="-120"/>
              </a:rPr>
              <a:t>مجموعه و دوره</a:t>
            </a:r>
            <a:endParaRPr lang="en-US" sz="1500" dirty="0"/>
          </a:p>
        </p:txBody>
      </p:sp>
      <p:sp>
        <p:nvSpPr>
          <p:cNvPr id="6" name="Shape 4"/>
          <p:cNvSpPr/>
          <p:nvPr/>
        </p:nvSpPr>
        <p:spPr>
          <a:xfrm>
            <a:off x="8119872" y="1691640"/>
            <a:ext cx="3657600" cy="2880360"/>
          </a:xfrm>
          <a:prstGeom prst="roundRect">
            <a:avLst>
              <a:gd name="adj" fmla="val 2540"/>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7" name="Image 0" descr="fs05">    </p:cNvPr>
          <p:cNvPicPr>
            <a:picLocks noChangeAspect="1"/>
          </p:cNvPicPr>
          <p:nvPr/>
        </p:nvPicPr>
        <p:blipFill>
          <a:blip r:embed="rId1"/>
          <a:stretch>
            <a:fillRect/>
          </a:stretch>
        </p:blipFill>
        <p:spPr>
          <a:xfrm>
            <a:off x="8165592" y="1930222"/>
            <a:ext cx="3566160" cy="2403196"/>
          </a:xfrm>
          <a:prstGeom prst="rect">
            <a:avLst/>
          </a:prstGeom>
        </p:spPr>
      </p:pic>
      <p:sp>
        <p:nvSpPr>
          <p:cNvPr id="8" name="Text 5"/>
          <p:cNvSpPr txBox="1"/>
          <p:nvPr/>
        </p:nvSpPr>
        <p:spPr>
          <a:xfrm>
            <a:off x="8119872" y="4754880"/>
            <a:ext cx="3657600" cy="1554480"/>
          </a:xfrm>
          <a:prstGeom prst="rect">
            <a:avLst/>
          </a:prstGeom>
          <a:noFill/>
          <a:ln/>
        </p:spPr>
        <p:txBody>
          <a:bodyPr wrap="square" lIns="0" tIns="0" rIns="0" bIns="0" rtlCol="0" anchor="t"/>
          <a:lstStyle/>
          <a:p>
            <a:pPr rtl="1" algn="r" indent="0" marL="0">
              <a:buNone/>
            </a:pPr>
            <a:r>
              <a:rPr lang="en-US" sz="1300" dirty="0">
                <a:solidFill>
                  <a:srgbClr val="1F2937"/>
                </a:solidFill>
                <a:latin typeface="Tahoma" pitchFamily="34" charset="0"/>
                <a:ea typeface="Tahoma" pitchFamily="34" charset="-122"/>
                <a:cs typeface="Tahoma" pitchFamily="34" charset="-120"/>
              </a:rPr>
              <a:t>مجموعهٔ صورت، سال مالی و «پایان دوره» (از ابتدای سال تا پایان آن ماه).</a:t>
            </a:r>
            <a:endParaRPr lang="en-US" sz="1300" dirty="0"/>
          </a:p>
        </p:txBody>
      </p:sp>
      <p:sp>
        <p:nvSpPr>
          <p:cNvPr id="9" name="Shape 6"/>
          <p:cNvSpPr/>
          <p:nvPr/>
        </p:nvSpPr>
        <p:spPr>
          <a:xfrm>
            <a:off x="7539228" y="1188720"/>
            <a:ext cx="384048" cy="384048"/>
          </a:xfrm>
          <a:prstGeom prst="ellipse">
            <a:avLst/>
          </a:prstGeom>
          <a:solidFill>
            <a:srgbClr val="C9A227"/>
          </a:solidFill>
          <a:ln w="12700">
            <a:solidFill>
              <a:srgbClr val="C9A227"/>
            </a:solidFill>
            <a:prstDash val="solid"/>
          </a:ln>
        </p:spPr>
      </p:sp>
      <p:sp>
        <p:nvSpPr>
          <p:cNvPr id="10" name="Text 7"/>
          <p:cNvSpPr txBox="1"/>
          <p:nvPr/>
        </p:nvSpPr>
        <p:spPr>
          <a:xfrm>
            <a:off x="7539228" y="1188720"/>
            <a:ext cx="384048" cy="384048"/>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4265676" y="1188720"/>
            <a:ext cx="3154680" cy="384048"/>
          </a:xfrm>
          <a:prstGeom prst="rect">
            <a:avLst/>
          </a:prstGeom>
          <a:noFill/>
          <a:ln/>
        </p:spPr>
        <p:txBody>
          <a:bodyPr wrap="square" lIns="0" tIns="0" rIns="0" bIns="0" rtlCol="0" anchor="ctr"/>
          <a:lstStyle/>
          <a:p>
            <a:pPr rtl="1" algn="r" indent="0" marL="0">
              <a:buNone/>
            </a:pPr>
            <a:r>
              <a:rPr lang="en-US" sz="1500" b="1" dirty="0">
                <a:solidFill>
                  <a:srgbClr val="1B2A49"/>
                </a:solidFill>
                <a:latin typeface="Tahoma" pitchFamily="34" charset="0"/>
                <a:ea typeface="Tahoma" pitchFamily="34" charset="-122"/>
                <a:cs typeface="Tahoma" pitchFamily="34" charset="-120"/>
              </a:rPr>
              <a:t>دامنه و اسناد</a:t>
            </a:r>
            <a:endParaRPr lang="en-US" sz="1500" dirty="0"/>
          </a:p>
        </p:txBody>
      </p:sp>
      <p:sp>
        <p:nvSpPr>
          <p:cNvPr id="12" name="Shape 9"/>
          <p:cNvSpPr/>
          <p:nvPr/>
        </p:nvSpPr>
        <p:spPr>
          <a:xfrm>
            <a:off x="4265676" y="1691640"/>
            <a:ext cx="3657600" cy="2880360"/>
          </a:xfrm>
          <a:prstGeom prst="roundRect">
            <a:avLst>
              <a:gd name="adj" fmla="val 2540"/>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13" name="Image 1" descr="fs06">    </p:cNvPr>
          <p:cNvPicPr>
            <a:picLocks noChangeAspect="1"/>
          </p:cNvPicPr>
          <p:nvPr/>
        </p:nvPicPr>
        <p:blipFill>
          <a:blip r:embed="rId2"/>
          <a:stretch>
            <a:fillRect/>
          </a:stretch>
        </p:blipFill>
        <p:spPr>
          <a:xfrm>
            <a:off x="4311396" y="1930222"/>
            <a:ext cx="3566160" cy="2403196"/>
          </a:xfrm>
          <a:prstGeom prst="rect">
            <a:avLst/>
          </a:prstGeom>
        </p:spPr>
      </p:pic>
      <p:sp>
        <p:nvSpPr>
          <p:cNvPr id="14" name="Text 10"/>
          <p:cNvSpPr txBox="1"/>
          <p:nvPr/>
        </p:nvSpPr>
        <p:spPr>
          <a:xfrm>
            <a:off x="4265676" y="4754880"/>
            <a:ext cx="3657600" cy="1554480"/>
          </a:xfrm>
          <a:prstGeom prst="rect">
            <a:avLst/>
          </a:prstGeom>
          <a:noFill/>
          <a:ln/>
        </p:spPr>
        <p:txBody>
          <a:bodyPr wrap="square" lIns="0" tIns="0" rIns="0" bIns="0" rtlCol="0" anchor="t"/>
          <a:lstStyle/>
          <a:p>
            <a:pPr rtl="1" algn="r" indent="0" marL="0">
              <a:buNone/>
            </a:pPr>
            <a:r>
              <a:rPr lang="en-US" sz="1300" dirty="0">
                <a:solidFill>
                  <a:srgbClr val="1F2937"/>
                </a:solidFill>
                <a:latin typeface="Tahoma" pitchFamily="34" charset="0"/>
                <a:ea typeface="Tahoma" pitchFamily="34" charset="-122"/>
                <a:cs typeface="Tahoma" pitchFamily="34" charset="-120"/>
              </a:rPr>
              <a:t>صورت ترکیبی (همهٔ زیرمجموعه‌ها) یا جداگانه؛ در ترکیبی «گروه واحدها» (بیمه‌ای، درمانی یا ستادی) هم قابل انتخاب است؛ حداقل وضعیت سند (پیش‌فرض تأیید دائم).</a:t>
            </a:r>
            <a:endParaRPr lang="en-US" sz="1300" dirty="0"/>
          </a:p>
        </p:txBody>
      </p:sp>
      <p:sp>
        <p:nvSpPr>
          <p:cNvPr id="15" name="Shape 11"/>
          <p:cNvSpPr/>
          <p:nvPr/>
        </p:nvSpPr>
        <p:spPr>
          <a:xfrm>
            <a:off x="3685032" y="1188720"/>
            <a:ext cx="384048" cy="384048"/>
          </a:xfrm>
          <a:prstGeom prst="ellipse">
            <a:avLst/>
          </a:prstGeom>
          <a:solidFill>
            <a:srgbClr val="C9A227"/>
          </a:solidFill>
          <a:ln w="12700">
            <a:solidFill>
              <a:srgbClr val="C9A227"/>
            </a:solidFill>
            <a:prstDash val="solid"/>
          </a:ln>
        </p:spPr>
      </p:sp>
      <p:sp>
        <p:nvSpPr>
          <p:cNvPr id="16" name="Text 12"/>
          <p:cNvSpPr txBox="1"/>
          <p:nvPr/>
        </p:nvSpPr>
        <p:spPr>
          <a:xfrm>
            <a:off x="3685032" y="1188720"/>
            <a:ext cx="384048" cy="384048"/>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3"/>
          <p:cNvSpPr txBox="1"/>
          <p:nvPr/>
        </p:nvSpPr>
        <p:spPr>
          <a:xfrm>
            <a:off x="411480" y="1188720"/>
            <a:ext cx="3154680" cy="384048"/>
          </a:xfrm>
          <a:prstGeom prst="rect">
            <a:avLst/>
          </a:prstGeom>
          <a:noFill/>
          <a:ln/>
        </p:spPr>
        <p:txBody>
          <a:bodyPr wrap="square" lIns="0" tIns="0" rIns="0" bIns="0" rtlCol="0" anchor="ctr"/>
          <a:lstStyle/>
          <a:p>
            <a:pPr rtl="1" algn="r" indent="0" marL="0">
              <a:buNone/>
            </a:pPr>
            <a:r>
              <a:rPr lang="en-US" sz="1500" b="1" dirty="0">
                <a:solidFill>
                  <a:srgbClr val="1B2A49"/>
                </a:solidFill>
                <a:latin typeface="Tahoma" pitchFamily="34" charset="0"/>
                <a:ea typeface="Tahoma" pitchFamily="34" charset="-122"/>
                <a:cs typeface="Tahoma" pitchFamily="34" charset="-120"/>
              </a:rPr>
              <a:t>گزینه‌ها و اجرا</a:t>
            </a:r>
            <a:endParaRPr lang="en-US" sz="1500" dirty="0"/>
          </a:p>
        </p:txBody>
      </p:sp>
      <p:sp>
        <p:nvSpPr>
          <p:cNvPr id="18" name="Shape 14"/>
          <p:cNvSpPr/>
          <p:nvPr/>
        </p:nvSpPr>
        <p:spPr>
          <a:xfrm>
            <a:off x="411480" y="1691640"/>
            <a:ext cx="3657600" cy="2880360"/>
          </a:xfrm>
          <a:prstGeom prst="roundRect">
            <a:avLst>
              <a:gd name="adj" fmla="val 2540"/>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19" name="Image 2" descr="fs07">    </p:cNvPr>
          <p:cNvPicPr>
            <a:picLocks noChangeAspect="1"/>
          </p:cNvPicPr>
          <p:nvPr/>
        </p:nvPicPr>
        <p:blipFill>
          <a:blip r:embed="rId3"/>
          <a:stretch>
            <a:fillRect/>
          </a:stretch>
        </p:blipFill>
        <p:spPr>
          <a:xfrm>
            <a:off x="457200" y="1904467"/>
            <a:ext cx="3566160" cy="2454707"/>
          </a:xfrm>
          <a:prstGeom prst="rect">
            <a:avLst/>
          </a:prstGeom>
        </p:spPr>
      </p:pic>
      <p:sp>
        <p:nvSpPr>
          <p:cNvPr id="20" name="Text 15"/>
          <p:cNvSpPr txBox="1"/>
          <p:nvPr/>
        </p:nvSpPr>
        <p:spPr>
          <a:xfrm>
            <a:off x="411480" y="4754880"/>
            <a:ext cx="3657600" cy="1554480"/>
          </a:xfrm>
          <a:prstGeom prst="rect">
            <a:avLst/>
          </a:prstGeom>
          <a:noFill/>
          <a:ln/>
        </p:spPr>
        <p:txBody>
          <a:bodyPr wrap="square" lIns="0" tIns="0" rIns="0" bIns="0" rtlCol="0" anchor="t"/>
          <a:lstStyle/>
          <a:p>
            <a:pPr rtl="1" algn="r" indent="0" marL="0">
              <a:buNone/>
            </a:pPr>
            <a:r>
              <a:rPr lang="en-US" sz="1300" dirty="0">
                <a:solidFill>
                  <a:srgbClr val="1F2937"/>
                </a:solidFill>
                <a:latin typeface="Tahoma" pitchFamily="34" charset="0"/>
                <a:ea typeface="Tahoma" pitchFamily="34" charset="-122"/>
                <a:cs typeface="Tahoma" pitchFamily="34" charset="-120"/>
              </a:rPr>
              <a:t>ستون سال قبل، «تجدید ارائه‌شده»، تلفیق با شرکت‌های تابعه، اجرا در پس‌زمینه و شمارهٔ اولین یادداشت ⇐ «تهیهٔ صورت‌ها»؛ «ذخیره به‌عنوان پیش‌فرض» تنظیمات را نگه می‌دارد.</a:t>
            </a:r>
            <a:endParaRPr lang="en-US" sz="1300" dirty="0"/>
          </a:p>
        </p:txBody>
      </p:sp>
      <p:sp>
        <p:nvSpPr>
          <p:cNvPr id="21" name="Text 16"/>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۸ — مشاهدهٔ صورت مالی</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fs08">    </p:cNvPr>
          <p:cNvPicPr>
            <a:picLocks noChangeAspect="1"/>
          </p:cNvPicPr>
          <p:nvPr/>
        </p:nvPicPr>
        <p:blipFill>
          <a:blip r:embed="rId1"/>
          <a:stretch>
            <a:fillRect/>
          </a:stretch>
        </p:blipFill>
        <p:spPr>
          <a:xfrm>
            <a:off x="691978" y="1216152"/>
            <a:ext cx="6845643" cy="5065776"/>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قالب رسمی</a:t>
            </a:r>
            <a:endParaRPr lang="en-US" sz="1400" dirty="0"/>
          </a:p>
        </p:txBody>
      </p:sp>
      <p:sp>
        <p:nvSpPr>
          <p:cNvPr id="8" name="Text 5"/>
          <p:cNvSpPr txBox="1"/>
          <p:nvPr/>
        </p:nvSpPr>
        <p:spPr>
          <a:xfrm>
            <a:off x="8046720" y="151790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عنوان سه‌سطری، ستون یادداشت، سال جاری و قبل، خط جمع و پرانتز برای منفی.</a:t>
            </a:r>
            <a:endParaRPr lang="en-US" sz="1300" dirty="0"/>
          </a:p>
        </p:txBody>
      </p:sp>
      <p:sp>
        <p:nvSpPr>
          <p:cNvPr id="9" name="Shape 6"/>
          <p:cNvSpPr/>
          <p:nvPr/>
        </p:nvSpPr>
        <p:spPr>
          <a:xfrm>
            <a:off x="11393424" y="2104034"/>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10403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10403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ابزارها</a:t>
            </a:r>
            <a:endParaRPr lang="en-US" sz="1400" dirty="0"/>
          </a:p>
        </p:txBody>
      </p:sp>
      <p:sp>
        <p:nvSpPr>
          <p:cNvPr id="12" name="Text 9"/>
          <p:cNvSpPr txBox="1"/>
          <p:nvPr/>
        </p:nvSpPr>
        <p:spPr>
          <a:xfrm>
            <a:off x="8046720" y="2433218"/>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واحد مبلغ، تغییرات، تحلیل عمودی، فشرده و جستجو؛ خروجی Excel، Word یادداشت‌ها، XBRL و «بستهٔ رسمی / PDF».</a:t>
            </a:r>
            <a:endParaRPr lang="en-US" sz="1300" dirty="0"/>
          </a:p>
        </p:txBody>
      </p:sp>
      <p:sp>
        <p:nvSpPr>
          <p:cNvPr id="13" name="Shape 10"/>
          <p:cNvSpPr/>
          <p:nvPr/>
        </p:nvSpPr>
        <p:spPr>
          <a:xfrm>
            <a:off x="11393424" y="3239262"/>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23926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23926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زبانه‌ها</a:t>
            </a:r>
            <a:endParaRPr lang="en-US" sz="1400" dirty="0"/>
          </a:p>
        </p:txBody>
      </p:sp>
      <p:sp>
        <p:nvSpPr>
          <p:cNvPr id="16" name="Text 13"/>
          <p:cNvSpPr txBox="1"/>
          <p:nvPr/>
        </p:nvSpPr>
        <p:spPr>
          <a:xfrm>
            <a:off x="8046720" y="3568446"/>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هر صورت، یادداشت‌ها، کنترل‌ها و «کاربرگ ترکیب / تلفیق».</a:t>
            </a:r>
            <a:endParaRPr lang="en-US" sz="1300" dirty="0"/>
          </a:p>
        </p:txBody>
      </p:sp>
      <p:sp>
        <p:nvSpPr>
          <p:cNvPr id="17" name="Shape 14"/>
          <p:cNvSpPr/>
          <p:nvPr/>
        </p:nvSpPr>
        <p:spPr>
          <a:xfrm>
            <a:off x="11393424" y="4154576"/>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4154576"/>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4154576"/>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اثر انگشت</a:t>
            </a:r>
            <a:endParaRPr lang="en-US" sz="1400" dirty="0"/>
          </a:p>
        </p:txBody>
      </p:sp>
      <p:sp>
        <p:nvSpPr>
          <p:cNvPr id="20" name="Text 17"/>
          <p:cNvSpPr txBox="1"/>
          <p:nvPr/>
        </p:nvSpPr>
        <p:spPr>
          <a:xfrm>
            <a:off x="8046720" y="4483760"/>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کد Hash محتوا برای اطمینان از تغییرنکردن اعداد.</a:t>
            </a:r>
            <a:endParaRPr lang="en-US" sz="1300" dirty="0"/>
          </a:p>
        </p:txBody>
      </p:sp>
      <p:sp>
        <p:nvSpPr>
          <p:cNvPr id="21" name="Shape 18"/>
          <p:cNvSpPr/>
          <p:nvPr/>
        </p:nvSpPr>
        <p:spPr>
          <a:xfrm>
            <a:off x="11393424" y="5069891"/>
            <a:ext cx="347472" cy="347472"/>
          </a:xfrm>
          <a:prstGeom prst="ellipse">
            <a:avLst/>
          </a:prstGeom>
          <a:solidFill>
            <a:srgbClr val="C9A227"/>
          </a:solidFill>
          <a:ln w="12700">
            <a:solidFill>
              <a:srgbClr val="C9A227"/>
            </a:solidFill>
            <a:prstDash val="solid"/>
          </a:ln>
        </p:spPr>
      </p:sp>
      <p:sp>
        <p:nvSpPr>
          <p:cNvPr id="22" name="Text 19"/>
          <p:cNvSpPr txBox="1"/>
          <p:nvPr/>
        </p:nvSpPr>
        <p:spPr>
          <a:xfrm>
            <a:off x="11393424" y="5069891"/>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23" name="Text 20"/>
          <p:cNvSpPr txBox="1"/>
          <p:nvPr/>
        </p:nvSpPr>
        <p:spPr>
          <a:xfrm>
            <a:off x="8046720" y="5069891"/>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شمارهٔ یادداشت</a:t>
            </a:r>
            <a:endParaRPr lang="en-US" sz="1400" dirty="0"/>
          </a:p>
        </p:txBody>
      </p:sp>
      <p:sp>
        <p:nvSpPr>
          <p:cNvPr id="24" name="Text 21"/>
          <p:cNvSpPr txBox="1"/>
          <p:nvPr/>
        </p:nvSpPr>
        <p:spPr>
          <a:xfrm>
            <a:off x="8046720" y="5399075"/>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کلیک روی شماره همان یادداشت را باز می‌کند.</a:t>
            </a:r>
            <a:endParaRPr lang="en-US" sz="1300" dirty="0"/>
          </a:p>
        </p:txBody>
      </p:sp>
      <p:sp>
        <p:nvSpPr>
          <p:cNvPr id="25" name="Text 22"/>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یادداشت‌های عددی و کنترل جمع</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fs10">    </p:cNvPr>
          <p:cNvPicPr>
            <a:picLocks noChangeAspect="1"/>
          </p:cNvPicPr>
          <p:nvPr/>
        </p:nvPicPr>
        <p:blipFill>
          <a:blip r:embed="rId1"/>
          <a:stretch>
            <a:fillRect/>
          </a:stretch>
        </p:blipFill>
        <p:spPr>
          <a:xfrm>
            <a:off x="691978" y="1216152"/>
            <a:ext cx="6845643" cy="5065776"/>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یادداشت</a:t>
            </a:r>
            <a:endParaRPr lang="en-US" sz="1400" dirty="0"/>
          </a:p>
        </p:txBody>
      </p:sp>
      <p:sp>
        <p:nvSpPr>
          <p:cNvPr id="8" name="Text 5"/>
          <p:cNvSpPr txBox="1"/>
          <p:nvPr/>
        </p:nvSpPr>
        <p:spPr>
          <a:xfrm>
            <a:off x="8046720" y="151790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ریز ردیف صورت؛ مثلاً یادداشت ۵ «موجودی نقد» با صندوق، بانک و تنخواه.</a:t>
            </a:r>
            <a:endParaRPr lang="en-US" sz="1300" dirty="0"/>
          </a:p>
        </p:txBody>
      </p:sp>
      <p:sp>
        <p:nvSpPr>
          <p:cNvPr id="9" name="Shape 6"/>
          <p:cNvSpPr/>
          <p:nvPr/>
        </p:nvSpPr>
        <p:spPr>
          <a:xfrm>
            <a:off x="11393424" y="2104034"/>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10403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10403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شماره‌گذاری</a:t>
            </a:r>
            <a:endParaRPr lang="en-US" sz="1400" dirty="0"/>
          </a:p>
        </p:txBody>
      </p:sp>
      <p:sp>
        <p:nvSpPr>
          <p:cNvPr id="12" name="Text 9"/>
          <p:cNvSpPr txBox="1"/>
          <p:nvPr/>
        </p:nvSpPr>
        <p:spPr>
          <a:xfrm>
            <a:off x="8046720" y="2433218"/>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خودکار به ترتیب ارائه؛ عنوان‌های داخل یادداشت ۵-۱، ۵-۲ می‌شوند.</a:t>
            </a:r>
            <a:endParaRPr lang="en-US" sz="1300" dirty="0"/>
          </a:p>
        </p:txBody>
      </p:sp>
      <p:sp>
        <p:nvSpPr>
          <p:cNvPr id="13" name="Shape 10"/>
          <p:cNvSpPr/>
          <p:nvPr/>
        </p:nvSpPr>
        <p:spPr>
          <a:xfrm>
            <a:off x="11393424" y="3019349"/>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019349"/>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019349"/>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کنترل V-08</a:t>
            </a:r>
            <a:endParaRPr lang="en-US" sz="1400" dirty="0"/>
          </a:p>
        </p:txBody>
      </p:sp>
      <p:sp>
        <p:nvSpPr>
          <p:cNvPr id="16" name="Text 13"/>
          <p:cNvSpPr txBox="1"/>
          <p:nvPr/>
        </p:nvSpPr>
        <p:spPr>
          <a:xfrm>
            <a:off x="8046720" y="3348533"/>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برچسب سبز «جمع یادداشت = ردیف صورت»؛ قرمز یعنی مغایرت و مانع ارسال.</a:t>
            </a:r>
            <a:endParaRPr lang="en-US" sz="1300" dirty="0"/>
          </a:p>
        </p:txBody>
      </p:sp>
      <p:sp>
        <p:nvSpPr>
          <p:cNvPr id="17" name="Text 14"/>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۹ — Drill-down از عدد صورت تا سند</a:t>
            </a:r>
            <a:endParaRPr lang="en-US" sz="2600" dirty="0"/>
          </a:p>
        </p:txBody>
      </p:sp>
      <p:sp>
        <p:nvSpPr>
          <p:cNvPr id="3" name="Shape 1"/>
          <p:cNvSpPr/>
          <p:nvPr/>
        </p:nvSpPr>
        <p:spPr>
          <a:xfrm>
            <a:off x="11393424" y="1188720"/>
            <a:ext cx="384048" cy="384048"/>
          </a:xfrm>
          <a:prstGeom prst="ellipse">
            <a:avLst/>
          </a:prstGeom>
          <a:solidFill>
            <a:srgbClr val="C9A227"/>
          </a:solidFill>
          <a:ln w="12700">
            <a:solidFill>
              <a:srgbClr val="C9A227"/>
            </a:solidFill>
            <a:prstDash val="solid"/>
          </a:ln>
        </p:spPr>
      </p:sp>
      <p:sp>
        <p:nvSpPr>
          <p:cNvPr id="4" name="Text 2"/>
          <p:cNvSpPr txBox="1"/>
          <p:nvPr/>
        </p:nvSpPr>
        <p:spPr>
          <a:xfrm>
            <a:off x="11393424" y="1188720"/>
            <a:ext cx="384048" cy="384048"/>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5" name="Text 3"/>
          <p:cNvSpPr txBox="1"/>
          <p:nvPr/>
        </p:nvSpPr>
        <p:spPr>
          <a:xfrm>
            <a:off x="8119872" y="1188720"/>
            <a:ext cx="3154680" cy="384048"/>
          </a:xfrm>
          <a:prstGeom prst="rect">
            <a:avLst/>
          </a:prstGeom>
          <a:noFill/>
          <a:ln/>
        </p:spPr>
        <p:txBody>
          <a:bodyPr wrap="square" lIns="0" tIns="0" rIns="0" bIns="0" rtlCol="0" anchor="ctr"/>
          <a:lstStyle/>
          <a:p>
            <a:pPr rtl="1" algn="r" indent="0" marL="0">
              <a:buNone/>
            </a:pPr>
            <a:r>
              <a:rPr lang="en-US" sz="1500" b="1" dirty="0">
                <a:solidFill>
                  <a:srgbClr val="1B2A49"/>
                </a:solidFill>
                <a:latin typeface="Tahoma" pitchFamily="34" charset="0"/>
                <a:ea typeface="Tahoma" pitchFamily="34" charset="-122"/>
                <a:cs typeface="Tahoma" pitchFamily="34" charset="-120"/>
              </a:rPr>
              <a:t>معین‌های تشکیل‌دهنده</a:t>
            </a:r>
            <a:endParaRPr lang="en-US" sz="1500" dirty="0"/>
          </a:p>
        </p:txBody>
      </p:sp>
      <p:sp>
        <p:nvSpPr>
          <p:cNvPr id="6" name="Shape 4"/>
          <p:cNvSpPr/>
          <p:nvPr/>
        </p:nvSpPr>
        <p:spPr>
          <a:xfrm>
            <a:off x="8119872" y="1691640"/>
            <a:ext cx="3657600" cy="3657600"/>
          </a:xfrm>
          <a:prstGeom prst="roundRect">
            <a:avLst>
              <a:gd name="adj" fmla="val 2000"/>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7" name="Image 0" descr="fs12">    </p:cNvPr>
          <p:cNvPicPr>
            <a:picLocks noChangeAspect="1"/>
          </p:cNvPicPr>
          <p:nvPr/>
        </p:nvPicPr>
        <p:blipFill>
          <a:blip r:embed="rId1"/>
          <a:stretch>
            <a:fillRect/>
          </a:stretch>
        </p:blipFill>
        <p:spPr>
          <a:xfrm>
            <a:off x="8165592" y="2403841"/>
            <a:ext cx="3566160" cy="2233199"/>
          </a:xfrm>
          <a:prstGeom prst="rect">
            <a:avLst/>
          </a:prstGeom>
        </p:spPr>
      </p:pic>
      <p:sp>
        <p:nvSpPr>
          <p:cNvPr id="8" name="Text 5"/>
          <p:cNvSpPr txBox="1"/>
          <p:nvPr/>
        </p:nvSpPr>
        <p:spPr>
          <a:xfrm>
            <a:off x="8119872" y="5532120"/>
            <a:ext cx="3657600" cy="777240"/>
          </a:xfrm>
          <a:prstGeom prst="rect">
            <a:avLst/>
          </a:prstGeom>
          <a:noFill/>
          <a:ln/>
        </p:spPr>
        <p:txBody>
          <a:bodyPr wrap="square" lIns="0" tIns="0" rIns="0" bIns="0" rtlCol="0" anchor="t"/>
          <a:lstStyle/>
          <a:p>
            <a:pPr rtl="1" algn="r" indent="0" marL="0">
              <a:buNone/>
            </a:pPr>
            <a:r>
              <a:rPr lang="en-US" sz="1250" dirty="0">
                <a:solidFill>
                  <a:srgbClr val="1F2937"/>
                </a:solidFill>
                <a:latin typeface="Tahoma" pitchFamily="34" charset="0"/>
                <a:ea typeface="Tahoma" pitchFamily="34" charset="-122"/>
                <a:cs typeface="Tahoma" pitchFamily="34" charset="-120"/>
              </a:rPr>
              <a:t>روی هر مبلغ ردیف «حساب» کلیک کنید (یا Enter)؛ پنل کناری سهم هر معین را نشان می‌دهد.</a:t>
            </a:r>
            <a:endParaRPr lang="en-US" sz="1250" dirty="0"/>
          </a:p>
        </p:txBody>
      </p:sp>
      <p:sp>
        <p:nvSpPr>
          <p:cNvPr id="9" name="Shape 6"/>
          <p:cNvSpPr/>
          <p:nvPr/>
        </p:nvSpPr>
        <p:spPr>
          <a:xfrm>
            <a:off x="7539228" y="1188720"/>
            <a:ext cx="384048" cy="384048"/>
          </a:xfrm>
          <a:prstGeom prst="ellipse">
            <a:avLst/>
          </a:prstGeom>
          <a:solidFill>
            <a:srgbClr val="C9A227"/>
          </a:solidFill>
          <a:ln w="12700">
            <a:solidFill>
              <a:srgbClr val="C9A227"/>
            </a:solidFill>
            <a:prstDash val="solid"/>
          </a:ln>
        </p:spPr>
      </p:sp>
      <p:sp>
        <p:nvSpPr>
          <p:cNvPr id="10" name="Text 7"/>
          <p:cNvSpPr txBox="1"/>
          <p:nvPr/>
        </p:nvSpPr>
        <p:spPr>
          <a:xfrm>
            <a:off x="7539228" y="1188720"/>
            <a:ext cx="384048" cy="384048"/>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4265676" y="1188720"/>
            <a:ext cx="3154680" cy="384048"/>
          </a:xfrm>
          <a:prstGeom prst="rect">
            <a:avLst/>
          </a:prstGeom>
          <a:noFill/>
          <a:ln/>
        </p:spPr>
        <p:txBody>
          <a:bodyPr wrap="square" lIns="0" tIns="0" rIns="0" bIns="0" rtlCol="0" anchor="ctr"/>
          <a:lstStyle/>
          <a:p>
            <a:pPr rtl="1" algn="r" indent="0" marL="0">
              <a:buNone/>
            </a:pPr>
            <a:r>
              <a:rPr lang="en-US" sz="1500" b="1" dirty="0">
                <a:solidFill>
                  <a:srgbClr val="1B2A49"/>
                </a:solidFill>
                <a:latin typeface="Tahoma" pitchFamily="34" charset="0"/>
                <a:ea typeface="Tahoma" pitchFamily="34" charset="-122"/>
                <a:cs typeface="Tahoma" pitchFamily="34" charset="-120"/>
              </a:rPr>
              <a:t>تفکیک به واحدها</a:t>
            </a:r>
            <a:endParaRPr lang="en-US" sz="1500" dirty="0"/>
          </a:p>
        </p:txBody>
      </p:sp>
      <p:sp>
        <p:nvSpPr>
          <p:cNvPr id="12" name="Shape 9"/>
          <p:cNvSpPr/>
          <p:nvPr/>
        </p:nvSpPr>
        <p:spPr>
          <a:xfrm>
            <a:off x="4265676" y="1691640"/>
            <a:ext cx="3657600" cy="3657600"/>
          </a:xfrm>
          <a:prstGeom prst="roundRect">
            <a:avLst>
              <a:gd name="adj" fmla="val 2000"/>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13" name="Image 1" descr="fs12b">    </p:cNvPr>
          <p:cNvPicPr>
            <a:picLocks noChangeAspect="1"/>
          </p:cNvPicPr>
          <p:nvPr/>
        </p:nvPicPr>
        <p:blipFill>
          <a:blip r:embed="rId2"/>
          <a:stretch>
            <a:fillRect/>
          </a:stretch>
        </p:blipFill>
        <p:spPr>
          <a:xfrm>
            <a:off x="4311396" y="2254888"/>
            <a:ext cx="3566160" cy="2531104"/>
          </a:xfrm>
          <a:prstGeom prst="rect">
            <a:avLst/>
          </a:prstGeom>
        </p:spPr>
      </p:pic>
      <p:sp>
        <p:nvSpPr>
          <p:cNvPr id="14" name="Text 10"/>
          <p:cNvSpPr txBox="1"/>
          <p:nvPr/>
        </p:nvSpPr>
        <p:spPr>
          <a:xfrm>
            <a:off x="4265676" y="5532120"/>
            <a:ext cx="3657600" cy="777240"/>
          </a:xfrm>
          <a:prstGeom prst="rect">
            <a:avLst/>
          </a:prstGeom>
          <a:noFill/>
          <a:ln/>
        </p:spPr>
        <p:txBody>
          <a:bodyPr wrap="square" lIns="0" tIns="0" rIns="0" bIns="0" rtlCol="0" anchor="t"/>
          <a:lstStyle/>
          <a:p>
            <a:pPr rtl="1" algn="r" indent="0" marL="0">
              <a:buNone/>
            </a:pPr>
            <a:r>
              <a:rPr lang="en-US" sz="1250" dirty="0">
                <a:solidFill>
                  <a:srgbClr val="1F2937"/>
                </a:solidFill>
                <a:latin typeface="Tahoma" pitchFamily="34" charset="0"/>
                <a:ea typeface="Tahoma" pitchFamily="34" charset="-122"/>
                <a:cs typeface="Tahoma" pitchFamily="34" charset="-120"/>
              </a:rPr>
              <a:t>«به تفکیک واحد» سهم هر اداره کل را می‌دهد؛ با مسیر بالای پنل برگردید.</a:t>
            </a:r>
            <a:endParaRPr lang="en-US" sz="1250" dirty="0"/>
          </a:p>
        </p:txBody>
      </p:sp>
      <p:sp>
        <p:nvSpPr>
          <p:cNvPr id="15" name="Shape 11"/>
          <p:cNvSpPr/>
          <p:nvPr/>
        </p:nvSpPr>
        <p:spPr>
          <a:xfrm>
            <a:off x="3685032" y="1188720"/>
            <a:ext cx="384048" cy="384048"/>
          </a:xfrm>
          <a:prstGeom prst="ellipse">
            <a:avLst/>
          </a:prstGeom>
          <a:solidFill>
            <a:srgbClr val="C9A227"/>
          </a:solidFill>
          <a:ln w="12700">
            <a:solidFill>
              <a:srgbClr val="C9A227"/>
            </a:solidFill>
            <a:prstDash val="solid"/>
          </a:ln>
        </p:spPr>
      </p:sp>
      <p:sp>
        <p:nvSpPr>
          <p:cNvPr id="16" name="Text 12"/>
          <p:cNvSpPr txBox="1"/>
          <p:nvPr/>
        </p:nvSpPr>
        <p:spPr>
          <a:xfrm>
            <a:off x="3685032" y="1188720"/>
            <a:ext cx="384048" cy="384048"/>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3"/>
          <p:cNvSpPr txBox="1"/>
          <p:nvPr/>
        </p:nvSpPr>
        <p:spPr>
          <a:xfrm>
            <a:off x="411480" y="1188720"/>
            <a:ext cx="3154680" cy="384048"/>
          </a:xfrm>
          <a:prstGeom prst="rect">
            <a:avLst/>
          </a:prstGeom>
          <a:noFill/>
          <a:ln/>
        </p:spPr>
        <p:txBody>
          <a:bodyPr wrap="square" lIns="0" tIns="0" rIns="0" bIns="0" rtlCol="0" anchor="ctr"/>
          <a:lstStyle/>
          <a:p>
            <a:pPr rtl="1" algn="r" indent="0" marL="0">
              <a:buNone/>
            </a:pPr>
            <a:r>
              <a:rPr lang="en-US" sz="1500" b="1" dirty="0">
                <a:solidFill>
                  <a:srgbClr val="1B2A49"/>
                </a:solidFill>
                <a:latin typeface="Tahoma" pitchFamily="34" charset="0"/>
                <a:ea typeface="Tahoma" pitchFamily="34" charset="-122"/>
                <a:cs typeface="Tahoma" pitchFamily="34" charset="-120"/>
              </a:rPr>
              <a:t>اسناد حسابداری</a:t>
            </a:r>
            <a:endParaRPr lang="en-US" sz="1500" dirty="0"/>
          </a:p>
        </p:txBody>
      </p:sp>
      <p:sp>
        <p:nvSpPr>
          <p:cNvPr id="18" name="Shape 14"/>
          <p:cNvSpPr/>
          <p:nvPr/>
        </p:nvSpPr>
        <p:spPr>
          <a:xfrm>
            <a:off x="411480" y="1691640"/>
            <a:ext cx="3657600" cy="3657600"/>
          </a:xfrm>
          <a:prstGeom prst="roundRect">
            <a:avLst>
              <a:gd name="adj" fmla="val 2000"/>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19" name="Image 2" descr="fs12d">    </p:cNvPr>
          <p:cNvPicPr>
            <a:picLocks noChangeAspect="1"/>
          </p:cNvPicPr>
          <p:nvPr/>
        </p:nvPicPr>
        <p:blipFill>
          <a:blip r:embed="rId3"/>
          <a:stretch>
            <a:fillRect/>
          </a:stretch>
        </p:blipFill>
        <p:spPr>
          <a:xfrm>
            <a:off x="457200" y="1842823"/>
            <a:ext cx="3566160" cy="3355235"/>
          </a:xfrm>
          <a:prstGeom prst="rect">
            <a:avLst/>
          </a:prstGeom>
        </p:spPr>
      </p:pic>
      <p:sp>
        <p:nvSpPr>
          <p:cNvPr id="20" name="Text 15"/>
          <p:cNvSpPr txBox="1"/>
          <p:nvPr/>
        </p:nvSpPr>
        <p:spPr>
          <a:xfrm>
            <a:off x="411480" y="5532120"/>
            <a:ext cx="3657600" cy="777240"/>
          </a:xfrm>
          <a:prstGeom prst="rect">
            <a:avLst/>
          </a:prstGeom>
          <a:noFill/>
          <a:ln/>
        </p:spPr>
        <p:txBody>
          <a:bodyPr wrap="square" lIns="0" tIns="0" rIns="0" bIns="0" rtlCol="0" anchor="t"/>
          <a:lstStyle/>
          <a:p>
            <a:pPr rtl="1" algn="r" indent="0" marL="0">
              <a:buNone/>
            </a:pPr>
            <a:r>
              <a:rPr lang="en-US" sz="1250" dirty="0">
                <a:solidFill>
                  <a:srgbClr val="1F2937"/>
                </a:solidFill>
                <a:latin typeface="Tahoma" pitchFamily="34" charset="0"/>
                <a:ea typeface="Tahoma" pitchFamily="34" charset="-122"/>
                <a:cs typeface="Tahoma" pitchFamily="34" charset="-120"/>
              </a:rPr>
              <a:t>روی «اسناد …» بزنید: ریز اسناد با جمع بدهکار/بستانکار؛ آیکون کنار هر ردیف سند را باز می‌کند. هر سطح Excel دارد.</a:t>
            </a:r>
            <a:endParaRPr lang="en-US" sz="1250" dirty="0"/>
          </a:p>
        </p:txBody>
      </p:sp>
      <p:sp>
        <p:nvSpPr>
          <p:cNvPr id="21" name="Text 16"/>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۱۰ — کنترل‌ها، مقادیر دستی و گردش تأیید</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fsn13">    </p:cNvPr>
          <p:cNvPicPr>
            <a:picLocks noChangeAspect="1"/>
          </p:cNvPicPr>
          <p:nvPr/>
        </p:nvPicPr>
        <p:blipFill>
          <a:blip r:embed="rId1"/>
          <a:stretch>
            <a:fillRect/>
          </a:stretch>
        </p:blipFill>
        <p:spPr>
          <a:xfrm>
            <a:off x="691978" y="1216152"/>
            <a:ext cx="6845643" cy="5065776"/>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کنترل‌ها</a:t>
            </a:r>
            <a:endParaRPr lang="en-US" sz="1400" dirty="0"/>
          </a:p>
        </p:txBody>
      </p:sp>
      <p:sp>
        <p:nvSpPr>
          <p:cNvPr id="8" name="Text 5"/>
          <p:cNvSpPr txBox="1"/>
          <p:nvPr/>
        </p:nvSpPr>
        <p:spPr>
          <a:xfrm>
            <a:off x="8046720" y="1517904"/>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هر کنترل با شدت، نتیجه و اختلاف؛ مسدودکنندهٔ ناموفق جلوی «ارسال برای بازبینی» را می‌گیرد.</a:t>
            </a:r>
            <a:endParaRPr lang="en-US" sz="1300" dirty="0"/>
          </a:p>
        </p:txBody>
      </p:sp>
      <p:sp>
        <p:nvSpPr>
          <p:cNvPr id="9" name="Shape 6"/>
          <p:cNvSpPr/>
          <p:nvPr/>
        </p:nvSpPr>
        <p:spPr>
          <a:xfrm>
            <a:off x="11393424" y="2323948"/>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32394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32394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مقادیر دستی</a:t>
            </a:r>
            <a:endParaRPr lang="en-US" sz="1400" dirty="0"/>
          </a:p>
        </p:txBody>
      </p:sp>
      <p:sp>
        <p:nvSpPr>
          <p:cNvPr id="12" name="Text 9"/>
          <p:cNvSpPr txBox="1"/>
          <p:nvPr/>
        </p:nvSpPr>
        <p:spPr>
          <a:xfrm>
            <a:off x="8046720" y="2653132"/>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ردیف‌های «مقدار دستی» را با دلیل اجباری وارد کنید؛ اجرای تازه ساخته می‌شود.</a:t>
            </a:r>
            <a:endParaRPr lang="en-US" sz="1300" dirty="0"/>
          </a:p>
        </p:txBody>
      </p:sp>
      <p:sp>
        <p:nvSpPr>
          <p:cNvPr id="13" name="Shape 10"/>
          <p:cNvSpPr/>
          <p:nvPr/>
        </p:nvSpPr>
        <p:spPr>
          <a:xfrm>
            <a:off x="11393424" y="3459175"/>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459175"/>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459175"/>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گردش</a:t>
            </a:r>
            <a:endParaRPr lang="en-US" sz="1400" dirty="0"/>
          </a:p>
        </p:txBody>
      </p:sp>
      <p:sp>
        <p:nvSpPr>
          <p:cNvPr id="16" name="Text 13"/>
          <p:cNvSpPr txBox="1"/>
          <p:nvPr/>
        </p:nvSpPr>
        <p:spPr>
          <a:xfrm>
            <a:off x="8046720" y="3788359"/>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پیش‌نویس ⇐ بازبینی ⇐ تأیید (یک یا چند مرحله) ⇐ انتشار؛ برگشت با دلیل.</a:t>
            </a:r>
            <a:endParaRPr lang="en-US" sz="1300" dirty="0"/>
          </a:p>
        </p:txBody>
      </p:sp>
      <p:sp>
        <p:nvSpPr>
          <p:cNvPr id="17" name="Shape 14"/>
          <p:cNvSpPr/>
          <p:nvPr/>
        </p:nvSpPr>
        <p:spPr>
          <a:xfrm>
            <a:off x="11393424" y="4374490"/>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437449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437449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تفکیک وظایف</a:t>
            </a:r>
            <a:endParaRPr lang="en-US" sz="1400" dirty="0"/>
          </a:p>
        </p:txBody>
      </p:sp>
      <p:sp>
        <p:nvSpPr>
          <p:cNvPr id="20" name="Text 17"/>
          <p:cNvSpPr txBox="1"/>
          <p:nvPr/>
        </p:nvSpPr>
        <p:spPr>
          <a:xfrm>
            <a:off x="8046720" y="4703674"/>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تهیه‌کننده تأیید و منتشر نمی‌کند؛ انتشار، نسخهٔ منتشرشدهٔ قبلی همان دوره را «جایگزین‌شده» می‌کند.</a:t>
            </a:r>
            <a:endParaRPr lang="en-US" sz="1300" dirty="0"/>
          </a:p>
        </p:txBody>
      </p:sp>
      <p:sp>
        <p:nvSpPr>
          <p:cNvPr id="21" name="Shape 18"/>
          <p:cNvSpPr/>
          <p:nvPr/>
        </p:nvSpPr>
        <p:spPr>
          <a:xfrm>
            <a:off x="11393424" y="5509717"/>
            <a:ext cx="347472" cy="347472"/>
          </a:xfrm>
          <a:prstGeom prst="ellipse">
            <a:avLst/>
          </a:prstGeom>
          <a:solidFill>
            <a:srgbClr val="C9A227"/>
          </a:solidFill>
          <a:ln w="12700">
            <a:solidFill>
              <a:srgbClr val="C9A227"/>
            </a:solidFill>
            <a:prstDash val="solid"/>
          </a:ln>
        </p:spPr>
      </p:sp>
      <p:sp>
        <p:nvSpPr>
          <p:cNvPr id="22" name="Text 19"/>
          <p:cNvSpPr txBox="1"/>
          <p:nvPr/>
        </p:nvSpPr>
        <p:spPr>
          <a:xfrm>
            <a:off x="11393424" y="5509717"/>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23" name="Text 20"/>
          <p:cNvSpPr txBox="1"/>
          <p:nvPr/>
        </p:nvSpPr>
        <p:spPr>
          <a:xfrm>
            <a:off x="8046720" y="5509717"/>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کهنگی و مقایسه</a:t>
            </a:r>
            <a:endParaRPr lang="en-US" sz="1400" dirty="0"/>
          </a:p>
        </p:txBody>
      </p:sp>
      <p:sp>
        <p:nvSpPr>
          <p:cNvPr id="24" name="Text 21"/>
          <p:cNvSpPr txBox="1"/>
          <p:nvPr/>
        </p:nvSpPr>
        <p:spPr>
          <a:xfrm>
            <a:off x="8046720" y="5838901"/>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نوار زرد یعنی اسناد بعد از اجرا عوض شده‌اند؛ «مقایسه با اجرای دیگر» تفاوت ردیف‌ها را می‌دهد.</a:t>
            </a:r>
            <a:endParaRPr lang="en-US" sz="1300" dirty="0"/>
          </a:p>
        </p:txBody>
      </p:sp>
      <p:sp>
        <p:nvSpPr>
          <p:cNvPr id="25" name="Text 22"/>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۱۱ — مراحل تأیید و بستن دوره</a:t>
            </a:r>
            <a:endParaRPr lang="en-US" sz="2600" dirty="0"/>
          </a:p>
        </p:txBody>
      </p:sp>
      <p:sp>
        <p:nvSpPr>
          <p:cNvPr id="3" name="Shape 1"/>
          <p:cNvSpPr/>
          <p:nvPr/>
        </p:nvSpPr>
        <p:spPr>
          <a:xfrm>
            <a:off x="7653528" y="896112"/>
            <a:ext cx="4123944"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صورت‌های مالی ← گردش تأیید صورت‌ها / بستن دوره</a:t>
            </a:r>
            <a:endParaRPr lang="en-US" sz="1100" dirty="0"/>
          </a:p>
        </p:txBody>
      </p:sp>
      <p:sp>
        <p:nvSpPr>
          <p:cNvPr id="5" name="Text 3"/>
          <p:cNvSpPr txBox="1"/>
          <p:nvPr/>
        </p:nvSpPr>
        <p:spPr>
          <a:xfrm>
            <a:off x="6208776"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گردش تأیید صورت‌ها</a:t>
            </a:r>
            <a:endParaRPr lang="en-US" sz="1200" dirty="0"/>
          </a:p>
        </p:txBody>
      </p:sp>
      <p:sp>
        <p:nvSpPr>
          <p:cNvPr id="6" name="Shape 4"/>
          <p:cNvSpPr/>
          <p:nvPr/>
        </p:nvSpPr>
        <p:spPr>
          <a:xfrm>
            <a:off x="6208776" y="1618488"/>
            <a:ext cx="5568696" cy="2411730"/>
          </a:xfrm>
          <a:prstGeom prst="roundRect">
            <a:avLst>
              <a:gd name="adj" fmla="val 3033"/>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7" name="Image 0" descr="fsn02s">    </p:cNvPr>
          <p:cNvPicPr>
            <a:picLocks noChangeAspect="1"/>
          </p:cNvPicPr>
          <p:nvPr/>
        </p:nvPicPr>
        <p:blipFill>
          <a:blip r:embed="rId1"/>
          <a:stretch>
            <a:fillRect/>
          </a:stretch>
        </p:blipFill>
        <p:spPr>
          <a:xfrm>
            <a:off x="6254496" y="1728902"/>
            <a:ext cx="5477256" cy="2190902"/>
          </a:xfrm>
          <a:prstGeom prst="rect">
            <a:avLst/>
          </a:prstGeom>
        </p:spPr>
      </p:pic>
      <p:sp>
        <p:nvSpPr>
          <p:cNvPr id="8" name="Text 5"/>
          <p:cNvSpPr txBox="1"/>
          <p:nvPr/>
        </p:nvSpPr>
        <p:spPr>
          <a:xfrm>
            <a:off x="411480"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بستن دوره</a:t>
            </a:r>
            <a:endParaRPr lang="en-US" sz="1200" dirty="0"/>
          </a:p>
        </p:txBody>
      </p:sp>
      <p:sp>
        <p:nvSpPr>
          <p:cNvPr id="9" name="Shape 6"/>
          <p:cNvSpPr/>
          <p:nvPr/>
        </p:nvSpPr>
        <p:spPr>
          <a:xfrm>
            <a:off x="411480" y="1618488"/>
            <a:ext cx="5568696" cy="2411730"/>
          </a:xfrm>
          <a:prstGeom prst="roundRect">
            <a:avLst>
              <a:gd name="adj" fmla="val 3033"/>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10" name="Image 1" descr="fsn03s">    </p:cNvPr>
          <p:cNvPicPr>
            <a:picLocks noChangeAspect="1"/>
          </p:cNvPicPr>
          <p:nvPr/>
        </p:nvPicPr>
        <p:blipFill>
          <a:blip r:embed="rId2"/>
          <a:stretch>
            <a:fillRect/>
          </a:stretch>
        </p:blipFill>
        <p:spPr>
          <a:xfrm>
            <a:off x="457200" y="1683258"/>
            <a:ext cx="5477256" cy="2282190"/>
          </a:xfrm>
          <a:prstGeom prst="rect">
            <a:avLst/>
          </a:prstGeom>
        </p:spPr>
      </p:pic>
      <p:sp>
        <p:nvSpPr>
          <p:cNvPr id="11" name="Shape 7"/>
          <p:cNvSpPr/>
          <p:nvPr/>
        </p:nvSpPr>
        <p:spPr>
          <a:xfrm>
            <a:off x="9614002" y="4213098"/>
            <a:ext cx="2163470" cy="1346454"/>
          </a:xfrm>
          <a:prstGeom prst="roundRect">
            <a:avLst>
              <a:gd name="adj" fmla="val 5433"/>
            </a:avLst>
          </a:prstGeom>
          <a:solidFill>
            <a:srgbClr val="FFFFFF"/>
          </a:solidFill>
          <a:ln w="6350">
            <a:solidFill>
              <a:srgbClr val="D9DEE7"/>
            </a:solidFill>
            <a:prstDash val="solid"/>
          </a:ln>
        </p:spPr>
      </p:sp>
      <p:sp>
        <p:nvSpPr>
          <p:cNvPr id="12" name="Shape 8"/>
          <p:cNvSpPr/>
          <p:nvPr/>
        </p:nvSpPr>
        <p:spPr>
          <a:xfrm>
            <a:off x="11347704" y="4304538"/>
            <a:ext cx="329184" cy="329184"/>
          </a:xfrm>
          <a:prstGeom prst="ellipse">
            <a:avLst/>
          </a:prstGeom>
          <a:solidFill>
            <a:srgbClr val="C9A227"/>
          </a:solidFill>
          <a:ln w="12700">
            <a:solidFill>
              <a:srgbClr val="C9A227"/>
            </a:solidFill>
            <a:prstDash val="solid"/>
          </a:ln>
        </p:spPr>
      </p:sp>
      <p:sp>
        <p:nvSpPr>
          <p:cNvPr id="13" name="Text 9"/>
          <p:cNvSpPr txBox="1"/>
          <p:nvPr/>
        </p:nvSpPr>
        <p:spPr>
          <a:xfrm>
            <a:off x="11347704" y="430453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14" name="Text 10"/>
          <p:cNvSpPr txBox="1"/>
          <p:nvPr/>
        </p:nvSpPr>
        <p:spPr>
          <a:xfrm>
            <a:off x="9705442" y="428625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مراحل تأیید</a:t>
            </a:r>
            <a:endParaRPr lang="en-US" sz="1300" dirty="0"/>
          </a:p>
        </p:txBody>
      </p:sp>
      <p:sp>
        <p:nvSpPr>
          <p:cNvPr id="15" name="Text 11"/>
          <p:cNvSpPr txBox="1"/>
          <p:nvPr/>
        </p:nvSpPr>
        <p:spPr>
          <a:xfrm>
            <a:off x="9723730" y="4688586"/>
            <a:ext cx="1944014" cy="81610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برای هر مجموعه، مراحل (بازبین، مدیرکل، معاون…) را با کد کاربری تأییدکنندگان تعریف کنید.</a:t>
            </a:r>
            <a:endParaRPr lang="en-US" sz="1150" dirty="0"/>
          </a:p>
        </p:txBody>
      </p:sp>
      <p:sp>
        <p:nvSpPr>
          <p:cNvPr id="16" name="Shape 12"/>
          <p:cNvSpPr/>
          <p:nvPr/>
        </p:nvSpPr>
        <p:spPr>
          <a:xfrm>
            <a:off x="7313371" y="4213098"/>
            <a:ext cx="2163470" cy="1346454"/>
          </a:xfrm>
          <a:prstGeom prst="roundRect">
            <a:avLst>
              <a:gd name="adj" fmla="val 5433"/>
            </a:avLst>
          </a:prstGeom>
          <a:solidFill>
            <a:srgbClr val="FFFFFF"/>
          </a:solidFill>
          <a:ln w="6350">
            <a:solidFill>
              <a:srgbClr val="D9DEE7"/>
            </a:solidFill>
            <a:prstDash val="solid"/>
          </a:ln>
        </p:spPr>
      </p:sp>
      <p:sp>
        <p:nvSpPr>
          <p:cNvPr id="17" name="Shape 13"/>
          <p:cNvSpPr/>
          <p:nvPr/>
        </p:nvSpPr>
        <p:spPr>
          <a:xfrm>
            <a:off x="9047074" y="4304538"/>
            <a:ext cx="329184" cy="329184"/>
          </a:xfrm>
          <a:prstGeom prst="ellipse">
            <a:avLst/>
          </a:prstGeom>
          <a:solidFill>
            <a:srgbClr val="C9A227"/>
          </a:solidFill>
          <a:ln w="12700">
            <a:solidFill>
              <a:srgbClr val="C9A227"/>
            </a:solidFill>
            <a:prstDash val="solid"/>
          </a:ln>
        </p:spPr>
      </p:sp>
      <p:sp>
        <p:nvSpPr>
          <p:cNvPr id="18" name="Text 14"/>
          <p:cNvSpPr txBox="1"/>
          <p:nvPr/>
        </p:nvSpPr>
        <p:spPr>
          <a:xfrm>
            <a:off x="9047074" y="430453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9" name="Text 15"/>
          <p:cNvSpPr txBox="1"/>
          <p:nvPr/>
        </p:nvSpPr>
        <p:spPr>
          <a:xfrm>
            <a:off x="7404811" y="428625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تأیید مرحله‌به‌مرحله</a:t>
            </a:r>
            <a:endParaRPr lang="en-US" sz="1300" dirty="0"/>
          </a:p>
        </p:txBody>
      </p:sp>
      <p:sp>
        <p:nvSpPr>
          <p:cNvPr id="20" name="Text 16"/>
          <p:cNvSpPr txBox="1"/>
          <p:nvPr/>
        </p:nvSpPr>
        <p:spPr>
          <a:xfrm>
            <a:off x="7423099" y="4688586"/>
            <a:ext cx="1944014" cy="81610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دکمهٔ «تأیید» نام مرحلهٔ جاری را دارد؛ یک نفر دو مرحلهٔ یک اجرا را تأیید نمی‌کند.</a:t>
            </a:r>
            <a:endParaRPr lang="en-US" sz="1150" dirty="0"/>
          </a:p>
        </p:txBody>
      </p:sp>
      <p:sp>
        <p:nvSpPr>
          <p:cNvPr id="21" name="Shape 17"/>
          <p:cNvSpPr/>
          <p:nvPr/>
        </p:nvSpPr>
        <p:spPr>
          <a:xfrm>
            <a:off x="5012741" y="4213098"/>
            <a:ext cx="2163470" cy="1346454"/>
          </a:xfrm>
          <a:prstGeom prst="roundRect">
            <a:avLst>
              <a:gd name="adj" fmla="val 5433"/>
            </a:avLst>
          </a:prstGeom>
          <a:solidFill>
            <a:srgbClr val="FFFFFF"/>
          </a:solidFill>
          <a:ln w="6350">
            <a:solidFill>
              <a:srgbClr val="D9DEE7"/>
            </a:solidFill>
            <a:prstDash val="solid"/>
          </a:ln>
        </p:spPr>
      </p:sp>
      <p:sp>
        <p:nvSpPr>
          <p:cNvPr id="22" name="Shape 18"/>
          <p:cNvSpPr/>
          <p:nvPr/>
        </p:nvSpPr>
        <p:spPr>
          <a:xfrm>
            <a:off x="6746443" y="4304538"/>
            <a:ext cx="329184" cy="329184"/>
          </a:xfrm>
          <a:prstGeom prst="ellipse">
            <a:avLst/>
          </a:prstGeom>
          <a:solidFill>
            <a:srgbClr val="C9A227"/>
          </a:solidFill>
          <a:ln w="12700">
            <a:solidFill>
              <a:srgbClr val="C9A227"/>
            </a:solidFill>
            <a:prstDash val="solid"/>
          </a:ln>
        </p:spPr>
      </p:sp>
      <p:sp>
        <p:nvSpPr>
          <p:cNvPr id="23" name="Text 19"/>
          <p:cNvSpPr txBox="1"/>
          <p:nvPr/>
        </p:nvSpPr>
        <p:spPr>
          <a:xfrm>
            <a:off x="6746443" y="430453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24" name="Text 20"/>
          <p:cNvSpPr txBox="1"/>
          <p:nvPr/>
        </p:nvSpPr>
        <p:spPr>
          <a:xfrm>
            <a:off x="5104181" y="428625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بستن دوره</a:t>
            </a:r>
            <a:endParaRPr lang="en-US" sz="1300" dirty="0"/>
          </a:p>
        </p:txBody>
      </p:sp>
      <p:sp>
        <p:nvSpPr>
          <p:cNvPr id="25" name="Text 21"/>
          <p:cNvSpPr txBox="1"/>
          <p:nvPr/>
        </p:nvSpPr>
        <p:spPr>
          <a:xfrm>
            <a:off x="5122469" y="4688586"/>
            <a:ext cx="1944014" cy="81610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باز ⇐ بستهٔ موقت ⇐ قفل؛ قفل هر واحد، زیرواحدهایش را هم قفل‌شده حساب می‌کند.</a:t>
            </a:r>
            <a:endParaRPr lang="en-US" sz="1150" dirty="0"/>
          </a:p>
        </p:txBody>
      </p:sp>
      <p:sp>
        <p:nvSpPr>
          <p:cNvPr id="26" name="Shape 22"/>
          <p:cNvSpPr/>
          <p:nvPr/>
        </p:nvSpPr>
        <p:spPr>
          <a:xfrm>
            <a:off x="2712110" y="4213098"/>
            <a:ext cx="2163470" cy="1346454"/>
          </a:xfrm>
          <a:prstGeom prst="roundRect">
            <a:avLst>
              <a:gd name="adj" fmla="val 5433"/>
            </a:avLst>
          </a:prstGeom>
          <a:solidFill>
            <a:srgbClr val="FFFFFF"/>
          </a:solidFill>
          <a:ln w="6350">
            <a:solidFill>
              <a:srgbClr val="D9DEE7"/>
            </a:solidFill>
            <a:prstDash val="solid"/>
          </a:ln>
        </p:spPr>
      </p:sp>
      <p:sp>
        <p:nvSpPr>
          <p:cNvPr id="27" name="Shape 23"/>
          <p:cNvSpPr/>
          <p:nvPr/>
        </p:nvSpPr>
        <p:spPr>
          <a:xfrm>
            <a:off x="4445813" y="4304538"/>
            <a:ext cx="329184" cy="329184"/>
          </a:xfrm>
          <a:prstGeom prst="ellipse">
            <a:avLst/>
          </a:prstGeom>
          <a:solidFill>
            <a:srgbClr val="C9A227"/>
          </a:solidFill>
          <a:ln w="12700">
            <a:solidFill>
              <a:srgbClr val="C9A227"/>
            </a:solidFill>
            <a:prstDash val="solid"/>
          </a:ln>
        </p:spPr>
      </p:sp>
      <p:sp>
        <p:nvSpPr>
          <p:cNvPr id="28" name="Text 24"/>
          <p:cNvSpPr txBox="1"/>
          <p:nvPr/>
        </p:nvSpPr>
        <p:spPr>
          <a:xfrm>
            <a:off x="4445813" y="430453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9" name="Text 25"/>
          <p:cNvSpPr txBox="1"/>
          <p:nvPr/>
        </p:nvSpPr>
        <p:spPr>
          <a:xfrm>
            <a:off x="2803550" y="428625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بازگشایی</a:t>
            </a:r>
            <a:endParaRPr lang="en-US" sz="1300" dirty="0"/>
          </a:p>
        </p:txBody>
      </p:sp>
      <p:sp>
        <p:nvSpPr>
          <p:cNvPr id="30" name="Text 26"/>
          <p:cNvSpPr txBox="1"/>
          <p:nvPr/>
        </p:nvSpPr>
        <p:spPr>
          <a:xfrm>
            <a:off x="2821838" y="4688586"/>
            <a:ext cx="1944014" cy="81610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بستهٔ موقت مستقیم باز می‌شود؛ دورهٔ قفل با «درخواست بازگشایی» و تأیید ستاد.</a:t>
            </a:r>
            <a:endParaRPr lang="en-US" sz="1150" dirty="0"/>
          </a:p>
        </p:txBody>
      </p:sp>
      <p:sp>
        <p:nvSpPr>
          <p:cNvPr id="31" name="Shape 27"/>
          <p:cNvSpPr/>
          <p:nvPr/>
        </p:nvSpPr>
        <p:spPr>
          <a:xfrm>
            <a:off x="411480" y="4213098"/>
            <a:ext cx="2163470" cy="1346454"/>
          </a:xfrm>
          <a:prstGeom prst="roundRect">
            <a:avLst>
              <a:gd name="adj" fmla="val 5433"/>
            </a:avLst>
          </a:prstGeom>
          <a:solidFill>
            <a:srgbClr val="FFFFFF"/>
          </a:solidFill>
          <a:ln w="6350">
            <a:solidFill>
              <a:srgbClr val="D9DEE7"/>
            </a:solidFill>
            <a:prstDash val="solid"/>
          </a:ln>
        </p:spPr>
      </p:sp>
      <p:sp>
        <p:nvSpPr>
          <p:cNvPr id="32" name="Shape 28"/>
          <p:cNvSpPr/>
          <p:nvPr/>
        </p:nvSpPr>
        <p:spPr>
          <a:xfrm>
            <a:off x="2145182" y="4304538"/>
            <a:ext cx="329184" cy="329184"/>
          </a:xfrm>
          <a:prstGeom prst="ellipse">
            <a:avLst/>
          </a:prstGeom>
          <a:solidFill>
            <a:srgbClr val="C9A227"/>
          </a:solidFill>
          <a:ln w="12700">
            <a:solidFill>
              <a:srgbClr val="C9A227"/>
            </a:solidFill>
            <a:prstDash val="solid"/>
          </a:ln>
        </p:spPr>
      </p:sp>
      <p:sp>
        <p:nvSpPr>
          <p:cNvPr id="33" name="Text 29"/>
          <p:cNvSpPr txBox="1"/>
          <p:nvPr/>
        </p:nvSpPr>
        <p:spPr>
          <a:xfrm>
            <a:off x="2145182" y="430453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34" name="Text 30"/>
          <p:cNvSpPr txBox="1"/>
          <p:nvPr/>
        </p:nvSpPr>
        <p:spPr>
          <a:xfrm>
            <a:off x="502920" y="428625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تاریخچه</a:t>
            </a:r>
            <a:endParaRPr lang="en-US" sz="1300" dirty="0"/>
          </a:p>
        </p:txBody>
      </p:sp>
      <p:sp>
        <p:nvSpPr>
          <p:cNvPr id="35" name="Text 31"/>
          <p:cNvSpPr txBox="1"/>
          <p:nvPr/>
        </p:nvSpPr>
        <p:spPr>
          <a:xfrm>
            <a:off x="521208" y="4688586"/>
            <a:ext cx="1944014" cy="81610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هر اقدام روی دوره با کاربر، زمان و دلیل در «تاریخچه» ثبت می‌شود.</a:t>
            </a:r>
            <a:endParaRPr lang="en-US" sz="1150" dirty="0"/>
          </a:p>
        </p:txBody>
      </p:sp>
      <p:sp>
        <p:nvSpPr>
          <p:cNvPr id="36" name="Shape 32"/>
          <p:cNvSpPr/>
          <p:nvPr/>
        </p:nvSpPr>
        <p:spPr>
          <a:xfrm>
            <a:off x="411480" y="5696712"/>
            <a:ext cx="11365992" cy="658368"/>
          </a:xfrm>
          <a:prstGeom prst="roundRect">
            <a:avLst>
              <a:gd name="adj" fmla="val 11111"/>
            </a:avLst>
          </a:prstGeom>
          <a:solidFill>
            <a:srgbClr val="F6EDCF"/>
          </a:solidFill>
          <a:ln w="9525">
            <a:solidFill>
              <a:srgbClr val="C9A227"/>
            </a:solidFill>
            <a:prstDash val="solid"/>
          </a:ln>
        </p:spPr>
      </p:sp>
      <p:sp>
        <p:nvSpPr>
          <p:cNvPr id="37" name="Text 33"/>
          <p:cNvSpPr txBox="1"/>
          <p:nvPr/>
        </p:nvSpPr>
        <p:spPr>
          <a:xfrm>
            <a:off x="10954512" y="5696712"/>
            <a:ext cx="731520" cy="658368"/>
          </a:xfrm>
          <a:prstGeom prst="rect">
            <a:avLst/>
          </a:prstGeom>
          <a:noFill/>
          <a:ln/>
        </p:spPr>
        <p:txBody>
          <a:bodyPr wrap="square" lIns="0" tIns="0" rIns="0" bIns="0" rtlCol="0" anchor="ctr"/>
          <a:lstStyle/>
          <a:p>
            <a:pPr rtl="1" algn="r" indent="0" marL="0">
              <a:buNone/>
            </a:pPr>
            <a:r>
              <a:rPr lang="en-US" sz="1400" b="1" dirty="0">
                <a:solidFill>
                  <a:srgbClr val="6B5410"/>
                </a:solidFill>
                <a:latin typeface="Tahoma" pitchFamily="34" charset="0"/>
                <a:ea typeface="Tahoma" pitchFamily="34" charset="-122"/>
                <a:cs typeface="Tahoma" pitchFamily="34" charset="-120"/>
              </a:rPr>
              <a:t>نکته</a:t>
            </a:r>
            <a:endParaRPr lang="en-US" sz="1400" dirty="0"/>
          </a:p>
        </p:txBody>
      </p:sp>
      <p:sp>
        <p:nvSpPr>
          <p:cNvPr id="38" name="Text 34"/>
          <p:cNvSpPr txBox="1"/>
          <p:nvPr/>
        </p:nvSpPr>
        <p:spPr>
          <a:xfrm>
            <a:off x="548640" y="5696712"/>
            <a:ext cx="10360152" cy="658368"/>
          </a:xfrm>
          <a:prstGeom prst="rect">
            <a:avLst/>
          </a:prstGeom>
          <a:noFill/>
          <a:ln/>
        </p:spPr>
        <p:txBody>
          <a:bodyPr wrap="square" lIns="0" tIns="0" rIns="0" bIns="0" rtlCol="0" anchor="ctr"/>
          <a:lstStyle/>
          <a:p>
            <a:pPr rtl="1" algn="r" indent="0" marL="0">
              <a:buNone/>
            </a:pPr>
            <a:r>
              <a:rPr lang="en-US" sz="1300" dirty="0">
                <a:solidFill>
                  <a:srgbClr val="4A3B0B"/>
                </a:solidFill>
                <a:latin typeface="Tahoma" pitchFamily="34" charset="0"/>
                <a:ea typeface="Tahoma" pitchFamily="34" charset="-122"/>
                <a:cs typeface="Tahoma" pitchFamily="34" charset="-120"/>
              </a:rPr>
              <a:t>انتشار فقط وقتی ممکن است که دورهٔ همهٔ واحدهای دامنه «قفل» شده باشد (کنترل V-11). این قفل ثبت سند را نمی‌بندد.</a:t>
            </a:r>
            <a:endParaRPr lang="en-US" sz="1300" dirty="0"/>
          </a:p>
        </p:txBody>
      </p:sp>
      <p:sp>
        <p:nvSpPr>
          <p:cNvPr id="39" name="Text 35"/>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۱۲ — یادداشت‌های توضیحی</a:t>
            </a:r>
            <a:endParaRPr lang="en-US" sz="2600" dirty="0"/>
          </a:p>
        </p:txBody>
      </p:sp>
      <p:sp>
        <p:nvSpPr>
          <p:cNvPr id="3" name="Shape 1"/>
          <p:cNvSpPr/>
          <p:nvPr/>
        </p:nvSpPr>
        <p:spPr>
          <a:xfrm>
            <a:off x="8586216" y="896112"/>
            <a:ext cx="3191256"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صورت‌های مالی ← یادداشت‌های توضیحی</a:t>
            </a:r>
            <a:endParaRPr lang="en-US" sz="1100" dirty="0"/>
          </a:p>
        </p:txBody>
      </p:sp>
      <p:sp>
        <p:nvSpPr>
          <p:cNvPr id="5" name="Text 3"/>
          <p:cNvSpPr txBox="1"/>
          <p:nvPr/>
        </p:nvSpPr>
        <p:spPr>
          <a:xfrm>
            <a:off x="6208776"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فهرست یادداشت‌ها و پیشرفت</a:t>
            </a:r>
            <a:endParaRPr lang="en-US" sz="1200" dirty="0"/>
          </a:p>
        </p:txBody>
      </p:sp>
      <p:sp>
        <p:nvSpPr>
          <p:cNvPr id="6" name="Shape 4"/>
          <p:cNvSpPr/>
          <p:nvPr/>
        </p:nvSpPr>
        <p:spPr>
          <a:xfrm>
            <a:off x="6208776" y="1618488"/>
            <a:ext cx="5568696" cy="2055952"/>
          </a:xfrm>
          <a:prstGeom prst="roundRect">
            <a:avLst>
              <a:gd name="adj" fmla="val 3558"/>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7" name="Image 0" descr="fsn04s">    </p:cNvPr>
          <p:cNvPicPr>
            <a:picLocks noChangeAspect="1"/>
          </p:cNvPicPr>
          <p:nvPr/>
        </p:nvPicPr>
        <p:blipFill>
          <a:blip r:embed="rId1"/>
          <a:stretch>
            <a:fillRect/>
          </a:stretch>
        </p:blipFill>
        <p:spPr>
          <a:xfrm>
            <a:off x="6254496" y="1680337"/>
            <a:ext cx="5477256" cy="1932254"/>
          </a:xfrm>
          <a:prstGeom prst="rect">
            <a:avLst/>
          </a:prstGeom>
        </p:spPr>
      </p:pic>
      <p:sp>
        <p:nvSpPr>
          <p:cNvPr id="8" name="Text 5"/>
          <p:cNvSpPr txBox="1"/>
          <p:nvPr/>
        </p:nvSpPr>
        <p:spPr>
          <a:xfrm>
            <a:off x="411480"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یادداشت تازه و ویرایشگر</a:t>
            </a:r>
            <a:endParaRPr lang="en-US" sz="1200" dirty="0"/>
          </a:p>
        </p:txBody>
      </p:sp>
      <p:sp>
        <p:nvSpPr>
          <p:cNvPr id="9" name="Shape 6"/>
          <p:cNvSpPr/>
          <p:nvPr/>
        </p:nvSpPr>
        <p:spPr>
          <a:xfrm>
            <a:off x="411480" y="1618488"/>
            <a:ext cx="5568696" cy="2055952"/>
          </a:xfrm>
          <a:prstGeom prst="roundRect">
            <a:avLst>
              <a:gd name="adj" fmla="val 3558"/>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10" name="Image 1" descr="fsn05s">    </p:cNvPr>
          <p:cNvPicPr>
            <a:picLocks noChangeAspect="1"/>
          </p:cNvPicPr>
          <p:nvPr/>
        </p:nvPicPr>
        <p:blipFill>
          <a:blip r:embed="rId2"/>
          <a:stretch>
            <a:fillRect/>
          </a:stretch>
        </p:blipFill>
        <p:spPr>
          <a:xfrm>
            <a:off x="457200" y="1764017"/>
            <a:ext cx="5477256" cy="1764894"/>
          </a:xfrm>
          <a:prstGeom prst="rect">
            <a:avLst/>
          </a:prstGeom>
        </p:spPr>
      </p:pic>
      <p:sp>
        <p:nvSpPr>
          <p:cNvPr id="11" name="Shape 7"/>
          <p:cNvSpPr/>
          <p:nvPr/>
        </p:nvSpPr>
        <p:spPr>
          <a:xfrm>
            <a:off x="9614002" y="3857320"/>
            <a:ext cx="2163470" cy="1702232"/>
          </a:xfrm>
          <a:prstGeom prst="roundRect">
            <a:avLst>
              <a:gd name="adj" fmla="val 4297"/>
            </a:avLst>
          </a:prstGeom>
          <a:solidFill>
            <a:srgbClr val="FFFFFF"/>
          </a:solidFill>
          <a:ln w="6350">
            <a:solidFill>
              <a:srgbClr val="D9DEE7"/>
            </a:solidFill>
            <a:prstDash val="solid"/>
          </a:ln>
        </p:spPr>
      </p:sp>
      <p:sp>
        <p:nvSpPr>
          <p:cNvPr id="12" name="Shape 8"/>
          <p:cNvSpPr/>
          <p:nvPr/>
        </p:nvSpPr>
        <p:spPr>
          <a:xfrm>
            <a:off x="11347704" y="3948760"/>
            <a:ext cx="329184" cy="329184"/>
          </a:xfrm>
          <a:prstGeom prst="ellipse">
            <a:avLst/>
          </a:prstGeom>
          <a:solidFill>
            <a:srgbClr val="C9A227"/>
          </a:solidFill>
          <a:ln w="12700">
            <a:solidFill>
              <a:srgbClr val="C9A227"/>
            </a:solidFill>
            <a:prstDash val="solid"/>
          </a:ln>
        </p:spPr>
      </p:sp>
      <p:sp>
        <p:nvSpPr>
          <p:cNvPr id="13" name="Text 9"/>
          <p:cNvSpPr txBox="1"/>
          <p:nvPr/>
        </p:nvSpPr>
        <p:spPr>
          <a:xfrm>
            <a:off x="11347704" y="3948760"/>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14" name="Text 10"/>
          <p:cNvSpPr txBox="1"/>
          <p:nvPr/>
        </p:nvSpPr>
        <p:spPr>
          <a:xfrm>
            <a:off x="9705442" y="3930472"/>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نوع یادداشت</a:t>
            </a:r>
            <a:endParaRPr lang="en-US" sz="1300" dirty="0"/>
          </a:p>
        </p:txBody>
      </p:sp>
      <p:sp>
        <p:nvSpPr>
          <p:cNvPr id="15" name="Text 11"/>
          <p:cNvSpPr txBox="1"/>
          <p:nvPr/>
        </p:nvSpPr>
        <p:spPr>
          <a:xfrm>
            <a:off x="9723730" y="4332808"/>
            <a:ext cx="1944014" cy="1171880"/>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مستقل (تاریخچه، مبنا، رویه‌ها) یا همراه یک یادداشت عددی که زیر جدول آن می‌آید.</a:t>
            </a:r>
            <a:endParaRPr lang="en-US" sz="1150" dirty="0"/>
          </a:p>
        </p:txBody>
      </p:sp>
      <p:sp>
        <p:nvSpPr>
          <p:cNvPr id="16" name="Shape 12"/>
          <p:cNvSpPr/>
          <p:nvPr/>
        </p:nvSpPr>
        <p:spPr>
          <a:xfrm>
            <a:off x="7313371" y="3857320"/>
            <a:ext cx="2163470" cy="1702232"/>
          </a:xfrm>
          <a:prstGeom prst="roundRect">
            <a:avLst>
              <a:gd name="adj" fmla="val 4297"/>
            </a:avLst>
          </a:prstGeom>
          <a:solidFill>
            <a:srgbClr val="FFFFFF"/>
          </a:solidFill>
          <a:ln w="6350">
            <a:solidFill>
              <a:srgbClr val="D9DEE7"/>
            </a:solidFill>
            <a:prstDash val="solid"/>
          </a:ln>
        </p:spPr>
      </p:sp>
      <p:sp>
        <p:nvSpPr>
          <p:cNvPr id="17" name="Shape 13"/>
          <p:cNvSpPr/>
          <p:nvPr/>
        </p:nvSpPr>
        <p:spPr>
          <a:xfrm>
            <a:off x="9047074" y="3948760"/>
            <a:ext cx="329184" cy="329184"/>
          </a:xfrm>
          <a:prstGeom prst="ellipse">
            <a:avLst/>
          </a:prstGeom>
          <a:solidFill>
            <a:srgbClr val="C9A227"/>
          </a:solidFill>
          <a:ln w="12700">
            <a:solidFill>
              <a:srgbClr val="C9A227"/>
            </a:solidFill>
            <a:prstDash val="solid"/>
          </a:ln>
        </p:spPr>
      </p:sp>
      <p:sp>
        <p:nvSpPr>
          <p:cNvPr id="18" name="Text 14"/>
          <p:cNvSpPr txBox="1"/>
          <p:nvPr/>
        </p:nvSpPr>
        <p:spPr>
          <a:xfrm>
            <a:off x="9047074" y="3948760"/>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9" name="Text 15"/>
          <p:cNvSpPr txBox="1"/>
          <p:nvPr/>
        </p:nvSpPr>
        <p:spPr>
          <a:xfrm>
            <a:off x="7404811" y="3930472"/>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ویرایشگر</a:t>
            </a:r>
            <a:endParaRPr lang="en-US" sz="1300" dirty="0"/>
          </a:p>
        </p:txBody>
      </p:sp>
      <p:sp>
        <p:nvSpPr>
          <p:cNvPr id="20" name="Text 16"/>
          <p:cNvSpPr txBox="1"/>
          <p:nvPr/>
        </p:nvSpPr>
        <p:spPr>
          <a:xfrm>
            <a:off x="7423099" y="4332808"/>
            <a:ext cx="1944014" cy="1171880"/>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پررنگ، فهرست، عنوان و «درج متغیر»؛ پیش‌نمایش زنده با اعداد یک اجرای همان سال.</a:t>
            </a:r>
            <a:endParaRPr lang="en-US" sz="1150" dirty="0"/>
          </a:p>
        </p:txBody>
      </p:sp>
      <p:sp>
        <p:nvSpPr>
          <p:cNvPr id="21" name="Shape 17"/>
          <p:cNvSpPr/>
          <p:nvPr/>
        </p:nvSpPr>
        <p:spPr>
          <a:xfrm>
            <a:off x="5012741" y="3857320"/>
            <a:ext cx="2163470" cy="1702232"/>
          </a:xfrm>
          <a:prstGeom prst="roundRect">
            <a:avLst>
              <a:gd name="adj" fmla="val 4297"/>
            </a:avLst>
          </a:prstGeom>
          <a:solidFill>
            <a:srgbClr val="FFFFFF"/>
          </a:solidFill>
          <a:ln w="6350">
            <a:solidFill>
              <a:srgbClr val="D9DEE7"/>
            </a:solidFill>
            <a:prstDash val="solid"/>
          </a:ln>
        </p:spPr>
      </p:sp>
      <p:sp>
        <p:nvSpPr>
          <p:cNvPr id="22" name="Shape 18"/>
          <p:cNvSpPr/>
          <p:nvPr/>
        </p:nvSpPr>
        <p:spPr>
          <a:xfrm>
            <a:off x="6746443" y="3948760"/>
            <a:ext cx="329184" cy="329184"/>
          </a:xfrm>
          <a:prstGeom prst="ellipse">
            <a:avLst/>
          </a:prstGeom>
          <a:solidFill>
            <a:srgbClr val="C9A227"/>
          </a:solidFill>
          <a:ln w="12700">
            <a:solidFill>
              <a:srgbClr val="C9A227"/>
            </a:solidFill>
            <a:prstDash val="solid"/>
          </a:ln>
        </p:spPr>
      </p:sp>
      <p:sp>
        <p:nvSpPr>
          <p:cNvPr id="23" name="Text 19"/>
          <p:cNvSpPr txBox="1"/>
          <p:nvPr/>
        </p:nvSpPr>
        <p:spPr>
          <a:xfrm>
            <a:off x="6746443" y="3948760"/>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24" name="Text 20"/>
          <p:cNvSpPr txBox="1"/>
          <p:nvPr/>
        </p:nvSpPr>
        <p:spPr>
          <a:xfrm>
            <a:off x="5104181" y="3930472"/>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بازبینی</a:t>
            </a:r>
            <a:endParaRPr lang="en-US" sz="1300" dirty="0"/>
          </a:p>
        </p:txBody>
      </p:sp>
      <p:sp>
        <p:nvSpPr>
          <p:cNvPr id="25" name="Text 21"/>
          <p:cNvSpPr txBox="1"/>
          <p:nvPr/>
        </p:nvSpPr>
        <p:spPr>
          <a:xfrm>
            <a:off x="5122469" y="4332808"/>
            <a:ext cx="1944014" cy="1171880"/>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ارسال ⇐ تأیید (نه آخرین ویرایشگر) ⇐ برگشت با دلیل؛ نوار پیشرفت بالای فهرست.</a:t>
            </a:r>
            <a:endParaRPr lang="en-US" sz="1150" dirty="0"/>
          </a:p>
        </p:txBody>
      </p:sp>
      <p:sp>
        <p:nvSpPr>
          <p:cNvPr id="26" name="Shape 22"/>
          <p:cNvSpPr/>
          <p:nvPr/>
        </p:nvSpPr>
        <p:spPr>
          <a:xfrm>
            <a:off x="2712110" y="3857320"/>
            <a:ext cx="2163470" cy="1702232"/>
          </a:xfrm>
          <a:prstGeom prst="roundRect">
            <a:avLst>
              <a:gd name="adj" fmla="val 4297"/>
            </a:avLst>
          </a:prstGeom>
          <a:solidFill>
            <a:srgbClr val="FFFFFF"/>
          </a:solidFill>
          <a:ln w="6350">
            <a:solidFill>
              <a:srgbClr val="D9DEE7"/>
            </a:solidFill>
            <a:prstDash val="solid"/>
          </a:ln>
        </p:spPr>
      </p:sp>
      <p:sp>
        <p:nvSpPr>
          <p:cNvPr id="27" name="Shape 23"/>
          <p:cNvSpPr/>
          <p:nvPr/>
        </p:nvSpPr>
        <p:spPr>
          <a:xfrm>
            <a:off x="4445813" y="3948760"/>
            <a:ext cx="329184" cy="329184"/>
          </a:xfrm>
          <a:prstGeom prst="ellipse">
            <a:avLst/>
          </a:prstGeom>
          <a:solidFill>
            <a:srgbClr val="C9A227"/>
          </a:solidFill>
          <a:ln w="12700">
            <a:solidFill>
              <a:srgbClr val="C9A227"/>
            </a:solidFill>
            <a:prstDash val="solid"/>
          </a:ln>
        </p:spPr>
      </p:sp>
      <p:sp>
        <p:nvSpPr>
          <p:cNvPr id="28" name="Text 24"/>
          <p:cNvSpPr txBox="1"/>
          <p:nvPr/>
        </p:nvSpPr>
        <p:spPr>
          <a:xfrm>
            <a:off x="4445813" y="3948760"/>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9" name="Text 25"/>
          <p:cNvSpPr txBox="1"/>
          <p:nvPr/>
        </p:nvSpPr>
        <p:spPr>
          <a:xfrm>
            <a:off x="2803550" y="3930472"/>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نسخه و انتقال</a:t>
            </a:r>
            <a:endParaRPr lang="en-US" sz="1300" dirty="0"/>
          </a:p>
        </p:txBody>
      </p:sp>
      <p:sp>
        <p:nvSpPr>
          <p:cNvPr id="30" name="Text 26"/>
          <p:cNvSpPr txBox="1"/>
          <p:nvPr/>
        </p:nvSpPr>
        <p:spPr>
          <a:xfrm>
            <a:off x="2821838" y="4332808"/>
            <a:ext cx="1944014" cy="1171880"/>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هر ذخیره یک نسخه است و بازگرداندنی؛ «انتقال از سال قبل» یادداشت‌ها را کپی می‌کند.</a:t>
            </a:r>
            <a:endParaRPr lang="en-US" sz="1150" dirty="0"/>
          </a:p>
        </p:txBody>
      </p:sp>
      <p:sp>
        <p:nvSpPr>
          <p:cNvPr id="31" name="Shape 27"/>
          <p:cNvSpPr/>
          <p:nvPr/>
        </p:nvSpPr>
        <p:spPr>
          <a:xfrm>
            <a:off x="411480" y="3857320"/>
            <a:ext cx="2163470" cy="1702232"/>
          </a:xfrm>
          <a:prstGeom prst="roundRect">
            <a:avLst>
              <a:gd name="adj" fmla="val 4297"/>
            </a:avLst>
          </a:prstGeom>
          <a:solidFill>
            <a:srgbClr val="FFFFFF"/>
          </a:solidFill>
          <a:ln w="6350">
            <a:solidFill>
              <a:srgbClr val="D9DEE7"/>
            </a:solidFill>
            <a:prstDash val="solid"/>
          </a:ln>
        </p:spPr>
      </p:sp>
      <p:sp>
        <p:nvSpPr>
          <p:cNvPr id="32" name="Shape 28"/>
          <p:cNvSpPr/>
          <p:nvPr/>
        </p:nvSpPr>
        <p:spPr>
          <a:xfrm>
            <a:off x="2145182" y="3948760"/>
            <a:ext cx="329184" cy="329184"/>
          </a:xfrm>
          <a:prstGeom prst="ellipse">
            <a:avLst/>
          </a:prstGeom>
          <a:solidFill>
            <a:srgbClr val="C9A227"/>
          </a:solidFill>
          <a:ln w="12700">
            <a:solidFill>
              <a:srgbClr val="C9A227"/>
            </a:solidFill>
            <a:prstDash val="solid"/>
          </a:ln>
        </p:spPr>
      </p:sp>
      <p:sp>
        <p:nvSpPr>
          <p:cNvPr id="33" name="Text 29"/>
          <p:cNvSpPr txBox="1"/>
          <p:nvPr/>
        </p:nvSpPr>
        <p:spPr>
          <a:xfrm>
            <a:off x="2145182" y="3948760"/>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34" name="Text 30"/>
          <p:cNvSpPr txBox="1"/>
          <p:nvPr/>
        </p:nvSpPr>
        <p:spPr>
          <a:xfrm>
            <a:off x="502920" y="3930472"/>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Word و انتشار</a:t>
            </a:r>
            <a:endParaRPr lang="en-US" sz="1300" dirty="0"/>
          </a:p>
        </p:txBody>
      </p:sp>
      <p:sp>
        <p:nvSpPr>
          <p:cNvPr id="35" name="Text 31"/>
          <p:cNvSpPr txBox="1"/>
          <p:nvPr/>
        </p:nvSpPr>
        <p:spPr>
          <a:xfrm>
            <a:off x="521208" y="4332808"/>
            <a:ext cx="1944014" cy="1171880"/>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دکمهٔ «Word یادداشت‌ها» در صفحهٔ صورت؛ با انتشار، متن یادداشت‌ها ثابت می‌شود.</a:t>
            </a:r>
            <a:endParaRPr lang="en-US" sz="1150" dirty="0"/>
          </a:p>
        </p:txBody>
      </p:sp>
      <p:sp>
        <p:nvSpPr>
          <p:cNvPr id="36" name="Shape 32"/>
          <p:cNvSpPr/>
          <p:nvPr/>
        </p:nvSpPr>
        <p:spPr>
          <a:xfrm>
            <a:off x="411480" y="5696712"/>
            <a:ext cx="11365992" cy="658368"/>
          </a:xfrm>
          <a:prstGeom prst="roundRect">
            <a:avLst>
              <a:gd name="adj" fmla="val 11111"/>
            </a:avLst>
          </a:prstGeom>
          <a:solidFill>
            <a:srgbClr val="F6EDCF"/>
          </a:solidFill>
          <a:ln w="9525">
            <a:solidFill>
              <a:srgbClr val="C9A227"/>
            </a:solidFill>
            <a:prstDash val="solid"/>
          </a:ln>
        </p:spPr>
      </p:sp>
      <p:sp>
        <p:nvSpPr>
          <p:cNvPr id="37" name="Text 33"/>
          <p:cNvSpPr txBox="1"/>
          <p:nvPr/>
        </p:nvSpPr>
        <p:spPr>
          <a:xfrm>
            <a:off x="10954512" y="5696712"/>
            <a:ext cx="731520" cy="658368"/>
          </a:xfrm>
          <a:prstGeom prst="rect">
            <a:avLst/>
          </a:prstGeom>
          <a:noFill/>
          <a:ln/>
        </p:spPr>
        <p:txBody>
          <a:bodyPr wrap="square" lIns="0" tIns="0" rIns="0" bIns="0" rtlCol="0" anchor="ctr"/>
          <a:lstStyle/>
          <a:p>
            <a:pPr rtl="1" algn="r" indent="0" marL="0">
              <a:buNone/>
            </a:pPr>
            <a:r>
              <a:rPr lang="en-US" sz="1400" b="1" dirty="0">
                <a:solidFill>
                  <a:srgbClr val="6B5410"/>
                </a:solidFill>
                <a:latin typeface="Tahoma" pitchFamily="34" charset="0"/>
                <a:ea typeface="Tahoma" pitchFamily="34" charset="-122"/>
                <a:cs typeface="Tahoma" pitchFamily="34" charset="-120"/>
              </a:rPr>
              <a:t>نکته</a:t>
            </a:r>
            <a:endParaRPr lang="en-US" sz="1400" dirty="0"/>
          </a:p>
        </p:txBody>
      </p:sp>
      <p:sp>
        <p:nvSpPr>
          <p:cNvPr id="38" name="Text 34"/>
          <p:cNvSpPr txBox="1"/>
          <p:nvPr/>
        </p:nvSpPr>
        <p:spPr>
          <a:xfrm>
            <a:off x="4754880" y="5696712"/>
            <a:ext cx="6153912" cy="658368"/>
          </a:xfrm>
          <a:prstGeom prst="rect">
            <a:avLst/>
          </a:prstGeom>
          <a:noFill/>
          <a:ln/>
        </p:spPr>
        <p:txBody>
          <a:bodyPr wrap="square" lIns="0" tIns="0" rIns="0" bIns="0" rtlCol="0" anchor="ctr"/>
          <a:lstStyle/>
          <a:p>
            <a:pPr rtl="1" algn="r" indent="0" marL="0">
              <a:buNone/>
            </a:pPr>
            <a:r>
              <a:rPr lang="en-US" sz="1300" dirty="0">
                <a:solidFill>
                  <a:srgbClr val="4A3B0B"/>
                </a:solidFill>
                <a:latin typeface="Tahoma" pitchFamily="34" charset="0"/>
                <a:ea typeface="Tahoma" pitchFamily="34" charset="-122"/>
                <a:cs typeface="Tahoma" pitchFamily="34" charset="-120"/>
              </a:rPr>
              <a:t>متغیرها به ترتیب: مبلغ جاری، سال قبل و درصد تغییر؛ مقدار از اعداد همان اجرا گرفته می‌شود.</a:t>
            </a:r>
            <a:endParaRPr lang="en-US" sz="1300" dirty="0"/>
          </a:p>
        </p:txBody>
      </p:sp>
      <p:sp>
        <p:nvSpPr>
          <p:cNvPr id="39" name="Text 35"/>
          <p:cNvSpPr/>
          <p:nvPr/>
        </p:nvSpPr>
        <p:spPr>
          <a:xfrm>
            <a:off x="566928" y="5833872"/>
            <a:ext cx="4114800" cy="384048"/>
          </a:xfrm>
          <a:prstGeom prst="rect">
            <a:avLst/>
          </a:prstGeom>
          <a:solidFill>
            <a:srgbClr val="FFFFFF"/>
          </a:solidFill>
          <a:ln/>
        </p:spPr>
        <p:txBody>
          <a:bodyPr wrap="square" rtlCol="0" anchor="ctr"/>
          <a:lstStyle/>
          <a:p>
            <a:pPr algn="ctr" indent="0" marL="0">
              <a:buNone/>
            </a:pPr>
            <a:r>
              <a:rPr lang="en-US" sz="1100" dirty="0">
                <a:solidFill>
                  <a:srgbClr val="1B2A49"/>
                </a:solidFill>
                <a:latin typeface="Consolas" pitchFamily="34" charset="0"/>
                <a:ea typeface="Consolas" pitchFamily="34" charset="-122"/>
                <a:cs typeface="Consolas" pitchFamily="34" charset="-120"/>
              </a:rPr>
              <a:t>{{A01}}   {{A01.prior}}   {{A01.change%}}</a:t>
            </a:r>
            <a:endParaRPr lang="en-US" sz="1100" dirty="0"/>
          </a:p>
        </p:txBody>
      </p:sp>
      <p:sp>
        <p:nvSpPr>
          <p:cNvPr id="40" name="Text 36"/>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۱۳ — ابزارهای صورت، نظرها و نسخهٔ چاپی</a:t>
            </a:r>
            <a:endParaRPr lang="en-US" sz="2600" dirty="0"/>
          </a:p>
        </p:txBody>
      </p:sp>
      <p:sp>
        <p:nvSpPr>
          <p:cNvPr id="3" name="Shape 1"/>
          <p:cNvSpPr/>
          <p:nvPr/>
        </p:nvSpPr>
        <p:spPr>
          <a:xfrm>
            <a:off x="7031736" y="896112"/>
            <a:ext cx="4745736"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صورت‌های مالی ← تهیهٔ صورت‌های مالی ← باز کردن یک اجرا</a:t>
            </a:r>
            <a:endParaRPr lang="en-US" sz="1100" dirty="0"/>
          </a:p>
        </p:txBody>
      </p:sp>
      <p:sp>
        <p:nvSpPr>
          <p:cNvPr id="5" name="Text 3"/>
          <p:cNvSpPr txBox="1"/>
          <p:nvPr/>
        </p:nvSpPr>
        <p:spPr>
          <a:xfrm>
            <a:off x="6208776"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تحلیل عمودی (درصد از پایه)</a:t>
            </a:r>
            <a:endParaRPr lang="en-US" sz="1200" dirty="0"/>
          </a:p>
        </p:txBody>
      </p:sp>
      <p:sp>
        <p:nvSpPr>
          <p:cNvPr id="6" name="Shape 4"/>
          <p:cNvSpPr/>
          <p:nvPr/>
        </p:nvSpPr>
        <p:spPr>
          <a:xfrm>
            <a:off x="6208776" y="1618488"/>
            <a:ext cx="5568696" cy="2077608"/>
          </a:xfrm>
          <a:prstGeom prst="roundRect">
            <a:avLst>
              <a:gd name="adj" fmla="val 3521"/>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7" name="Image 0" descr="fsn14s">    </p:cNvPr>
          <p:cNvPicPr>
            <a:picLocks noChangeAspect="1"/>
          </p:cNvPicPr>
          <p:nvPr/>
        </p:nvPicPr>
        <p:blipFill>
          <a:blip r:embed="rId1"/>
          <a:stretch>
            <a:fillRect/>
          </a:stretch>
        </p:blipFill>
        <p:spPr>
          <a:xfrm>
            <a:off x="6254496" y="1680515"/>
            <a:ext cx="5477256" cy="1953555"/>
          </a:xfrm>
          <a:prstGeom prst="rect">
            <a:avLst/>
          </a:prstGeom>
        </p:spPr>
      </p:pic>
      <p:sp>
        <p:nvSpPr>
          <p:cNvPr id="8" name="Text 5"/>
          <p:cNvSpPr txBox="1"/>
          <p:nvPr/>
        </p:nvSpPr>
        <p:spPr>
          <a:xfrm>
            <a:off x="411480"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بستهٔ رسمی / PDF</a:t>
            </a:r>
            <a:endParaRPr lang="en-US" sz="1200" dirty="0"/>
          </a:p>
        </p:txBody>
      </p:sp>
      <p:sp>
        <p:nvSpPr>
          <p:cNvPr id="9" name="Shape 6"/>
          <p:cNvSpPr/>
          <p:nvPr/>
        </p:nvSpPr>
        <p:spPr>
          <a:xfrm>
            <a:off x="411480" y="1618488"/>
            <a:ext cx="5568696" cy="2077608"/>
          </a:xfrm>
          <a:prstGeom prst="roundRect">
            <a:avLst>
              <a:gd name="adj" fmla="val 3521"/>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10" name="Image 1" descr="fsn16s">    </p:cNvPr>
          <p:cNvPicPr>
            <a:picLocks noChangeAspect="1"/>
          </p:cNvPicPr>
          <p:nvPr/>
        </p:nvPicPr>
        <p:blipFill>
          <a:blip r:embed="rId2"/>
          <a:stretch>
            <a:fillRect/>
          </a:stretch>
        </p:blipFill>
        <p:spPr>
          <a:xfrm>
            <a:off x="457200" y="1805275"/>
            <a:ext cx="5477256" cy="1704035"/>
          </a:xfrm>
          <a:prstGeom prst="rect">
            <a:avLst/>
          </a:prstGeom>
        </p:spPr>
      </p:pic>
      <p:sp>
        <p:nvSpPr>
          <p:cNvPr id="11" name="Shape 7"/>
          <p:cNvSpPr/>
          <p:nvPr/>
        </p:nvSpPr>
        <p:spPr>
          <a:xfrm>
            <a:off x="9614002" y="3878976"/>
            <a:ext cx="2163470" cy="1680576"/>
          </a:xfrm>
          <a:prstGeom prst="roundRect">
            <a:avLst>
              <a:gd name="adj" fmla="val 4353"/>
            </a:avLst>
          </a:prstGeom>
          <a:solidFill>
            <a:srgbClr val="FFFFFF"/>
          </a:solidFill>
          <a:ln w="6350">
            <a:solidFill>
              <a:srgbClr val="D9DEE7"/>
            </a:solidFill>
            <a:prstDash val="solid"/>
          </a:ln>
        </p:spPr>
      </p:sp>
      <p:sp>
        <p:nvSpPr>
          <p:cNvPr id="12" name="Shape 8"/>
          <p:cNvSpPr/>
          <p:nvPr/>
        </p:nvSpPr>
        <p:spPr>
          <a:xfrm>
            <a:off x="11347704" y="3970416"/>
            <a:ext cx="329184" cy="329184"/>
          </a:xfrm>
          <a:prstGeom prst="ellipse">
            <a:avLst/>
          </a:prstGeom>
          <a:solidFill>
            <a:srgbClr val="C9A227"/>
          </a:solidFill>
          <a:ln w="12700">
            <a:solidFill>
              <a:srgbClr val="C9A227"/>
            </a:solidFill>
            <a:prstDash val="solid"/>
          </a:ln>
        </p:spPr>
      </p:sp>
      <p:sp>
        <p:nvSpPr>
          <p:cNvPr id="13" name="Text 9"/>
          <p:cNvSpPr txBox="1"/>
          <p:nvPr/>
        </p:nvSpPr>
        <p:spPr>
          <a:xfrm>
            <a:off x="11347704" y="3970416"/>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14" name="Text 10"/>
          <p:cNvSpPr txBox="1"/>
          <p:nvPr/>
        </p:nvSpPr>
        <p:spPr>
          <a:xfrm>
            <a:off x="9705442" y="3952128"/>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تحلیل عمودی</a:t>
            </a:r>
            <a:endParaRPr lang="en-US" sz="1300" dirty="0"/>
          </a:p>
        </p:txBody>
      </p:sp>
      <p:sp>
        <p:nvSpPr>
          <p:cNvPr id="15" name="Text 11"/>
          <p:cNvSpPr txBox="1"/>
          <p:nvPr/>
        </p:nvSpPr>
        <p:spPr>
          <a:xfrm>
            <a:off x="9723730" y="4354464"/>
            <a:ext cx="1944014" cy="1150224"/>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درصد هر ردیف از یک ردیف پایه (مثل جمع دارایی‌ها)؛ «فشرده» ردیف‌ها را نزدیک‌تر می‌کند.</a:t>
            </a:r>
            <a:endParaRPr lang="en-US" sz="1150" dirty="0"/>
          </a:p>
        </p:txBody>
      </p:sp>
      <p:sp>
        <p:nvSpPr>
          <p:cNvPr id="16" name="Shape 12"/>
          <p:cNvSpPr/>
          <p:nvPr/>
        </p:nvSpPr>
        <p:spPr>
          <a:xfrm>
            <a:off x="7313371" y="3878976"/>
            <a:ext cx="2163470" cy="1680576"/>
          </a:xfrm>
          <a:prstGeom prst="roundRect">
            <a:avLst>
              <a:gd name="adj" fmla="val 4353"/>
            </a:avLst>
          </a:prstGeom>
          <a:solidFill>
            <a:srgbClr val="FFFFFF"/>
          </a:solidFill>
          <a:ln w="6350">
            <a:solidFill>
              <a:srgbClr val="D9DEE7"/>
            </a:solidFill>
            <a:prstDash val="solid"/>
          </a:ln>
        </p:spPr>
      </p:sp>
      <p:sp>
        <p:nvSpPr>
          <p:cNvPr id="17" name="Shape 13"/>
          <p:cNvSpPr/>
          <p:nvPr/>
        </p:nvSpPr>
        <p:spPr>
          <a:xfrm>
            <a:off x="9047074" y="3970416"/>
            <a:ext cx="329184" cy="329184"/>
          </a:xfrm>
          <a:prstGeom prst="ellipse">
            <a:avLst/>
          </a:prstGeom>
          <a:solidFill>
            <a:srgbClr val="C9A227"/>
          </a:solidFill>
          <a:ln w="12700">
            <a:solidFill>
              <a:srgbClr val="C9A227"/>
            </a:solidFill>
            <a:prstDash val="solid"/>
          </a:ln>
        </p:spPr>
      </p:sp>
      <p:sp>
        <p:nvSpPr>
          <p:cNvPr id="18" name="Text 14"/>
          <p:cNvSpPr txBox="1"/>
          <p:nvPr/>
        </p:nvSpPr>
        <p:spPr>
          <a:xfrm>
            <a:off x="9047074" y="3970416"/>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9" name="Text 15"/>
          <p:cNvSpPr txBox="1"/>
          <p:nvPr/>
        </p:nvSpPr>
        <p:spPr>
          <a:xfrm>
            <a:off x="7404811" y="3952128"/>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میانبرها</a:t>
            </a:r>
            <a:endParaRPr lang="en-US" sz="1300" dirty="0"/>
          </a:p>
        </p:txBody>
      </p:sp>
      <p:sp>
        <p:nvSpPr>
          <p:cNvPr id="20" name="Text 16"/>
          <p:cNvSpPr txBox="1"/>
          <p:nvPr/>
        </p:nvSpPr>
        <p:spPr>
          <a:xfrm>
            <a:off x="7423099" y="4354464"/>
            <a:ext cx="1944014" cy="1150224"/>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 حرکت بین ردیف‌ها، Enter ریز مبلغ، Esc بستن پنل، Ctrl+K جستجوی ردیف.</a:t>
            </a:r>
            <a:endParaRPr lang="en-US" sz="1150" dirty="0"/>
          </a:p>
        </p:txBody>
      </p:sp>
      <p:sp>
        <p:nvSpPr>
          <p:cNvPr id="21" name="Shape 17"/>
          <p:cNvSpPr/>
          <p:nvPr/>
        </p:nvSpPr>
        <p:spPr>
          <a:xfrm>
            <a:off x="5012741" y="3878976"/>
            <a:ext cx="2163470" cy="1680576"/>
          </a:xfrm>
          <a:prstGeom prst="roundRect">
            <a:avLst>
              <a:gd name="adj" fmla="val 4353"/>
            </a:avLst>
          </a:prstGeom>
          <a:solidFill>
            <a:srgbClr val="FFFFFF"/>
          </a:solidFill>
          <a:ln w="6350">
            <a:solidFill>
              <a:srgbClr val="D9DEE7"/>
            </a:solidFill>
            <a:prstDash val="solid"/>
          </a:ln>
        </p:spPr>
      </p:sp>
      <p:sp>
        <p:nvSpPr>
          <p:cNvPr id="22" name="Shape 18"/>
          <p:cNvSpPr/>
          <p:nvPr/>
        </p:nvSpPr>
        <p:spPr>
          <a:xfrm>
            <a:off x="6746443" y="3970416"/>
            <a:ext cx="329184" cy="329184"/>
          </a:xfrm>
          <a:prstGeom prst="ellipse">
            <a:avLst/>
          </a:prstGeom>
          <a:solidFill>
            <a:srgbClr val="C9A227"/>
          </a:solidFill>
          <a:ln w="12700">
            <a:solidFill>
              <a:srgbClr val="C9A227"/>
            </a:solidFill>
            <a:prstDash val="solid"/>
          </a:ln>
        </p:spPr>
      </p:sp>
      <p:sp>
        <p:nvSpPr>
          <p:cNvPr id="23" name="Text 19"/>
          <p:cNvSpPr txBox="1"/>
          <p:nvPr/>
        </p:nvSpPr>
        <p:spPr>
          <a:xfrm>
            <a:off x="6746443" y="3970416"/>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24" name="Text 20"/>
          <p:cNvSpPr txBox="1"/>
          <p:nvPr/>
        </p:nvSpPr>
        <p:spPr>
          <a:xfrm>
            <a:off x="5104181" y="3952128"/>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نظر روی ردیف</a:t>
            </a:r>
            <a:endParaRPr lang="en-US" sz="1300" dirty="0"/>
          </a:p>
        </p:txBody>
      </p:sp>
      <p:sp>
        <p:nvSpPr>
          <p:cNvPr id="25" name="Text 21"/>
          <p:cNvSpPr txBox="1"/>
          <p:nvPr/>
        </p:nvSpPr>
        <p:spPr>
          <a:xfrm>
            <a:off x="5122469" y="4354464"/>
            <a:ext cx="1944014" cy="1150224"/>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آیکون گفت‌وگو کنار عنوان ردیف؛ بازبین و تهیه‌کننده روی همان ردیف گفت‌وگو می‌کنند.</a:t>
            </a:r>
            <a:endParaRPr lang="en-US" sz="1150" dirty="0"/>
          </a:p>
        </p:txBody>
      </p:sp>
      <p:sp>
        <p:nvSpPr>
          <p:cNvPr id="26" name="Shape 22"/>
          <p:cNvSpPr/>
          <p:nvPr/>
        </p:nvSpPr>
        <p:spPr>
          <a:xfrm>
            <a:off x="2712110" y="3878976"/>
            <a:ext cx="2163470" cy="1680576"/>
          </a:xfrm>
          <a:prstGeom prst="roundRect">
            <a:avLst>
              <a:gd name="adj" fmla="val 4353"/>
            </a:avLst>
          </a:prstGeom>
          <a:solidFill>
            <a:srgbClr val="FFFFFF"/>
          </a:solidFill>
          <a:ln w="6350">
            <a:solidFill>
              <a:srgbClr val="D9DEE7"/>
            </a:solidFill>
            <a:prstDash val="solid"/>
          </a:ln>
        </p:spPr>
      </p:sp>
      <p:sp>
        <p:nvSpPr>
          <p:cNvPr id="27" name="Shape 23"/>
          <p:cNvSpPr/>
          <p:nvPr/>
        </p:nvSpPr>
        <p:spPr>
          <a:xfrm>
            <a:off x="4445813" y="3970416"/>
            <a:ext cx="329184" cy="329184"/>
          </a:xfrm>
          <a:prstGeom prst="ellipse">
            <a:avLst/>
          </a:prstGeom>
          <a:solidFill>
            <a:srgbClr val="C9A227"/>
          </a:solidFill>
          <a:ln w="12700">
            <a:solidFill>
              <a:srgbClr val="C9A227"/>
            </a:solidFill>
            <a:prstDash val="solid"/>
          </a:ln>
        </p:spPr>
      </p:sp>
      <p:sp>
        <p:nvSpPr>
          <p:cNvPr id="28" name="Text 24"/>
          <p:cNvSpPr txBox="1"/>
          <p:nvPr/>
        </p:nvSpPr>
        <p:spPr>
          <a:xfrm>
            <a:off x="4445813" y="3970416"/>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9" name="Text 25"/>
          <p:cNvSpPr txBox="1"/>
          <p:nvPr/>
        </p:nvSpPr>
        <p:spPr>
          <a:xfrm>
            <a:off x="2803550" y="3952128"/>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ارجاع کنترل</a:t>
            </a:r>
            <a:endParaRPr lang="en-US" sz="1300" dirty="0"/>
          </a:p>
        </p:txBody>
      </p:sp>
      <p:sp>
        <p:nvSpPr>
          <p:cNvPr id="30" name="Text 26"/>
          <p:cNvSpPr txBox="1"/>
          <p:nvPr/>
        </p:nvSpPr>
        <p:spPr>
          <a:xfrm>
            <a:off x="2821838" y="4354464"/>
            <a:ext cx="1944014" cy="1150224"/>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در زبانهٔ «کنترل‌ها» کنترل ناموفق را با مهلت به مسئول بدهید؛ بعد «رفع شد».</a:t>
            </a:r>
            <a:endParaRPr lang="en-US" sz="1150" dirty="0"/>
          </a:p>
        </p:txBody>
      </p:sp>
      <p:sp>
        <p:nvSpPr>
          <p:cNvPr id="31" name="Shape 27"/>
          <p:cNvSpPr/>
          <p:nvPr/>
        </p:nvSpPr>
        <p:spPr>
          <a:xfrm>
            <a:off x="411480" y="3878976"/>
            <a:ext cx="2163470" cy="1680576"/>
          </a:xfrm>
          <a:prstGeom prst="roundRect">
            <a:avLst>
              <a:gd name="adj" fmla="val 4353"/>
            </a:avLst>
          </a:prstGeom>
          <a:solidFill>
            <a:srgbClr val="FFFFFF"/>
          </a:solidFill>
          <a:ln w="6350">
            <a:solidFill>
              <a:srgbClr val="D9DEE7"/>
            </a:solidFill>
            <a:prstDash val="solid"/>
          </a:ln>
        </p:spPr>
      </p:sp>
      <p:sp>
        <p:nvSpPr>
          <p:cNvPr id="32" name="Shape 28"/>
          <p:cNvSpPr/>
          <p:nvPr/>
        </p:nvSpPr>
        <p:spPr>
          <a:xfrm>
            <a:off x="2145182" y="3970416"/>
            <a:ext cx="329184" cy="329184"/>
          </a:xfrm>
          <a:prstGeom prst="ellipse">
            <a:avLst/>
          </a:prstGeom>
          <a:solidFill>
            <a:srgbClr val="C9A227"/>
          </a:solidFill>
          <a:ln w="12700">
            <a:solidFill>
              <a:srgbClr val="C9A227"/>
            </a:solidFill>
            <a:prstDash val="solid"/>
          </a:ln>
        </p:spPr>
      </p:sp>
      <p:sp>
        <p:nvSpPr>
          <p:cNvPr id="33" name="Text 29"/>
          <p:cNvSpPr txBox="1"/>
          <p:nvPr/>
        </p:nvSpPr>
        <p:spPr>
          <a:xfrm>
            <a:off x="2145182" y="3970416"/>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34" name="Text 30"/>
          <p:cNvSpPr txBox="1"/>
          <p:nvPr/>
        </p:nvSpPr>
        <p:spPr>
          <a:xfrm>
            <a:off x="502920" y="3952128"/>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تجدید ارائه</a:t>
            </a:r>
            <a:endParaRPr lang="en-US" sz="1300" dirty="0"/>
          </a:p>
        </p:txBody>
      </p:sp>
      <p:sp>
        <p:nvSpPr>
          <p:cNvPr id="35" name="Text 31"/>
          <p:cNvSpPr txBox="1"/>
          <p:nvPr/>
        </p:nvSpPr>
        <p:spPr>
          <a:xfrm>
            <a:off x="521208" y="4354464"/>
            <a:ext cx="1944014" cy="1150224"/>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در ویزارد، ستون سال قبل برچسب «تجدید ارائه‌شده» می‌گیرد؛ تنظیمات قابل ذخیره است.</a:t>
            </a:r>
            <a:endParaRPr lang="en-US" sz="1150" dirty="0"/>
          </a:p>
        </p:txBody>
      </p:sp>
      <p:sp>
        <p:nvSpPr>
          <p:cNvPr id="36" name="Shape 32"/>
          <p:cNvSpPr/>
          <p:nvPr/>
        </p:nvSpPr>
        <p:spPr>
          <a:xfrm>
            <a:off x="411480" y="5696712"/>
            <a:ext cx="11365992" cy="658368"/>
          </a:xfrm>
          <a:prstGeom prst="roundRect">
            <a:avLst>
              <a:gd name="adj" fmla="val 11111"/>
            </a:avLst>
          </a:prstGeom>
          <a:solidFill>
            <a:srgbClr val="F6EDCF"/>
          </a:solidFill>
          <a:ln w="9525">
            <a:solidFill>
              <a:srgbClr val="C9A227"/>
            </a:solidFill>
            <a:prstDash val="solid"/>
          </a:ln>
        </p:spPr>
      </p:sp>
      <p:sp>
        <p:nvSpPr>
          <p:cNvPr id="37" name="Text 33"/>
          <p:cNvSpPr txBox="1"/>
          <p:nvPr/>
        </p:nvSpPr>
        <p:spPr>
          <a:xfrm>
            <a:off x="10954512" y="5696712"/>
            <a:ext cx="731520" cy="658368"/>
          </a:xfrm>
          <a:prstGeom prst="rect">
            <a:avLst/>
          </a:prstGeom>
          <a:noFill/>
          <a:ln/>
        </p:spPr>
        <p:txBody>
          <a:bodyPr wrap="square" lIns="0" tIns="0" rIns="0" bIns="0" rtlCol="0" anchor="ctr"/>
          <a:lstStyle/>
          <a:p>
            <a:pPr rtl="1" algn="r" indent="0" marL="0">
              <a:buNone/>
            </a:pPr>
            <a:r>
              <a:rPr lang="en-US" sz="1400" b="1" dirty="0">
                <a:solidFill>
                  <a:srgbClr val="6B5410"/>
                </a:solidFill>
                <a:latin typeface="Tahoma" pitchFamily="34" charset="0"/>
                <a:ea typeface="Tahoma" pitchFamily="34" charset="-122"/>
                <a:cs typeface="Tahoma" pitchFamily="34" charset="-120"/>
              </a:rPr>
              <a:t>نکته</a:t>
            </a:r>
            <a:endParaRPr lang="en-US" sz="1400" dirty="0"/>
          </a:p>
        </p:txBody>
      </p:sp>
      <p:sp>
        <p:nvSpPr>
          <p:cNvPr id="38" name="Text 34"/>
          <p:cNvSpPr txBox="1"/>
          <p:nvPr/>
        </p:nvSpPr>
        <p:spPr>
          <a:xfrm>
            <a:off x="548640" y="5696712"/>
            <a:ext cx="10360152" cy="658368"/>
          </a:xfrm>
          <a:prstGeom prst="rect">
            <a:avLst/>
          </a:prstGeom>
          <a:noFill/>
          <a:ln/>
        </p:spPr>
        <p:txBody>
          <a:bodyPr wrap="square" lIns="0" tIns="0" rIns="0" bIns="0" rtlCol="0" anchor="ctr"/>
          <a:lstStyle/>
          <a:p>
            <a:pPr rtl="1" algn="r" indent="0" marL="0">
              <a:buNone/>
            </a:pPr>
            <a:r>
              <a:rPr lang="en-US" sz="1300" dirty="0">
                <a:solidFill>
                  <a:srgbClr val="4A3B0B"/>
                </a:solidFill>
                <a:latin typeface="Tahoma" pitchFamily="34" charset="0"/>
                <a:ea typeface="Tahoma" pitchFamily="34" charset="-122"/>
                <a:cs typeface="Tahoma" pitchFamily="34" charset="-120"/>
              </a:rPr>
              <a:t>دکمهٔ «بستهٔ رسمی / PDF» صفحهٔ چاپ رسمی را باز می‌کند؛ در پنجرهٔ چاپ «ذخیره به‌صورت PDF» را انتخاب کنید.</a:t>
            </a:r>
            <a:endParaRPr lang="en-US" sz="1300" dirty="0"/>
          </a:p>
        </p:txBody>
      </p:sp>
      <p:sp>
        <p:nvSpPr>
          <p:cNvPr id="39" name="Text 35"/>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نظرها روی ردیف صورت</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fsn15">    </p:cNvPr>
          <p:cNvPicPr>
            <a:picLocks noChangeAspect="1"/>
          </p:cNvPicPr>
          <p:nvPr/>
        </p:nvPicPr>
        <p:blipFill>
          <a:blip r:embed="rId1"/>
          <a:stretch>
            <a:fillRect/>
          </a:stretch>
        </p:blipFill>
        <p:spPr>
          <a:xfrm>
            <a:off x="1611711" y="1216152"/>
            <a:ext cx="5006179" cy="5065776"/>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باز کردن</a:t>
            </a:r>
            <a:endParaRPr lang="en-US" sz="1400" dirty="0"/>
          </a:p>
        </p:txBody>
      </p:sp>
      <p:sp>
        <p:nvSpPr>
          <p:cNvPr id="8" name="Text 5"/>
          <p:cNvSpPr txBox="1"/>
          <p:nvPr/>
        </p:nvSpPr>
        <p:spPr>
          <a:xfrm>
            <a:off x="8046720" y="151790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آیکون گفت‌وگو کنار عنوان ردیف را بزنید؛ عدد کنار آیکون تعداد نظرهاست.</a:t>
            </a:r>
            <a:endParaRPr lang="en-US" sz="1300" dirty="0"/>
          </a:p>
        </p:txBody>
      </p:sp>
      <p:sp>
        <p:nvSpPr>
          <p:cNvPr id="9" name="Shape 6"/>
          <p:cNvSpPr/>
          <p:nvPr/>
        </p:nvSpPr>
        <p:spPr>
          <a:xfrm>
            <a:off x="11393424" y="2104034"/>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10403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10403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گفت‌وگو</a:t>
            </a:r>
            <a:endParaRPr lang="en-US" sz="1400" dirty="0"/>
          </a:p>
        </p:txBody>
      </p:sp>
      <p:sp>
        <p:nvSpPr>
          <p:cNvPr id="12" name="Text 9"/>
          <p:cNvSpPr txBox="1"/>
          <p:nvPr/>
        </p:nvSpPr>
        <p:spPr>
          <a:xfrm>
            <a:off x="8046720" y="2433218"/>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هر نظر با کد کاربر و زمان ثبت می‌شود؛ نظر خودتان را می‌توانید حذف کنید.</a:t>
            </a:r>
            <a:endParaRPr lang="en-US" sz="1300" dirty="0"/>
          </a:p>
        </p:txBody>
      </p:sp>
      <p:sp>
        <p:nvSpPr>
          <p:cNvPr id="13" name="Shape 10"/>
          <p:cNvSpPr/>
          <p:nvPr/>
        </p:nvSpPr>
        <p:spPr>
          <a:xfrm>
            <a:off x="11393424" y="3019349"/>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019349"/>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019349"/>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ثبت نظر</a:t>
            </a:r>
            <a:endParaRPr lang="en-US" sz="1400" dirty="0"/>
          </a:p>
        </p:txBody>
      </p:sp>
      <p:sp>
        <p:nvSpPr>
          <p:cNvPr id="16" name="Text 13"/>
          <p:cNvSpPr txBox="1"/>
          <p:nvPr/>
        </p:nvSpPr>
        <p:spPr>
          <a:xfrm>
            <a:off x="8046720" y="3348533"/>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متن را در «نظر تازه» بنویسید و «ثبت نظر» را بزنید.</a:t>
            </a:r>
            <a:endParaRPr lang="en-US" sz="1300" dirty="0"/>
          </a:p>
        </p:txBody>
      </p:sp>
      <p:sp>
        <p:nvSpPr>
          <p:cNvPr id="17" name="Shape 14"/>
          <p:cNvSpPr/>
          <p:nvPr/>
        </p:nvSpPr>
        <p:spPr>
          <a:xfrm>
            <a:off x="11393424" y="3934663"/>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3934663"/>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3934663"/>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نظرهای کل اجرا</a:t>
            </a:r>
            <a:endParaRPr lang="en-US" sz="1400" dirty="0"/>
          </a:p>
        </p:txBody>
      </p:sp>
      <p:sp>
        <p:nvSpPr>
          <p:cNvPr id="20" name="Text 17"/>
          <p:cNvSpPr txBox="1"/>
          <p:nvPr/>
        </p:nvSpPr>
        <p:spPr>
          <a:xfrm>
            <a:off x="8046720" y="4263847"/>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در زبانهٔ «کنترل‌ها»، دکمهٔ «نظرهای کل اجرا» همهٔ گفت‌وگوها را یک‌جا نشان می‌دهد.</a:t>
            </a:r>
            <a:endParaRPr lang="en-US" sz="1300" dirty="0"/>
          </a:p>
        </p:txBody>
      </p:sp>
      <p:sp>
        <p:nvSpPr>
          <p:cNvPr id="21" name="Text 18"/>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۱۴ — تحلیل، نسبت‌ها و داشبورد</a:t>
            </a:r>
            <a:endParaRPr lang="en-US" sz="2600" dirty="0"/>
          </a:p>
        </p:txBody>
      </p:sp>
      <p:sp>
        <p:nvSpPr>
          <p:cNvPr id="3" name="Shape 1"/>
          <p:cNvSpPr/>
          <p:nvPr/>
        </p:nvSpPr>
        <p:spPr>
          <a:xfrm>
            <a:off x="6176772" y="896112"/>
            <a:ext cx="5600700"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صورت‌های مالی ← داشبورد صورت‌ها / تحلیل و نسبت‌ها / تعریف نسبت‌ها</a:t>
            </a:r>
            <a:endParaRPr lang="en-US" sz="1100" dirty="0"/>
          </a:p>
        </p:txBody>
      </p:sp>
      <p:sp>
        <p:nvSpPr>
          <p:cNvPr id="5" name="Text 3"/>
          <p:cNvSpPr txBox="1"/>
          <p:nvPr/>
        </p:nvSpPr>
        <p:spPr>
          <a:xfrm>
            <a:off x="6208776"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تحلیل و نسبت‌ها — نسبت‌های کلیدی</a:t>
            </a:r>
            <a:endParaRPr lang="en-US" sz="1200" dirty="0"/>
          </a:p>
        </p:txBody>
      </p:sp>
      <p:sp>
        <p:nvSpPr>
          <p:cNvPr id="6" name="Shape 4"/>
          <p:cNvSpPr/>
          <p:nvPr/>
        </p:nvSpPr>
        <p:spPr>
          <a:xfrm>
            <a:off x="6208776" y="1618488"/>
            <a:ext cx="5568696" cy="2257044"/>
          </a:xfrm>
          <a:prstGeom prst="roundRect">
            <a:avLst>
              <a:gd name="adj" fmla="val 3241"/>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7" name="Image 0" descr="fsn07s">    </p:cNvPr>
          <p:cNvPicPr>
            <a:picLocks noChangeAspect="1"/>
          </p:cNvPicPr>
          <p:nvPr/>
        </p:nvPicPr>
        <p:blipFill>
          <a:blip r:embed="rId1"/>
          <a:stretch>
            <a:fillRect/>
          </a:stretch>
        </p:blipFill>
        <p:spPr>
          <a:xfrm>
            <a:off x="6254496" y="1681988"/>
            <a:ext cx="5477256" cy="2130044"/>
          </a:xfrm>
          <a:prstGeom prst="rect">
            <a:avLst/>
          </a:prstGeom>
        </p:spPr>
      </p:pic>
      <p:sp>
        <p:nvSpPr>
          <p:cNvPr id="8" name="Text 5"/>
          <p:cNvSpPr txBox="1"/>
          <p:nvPr/>
        </p:nvSpPr>
        <p:spPr>
          <a:xfrm>
            <a:off x="411480"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تعریف نسبت‌ها</a:t>
            </a:r>
            <a:endParaRPr lang="en-US" sz="1200" dirty="0"/>
          </a:p>
        </p:txBody>
      </p:sp>
      <p:sp>
        <p:nvSpPr>
          <p:cNvPr id="9" name="Shape 6"/>
          <p:cNvSpPr/>
          <p:nvPr/>
        </p:nvSpPr>
        <p:spPr>
          <a:xfrm>
            <a:off x="411480" y="1618488"/>
            <a:ext cx="5568696" cy="2257044"/>
          </a:xfrm>
          <a:prstGeom prst="roundRect">
            <a:avLst>
              <a:gd name="adj" fmla="val 3241"/>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10" name="Image 1" descr="fsn06s">    </p:cNvPr>
          <p:cNvPicPr>
            <a:picLocks noChangeAspect="1"/>
          </p:cNvPicPr>
          <p:nvPr/>
        </p:nvPicPr>
        <p:blipFill>
          <a:blip r:embed="rId2"/>
          <a:stretch>
            <a:fillRect/>
          </a:stretch>
        </p:blipFill>
        <p:spPr>
          <a:xfrm>
            <a:off x="457200" y="1727632"/>
            <a:ext cx="5477256" cy="2038756"/>
          </a:xfrm>
          <a:prstGeom prst="rect">
            <a:avLst/>
          </a:prstGeom>
        </p:spPr>
      </p:pic>
      <p:sp>
        <p:nvSpPr>
          <p:cNvPr id="11" name="Shape 7"/>
          <p:cNvSpPr/>
          <p:nvPr/>
        </p:nvSpPr>
        <p:spPr>
          <a:xfrm>
            <a:off x="9614002" y="4058412"/>
            <a:ext cx="2163470" cy="1501140"/>
          </a:xfrm>
          <a:prstGeom prst="roundRect">
            <a:avLst>
              <a:gd name="adj" fmla="val 4873"/>
            </a:avLst>
          </a:prstGeom>
          <a:solidFill>
            <a:srgbClr val="FFFFFF"/>
          </a:solidFill>
          <a:ln w="6350">
            <a:solidFill>
              <a:srgbClr val="D9DEE7"/>
            </a:solidFill>
            <a:prstDash val="solid"/>
          </a:ln>
        </p:spPr>
      </p:sp>
      <p:sp>
        <p:nvSpPr>
          <p:cNvPr id="12" name="Shape 8"/>
          <p:cNvSpPr/>
          <p:nvPr/>
        </p:nvSpPr>
        <p:spPr>
          <a:xfrm>
            <a:off x="11347704" y="4149852"/>
            <a:ext cx="329184" cy="329184"/>
          </a:xfrm>
          <a:prstGeom prst="ellipse">
            <a:avLst/>
          </a:prstGeom>
          <a:solidFill>
            <a:srgbClr val="C9A227"/>
          </a:solidFill>
          <a:ln w="12700">
            <a:solidFill>
              <a:srgbClr val="C9A227"/>
            </a:solidFill>
            <a:prstDash val="solid"/>
          </a:ln>
        </p:spPr>
      </p:sp>
      <p:sp>
        <p:nvSpPr>
          <p:cNvPr id="13" name="Text 9"/>
          <p:cNvSpPr txBox="1"/>
          <p:nvPr/>
        </p:nvSpPr>
        <p:spPr>
          <a:xfrm>
            <a:off x="11347704" y="4149852"/>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14" name="Text 10"/>
          <p:cNvSpPr txBox="1"/>
          <p:nvPr/>
        </p:nvSpPr>
        <p:spPr>
          <a:xfrm>
            <a:off x="9705442" y="4131564"/>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تعریف نسبت‌ها</a:t>
            </a:r>
            <a:endParaRPr lang="en-US" sz="1300" dirty="0"/>
          </a:p>
        </p:txBody>
      </p:sp>
      <p:sp>
        <p:nvSpPr>
          <p:cNvPr id="15" name="Text 11"/>
          <p:cNvSpPr txBox="1"/>
          <p:nvPr/>
        </p:nvSpPr>
        <p:spPr>
          <a:xfrm>
            <a:off x="9723730" y="4533900"/>
            <a:ext cx="1944014" cy="970788"/>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«نسبت‌های پیش‌فرض» ده نسبت رایج می‌سازد؛ هر نسبت یک صورت و یک مخرج دارد.</a:t>
            </a:r>
            <a:endParaRPr lang="en-US" sz="1150" dirty="0"/>
          </a:p>
        </p:txBody>
      </p:sp>
      <p:sp>
        <p:nvSpPr>
          <p:cNvPr id="16" name="Shape 12"/>
          <p:cNvSpPr/>
          <p:nvPr/>
        </p:nvSpPr>
        <p:spPr>
          <a:xfrm>
            <a:off x="7313371" y="4058412"/>
            <a:ext cx="2163470" cy="1501140"/>
          </a:xfrm>
          <a:prstGeom prst="roundRect">
            <a:avLst>
              <a:gd name="adj" fmla="val 4873"/>
            </a:avLst>
          </a:prstGeom>
          <a:solidFill>
            <a:srgbClr val="FFFFFF"/>
          </a:solidFill>
          <a:ln w="6350">
            <a:solidFill>
              <a:srgbClr val="D9DEE7"/>
            </a:solidFill>
            <a:prstDash val="solid"/>
          </a:ln>
        </p:spPr>
      </p:sp>
      <p:sp>
        <p:nvSpPr>
          <p:cNvPr id="17" name="Shape 13"/>
          <p:cNvSpPr/>
          <p:nvPr/>
        </p:nvSpPr>
        <p:spPr>
          <a:xfrm>
            <a:off x="9047074" y="4149852"/>
            <a:ext cx="329184" cy="329184"/>
          </a:xfrm>
          <a:prstGeom prst="ellipse">
            <a:avLst/>
          </a:prstGeom>
          <a:solidFill>
            <a:srgbClr val="C9A227"/>
          </a:solidFill>
          <a:ln w="12700">
            <a:solidFill>
              <a:srgbClr val="C9A227"/>
            </a:solidFill>
            <a:prstDash val="solid"/>
          </a:ln>
        </p:spPr>
      </p:sp>
      <p:sp>
        <p:nvSpPr>
          <p:cNvPr id="18" name="Text 14"/>
          <p:cNvSpPr txBox="1"/>
          <p:nvPr/>
        </p:nvSpPr>
        <p:spPr>
          <a:xfrm>
            <a:off x="9047074" y="4149852"/>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9" name="Text 15"/>
          <p:cNvSpPr txBox="1"/>
          <p:nvPr/>
        </p:nvSpPr>
        <p:spPr>
          <a:xfrm>
            <a:off x="7404811" y="4131564"/>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تحلیل</a:t>
            </a:r>
            <a:endParaRPr lang="en-US" sz="1300" dirty="0"/>
          </a:p>
        </p:txBody>
      </p:sp>
      <p:sp>
        <p:nvSpPr>
          <p:cNvPr id="20" name="Text 16"/>
          <p:cNvSpPr txBox="1"/>
          <p:nvPr/>
        </p:nvSpPr>
        <p:spPr>
          <a:xfrm>
            <a:off x="7423099" y="4533900"/>
            <a:ext cx="1944014" cy="970788"/>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نسبت‌های اجرا در کنار سال قبل، و مقایسه و سهم اقلام اصلی هر صورت.</a:t>
            </a:r>
            <a:endParaRPr lang="en-US" sz="1150" dirty="0"/>
          </a:p>
        </p:txBody>
      </p:sp>
      <p:sp>
        <p:nvSpPr>
          <p:cNvPr id="21" name="Shape 17"/>
          <p:cNvSpPr/>
          <p:nvPr/>
        </p:nvSpPr>
        <p:spPr>
          <a:xfrm>
            <a:off x="5012741" y="4058412"/>
            <a:ext cx="2163470" cy="1501140"/>
          </a:xfrm>
          <a:prstGeom prst="roundRect">
            <a:avLst>
              <a:gd name="adj" fmla="val 4873"/>
            </a:avLst>
          </a:prstGeom>
          <a:solidFill>
            <a:srgbClr val="FFFFFF"/>
          </a:solidFill>
          <a:ln w="6350">
            <a:solidFill>
              <a:srgbClr val="D9DEE7"/>
            </a:solidFill>
            <a:prstDash val="solid"/>
          </a:ln>
        </p:spPr>
      </p:sp>
      <p:sp>
        <p:nvSpPr>
          <p:cNvPr id="22" name="Shape 18"/>
          <p:cNvSpPr/>
          <p:nvPr/>
        </p:nvSpPr>
        <p:spPr>
          <a:xfrm>
            <a:off x="6746443" y="4149852"/>
            <a:ext cx="329184" cy="329184"/>
          </a:xfrm>
          <a:prstGeom prst="ellipse">
            <a:avLst/>
          </a:prstGeom>
          <a:solidFill>
            <a:srgbClr val="C9A227"/>
          </a:solidFill>
          <a:ln w="12700">
            <a:solidFill>
              <a:srgbClr val="C9A227"/>
            </a:solidFill>
            <a:prstDash val="solid"/>
          </a:ln>
        </p:spPr>
      </p:sp>
      <p:sp>
        <p:nvSpPr>
          <p:cNvPr id="23" name="Text 19"/>
          <p:cNvSpPr txBox="1"/>
          <p:nvPr/>
        </p:nvSpPr>
        <p:spPr>
          <a:xfrm>
            <a:off x="6746443" y="4149852"/>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24" name="Text 20"/>
          <p:cNvSpPr txBox="1"/>
          <p:nvPr/>
        </p:nvSpPr>
        <p:spPr>
          <a:xfrm>
            <a:off x="5104181" y="4131564"/>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روند</a:t>
            </a:r>
            <a:endParaRPr lang="en-US" sz="1300" dirty="0"/>
          </a:p>
        </p:txBody>
      </p:sp>
      <p:sp>
        <p:nvSpPr>
          <p:cNvPr id="25" name="Text 21"/>
          <p:cNvSpPr txBox="1"/>
          <p:nvPr/>
        </p:nvSpPr>
        <p:spPr>
          <a:xfrm>
            <a:off x="5122469" y="4533900"/>
            <a:ext cx="1944014" cy="970788"/>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نسبت‌های پنج سال اخیر از آخرین اجرای منتشرشدهٔ هر سال.</a:t>
            </a:r>
            <a:endParaRPr lang="en-US" sz="1150" dirty="0"/>
          </a:p>
        </p:txBody>
      </p:sp>
      <p:sp>
        <p:nvSpPr>
          <p:cNvPr id="26" name="Shape 22"/>
          <p:cNvSpPr/>
          <p:nvPr/>
        </p:nvSpPr>
        <p:spPr>
          <a:xfrm>
            <a:off x="2712110" y="4058412"/>
            <a:ext cx="2163470" cy="1501140"/>
          </a:xfrm>
          <a:prstGeom prst="roundRect">
            <a:avLst>
              <a:gd name="adj" fmla="val 4873"/>
            </a:avLst>
          </a:prstGeom>
          <a:solidFill>
            <a:srgbClr val="FFFFFF"/>
          </a:solidFill>
          <a:ln w="6350">
            <a:solidFill>
              <a:srgbClr val="D9DEE7"/>
            </a:solidFill>
            <a:prstDash val="solid"/>
          </a:ln>
        </p:spPr>
      </p:sp>
      <p:sp>
        <p:nvSpPr>
          <p:cNvPr id="27" name="Shape 23"/>
          <p:cNvSpPr/>
          <p:nvPr/>
        </p:nvSpPr>
        <p:spPr>
          <a:xfrm>
            <a:off x="4445813" y="4149852"/>
            <a:ext cx="329184" cy="329184"/>
          </a:xfrm>
          <a:prstGeom prst="ellipse">
            <a:avLst/>
          </a:prstGeom>
          <a:solidFill>
            <a:srgbClr val="C9A227"/>
          </a:solidFill>
          <a:ln w="12700">
            <a:solidFill>
              <a:srgbClr val="C9A227"/>
            </a:solidFill>
            <a:prstDash val="solid"/>
          </a:ln>
        </p:spPr>
      </p:sp>
      <p:sp>
        <p:nvSpPr>
          <p:cNvPr id="28" name="Text 24"/>
          <p:cNvSpPr txBox="1"/>
          <p:nvPr/>
        </p:nvSpPr>
        <p:spPr>
          <a:xfrm>
            <a:off x="4445813" y="4149852"/>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9" name="Text 25"/>
          <p:cNvSpPr txBox="1"/>
          <p:nvPr/>
        </p:nvSpPr>
        <p:spPr>
          <a:xfrm>
            <a:off x="2803550" y="4131564"/>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داشبورد</a:t>
            </a:r>
            <a:endParaRPr lang="en-US" sz="1300" dirty="0"/>
          </a:p>
        </p:txBody>
      </p:sp>
      <p:sp>
        <p:nvSpPr>
          <p:cNvPr id="30" name="Text 26"/>
          <p:cNvSpPr txBox="1"/>
          <p:nvPr/>
        </p:nvSpPr>
        <p:spPr>
          <a:xfrm>
            <a:off x="2821838" y="4533900"/>
            <a:ext cx="1944014" cy="970788"/>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چهار نسبت اول به‌عنوان شاخص، و کاشی وضعیت بستن هر زیرواحد با درصد پیشرفت.</a:t>
            </a:r>
            <a:endParaRPr lang="en-US" sz="1150" dirty="0"/>
          </a:p>
        </p:txBody>
      </p:sp>
      <p:sp>
        <p:nvSpPr>
          <p:cNvPr id="31" name="Shape 27"/>
          <p:cNvSpPr/>
          <p:nvPr/>
        </p:nvSpPr>
        <p:spPr>
          <a:xfrm>
            <a:off x="411480" y="4058412"/>
            <a:ext cx="2163470" cy="1501140"/>
          </a:xfrm>
          <a:prstGeom prst="roundRect">
            <a:avLst>
              <a:gd name="adj" fmla="val 4873"/>
            </a:avLst>
          </a:prstGeom>
          <a:solidFill>
            <a:srgbClr val="FFFFFF"/>
          </a:solidFill>
          <a:ln w="6350">
            <a:solidFill>
              <a:srgbClr val="D9DEE7"/>
            </a:solidFill>
            <a:prstDash val="solid"/>
          </a:ln>
        </p:spPr>
      </p:sp>
      <p:sp>
        <p:nvSpPr>
          <p:cNvPr id="32" name="Shape 28"/>
          <p:cNvSpPr/>
          <p:nvPr/>
        </p:nvSpPr>
        <p:spPr>
          <a:xfrm>
            <a:off x="2145182" y="4149852"/>
            <a:ext cx="329184" cy="329184"/>
          </a:xfrm>
          <a:prstGeom prst="ellipse">
            <a:avLst/>
          </a:prstGeom>
          <a:solidFill>
            <a:srgbClr val="C9A227"/>
          </a:solidFill>
          <a:ln w="12700">
            <a:solidFill>
              <a:srgbClr val="C9A227"/>
            </a:solidFill>
            <a:prstDash val="solid"/>
          </a:ln>
        </p:spPr>
      </p:sp>
      <p:sp>
        <p:nvSpPr>
          <p:cNvPr id="33" name="Text 29"/>
          <p:cNvSpPr txBox="1"/>
          <p:nvPr/>
        </p:nvSpPr>
        <p:spPr>
          <a:xfrm>
            <a:off x="2145182" y="4149852"/>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34" name="Text 30"/>
          <p:cNvSpPr txBox="1"/>
          <p:nvPr/>
        </p:nvSpPr>
        <p:spPr>
          <a:xfrm>
            <a:off x="502920" y="4131564"/>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کارهای من</a:t>
            </a:r>
            <a:endParaRPr lang="en-US" sz="1300" dirty="0"/>
          </a:p>
        </p:txBody>
      </p:sp>
      <p:sp>
        <p:nvSpPr>
          <p:cNvPr id="35" name="Text 31"/>
          <p:cNvSpPr txBox="1"/>
          <p:nvPr/>
        </p:nvSpPr>
        <p:spPr>
          <a:xfrm>
            <a:off x="521208" y="4533900"/>
            <a:ext cx="1944014" cy="970788"/>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تأیید و انتشار، کنترل‌های ارجاع‌شده، بازبینی یادداشت و درخواست بازگشایی.</a:t>
            </a:r>
            <a:endParaRPr lang="en-US" sz="1150" dirty="0"/>
          </a:p>
        </p:txBody>
      </p:sp>
      <p:sp>
        <p:nvSpPr>
          <p:cNvPr id="36" name="Shape 32"/>
          <p:cNvSpPr/>
          <p:nvPr/>
        </p:nvSpPr>
        <p:spPr>
          <a:xfrm>
            <a:off x="411480" y="5696712"/>
            <a:ext cx="11365992" cy="658368"/>
          </a:xfrm>
          <a:prstGeom prst="roundRect">
            <a:avLst>
              <a:gd name="adj" fmla="val 11111"/>
            </a:avLst>
          </a:prstGeom>
          <a:solidFill>
            <a:srgbClr val="F6EDCF"/>
          </a:solidFill>
          <a:ln w="9525">
            <a:solidFill>
              <a:srgbClr val="C9A227"/>
            </a:solidFill>
            <a:prstDash val="solid"/>
          </a:ln>
        </p:spPr>
      </p:sp>
      <p:sp>
        <p:nvSpPr>
          <p:cNvPr id="37" name="Text 33"/>
          <p:cNvSpPr txBox="1"/>
          <p:nvPr/>
        </p:nvSpPr>
        <p:spPr>
          <a:xfrm>
            <a:off x="10954512" y="5696712"/>
            <a:ext cx="731520" cy="658368"/>
          </a:xfrm>
          <a:prstGeom prst="rect">
            <a:avLst/>
          </a:prstGeom>
          <a:noFill/>
          <a:ln/>
        </p:spPr>
        <p:txBody>
          <a:bodyPr wrap="square" lIns="0" tIns="0" rIns="0" bIns="0" rtlCol="0" anchor="ctr"/>
          <a:lstStyle/>
          <a:p>
            <a:pPr rtl="1" algn="r" indent="0" marL="0">
              <a:buNone/>
            </a:pPr>
            <a:r>
              <a:rPr lang="en-US" sz="1400" b="1" dirty="0">
                <a:solidFill>
                  <a:srgbClr val="6B5410"/>
                </a:solidFill>
                <a:latin typeface="Tahoma" pitchFamily="34" charset="0"/>
                <a:ea typeface="Tahoma" pitchFamily="34" charset="-122"/>
                <a:cs typeface="Tahoma" pitchFamily="34" charset="-120"/>
              </a:rPr>
              <a:t>نکته</a:t>
            </a:r>
            <a:endParaRPr lang="en-US" sz="1400" dirty="0"/>
          </a:p>
        </p:txBody>
      </p:sp>
      <p:sp>
        <p:nvSpPr>
          <p:cNvPr id="38" name="Text 34"/>
          <p:cNvSpPr txBox="1"/>
          <p:nvPr/>
        </p:nvSpPr>
        <p:spPr>
          <a:xfrm>
            <a:off x="4754880" y="5696712"/>
            <a:ext cx="6153912" cy="658368"/>
          </a:xfrm>
          <a:prstGeom prst="rect">
            <a:avLst/>
          </a:prstGeom>
          <a:noFill/>
          <a:ln/>
        </p:spPr>
        <p:txBody>
          <a:bodyPr wrap="square" lIns="0" tIns="0" rIns="0" bIns="0" rtlCol="0" anchor="ctr"/>
          <a:lstStyle/>
          <a:p>
            <a:pPr rtl="1" algn="r" indent="0" marL="0">
              <a:buNone/>
            </a:pPr>
            <a:r>
              <a:rPr lang="en-US" sz="1300" dirty="0">
                <a:solidFill>
                  <a:srgbClr val="4A3B0B"/>
                </a:solidFill>
                <a:latin typeface="Tahoma" pitchFamily="34" charset="0"/>
                <a:ea typeface="Tahoma" pitchFamily="34" charset="-122"/>
                <a:cs typeface="Tahoma" pitchFamily="34" charset="-120"/>
              </a:rPr>
              <a:t>صورت و مخرج نسبت با همان زبان فرمول قالب نوشته می‌شود؛ مثلاً جمع مصارف:</a:t>
            </a:r>
            <a:endParaRPr lang="en-US" sz="1300" dirty="0"/>
          </a:p>
        </p:txBody>
      </p:sp>
      <p:sp>
        <p:nvSpPr>
          <p:cNvPr id="39" name="Text 35"/>
          <p:cNvSpPr/>
          <p:nvPr/>
        </p:nvSpPr>
        <p:spPr>
          <a:xfrm>
            <a:off x="566928" y="5833872"/>
            <a:ext cx="4114800" cy="384048"/>
          </a:xfrm>
          <a:prstGeom prst="rect">
            <a:avLst/>
          </a:prstGeom>
          <a:solidFill>
            <a:srgbClr val="FFFFFF"/>
          </a:solidFill>
          <a:ln/>
        </p:spPr>
        <p:txBody>
          <a:bodyPr wrap="square" rtlCol="0" anchor="ctr"/>
          <a:lstStyle/>
          <a:p>
            <a:pPr algn="ctr" indent="0" marL="0">
              <a:buNone/>
            </a:pPr>
            <a:r>
              <a:rPr lang="en-US" sz="1100" dirty="0">
                <a:solidFill>
                  <a:srgbClr val="1B2A49"/>
                </a:solidFill>
                <a:latin typeface="Consolas" pitchFamily="34" charset="0"/>
                <a:ea typeface="Consolas" pitchFamily="34" charset="-122"/>
                <a:cs typeface="Consolas" pitchFamily="34" charset="-120"/>
              </a:rPr>
              <a:t>STMT(PENSION.CHANGES_IN_NET_ASSETS, C99)</a:t>
            </a:r>
            <a:endParaRPr lang="en-US" sz="1100" dirty="0"/>
          </a:p>
        </p:txBody>
      </p:sp>
      <p:sp>
        <p:nvSpPr>
          <p:cNvPr id="40" name="Text 36"/>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۱۵ — تلفیق و تطبیق فی‌مابین به تفکیک واحد</a:t>
            </a:r>
            <a:endParaRPr lang="en-US" sz="2600" dirty="0"/>
          </a:p>
        </p:txBody>
      </p:sp>
      <p:sp>
        <p:nvSpPr>
          <p:cNvPr id="3" name="Shape 1"/>
          <p:cNvSpPr/>
          <p:nvPr/>
        </p:nvSpPr>
        <p:spPr>
          <a:xfrm>
            <a:off x="8430768" y="896112"/>
            <a:ext cx="3346704"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صورت‌های مالی ← تلفیق و حذف فی‌مابین</a:t>
            </a:r>
            <a:endParaRPr lang="en-US" sz="1100" dirty="0"/>
          </a:p>
        </p:txBody>
      </p:sp>
      <p:sp>
        <p:nvSpPr>
          <p:cNvPr id="5" name="Text 3"/>
          <p:cNvSpPr txBox="1"/>
          <p:nvPr/>
        </p:nvSpPr>
        <p:spPr>
          <a:xfrm>
            <a:off x="6208776"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جفت واحدها و وضعیت تطبیق</a:t>
            </a:r>
            <a:endParaRPr lang="en-US" sz="1200" dirty="0"/>
          </a:p>
        </p:txBody>
      </p:sp>
      <p:sp>
        <p:nvSpPr>
          <p:cNvPr id="6" name="Shape 4"/>
          <p:cNvSpPr/>
          <p:nvPr/>
        </p:nvSpPr>
        <p:spPr>
          <a:xfrm>
            <a:off x="6208776" y="1618488"/>
            <a:ext cx="5568696" cy="2697480"/>
          </a:xfrm>
          <a:prstGeom prst="roundRect">
            <a:avLst>
              <a:gd name="adj" fmla="val 2712"/>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7" name="Image 0" descr="fsn18s">    </p:cNvPr>
          <p:cNvPicPr>
            <a:picLocks noChangeAspect="1"/>
          </p:cNvPicPr>
          <p:nvPr/>
        </p:nvPicPr>
        <p:blipFill>
          <a:blip r:embed="rId1"/>
          <a:stretch>
            <a:fillRect/>
          </a:stretch>
        </p:blipFill>
        <p:spPr>
          <a:xfrm>
            <a:off x="6387084" y="1664208"/>
            <a:ext cx="5212080" cy="2606040"/>
          </a:xfrm>
          <a:prstGeom prst="rect">
            <a:avLst/>
          </a:prstGeom>
        </p:spPr>
      </p:pic>
      <p:sp>
        <p:nvSpPr>
          <p:cNvPr id="8" name="Text 5"/>
          <p:cNvSpPr txBox="1"/>
          <p:nvPr/>
        </p:nvSpPr>
        <p:spPr>
          <a:xfrm>
            <a:off x="411480"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«بررسی»: ردیف‌های سند دو سو</a:t>
            </a:r>
            <a:endParaRPr lang="en-US" sz="1200" dirty="0"/>
          </a:p>
        </p:txBody>
      </p:sp>
      <p:sp>
        <p:nvSpPr>
          <p:cNvPr id="9" name="Shape 6"/>
          <p:cNvSpPr/>
          <p:nvPr/>
        </p:nvSpPr>
        <p:spPr>
          <a:xfrm>
            <a:off x="411480" y="1618488"/>
            <a:ext cx="5568696" cy="2697480"/>
          </a:xfrm>
          <a:prstGeom prst="roundRect">
            <a:avLst>
              <a:gd name="adj" fmla="val 2712"/>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10" name="Image 1" descr="fsn19">    </p:cNvPr>
          <p:cNvPicPr>
            <a:picLocks noChangeAspect="1"/>
          </p:cNvPicPr>
          <p:nvPr/>
        </p:nvPicPr>
        <p:blipFill>
          <a:blip r:embed="rId2"/>
          <a:stretch>
            <a:fillRect/>
          </a:stretch>
        </p:blipFill>
        <p:spPr>
          <a:xfrm>
            <a:off x="457200" y="1818526"/>
            <a:ext cx="5477256" cy="2297405"/>
          </a:xfrm>
          <a:prstGeom prst="rect">
            <a:avLst/>
          </a:prstGeom>
        </p:spPr>
      </p:pic>
      <p:sp>
        <p:nvSpPr>
          <p:cNvPr id="11" name="Shape 7"/>
          <p:cNvSpPr/>
          <p:nvPr/>
        </p:nvSpPr>
        <p:spPr>
          <a:xfrm>
            <a:off x="9614002" y="4498848"/>
            <a:ext cx="2163470" cy="1060704"/>
          </a:xfrm>
          <a:prstGeom prst="roundRect">
            <a:avLst>
              <a:gd name="adj" fmla="val 6897"/>
            </a:avLst>
          </a:prstGeom>
          <a:solidFill>
            <a:srgbClr val="FFFFFF"/>
          </a:solidFill>
          <a:ln w="6350">
            <a:solidFill>
              <a:srgbClr val="D9DEE7"/>
            </a:solidFill>
            <a:prstDash val="solid"/>
          </a:ln>
        </p:spPr>
      </p:sp>
      <p:sp>
        <p:nvSpPr>
          <p:cNvPr id="12" name="Shape 8"/>
          <p:cNvSpPr/>
          <p:nvPr/>
        </p:nvSpPr>
        <p:spPr>
          <a:xfrm>
            <a:off x="11347704" y="4590288"/>
            <a:ext cx="329184" cy="329184"/>
          </a:xfrm>
          <a:prstGeom prst="ellipse">
            <a:avLst/>
          </a:prstGeom>
          <a:solidFill>
            <a:srgbClr val="C9A227"/>
          </a:solidFill>
          <a:ln w="12700">
            <a:solidFill>
              <a:srgbClr val="C9A227"/>
            </a:solidFill>
            <a:prstDash val="solid"/>
          </a:ln>
        </p:spPr>
      </p:sp>
      <p:sp>
        <p:nvSpPr>
          <p:cNvPr id="13" name="Text 9"/>
          <p:cNvSpPr txBox="1"/>
          <p:nvPr/>
        </p:nvSpPr>
        <p:spPr>
          <a:xfrm>
            <a:off x="11347704" y="459028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14" name="Text 10"/>
          <p:cNvSpPr txBox="1"/>
          <p:nvPr/>
        </p:nvSpPr>
        <p:spPr>
          <a:xfrm>
            <a:off x="9705442" y="457200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انتخاب اجرا</a:t>
            </a:r>
            <a:endParaRPr lang="en-US" sz="1300" dirty="0"/>
          </a:p>
        </p:txBody>
      </p:sp>
      <p:sp>
        <p:nvSpPr>
          <p:cNvPr id="15" name="Text 11"/>
          <p:cNvSpPr txBox="1"/>
          <p:nvPr/>
        </p:nvSpPr>
        <p:spPr>
          <a:xfrm>
            <a:off x="9723730" y="4974336"/>
            <a:ext cx="1944014" cy="53035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اجرای ترکیبی و واحد مبلغ؛ همین بخش در زبانهٔ «کاربرگ» اجرا هم هست.</a:t>
            </a:r>
            <a:endParaRPr lang="en-US" sz="1150" dirty="0"/>
          </a:p>
        </p:txBody>
      </p:sp>
      <p:sp>
        <p:nvSpPr>
          <p:cNvPr id="16" name="Shape 12"/>
          <p:cNvSpPr/>
          <p:nvPr/>
        </p:nvSpPr>
        <p:spPr>
          <a:xfrm>
            <a:off x="7313371" y="4498848"/>
            <a:ext cx="2163470" cy="1060704"/>
          </a:xfrm>
          <a:prstGeom prst="roundRect">
            <a:avLst>
              <a:gd name="adj" fmla="val 6897"/>
            </a:avLst>
          </a:prstGeom>
          <a:solidFill>
            <a:srgbClr val="FFFFFF"/>
          </a:solidFill>
          <a:ln w="6350">
            <a:solidFill>
              <a:srgbClr val="D9DEE7"/>
            </a:solidFill>
            <a:prstDash val="solid"/>
          </a:ln>
        </p:spPr>
      </p:sp>
      <p:sp>
        <p:nvSpPr>
          <p:cNvPr id="17" name="Shape 13"/>
          <p:cNvSpPr/>
          <p:nvPr/>
        </p:nvSpPr>
        <p:spPr>
          <a:xfrm>
            <a:off x="9047074" y="4590288"/>
            <a:ext cx="329184" cy="329184"/>
          </a:xfrm>
          <a:prstGeom prst="ellipse">
            <a:avLst/>
          </a:prstGeom>
          <a:solidFill>
            <a:srgbClr val="C9A227"/>
          </a:solidFill>
          <a:ln w="12700">
            <a:solidFill>
              <a:srgbClr val="C9A227"/>
            </a:solidFill>
            <a:prstDash val="solid"/>
          </a:ln>
        </p:spPr>
      </p:sp>
      <p:sp>
        <p:nvSpPr>
          <p:cNvPr id="18" name="Text 14"/>
          <p:cNvSpPr txBox="1"/>
          <p:nvPr/>
        </p:nvSpPr>
        <p:spPr>
          <a:xfrm>
            <a:off x="9047074" y="459028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9" name="Text 15"/>
          <p:cNvSpPr txBox="1"/>
          <p:nvPr/>
        </p:nvSpPr>
        <p:spPr>
          <a:xfrm>
            <a:off x="7404811" y="457200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کاشی‌ها</a:t>
            </a:r>
            <a:endParaRPr lang="en-US" sz="1300" dirty="0"/>
          </a:p>
        </p:txBody>
      </p:sp>
      <p:sp>
        <p:nvSpPr>
          <p:cNvPr id="20" name="Text 16"/>
          <p:cNvSpPr txBox="1"/>
          <p:nvPr/>
        </p:nvSpPr>
        <p:spPr>
          <a:xfrm>
            <a:off x="7423099" y="4974336"/>
            <a:ext cx="1944014" cy="53035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پنج وضعیت تطبیق با تعداد جفت‌ها؛ کلیک روی هر کاشی فهرست را فیلتر می‌کند.</a:t>
            </a:r>
            <a:endParaRPr lang="en-US" sz="1150" dirty="0"/>
          </a:p>
        </p:txBody>
      </p:sp>
      <p:sp>
        <p:nvSpPr>
          <p:cNvPr id="21" name="Shape 17"/>
          <p:cNvSpPr/>
          <p:nvPr/>
        </p:nvSpPr>
        <p:spPr>
          <a:xfrm>
            <a:off x="5012741" y="4498848"/>
            <a:ext cx="2163470" cy="1060704"/>
          </a:xfrm>
          <a:prstGeom prst="roundRect">
            <a:avLst>
              <a:gd name="adj" fmla="val 6897"/>
            </a:avLst>
          </a:prstGeom>
          <a:solidFill>
            <a:srgbClr val="FFFFFF"/>
          </a:solidFill>
          <a:ln w="6350">
            <a:solidFill>
              <a:srgbClr val="D9DEE7"/>
            </a:solidFill>
            <a:prstDash val="solid"/>
          </a:ln>
        </p:spPr>
      </p:sp>
      <p:sp>
        <p:nvSpPr>
          <p:cNvPr id="22" name="Shape 18"/>
          <p:cNvSpPr/>
          <p:nvPr/>
        </p:nvSpPr>
        <p:spPr>
          <a:xfrm>
            <a:off x="6746443" y="4590288"/>
            <a:ext cx="329184" cy="329184"/>
          </a:xfrm>
          <a:prstGeom prst="ellipse">
            <a:avLst/>
          </a:prstGeom>
          <a:solidFill>
            <a:srgbClr val="C9A227"/>
          </a:solidFill>
          <a:ln w="12700">
            <a:solidFill>
              <a:srgbClr val="C9A227"/>
            </a:solidFill>
            <a:prstDash val="solid"/>
          </a:ln>
        </p:spPr>
      </p:sp>
      <p:sp>
        <p:nvSpPr>
          <p:cNvPr id="23" name="Text 19"/>
          <p:cNvSpPr txBox="1"/>
          <p:nvPr/>
        </p:nvSpPr>
        <p:spPr>
          <a:xfrm>
            <a:off x="6746443" y="459028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24" name="Text 20"/>
          <p:cNvSpPr txBox="1"/>
          <p:nvPr/>
        </p:nvSpPr>
        <p:spPr>
          <a:xfrm>
            <a:off x="5104181" y="457200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دامنه</a:t>
            </a:r>
            <a:endParaRPr lang="en-US" sz="1300" dirty="0"/>
          </a:p>
        </p:txBody>
      </p:sp>
      <p:sp>
        <p:nvSpPr>
          <p:cNvPr id="25" name="Text 21"/>
          <p:cNvSpPr txBox="1"/>
          <p:nvPr/>
        </p:nvSpPr>
        <p:spPr>
          <a:xfrm>
            <a:off x="5122469" y="4974336"/>
            <a:ext cx="1944014" cy="53035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زبانه‌های «همه»، «واحد اصلی ↔ زیرواحدها» و «بین زیرواحدها».</a:t>
            </a:r>
            <a:endParaRPr lang="en-US" sz="1150" dirty="0"/>
          </a:p>
        </p:txBody>
      </p:sp>
      <p:sp>
        <p:nvSpPr>
          <p:cNvPr id="26" name="Shape 22"/>
          <p:cNvSpPr/>
          <p:nvPr/>
        </p:nvSpPr>
        <p:spPr>
          <a:xfrm>
            <a:off x="2712110" y="4498848"/>
            <a:ext cx="2163470" cy="1060704"/>
          </a:xfrm>
          <a:prstGeom prst="roundRect">
            <a:avLst>
              <a:gd name="adj" fmla="val 6897"/>
            </a:avLst>
          </a:prstGeom>
          <a:solidFill>
            <a:srgbClr val="FFFFFF"/>
          </a:solidFill>
          <a:ln w="6350">
            <a:solidFill>
              <a:srgbClr val="D9DEE7"/>
            </a:solidFill>
            <a:prstDash val="solid"/>
          </a:ln>
        </p:spPr>
      </p:sp>
      <p:sp>
        <p:nvSpPr>
          <p:cNvPr id="27" name="Shape 23"/>
          <p:cNvSpPr/>
          <p:nvPr/>
        </p:nvSpPr>
        <p:spPr>
          <a:xfrm>
            <a:off x="4445813" y="4590288"/>
            <a:ext cx="329184" cy="329184"/>
          </a:xfrm>
          <a:prstGeom prst="ellipse">
            <a:avLst/>
          </a:prstGeom>
          <a:solidFill>
            <a:srgbClr val="C9A227"/>
          </a:solidFill>
          <a:ln w="12700">
            <a:solidFill>
              <a:srgbClr val="C9A227"/>
            </a:solidFill>
            <a:prstDash val="solid"/>
          </a:ln>
        </p:spPr>
      </p:sp>
      <p:sp>
        <p:nvSpPr>
          <p:cNvPr id="28" name="Text 24"/>
          <p:cNvSpPr txBox="1"/>
          <p:nvPr/>
        </p:nvSpPr>
        <p:spPr>
          <a:xfrm>
            <a:off x="4445813" y="459028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9" name="Text 25"/>
          <p:cNvSpPr txBox="1"/>
          <p:nvPr/>
        </p:nvSpPr>
        <p:spPr>
          <a:xfrm>
            <a:off x="2803550" y="457200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بررسی</a:t>
            </a:r>
            <a:endParaRPr lang="en-US" sz="1300" dirty="0"/>
          </a:p>
        </p:txBody>
      </p:sp>
      <p:sp>
        <p:nvSpPr>
          <p:cNvPr id="30" name="Text 26"/>
          <p:cNvSpPr txBox="1"/>
          <p:nvPr/>
        </p:nvSpPr>
        <p:spPr>
          <a:xfrm>
            <a:off x="2821838" y="4974336"/>
            <a:ext cx="1944014" cy="53035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ردیف‌های سند دو سو با شناسه و منبع تشخیص؛ آیکون کنار ردیف سند را باز می‌کند.</a:t>
            </a:r>
            <a:endParaRPr lang="en-US" sz="1150" dirty="0"/>
          </a:p>
        </p:txBody>
      </p:sp>
      <p:sp>
        <p:nvSpPr>
          <p:cNvPr id="31" name="Shape 27"/>
          <p:cNvSpPr/>
          <p:nvPr/>
        </p:nvSpPr>
        <p:spPr>
          <a:xfrm>
            <a:off x="411480" y="4498848"/>
            <a:ext cx="2163470" cy="1060704"/>
          </a:xfrm>
          <a:prstGeom prst="roundRect">
            <a:avLst>
              <a:gd name="adj" fmla="val 6897"/>
            </a:avLst>
          </a:prstGeom>
          <a:solidFill>
            <a:srgbClr val="FFFFFF"/>
          </a:solidFill>
          <a:ln w="6350">
            <a:solidFill>
              <a:srgbClr val="D9DEE7"/>
            </a:solidFill>
            <a:prstDash val="solid"/>
          </a:ln>
        </p:spPr>
      </p:sp>
      <p:sp>
        <p:nvSpPr>
          <p:cNvPr id="32" name="Shape 28"/>
          <p:cNvSpPr/>
          <p:nvPr/>
        </p:nvSpPr>
        <p:spPr>
          <a:xfrm>
            <a:off x="2145182" y="4590288"/>
            <a:ext cx="329184" cy="329184"/>
          </a:xfrm>
          <a:prstGeom prst="ellipse">
            <a:avLst/>
          </a:prstGeom>
          <a:solidFill>
            <a:srgbClr val="C9A227"/>
          </a:solidFill>
          <a:ln w="12700">
            <a:solidFill>
              <a:srgbClr val="C9A227"/>
            </a:solidFill>
            <a:prstDash val="solid"/>
          </a:ln>
        </p:spPr>
      </p:sp>
      <p:sp>
        <p:nvSpPr>
          <p:cNvPr id="33" name="Text 29"/>
          <p:cNvSpPr txBox="1"/>
          <p:nvPr/>
        </p:nvSpPr>
        <p:spPr>
          <a:xfrm>
            <a:off x="2145182" y="459028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34" name="Text 30"/>
          <p:cNvSpPr txBox="1"/>
          <p:nvPr/>
        </p:nvSpPr>
        <p:spPr>
          <a:xfrm>
            <a:off x="502920" y="457200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اصلاح</a:t>
            </a:r>
            <a:endParaRPr lang="en-US" sz="1300" dirty="0"/>
          </a:p>
        </p:txBody>
      </p:sp>
      <p:sp>
        <p:nvSpPr>
          <p:cNvPr id="35" name="Text 31"/>
          <p:cNvSpPr txBox="1"/>
          <p:nvPr/>
        </p:nvSpPr>
        <p:spPr>
          <a:xfrm>
            <a:off x="521208" y="4974336"/>
            <a:ext cx="1944014" cy="53035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شناسهٔ ردیف یا سند اصلاحی را در واحد مربوط ثبت و صورت را دوباره تهیه کنید.</a:t>
            </a:r>
            <a:endParaRPr lang="en-US" sz="1150" dirty="0"/>
          </a:p>
        </p:txBody>
      </p:sp>
      <p:sp>
        <p:nvSpPr>
          <p:cNvPr id="36" name="Shape 32"/>
          <p:cNvSpPr/>
          <p:nvPr/>
        </p:nvSpPr>
        <p:spPr>
          <a:xfrm>
            <a:off x="411480" y="5696712"/>
            <a:ext cx="11365992" cy="658368"/>
          </a:xfrm>
          <a:prstGeom prst="roundRect">
            <a:avLst>
              <a:gd name="adj" fmla="val 11111"/>
            </a:avLst>
          </a:prstGeom>
          <a:solidFill>
            <a:srgbClr val="F6EDCF"/>
          </a:solidFill>
          <a:ln w="9525">
            <a:solidFill>
              <a:srgbClr val="C9A227"/>
            </a:solidFill>
            <a:prstDash val="solid"/>
          </a:ln>
        </p:spPr>
      </p:sp>
      <p:sp>
        <p:nvSpPr>
          <p:cNvPr id="37" name="Text 33"/>
          <p:cNvSpPr txBox="1"/>
          <p:nvPr/>
        </p:nvSpPr>
        <p:spPr>
          <a:xfrm>
            <a:off x="10954512" y="5696712"/>
            <a:ext cx="731520" cy="658368"/>
          </a:xfrm>
          <a:prstGeom prst="rect">
            <a:avLst/>
          </a:prstGeom>
          <a:noFill/>
          <a:ln/>
        </p:spPr>
        <p:txBody>
          <a:bodyPr wrap="square" lIns="0" tIns="0" rIns="0" bIns="0" rtlCol="0" anchor="ctr"/>
          <a:lstStyle/>
          <a:p>
            <a:pPr rtl="1" algn="r" indent="0" marL="0">
              <a:buNone/>
            </a:pPr>
            <a:r>
              <a:rPr lang="en-US" sz="1400" b="1" dirty="0">
                <a:solidFill>
                  <a:srgbClr val="6B5410"/>
                </a:solidFill>
                <a:latin typeface="Tahoma" pitchFamily="34" charset="0"/>
                <a:ea typeface="Tahoma" pitchFamily="34" charset="-122"/>
                <a:cs typeface="Tahoma" pitchFamily="34" charset="-120"/>
              </a:rPr>
              <a:t>نکته</a:t>
            </a:r>
            <a:endParaRPr lang="en-US" sz="1400" dirty="0"/>
          </a:p>
        </p:txBody>
      </p:sp>
      <p:sp>
        <p:nvSpPr>
          <p:cNvPr id="38" name="Text 34"/>
          <p:cNvSpPr txBox="1"/>
          <p:nvPr/>
        </p:nvSpPr>
        <p:spPr>
          <a:xfrm>
            <a:off x="548640" y="5696712"/>
            <a:ext cx="10360152" cy="658368"/>
          </a:xfrm>
          <a:prstGeom prst="rect">
            <a:avLst/>
          </a:prstGeom>
          <a:noFill/>
          <a:ln/>
        </p:spPr>
        <p:txBody>
          <a:bodyPr wrap="square" lIns="0" tIns="0" rIns="0" bIns="0" rtlCol="0" anchor="ctr"/>
          <a:lstStyle/>
          <a:p>
            <a:pPr rtl="1" algn="r" indent="0" marL="0">
              <a:buNone/>
            </a:pPr>
            <a:r>
              <a:rPr lang="en-US" sz="1300" dirty="0">
                <a:solidFill>
                  <a:srgbClr val="4A3B0B"/>
                </a:solidFill>
                <a:latin typeface="Tahoma" pitchFamily="34" charset="0"/>
                <a:ea typeface="Tahoma" pitchFamily="34" charset="-122"/>
                <a:cs typeface="Tahoma" pitchFamily="34" charset="-120"/>
              </a:rPr>
              <a:t>طرف مقابل هر ردیف از ۴ رقم اول شناسهٔ ردیف (حساب شناسه‌دار) یا از اعلامیهٔ همان سند شناخته می‌شود؛ اگر هیچ‌کدام نباشد «طرف مقابل نامعلوم» است.</a:t>
            </a:r>
            <a:endParaRPr lang="en-US" sz="1300" dirty="0"/>
          </a:p>
        </p:txBody>
      </p:sp>
      <p:sp>
        <p:nvSpPr>
          <p:cNvPr id="39" name="Text 35"/>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کاربرگ تلفیق و قواعد حذف</a:t>
            </a:r>
            <a:endParaRPr lang="en-US" sz="2600" dirty="0"/>
          </a:p>
        </p:txBody>
      </p:sp>
      <p:sp>
        <p:nvSpPr>
          <p:cNvPr id="3" name="Shape 1"/>
          <p:cNvSpPr/>
          <p:nvPr/>
        </p:nvSpPr>
        <p:spPr>
          <a:xfrm>
            <a:off x="7031736" y="896112"/>
            <a:ext cx="4745736"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صورت‌های مالی ← تلفیق، جریان نقد و XBRL ← حذف فی‌مابین</a:t>
            </a:r>
            <a:endParaRPr lang="en-US" sz="1100" dirty="0"/>
          </a:p>
        </p:txBody>
      </p:sp>
      <p:sp>
        <p:nvSpPr>
          <p:cNvPr id="5" name="Text 3"/>
          <p:cNvSpPr txBox="1"/>
          <p:nvPr/>
        </p:nvSpPr>
        <p:spPr>
          <a:xfrm>
            <a:off x="6208776"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زبانهٔ «کاربرگ ترکیب / تلفیق» در صفحهٔ اجرا</a:t>
            </a:r>
            <a:endParaRPr lang="en-US" sz="1200" dirty="0"/>
          </a:p>
        </p:txBody>
      </p:sp>
      <p:sp>
        <p:nvSpPr>
          <p:cNvPr id="6" name="Shape 4"/>
          <p:cNvSpPr/>
          <p:nvPr/>
        </p:nvSpPr>
        <p:spPr>
          <a:xfrm>
            <a:off x="6208776" y="1618488"/>
            <a:ext cx="5568696" cy="2653040"/>
          </a:xfrm>
          <a:prstGeom prst="roundRect">
            <a:avLst>
              <a:gd name="adj" fmla="val 2757"/>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7" name="Image 0" descr="fsn12s">    </p:cNvPr>
          <p:cNvPicPr>
            <a:picLocks noChangeAspect="1"/>
          </p:cNvPicPr>
          <p:nvPr/>
        </p:nvPicPr>
        <p:blipFill>
          <a:blip r:embed="rId1"/>
          <a:stretch>
            <a:fillRect/>
          </a:stretch>
        </p:blipFill>
        <p:spPr>
          <a:xfrm>
            <a:off x="6254496" y="1685239"/>
            <a:ext cx="5477256" cy="2519538"/>
          </a:xfrm>
          <a:prstGeom prst="rect">
            <a:avLst/>
          </a:prstGeom>
        </p:spPr>
      </p:pic>
      <p:sp>
        <p:nvSpPr>
          <p:cNvPr id="8" name="Text 5"/>
          <p:cNvSpPr txBox="1"/>
          <p:nvPr/>
        </p:nvSpPr>
        <p:spPr>
          <a:xfrm>
            <a:off x="411480"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قواعد حذف فی‌مابین</a:t>
            </a:r>
            <a:endParaRPr lang="en-US" sz="1200" dirty="0"/>
          </a:p>
        </p:txBody>
      </p:sp>
      <p:sp>
        <p:nvSpPr>
          <p:cNvPr id="9" name="Shape 6"/>
          <p:cNvSpPr/>
          <p:nvPr/>
        </p:nvSpPr>
        <p:spPr>
          <a:xfrm>
            <a:off x="411480" y="1618488"/>
            <a:ext cx="5568696" cy="2653040"/>
          </a:xfrm>
          <a:prstGeom prst="roundRect">
            <a:avLst>
              <a:gd name="adj" fmla="val 2757"/>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10" name="Image 1" descr="fsn10s">    </p:cNvPr>
          <p:cNvPicPr>
            <a:picLocks noChangeAspect="1"/>
          </p:cNvPicPr>
          <p:nvPr/>
        </p:nvPicPr>
        <p:blipFill>
          <a:blip r:embed="rId2"/>
          <a:stretch>
            <a:fillRect/>
          </a:stretch>
        </p:blipFill>
        <p:spPr>
          <a:xfrm>
            <a:off x="457200" y="2032132"/>
            <a:ext cx="5477256" cy="1825752"/>
          </a:xfrm>
          <a:prstGeom prst="rect">
            <a:avLst/>
          </a:prstGeom>
        </p:spPr>
      </p:pic>
      <p:sp>
        <p:nvSpPr>
          <p:cNvPr id="11" name="Shape 7"/>
          <p:cNvSpPr/>
          <p:nvPr/>
        </p:nvSpPr>
        <p:spPr>
          <a:xfrm>
            <a:off x="9038844" y="4454408"/>
            <a:ext cx="2738628" cy="1105144"/>
          </a:xfrm>
          <a:prstGeom prst="roundRect">
            <a:avLst>
              <a:gd name="adj" fmla="val 6619"/>
            </a:avLst>
          </a:prstGeom>
          <a:solidFill>
            <a:srgbClr val="FFFFFF"/>
          </a:solidFill>
          <a:ln w="6350">
            <a:solidFill>
              <a:srgbClr val="D9DEE7"/>
            </a:solidFill>
            <a:prstDash val="solid"/>
          </a:ln>
        </p:spPr>
      </p:sp>
      <p:sp>
        <p:nvSpPr>
          <p:cNvPr id="12" name="Shape 8"/>
          <p:cNvSpPr/>
          <p:nvPr/>
        </p:nvSpPr>
        <p:spPr>
          <a:xfrm>
            <a:off x="11347704" y="4545848"/>
            <a:ext cx="329184" cy="329184"/>
          </a:xfrm>
          <a:prstGeom prst="ellipse">
            <a:avLst/>
          </a:prstGeom>
          <a:solidFill>
            <a:srgbClr val="C9A227"/>
          </a:solidFill>
          <a:ln w="12700">
            <a:solidFill>
              <a:srgbClr val="C9A227"/>
            </a:solidFill>
            <a:prstDash val="solid"/>
          </a:ln>
        </p:spPr>
      </p:sp>
      <p:sp>
        <p:nvSpPr>
          <p:cNvPr id="13" name="Text 9"/>
          <p:cNvSpPr txBox="1"/>
          <p:nvPr/>
        </p:nvSpPr>
        <p:spPr>
          <a:xfrm>
            <a:off x="11347704" y="454584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14" name="Text 10"/>
          <p:cNvSpPr txBox="1"/>
          <p:nvPr/>
        </p:nvSpPr>
        <p:spPr>
          <a:xfrm>
            <a:off x="9130284" y="4527560"/>
            <a:ext cx="2171700"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کاربرگ</a:t>
            </a:r>
            <a:endParaRPr lang="en-US" sz="1300" dirty="0"/>
          </a:p>
        </p:txBody>
      </p:sp>
      <p:sp>
        <p:nvSpPr>
          <p:cNvPr id="15" name="Text 11"/>
          <p:cNvSpPr txBox="1"/>
          <p:nvPr/>
        </p:nvSpPr>
        <p:spPr>
          <a:xfrm>
            <a:off x="9148572" y="4929896"/>
            <a:ext cx="2519172" cy="574792"/>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در صورت ترکیبی، ستون هر واحد، ستون حذفیات و جمع صورت کنار هم دیده می‌شود؛ دکمهٔ Excel کاربرگ را خروجی می‌دهد.</a:t>
            </a:r>
            <a:endParaRPr lang="en-US" sz="1200" dirty="0"/>
          </a:p>
        </p:txBody>
      </p:sp>
      <p:sp>
        <p:nvSpPr>
          <p:cNvPr id="16" name="Shape 12"/>
          <p:cNvSpPr/>
          <p:nvPr/>
        </p:nvSpPr>
        <p:spPr>
          <a:xfrm>
            <a:off x="6163056" y="4454408"/>
            <a:ext cx="2738628" cy="1105144"/>
          </a:xfrm>
          <a:prstGeom prst="roundRect">
            <a:avLst>
              <a:gd name="adj" fmla="val 6619"/>
            </a:avLst>
          </a:prstGeom>
          <a:solidFill>
            <a:srgbClr val="FFFFFF"/>
          </a:solidFill>
          <a:ln w="6350">
            <a:solidFill>
              <a:srgbClr val="D9DEE7"/>
            </a:solidFill>
            <a:prstDash val="solid"/>
          </a:ln>
        </p:spPr>
      </p:sp>
      <p:sp>
        <p:nvSpPr>
          <p:cNvPr id="17" name="Shape 13"/>
          <p:cNvSpPr/>
          <p:nvPr/>
        </p:nvSpPr>
        <p:spPr>
          <a:xfrm>
            <a:off x="8471916" y="4545848"/>
            <a:ext cx="329184" cy="329184"/>
          </a:xfrm>
          <a:prstGeom prst="ellipse">
            <a:avLst/>
          </a:prstGeom>
          <a:solidFill>
            <a:srgbClr val="C9A227"/>
          </a:solidFill>
          <a:ln w="12700">
            <a:solidFill>
              <a:srgbClr val="C9A227"/>
            </a:solidFill>
            <a:prstDash val="solid"/>
          </a:ln>
        </p:spPr>
      </p:sp>
      <p:sp>
        <p:nvSpPr>
          <p:cNvPr id="18" name="Text 14"/>
          <p:cNvSpPr txBox="1"/>
          <p:nvPr/>
        </p:nvSpPr>
        <p:spPr>
          <a:xfrm>
            <a:off x="8471916" y="454584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9" name="Text 15"/>
          <p:cNvSpPr txBox="1"/>
          <p:nvPr/>
        </p:nvSpPr>
        <p:spPr>
          <a:xfrm>
            <a:off x="6254496" y="4527560"/>
            <a:ext cx="2171700"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قاعدهٔ حذف</a:t>
            </a:r>
            <a:endParaRPr lang="en-US" sz="1300" dirty="0"/>
          </a:p>
        </p:txBody>
      </p:sp>
      <p:sp>
        <p:nvSpPr>
          <p:cNvPr id="20" name="Text 16"/>
          <p:cNvSpPr txBox="1"/>
          <p:nvPr/>
        </p:nvSpPr>
        <p:spPr>
          <a:xfrm>
            <a:off x="6272784" y="4929896"/>
            <a:ext cx="2519172" cy="574792"/>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کد، عنوان، حساب‌های «سوی اول» و «سوی دوم» (مثل حساب جاری ستاد ↔ ادارات کل) و آستانهٔ اختلاف.</a:t>
            </a:r>
            <a:endParaRPr lang="en-US" sz="1200" dirty="0"/>
          </a:p>
        </p:txBody>
      </p:sp>
      <p:sp>
        <p:nvSpPr>
          <p:cNvPr id="21" name="Shape 17"/>
          <p:cNvSpPr/>
          <p:nvPr/>
        </p:nvSpPr>
        <p:spPr>
          <a:xfrm>
            <a:off x="3287268" y="4454408"/>
            <a:ext cx="2738628" cy="1105144"/>
          </a:xfrm>
          <a:prstGeom prst="roundRect">
            <a:avLst>
              <a:gd name="adj" fmla="val 6619"/>
            </a:avLst>
          </a:prstGeom>
          <a:solidFill>
            <a:srgbClr val="FFFFFF"/>
          </a:solidFill>
          <a:ln w="6350">
            <a:solidFill>
              <a:srgbClr val="D9DEE7"/>
            </a:solidFill>
            <a:prstDash val="solid"/>
          </a:ln>
        </p:spPr>
      </p:sp>
      <p:sp>
        <p:nvSpPr>
          <p:cNvPr id="22" name="Shape 18"/>
          <p:cNvSpPr/>
          <p:nvPr/>
        </p:nvSpPr>
        <p:spPr>
          <a:xfrm>
            <a:off x="5596128" y="4545848"/>
            <a:ext cx="329184" cy="329184"/>
          </a:xfrm>
          <a:prstGeom prst="ellipse">
            <a:avLst/>
          </a:prstGeom>
          <a:solidFill>
            <a:srgbClr val="C9A227"/>
          </a:solidFill>
          <a:ln w="12700">
            <a:solidFill>
              <a:srgbClr val="C9A227"/>
            </a:solidFill>
            <a:prstDash val="solid"/>
          </a:ln>
        </p:spPr>
      </p:sp>
      <p:sp>
        <p:nvSpPr>
          <p:cNvPr id="23" name="Text 19"/>
          <p:cNvSpPr txBox="1"/>
          <p:nvPr/>
        </p:nvSpPr>
        <p:spPr>
          <a:xfrm>
            <a:off x="5596128" y="454584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24" name="Text 20"/>
          <p:cNvSpPr txBox="1"/>
          <p:nvPr/>
        </p:nvSpPr>
        <p:spPr>
          <a:xfrm>
            <a:off x="3378708" y="4527560"/>
            <a:ext cx="2171700"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نتیجه</a:t>
            </a:r>
            <a:endParaRPr lang="en-US" sz="1300" dirty="0"/>
          </a:p>
        </p:txBody>
      </p:sp>
      <p:sp>
        <p:nvSpPr>
          <p:cNvPr id="25" name="Text 21"/>
          <p:cNvSpPr txBox="1"/>
          <p:nvPr/>
        </p:nvSpPr>
        <p:spPr>
          <a:xfrm>
            <a:off x="3396996" y="4929896"/>
            <a:ext cx="2519172" cy="574792"/>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جدول «حذف فی‌مابین» بالای کاربرگ: تطبیق کامل (سبز) یا عدم تطبیق با مبلغ اختلاف.</a:t>
            </a:r>
            <a:endParaRPr lang="en-US" sz="1200" dirty="0"/>
          </a:p>
        </p:txBody>
      </p:sp>
      <p:sp>
        <p:nvSpPr>
          <p:cNvPr id="26" name="Shape 22"/>
          <p:cNvSpPr/>
          <p:nvPr/>
        </p:nvSpPr>
        <p:spPr>
          <a:xfrm>
            <a:off x="411480" y="4454408"/>
            <a:ext cx="2738628" cy="1105144"/>
          </a:xfrm>
          <a:prstGeom prst="roundRect">
            <a:avLst>
              <a:gd name="adj" fmla="val 6619"/>
            </a:avLst>
          </a:prstGeom>
          <a:solidFill>
            <a:srgbClr val="FFFFFF"/>
          </a:solidFill>
          <a:ln w="6350">
            <a:solidFill>
              <a:srgbClr val="D9DEE7"/>
            </a:solidFill>
            <a:prstDash val="solid"/>
          </a:ln>
        </p:spPr>
      </p:sp>
      <p:sp>
        <p:nvSpPr>
          <p:cNvPr id="27" name="Shape 23"/>
          <p:cNvSpPr/>
          <p:nvPr/>
        </p:nvSpPr>
        <p:spPr>
          <a:xfrm>
            <a:off x="2720340" y="4545848"/>
            <a:ext cx="329184" cy="329184"/>
          </a:xfrm>
          <a:prstGeom prst="ellipse">
            <a:avLst/>
          </a:prstGeom>
          <a:solidFill>
            <a:srgbClr val="C9A227"/>
          </a:solidFill>
          <a:ln w="12700">
            <a:solidFill>
              <a:srgbClr val="C9A227"/>
            </a:solidFill>
            <a:prstDash val="solid"/>
          </a:ln>
        </p:spPr>
      </p:sp>
      <p:sp>
        <p:nvSpPr>
          <p:cNvPr id="28" name="Text 24"/>
          <p:cNvSpPr txBox="1"/>
          <p:nvPr/>
        </p:nvSpPr>
        <p:spPr>
          <a:xfrm>
            <a:off x="2720340" y="454584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9" name="Text 25"/>
          <p:cNvSpPr txBox="1"/>
          <p:nvPr/>
        </p:nvSpPr>
        <p:spPr>
          <a:xfrm>
            <a:off x="502920" y="4527560"/>
            <a:ext cx="2171700"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اصلاح</a:t>
            </a:r>
            <a:endParaRPr lang="en-US" sz="1300" dirty="0"/>
          </a:p>
        </p:txBody>
      </p:sp>
      <p:sp>
        <p:nvSpPr>
          <p:cNvPr id="30" name="Text 26"/>
          <p:cNvSpPr txBox="1"/>
          <p:nvPr/>
        </p:nvSpPr>
        <p:spPr>
          <a:xfrm>
            <a:off x="521208" y="4929896"/>
            <a:ext cx="2519172" cy="574792"/>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اختلاف را با سند اصلاحی در واحد مربوط رفع و صورت را دوباره تهیه کنید.</a:t>
            </a:r>
            <a:endParaRPr lang="en-US" sz="1200" dirty="0"/>
          </a:p>
        </p:txBody>
      </p:sp>
      <p:sp>
        <p:nvSpPr>
          <p:cNvPr id="31" name="Shape 27"/>
          <p:cNvSpPr/>
          <p:nvPr/>
        </p:nvSpPr>
        <p:spPr>
          <a:xfrm>
            <a:off x="411480" y="5696712"/>
            <a:ext cx="11365992" cy="658368"/>
          </a:xfrm>
          <a:prstGeom prst="roundRect">
            <a:avLst>
              <a:gd name="adj" fmla="val 11111"/>
            </a:avLst>
          </a:prstGeom>
          <a:solidFill>
            <a:srgbClr val="F6EDCF"/>
          </a:solidFill>
          <a:ln w="9525">
            <a:solidFill>
              <a:srgbClr val="C9A227"/>
            </a:solidFill>
            <a:prstDash val="solid"/>
          </a:ln>
        </p:spPr>
      </p:sp>
      <p:sp>
        <p:nvSpPr>
          <p:cNvPr id="32" name="Text 28"/>
          <p:cNvSpPr txBox="1"/>
          <p:nvPr/>
        </p:nvSpPr>
        <p:spPr>
          <a:xfrm>
            <a:off x="10954512" y="5696712"/>
            <a:ext cx="731520" cy="658368"/>
          </a:xfrm>
          <a:prstGeom prst="rect">
            <a:avLst/>
          </a:prstGeom>
          <a:noFill/>
          <a:ln/>
        </p:spPr>
        <p:txBody>
          <a:bodyPr wrap="square" lIns="0" tIns="0" rIns="0" bIns="0" rtlCol="0" anchor="ctr"/>
          <a:lstStyle/>
          <a:p>
            <a:pPr rtl="1" algn="r" indent="0" marL="0">
              <a:buNone/>
            </a:pPr>
            <a:r>
              <a:rPr lang="en-US" sz="1400" b="1" dirty="0">
                <a:solidFill>
                  <a:srgbClr val="6B5410"/>
                </a:solidFill>
                <a:latin typeface="Tahoma" pitchFamily="34" charset="0"/>
                <a:ea typeface="Tahoma" pitchFamily="34" charset="-122"/>
                <a:cs typeface="Tahoma" pitchFamily="34" charset="-120"/>
              </a:rPr>
              <a:t>نکته</a:t>
            </a:r>
            <a:endParaRPr lang="en-US" sz="1400" dirty="0"/>
          </a:p>
        </p:txBody>
      </p:sp>
      <p:sp>
        <p:nvSpPr>
          <p:cNvPr id="33" name="Text 29"/>
          <p:cNvSpPr txBox="1"/>
          <p:nvPr/>
        </p:nvSpPr>
        <p:spPr>
          <a:xfrm>
            <a:off x="548640" y="5696712"/>
            <a:ext cx="10360152" cy="658368"/>
          </a:xfrm>
          <a:prstGeom prst="rect">
            <a:avLst/>
          </a:prstGeom>
          <a:noFill/>
          <a:ln/>
        </p:spPr>
        <p:txBody>
          <a:bodyPr wrap="square" lIns="0" tIns="0" rIns="0" bIns="0" rtlCol="0" anchor="ctr"/>
          <a:lstStyle/>
          <a:p>
            <a:pPr rtl="1" algn="r" indent="0" marL="0">
              <a:buNone/>
            </a:pPr>
            <a:r>
              <a:rPr lang="en-US" sz="1300" dirty="0">
                <a:solidFill>
                  <a:srgbClr val="4A3B0B"/>
                </a:solidFill>
                <a:latin typeface="Tahoma" pitchFamily="34" charset="0"/>
                <a:ea typeface="Tahoma" pitchFamily="34" charset="-122"/>
                <a:cs typeface="Tahoma" pitchFamily="34" charset="-120"/>
              </a:rPr>
              <a:t>اگر جمع دو سوی یک قاعده از آستانه بیشتر شود، کنترل V-07 مسدودکننده است و اجرا قابل ارسال نیست.</a:t>
            </a:r>
            <a:endParaRPr lang="en-US" sz="1300" dirty="0"/>
          </a:p>
        </p:txBody>
      </p:sp>
      <p:sp>
        <p:nvSpPr>
          <p:cNvPr id="34" name="Text 30"/>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۱۶ — شرکت‌های تابعه، جریان نقد و XBRL</a:t>
            </a:r>
            <a:endParaRPr lang="en-US" sz="2600" dirty="0"/>
          </a:p>
        </p:txBody>
      </p:sp>
      <p:sp>
        <p:nvSpPr>
          <p:cNvPr id="3" name="Shape 1"/>
          <p:cNvSpPr/>
          <p:nvPr/>
        </p:nvSpPr>
        <p:spPr>
          <a:xfrm>
            <a:off x="8197596" y="896112"/>
            <a:ext cx="3579876"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صورت‌های مالی ← تلفیق، جریان نقد و XBRL</a:t>
            </a:r>
            <a:endParaRPr lang="en-US" sz="1100" dirty="0"/>
          </a:p>
        </p:txBody>
      </p:sp>
      <p:sp>
        <p:nvSpPr>
          <p:cNvPr id="5" name="Text 3"/>
          <p:cNvSpPr txBox="1"/>
          <p:nvPr/>
        </p:nvSpPr>
        <p:spPr>
          <a:xfrm>
            <a:off x="6208776"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شرکت‌های تابعه</a:t>
            </a:r>
            <a:endParaRPr lang="en-US" sz="1200" dirty="0"/>
          </a:p>
        </p:txBody>
      </p:sp>
      <p:sp>
        <p:nvSpPr>
          <p:cNvPr id="6" name="Shape 4"/>
          <p:cNvSpPr/>
          <p:nvPr/>
        </p:nvSpPr>
        <p:spPr>
          <a:xfrm>
            <a:off x="6208776" y="1618488"/>
            <a:ext cx="5568696" cy="2287981"/>
          </a:xfrm>
          <a:prstGeom prst="roundRect">
            <a:avLst>
              <a:gd name="adj" fmla="val 3197"/>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7" name="Image 0" descr="fsn11s">    </p:cNvPr>
          <p:cNvPicPr>
            <a:picLocks noChangeAspect="1"/>
          </p:cNvPicPr>
          <p:nvPr/>
        </p:nvPicPr>
        <p:blipFill>
          <a:blip r:embed="rId1"/>
          <a:stretch>
            <a:fillRect/>
          </a:stretch>
        </p:blipFill>
        <p:spPr>
          <a:xfrm>
            <a:off x="6254496" y="1758315"/>
            <a:ext cx="5477256" cy="2008327"/>
          </a:xfrm>
          <a:prstGeom prst="rect">
            <a:avLst/>
          </a:prstGeom>
        </p:spPr>
      </p:pic>
      <p:sp>
        <p:nvSpPr>
          <p:cNvPr id="8" name="Text 5"/>
          <p:cNvSpPr txBox="1"/>
          <p:nvPr/>
        </p:nvSpPr>
        <p:spPr>
          <a:xfrm>
            <a:off x="411480"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تنظیمات مجموعه</a:t>
            </a:r>
            <a:endParaRPr lang="en-US" sz="1200" dirty="0"/>
          </a:p>
        </p:txBody>
      </p:sp>
      <p:sp>
        <p:nvSpPr>
          <p:cNvPr id="9" name="Shape 6"/>
          <p:cNvSpPr/>
          <p:nvPr/>
        </p:nvSpPr>
        <p:spPr>
          <a:xfrm>
            <a:off x="411480" y="1618488"/>
            <a:ext cx="5568696" cy="2287981"/>
          </a:xfrm>
          <a:prstGeom prst="roundRect">
            <a:avLst>
              <a:gd name="adj" fmla="val 3197"/>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10" name="Image 1" descr="fsn09s">    </p:cNvPr>
          <p:cNvPicPr>
            <a:picLocks noChangeAspect="1"/>
          </p:cNvPicPr>
          <p:nvPr/>
        </p:nvPicPr>
        <p:blipFill>
          <a:blip r:embed="rId2"/>
          <a:stretch>
            <a:fillRect/>
          </a:stretch>
        </p:blipFill>
        <p:spPr>
          <a:xfrm>
            <a:off x="457200" y="1682242"/>
            <a:ext cx="5477256" cy="2160473"/>
          </a:xfrm>
          <a:prstGeom prst="rect">
            <a:avLst/>
          </a:prstGeom>
        </p:spPr>
      </p:pic>
      <p:sp>
        <p:nvSpPr>
          <p:cNvPr id="11" name="Shape 7"/>
          <p:cNvSpPr/>
          <p:nvPr/>
        </p:nvSpPr>
        <p:spPr>
          <a:xfrm>
            <a:off x="9614002" y="4089349"/>
            <a:ext cx="2163470" cy="2265731"/>
          </a:xfrm>
          <a:prstGeom prst="roundRect">
            <a:avLst>
              <a:gd name="adj" fmla="val 3381"/>
            </a:avLst>
          </a:prstGeom>
          <a:solidFill>
            <a:srgbClr val="FFFFFF"/>
          </a:solidFill>
          <a:ln w="6350">
            <a:solidFill>
              <a:srgbClr val="D9DEE7"/>
            </a:solidFill>
            <a:prstDash val="solid"/>
          </a:ln>
        </p:spPr>
      </p:sp>
      <p:sp>
        <p:nvSpPr>
          <p:cNvPr id="12" name="Shape 8"/>
          <p:cNvSpPr/>
          <p:nvPr/>
        </p:nvSpPr>
        <p:spPr>
          <a:xfrm>
            <a:off x="11347704" y="4180789"/>
            <a:ext cx="329184" cy="329184"/>
          </a:xfrm>
          <a:prstGeom prst="ellipse">
            <a:avLst/>
          </a:prstGeom>
          <a:solidFill>
            <a:srgbClr val="C9A227"/>
          </a:solidFill>
          <a:ln w="12700">
            <a:solidFill>
              <a:srgbClr val="C9A227"/>
            </a:solidFill>
            <a:prstDash val="solid"/>
          </a:ln>
        </p:spPr>
      </p:sp>
      <p:sp>
        <p:nvSpPr>
          <p:cNvPr id="13" name="Text 9"/>
          <p:cNvSpPr txBox="1"/>
          <p:nvPr/>
        </p:nvSpPr>
        <p:spPr>
          <a:xfrm>
            <a:off x="11347704" y="4180789"/>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14" name="Text 10"/>
          <p:cNvSpPr txBox="1"/>
          <p:nvPr/>
        </p:nvSpPr>
        <p:spPr>
          <a:xfrm>
            <a:off x="9705442" y="4162501"/>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شرکت تابعه</a:t>
            </a:r>
            <a:endParaRPr lang="en-US" sz="1300" dirty="0"/>
          </a:p>
        </p:txBody>
      </p:sp>
      <p:sp>
        <p:nvSpPr>
          <p:cNvPr id="15" name="Text 11"/>
          <p:cNvSpPr txBox="1"/>
          <p:nvPr/>
        </p:nvSpPr>
        <p:spPr>
          <a:xfrm>
            <a:off x="9723730" y="4564837"/>
            <a:ext cx="1944014" cy="1735379"/>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کد، نام، ارز و درصد مالکیت؛ تراز آزمایشی هر دوره را از Excel وارد کنید.</a:t>
            </a:r>
            <a:endParaRPr lang="en-US" sz="1150" dirty="0"/>
          </a:p>
        </p:txBody>
      </p:sp>
      <p:sp>
        <p:nvSpPr>
          <p:cNvPr id="16" name="Shape 12"/>
          <p:cNvSpPr/>
          <p:nvPr/>
        </p:nvSpPr>
        <p:spPr>
          <a:xfrm>
            <a:off x="7313371" y="4089349"/>
            <a:ext cx="2163470" cy="2265731"/>
          </a:xfrm>
          <a:prstGeom prst="roundRect">
            <a:avLst>
              <a:gd name="adj" fmla="val 3381"/>
            </a:avLst>
          </a:prstGeom>
          <a:solidFill>
            <a:srgbClr val="FFFFFF"/>
          </a:solidFill>
          <a:ln w="6350">
            <a:solidFill>
              <a:srgbClr val="D9DEE7"/>
            </a:solidFill>
            <a:prstDash val="solid"/>
          </a:ln>
        </p:spPr>
      </p:sp>
      <p:sp>
        <p:nvSpPr>
          <p:cNvPr id="17" name="Shape 13"/>
          <p:cNvSpPr/>
          <p:nvPr/>
        </p:nvSpPr>
        <p:spPr>
          <a:xfrm>
            <a:off x="9047074" y="4180789"/>
            <a:ext cx="329184" cy="329184"/>
          </a:xfrm>
          <a:prstGeom prst="ellipse">
            <a:avLst/>
          </a:prstGeom>
          <a:solidFill>
            <a:srgbClr val="C9A227"/>
          </a:solidFill>
          <a:ln w="12700">
            <a:solidFill>
              <a:srgbClr val="C9A227"/>
            </a:solidFill>
            <a:prstDash val="solid"/>
          </a:ln>
        </p:spPr>
      </p:sp>
      <p:sp>
        <p:nvSpPr>
          <p:cNvPr id="18" name="Text 14"/>
          <p:cNvSpPr txBox="1"/>
          <p:nvPr/>
        </p:nvSpPr>
        <p:spPr>
          <a:xfrm>
            <a:off x="9047074" y="4180789"/>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9" name="Text 15"/>
          <p:cNvSpPr txBox="1"/>
          <p:nvPr/>
        </p:nvSpPr>
        <p:spPr>
          <a:xfrm>
            <a:off x="7404811" y="4162501"/>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تسعیر و NCI</a:t>
            </a:r>
            <a:endParaRPr lang="en-US" sz="1300" dirty="0"/>
          </a:p>
        </p:txBody>
      </p:sp>
      <p:sp>
        <p:nvSpPr>
          <p:cNvPr id="20" name="Text 16"/>
          <p:cNvSpPr txBox="1"/>
          <p:nvPr/>
        </p:nvSpPr>
        <p:spPr>
          <a:xfrm>
            <a:off x="7423099" y="4564837"/>
            <a:ext cx="1944014" cy="1735379"/>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مبالغ با نرخ‌های تسعیر به ریال برمی‌گردد؛ سهم غیرکنترلی و اختلاف تسعیر در حساب‌های جدا می‌نشیند.</a:t>
            </a:r>
            <a:endParaRPr lang="en-US" sz="1150" dirty="0"/>
          </a:p>
        </p:txBody>
      </p:sp>
      <p:sp>
        <p:nvSpPr>
          <p:cNvPr id="21" name="Shape 17"/>
          <p:cNvSpPr/>
          <p:nvPr/>
        </p:nvSpPr>
        <p:spPr>
          <a:xfrm>
            <a:off x="5012741" y="4089349"/>
            <a:ext cx="2163470" cy="2265731"/>
          </a:xfrm>
          <a:prstGeom prst="roundRect">
            <a:avLst>
              <a:gd name="adj" fmla="val 3381"/>
            </a:avLst>
          </a:prstGeom>
          <a:solidFill>
            <a:srgbClr val="FFFFFF"/>
          </a:solidFill>
          <a:ln w="6350">
            <a:solidFill>
              <a:srgbClr val="D9DEE7"/>
            </a:solidFill>
            <a:prstDash val="solid"/>
          </a:ln>
        </p:spPr>
      </p:sp>
      <p:sp>
        <p:nvSpPr>
          <p:cNvPr id="22" name="Shape 18"/>
          <p:cNvSpPr/>
          <p:nvPr/>
        </p:nvSpPr>
        <p:spPr>
          <a:xfrm>
            <a:off x="6746443" y="4180789"/>
            <a:ext cx="329184" cy="329184"/>
          </a:xfrm>
          <a:prstGeom prst="ellipse">
            <a:avLst/>
          </a:prstGeom>
          <a:solidFill>
            <a:srgbClr val="C9A227"/>
          </a:solidFill>
          <a:ln w="12700">
            <a:solidFill>
              <a:srgbClr val="C9A227"/>
            </a:solidFill>
            <a:prstDash val="solid"/>
          </a:ln>
        </p:spPr>
      </p:sp>
      <p:sp>
        <p:nvSpPr>
          <p:cNvPr id="23" name="Text 19"/>
          <p:cNvSpPr txBox="1"/>
          <p:nvPr/>
        </p:nvSpPr>
        <p:spPr>
          <a:xfrm>
            <a:off x="6746443" y="4180789"/>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24" name="Text 20"/>
          <p:cNvSpPr txBox="1"/>
          <p:nvPr/>
        </p:nvSpPr>
        <p:spPr>
          <a:xfrm>
            <a:off x="5104181" y="4162501"/>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جریان نقد</a:t>
            </a:r>
            <a:endParaRPr lang="en-US" sz="1300" dirty="0"/>
          </a:p>
        </p:txBody>
      </p:sp>
      <p:sp>
        <p:nvSpPr>
          <p:cNvPr id="25" name="Text 21"/>
          <p:cNvSpPr txBox="1"/>
          <p:nvPr/>
        </p:nvSpPr>
        <p:spPr>
          <a:xfrm>
            <a:off x="5122469" y="4564837"/>
            <a:ext cx="1944014" cy="1735379"/>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«حساب‌های نقد (انتخاب‌گر)» را تعیین کنید؛ ردیف‌های صورت جریان نقد از طرف مقابل اسناد نقدی پر می‌شوند.</a:t>
            </a:r>
            <a:endParaRPr lang="en-US" sz="1150" dirty="0"/>
          </a:p>
        </p:txBody>
      </p:sp>
      <p:sp>
        <p:nvSpPr>
          <p:cNvPr id="26" name="Shape 22"/>
          <p:cNvSpPr/>
          <p:nvPr/>
        </p:nvSpPr>
        <p:spPr>
          <a:xfrm>
            <a:off x="2712110" y="4089349"/>
            <a:ext cx="2163470" cy="2265731"/>
          </a:xfrm>
          <a:prstGeom prst="roundRect">
            <a:avLst>
              <a:gd name="adj" fmla="val 3381"/>
            </a:avLst>
          </a:prstGeom>
          <a:solidFill>
            <a:srgbClr val="FFFFFF"/>
          </a:solidFill>
          <a:ln w="6350">
            <a:solidFill>
              <a:srgbClr val="D9DEE7"/>
            </a:solidFill>
            <a:prstDash val="solid"/>
          </a:ln>
        </p:spPr>
      </p:sp>
      <p:sp>
        <p:nvSpPr>
          <p:cNvPr id="27" name="Shape 23"/>
          <p:cNvSpPr/>
          <p:nvPr/>
        </p:nvSpPr>
        <p:spPr>
          <a:xfrm>
            <a:off x="4445813" y="4180789"/>
            <a:ext cx="329184" cy="329184"/>
          </a:xfrm>
          <a:prstGeom prst="ellipse">
            <a:avLst/>
          </a:prstGeom>
          <a:solidFill>
            <a:srgbClr val="C9A227"/>
          </a:solidFill>
          <a:ln w="12700">
            <a:solidFill>
              <a:srgbClr val="C9A227"/>
            </a:solidFill>
            <a:prstDash val="solid"/>
          </a:ln>
        </p:spPr>
      </p:sp>
      <p:sp>
        <p:nvSpPr>
          <p:cNvPr id="28" name="Text 24"/>
          <p:cNvSpPr txBox="1"/>
          <p:nvPr/>
        </p:nvSpPr>
        <p:spPr>
          <a:xfrm>
            <a:off x="4445813" y="4180789"/>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9" name="Text 25"/>
          <p:cNvSpPr txBox="1"/>
          <p:nvPr/>
        </p:nvSpPr>
        <p:spPr>
          <a:xfrm>
            <a:off x="2803550" y="4162501"/>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تعدیلات سنواتی</a:t>
            </a:r>
            <a:endParaRPr lang="en-US" sz="1300" dirty="0"/>
          </a:p>
        </p:txBody>
      </p:sp>
      <p:sp>
        <p:nvSpPr>
          <p:cNvPr id="30" name="Text 26"/>
          <p:cNvSpPr txBox="1"/>
          <p:nvPr/>
        </p:nvSpPr>
        <p:spPr>
          <a:xfrm>
            <a:off x="2821838" y="4564837"/>
            <a:ext cx="1944014" cy="1735379"/>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«حساب تعدیلات سنواتی» برای ستون سال قبلِ تجدید ارائه‌شده به کار می‌رود.</a:t>
            </a:r>
            <a:endParaRPr lang="en-US" sz="1150" dirty="0"/>
          </a:p>
        </p:txBody>
      </p:sp>
      <p:sp>
        <p:nvSpPr>
          <p:cNvPr id="31" name="Shape 27"/>
          <p:cNvSpPr/>
          <p:nvPr/>
        </p:nvSpPr>
        <p:spPr>
          <a:xfrm>
            <a:off x="411480" y="4089349"/>
            <a:ext cx="2163470" cy="2265731"/>
          </a:xfrm>
          <a:prstGeom prst="roundRect">
            <a:avLst>
              <a:gd name="adj" fmla="val 3381"/>
            </a:avLst>
          </a:prstGeom>
          <a:solidFill>
            <a:srgbClr val="FFFFFF"/>
          </a:solidFill>
          <a:ln w="6350">
            <a:solidFill>
              <a:srgbClr val="D9DEE7"/>
            </a:solidFill>
            <a:prstDash val="solid"/>
          </a:ln>
        </p:spPr>
      </p:sp>
      <p:sp>
        <p:nvSpPr>
          <p:cNvPr id="32" name="Shape 28"/>
          <p:cNvSpPr/>
          <p:nvPr/>
        </p:nvSpPr>
        <p:spPr>
          <a:xfrm>
            <a:off x="2145182" y="4180789"/>
            <a:ext cx="329184" cy="329184"/>
          </a:xfrm>
          <a:prstGeom prst="ellipse">
            <a:avLst/>
          </a:prstGeom>
          <a:solidFill>
            <a:srgbClr val="C9A227"/>
          </a:solidFill>
          <a:ln w="12700">
            <a:solidFill>
              <a:srgbClr val="C9A227"/>
            </a:solidFill>
            <a:prstDash val="solid"/>
          </a:ln>
        </p:spPr>
      </p:sp>
      <p:sp>
        <p:nvSpPr>
          <p:cNvPr id="33" name="Text 29"/>
          <p:cNvSpPr txBox="1"/>
          <p:nvPr/>
        </p:nvSpPr>
        <p:spPr>
          <a:xfrm>
            <a:off x="2145182" y="4180789"/>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34" name="Text 30"/>
          <p:cNvSpPr txBox="1"/>
          <p:nvPr/>
        </p:nvSpPr>
        <p:spPr>
          <a:xfrm>
            <a:off x="502920" y="4162501"/>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XBRL</a:t>
            </a:r>
            <a:endParaRPr lang="en-US" sz="1300" dirty="0"/>
          </a:p>
        </p:txBody>
      </p:sp>
      <p:sp>
        <p:nvSpPr>
          <p:cNvPr id="35" name="Text 31"/>
          <p:cNvSpPr txBox="1"/>
          <p:nvPr/>
        </p:nvSpPr>
        <p:spPr>
          <a:xfrm>
            <a:off x="521208" y="4564837"/>
            <a:ext cx="1944014" cy="1735379"/>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آدرس طبقه‌بندی، فضای نام و طرح شناسهٔ واحد را تنظیم و در «نگاشت XBRL» ردیف‌ها را به عناصر وصل کنید؛ خروجی از دکمهٔ XBRL صفحهٔ اجرا.</a:t>
            </a:r>
            <a:endParaRPr lang="en-US" sz="1150" dirty="0"/>
          </a:p>
        </p:txBody>
      </p:sp>
      <p:sp>
        <p:nvSpPr>
          <p:cNvPr id="36" name="Text 32"/>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صورت‌های مالی</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640080" y="457200"/>
            <a:ext cx="3840480" cy="5943600"/>
          </a:xfrm>
          <a:prstGeom prst="roundRect">
            <a:avLst>
              <a:gd name="adj" fmla="val 190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3" name="Image 0" descr="menu_sl">    </p:cNvPr>
          <p:cNvPicPr>
            <a:picLocks noChangeAspect="1"/>
          </p:cNvPicPr>
          <p:nvPr/>
        </p:nvPicPr>
        <p:blipFill>
          <a:blip r:embed="rId1"/>
          <a:stretch>
            <a:fillRect/>
          </a:stretch>
        </p:blipFill>
        <p:spPr>
          <a:xfrm>
            <a:off x="1564293" y="512064"/>
            <a:ext cx="1992054" cy="5833872"/>
          </a:xfrm>
          <a:prstGeom prst="rect">
            <a:avLst/>
          </a:prstGeom>
        </p:spPr>
      </p:pic>
      <p:sp>
        <p:nvSpPr>
          <p:cNvPr id="4" name="Shape 1"/>
          <p:cNvSpPr/>
          <p:nvPr/>
        </p:nvSpPr>
        <p:spPr>
          <a:xfrm>
            <a:off x="10515600" y="1188720"/>
            <a:ext cx="1234440" cy="1234440"/>
          </a:xfrm>
          <a:prstGeom prst="ellipse">
            <a:avLst/>
          </a:prstGeom>
          <a:solidFill>
            <a:srgbClr val="C9A227"/>
          </a:solidFill>
          <a:ln w="12700">
            <a:solidFill>
              <a:srgbClr val="C9A227"/>
            </a:solidFill>
            <a:prstDash val="solid"/>
          </a:ln>
        </p:spPr>
      </p:sp>
      <p:sp>
        <p:nvSpPr>
          <p:cNvPr id="5" name="Text 2"/>
          <p:cNvSpPr txBox="1"/>
          <p:nvPr/>
        </p:nvSpPr>
        <p:spPr>
          <a:xfrm>
            <a:off x="10515600" y="1188720"/>
            <a:ext cx="1234440" cy="1234440"/>
          </a:xfrm>
          <a:prstGeom prst="rect">
            <a:avLst/>
          </a:prstGeom>
          <a:noFill/>
          <a:ln/>
        </p:spPr>
        <p:txBody>
          <a:bodyPr wrap="square" lIns="0" tIns="0" rIns="0" bIns="0" rtlCol="0" anchor="ctr"/>
          <a:lstStyle/>
          <a:p>
            <a:pPr rtl="1" algn="ctr" indent="0" marL="0">
              <a:buNone/>
            </a:pPr>
            <a:r>
              <a:rPr lang="en-US" sz="4000" b="1" dirty="0">
                <a:solidFill>
                  <a:srgbClr val="1B2A49"/>
                </a:solidFill>
                <a:latin typeface="Tahoma" pitchFamily="34" charset="0"/>
                <a:ea typeface="Tahoma" pitchFamily="34" charset="-122"/>
                <a:cs typeface="Tahoma" pitchFamily="34" charset="-120"/>
              </a:rPr>
              <a:t>۴</a:t>
            </a:r>
            <a:endParaRPr lang="en-US" sz="4000" dirty="0"/>
          </a:p>
        </p:txBody>
      </p:sp>
      <p:sp>
        <p:nvSpPr>
          <p:cNvPr id="6" name="Text 3"/>
          <p:cNvSpPr txBox="1"/>
          <p:nvPr/>
        </p:nvSpPr>
        <p:spPr>
          <a:xfrm>
            <a:off x="5120640" y="2651760"/>
            <a:ext cx="6629400" cy="457200"/>
          </a:xfrm>
          <a:prstGeom prst="rect">
            <a:avLst/>
          </a:prstGeom>
          <a:noFill/>
          <a:ln/>
        </p:spPr>
        <p:txBody>
          <a:bodyPr wrap="square" lIns="0" tIns="0" rIns="0" bIns="0" rtlCol="0" anchor="ctr"/>
          <a:lstStyle/>
          <a:p>
            <a:pPr rtl="1" algn="r" indent="0" marL="0">
              <a:buNone/>
            </a:pPr>
            <a:r>
              <a:rPr lang="en-US" sz="1800" b="1" dirty="0">
                <a:solidFill>
                  <a:srgbClr val="C9A227"/>
                </a:solidFill>
                <a:latin typeface="Tahoma" pitchFamily="34" charset="0"/>
                <a:ea typeface="Tahoma" pitchFamily="34" charset="-122"/>
                <a:cs typeface="Tahoma" pitchFamily="34" charset="-120"/>
              </a:rPr>
              <a:t>بخش ۴</a:t>
            </a:r>
            <a:endParaRPr lang="en-US" sz="1800" dirty="0"/>
          </a:p>
        </p:txBody>
      </p:sp>
      <p:sp>
        <p:nvSpPr>
          <p:cNvPr id="7" name="Text 4"/>
          <p:cNvSpPr txBox="1"/>
          <p:nvPr/>
        </p:nvSpPr>
        <p:spPr>
          <a:xfrm>
            <a:off x="5120640" y="3108960"/>
            <a:ext cx="6629400" cy="1005840"/>
          </a:xfrm>
          <a:prstGeom prst="rect">
            <a:avLst/>
          </a:prstGeom>
          <a:noFill/>
          <a:ln/>
        </p:spPr>
        <p:txBody>
          <a:bodyPr wrap="square" lIns="0" tIns="0" rIns="0" bIns="0" rtlCol="0" anchor="ctr"/>
          <a:lstStyle/>
          <a:p>
            <a:pPr rtl="1" algn="r" indent="0" marL="0">
              <a:buNone/>
            </a:pPr>
            <a:r>
              <a:rPr lang="en-US" sz="3800" b="1" dirty="0">
                <a:solidFill>
                  <a:srgbClr val="FFFFFF"/>
                </a:solidFill>
                <a:latin typeface="Tahoma" pitchFamily="34" charset="0"/>
                <a:ea typeface="Tahoma" pitchFamily="34" charset="-122"/>
                <a:cs typeface="Tahoma" pitchFamily="34" charset="-120"/>
              </a:rPr>
              <a:t>فروش</a:t>
            </a:r>
            <a:endParaRPr lang="en-US" sz="3800" dirty="0"/>
          </a:p>
        </p:txBody>
      </p:sp>
      <p:sp>
        <p:nvSpPr>
          <p:cNvPr id="8" name="Text 5"/>
          <p:cNvSpPr txBox="1"/>
          <p:nvPr/>
        </p:nvSpPr>
        <p:spPr>
          <a:xfrm>
            <a:off x="5120640" y="4206240"/>
            <a:ext cx="6629400" cy="1097280"/>
          </a:xfrm>
          <a:prstGeom prst="rect">
            <a:avLst/>
          </a:prstGeom>
          <a:noFill/>
          <a:ln/>
        </p:spPr>
        <p:txBody>
          <a:bodyPr wrap="square" lIns="0" tIns="0" rIns="0" bIns="0" rtlCol="0" anchor="t"/>
          <a:lstStyle/>
          <a:p>
            <a:pPr rtl="1" algn="r" indent="0" marL="0">
              <a:buNone/>
            </a:pPr>
            <a:r>
              <a:rPr lang="en-US" sz="1700" dirty="0">
                <a:solidFill>
                  <a:srgbClr val="C9D3E6"/>
                </a:solidFill>
                <a:latin typeface="Tahoma" pitchFamily="34" charset="0"/>
                <a:ea typeface="Tahoma" pitchFamily="34" charset="-122"/>
                <a:cs typeface="Tahoma" pitchFamily="34" charset="-120"/>
              </a:rPr>
              <a:t>از پیش‌فاکتور تا فاکتور و برگشت از فروش؛ تأیید، قطعی‌سازی و سند حسابداری خودکار</a:t>
            </a:r>
            <a:endParaRPr lang="en-US" sz="1700" dirty="0"/>
          </a:p>
        </p:txBody>
      </p:sp>
      <p:sp>
        <p:nvSpPr>
          <p:cNvPr id="9" name="Text 6"/>
          <p:cNvSpPr txBox="1"/>
          <p:nvPr/>
        </p:nvSpPr>
        <p:spPr>
          <a:xfrm>
            <a:off x="640080" y="6446520"/>
            <a:ext cx="3840480" cy="274320"/>
          </a:xfrm>
          <a:prstGeom prst="rect">
            <a:avLst/>
          </a:prstGeom>
          <a:noFill/>
          <a:ln/>
        </p:spPr>
        <p:txBody>
          <a:bodyPr wrap="square" lIns="0" tIns="0" rIns="0" bIns="0" rtlCol="0" anchor="ctr"/>
          <a:lstStyle/>
          <a:p>
            <a:pPr rtl="1" algn="ctr" indent="0" marL="0">
              <a:buNone/>
            </a:pPr>
            <a:r>
              <a:rPr lang="en-US" sz="1000" dirty="0">
                <a:solidFill>
                  <a:srgbClr val="A9B4C8"/>
                </a:solidFill>
                <a:latin typeface="Tahoma" pitchFamily="34" charset="0"/>
                <a:ea typeface="Tahoma" pitchFamily="34" charset="-122"/>
                <a:cs typeface="Tahoma" pitchFamily="34" charset="-120"/>
              </a:rPr>
              <a:t>تصویر: گروه منوی این بخش در نوار کناری</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چرخهٔ اسناد فروش</a:t>
            </a:r>
            <a:endParaRPr lang="en-US" sz="2600" dirty="0"/>
          </a:p>
        </p:txBody>
      </p:sp>
      <p:sp>
        <p:nvSpPr>
          <p:cNvPr id="3" name="Shape 1"/>
          <p:cNvSpPr/>
          <p:nvPr/>
        </p:nvSpPr>
        <p:spPr>
          <a:xfrm>
            <a:off x="9796882" y="2103120"/>
            <a:ext cx="1980590" cy="2011680"/>
          </a:xfrm>
          <a:prstGeom prst="roundRect">
            <a:avLst>
              <a:gd name="adj" fmla="val 5540"/>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10512857" y="1828800"/>
            <a:ext cx="548640" cy="548640"/>
          </a:xfrm>
          <a:prstGeom prst="ellipse">
            <a:avLst/>
          </a:prstGeom>
          <a:solidFill>
            <a:srgbClr val="C9A227"/>
          </a:solidFill>
          <a:ln w="12700">
            <a:solidFill>
              <a:srgbClr val="C9A227"/>
            </a:solidFill>
            <a:prstDash val="solid"/>
          </a:ln>
        </p:spPr>
      </p:sp>
      <p:sp>
        <p:nvSpPr>
          <p:cNvPr id="5" name="Text 3"/>
          <p:cNvSpPr txBox="1"/>
          <p:nvPr/>
        </p:nvSpPr>
        <p:spPr>
          <a:xfrm>
            <a:off x="10512857"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۱</a:t>
            </a:r>
            <a:endParaRPr lang="en-US" sz="1800" dirty="0"/>
          </a:p>
        </p:txBody>
      </p:sp>
      <p:sp>
        <p:nvSpPr>
          <p:cNvPr id="6" name="Text 4"/>
          <p:cNvSpPr txBox="1"/>
          <p:nvPr/>
        </p:nvSpPr>
        <p:spPr>
          <a:xfrm>
            <a:off x="9906610" y="2560320"/>
            <a:ext cx="1761134" cy="685800"/>
          </a:xfrm>
          <a:prstGeom prst="rect">
            <a:avLst/>
          </a:prstGeom>
          <a:noFill/>
          <a:ln/>
        </p:spPr>
        <p:txBody>
          <a:bodyPr wrap="square" lIns="0" tIns="0" rIns="0" bIns="0" rtlCol="0" anchor="ctr"/>
          <a:lstStyle/>
          <a:p>
            <a:pPr rtl="1" algn="ctr" indent="0" marL="0">
              <a:buNone/>
            </a:pPr>
            <a:r>
              <a:rPr lang="en-US" sz="1600" b="1" dirty="0">
                <a:solidFill>
                  <a:srgbClr val="1B2A49"/>
                </a:solidFill>
                <a:latin typeface="Tahoma" pitchFamily="34" charset="0"/>
                <a:ea typeface="Tahoma" pitchFamily="34" charset="-122"/>
                <a:cs typeface="Tahoma" pitchFamily="34" charset="-120"/>
              </a:rPr>
              <a:t>پیش‌فاکتور</a:t>
            </a:r>
            <a:endParaRPr lang="en-US" sz="1600" dirty="0"/>
          </a:p>
        </p:txBody>
      </p:sp>
      <p:sp>
        <p:nvSpPr>
          <p:cNvPr id="7" name="Text 5"/>
          <p:cNvSpPr txBox="1"/>
          <p:nvPr/>
        </p:nvSpPr>
        <p:spPr>
          <a:xfrm>
            <a:off x="9906610" y="3246120"/>
            <a:ext cx="1761134" cy="685800"/>
          </a:xfrm>
          <a:prstGeom prst="rect">
            <a:avLst/>
          </a:prstGeom>
          <a:noFill/>
          <a:ln/>
        </p:spPr>
        <p:txBody>
          <a:bodyPr wrap="square" lIns="0" tIns="0" rIns="0" bIns="0" rtlCol="0" anchor="t"/>
          <a:lstStyle/>
          <a:p>
            <a:pPr rtl="1" algn="ctr" indent="0" marL="0">
              <a:buNone/>
            </a:pPr>
            <a:r>
              <a:rPr lang="en-US" sz="1250" dirty="0">
                <a:solidFill>
                  <a:srgbClr val="5B6678"/>
                </a:solidFill>
                <a:latin typeface="Tahoma" pitchFamily="34" charset="0"/>
                <a:ea typeface="Tahoma" pitchFamily="34" charset="-122"/>
                <a:cs typeface="Tahoma" pitchFamily="34" charset="-120"/>
              </a:rPr>
              <a:t>قیمت، تخفیف و اعتبار</a:t>
            </a:r>
            <a:endParaRPr lang="en-US" sz="1250" dirty="0"/>
          </a:p>
        </p:txBody>
      </p:sp>
      <p:sp>
        <p:nvSpPr>
          <p:cNvPr id="8" name="Text 6"/>
          <p:cNvSpPr txBox="1"/>
          <p:nvPr/>
        </p:nvSpPr>
        <p:spPr>
          <a:xfrm>
            <a:off x="9431122" y="2880360"/>
            <a:ext cx="365760" cy="457200"/>
          </a:xfrm>
          <a:prstGeom prst="rect">
            <a:avLst/>
          </a:prstGeom>
          <a:noFill/>
          <a:ln/>
        </p:spPr>
        <p:txBody>
          <a:bodyPr wrap="square" lIns="0" tIns="0" rIns="0" bIns="0" rtlCol="0" anchor="ctr"/>
          <a:lstStyle/>
          <a:p>
            <a:pPr rtl="1" algn="ctr" indent="0" marL="0">
              <a:buNone/>
            </a:pPr>
            <a:r>
              <a:rPr lang="en-US" sz="1600" dirty="0">
                <a:solidFill>
                  <a:srgbClr val="C9A227"/>
                </a:solidFill>
                <a:latin typeface="Tahoma" pitchFamily="34" charset="0"/>
                <a:ea typeface="Tahoma" pitchFamily="34" charset="-122"/>
                <a:cs typeface="Tahoma" pitchFamily="34" charset="-120"/>
              </a:rPr>
              <a:t>◀</a:t>
            </a:r>
            <a:endParaRPr lang="en-US" sz="1600" dirty="0"/>
          </a:p>
        </p:txBody>
      </p:sp>
      <p:sp>
        <p:nvSpPr>
          <p:cNvPr id="9" name="Shape 7"/>
          <p:cNvSpPr/>
          <p:nvPr/>
        </p:nvSpPr>
        <p:spPr>
          <a:xfrm>
            <a:off x="7450531" y="2103120"/>
            <a:ext cx="1980590" cy="2011680"/>
          </a:xfrm>
          <a:prstGeom prst="roundRect">
            <a:avLst>
              <a:gd name="adj" fmla="val 5540"/>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10" name="Shape 8"/>
          <p:cNvSpPr/>
          <p:nvPr/>
        </p:nvSpPr>
        <p:spPr>
          <a:xfrm>
            <a:off x="8166506" y="1828800"/>
            <a:ext cx="548640" cy="548640"/>
          </a:xfrm>
          <a:prstGeom prst="ellipse">
            <a:avLst/>
          </a:prstGeom>
          <a:solidFill>
            <a:srgbClr val="C9A227"/>
          </a:solidFill>
          <a:ln w="12700">
            <a:solidFill>
              <a:srgbClr val="C9A227"/>
            </a:solidFill>
            <a:prstDash val="solid"/>
          </a:ln>
        </p:spPr>
      </p:sp>
      <p:sp>
        <p:nvSpPr>
          <p:cNvPr id="11" name="Text 9"/>
          <p:cNvSpPr txBox="1"/>
          <p:nvPr/>
        </p:nvSpPr>
        <p:spPr>
          <a:xfrm>
            <a:off x="8166506"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۲</a:t>
            </a:r>
            <a:endParaRPr lang="en-US" sz="1800" dirty="0"/>
          </a:p>
        </p:txBody>
      </p:sp>
      <p:sp>
        <p:nvSpPr>
          <p:cNvPr id="12" name="Text 10"/>
          <p:cNvSpPr txBox="1"/>
          <p:nvPr/>
        </p:nvSpPr>
        <p:spPr>
          <a:xfrm>
            <a:off x="7560259" y="2560320"/>
            <a:ext cx="1761134" cy="685800"/>
          </a:xfrm>
          <a:prstGeom prst="rect">
            <a:avLst/>
          </a:prstGeom>
          <a:noFill/>
          <a:ln/>
        </p:spPr>
        <p:txBody>
          <a:bodyPr wrap="square" lIns="0" tIns="0" rIns="0" bIns="0" rtlCol="0" anchor="ctr"/>
          <a:lstStyle/>
          <a:p>
            <a:pPr rtl="1" algn="ctr" indent="0" marL="0">
              <a:buNone/>
            </a:pPr>
            <a:r>
              <a:rPr lang="en-US" sz="1600" b="1" dirty="0">
                <a:solidFill>
                  <a:srgbClr val="1B2A49"/>
                </a:solidFill>
                <a:latin typeface="Tahoma" pitchFamily="34" charset="0"/>
                <a:ea typeface="Tahoma" pitchFamily="34" charset="-122"/>
                <a:cs typeface="Tahoma" pitchFamily="34" charset="-120"/>
              </a:rPr>
              <a:t>سفارش فروش</a:t>
            </a:r>
            <a:endParaRPr lang="en-US" sz="1600" dirty="0"/>
          </a:p>
        </p:txBody>
      </p:sp>
      <p:sp>
        <p:nvSpPr>
          <p:cNvPr id="13" name="Text 11"/>
          <p:cNvSpPr txBox="1"/>
          <p:nvPr/>
        </p:nvSpPr>
        <p:spPr>
          <a:xfrm>
            <a:off x="7560259" y="3246120"/>
            <a:ext cx="1761134" cy="685800"/>
          </a:xfrm>
          <a:prstGeom prst="rect">
            <a:avLst/>
          </a:prstGeom>
          <a:noFill/>
          <a:ln/>
        </p:spPr>
        <p:txBody>
          <a:bodyPr wrap="square" lIns="0" tIns="0" rIns="0" bIns="0" rtlCol="0" anchor="t"/>
          <a:lstStyle/>
          <a:p>
            <a:pPr rtl="1" algn="ctr" indent="0" marL="0">
              <a:buNone/>
            </a:pPr>
            <a:r>
              <a:rPr lang="en-US" sz="1250" dirty="0">
                <a:solidFill>
                  <a:srgbClr val="5B6678"/>
                </a:solidFill>
                <a:latin typeface="Tahoma" pitchFamily="34" charset="0"/>
                <a:ea typeface="Tahoma" pitchFamily="34" charset="-122"/>
                <a:cs typeface="Tahoma" pitchFamily="34" charset="-120"/>
              </a:rPr>
              <a:t>تعهد به مشتری</a:t>
            </a:r>
            <a:endParaRPr lang="en-US" sz="1250" dirty="0"/>
          </a:p>
        </p:txBody>
      </p:sp>
      <p:sp>
        <p:nvSpPr>
          <p:cNvPr id="14" name="Text 12"/>
          <p:cNvSpPr txBox="1"/>
          <p:nvPr/>
        </p:nvSpPr>
        <p:spPr>
          <a:xfrm>
            <a:off x="7084771" y="2880360"/>
            <a:ext cx="365760" cy="457200"/>
          </a:xfrm>
          <a:prstGeom prst="rect">
            <a:avLst/>
          </a:prstGeom>
          <a:noFill/>
          <a:ln/>
        </p:spPr>
        <p:txBody>
          <a:bodyPr wrap="square" lIns="0" tIns="0" rIns="0" bIns="0" rtlCol="0" anchor="ctr"/>
          <a:lstStyle/>
          <a:p>
            <a:pPr rtl="1" algn="ctr" indent="0" marL="0">
              <a:buNone/>
            </a:pPr>
            <a:r>
              <a:rPr lang="en-US" sz="1600" dirty="0">
                <a:solidFill>
                  <a:srgbClr val="C9A227"/>
                </a:solidFill>
                <a:latin typeface="Tahoma" pitchFamily="34" charset="0"/>
                <a:ea typeface="Tahoma" pitchFamily="34" charset="-122"/>
                <a:cs typeface="Tahoma" pitchFamily="34" charset="-120"/>
              </a:rPr>
              <a:t>◀</a:t>
            </a:r>
            <a:endParaRPr lang="en-US" sz="1600" dirty="0"/>
          </a:p>
        </p:txBody>
      </p:sp>
      <p:sp>
        <p:nvSpPr>
          <p:cNvPr id="15" name="Shape 13"/>
          <p:cNvSpPr/>
          <p:nvPr/>
        </p:nvSpPr>
        <p:spPr>
          <a:xfrm>
            <a:off x="5104181" y="2103120"/>
            <a:ext cx="1980590" cy="2011680"/>
          </a:xfrm>
          <a:prstGeom prst="roundRect">
            <a:avLst>
              <a:gd name="adj" fmla="val 5540"/>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16" name="Shape 14"/>
          <p:cNvSpPr/>
          <p:nvPr/>
        </p:nvSpPr>
        <p:spPr>
          <a:xfrm>
            <a:off x="5820156" y="1828800"/>
            <a:ext cx="548640" cy="548640"/>
          </a:xfrm>
          <a:prstGeom prst="ellipse">
            <a:avLst/>
          </a:prstGeom>
          <a:solidFill>
            <a:srgbClr val="C9A227"/>
          </a:solidFill>
          <a:ln w="12700">
            <a:solidFill>
              <a:srgbClr val="C9A227"/>
            </a:solidFill>
            <a:prstDash val="solid"/>
          </a:ln>
        </p:spPr>
      </p:sp>
      <p:sp>
        <p:nvSpPr>
          <p:cNvPr id="17" name="Text 15"/>
          <p:cNvSpPr txBox="1"/>
          <p:nvPr/>
        </p:nvSpPr>
        <p:spPr>
          <a:xfrm>
            <a:off x="5820156"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۳</a:t>
            </a:r>
            <a:endParaRPr lang="en-US" sz="1800" dirty="0"/>
          </a:p>
        </p:txBody>
      </p:sp>
      <p:sp>
        <p:nvSpPr>
          <p:cNvPr id="18" name="Text 16"/>
          <p:cNvSpPr txBox="1"/>
          <p:nvPr/>
        </p:nvSpPr>
        <p:spPr>
          <a:xfrm>
            <a:off x="5213909" y="2560320"/>
            <a:ext cx="1761134" cy="685800"/>
          </a:xfrm>
          <a:prstGeom prst="rect">
            <a:avLst/>
          </a:prstGeom>
          <a:noFill/>
          <a:ln/>
        </p:spPr>
        <p:txBody>
          <a:bodyPr wrap="square" lIns="0" tIns="0" rIns="0" bIns="0" rtlCol="0" anchor="ctr"/>
          <a:lstStyle/>
          <a:p>
            <a:pPr rtl="1" algn="ctr" indent="0" marL="0">
              <a:buNone/>
            </a:pPr>
            <a:r>
              <a:rPr lang="en-US" sz="1600" b="1" dirty="0">
                <a:solidFill>
                  <a:srgbClr val="1B2A49"/>
                </a:solidFill>
                <a:latin typeface="Tahoma" pitchFamily="34" charset="0"/>
                <a:ea typeface="Tahoma" pitchFamily="34" charset="-122"/>
                <a:cs typeface="Tahoma" pitchFamily="34" charset="-120"/>
              </a:rPr>
              <a:t>حواله تحویل</a:t>
            </a:r>
            <a:endParaRPr lang="en-US" sz="1600" dirty="0"/>
          </a:p>
        </p:txBody>
      </p:sp>
      <p:sp>
        <p:nvSpPr>
          <p:cNvPr id="19" name="Text 17"/>
          <p:cNvSpPr txBox="1"/>
          <p:nvPr/>
        </p:nvSpPr>
        <p:spPr>
          <a:xfrm>
            <a:off x="5213909" y="3246120"/>
            <a:ext cx="1761134" cy="685800"/>
          </a:xfrm>
          <a:prstGeom prst="rect">
            <a:avLst/>
          </a:prstGeom>
          <a:noFill/>
          <a:ln/>
        </p:spPr>
        <p:txBody>
          <a:bodyPr wrap="square" lIns="0" tIns="0" rIns="0" bIns="0" rtlCol="0" anchor="t"/>
          <a:lstStyle/>
          <a:p>
            <a:pPr rtl="1" algn="ctr" indent="0" marL="0">
              <a:buNone/>
            </a:pPr>
            <a:r>
              <a:rPr lang="en-US" sz="1250" dirty="0">
                <a:solidFill>
                  <a:srgbClr val="5B6678"/>
                </a:solidFill>
                <a:latin typeface="Tahoma" pitchFamily="34" charset="0"/>
                <a:ea typeface="Tahoma" pitchFamily="34" charset="-122"/>
                <a:cs typeface="Tahoma" pitchFamily="34" charset="-120"/>
              </a:rPr>
              <a:t>خروج کالا و بهای تمام‌شده</a:t>
            </a:r>
            <a:endParaRPr lang="en-US" sz="1250" dirty="0"/>
          </a:p>
        </p:txBody>
      </p:sp>
      <p:sp>
        <p:nvSpPr>
          <p:cNvPr id="20" name="Text 18"/>
          <p:cNvSpPr txBox="1"/>
          <p:nvPr/>
        </p:nvSpPr>
        <p:spPr>
          <a:xfrm>
            <a:off x="4738421" y="2880360"/>
            <a:ext cx="365760" cy="457200"/>
          </a:xfrm>
          <a:prstGeom prst="rect">
            <a:avLst/>
          </a:prstGeom>
          <a:noFill/>
          <a:ln/>
        </p:spPr>
        <p:txBody>
          <a:bodyPr wrap="square" lIns="0" tIns="0" rIns="0" bIns="0" rtlCol="0" anchor="ctr"/>
          <a:lstStyle/>
          <a:p>
            <a:pPr rtl="1" algn="ctr" indent="0" marL="0">
              <a:buNone/>
            </a:pPr>
            <a:r>
              <a:rPr lang="en-US" sz="1600" dirty="0">
                <a:solidFill>
                  <a:srgbClr val="C9A227"/>
                </a:solidFill>
                <a:latin typeface="Tahoma" pitchFamily="34" charset="0"/>
                <a:ea typeface="Tahoma" pitchFamily="34" charset="-122"/>
                <a:cs typeface="Tahoma" pitchFamily="34" charset="-120"/>
              </a:rPr>
              <a:t>◀</a:t>
            </a:r>
            <a:endParaRPr lang="en-US" sz="1600" dirty="0"/>
          </a:p>
        </p:txBody>
      </p:sp>
      <p:sp>
        <p:nvSpPr>
          <p:cNvPr id="21" name="Shape 19"/>
          <p:cNvSpPr/>
          <p:nvPr/>
        </p:nvSpPr>
        <p:spPr>
          <a:xfrm>
            <a:off x="2757830" y="2103120"/>
            <a:ext cx="1980590" cy="2011680"/>
          </a:xfrm>
          <a:prstGeom prst="roundRect">
            <a:avLst>
              <a:gd name="adj" fmla="val 5540"/>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sp>
        <p:nvSpPr>
          <p:cNvPr id="22" name="Shape 20"/>
          <p:cNvSpPr/>
          <p:nvPr/>
        </p:nvSpPr>
        <p:spPr>
          <a:xfrm>
            <a:off x="3473806" y="1828800"/>
            <a:ext cx="548640" cy="548640"/>
          </a:xfrm>
          <a:prstGeom prst="ellipse">
            <a:avLst/>
          </a:prstGeom>
          <a:solidFill>
            <a:srgbClr val="C9A227"/>
          </a:solidFill>
          <a:ln w="12700">
            <a:solidFill>
              <a:srgbClr val="C9A227"/>
            </a:solidFill>
            <a:prstDash val="solid"/>
          </a:ln>
        </p:spPr>
      </p:sp>
      <p:sp>
        <p:nvSpPr>
          <p:cNvPr id="23" name="Text 21"/>
          <p:cNvSpPr txBox="1"/>
          <p:nvPr/>
        </p:nvSpPr>
        <p:spPr>
          <a:xfrm>
            <a:off x="3473806"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۴</a:t>
            </a:r>
            <a:endParaRPr lang="en-US" sz="1800" dirty="0"/>
          </a:p>
        </p:txBody>
      </p:sp>
      <p:sp>
        <p:nvSpPr>
          <p:cNvPr id="24" name="Text 22"/>
          <p:cNvSpPr txBox="1"/>
          <p:nvPr/>
        </p:nvSpPr>
        <p:spPr>
          <a:xfrm>
            <a:off x="2867558" y="2560320"/>
            <a:ext cx="1761134" cy="685800"/>
          </a:xfrm>
          <a:prstGeom prst="rect">
            <a:avLst/>
          </a:prstGeom>
          <a:noFill/>
          <a:ln/>
        </p:spPr>
        <p:txBody>
          <a:bodyPr wrap="square" lIns="0" tIns="0" rIns="0" bIns="0" rtlCol="0" anchor="ctr"/>
          <a:lstStyle/>
          <a:p>
            <a:pPr rtl="1" algn="ctr" indent="0" marL="0">
              <a:buNone/>
            </a:pPr>
            <a:r>
              <a:rPr lang="en-US" sz="1600" b="1" dirty="0">
                <a:solidFill>
                  <a:srgbClr val="1B2A49"/>
                </a:solidFill>
                <a:latin typeface="Tahoma" pitchFamily="34" charset="0"/>
                <a:ea typeface="Tahoma" pitchFamily="34" charset="-122"/>
                <a:cs typeface="Tahoma" pitchFamily="34" charset="-120"/>
              </a:rPr>
              <a:t>فاکتور فروش</a:t>
            </a:r>
            <a:endParaRPr lang="en-US" sz="1600" dirty="0"/>
          </a:p>
        </p:txBody>
      </p:sp>
      <p:sp>
        <p:nvSpPr>
          <p:cNvPr id="25" name="Text 23"/>
          <p:cNvSpPr txBox="1"/>
          <p:nvPr/>
        </p:nvSpPr>
        <p:spPr>
          <a:xfrm>
            <a:off x="2867558" y="3246120"/>
            <a:ext cx="1761134" cy="685800"/>
          </a:xfrm>
          <a:prstGeom prst="rect">
            <a:avLst/>
          </a:prstGeom>
          <a:noFill/>
          <a:ln/>
        </p:spPr>
        <p:txBody>
          <a:bodyPr wrap="square" lIns="0" tIns="0" rIns="0" bIns="0" rtlCol="0" anchor="t"/>
          <a:lstStyle/>
          <a:p>
            <a:pPr rtl="1" algn="ctr" indent="0" marL="0">
              <a:buNone/>
            </a:pPr>
            <a:r>
              <a:rPr lang="en-US" sz="1250" dirty="0">
                <a:solidFill>
                  <a:srgbClr val="5B6678"/>
                </a:solidFill>
                <a:latin typeface="Tahoma" pitchFamily="34" charset="0"/>
                <a:ea typeface="Tahoma" pitchFamily="34" charset="-122"/>
                <a:cs typeface="Tahoma" pitchFamily="34" charset="-120"/>
              </a:rPr>
              <a:t>دریافتنی، درآمد و مالیات</a:t>
            </a:r>
            <a:endParaRPr lang="en-US" sz="1250" dirty="0"/>
          </a:p>
        </p:txBody>
      </p:sp>
      <p:sp>
        <p:nvSpPr>
          <p:cNvPr id="26" name="Text 24"/>
          <p:cNvSpPr txBox="1"/>
          <p:nvPr/>
        </p:nvSpPr>
        <p:spPr>
          <a:xfrm>
            <a:off x="2392070" y="2880360"/>
            <a:ext cx="365760" cy="457200"/>
          </a:xfrm>
          <a:prstGeom prst="rect">
            <a:avLst/>
          </a:prstGeom>
          <a:noFill/>
          <a:ln/>
        </p:spPr>
        <p:txBody>
          <a:bodyPr wrap="square" lIns="0" tIns="0" rIns="0" bIns="0" rtlCol="0" anchor="ctr"/>
          <a:lstStyle/>
          <a:p>
            <a:pPr rtl="1" algn="ctr" indent="0" marL="0">
              <a:buNone/>
            </a:pPr>
            <a:r>
              <a:rPr lang="en-US" sz="1600" dirty="0">
                <a:solidFill>
                  <a:srgbClr val="C9A227"/>
                </a:solidFill>
                <a:latin typeface="Tahoma" pitchFamily="34" charset="0"/>
                <a:ea typeface="Tahoma" pitchFamily="34" charset="-122"/>
                <a:cs typeface="Tahoma" pitchFamily="34" charset="-120"/>
              </a:rPr>
              <a:t>◀</a:t>
            </a:r>
            <a:endParaRPr lang="en-US" sz="1600" dirty="0"/>
          </a:p>
        </p:txBody>
      </p:sp>
      <p:sp>
        <p:nvSpPr>
          <p:cNvPr id="27" name="Shape 25"/>
          <p:cNvSpPr/>
          <p:nvPr/>
        </p:nvSpPr>
        <p:spPr>
          <a:xfrm>
            <a:off x="411480" y="2103120"/>
            <a:ext cx="1980590" cy="2011680"/>
          </a:xfrm>
          <a:prstGeom prst="roundRect">
            <a:avLst>
              <a:gd name="adj" fmla="val 5540"/>
            </a:avLst>
          </a:prstGeom>
          <a:solidFill>
            <a:srgbClr val="1B2A49"/>
          </a:solidFill>
          <a:ln w="9525">
            <a:solidFill>
              <a:srgbClr val="1B2A49"/>
            </a:solidFill>
            <a:prstDash val="solid"/>
          </a:ln>
          <a:effectLst>
            <a:outerShdw sx="100000" sy="100000" kx="0" ky="0" algn="bl" rotWithShape="0" blurRad="101600" dist="25400" dir="5400000">
              <a:srgbClr val="000000">
                <a:alpha val="12000"/>
              </a:srgbClr>
            </a:outerShdw>
          </a:effectLst>
        </p:spPr>
      </p:sp>
      <p:sp>
        <p:nvSpPr>
          <p:cNvPr id="28" name="Shape 26"/>
          <p:cNvSpPr/>
          <p:nvPr/>
        </p:nvSpPr>
        <p:spPr>
          <a:xfrm>
            <a:off x="1127455" y="1828800"/>
            <a:ext cx="548640" cy="548640"/>
          </a:xfrm>
          <a:prstGeom prst="ellipse">
            <a:avLst/>
          </a:prstGeom>
          <a:solidFill>
            <a:srgbClr val="C9A227"/>
          </a:solidFill>
          <a:ln w="12700">
            <a:solidFill>
              <a:srgbClr val="C9A227"/>
            </a:solidFill>
            <a:prstDash val="solid"/>
          </a:ln>
        </p:spPr>
      </p:sp>
      <p:sp>
        <p:nvSpPr>
          <p:cNvPr id="29" name="Text 27"/>
          <p:cNvSpPr txBox="1"/>
          <p:nvPr/>
        </p:nvSpPr>
        <p:spPr>
          <a:xfrm>
            <a:off x="1127455" y="1828800"/>
            <a:ext cx="548640" cy="54864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۵</a:t>
            </a:r>
            <a:endParaRPr lang="en-US" sz="1800" dirty="0"/>
          </a:p>
        </p:txBody>
      </p:sp>
      <p:sp>
        <p:nvSpPr>
          <p:cNvPr id="30" name="Text 28"/>
          <p:cNvSpPr txBox="1"/>
          <p:nvPr/>
        </p:nvSpPr>
        <p:spPr>
          <a:xfrm>
            <a:off x="521208" y="2560320"/>
            <a:ext cx="1761134" cy="685800"/>
          </a:xfrm>
          <a:prstGeom prst="rect">
            <a:avLst/>
          </a:prstGeom>
          <a:noFill/>
          <a:ln/>
        </p:spPr>
        <p:txBody>
          <a:bodyPr wrap="square" lIns="0" tIns="0" rIns="0" bIns="0" rtlCol="0" anchor="ctr"/>
          <a:lstStyle/>
          <a:p>
            <a:pPr rtl="1" algn="ctr" indent="0" marL="0">
              <a:buNone/>
            </a:pPr>
            <a:r>
              <a:rPr lang="en-US" sz="1600" b="1" dirty="0">
                <a:solidFill>
                  <a:srgbClr val="FFFFFF"/>
                </a:solidFill>
                <a:latin typeface="Tahoma" pitchFamily="34" charset="0"/>
                <a:ea typeface="Tahoma" pitchFamily="34" charset="-122"/>
                <a:cs typeface="Tahoma" pitchFamily="34" charset="-120"/>
              </a:rPr>
              <a:t>برگشت از فروش</a:t>
            </a:r>
            <a:endParaRPr lang="en-US" sz="1600" dirty="0"/>
          </a:p>
        </p:txBody>
      </p:sp>
      <p:sp>
        <p:nvSpPr>
          <p:cNvPr id="31" name="Text 29"/>
          <p:cNvSpPr txBox="1"/>
          <p:nvPr/>
        </p:nvSpPr>
        <p:spPr>
          <a:xfrm>
            <a:off x="521208" y="3246120"/>
            <a:ext cx="1761134" cy="685800"/>
          </a:xfrm>
          <a:prstGeom prst="rect">
            <a:avLst/>
          </a:prstGeom>
          <a:noFill/>
          <a:ln/>
        </p:spPr>
        <p:txBody>
          <a:bodyPr wrap="square" lIns="0" tIns="0" rIns="0" bIns="0" rtlCol="0" anchor="t"/>
          <a:lstStyle/>
          <a:p>
            <a:pPr rtl="1" algn="ctr" indent="0" marL="0">
              <a:buNone/>
            </a:pPr>
            <a:r>
              <a:rPr lang="en-US" sz="1250" dirty="0">
                <a:solidFill>
                  <a:srgbClr val="C9D3E6"/>
                </a:solidFill>
                <a:latin typeface="Tahoma" pitchFamily="34" charset="0"/>
                <a:ea typeface="Tahoma" pitchFamily="34" charset="-122"/>
                <a:cs typeface="Tahoma" pitchFamily="34" charset="-120"/>
              </a:rPr>
              <a:t>تنها راه اصلاح فاکتور قطعی</a:t>
            </a:r>
            <a:endParaRPr lang="en-US" sz="1250" dirty="0"/>
          </a:p>
        </p:txBody>
      </p:sp>
      <p:sp>
        <p:nvSpPr>
          <p:cNvPr id="32" name="Shape 30"/>
          <p:cNvSpPr/>
          <p:nvPr/>
        </p:nvSpPr>
        <p:spPr>
          <a:xfrm>
            <a:off x="411480" y="4754880"/>
            <a:ext cx="11365992" cy="1143000"/>
          </a:xfrm>
          <a:prstGeom prst="roundRect">
            <a:avLst>
              <a:gd name="adj" fmla="val 8000"/>
            </a:avLst>
          </a:prstGeom>
          <a:solidFill>
            <a:srgbClr val="F6EDCF"/>
          </a:solidFill>
          <a:ln w="12700">
            <a:solidFill>
              <a:srgbClr val="F6EDCF"/>
            </a:solidFill>
            <a:prstDash val="solid"/>
          </a:ln>
        </p:spPr>
      </p:sp>
      <p:sp>
        <p:nvSpPr>
          <p:cNvPr id="33" name="Text 31"/>
          <p:cNvSpPr txBox="1"/>
          <p:nvPr/>
        </p:nvSpPr>
        <p:spPr>
          <a:xfrm>
            <a:off x="685800" y="4754880"/>
            <a:ext cx="10817352" cy="1143000"/>
          </a:xfrm>
          <a:prstGeom prst="rect">
            <a:avLst/>
          </a:prstGeom>
          <a:noFill/>
          <a:ln/>
        </p:spPr>
        <p:txBody>
          <a:bodyPr wrap="square" lIns="0" tIns="0" rIns="0" bIns="0" rtlCol="0" anchor="ctr"/>
          <a:lstStyle/>
          <a:p>
            <a:pPr rtl="1" algn="r" indent="0" marL="0">
              <a:buNone/>
            </a:pPr>
            <a:r>
              <a:rPr lang="en-US" sz="1500" dirty="0">
                <a:solidFill>
                  <a:srgbClr val="4A3B0B"/>
                </a:solidFill>
                <a:latin typeface="Tahoma" pitchFamily="34" charset="0"/>
                <a:ea typeface="Tahoma" pitchFamily="34" charset="-122"/>
                <a:cs typeface="Tahoma" pitchFamily="34" charset="-120"/>
              </a:rPr>
              <a:t>هر سند: پیش‌نویس ← (در انتظار تأیید) ← تأییدشده ← قطعی‌شده. فقط حواله، فاکتور و برگشت قطعی می‌شوند و سند حسابداری موقت می‌سازند. خدمات بدون حواله مستقیم فاکتور می‌شوند و «فاکتور مستقیم» هم بدون پیش‌فاکتور و سفارش ممکن است.</a:t>
            </a:r>
            <a:endParaRPr lang="en-US" sz="1500" dirty="0"/>
          </a:p>
        </p:txBody>
      </p:sp>
      <p:sp>
        <p:nvSpPr>
          <p:cNvPr id="34" name="Text 32"/>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فروش</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نقش‌ها و وضعیت‌های سند فروش</a:t>
            </a:r>
            <a:endParaRPr lang="en-US" sz="26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6245352" y="1234440"/>
          <a:ext cx="5532120" cy="914400"/>
        </p:xfrm>
        <a:graphic>
          <a:graphicData uri="http://schemas.openxmlformats.org/drawingml/2006/table">
            <a:tbl>
              <a:tblPr/>
              <a:tblGrid>
                <a:gridCol w="1659636"/>
                <a:gridCol w="3872484"/>
              </a:tblGrid>
              <a:tr h="475488">
                <a:tc>
                  <a:txBody>
                    <a:bodyPr/>
                    <a:lstStyle/>
                    <a:p>
                      <a:pPr algn="r" indent="0" marL="0">
                        <a:buNone/>
                      </a:pPr>
                      <a:r>
                        <a:rPr lang="en-US" sz="1200" b="1" dirty="0">
                          <a:solidFill>
                            <a:srgbClr val="FFFFFF"/>
                          </a:solidFill>
                          <a:latin typeface="Tahoma" pitchFamily="34" charset="0"/>
                          <a:ea typeface="Tahoma" pitchFamily="34" charset="-122"/>
                          <a:cs typeface="Tahoma" pitchFamily="34" charset="-120"/>
                        </a:rPr>
                        <a:t>نقش</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B2A49"/>
                    </a:solidFill>
                  </a:tcPr>
                </a:tc>
                <a:tc>
                  <a:txBody>
                    <a:bodyPr/>
                    <a:lstStyle/>
                    <a:p>
                      <a:pPr algn="r" indent="0" marL="0">
                        <a:buNone/>
                      </a:pPr>
                      <a:r>
                        <a:rPr lang="en-US" sz="1200" b="1" dirty="0">
                          <a:solidFill>
                            <a:srgbClr val="FFFFFF"/>
                          </a:solidFill>
                          <a:latin typeface="Tahoma" pitchFamily="34" charset="0"/>
                          <a:ea typeface="Tahoma" pitchFamily="34" charset="-122"/>
                          <a:cs typeface="Tahoma" pitchFamily="34" charset="-120"/>
                        </a:rPr>
                        <a:t>چه کاری می‌کند</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B2A49"/>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کارشناس فروش</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صدور، ویرایش و ثبت پیش‌فاکتور، سفارش، حواله و فاکتور</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مدیر فروش</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تأیید یا رد اسناد ارجاعی (تخفیف بالا یا عبور از سقف اعتبار) و تغییر تنظیمات</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حسابدار فروش</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قطعی‌سازی حواله، فاکتور و برگشت و ثبت سند حسابداری</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مدیر مالی واحد</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دادن نقش‌های فروش و تنظیمات واحد</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مدیر ستاد</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نرخ مالیات بر ارزش افزوده (سراسری)</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bl>
          </a:graphicData>
        </a:graphic>
      </p:graphicFrame>
      <p:graphicFrame>
        <p:nvGraphicFramePr>
          <p:cNvPr id="133" name="Table 1"/>
          <p:cNvGraphicFramePr>
            <a:graphicFrameLocks noGrp="1"/>
          </p:cNvGraphicFramePr>
          <p:nvPr>
            <p:extLst>
              <p:ext uri="{D42A27DB-BD31-4B8C-83A1-F6EECF244321}">
                <p14:modId xmlns:p14="http://schemas.microsoft.com/office/powerpoint/2010/main" val="1579011935"/>
              </p:ext>
            </p:extLst>
          </p:nvPr>
        </p:nvGraphicFramePr>
        <p:xfrm>
          <a:off x="411480" y="1234440"/>
          <a:ext cx="5532120" cy="914400"/>
        </p:xfrm>
        <a:graphic>
          <a:graphicData uri="http://schemas.openxmlformats.org/drawingml/2006/table">
            <a:tbl>
              <a:tblPr/>
              <a:tblGrid>
                <a:gridCol w="1659636"/>
                <a:gridCol w="3872484"/>
              </a:tblGrid>
              <a:tr h="475488">
                <a:tc>
                  <a:txBody>
                    <a:bodyPr/>
                    <a:lstStyle/>
                    <a:p>
                      <a:pPr algn="r" indent="0" marL="0">
                        <a:buNone/>
                      </a:pPr>
                      <a:r>
                        <a:rPr lang="en-US" sz="1200" b="1" dirty="0">
                          <a:solidFill>
                            <a:srgbClr val="FFFFFF"/>
                          </a:solidFill>
                          <a:latin typeface="Tahoma" pitchFamily="34" charset="0"/>
                          <a:ea typeface="Tahoma" pitchFamily="34" charset="-122"/>
                          <a:cs typeface="Tahoma" pitchFamily="34" charset="-120"/>
                        </a:rPr>
                        <a:t>وضعیت</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B2A49"/>
                    </a:solidFill>
                  </a:tcPr>
                </a:tc>
                <a:tc>
                  <a:txBody>
                    <a:bodyPr/>
                    <a:lstStyle/>
                    <a:p>
                      <a:pPr algn="r" indent="0" marL="0">
                        <a:buNone/>
                      </a:pPr>
                      <a:r>
                        <a:rPr lang="en-US" sz="1200" b="1" dirty="0">
                          <a:solidFill>
                            <a:srgbClr val="FFFFFF"/>
                          </a:solidFill>
                          <a:latin typeface="Tahoma" pitchFamily="34" charset="0"/>
                          <a:ea typeface="Tahoma" pitchFamily="34" charset="-122"/>
                          <a:cs typeface="Tahoma" pitchFamily="34" charset="-120"/>
                        </a:rPr>
                        <a:t>معنا</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B2A49"/>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پیش‌نویس</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ذخیره شده؛ هنوز ثبت نشده و سند حسابداری ندارد</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در انتظار تأیید</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به‌خاطر تخفیف یا سقف اعتبار به مدیر فروش ارجاع شده</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تأییدشده</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قابل تبدیل به سند بعدی یا آمادهٔ قطعی‌سازی</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قطعی‌شده</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شمارهٔ نهایی و سند حسابداری دارد؛ تغییرناپذیر</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475488">
                <a:tc>
                  <a:txBody>
                    <a:bodyPr/>
                    <a:lstStyle/>
                    <a:p>
                      <a:pPr algn="r" indent="0" marL="0">
                        <a:buNone/>
                      </a:pPr>
                      <a:r>
                        <a:rPr lang="en-US" sz="1200" b="1" dirty="0">
                          <a:solidFill>
                            <a:srgbClr val="1B2A49"/>
                          </a:solidFill>
                          <a:latin typeface="Tahoma" pitchFamily="34" charset="0"/>
                          <a:ea typeface="Tahoma" pitchFamily="34" charset="-122"/>
                          <a:cs typeface="Tahoma" pitchFamily="34" charset="-120"/>
                        </a:rPr>
                        <a:t>باطل</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7"/>
                          </a:solidFill>
                          <a:latin typeface="Tahoma" pitchFamily="34" charset="0"/>
                          <a:ea typeface="Tahoma" pitchFamily="34" charset="-122"/>
                          <a:cs typeface="Tahoma" pitchFamily="34" charset="-120"/>
                        </a:rPr>
                        <a:t>پیش از قطعی‌سازی ابطال شده</a:t>
                      </a:r>
                      <a:endParaRPr lang="en-US" sz="1200" dirty="0">
                        <a:latin typeface="Tahoma" charset="0"/>
                        <a:ea typeface="Tahoma" charset="0"/>
                        <a:cs typeface="Tahoma" charset="0"/>
                      </a:endParaRPr>
                    </a:p>
                  </a:txBody>
                  <a:tcPr marL="91440" marR="91440"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bl>
          </a:graphicData>
        </a:graphic>
      </p:graphicFrame>
      <p:sp>
        <p:nvSpPr>
          <p:cNvPr id="5" name="Shape 1"/>
          <p:cNvSpPr/>
          <p:nvPr/>
        </p:nvSpPr>
        <p:spPr>
          <a:xfrm>
            <a:off x="411480" y="5532120"/>
            <a:ext cx="11365992" cy="731520"/>
          </a:xfrm>
          <a:prstGeom prst="roundRect">
            <a:avLst>
              <a:gd name="adj" fmla="val 10000"/>
            </a:avLst>
          </a:prstGeom>
          <a:solidFill>
            <a:srgbClr val="F6EDCF"/>
          </a:solidFill>
          <a:ln w="12700">
            <a:solidFill>
              <a:srgbClr val="F6EDCF"/>
            </a:solidFill>
            <a:prstDash val="solid"/>
          </a:ln>
        </p:spPr>
      </p:sp>
      <p:sp>
        <p:nvSpPr>
          <p:cNvPr id="6" name="Text 2"/>
          <p:cNvSpPr txBox="1"/>
          <p:nvPr/>
        </p:nvSpPr>
        <p:spPr>
          <a:xfrm>
            <a:off x="640080" y="5532120"/>
            <a:ext cx="10908792" cy="731520"/>
          </a:xfrm>
          <a:prstGeom prst="rect">
            <a:avLst/>
          </a:prstGeom>
          <a:noFill/>
          <a:ln/>
        </p:spPr>
        <p:txBody>
          <a:bodyPr wrap="square" lIns="0" tIns="0" rIns="0" bIns="0" rtlCol="0" anchor="ctr"/>
          <a:lstStyle/>
          <a:p>
            <a:pPr rtl="1" algn="r" indent="0" marL="0">
              <a:buNone/>
            </a:pPr>
            <a:r>
              <a:rPr lang="en-US" sz="1400" dirty="0">
                <a:solidFill>
                  <a:srgbClr val="4A3B0B"/>
                </a:solidFill>
                <a:latin typeface="Tahoma" pitchFamily="34" charset="0"/>
                <a:ea typeface="Tahoma" pitchFamily="34" charset="-122"/>
                <a:cs typeface="Tahoma" pitchFamily="34" charset="-120"/>
              </a:rPr>
              <a:t>شمارهٔ پیش‌فاکتور و سفارش هنگام ثبت، و شمارهٔ حواله، فاکتور و برگشت هنگام قطعی‌سازی داده می‌شود (مثل PF-1405-0013) — به تفکیک واحد، سال و نوع سند.</a:t>
            </a:r>
            <a:endParaRPr lang="en-US" sz="1400" dirty="0"/>
          </a:p>
        </p:txBody>
      </p:sp>
      <p:sp>
        <p:nvSpPr>
          <p:cNvPr id="7" name="Text 3"/>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فروش</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۱ — تنظیمات فروش</a:t>
            </a:r>
            <a:endParaRPr lang="en-US" sz="2600" dirty="0"/>
          </a:p>
        </p:txBody>
      </p:sp>
      <p:sp>
        <p:nvSpPr>
          <p:cNvPr id="3" name="Shape 1"/>
          <p:cNvSpPr/>
          <p:nvPr/>
        </p:nvSpPr>
        <p:spPr>
          <a:xfrm>
            <a:off x="9752076" y="896112"/>
            <a:ext cx="2025396"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فروش ← تنظیمات فروش</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sl02">    </p:cNvPr>
          <p:cNvPicPr>
            <a:picLocks noChangeAspect="1"/>
          </p:cNvPicPr>
          <p:nvPr/>
        </p:nvPicPr>
        <p:blipFill>
          <a:blip r:embed="rId1"/>
          <a:stretch>
            <a:fillRect/>
          </a:stretch>
        </p:blipFill>
        <p:spPr>
          <a:xfrm>
            <a:off x="815546" y="1399032"/>
            <a:ext cx="6598508"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قواعد کنترلی</a:t>
            </a:r>
            <a:endParaRPr lang="en-US" sz="1400" dirty="0"/>
          </a:p>
        </p:txBody>
      </p:sp>
      <p:sp>
        <p:nvSpPr>
          <p:cNvPr id="10" name="Text 7"/>
          <p:cNvSpPr txBox="1"/>
          <p:nvPr/>
        </p:nvSpPr>
        <p:spPr>
          <a:xfrm>
            <a:off x="8046720" y="1700784"/>
            <a:ext cx="3227832" cy="645566"/>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آستانهٔ تخفیفی که بالاتر از آن تأیید لازم است، و سیاست سقف اعتبار: ارجاع به مدیر فروش، جلوگیری از ثبت یا فقط هشدار.</a:t>
            </a:r>
            <a:endParaRPr lang="en-US" sz="1200" dirty="0"/>
          </a:p>
        </p:txBody>
      </p:sp>
      <p:sp>
        <p:nvSpPr>
          <p:cNvPr id="11" name="Shape 8"/>
          <p:cNvSpPr/>
          <p:nvPr/>
        </p:nvSpPr>
        <p:spPr>
          <a:xfrm>
            <a:off x="11393424" y="2456078"/>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45607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45607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گزینه‌ها</a:t>
            </a:r>
            <a:endParaRPr lang="en-US" sz="1400" dirty="0"/>
          </a:p>
        </p:txBody>
      </p:sp>
      <p:sp>
        <p:nvSpPr>
          <p:cNvPr id="14" name="Text 11"/>
          <p:cNvSpPr txBox="1"/>
          <p:nvPr/>
        </p:nvSpPr>
        <p:spPr>
          <a:xfrm>
            <a:off x="8046720" y="2785262"/>
            <a:ext cx="3227832" cy="645566"/>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تفکیک وظایف (تأییدکننده ≠ ایجادکننده)، فاکتور کالا پیش از تحویل (در بدهی قراردادی) و اجازهٔ موجودی منفی.</a:t>
            </a:r>
            <a:endParaRPr lang="en-US" sz="1200" dirty="0"/>
          </a:p>
        </p:txBody>
      </p:sp>
      <p:sp>
        <p:nvSpPr>
          <p:cNvPr id="15" name="Shape 12"/>
          <p:cNvSpPr/>
          <p:nvPr/>
        </p:nvSpPr>
        <p:spPr>
          <a:xfrm>
            <a:off x="11393424" y="3540557"/>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540557"/>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540557"/>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حساب‌ها</a:t>
            </a:r>
            <a:endParaRPr lang="en-US" sz="1400" dirty="0"/>
          </a:p>
        </p:txBody>
      </p:sp>
      <p:sp>
        <p:nvSpPr>
          <p:cNvPr id="18" name="Text 15"/>
          <p:cNvSpPr txBox="1"/>
          <p:nvPr/>
        </p:nvSpPr>
        <p:spPr>
          <a:xfrm>
            <a:off x="8046720" y="3869741"/>
            <a:ext cx="3227832" cy="848563"/>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برای ۹ نقش (دریافتنی، فروش، خدمات، تخفیف، برگشت، مالیات، بدهی قراردادی، بهای تمام‌شده، موجودی) معین انتخاب کنید؛ دریافتنی الزامی است.</a:t>
            </a:r>
            <a:endParaRPr lang="en-US" sz="1200" dirty="0"/>
          </a:p>
        </p:txBody>
      </p:sp>
      <p:sp>
        <p:nvSpPr>
          <p:cNvPr id="19" name="Shape 16"/>
          <p:cNvSpPr/>
          <p:nvPr/>
        </p:nvSpPr>
        <p:spPr>
          <a:xfrm>
            <a:off x="11393424" y="4828032"/>
            <a:ext cx="347472" cy="347472"/>
          </a:xfrm>
          <a:prstGeom prst="ellipse">
            <a:avLst/>
          </a:prstGeom>
          <a:solidFill>
            <a:srgbClr val="C9A227"/>
          </a:solidFill>
          <a:ln w="12700">
            <a:solidFill>
              <a:srgbClr val="C9A227"/>
            </a:solidFill>
            <a:prstDash val="solid"/>
          </a:ln>
        </p:spPr>
      </p:sp>
      <p:sp>
        <p:nvSpPr>
          <p:cNvPr id="20" name="Text 17"/>
          <p:cNvSpPr txBox="1"/>
          <p:nvPr/>
        </p:nvSpPr>
        <p:spPr>
          <a:xfrm>
            <a:off x="11393424" y="482803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1" name="Text 18"/>
          <p:cNvSpPr txBox="1"/>
          <p:nvPr/>
        </p:nvSpPr>
        <p:spPr>
          <a:xfrm>
            <a:off x="8046720" y="482803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نرخ مالیات</a:t>
            </a:r>
            <a:endParaRPr lang="en-US" sz="1400" dirty="0"/>
          </a:p>
        </p:txBody>
      </p:sp>
      <p:sp>
        <p:nvSpPr>
          <p:cNvPr id="22" name="Text 19"/>
          <p:cNvSpPr txBox="1"/>
          <p:nvPr/>
        </p:nvSpPr>
        <p:spPr>
          <a:xfrm>
            <a:off x="8046720" y="5157216"/>
            <a:ext cx="3227832" cy="442570"/>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نرخ ارزش افزوده با «از تاریخ» — سراسری؛ نرخ مؤثر در تاریخ هر سند به کار می‌رود.</a:t>
            </a:r>
            <a:endParaRPr lang="en-US" sz="1200" dirty="0"/>
          </a:p>
        </p:txBody>
      </p:sp>
      <p:sp>
        <p:nvSpPr>
          <p:cNvPr id="23" name="Shape 20"/>
          <p:cNvSpPr/>
          <p:nvPr/>
        </p:nvSpPr>
        <p:spPr>
          <a:xfrm>
            <a:off x="11393424" y="5709514"/>
            <a:ext cx="347472" cy="347472"/>
          </a:xfrm>
          <a:prstGeom prst="ellipse">
            <a:avLst/>
          </a:prstGeom>
          <a:solidFill>
            <a:srgbClr val="C9A227"/>
          </a:solidFill>
          <a:ln w="12700">
            <a:solidFill>
              <a:srgbClr val="C9A227"/>
            </a:solidFill>
            <a:prstDash val="solid"/>
          </a:ln>
        </p:spPr>
      </p:sp>
      <p:sp>
        <p:nvSpPr>
          <p:cNvPr id="24" name="Text 21"/>
          <p:cNvSpPr txBox="1"/>
          <p:nvPr/>
        </p:nvSpPr>
        <p:spPr>
          <a:xfrm>
            <a:off x="11393424" y="570951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25" name="Text 22"/>
          <p:cNvSpPr txBox="1"/>
          <p:nvPr/>
        </p:nvSpPr>
        <p:spPr>
          <a:xfrm>
            <a:off x="8046720" y="570951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نقش‌ها</a:t>
            </a:r>
            <a:endParaRPr lang="en-US" sz="1400" dirty="0"/>
          </a:p>
        </p:txBody>
      </p:sp>
      <p:sp>
        <p:nvSpPr>
          <p:cNvPr id="26" name="Text 23"/>
          <p:cNvSpPr txBox="1"/>
          <p:nvPr/>
        </p:nvSpPr>
        <p:spPr>
          <a:xfrm>
            <a:off x="8046720" y="6038698"/>
            <a:ext cx="3227832" cy="442570"/>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کد ملی کاربر و نقش (کارشناس، مدیر فروش، حسابدار) را اضافه کنید.</a:t>
            </a:r>
            <a:endParaRPr lang="en-US" sz="1200" dirty="0"/>
          </a:p>
        </p:txBody>
      </p:sp>
      <p:sp>
        <p:nvSpPr>
          <p:cNvPr id="27" name="Text 24"/>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فروش</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۲ — کالا و خدمات</a:t>
            </a:r>
            <a:endParaRPr lang="en-US" sz="2600" dirty="0"/>
          </a:p>
        </p:txBody>
      </p:sp>
      <p:sp>
        <p:nvSpPr>
          <p:cNvPr id="3" name="Shape 1"/>
          <p:cNvSpPr/>
          <p:nvPr/>
        </p:nvSpPr>
        <p:spPr>
          <a:xfrm>
            <a:off x="9752076" y="896112"/>
            <a:ext cx="2025396"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فروش ← کالا و خدمات</a:t>
            </a:r>
            <a:endParaRPr lang="en-US" sz="1100" dirty="0"/>
          </a:p>
        </p:txBody>
      </p:sp>
      <p:sp>
        <p:nvSpPr>
          <p:cNvPr id="5" name="Text 3"/>
          <p:cNvSpPr txBox="1"/>
          <p:nvPr/>
        </p:nvSpPr>
        <p:spPr>
          <a:xfrm>
            <a:off x="6208776"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فهرست کالا و خدمات</a:t>
            </a:r>
            <a:endParaRPr lang="en-US" sz="1200" dirty="0"/>
          </a:p>
        </p:txBody>
      </p:sp>
      <p:sp>
        <p:nvSpPr>
          <p:cNvPr id="6" name="Shape 4"/>
          <p:cNvSpPr/>
          <p:nvPr/>
        </p:nvSpPr>
        <p:spPr>
          <a:xfrm>
            <a:off x="6208776" y="1618488"/>
            <a:ext cx="5568696" cy="2697480"/>
          </a:xfrm>
          <a:prstGeom prst="roundRect">
            <a:avLst>
              <a:gd name="adj" fmla="val 2712"/>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7" name="Image 0" descr="sl03s">    </p:cNvPr>
          <p:cNvPicPr>
            <a:picLocks noChangeAspect="1"/>
          </p:cNvPicPr>
          <p:nvPr/>
        </p:nvPicPr>
        <p:blipFill>
          <a:blip r:embed="rId1"/>
          <a:stretch>
            <a:fillRect/>
          </a:stretch>
        </p:blipFill>
        <p:spPr>
          <a:xfrm>
            <a:off x="6860909" y="1664208"/>
            <a:ext cx="4264429" cy="2606040"/>
          </a:xfrm>
          <a:prstGeom prst="rect">
            <a:avLst/>
          </a:prstGeom>
        </p:spPr>
      </p:pic>
      <p:sp>
        <p:nvSpPr>
          <p:cNvPr id="8" name="Text 5"/>
          <p:cNvSpPr txBox="1"/>
          <p:nvPr/>
        </p:nvSpPr>
        <p:spPr>
          <a:xfrm>
            <a:off x="411480"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تعریف یا ویرایش</a:t>
            </a:r>
            <a:endParaRPr lang="en-US" sz="1200" dirty="0"/>
          </a:p>
        </p:txBody>
      </p:sp>
      <p:sp>
        <p:nvSpPr>
          <p:cNvPr id="9" name="Shape 6"/>
          <p:cNvSpPr/>
          <p:nvPr/>
        </p:nvSpPr>
        <p:spPr>
          <a:xfrm>
            <a:off x="411480" y="1618488"/>
            <a:ext cx="5568696" cy="2697480"/>
          </a:xfrm>
          <a:prstGeom prst="roundRect">
            <a:avLst>
              <a:gd name="adj" fmla="val 2712"/>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10" name="Image 1" descr="sl03d">    </p:cNvPr>
          <p:cNvPicPr>
            <a:picLocks noChangeAspect="1"/>
          </p:cNvPicPr>
          <p:nvPr/>
        </p:nvPicPr>
        <p:blipFill>
          <a:blip r:embed="rId2"/>
          <a:stretch>
            <a:fillRect/>
          </a:stretch>
        </p:blipFill>
        <p:spPr>
          <a:xfrm>
            <a:off x="1473775" y="1664208"/>
            <a:ext cx="3444106" cy="2606040"/>
          </a:xfrm>
          <a:prstGeom prst="rect">
            <a:avLst/>
          </a:prstGeom>
        </p:spPr>
      </p:pic>
      <p:sp>
        <p:nvSpPr>
          <p:cNvPr id="11" name="Shape 7"/>
          <p:cNvSpPr/>
          <p:nvPr/>
        </p:nvSpPr>
        <p:spPr>
          <a:xfrm>
            <a:off x="9038844" y="4498848"/>
            <a:ext cx="2738628" cy="1060704"/>
          </a:xfrm>
          <a:prstGeom prst="roundRect">
            <a:avLst>
              <a:gd name="adj" fmla="val 6897"/>
            </a:avLst>
          </a:prstGeom>
          <a:solidFill>
            <a:srgbClr val="FFFFFF"/>
          </a:solidFill>
          <a:ln w="6350">
            <a:solidFill>
              <a:srgbClr val="D9DEE7"/>
            </a:solidFill>
            <a:prstDash val="solid"/>
          </a:ln>
        </p:spPr>
      </p:sp>
      <p:sp>
        <p:nvSpPr>
          <p:cNvPr id="12" name="Shape 8"/>
          <p:cNvSpPr/>
          <p:nvPr/>
        </p:nvSpPr>
        <p:spPr>
          <a:xfrm>
            <a:off x="11347704" y="4590288"/>
            <a:ext cx="329184" cy="329184"/>
          </a:xfrm>
          <a:prstGeom prst="ellipse">
            <a:avLst/>
          </a:prstGeom>
          <a:solidFill>
            <a:srgbClr val="C9A227"/>
          </a:solidFill>
          <a:ln w="12700">
            <a:solidFill>
              <a:srgbClr val="C9A227"/>
            </a:solidFill>
            <a:prstDash val="solid"/>
          </a:ln>
        </p:spPr>
      </p:sp>
      <p:sp>
        <p:nvSpPr>
          <p:cNvPr id="13" name="Text 9"/>
          <p:cNvSpPr txBox="1"/>
          <p:nvPr/>
        </p:nvSpPr>
        <p:spPr>
          <a:xfrm>
            <a:off x="11347704" y="459028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14" name="Text 10"/>
          <p:cNvSpPr txBox="1"/>
          <p:nvPr/>
        </p:nvSpPr>
        <p:spPr>
          <a:xfrm>
            <a:off x="9130284" y="4572000"/>
            <a:ext cx="2171700"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کد و نوع</a:t>
            </a:r>
            <a:endParaRPr lang="en-US" sz="1300" dirty="0"/>
          </a:p>
        </p:txBody>
      </p:sp>
      <p:sp>
        <p:nvSpPr>
          <p:cNvPr id="15" name="Text 11"/>
          <p:cNvSpPr txBox="1"/>
          <p:nvPr/>
        </p:nvSpPr>
        <p:spPr>
          <a:xfrm>
            <a:off x="9148572" y="4974336"/>
            <a:ext cx="2519172" cy="530352"/>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کد، نام، گروه و نوع (کالا یا خدمت) با واحد سنجش.</a:t>
            </a:r>
            <a:endParaRPr lang="en-US" sz="1200" dirty="0"/>
          </a:p>
        </p:txBody>
      </p:sp>
      <p:sp>
        <p:nvSpPr>
          <p:cNvPr id="16" name="Shape 12"/>
          <p:cNvSpPr/>
          <p:nvPr/>
        </p:nvSpPr>
        <p:spPr>
          <a:xfrm>
            <a:off x="6163056" y="4498848"/>
            <a:ext cx="2738628" cy="1060704"/>
          </a:xfrm>
          <a:prstGeom prst="roundRect">
            <a:avLst>
              <a:gd name="adj" fmla="val 6897"/>
            </a:avLst>
          </a:prstGeom>
          <a:solidFill>
            <a:srgbClr val="FFFFFF"/>
          </a:solidFill>
          <a:ln w="6350">
            <a:solidFill>
              <a:srgbClr val="D9DEE7"/>
            </a:solidFill>
            <a:prstDash val="solid"/>
          </a:ln>
        </p:spPr>
      </p:sp>
      <p:sp>
        <p:nvSpPr>
          <p:cNvPr id="17" name="Shape 13"/>
          <p:cNvSpPr/>
          <p:nvPr/>
        </p:nvSpPr>
        <p:spPr>
          <a:xfrm>
            <a:off x="8471916" y="4590288"/>
            <a:ext cx="329184" cy="329184"/>
          </a:xfrm>
          <a:prstGeom prst="ellipse">
            <a:avLst/>
          </a:prstGeom>
          <a:solidFill>
            <a:srgbClr val="C9A227"/>
          </a:solidFill>
          <a:ln w="12700">
            <a:solidFill>
              <a:srgbClr val="C9A227"/>
            </a:solidFill>
            <a:prstDash val="solid"/>
          </a:ln>
        </p:spPr>
      </p:sp>
      <p:sp>
        <p:nvSpPr>
          <p:cNvPr id="18" name="Text 14"/>
          <p:cNvSpPr txBox="1"/>
          <p:nvPr/>
        </p:nvSpPr>
        <p:spPr>
          <a:xfrm>
            <a:off x="8471916" y="459028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9" name="Text 15"/>
          <p:cNvSpPr txBox="1"/>
          <p:nvPr/>
        </p:nvSpPr>
        <p:spPr>
          <a:xfrm>
            <a:off x="6254496" y="4572000"/>
            <a:ext cx="2171700"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قیمت</a:t>
            </a:r>
            <a:endParaRPr lang="en-US" sz="1300" dirty="0"/>
          </a:p>
        </p:txBody>
      </p:sp>
      <p:sp>
        <p:nvSpPr>
          <p:cNvPr id="20" name="Text 16"/>
          <p:cNvSpPr txBox="1"/>
          <p:nvPr/>
        </p:nvSpPr>
        <p:spPr>
          <a:xfrm>
            <a:off x="6272784" y="4974336"/>
            <a:ext cx="2519172" cy="530352"/>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قیمت فروش پیش‌فرض؛ برای کالا «بهای استاندارد» مبنای بهای تمام‌شده است.</a:t>
            </a:r>
            <a:endParaRPr lang="en-US" sz="1200" dirty="0"/>
          </a:p>
        </p:txBody>
      </p:sp>
      <p:sp>
        <p:nvSpPr>
          <p:cNvPr id="21" name="Shape 17"/>
          <p:cNvSpPr/>
          <p:nvPr/>
        </p:nvSpPr>
        <p:spPr>
          <a:xfrm>
            <a:off x="3287268" y="4498848"/>
            <a:ext cx="2738628" cy="1060704"/>
          </a:xfrm>
          <a:prstGeom prst="roundRect">
            <a:avLst>
              <a:gd name="adj" fmla="val 6897"/>
            </a:avLst>
          </a:prstGeom>
          <a:solidFill>
            <a:srgbClr val="FFFFFF"/>
          </a:solidFill>
          <a:ln w="6350">
            <a:solidFill>
              <a:srgbClr val="D9DEE7"/>
            </a:solidFill>
            <a:prstDash val="solid"/>
          </a:ln>
        </p:spPr>
      </p:sp>
      <p:sp>
        <p:nvSpPr>
          <p:cNvPr id="22" name="Shape 18"/>
          <p:cNvSpPr/>
          <p:nvPr/>
        </p:nvSpPr>
        <p:spPr>
          <a:xfrm>
            <a:off x="5596128" y="4590288"/>
            <a:ext cx="329184" cy="329184"/>
          </a:xfrm>
          <a:prstGeom prst="ellipse">
            <a:avLst/>
          </a:prstGeom>
          <a:solidFill>
            <a:srgbClr val="C9A227"/>
          </a:solidFill>
          <a:ln w="12700">
            <a:solidFill>
              <a:srgbClr val="C9A227"/>
            </a:solidFill>
            <a:prstDash val="solid"/>
          </a:ln>
        </p:spPr>
      </p:sp>
      <p:sp>
        <p:nvSpPr>
          <p:cNvPr id="23" name="Text 19"/>
          <p:cNvSpPr txBox="1"/>
          <p:nvPr/>
        </p:nvSpPr>
        <p:spPr>
          <a:xfrm>
            <a:off x="5596128" y="459028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24" name="Text 20"/>
          <p:cNvSpPr txBox="1"/>
          <p:nvPr/>
        </p:nvSpPr>
        <p:spPr>
          <a:xfrm>
            <a:off x="3378708" y="4572000"/>
            <a:ext cx="2171700"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مودیان</a:t>
            </a:r>
            <a:endParaRPr lang="en-US" sz="1300" dirty="0"/>
          </a:p>
        </p:txBody>
      </p:sp>
      <p:sp>
        <p:nvSpPr>
          <p:cNvPr id="25" name="Text 21"/>
          <p:cNvSpPr txBox="1"/>
          <p:nvPr/>
        </p:nvSpPr>
        <p:spPr>
          <a:xfrm>
            <a:off x="3396996" y="4974336"/>
            <a:ext cx="2519172" cy="530352"/>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شناسهٔ ۱۳ رقمی کالا/خدمت و تیک «معاف از مالیات بر ارزش افزوده».</a:t>
            </a:r>
            <a:endParaRPr lang="en-US" sz="1200" dirty="0"/>
          </a:p>
        </p:txBody>
      </p:sp>
      <p:sp>
        <p:nvSpPr>
          <p:cNvPr id="26" name="Shape 22"/>
          <p:cNvSpPr/>
          <p:nvPr/>
        </p:nvSpPr>
        <p:spPr>
          <a:xfrm>
            <a:off x="411480" y="4498848"/>
            <a:ext cx="2738628" cy="1060704"/>
          </a:xfrm>
          <a:prstGeom prst="roundRect">
            <a:avLst>
              <a:gd name="adj" fmla="val 6897"/>
            </a:avLst>
          </a:prstGeom>
          <a:solidFill>
            <a:srgbClr val="FFFFFF"/>
          </a:solidFill>
          <a:ln w="6350">
            <a:solidFill>
              <a:srgbClr val="D9DEE7"/>
            </a:solidFill>
            <a:prstDash val="solid"/>
          </a:ln>
        </p:spPr>
      </p:sp>
      <p:sp>
        <p:nvSpPr>
          <p:cNvPr id="27" name="Shape 23"/>
          <p:cNvSpPr/>
          <p:nvPr/>
        </p:nvSpPr>
        <p:spPr>
          <a:xfrm>
            <a:off x="2720340" y="4590288"/>
            <a:ext cx="329184" cy="329184"/>
          </a:xfrm>
          <a:prstGeom prst="ellipse">
            <a:avLst/>
          </a:prstGeom>
          <a:solidFill>
            <a:srgbClr val="C9A227"/>
          </a:solidFill>
          <a:ln w="12700">
            <a:solidFill>
              <a:srgbClr val="C9A227"/>
            </a:solidFill>
            <a:prstDash val="solid"/>
          </a:ln>
        </p:spPr>
      </p:sp>
      <p:sp>
        <p:nvSpPr>
          <p:cNvPr id="28" name="Text 24"/>
          <p:cNvSpPr txBox="1"/>
          <p:nvPr/>
        </p:nvSpPr>
        <p:spPr>
          <a:xfrm>
            <a:off x="2720340" y="459028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9" name="Text 25"/>
          <p:cNvSpPr txBox="1"/>
          <p:nvPr/>
        </p:nvSpPr>
        <p:spPr>
          <a:xfrm>
            <a:off x="502920" y="4572000"/>
            <a:ext cx="2171700"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غیرفعال</a:t>
            </a:r>
            <a:endParaRPr lang="en-US" sz="1300" dirty="0"/>
          </a:p>
        </p:txBody>
      </p:sp>
      <p:sp>
        <p:nvSpPr>
          <p:cNvPr id="30" name="Text 26"/>
          <p:cNvSpPr txBox="1"/>
          <p:nvPr/>
        </p:nvSpPr>
        <p:spPr>
          <a:xfrm>
            <a:off x="521208" y="4974336"/>
            <a:ext cx="2519172" cy="530352"/>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کالای غیرفعال در سندهای تازه انتخاب نمی‌شود.</a:t>
            </a:r>
            <a:endParaRPr lang="en-US" sz="1200" dirty="0"/>
          </a:p>
        </p:txBody>
      </p:sp>
      <p:sp>
        <p:nvSpPr>
          <p:cNvPr id="31" name="Shape 27"/>
          <p:cNvSpPr/>
          <p:nvPr/>
        </p:nvSpPr>
        <p:spPr>
          <a:xfrm>
            <a:off x="411480" y="5696712"/>
            <a:ext cx="11365992" cy="658368"/>
          </a:xfrm>
          <a:prstGeom prst="roundRect">
            <a:avLst>
              <a:gd name="adj" fmla="val 11111"/>
            </a:avLst>
          </a:prstGeom>
          <a:solidFill>
            <a:srgbClr val="F6EDCF"/>
          </a:solidFill>
          <a:ln w="9525">
            <a:solidFill>
              <a:srgbClr val="C9A227"/>
            </a:solidFill>
            <a:prstDash val="solid"/>
          </a:ln>
        </p:spPr>
      </p:sp>
      <p:sp>
        <p:nvSpPr>
          <p:cNvPr id="32" name="Text 28"/>
          <p:cNvSpPr txBox="1"/>
          <p:nvPr/>
        </p:nvSpPr>
        <p:spPr>
          <a:xfrm>
            <a:off x="10954512" y="5696712"/>
            <a:ext cx="731520" cy="658368"/>
          </a:xfrm>
          <a:prstGeom prst="rect">
            <a:avLst/>
          </a:prstGeom>
          <a:noFill/>
          <a:ln/>
        </p:spPr>
        <p:txBody>
          <a:bodyPr wrap="square" lIns="0" tIns="0" rIns="0" bIns="0" rtlCol="0" anchor="ctr"/>
          <a:lstStyle/>
          <a:p>
            <a:pPr rtl="1" algn="r" indent="0" marL="0">
              <a:buNone/>
            </a:pPr>
            <a:r>
              <a:rPr lang="en-US" sz="1400" b="1" dirty="0">
                <a:solidFill>
                  <a:srgbClr val="6B5410"/>
                </a:solidFill>
                <a:latin typeface="Tahoma" pitchFamily="34" charset="0"/>
                <a:ea typeface="Tahoma" pitchFamily="34" charset="-122"/>
                <a:cs typeface="Tahoma" pitchFamily="34" charset="-120"/>
              </a:rPr>
              <a:t>نکته</a:t>
            </a:r>
            <a:endParaRPr lang="en-US" sz="1400" dirty="0"/>
          </a:p>
        </p:txBody>
      </p:sp>
      <p:sp>
        <p:nvSpPr>
          <p:cNvPr id="33" name="Text 29"/>
          <p:cNvSpPr txBox="1"/>
          <p:nvPr/>
        </p:nvSpPr>
        <p:spPr>
          <a:xfrm>
            <a:off x="548640" y="5696712"/>
            <a:ext cx="10360152" cy="658368"/>
          </a:xfrm>
          <a:prstGeom prst="rect">
            <a:avLst/>
          </a:prstGeom>
          <a:noFill/>
          <a:ln/>
        </p:spPr>
        <p:txBody>
          <a:bodyPr wrap="square" lIns="0" tIns="0" rIns="0" bIns="0" rtlCol="0" anchor="ctr"/>
          <a:lstStyle/>
          <a:p>
            <a:pPr rtl="1" algn="r" indent="0" marL="0">
              <a:buNone/>
            </a:pPr>
            <a:r>
              <a:rPr lang="en-US" sz="1300" dirty="0">
                <a:solidFill>
                  <a:srgbClr val="4A3B0B"/>
                </a:solidFill>
                <a:latin typeface="Tahoma" pitchFamily="34" charset="0"/>
                <a:ea typeface="Tahoma" pitchFamily="34" charset="-122"/>
                <a:cs typeface="Tahoma" pitchFamily="34" charset="-120"/>
              </a:rPr>
              <a:t>موجودی فقط با حواله، فاکتور مستقیم و برگشت از فروش تغییر می‌کند؛ «موجودی اول دوره» فقط هنگام تعریف کالا وارد می‌شود.</a:t>
            </a:r>
            <a:endParaRPr lang="en-US" sz="1300" dirty="0"/>
          </a:p>
        </p:txBody>
      </p:sp>
      <p:sp>
        <p:nvSpPr>
          <p:cNvPr id="34" name="Text 30"/>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فروش</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۳ — مشتریان</a:t>
            </a:r>
            <a:endParaRPr lang="en-US" sz="2600" dirty="0"/>
          </a:p>
        </p:txBody>
      </p:sp>
      <p:sp>
        <p:nvSpPr>
          <p:cNvPr id="3" name="Shape 1"/>
          <p:cNvSpPr/>
          <p:nvPr/>
        </p:nvSpPr>
        <p:spPr>
          <a:xfrm>
            <a:off x="10140696" y="896112"/>
            <a:ext cx="1636776"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فروش ← مشتریان</a:t>
            </a:r>
            <a:endParaRPr lang="en-US" sz="1100" dirty="0"/>
          </a:p>
        </p:txBody>
      </p:sp>
      <p:sp>
        <p:nvSpPr>
          <p:cNvPr id="5" name="Text 3"/>
          <p:cNvSpPr txBox="1"/>
          <p:nvPr/>
        </p:nvSpPr>
        <p:spPr>
          <a:xfrm>
            <a:off x="6208776"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فهرست مشتریان</a:t>
            </a:r>
            <a:endParaRPr lang="en-US" sz="1200" dirty="0"/>
          </a:p>
        </p:txBody>
      </p:sp>
      <p:sp>
        <p:nvSpPr>
          <p:cNvPr id="6" name="Shape 4"/>
          <p:cNvSpPr/>
          <p:nvPr/>
        </p:nvSpPr>
        <p:spPr>
          <a:xfrm>
            <a:off x="6208776" y="1618488"/>
            <a:ext cx="5568696" cy="2697480"/>
          </a:xfrm>
          <a:prstGeom prst="roundRect">
            <a:avLst>
              <a:gd name="adj" fmla="val 2712"/>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7" name="Image 0" descr="sl04s">    </p:cNvPr>
          <p:cNvPicPr>
            <a:picLocks noChangeAspect="1"/>
          </p:cNvPicPr>
          <p:nvPr/>
        </p:nvPicPr>
        <p:blipFill>
          <a:blip r:embed="rId1"/>
          <a:stretch>
            <a:fillRect/>
          </a:stretch>
        </p:blipFill>
        <p:spPr>
          <a:xfrm>
            <a:off x="6254496" y="1810918"/>
            <a:ext cx="5477256" cy="2312619"/>
          </a:xfrm>
          <a:prstGeom prst="rect">
            <a:avLst/>
          </a:prstGeom>
        </p:spPr>
      </p:pic>
      <p:sp>
        <p:nvSpPr>
          <p:cNvPr id="8" name="Text 5"/>
          <p:cNvSpPr txBox="1"/>
          <p:nvPr/>
        </p:nvSpPr>
        <p:spPr>
          <a:xfrm>
            <a:off x="411480"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پروفایل فروش مشتری</a:t>
            </a:r>
            <a:endParaRPr lang="en-US" sz="1200" dirty="0"/>
          </a:p>
        </p:txBody>
      </p:sp>
      <p:sp>
        <p:nvSpPr>
          <p:cNvPr id="9" name="Shape 6"/>
          <p:cNvSpPr/>
          <p:nvPr/>
        </p:nvSpPr>
        <p:spPr>
          <a:xfrm>
            <a:off x="411480" y="1618488"/>
            <a:ext cx="5568696" cy="2697480"/>
          </a:xfrm>
          <a:prstGeom prst="roundRect">
            <a:avLst>
              <a:gd name="adj" fmla="val 2712"/>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10" name="Image 1" descr="sl04d">    </p:cNvPr>
          <p:cNvPicPr>
            <a:picLocks noChangeAspect="1"/>
          </p:cNvPicPr>
          <p:nvPr/>
        </p:nvPicPr>
        <p:blipFill>
          <a:blip r:embed="rId2"/>
          <a:stretch>
            <a:fillRect/>
          </a:stretch>
        </p:blipFill>
        <p:spPr>
          <a:xfrm>
            <a:off x="1191182" y="1664208"/>
            <a:ext cx="4009292" cy="2606040"/>
          </a:xfrm>
          <a:prstGeom prst="rect">
            <a:avLst/>
          </a:prstGeom>
        </p:spPr>
      </p:pic>
      <p:sp>
        <p:nvSpPr>
          <p:cNvPr id="11" name="Shape 7"/>
          <p:cNvSpPr/>
          <p:nvPr/>
        </p:nvSpPr>
        <p:spPr>
          <a:xfrm>
            <a:off x="9614002" y="4498848"/>
            <a:ext cx="2163470" cy="1060704"/>
          </a:xfrm>
          <a:prstGeom prst="roundRect">
            <a:avLst>
              <a:gd name="adj" fmla="val 6897"/>
            </a:avLst>
          </a:prstGeom>
          <a:solidFill>
            <a:srgbClr val="FFFFFF"/>
          </a:solidFill>
          <a:ln w="6350">
            <a:solidFill>
              <a:srgbClr val="D9DEE7"/>
            </a:solidFill>
            <a:prstDash val="solid"/>
          </a:ln>
        </p:spPr>
      </p:sp>
      <p:sp>
        <p:nvSpPr>
          <p:cNvPr id="12" name="Shape 8"/>
          <p:cNvSpPr/>
          <p:nvPr/>
        </p:nvSpPr>
        <p:spPr>
          <a:xfrm>
            <a:off x="11347704" y="4590288"/>
            <a:ext cx="329184" cy="329184"/>
          </a:xfrm>
          <a:prstGeom prst="ellipse">
            <a:avLst/>
          </a:prstGeom>
          <a:solidFill>
            <a:srgbClr val="C9A227"/>
          </a:solidFill>
          <a:ln w="12700">
            <a:solidFill>
              <a:srgbClr val="C9A227"/>
            </a:solidFill>
            <a:prstDash val="solid"/>
          </a:ln>
        </p:spPr>
      </p:sp>
      <p:sp>
        <p:nvSpPr>
          <p:cNvPr id="13" name="Text 9"/>
          <p:cNvSpPr txBox="1"/>
          <p:nvPr/>
        </p:nvSpPr>
        <p:spPr>
          <a:xfrm>
            <a:off x="11347704" y="459028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14" name="Text 10"/>
          <p:cNvSpPr txBox="1"/>
          <p:nvPr/>
        </p:nvSpPr>
        <p:spPr>
          <a:xfrm>
            <a:off x="9705442" y="457200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تفصیلی</a:t>
            </a:r>
            <a:endParaRPr lang="en-US" sz="1300" dirty="0"/>
          </a:p>
        </p:txBody>
      </p:sp>
      <p:sp>
        <p:nvSpPr>
          <p:cNvPr id="15" name="Text 11"/>
          <p:cNvSpPr txBox="1"/>
          <p:nvPr/>
        </p:nvSpPr>
        <p:spPr>
          <a:xfrm>
            <a:off x="9723730" y="4974336"/>
            <a:ext cx="1944014" cy="53035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تفصیلی شخص یا شرکت را از سطح تفصیلی حساب دریافتنی انتخاب کنید.</a:t>
            </a:r>
            <a:endParaRPr lang="en-US" sz="1150" dirty="0"/>
          </a:p>
        </p:txBody>
      </p:sp>
      <p:sp>
        <p:nvSpPr>
          <p:cNvPr id="16" name="Shape 12"/>
          <p:cNvSpPr/>
          <p:nvPr/>
        </p:nvSpPr>
        <p:spPr>
          <a:xfrm>
            <a:off x="7313371" y="4498848"/>
            <a:ext cx="2163470" cy="1060704"/>
          </a:xfrm>
          <a:prstGeom prst="roundRect">
            <a:avLst>
              <a:gd name="adj" fmla="val 6897"/>
            </a:avLst>
          </a:prstGeom>
          <a:solidFill>
            <a:srgbClr val="FFFFFF"/>
          </a:solidFill>
          <a:ln w="6350">
            <a:solidFill>
              <a:srgbClr val="D9DEE7"/>
            </a:solidFill>
            <a:prstDash val="solid"/>
          </a:ln>
        </p:spPr>
      </p:sp>
      <p:sp>
        <p:nvSpPr>
          <p:cNvPr id="17" name="Shape 13"/>
          <p:cNvSpPr/>
          <p:nvPr/>
        </p:nvSpPr>
        <p:spPr>
          <a:xfrm>
            <a:off x="9047074" y="4590288"/>
            <a:ext cx="329184" cy="329184"/>
          </a:xfrm>
          <a:prstGeom prst="ellipse">
            <a:avLst/>
          </a:prstGeom>
          <a:solidFill>
            <a:srgbClr val="C9A227"/>
          </a:solidFill>
          <a:ln w="12700">
            <a:solidFill>
              <a:srgbClr val="C9A227"/>
            </a:solidFill>
            <a:prstDash val="solid"/>
          </a:ln>
        </p:spPr>
      </p:sp>
      <p:sp>
        <p:nvSpPr>
          <p:cNvPr id="18" name="Text 14"/>
          <p:cNvSpPr txBox="1"/>
          <p:nvPr/>
        </p:nvSpPr>
        <p:spPr>
          <a:xfrm>
            <a:off x="9047074" y="459028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9" name="Text 15"/>
          <p:cNvSpPr txBox="1"/>
          <p:nvPr/>
        </p:nvSpPr>
        <p:spPr>
          <a:xfrm>
            <a:off x="7404811" y="457200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هویت</a:t>
            </a:r>
            <a:endParaRPr lang="en-US" sz="1300" dirty="0"/>
          </a:p>
        </p:txBody>
      </p:sp>
      <p:sp>
        <p:nvSpPr>
          <p:cNvPr id="20" name="Text 16"/>
          <p:cNvSpPr txBox="1"/>
          <p:nvPr/>
        </p:nvSpPr>
        <p:spPr>
          <a:xfrm>
            <a:off x="7423099" y="4974336"/>
            <a:ext cx="1944014" cy="53035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حقیقی/حقوقی، شناسهٔ ملی یا کد ملی، کد اقتصادی و کد پستی.</a:t>
            </a:r>
            <a:endParaRPr lang="en-US" sz="1150" dirty="0"/>
          </a:p>
        </p:txBody>
      </p:sp>
      <p:sp>
        <p:nvSpPr>
          <p:cNvPr id="21" name="Shape 17"/>
          <p:cNvSpPr/>
          <p:nvPr/>
        </p:nvSpPr>
        <p:spPr>
          <a:xfrm>
            <a:off x="5012741" y="4498848"/>
            <a:ext cx="2163470" cy="1060704"/>
          </a:xfrm>
          <a:prstGeom prst="roundRect">
            <a:avLst>
              <a:gd name="adj" fmla="val 6897"/>
            </a:avLst>
          </a:prstGeom>
          <a:solidFill>
            <a:srgbClr val="FFFFFF"/>
          </a:solidFill>
          <a:ln w="6350">
            <a:solidFill>
              <a:srgbClr val="D9DEE7"/>
            </a:solidFill>
            <a:prstDash val="solid"/>
          </a:ln>
        </p:spPr>
      </p:sp>
      <p:sp>
        <p:nvSpPr>
          <p:cNvPr id="22" name="Shape 18"/>
          <p:cNvSpPr/>
          <p:nvPr/>
        </p:nvSpPr>
        <p:spPr>
          <a:xfrm>
            <a:off x="6746443" y="4590288"/>
            <a:ext cx="329184" cy="329184"/>
          </a:xfrm>
          <a:prstGeom prst="ellipse">
            <a:avLst/>
          </a:prstGeom>
          <a:solidFill>
            <a:srgbClr val="C9A227"/>
          </a:solidFill>
          <a:ln w="12700">
            <a:solidFill>
              <a:srgbClr val="C9A227"/>
            </a:solidFill>
            <a:prstDash val="solid"/>
          </a:ln>
        </p:spPr>
      </p:sp>
      <p:sp>
        <p:nvSpPr>
          <p:cNvPr id="23" name="Text 19"/>
          <p:cNvSpPr txBox="1"/>
          <p:nvPr/>
        </p:nvSpPr>
        <p:spPr>
          <a:xfrm>
            <a:off x="6746443" y="459028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24" name="Text 20"/>
          <p:cNvSpPr txBox="1"/>
          <p:nvPr/>
        </p:nvSpPr>
        <p:spPr>
          <a:xfrm>
            <a:off x="5104181" y="457200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مودیان</a:t>
            </a:r>
            <a:endParaRPr lang="en-US" sz="1300" dirty="0"/>
          </a:p>
        </p:txBody>
      </p:sp>
      <p:sp>
        <p:nvSpPr>
          <p:cNvPr id="25" name="Text 21"/>
          <p:cNvSpPr txBox="1"/>
          <p:nvPr/>
        </p:nvSpPr>
        <p:spPr>
          <a:xfrm>
            <a:off x="5122469" y="4974336"/>
            <a:ext cx="1944014" cy="53035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اطلاعات کامل ⇐ صورتحساب نوع اول؛ ناقص (قرمز/زرد) ⇐ نوع دوم.</a:t>
            </a:r>
            <a:endParaRPr lang="en-US" sz="1150" dirty="0"/>
          </a:p>
        </p:txBody>
      </p:sp>
      <p:sp>
        <p:nvSpPr>
          <p:cNvPr id="26" name="Shape 22"/>
          <p:cNvSpPr/>
          <p:nvPr/>
        </p:nvSpPr>
        <p:spPr>
          <a:xfrm>
            <a:off x="2712110" y="4498848"/>
            <a:ext cx="2163470" cy="1060704"/>
          </a:xfrm>
          <a:prstGeom prst="roundRect">
            <a:avLst>
              <a:gd name="adj" fmla="val 6897"/>
            </a:avLst>
          </a:prstGeom>
          <a:solidFill>
            <a:srgbClr val="FFFFFF"/>
          </a:solidFill>
          <a:ln w="6350">
            <a:solidFill>
              <a:srgbClr val="D9DEE7"/>
            </a:solidFill>
            <a:prstDash val="solid"/>
          </a:ln>
        </p:spPr>
      </p:sp>
      <p:sp>
        <p:nvSpPr>
          <p:cNvPr id="27" name="Shape 23"/>
          <p:cNvSpPr/>
          <p:nvPr/>
        </p:nvSpPr>
        <p:spPr>
          <a:xfrm>
            <a:off x="4445813" y="4590288"/>
            <a:ext cx="329184" cy="329184"/>
          </a:xfrm>
          <a:prstGeom prst="ellipse">
            <a:avLst/>
          </a:prstGeom>
          <a:solidFill>
            <a:srgbClr val="C9A227"/>
          </a:solidFill>
          <a:ln w="12700">
            <a:solidFill>
              <a:srgbClr val="C9A227"/>
            </a:solidFill>
            <a:prstDash val="solid"/>
          </a:ln>
        </p:spPr>
      </p:sp>
      <p:sp>
        <p:nvSpPr>
          <p:cNvPr id="28" name="Text 24"/>
          <p:cNvSpPr txBox="1"/>
          <p:nvPr/>
        </p:nvSpPr>
        <p:spPr>
          <a:xfrm>
            <a:off x="4445813" y="459028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9" name="Text 25"/>
          <p:cNvSpPr txBox="1"/>
          <p:nvPr/>
        </p:nvSpPr>
        <p:spPr>
          <a:xfrm>
            <a:off x="2803550" y="457200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اعتبار</a:t>
            </a:r>
            <a:endParaRPr lang="en-US" sz="1300" dirty="0"/>
          </a:p>
        </p:txBody>
      </p:sp>
      <p:sp>
        <p:nvSpPr>
          <p:cNvPr id="30" name="Text 26"/>
          <p:cNvSpPr txBox="1"/>
          <p:nvPr/>
        </p:nvSpPr>
        <p:spPr>
          <a:xfrm>
            <a:off x="2821838" y="4974336"/>
            <a:ext cx="1944014" cy="53035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سقف اعتبار (صفر = بدون سقف) و مهلت پرداخت پیش‌فرض.</a:t>
            </a:r>
            <a:endParaRPr lang="en-US" sz="1150" dirty="0"/>
          </a:p>
        </p:txBody>
      </p:sp>
      <p:sp>
        <p:nvSpPr>
          <p:cNvPr id="31" name="Shape 27"/>
          <p:cNvSpPr/>
          <p:nvPr/>
        </p:nvSpPr>
        <p:spPr>
          <a:xfrm>
            <a:off x="411480" y="4498848"/>
            <a:ext cx="2163470" cy="1060704"/>
          </a:xfrm>
          <a:prstGeom prst="roundRect">
            <a:avLst>
              <a:gd name="adj" fmla="val 6897"/>
            </a:avLst>
          </a:prstGeom>
          <a:solidFill>
            <a:srgbClr val="FFFFFF"/>
          </a:solidFill>
          <a:ln w="6350">
            <a:solidFill>
              <a:srgbClr val="D9DEE7"/>
            </a:solidFill>
            <a:prstDash val="solid"/>
          </a:ln>
        </p:spPr>
      </p:sp>
      <p:sp>
        <p:nvSpPr>
          <p:cNvPr id="32" name="Shape 28"/>
          <p:cNvSpPr/>
          <p:nvPr/>
        </p:nvSpPr>
        <p:spPr>
          <a:xfrm>
            <a:off x="2145182" y="4590288"/>
            <a:ext cx="329184" cy="329184"/>
          </a:xfrm>
          <a:prstGeom prst="ellipse">
            <a:avLst/>
          </a:prstGeom>
          <a:solidFill>
            <a:srgbClr val="C9A227"/>
          </a:solidFill>
          <a:ln w="12700">
            <a:solidFill>
              <a:srgbClr val="C9A227"/>
            </a:solidFill>
            <a:prstDash val="solid"/>
          </a:ln>
        </p:spPr>
      </p:sp>
      <p:sp>
        <p:nvSpPr>
          <p:cNvPr id="33" name="Text 29"/>
          <p:cNvSpPr txBox="1"/>
          <p:nvPr/>
        </p:nvSpPr>
        <p:spPr>
          <a:xfrm>
            <a:off x="2145182" y="4590288"/>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34" name="Text 30"/>
          <p:cNvSpPr txBox="1"/>
          <p:nvPr/>
        </p:nvSpPr>
        <p:spPr>
          <a:xfrm>
            <a:off x="502920" y="4572000"/>
            <a:ext cx="1596542"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مسدود</a:t>
            </a:r>
            <a:endParaRPr lang="en-US" sz="1300" dirty="0"/>
          </a:p>
        </p:txBody>
      </p:sp>
      <p:sp>
        <p:nvSpPr>
          <p:cNvPr id="35" name="Text 31"/>
          <p:cNvSpPr txBox="1"/>
          <p:nvPr/>
        </p:nvSpPr>
        <p:spPr>
          <a:xfrm>
            <a:off x="521208" y="4974336"/>
            <a:ext cx="1944014" cy="530352"/>
          </a:xfrm>
          <a:prstGeom prst="rect">
            <a:avLst/>
          </a:prstGeom>
          <a:noFill/>
          <a:ln/>
        </p:spPr>
        <p:txBody>
          <a:bodyPr wrap="square" lIns="0" tIns="0" rIns="0" bIns="0" rtlCol="0" anchor="t"/>
          <a:lstStyle/>
          <a:p>
            <a:pPr rtl="1" algn="r" indent="0" marL="0">
              <a:lnSpc>
                <a:spcPct val="105000"/>
              </a:lnSpc>
              <a:buNone/>
            </a:pPr>
            <a:r>
              <a:rPr lang="en-US" sz="1150" dirty="0">
                <a:solidFill>
                  <a:srgbClr val="1F2937"/>
                </a:solidFill>
                <a:latin typeface="Tahoma" pitchFamily="34" charset="0"/>
                <a:ea typeface="Tahoma" pitchFamily="34" charset="-122"/>
                <a:cs typeface="Tahoma" pitchFamily="34" charset="-120"/>
              </a:rPr>
              <a:t>برای مشتری مسدود سند تازه صادر نمی‌شود.</a:t>
            </a:r>
            <a:endParaRPr lang="en-US" sz="1150" dirty="0"/>
          </a:p>
        </p:txBody>
      </p:sp>
      <p:sp>
        <p:nvSpPr>
          <p:cNvPr id="36" name="Shape 32"/>
          <p:cNvSpPr/>
          <p:nvPr/>
        </p:nvSpPr>
        <p:spPr>
          <a:xfrm>
            <a:off x="411480" y="5696712"/>
            <a:ext cx="11365992" cy="658368"/>
          </a:xfrm>
          <a:prstGeom prst="roundRect">
            <a:avLst>
              <a:gd name="adj" fmla="val 11111"/>
            </a:avLst>
          </a:prstGeom>
          <a:solidFill>
            <a:srgbClr val="F6EDCF"/>
          </a:solidFill>
          <a:ln w="9525">
            <a:solidFill>
              <a:srgbClr val="C9A227"/>
            </a:solidFill>
            <a:prstDash val="solid"/>
          </a:ln>
        </p:spPr>
      </p:sp>
      <p:sp>
        <p:nvSpPr>
          <p:cNvPr id="37" name="Text 33"/>
          <p:cNvSpPr txBox="1"/>
          <p:nvPr/>
        </p:nvSpPr>
        <p:spPr>
          <a:xfrm>
            <a:off x="10954512" y="5696712"/>
            <a:ext cx="731520" cy="658368"/>
          </a:xfrm>
          <a:prstGeom prst="rect">
            <a:avLst/>
          </a:prstGeom>
          <a:noFill/>
          <a:ln/>
        </p:spPr>
        <p:txBody>
          <a:bodyPr wrap="square" lIns="0" tIns="0" rIns="0" bIns="0" rtlCol="0" anchor="ctr"/>
          <a:lstStyle/>
          <a:p>
            <a:pPr rtl="1" algn="r" indent="0" marL="0">
              <a:buNone/>
            </a:pPr>
            <a:r>
              <a:rPr lang="en-US" sz="1400" b="1" dirty="0">
                <a:solidFill>
                  <a:srgbClr val="6B5410"/>
                </a:solidFill>
                <a:latin typeface="Tahoma" pitchFamily="34" charset="0"/>
                <a:ea typeface="Tahoma" pitchFamily="34" charset="-122"/>
                <a:cs typeface="Tahoma" pitchFamily="34" charset="-120"/>
              </a:rPr>
              <a:t>نکته</a:t>
            </a:r>
            <a:endParaRPr lang="en-US" sz="1400" dirty="0"/>
          </a:p>
        </p:txBody>
      </p:sp>
      <p:sp>
        <p:nvSpPr>
          <p:cNvPr id="38" name="Text 34"/>
          <p:cNvSpPr txBox="1"/>
          <p:nvPr/>
        </p:nvSpPr>
        <p:spPr>
          <a:xfrm>
            <a:off x="548640" y="5696712"/>
            <a:ext cx="10360152" cy="658368"/>
          </a:xfrm>
          <a:prstGeom prst="rect">
            <a:avLst/>
          </a:prstGeom>
          <a:noFill/>
          <a:ln/>
        </p:spPr>
        <p:txBody>
          <a:bodyPr wrap="square" lIns="0" tIns="0" rIns="0" bIns="0" rtlCol="0" anchor="ctr"/>
          <a:lstStyle/>
          <a:p>
            <a:pPr rtl="1" algn="r" indent="0" marL="0">
              <a:buNone/>
            </a:pPr>
            <a:r>
              <a:rPr lang="en-US" sz="1300" dirty="0">
                <a:solidFill>
                  <a:srgbClr val="4A3B0B"/>
                </a:solidFill>
                <a:latin typeface="Tahoma" pitchFamily="34" charset="0"/>
                <a:ea typeface="Tahoma" pitchFamily="34" charset="-122"/>
                <a:cs typeface="Tahoma" pitchFamily="34" charset="-120"/>
              </a:rPr>
              <a:t>مشتری تفصیلی جدید نمی‌سازد: یکی از تفصیلی‌های موجودِ حساب دریافتنی انتخاب و پروفایل فروش به آن اضافه می‌شود.</a:t>
            </a:r>
            <a:endParaRPr lang="en-US" sz="1300" dirty="0"/>
          </a:p>
        </p:txBody>
      </p:sp>
      <p:sp>
        <p:nvSpPr>
          <p:cNvPr id="39" name="Text 35"/>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فروش</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۴ — میز کار فروش</a:t>
            </a:r>
            <a:endParaRPr lang="en-US" sz="2600" dirty="0"/>
          </a:p>
        </p:txBody>
      </p:sp>
      <p:sp>
        <p:nvSpPr>
          <p:cNvPr id="3" name="Shape 1"/>
          <p:cNvSpPr/>
          <p:nvPr/>
        </p:nvSpPr>
        <p:spPr>
          <a:xfrm>
            <a:off x="9752076" y="896112"/>
            <a:ext cx="2025396"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فروش ← میز کار فروش</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sl01">    </p:cNvPr>
          <p:cNvPicPr>
            <a:picLocks noChangeAspect="1"/>
          </p:cNvPicPr>
          <p:nvPr/>
        </p:nvPicPr>
        <p:blipFill>
          <a:blip r:embed="rId1"/>
          <a:stretch>
            <a:fillRect/>
          </a:stretch>
        </p:blipFill>
        <p:spPr>
          <a:xfrm>
            <a:off x="491876" y="1399032"/>
            <a:ext cx="7245847"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نقش شما</a:t>
            </a:r>
            <a:endParaRPr lang="en-US" sz="1400" dirty="0"/>
          </a:p>
        </p:txBody>
      </p:sp>
      <p:sp>
        <p:nvSpPr>
          <p:cNvPr id="10" name="Text 7"/>
          <p:cNvSpPr txBox="1"/>
          <p:nvPr/>
        </p:nvSpPr>
        <p:spPr>
          <a:xfrm>
            <a:off x="8046720" y="170078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زیر عنوان صفحه نقش‌های فروش شما نمایش داده می‌شود.</a:t>
            </a:r>
            <a:endParaRPr lang="en-US" sz="1300" dirty="0"/>
          </a:p>
        </p:txBody>
      </p:sp>
      <p:sp>
        <p:nvSpPr>
          <p:cNvPr id="11" name="Shape 8"/>
          <p:cNvSpPr/>
          <p:nvPr/>
        </p:nvSpPr>
        <p:spPr>
          <a:xfrm>
            <a:off x="11393424" y="2286914"/>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28691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28691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کارتابل‌ها</a:t>
            </a:r>
            <a:endParaRPr lang="en-US" sz="1400" dirty="0"/>
          </a:p>
        </p:txBody>
      </p:sp>
      <p:sp>
        <p:nvSpPr>
          <p:cNvPr id="14" name="Text 11"/>
          <p:cNvSpPr txBox="1"/>
          <p:nvPr/>
        </p:nvSpPr>
        <p:spPr>
          <a:xfrm>
            <a:off x="8046720" y="2616098"/>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«در انتظار تأیید من» برای مدیر فروش، «آمادهٔ قطعی‌سازی» برای حسابدار و «پیش‌نویس‌ها» برای کارشناس.</a:t>
            </a:r>
            <a:endParaRPr lang="en-US" sz="1300" dirty="0"/>
          </a:p>
        </p:txBody>
      </p:sp>
      <p:sp>
        <p:nvSpPr>
          <p:cNvPr id="15" name="Shape 12"/>
          <p:cNvSpPr/>
          <p:nvPr/>
        </p:nvSpPr>
        <p:spPr>
          <a:xfrm>
            <a:off x="11393424" y="3422142"/>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42214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42214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اقدام سریع</a:t>
            </a:r>
            <a:endParaRPr lang="en-US" sz="1400" dirty="0"/>
          </a:p>
        </p:txBody>
      </p:sp>
      <p:sp>
        <p:nvSpPr>
          <p:cNvPr id="18" name="Text 15"/>
          <p:cNvSpPr txBox="1"/>
          <p:nvPr/>
        </p:nvSpPr>
        <p:spPr>
          <a:xfrm>
            <a:off x="8046720" y="3751326"/>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دکمه‌های «پیش‌فاکتور جدید» و «فاکتور مستقیم».</a:t>
            </a:r>
            <a:endParaRPr lang="en-US" sz="1300" dirty="0"/>
          </a:p>
        </p:txBody>
      </p:sp>
      <p:sp>
        <p:nvSpPr>
          <p:cNvPr id="19" name="Shape 16"/>
          <p:cNvSpPr/>
          <p:nvPr/>
        </p:nvSpPr>
        <p:spPr>
          <a:xfrm>
            <a:off x="11393424" y="4337456"/>
            <a:ext cx="347472" cy="347472"/>
          </a:xfrm>
          <a:prstGeom prst="ellipse">
            <a:avLst/>
          </a:prstGeom>
          <a:solidFill>
            <a:srgbClr val="C9A227"/>
          </a:solidFill>
          <a:ln w="12700">
            <a:solidFill>
              <a:srgbClr val="C9A227"/>
            </a:solidFill>
            <a:prstDash val="solid"/>
          </a:ln>
        </p:spPr>
      </p:sp>
      <p:sp>
        <p:nvSpPr>
          <p:cNvPr id="20" name="Text 17"/>
          <p:cNvSpPr txBox="1"/>
          <p:nvPr/>
        </p:nvSpPr>
        <p:spPr>
          <a:xfrm>
            <a:off x="11393424" y="4337456"/>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1" name="Text 18"/>
          <p:cNvSpPr txBox="1"/>
          <p:nvPr/>
        </p:nvSpPr>
        <p:spPr>
          <a:xfrm>
            <a:off x="8046720" y="4337456"/>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هشدار تنظیمات</a:t>
            </a:r>
            <a:endParaRPr lang="en-US" sz="1400" dirty="0"/>
          </a:p>
        </p:txBody>
      </p:sp>
      <p:sp>
        <p:nvSpPr>
          <p:cNvPr id="22" name="Text 19"/>
          <p:cNvSpPr txBox="1"/>
          <p:nvPr/>
        </p:nvSpPr>
        <p:spPr>
          <a:xfrm>
            <a:off x="8046720" y="4666640"/>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اگر حساب دریافتنی تعریف نشده باشد، نوار زرد شما را به تنظیمات فروش می‌برد.</a:t>
            </a:r>
            <a:endParaRPr lang="en-US" sz="1300" dirty="0"/>
          </a:p>
        </p:txBody>
      </p:sp>
      <p:sp>
        <p:nvSpPr>
          <p:cNvPr id="23" name="Text 20"/>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فروش</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۵ — اسناد فروش</a:t>
            </a:r>
            <a:endParaRPr lang="en-US" sz="2600" dirty="0"/>
          </a:p>
        </p:txBody>
      </p:sp>
      <p:sp>
        <p:nvSpPr>
          <p:cNvPr id="3" name="Shape 1"/>
          <p:cNvSpPr/>
          <p:nvPr/>
        </p:nvSpPr>
        <p:spPr>
          <a:xfrm>
            <a:off x="9907524" y="896112"/>
            <a:ext cx="1869948" cy="292608"/>
          </a:xfrm>
          <a:prstGeom prst="roundRect">
            <a:avLst>
              <a:gd name="adj" fmla="val 25000"/>
            </a:avLst>
          </a:prstGeom>
          <a:solidFill>
            <a:srgbClr val="F6EDCF"/>
          </a:solidFill>
          <a:ln w="12700">
            <a:solidFill>
              <a:srgbClr val="F6EDCF"/>
            </a:solidFill>
            <a:prstDash val="solid"/>
          </a:ln>
        </p:spPr>
      </p:sp>
      <p:sp>
        <p:nvSpPr>
          <p:cNvPr id="4" name="Text 2"/>
          <p:cNvSpPr txBox="1"/>
          <p:nvPr/>
        </p:nvSpPr>
        <p:spPr>
          <a:xfrm>
            <a:off x="5760720" y="896112"/>
            <a:ext cx="5907024" cy="292608"/>
          </a:xfrm>
          <a:prstGeom prst="rect">
            <a:avLst/>
          </a:prstGeom>
          <a:noFill/>
          <a:ln/>
        </p:spPr>
        <p:txBody>
          <a:bodyPr wrap="square" lIns="0" tIns="0" rIns="0" bIns="0" rtlCol="0" anchor="ctr"/>
          <a:lstStyle/>
          <a:p>
            <a:pPr rtl="1" algn="r" indent="0" marL="0">
              <a:buNone/>
            </a:pPr>
            <a:r>
              <a:rPr lang="en-US" sz="1100" dirty="0">
                <a:solidFill>
                  <a:srgbClr val="6B5410"/>
                </a:solidFill>
                <a:latin typeface="Tahoma" pitchFamily="34" charset="0"/>
                <a:ea typeface="Tahoma" pitchFamily="34" charset="-122"/>
                <a:cs typeface="Tahoma" pitchFamily="34" charset="-120"/>
              </a:rPr>
              <a:t>مسیر منو:  فروش ← اسناد فروش</a:t>
            </a:r>
            <a:endParaRPr lang="en-US" sz="1100" dirty="0"/>
          </a:p>
        </p:txBody>
      </p:sp>
      <p:sp>
        <p:nvSpPr>
          <p:cNvPr id="5" name="Shape 3"/>
          <p:cNvSpPr/>
          <p:nvPr/>
        </p:nvSpPr>
        <p:spPr>
          <a:xfrm>
            <a:off x="411480" y="1325880"/>
            <a:ext cx="7406640" cy="5029200"/>
          </a:xfrm>
          <a:prstGeom prst="roundRect">
            <a:avLst>
              <a:gd name="adj" fmla="val 14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6" name="Image 0" descr="sl05">    </p:cNvPr>
          <p:cNvPicPr>
            <a:picLocks noChangeAspect="1"/>
          </p:cNvPicPr>
          <p:nvPr/>
        </p:nvPicPr>
        <p:blipFill>
          <a:blip r:embed="rId1"/>
          <a:stretch>
            <a:fillRect/>
          </a:stretch>
        </p:blipFill>
        <p:spPr>
          <a:xfrm>
            <a:off x="815546" y="1399032"/>
            <a:ext cx="6598508" cy="4882896"/>
          </a:xfrm>
          <a:prstGeom prst="rect">
            <a:avLst/>
          </a:prstGeom>
        </p:spPr>
      </p:pic>
      <p:sp>
        <p:nvSpPr>
          <p:cNvPr id="7" name="Shape 4"/>
          <p:cNvSpPr/>
          <p:nvPr/>
        </p:nvSpPr>
        <p:spPr>
          <a:xfrm>
            <a:off x="11393424" y="1371600"/>
            <a:ext cx="347472" cy="347472"/>
          </a:xfrm>
          <a:prstGeom prst="ellipse">
            <a:avLst/>
          </a:prstGeom>
          <a:solidFill>
            <a:srgbClr val="C9A227"/>
          </a:solidFill>
          <a:ln w="12700">
            <a:solidFill>
              <a:srgbClr val="C9A227"/>
            </a:solidFill>
            <a:prstDash val="solid"/>
          </a:ln>
        </p:spPr>
      </p:sp>
      <p:sp>
        <p:nvSpPr>
          <p:cNvPr id="8" name="Text 5"/>
          <p:cNvSpPr txBox="1"/>
          <p:nvPr/>
        </p:nvSpPr>
        <p:spPr>
          <a:xfrm>
            <a:off x="11393424" y="137160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9" name="Text 6"/>
          <p:cNvSpPr txBox="1"/>
          <p:nvPr/>
        </p:nvSpPr>
        <p:spPr>
          <a:xfrm>
            <a:off x="8046720" y="137160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زبانه‌ها</a:t>
            </a:r>
            <a:endParaRPr lang="en-US" sz="1400" dirty="0"/>
          </a:p>
        </p:txBody>
      </p:sp>
      <p:sp>
        <p:nvSpPr>
          <p:cNvPr id="10" name="Text 7"/>
          <p:cNvSpPr txBox="1"/>
          <p:nvPr/>
        </p:nvSpPr>
        <p:spPr>
          <a:xfrm>
            <a:off x="8046720" y="170078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همهٔ اسناد، یا فقط پیش‌فاکتور، سفارش، حواله، فاکتور و برگشت.</a:t>
            </a:r>
            <a:endParaRPr lang="en-US" sz="1300" dirty="0"/>
          </a:p>
        </p:txBody>
      </p:sp>
      <p:sp>
        <p:nvSpPr>
          <p:cNvPr id="11" name="Shape 8"/>
          <p:cNvSpPr/>
          <p:nvPr/>
        </p:nvSpPr>
        <p:spPr>
          <a:xfrm>
            <a:off x="11393424" y="2286914"/>
            <a:ext cx="347472" cy="347472"/>
          </a:xfrm>
          <a:prstGeom prst="ellipse">
            <a:avLst/>
          </a:prstGeom>
          <a:solidFill>
            <a:srgbClr val="C9A227"/>
          </a:solidFill>
          <a:ln w="12700">
            <a:solidFill>
              <a:srgbClr val="C9A227"/>
            </a:solidFill>
            <a:prstDash val="solid"/>
          </a:ln>
        </p:spPr>
      </p:sp>
      <p:sp>
        <p:nvSpPr>
          <p:cNvPr id="12" name="Text 9"/>
          <p:cNvSpPr txBox="1"/>
          <p:nvPr/>
        </p:nvSpPr>
        <p:spPr>
          <a:xfrm>
            <a:off x="11393424" y="228691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3" name="Text 10"/>
          <p:cNvSpPr txBox="1"/>
          <p:nvPr/>
        </p:nvSpPr>
        <p:spPr>
          <a:xfrm>
            <a:off x="8046720" y="228691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جستجو و فیلتر</a:t>
            </a:r>
            <a:endParaRPr lang="en-US" sz="1400" dirty="0"/>
          </a:p>
        </p:txBody>
      </p:sp>
      <p:sp>
        <p:nvSpPr>
          <p:cNvPr id="14" name="Text 11"/>
          <p:cNvSpPr txBox="1"/>
          <p:nvPr/>
        </p:nvSpPr>
        <p:spPr>
          <a:xfrm>
            <a:off x="8046720" y="2616098"/>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شمارهٔ سند، نام مشتری یا شمارهٔ سفارش مشتری؛ و فیلتر وضعیت.</a:t>
            </a:r>
            <a:endParaRPr lang="en-US" sz="1300" dirty="0"/>
          </a:p>
        </p:txBody>
      </p:sp>
      <p:sp>
        <p:nvSpPr>
          <p:cNvPr id="15" name="Shape 12"/>
          <p:cNvSpPr/>
          <p:nvPr/>
        </p:nvSpPr>
        <p:spPr>
          <a:xfrm>
            <a:off x="11393424" y="3202229"/>
            <a:ext cx="347472" cy="347472"/>
          </a:xfrm>
          <a:prstGeom prst="ellipse">
            <a:avLst/>
          </a:prstGeom>
          <a:solidFill>
            <a:srgbClr val="C9A227"/>
          </a:solidFill>
          <a:ln w="12700">
            <a:solidFill>
              <a:srgbClr val="C9A227"/>
            </a:solidFill>
            <a:prstDash val="solid"/>
          </a:ln>
        </p:spPr>
      </p:sp>
      <p:sp>
        <p:nvSpPr>
          <p:cNvPr id="16" name="Text 13"/>
          <p:cNvSpPr txBox="1"/>
          <p:nvPr/>
        </p:nvSpPr>
        <p:spPr>
          <a:xfrm>
            <a:off x="11393424" y="3202229"/>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7" name="Text 14"/>
          <p:cNvSpPr txBox="1"/>
          <p:nvPr/>
        </p:nvSpPr>
        <p:spPr>
          <a:xfrm>
            <a:off x="8046720" y="3202229"/>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صدور</a:t>
            </a:r>
            <a:endParaRPr lang="en-US" sz="1400" dirty="0"/>
          </a:p>
        </p:txBody>
      </p:sp>
      <p:sp>
        <p:nvSpPr>
          <p:cNvPr id="18" name="Text 15"/>
          <p:cNvSpPr txBox="1"/>
          <p:nvPr/>
        </p:nvSpPr>
        <p:spPr>
          <a:xfrm>
            <a:off x="8046720" y="3531413"/>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«پیش‌فاکتور جدید»، «سفارش جدید» یا «فاکتور مستقیم».</a:t>
            </a:r>
            <a:endParaRPr lang="en-US" sz="1300" dirty="0"/>
          </a:p>
        </p:txBody>
      </p:sp>
      <p:sp>
        <p:nvSpPr>
          <p:cNvPr id="19" name="Shape 16"/>
          <p:cNvSpPr/>
          <p:nvPr/>
        </p:nvSpPr>
        <p:spPr>
          <a:xfrm>
            <a:off x="11393424" y="4117543"/>
            <a:ext cx="347472" cy="347472"/>
          </a:xfrm>
          <a:prstGeom prst="ellipse">
            <a:avLst/>
          </a:prstGeom>
          <a:solidFill>
            <a:srgbClr val="C9A227"/>
          </a:solidFill>
          <a:ln w="12700">
            <a:solidFill>
              <a:srgbClr val="C9A227"/>
            </a:solidFill>
            <a:prstDash val="solid"/>
          </a:ln>
        </p:spPr>
      </p:sp>
      <p:sp>
        <p:nvSpPr>
          <p:cNvPr id="20" name="Text 17"/>
          <p:cNvSpPr txBox="1"/>
          <p:nvPr/>
        </p:nvSpPr>
        <p:spPr>
          <a:xfrm>
            <a:off x="11393424" y="4117543"/>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1" name="Text 18"/>
          <p:cNvSpPr txBox="1"/>
          <p:nvPr/>
        </p:nvSpPr>
        <p:spPr>
          <a:xfrm>
            <a:off x="8046720" y="4117543"/>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بررسی</a:t>
            </a:r>
            <a:endParaRPr lang="en-US" sz="1400" dirty="0"/>
          </a:p>
        </p:txBody>
      </p:sp>
      <p:sp>
        <p:nvSpPr>
          <p:cNvPr id="22" name="Text 19"/>
          <p:cNvSpPr txBox="1"/>
          <p:nvPr/>
        </p:nvSpPr>
        <p:spPr>
          <a:xfrm>
            <a:off x="8046720" y="4446727"/>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دکمهٔ «بررسی» جزئیات، زنجیره و اقدام‌های هر سند را باز می‌کند.</a:t>
            </a:r>
            <a:endParaRPr lang="en-US" sz="1300" dirty="0"/>
          </a:p>
        </p:txBody>
      </p:sp>
      <p:sp>
        <p:nvSpPr>
          <p:cNvPr id="23" name="Text 20"/>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فروش</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۶ — صدور پیش‌فاکتور</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sl07">    </p:cNvPr>
          <p:cNvPicPr>
            <a:picLocks noChangeAspect="1"/>
          </p:cNvPicPr>
          <p:nvPr/>
        </p:nvPicPr>
        <p:blipFill>
          <a:blip r:embed="rId1"/>
          <a:stretch>
            <a:fillRect/>
          </a:stretch>
        </p:blipFill>
        <p:spPr>
          <a:xfrm>
            <a:off x="484632" y="1488252"/>
            <a:ext cx="7260336" cy="4521576"/>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سربرگ</a:t>
            </a:r>
            <a:endParaRPr lang="en-US" sz="1400" dirty="0"/>
          </a:p>
        </p:txBody>
      </p:sp>
      <p:sp>
        <p:nvSpPr>
          <p:cNvPr id="8" name="Text 5"/>
          <p:cNvSpPr txBox="1"/>
          <p:nvPr/>
        </p:nvSpPr>
        <p:spPr>
          <a:xfrm>
            <a:off x="8046720" y="1517904"/>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نوع سند، تاریخ، مهلت پرداخت، مشتری، نوع فروش، شمارهٔ سفارش مشتری و اعتبار پیش‌فاکتور.</a:t>
            </a:r>
            <a:endParaRPr lang="en-US" sz="1300" dirty="0"/>
          </a:p>
        </p:txBody>
      </p:sp>
      <p:sp>
        <p:nvSpPr>
          <p:cNvPr id="9" name="Shape 6"/>
          <p:cNvSpPr/>
          <p:nvPr/>
        </p:nvSpPr>
        <p:spPr>
          <a:xfrm>
            <a:off x="11393424" y="2323948"/>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323948"/>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323948"/>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وضعیت مشتری</a:t>
            </a:r>
            <a:endParaRPr lang="en-US" sz="1400" dirty="0"/>
          </a:p>
        </p:txBody>
      </p:sp>
      <p:sp>
        <p:nvSpPr>
          <p:cNvPr id="12" name="Text 9"/>
          <p:cNvSpPr txBox="1"/>
          <p:nvPr/>
        </p:nvSpPr>
        <p:spPr>
          <a:xfrm>
            <a:off x="8046720" y="2653132"/>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نوار خط‌چین: مانده حساب، سفارش باز، سقف اعتبار و نوع صورتحساب مودیان.</a:t>
            </a:r>
            <a:endParaRPr lang="en-US" sz="1300" dirty="0"/>
          </a:p>
        </p:txBody>
      </p:sp>
      <p:sp>
        <p:nvSpPr>
          <p:cNvPr id="13" name="Shape 10"/>
          <p:cNvSpPr/>
          <p:nvPr/>
        </p:nvSpPr>
        <p:spPr>
          <a:xfrm>
            <a:off x="11393424" y="3239262"/>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239262"/>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239262"/>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ردیف‌ها</a:t>
            </a:r>
            <a:endParaRPr lang="en-US" sz="1400" dirty="0"/>
          </a:p>
        </p:txBody>
      </p:sp>
      <p:sp>
        <p:nvSpPr>
          <p:cNvPr id="16" name="Text 13"/>
          <p:cNvSpPr txBox="1"/>
          <p:nvPr/>
        </p:nvSpPr>
        <p:spPr>
          <a:xfrm>
            <a:off x="8046720" y="3568446"/>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کالا/خدمت، تعداد، فی و درصد تخفیف؛ موجودی کالا زیر نامش دیده می‌شود.</a:t>
            </a:r>
            <a:endParaRPr lang="en-US" sz="1300" dirty="0"/>
          </a:p>
        </p:txBody>
      </p:sp>
      <p:sp>
        <p:nvSpPr>
          <p:cNvPr id="17" name="Shape 14"/>
          <p:cNvSpPr/>
          <p:nvPr/>
        </p:nvSpPr>
        <p:spPr>
          <a:xfrm>
            <a:off x="11393424" y="4154576"/>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4154576"/>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4154576"/>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جمع‌ها</a:t>
            </a:r>
            <a:endParaRPr lang="en-US" sz="1400" dirty="0"/>
          </a:p>
        </p:txBody>
      </p:sp>
      <p:sp>
        <p:nvSpPr>
          <p:cNvPr id="20" name="Text 17"/>
          <p:cNvSpPr txBox="1"/>
          <p:nvPr/>
        </p:nvSpPr>
        <p:spPr>
          <a:xfrm>
            <a:off x="8046720" y="4483760"/>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ستون کنار: ناخالص، تخفیف کلی، مشمول، مالیات و قابل پرداخت — محاسبهٔ سرور.</a:t>
            </a:r>
            <a:endParaRPr lang="en-US" sz="1300" dirty="0"/>
          </a:p>
        </p:txBody>
      </p:sp>
      <p:sp>
        <p:nvSpPr>
          <p:cNvPr id="21" name="Shape 18"/>
          <p:cNvSpPr/>
          <p:nvPr/>
        </p:nvSpPr>
        <p:spPr>
          <a:xfrm>
            <a:off x="11393424" y="5069891"/>
            <a:ext cx="347472" cy="347472"/>
          </a:xfrm>
          <a:prstGeom prst="ellipse">
            <a:avLst/>
          </a:prstGeom>
          <a:solidFill>
            <a:srgbClr val="C9A227"/>
          </a:solidFill>
          <a:ln w="12700">
            <a:solidFill>
              <a:srgbClr val="C9A227"/>
            </a:solidFill>
            <a:prstDash val="solid"/>
          </a:ln>
        </p:spPr>
      </p:sp>
      <p:sp>
        <p:nvSpPr>
          <p:cNvPr id="22" name="Text 19"/>
          <p:cNvSpPr txBox="1"/>
          <p:nvPr/>
        </p:nvSpPr>
        <p:spPr>
          <a:xfrm>
            <a:off x="11393424" y="5069891"/>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23" name="Text 20"/>
          <p:cNvSpPr txBox="1"/>
          <p:nvPr/>
        </p:nvSpPr>
        <p:spPr>
          <a:xfrm>
            <a:off x="8046720" y="5069891"/>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کنترل‌ها و ثبت</a:t>
            </a:r>
            <a:endParaRPr lang="en-US" sz="1400" dirty="0"/>
          </a:p>
        </p:txBody>
      </p:sp>
      <p:sp>
        <p:nvSpPr>
          <p:cNvPr id="24" name="Text 21"/>
          <p:cNvSpPr txBox="1"/>
          <p:nvPr/>
        </p:nvSpPr>
        <p:spPr>
          <a:xfrm>
            <a:off x="8046720" y="5399075"/>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هشدار تخفیف یا اعتبار ⇐ «ثبت و ارسال برای تأیید»؛ یا «ذخیرهٔ پیش‌نویس».</a:t>
            </a:r>
            <a:endParaRPr lang="en-US" sz="1300" dirty="0"/>
          </a:p>
        </p:txBody>
      </p:sp>
      <p:sp>
        <p:nvSpPr>
          <p:cNvPr id="25" name="Text 22"/>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فروش</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۷ — تأیید یا رد سند</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sl08">    </p:cNvPr>
          <p:cNvPicPr>
            <a:picLocks noChangeAspect="1"/>
          </p:cNvPicPr>
          <p:nvPr/>
        </p:nvPicPr>
        <p:blipFill>
          <a:blip r:embed="rId1"/>
          <a:stretch>
            <a:fillRect/>
          </a:stretch>
        </p:blipFill>
        <p:spPr>
          <a:xfrm>
            <a:off x="484632" y="1470101"/>
            <a:ext cx="7260336" cy="4557878"/>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مراحل</a:t>
            </a:r>
            <a:endParaRPr lang="en-US" sz="1400" dirty="0"/>
          </a:p>
        </p:txBody>
      </p:sp>
      <p:sp>
        <p:nvSpPr>
          <p:cNvPr id="8" name="Text 5"/>
          <p:cNvSpPr txBox="1"/>
          <p:nvPr/>
        </p:nvSpPr>
        <p:spPr>
          <a:xfrm>
            <a:off x="8046720" y="151790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نوار بالا مرحلهٔ سند را نشان می‌دهد: پیش‌نویس، در انتظار تأیید، تأییدشده.</a:t>
            </a:r>
            <a:endParaRPr lang="en-US" sz="1300" dirty="0"/>
          </a:p>
        </p:txBody>
      </p:sp>
      <p:sp>
        <p:nvSpPr>
          <p:cNvPr id="9" name="Shape 6"/>
          <p:cNvSpPr/>
          <p:nvPr/>
        </p:nvSpPr>
        <p:spPr>
          <a:xfrm>
            <a:off x="11393424" y="2104034"/>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10403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10403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دلیل ارجاع</a:t>
            </a:r>
            <a:endParaRPr lang="en-US" sz="1400" dirty="0"/>
          </a:p>
        </p:txBody>
      </p:sp>
      <p:sp>
        <p:nvSpPr>
          <p:cNvPr id="12" name="Text 9"/>
          <p:cNvSpPr txBox="1"/>
          <p:nvPr/>
        </p:nvSpPr>
        <p:spPr>
          <a:xfrm>
            <a:off x="8046720" y="2433218"/>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کادر زرد علت ارجاع را می‌گوید، مثل تخفیف بیش از آستانه.</a:t>
            </a:r>
            <a:endParaRPr lang="en-US" sz="1300" dirty="0"/>
          </a:p>
        </p:txBody>
      </p:sp>
      <p:sp>
        <p:nvSpPr>
          <p:cNvPr id="13" name="Shape 10"/>
          <p:cNvSpPr/>
          <p:nvPr/>
        </p:nvSpPr>
        <p:spPr>
          <a:xfrm>
            <a:off x="11393424" y="3019349"/>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019349"/>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019349"/>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تأیید</a:t>
            </a:r>
            <a:endParaRPr lang="en-US" sz="1400" dirty="0"/>
          </a:p>
        </p:txBody>
      </p:sp>
      <p:sp>
        <p:nvSpPr>
          <p:cNvPr id="16" name="Text 13"/>
          <p:cNvSpPr txBox="1"/>
          <p:nvPr/>
        </p:nvSpPr>
        <p:spPr>
          <a:xfrm>
            <a:off x="8046720" y="3348533"/>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مدیر فروش «تأیید» می‌زند؛ با تفکیک وظایف، ایجادکننده نمی‌تواند سند خودش را تأیید کند.</a:t>
            </a:r>
            <a:endParaRPr lang="en-US" sz="1300" dirty="0"/>
          </a:p>
        </p:txBody>
      </p:sp>
      <p:sp>
        <p:nvSpPr>
          <p:cNvPr id="17" name="Shape 14"/>
          <p:cNvSpPr/>
          <p:nvPr/>
        </p:nvSpPr>
        <p:spPr>
          <a:xfrm>
            <a:off x="11393424" y="4154576"/>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4154576"/>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4154576"/>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رد</a:t>
            </a:r>
            <a:endParaRPr lang="en-US" sz="1400" dirty="0"/>
          </a:p>
        </p:txBody>
      </p:sp>
      <p:sp>
        <p:nvSpPr>
          <p:cNvPr id="20" name="Text 17"/>
          <p:cNvSpPr txBox="1"/>
          <p:nvPr/>
        </p:nvSpPr>
        <p:spPr>
          <a:xfrm>
            <a:off x="8046720" y="4483760"/>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«رد و بازگشت به پیش‌نویس» با دلیل اختیاری؛ کارشناس اصلاح و دوباره ثبت می‌کند.</a:t>
            </a:r>
            <a:endParaRPr lang="en-US" sz="1300" dirty="0"/>
          </a:p>
        </p:txBody>
      </p:sp>
      <p:sp>
        <p:nvSpPr>
          <p:cNvPr id="21" name="Shape 18"/>
          <p:cNvSpPr/>
          <p:nvPr/>
        </p:nvSpPr>
        <p:spPr>
          <a:xfrm>
            <a:off x="11393424" y="5289804"/>
            <a:ext cx="347472" cy="347472"/>
          </a:xfrm>
          <a:prstGeom prst="ellipse">
            <a:avLst/>
          </a:prstGeom>
          <a:solidFill>
            <a:srgbClr val="C9A227"/>
          </a:solidFill>
          <a:ln w="12700">
            <a:solidFill>
              <a:srgbClr val="C9A227"/>
            </a:solidFill>
            <a:prstDash val="solid"/>
          </a:ln>
        </p:spPr>
      </p:sp>
      <p:sp>
        <p:nvSpPr>
          <p:cNvPr id="22" name="Text 19"/>
          <p:cNvSpPr txBox="1"/>
          <p:nvPr/>
        </p:nvSpPr>
        <p:spPr>
          <a:xfrm>
            <a:off x="11393424" y="528980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۵</a:t>
            </a:r>
            <a:endParaRPr lang="en-US" sz="1300" dirty="0"/>
          </a:p>
        </p:txBody>
      </p:sp>
      <p:sp>
        <p:nvSpPr>
          <p:cNvPr id="23" name="Text 20"/>
          <p:cNvSpPr txBox="1"/>
          <p:nvPr/>
        </p:nvSpPr>
        <p:spPr>
          <a:xfrm>
            <a:off x="8046720" y="528980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زنجیره و تاریخچه</a:t>
            </a:r>
            <a:endParaRPr lang="en-US" sz="1400" dirty="0"/>
          </a:p>
        </p:txBody>
      </p:sp>
      <p:sp>
        <p:nvSpPr>
          <p:cNvPr id="24" name="Text 21"/>
          <p:cNvSpPr txBox="1"/>
          <p:nvPr/>
        </p:nvSpPr>
        <p:spPr>
          <a:xfrm>
            <a:off x="8046720" y="5618988"/>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ستون کنار: کنترل‌ها، زنجیرهٔ اسناد مبدأ و مقصد، و تاریخچهٔ اقدام‌ها.</a:t>
            </a:r>
            <a:endParaRPr lang="en-US" sz="1300" dirty="0"/>
          </a:p>
        </p:txBody>
      </p:sp>
      <p:sp>
        <p:nvSpPr>
          <p:cNvPr id="25" name="Text 22"/>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فروش</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۸ — تبدیل سند: سفارش، حواله و فاکتور</a:t>
            </a:r>
            <a:endParaRPr lang="en-US" sz="2600" dirty="0"/>
          </a:p>
        </p:txBody>
      </p:sp>
      <p:sp>
        <p:nvSpPr>
          <p:cNvPr id="3" name="Text 1"/>
          <p:cNvSpPr txBox="1"/>
          <p:nvPr/>
        </p:nvSpPr>
        <p:spPr>
          <a:xfrm>
            <a:off x="6208776"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سفارش تأییدشده و دکمه‌های صدور</a:t>
            </a:r>
            <a:endParaRPr lang="en-US" sz="1200" dirty="0"/>
          </a:p>
        </p:txBody>
      </p:sp>
      <p:sp>
        <p:nvSpPr>
          <p:cNvPr id="4" name="Shape 2"/>
          <p:cNvSpPr/>
          <p:nvPr/>
        </p:nvSpPr>
        <p:spPr>
          <a:xfrm>
            <a:off x="6208776" y="1618488"/>
            <a:ext cx="5568696" cy="2318918"/>
          </a:xfrm>
          <a:prstGeom prst="roundRect">
            <a:avLst>
              <a:gd name="adj" fmla="val 31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5" name="Image 0" descr="sl09s">    </p:cNvPr>
          <p:cNvPicPr>
            <a:picLocks noChangeAspect="1"/>
          </p:cNvPicPr>
          <p:nvPr/>
        </p:nvPicPr>
        <p:blipFill>
          <a:blip r:embed="rId1"/>
          <a:stretch>
            <a:fillRect/>
          </a:stretch>
        </p:blipFill>
        <p:spPr>
          <a:xfrm>
            <a:off x="6254496" y="1712925"/>
            <a:ext cx="5477256" cy="2130044"/>
          </a:xfrm>
          <a:prstGeom prst="rect">
            <a:avLst/>
          </a:prstGeom>
        </p:spPr>
      </p:pic>
      <p:sp>
        <p:nvSpPr>
          <p:cNvPr id="6" name="Text 3"/>
          <p:cNvSpPr txBox="1"/>
          <p:nvPr/>
        </p:nvSpPr>
        <p:spPr>
          <a:xfrm>
            <a:off x="411480"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فاکتور صادرشده از حواله</a:t>
            </a:r>
            <a:endParaRPr lang="en-US" sz="1200" dirty="0"/>
          </a:p>
        </p:txBody>
      </p:sp>
      <p:sp>
        <p:nvSpPr>
          <p:cNvPr id="7" name="Shape 4"/>
          <p:cNvSpPr/>
          <p:nvPr/>
        </p:nvSpPr>
        <p:spPr>
          <a:xfrm>
            <a:off x="411480" y="1618488"/>
            <a:ext cx="5568696" cy="2318918"/>
          </a:xfrm>
          <a:prstGeom prst="roundRect">
            <a:avLst>
              <a:gd name="adj" fmla="val 3155"/>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8" name="Image 1" descr="sl10s">    </p:cNvPr>
          <p:cNvPicPr>
            <a:picLocks noChangeAspect="1"/>
          </p:cNvPicPr>
          <p:nvPr/>
        </p:nvPicPr>
        <p:blipFill>
          <a:blip r:embed="rId2"/>
          <a:stretch>
            <a:fillRect/>
          </a:stretch>
        </p:blipFill>
        <p:spPr>
          <a:xfrm>
            <a:off x="457200" y="1682496"/>
            <a:ext cx="5477256" cy="2190902"/>
          </a:xfrm>
          <a:prstGeom prst="rect">
            <a:avLst/>
          </a:prstGeom>
        </p:spPr>
      </p:pic>
      <p:sp>
        <p:nvSpPr>
          <p:cNvPr id="9" name="Shape 5"/>
          <p:cNvSpPr/>
          <p:nvPr/>
        </p:nvSpPr>
        <p:spPr>
          <a:xfrm>
            <a:off x="9038844" y="4120286"/>
            <a:ext cx="2738628" cy="1439266"/>
          </a:xfrm>
          <a:prstGeom prst="roundRect">
            <a:avLst>
              <a:gd name="adj" fmla="val 5083"/>
            </a:avLst>
          </a:prstGeom>
          <a:solidFill>
            <a:srgbClr val="FFFFFF"/>
          </a:solidFill>
          <a:ln w="6350">
            <a:solidFill>
              <a:srgbClr val="D9DEE7"/>
            </a:solidFill>
            <a:prstDash val="solid"/>
          </a:ln>
        </p:spPr>
      </p:sp>
      <p:sp>
        <p:nvSpPr>
          <p:cNvPr id="10" name="Shape 6"/>
          <p:cNvSpPr/>
          <p:nvPr/>
        </p:nvSpPr>
        <p:spPr>
          <a:xfrm>
            <a:off x="11347704" y="4211726"/>
            <a:ext cx="329184" cy="329184"/>
          </a:xfrm>
          <a:prstGeom prst="ellipse">
            <a:avLst/>
          </a:prstGeom>
          <a:solidFill>
            <a:srgbClr val="C9A227"/>
          </a:solidFill>
          <a:ln w="12700">
            <a:solidFill>
              <a:srgbClr val="C9A227"/>
            </a:solidFill>
            <a:prstDash val="solid"/>
          </a:ln>
        </p:spPr>
      </p:sp>
      <p:sp>
        <p:nvSpPr>
          <p:cNvPr id="11" name="Text 7"/>
          <p:cNvSpPr txBox="1"/>
          <p:nvPr/>
        </p:nvSpPr>
        <p:spPr>
          <a:xfrm>
            <a:off x="11347704" y="4211726"/>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12" name="Text 8"/>
          <p:cNvSpPr txBox="1"/>
          <p:nvPr/>
        </p:nvSpPr>
        <p:spPr>
          <a:xfrm>
            <a:off x="9130284" y="4193438"/>
            <a:ext cx="2171700"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ترتیب</a:t>
            </a:r>
            <a:endParaRPr lang="en-US" sz="1300" dirty="0"/>
          </a:p>
        </p:txBody>
      </p:sp>
      <p:sp>
        <p:nvSpPr>
          <p:cNvPr id="13" name="Text 9"/>
          <p:cNvSpPr txBox="1"/>
          <p:nvPr/>
        </p:nvSpPr>
        <p:spPr>
          <a:xfrm>
            <a:off x="9148572" y="4595774"/>
            <a:ext cx="2519172" cy="908914"/>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پیش‌فاکتور ← سفارش ← حواله (کالا) ← فاکتور ← برگشت.</a:t>
            </a:r>
            <a:endParaRPr lang="en-US" sz="1200" dirty="0"/>
          </a:p>
        </p:txBody>
      </p:sp>
      <p:sp>
        <p:nvSpPr>
          <p:cNvPr id="14" name="Shape 10"/>
          <p:cNvSpPr/>
          <p:nvPr/>
        </p:nvSpPr>
        <p:spPr>
          <a:xfrm>
            <a:off x="6163056" y="4120286"/>
            <a:ext cx="2738628" cy="1439266"/>
          </a:xfrm>
          <a:prstGeom prst="roundRect">
            <a:avLst>
              <a:gd name="adj" fmla="val 5083"/>
            </a:avLst>
          </a:prstGeom>
          <a:solidFill>
            <a:srgbClr val="FFFFFF"/>
          </a:solidFill>
          <a:ln w="6350">
            <a:solidFill>
              <a:srgbClr val="D9DEE7"/>
            </a:solidFill>
            <a:prstDash val="solid"/>
          </a:ln>
        </p:spPr>
      </p:sp>
      <p:sp>
        <p:nvSpPr>
          <p:cNvPr id="15" name="Shape 11"/>
          <p:cNvSpPr/>
          <p:nvPr/>
        </p:nvSpPr>
        <p:spPr>
          <a:xfrm>
            <a:off x="8471916" y="4211726"/>
            <a:ext cx="329184" cy="329184"/>
          </a:xfrm>
          <a:prstGeom prst="ellipse">
            <a:avLst/>
          </a:prstGeom>
          <a:solidFill>
            <a:srgbClr val="C9A227"/>
          </a:solidFill>
          <a:ln w="12700">
            <a:solidFill>
              <a:srgbClr val="C9A227"/>
            </a:solidFill>
            <a:prstDash val="solid"/>
          </a:ln>
        </p:spPr>
      </p:sp>
      <p:sp>
        <p:nvSpPr>
          <p:cNvPr id="16" name="Text 12"/>
          <p:cNvSpPr txBox="1"/>
          <p:nvPr/>
        </p:nvSpPr>
        <p:spPr>
          <a:xfrm>
            <a:off x="8471916" y="4211726"/>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7" name="Text 13"/>
          <p:cNvSpPr txBox="1"/>
          <p:nvPr/>
        </p:nvSpPr>
        <p:spPr>
          <a:xfrm>
            <a:off x="6254496" y="4193438"/>
            <a:ext cx="2171700"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دکمهٔ صدور</a:t>
            </a:r>
            <a:endParaRPr lang="en-US" sz="1300" dirty="0"/>
          </a:p>
        </p:txBody>
      </p:sp>
      <p:sp>
        <p:nvSpPr>
          <p:cNvPr id="18" name="Text 14"/>
          <p:cNvSpPr txBox="1"/>
          <p:nvPr/>
        </p:nvSpPr>
        <p:spPr>
          <a:xfrm>
            <a:off x="6272784" y="4595774"/>
            <a:ext cx="2519172" cy="908914"/>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در سند تأییدشده «صدور …» را بزنید؛ دکمهٔ غیرفعال دلیلش را زیر نوار می‌گوید.</a:t>
            </a:r>
            <a:endParaRPr lang="en-US" sz="1200" dirty="0"/>
          </a:p>
        </p:txBody>
      </p:sp>
      <p:sp>
        <p:nvSpPr>
          <p:cNvPr id="19" name="Shape 15"/>
          <p:cNvSpPr/>
          <p:nvPr/>
        </p:nvSpPr>
        <p:spPr>
          <a:xfrm>
            <a:off x="3287268" y="4120286"/>
            <a:ext cx="2738628" cy="1439266"/>
          </a:xfrm>
          <a:prstGeom prst="roundRect">
            <a:avLst>
              <a:gd name="adj" fmla="val 5083"/>
            </a:avLst>
          </a:prstGeom>
          <a:solidFill>
            <a:srgbClr val="FFFFFF"/>
          </a:solidFill>
          <a:ln w="6350">
            <a:solidFill>
              <a:srgbClr val="D9DEE7"/>
            </a:solidFill>
            <a:prstDash val="solid"/>
          </a:ln>
        </p:spPr>
      </p:sp>
      <p:sp>
        <p:nvSpPr>
          <p:cNvPr id="20" name="Shape 16"/>
          <p:cNvSpPr/>
          <p:nvPr/>
        </p:nvSpPr>
        <p:spPr>
          <a:xfrm>
            <a:off x="5596128" y="4211726"/>
            <a:ext cx="329184" cy="329184"/>
          </a:xfrm>
          <a:prstGeom prst="ellipse">
            <a:avLst/>
          </a:prstGeom>
          <a:solidFill>
            <a:srgbClr val="C9A227"/>
          </a:solidFill>
          <a:ln w="12700">
            <a:solidFill>
              <a:srgbClr val="C9A227"/>
            </a:solidFill>
            <a:prstDash val="solid"/>
          </a:ln>
        </p:spPr>
      </p:sp>
      <p:sp>
        <p:nvSpPr>
          <p:cNvPr id="21" name="Text 17"/>
          <p:cNvSpPr txBox="1"/>
          <p:nvPr/>
        </p:nvSpPr>
        <p:spPr>
          <a:xfrm>
            <a:off x="5596128" y="4211726"/>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22" name="Text 18"/>
          <p:cNvSpPr txBox="1"/>
          <p:nvPr/>
        </p:nvSpPr>
        <p:spPr>
          <a:xfrm>
            <a:off x="3378708" y="4193438"/>
            <a:ext cx="2171700"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خدمات</a:t>
            </a:r>
            <a:endParaRPr lang="en-US" sz="1300" dirty="0"/>
          </a:p>
        </p:txBody>
      </p:sp>
      <p:sp>
        <p:nvSpPr>
          <p:cNvPr id="23" name="Text 19"/>
          <p:cNvSpPr txBox="1"/>
          <p:nvPr/>
        </p:nvSpPr>
        <p:spPr>
          <a:xfrm>
            <a:off x="3396996" y="4595774"/>
            <a:ext cx="2519172" cy="908914"/>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سفارش خدمت مستقیم به فاکتور تبدیل می‌شود؛ کالا اول حواله می‌خواهد مگر «فاکتور پیش از تحویل» روشن باشد.</a:t>
            </a:r>
            <a:endParaRPr lang="en-US" sz="1200" dirty="0"/>
          </a:p>
        </p:txBody>
      </p:sp>
      <p:sp>
        <p:nvSpPr>
          <p:cNvPr id="24" name="Shape 20"/>
          <p:cNvSpPr/>
          <p:nvPr/>
        </p:nvSpPr>
        <p:spPr>
          <a:xfrm>
            <a:off x="411480" y="4120286"/>
            <a:ext cx="2738628" cy="1439266"/>
          </a:xfrm>
          <a:prstGeom prst="roundRect">
            <a:avLst>
              <a:gd name="adj" fmla="val 5083"/>
            </a:avLst>
          </a:prstGeom>
          <a:solidFill>
            <a:srgbClr val="FFFFFF"/>
          </a:solidFill>
          <a:ln w="6350">
            <a:solidFill>
              <a:srgbClr val="D9DEE7"/>
            </a:solidFill>
            <a:prstDash val="solid"/>
          </a:ln>
        </p:spPr>
      </p:sp>
      <p:sp>
        <p:nvSpPr>
          <p:cNvPr id="25" name="Shape 21"/>
          <p:cNvSpPr/>
          <p:nvPr/>
        </p:nvSpPr>
        <p:spPr>
          <a:xfrm>
            <a:off x="2720340" y="4211726"/>
            <a:ext cx="329184" cy="329184"/>
          </a:xfrm>
          <a:prstGeom prst="ellipse">
            <a:avLst/>
          </a:prstGeom>
          <a:solidFill>
            <a:srgbClr val="C9A227"/>
          </a:solidFill>
          <a:ln w="12700">
            <a:solidFill>
              <a:srgbClr val="C9A227"/>
            </a:solidFill>
            <a:prstDash val="solid"/>
          </a:ln>
        </p:spPr>
      </p:sp>
      <p:sp>
        <p:nvSpPr>
          <p:cNvPr id="26" name="Text 22"/>
          <p:cNvSpPr txBox="1"/>
          <p:nvPr/>
        </p:nvSpPr>
        <p:spPr>
          <a:xfrm>
            <a:off x="2720340" y="4211726"/>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7" name="Text 23"/>
          <p:cNvSpPr txBox="1"/>
          <p:nvPr/>
        </p:nvSpPr>
        <p:spPr>
          <a:xfrm>
            <a:off x="502920" y="4193438"/>
            <a:ext cx="2171700"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تحویل جزئی</a:t>
            </a:r>
            <a:endParaRPr lang="en-US" sz="1300" dirty="0"/>
          </a:p>
        </p:txBody>
      </p:sp>
      <p:sp>
        <p:nvSpPr>
          <p:cNvPr id="28" name="Text 24"/>
          <p:cNvSpPr txBox="1"/>
          <p:nvPr/>
        </p:nvSpPr>
        <p:spPr>
          <a:xfrm>
            <a:off x="521208" y="4595774"/>
            <a:ext cx="2519172" cy="908914"/>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مقدار را کم کنید تا حواله یا فاکتور جزئی صادر شود؛ باقی‌مانده برای سند بعدی می‌ماند.</a:t>
            </a:r>
            <a:endParaRPr lang="en-US" sz="1200" dirty="0"/>
          </a:p>
        </p:txBody>
      </p:sp>
      <p:sp>
        <p:nvSpPr>
          <p:cNvPr id="29" name="Shape 25"/>
          <p:cNvSpPr/>
          <p:nvPr/>
        </p:nvSpPr>
        <p:spPr>
          <a:xfrm>
            <a:off x="411480" y="5696712"/>
            <a:ext cx="11365992" cy="658368"/>
          </a:xfrm>
          <a:prstGeom prst="roundRect">
            <a:avLst>
              <a:gd name="adj" fmla="val 11111"/>
            </a:avLst>
          </a:prstGeom>
          <a:solidFill>
            <a:srgbClr val="F6EDCF"/>
          </a:solidFill>
          <a:ln w="9525">
            <a:solidFill>
              <a:srgbClr val="C9A227"/>
            </a:solidFill>
            <a:prstDash val="solid"/>
          </a:ln>
        </p:spPr>
      </p:sp>
      <p:sp>
        <p:nvSpPr>
          <p:cNvPr id="30" name="Text 26"/>
          <p:cNvSpPr txBox="1"/>
          <p:nvPr/>
        </p:nvSpPr>
        <p:spPr>
          <a:xfrm>
            <a:off x="10954512" y="5696712"/>
            <a:ext cx="731520" cy="658368"/>
          </a:xfrm>
          <a:prstGeom prst="rect">
            <a:avLst/>
          </a:prstGeom>
          <a:noFill/>
          <a:ln/>
        </p:spPr>
        <p:txBody>
          <a:bodyPr wrap="square" lIns="0" tIns="0" rIns="0" bIns="0" rtlCol="0" anchor="ctr"/>
          <a:lstStyle/>
          <a:p>
            <a:pPr rtl="1" algn="r" indent="0" marL="0">
              <a:buNone/>
            </a:pPr>
            <a:r>
              <a:rPr lang="en-US" sz="1400" b="1" dirty="0">
                <a:solidFill>
                  <a:srgbClr val="6B5410"/>
                </a:solidFill>
                <a:latin typeface="Tahoma" pitchFamily="34" charset="0"/>
                <a:ea typeface="Tahoma" pitchFamily="34" charset="-122"/>
                <a:cs typeface="Tahoma" pitchFamily="34" charset="-120"/>
              </a:rPr>
              <a:t>نکته</a:t>
            </a:r>
            <a:endParaRPr lang="en-US" sz="1400" dirty="0"/>
          </a:p>
        </p:txBody>
      </p:sp>
      <p:sp>
        <p:nvSpPr>
          <p:cNvPr id="31" name="Text 27"/>
          <p:cNvSpPr txBox="1"/>
          <p:nvPr/>
        </p:nvSpPr>
        <p:spPr>
          <a:xfrm>
            <a:off x="548640" y="5696712"/>
            <a:ext cx="10360152" cy="658368"/>
          </a:xfrm>
          <a:prstGeom prst="rect">
            <a:avLst/>
          </a:prstGeom>
          <a:noFill/>
          <a:ln/>
        </p:spPr>
        <p:txBody>
          <a:bodyPr wrap="square" lIns="0" tIns="0" rIns="0" bIns="0" rtlCol="0" anchor="ctr"/>
          <a:lstStyle/>
          <a:p>
            <a:pPr rtl="1" algn="r" indent="0" marL="0">
              <a:buNone/>
            </a:pPr>
            <a:r>
              <a:rPr lang="en-US" sz="1300" dirty="0">
                <a:solidFill>
                  <a:srgbClr val="4A3B0B"/>
                </a:solidFill>
                <a:latin typeface="Tahoma" pitchFamily="34" charset="0"/>
                <a:ea typeface="Tahoma" pitchFamily="34" charset="-122"/>
                <a:cs typeface="Tahoma" pitchFamily="34" charset="-120"/>
              </a:rPr>
              <a:t>سند تبدیلی مشتری، کالا و قیمت را از مبدأ می‌گیرد و فقط مقدار کم می‌شود؛ سرور مقدار بیش از باقی‌ماندهٔ مبدأ را رد می‌کند.</a:t>
            </a:r>
            <a:endParaRPr lang="en-US" sz="1300" dirty="0"/>
          </a:p>
        </p:txBody>
      </p:sp>
      <p:sp>
        <p:nvSpPr>
          <p:cNvPr id="32" name="Text 28"/>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فروش</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۹ — قطعی‌سازی و سند حسابداری</a:t>
            </a:r>
            <a:endParaRPr lang="en-US" sz="2600" dirty="0"/>
          </a:p>
        </p:txBody>
      </p:sp>
      <p:sp>
        <p:nvSpPr>
          <p:cNvPr id="3" name="Text 1"/>
          <p:cNvSpPr txBox="1"/>
          <p:nvPr/>
        </p:nvSpPr>
        <p:spPr>
          <a:xfrm>
            <a:off x="6208776"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پیش‌نمایش سند حسابداری فاکتور</a:t>
            </a:r>
            <a:endParaRPr lang="en-US" sz="1200" dirty="0"/>
          </a:p>
        </p:txBody>
      </p:sp>
      <p:sp>
        <p:nvSpPr>
          <p:cNvPr id="4" name="Shape 2"/>
          <p:cNvSpPr/>
          <p:nvPr/>
        </p:nvSpPr>
        <p:spPr>
          <a:xfrm>
            <a:off x="6208776" y="1618488"/>
            <a:ext cx="5568696" cy="2336477"/>
          </a:xfrm>
          <a:prstGeom prst="roundRect">
            <a:avLst>
              <a:gd name="adj" fmla="val 3131"/>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5" name="Image 0" descr="sl11s">    </p:cNvPr>
          <p:cNvPicPr>
            <a:picLocks noChangeAspect="1"/>
          </p:cNvPicPr>
          <p:nvPr/>
        </p:nvPicPr>
        <p:blipFill>
          <a:blip r:embed="rId1"/>
          <a:stretch>
            <a:fillRect/>
          </a:stretch>
        </p:blipFill>
        <p:spPr>
          <a:xfrm>
            <a:off x="6254496" y="2056426"/>
            <a:ext cx="5477256" cy="1460602"/>
          </a:xfrm>
          <a:prstGeom prst="rect">
            <a:avLst/>
          </a:prstGeom>
        </p:spPr>
      </p:pic>
      <p:sp>
        <p:nvSpPr>
          <p:cNvPr id="6" name="Text 3"/>
          <p:cNvSpPr txBox="1"/>
          <p:nvPr/>
        </p:nvSpPr>
        <p:spPr>
          <a:xfrm>
            <a:off x="411480" y="1325880"/>
            <a:ext cx="5568696" cy="274320"/>
          </a:xfrm>
          <a:prstGeom prst="rect">
            <a:avLst/>
          </a:prstGeom>
          <a:noFill/>
          <a:ln/>
        </p:spPr>
        <p:txBody>
          <a:bodyPr wrap="square" lIns="0" tIns="0" rIns="0" bIns="0" rtlCol="0" anchor="ctr"/>
          <a:lstStyle/>
          <a:p>
            <a:pPr rtl="1" algn="r" indent="0" marL="0">
              <a:buNone/>
            </a:pPr>
            <a:r>
              <a:rPr lang="en-US" sz="1200" b="1" dirty="0">
                <a:solidFill>
                  <a:srgbClr val="5B6678"/>
                </a:solidFill>
                <a:latin typeface="Tahoma" pitchFamily="34" charset="0"/>
                <a:ea typeface="Tahoma" pitchFamily="34" charset="-122"/>
                <a:cs typeface="Tahoma" pitchFamily="34" charset="-120"/>
              </a:rPr>
              <a:t>تأیید قطعی‌سازی</a:t>
            </a:r>
            <a:endParaRPr lang="en-US" sz="1200" dirty="0"/>
          </a:p>
        </p:txBody>
      </p:sp>
      <p:sp>
        <p:nvSpPr>
          <p:cNvPr id="7" name="Shape 4"/>
          <p:cNvSpPr/>
          <p:nvPr/>
        </p:nvSpPr>
        <p:spPr>
          <a:xfrm>
            <a:off x="411480" y="1618488"/>
            <a:ext cx="5568696" cy="2336477"/>
          </a:xfrm>
          <a:prstGeom prst="roundRect">
            <a:avLst>
              <a:gd name="adj" fmla="val 3131"/>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8" name="Image 1" descr="sl12">    </p:cNvPr>
          <p:cNvPicPr>
            <a:picLocks noChangeAspect="1"/>
          </p:cNvPicPr>
          <p:nvPr/>
        </p:nvPicPr>
        <p:blipFill>
          <a:blip r:embed="rId2"/>
          <a:stretch>
            <a:fillRect/>
          </a:stretch>
        </p:blipFill>
        <p:spPr>
          <a:xfrm>
            <a:off x="457200" y="1682640"/>
            <a:ext cx="5477256" cy="2208173"/>
          </a:xfrm>
          <a:prstGeom prst="rect">
            <a:avLst/>
          </a:prstGeom>
        </p:spPr>
      </p:pic>
      <p:sp>
        <p:nvSpPr>
          <p:cNvPr id="9" name="Shape 5"/>
          <p:cNvSpPr/>
          <p:nvPr/>
        </p:nvSpPr>
        <p:spPr>
          <a:xfrm>
            <a:off x="9038844" y="4137845"/>
            <a:ext cx="2738628" cy="1421707"/>
          </a:xfrm>
          <a:prstGeom prst="roundRect">
            <a:avLst>
              <a:gd name="adj" fmla="val 5145"/>
            </a:avLst>
          </a:prstGeom>
          <a:solidFill>
            <a:srgbClr val="FFFFFF"/>
          </a:solidFill>
          <a:ln w="6350">
            <a:solidFill>
              <a:srgbClr val="D9DEE7"/>
            </a:solidFill>
            <a:prstDash val="solid"/>
          </a:ln>
        </p:spPr>
      </p:sp>
      <p:sp>
        <p:nvSpPr>
          <p:cNvPr id="10" name="Shape 6"/>
          <p:cNvSpPr/>
          <p:nvPr/>
        </p:nvSpPr>
        <p:spPr>
          <a:xfrm>
            <a:off x="11347704" y="4229285"/>
            <a:ext cx="329184" cy="329184"/>
          </a:xfrm>
          <a:prstGeom prst="ellipse">
            <a:avLst/>
          </a:prstGeom>
          <a:solidFill>
            <a:srgbClr val="C9A227"/>
          </a:solidFill>
          <a:ln w="12700">
            <a:solidFill>
              <a:srgbClr val="C9A227"/>
            </a:solidFill>
            <a:prstDash val="solid"/>
          </a:ln>
        </p:spPr>
      </p:sp>
      <p:sp>
        <p:nvSpPr>
          <p:cNvPr id="11" name="Text 7"/>
          <p:cNvSpPr txBox="1"/>
          <p:nvPr/>
        </p:nvSpPr>
        <p:spPr>
          <a:xfrm>
            <a:off x="11347704" y="4229285"/>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12" name="Text 8"/>
          <p:cNvSpPr txBox="1"/>
          <p:nvPr/>
        </p:nvSpPr>
        <p:spPr>
          <a:xfrm>
            <a:off x="9130284" y="4210997"/>
            <a:ext cx="2171700"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پیش‌نمایش</a:t>
            </a:r>
            <a:endParaRPr lang="en-US" sz="1300" dirty="0"/>
          </a:p>
        </p:txBody>
      </p:sp>
      <p:sp>
        <p:nvSpPr>
          <p:cNvPr id="13" name="Text 9"/>
          <p:cNvSpPr txBox="1"/>
          <p:nvPr/>
        </p:nvSpPr>
        <p:spPr>
          <a:xfrm>
            <a:off x="9148572" y="4613333"/>
            <a:ext cx="2519172" cy="891355"/>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پیش از قطعی‌سازی، ردیف‌های سند حسابداری با حساب، تفصیلی، شرح و برچسب «سند تراز است» دیده می‌شود.</a:t>
            </a:r>
            <a:endParaRPr lang="en-US" sz="1200" dirty="0"/>
          </a:p>
        </p:txBody>
      </p:sp>
      <p:sp>
        <p:nvSpPr>
          <p:cNvPr id="14" name="Shape 10"/>
          <p:cNvSpPr/>
          <p:nvPr/>
        </p:nvSpPr>
        <p:spPr>
          <a:xfrm>
            <a:off x="6163056" y="4137845"/>
            <a:ext cx="2738628" cy="1421707"/>
          </a:xfrm>
          <a:prstGeom prst="roundRect">
            <a:avLst>
              <a:gd name="adj" fmla="val 5145"/>
            </a:avLst>
          </a:prstGeom>
          <a:solidFill>
            <a:srgbClr val="FFFFFF"/>
          </a:solidFill>
          <a:ln w="6350">
            <a:solidFill>
              <a:srgbClr val="D9DEE7"/>
            </a:solidFill>
            <a:prstDash val="solid"/>
          </a:ln>
        </p:spPr>
      </p:sp>
      <p:sp>
        <p:nvSpPr>
          <p:cNvPr id="15" name="Shape 11"/>
          <p:cNvSpPr/>
          <p:nvPr/>
        </p:nvSpPr>
        <p:spPr>
          <a:xfrm>
            <a:off x="8471916" y="4229285"/>
            <a:ext cx="329184" cy="329184"/>
          </a:xfrm>
          <a:prstGeom prst="ellipse">
            <a:avLst/>
          </a:prstGeom>
          <a:solidFill>
            <a:srgbClr val="C9A227"/>
          </a:solidFill>
          <a:ln w="12700">
            <a:solidFill>
              <a:srgbClr val="C9A227"/>
            </a:solidFill>
            <a:prstDash val="solid"/>
          </a:ln>
        </p:spPr>
      </p:sp>
      <p:sp>
        <p:nvSpPr>
          <p:cNvPr id="16" name="Text 12"/>
          <p:cNvSpPr txBox="1"/>
          <p:nvPr/>
        </p:nvSpPr>
        <p:spPr>
          <a:xfrm>
            <a:off x="8471916" y="4229285"/>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7" name="Text 13"/>
          <p:cNvSpPr txBox="1"/>
          <p:nvPr/>
        </p:nvSpPr>
        <p:spPr>
          <a:xfrm>
            <a:off x="6254496" y="4210997"/>
            <a:ext cx="2171700"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کنترل‌ها</a:t>
            </a:r>
            <a:endParaRPr lang="en-US" sz="1300" dirty="0"/>
          </a:p>
        </p:txBody>
      </p:sp>
      <p:sp>
        <p:nvSpPr>
          <p:cNvPr id="18" name="Text 14"/>
          <p:cNvSpPr txBox="1"/>
          <p:nvPr/>
        </p:nvSpPr>
        <p:spPr>
          <a:xfrm>
            <a:off x="6272784" y="4613333"/>
            <a:ext cx="2519172" cy="891355"/>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تراز سند، باز بودن دوره و سال مالی، و کافی بودن موجودی.</a:t>
            </a:r>
            <a:endParaRPr lang="en-US" sz="1200" dirty="0"/>
          </a:p>
        </p:txBody>
      </p:sp>
      <p:sp>
        <p:nvSpPr>
          <p:cNvPr id="19" name="Shape 15"/>
          <p:cNvSpPr/>
          <p:nvPr/>
        </p:nvSpPr>
        <p:spPr>
          <a:xfrm>
            <a:off x="3287268" y="4137845"/>
            <a:ext cx="2738628" cy="1421707"/>
          </a:xfrm>
          <a:prstGeom prst="roundRect">
            <a:avLst>
              <a:gd name="adj" fmla="val 5145"/>
            </a:avLst>
          </a:prstGeom>
          <a:solidFill>
            <a:srgbClr val="FFFFFF"/>
          </a:solidFill>
          <a:ln w="6350">
            <a:solidFill>
              <a:srgbClr val="D9DEE7"/>
            </a:solidFill>
            <a:prstDash val="solid"/>
          </a:ln>
        </p:spPr>
      </p:sp>
      <p:sp>
        <p:nvSpPr>
          <p:cNvPr id="20" name="Shape 16"/>
          <p:cNvSpPr/>
          <p:nvPr/>
        </p:nvSpPr>
        <p:spPr>
          <a:xfrm>
            <a:off x="5596128" y="4229285"/>
            <a:ext cx="329184" cy="329184"/>
          </a:xfrm>
          <a:prstGeom prst="ellipse">
            <a:avLst/>
          </a:prstGeom>
          <a:solidFill>
            <a:srgbClr val="C9A227"/>
          </a:solidFill>
          <a:ln w="12700">
            <a:solidFill>
              <a:srgbClr val="C9A227"/>
            </a:solidFill>
            <a:prstDash val="solid"/>
          </a:ln>
        </p:spPr>
      </p:sp>
      <p:sp>
        <p:nvSpPr>
          <p:cNvPr id="21" name="Text 17"/>
          <p:cNvSpPr txBox="1"/>
          <p:nvPr/>
        </p:nvSpPr>
        <p:spPr>
          <a:xfrm>
            <a:off x="5596128" y="4229285"/>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22" name="Text 18"/>
          <p:cNvSpPr txBox="1"/>
          <p:nvPr/>
        </p:nvSpPr>
        <p:spPr>
          <a:xfrm>
            <a:off x="3378708" y="4210997"/>
            <a:ext cx="2171700"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قطعی‌سازی</a:t>
            </a:r>
            <a:endParaRPr lang="en-US" sz="1300" dirty="0"/>
          </a:p>
        </p:txBody>
      </p:sp>
      <p:sp>
        <p:nvSpPr>
          <p:cNvPr id="23" name="Text 19"/>
          <p:cNvSpPr txBox="1"/>
          <p:nvPr/>
        </p:nvSpPr>
        <p:spPr>
          <a:xfrm>
            <a:off x="3396996" y="4613333"/>
            <a:ext cx="2519172" cy="891355"/>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حسابدار فروش «قطعی‌سازی و ثبت حسابداری» را می‌زند و تأیید می‌کند.</a:t>
            </a:r>
            <a:endParaRPr lang="en-US" sz="1200" dirty="0"/>
          </a:p>
        </p:txBody>
      </p:sp>
      <p:sp>
        <p:nvSpPr>
          <p:cNvPr id="24" name="Shape 20"/>
          <p:cNvSpPr/>
          <p:nvPr/>
        </p:nvSpPr>
        <p:spPr>
          <a:xfrm>
            <a:off x="411480" y="4137845"/>
            <a:ext cx="2738628" cy="1421707"/>
          </a:xfrm>
          <a:prstGeom prst="roundRect">
            <a:avLst>
              <a:gd name="adj" fmla="val 5145"/>
            </a:avLst>
          </a:prstGeom>
          <a:solidFill>
            <a:srgbClr val="FFFFFF"/>
          </a:solidFill>
          <a:ln w="6350">
            <a:solidFill>
              <a:srgbClr val="D9DEE7"/>
            </a:solidFill>
            <a:prstDash val="solid"/>
          </a:ln>
        </p:spPr>
      </p:sp>
      <p:sp>
        <p:nvSpPr>
          <p:cNvPr id="25" name="Shape 21"/>
          <p:cNvSpPr/>
          <p:nvPr/>
        </p:nvSpPr>
        <p:spPr>
          <a:xfrm>
            <a:off x="2720340" y="4229285"/>
            <a:ext cx="329184" cy="329184"/>
          </a:xfrm>
          <a:prstGeom prst="ellipse">
            <a:avLst/>
          </a:prstGeom>
          <a:solidFill>
            <a:srgbClr val="C9A227"/>
          </a:solidFill>
          <a:ln w="12700">
            <a:solidFill>
              <a:srgbClr val="C9A227"/>
            </a:solidFill>
            <a:prstDash val="solid"/>
          </a:ln>
        </p:spPr>
      </p:sp>
      <p:sp>
        <p:nvSpPr>
          <p:cNvPr id="26" name="Text 22"/>
          <p:cNvSpPr txBox="1"/>
          <p:nvPr/>
        </p:nvSpPr>
        <p:spPr>
          <a:xfrm>
            <a:off x="2720340" y="4229285"/>
            <a:ext cx="329184" cy="329184"/>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27" name="Text 23"/>
          <p:cNvSpPr txBox="1"/>
          <p:nvPr/>
        </p:nvSpPr>
        <p:spPr>
          <a:xfrm>
            <a:off x="502920" y="4210997"/>
            <a:ext cx="2171700" cy="365760"/>
          </a:xfrm>
          <a:prstGeom prst="rect">
            <a:avLst/>
          </a:prstGeom>
          <a:noFill/>
          <a:ln/>
        </p:spPr>
        <p:txBody>
          <a:bodyPr wrap="square" lIns="0" tIns="0" rIns="0" bIns="0" rtlCol="0" anchor="ctr"/>
          <a:lstStyle/>
          <a:p>
            <a:pPr rtl="1" algn="r" indent="0" marL="0">
              <a:buNone/>
            </a:pPr>
            <a:r>
              <a:rPr lang="en-US" sz="1300" b="1" dirty="0">
                <a:solidFill>
                  <a:srgbClr val="1B2A49"/>
                </a:solidFill>
                <a:latin typeface="Tahoma" pitchFamily="34" charset="0"/>
                <a:ea typeface="Tahoma" pitchFamily="34" charset="-122"/>
                <a:cs typeface="Tahoma" pitchFamily="34" charset="-120"/>
              </a:rPr>
              <a:t>نتیجه</a:t>
            </a:r>
            <a:endParaRPr lang="en-US" sz="1300" dirty="0"/>
          </a:p>
        </p:txBody>
      </p:sp>
      <p:sp>
        <p:nvSpPr>
          <p:cNvPr id="28" name="Text 24"/>
          <p:cNvSpPr txBox="1"/>
          <p:nvPr/>
        </p:nvSpPr>
        <p:spPr>
          <a:xfrm>
            <a:off x="521208" y="4613333"/>
            <a:ext cx="2519172" cy="891355"/>
          </a:xfrm>
          <a:prstGeom prst="rect">
            <a:avLst/>
          </a:prstGeom>
          <a:noFill/>
          <a:ln/>
        </p:spPr>
        <p:txBody>
          <a:bodyPr wrap="square" lIns="0" tIns="0" rIns="0" bIns="0" rtlCol="0" anchor="t"/>
          <a:lstStyle/>
          <a:p>
            <a:pPr rtl="1" algn="r" indent="0" marL="0">
              <a:lnSpc>
                <a:spcPct val="105000"/>
              </a:lnSpc>
              <a:buNone/>
            </a:pPr>
            <a:r>
              <a:rPr lang="en-US" sz="1200" dirty="0">
                <a:solidFill>
                  <a:srgbClr val="1F2937"/>
                </a:solidFill>
                <a:latin typeface="Tahoma" pitchFamily="34" charset="0"/>
                <a:ea typeface="Tahoma" pitchFamily="34" charset="-122"/>
                <a:cs typeface="Tahoma" pitchFamily="34" charset="-120"/>
              </a:rPr>
              <a:t>شمارهٔ نهایی، سند حسابداری موقت و تغییر موجودی — همه در یک تراکنش.</a:t>
            </a:r>
            <a:endParaRPr lang="en-US" sz="1200" dirty="0"/>
          </a:p>
        </p:txBody>
      </p:sp>
      <p:sp>
        <p:nvSpPr>
          <p:cNvPr id="29" name="Shape 25"/>
          <p:cNvSpPr/>
          <p:nvPr/>
        </p:nvSpPr>
        <p:spPr>
          <a:xfrm>
            <a:off x="411480" y="5696712"/>
            <a:ext cx="11365992" cy="658368"/>
          </a:xfrm>
          <a:prstGeom prst="roundRect">
            <a:avLst>
              <a:gd name="adj" fmla="val 11111"/>
            </a:avLst>
          </a:prstGeom>
          <a:solidFill>
            <a:srgbClr val="F6EDCF"/>
          </a:solidFill>
          <a:ln w="9525">
            <a:solidFill>
              <a:srgbClr val="C9A227"/>
            </a:solidFill>
            <a:prstDash val="solid"/>
          </a:ln>
        </p:spPr>
      </p:sp>
      <p:sp>
        <p:nvSpPr>
          <p:cNvPr id="30" name="Text 26"/>
          <p:cNvSpPr txBox="1"/>
          <p:nvPr/>
        </p:nvSpPr>
        <p:spPr>
          <a:xfrm>
            <a:off x="10954512" y="5696712"/>
            <a:ext cx="731520" cy="658368"/>
          </a:xfrm>
          <a:prstGeom prst="rect">
            <a:avLst/>
          </a:prstGeom>
          <a:noFill/>
          <a:ln/>
        </p:spPr>
        <p:txBody>
          <a:bodyPr wrap="square" lIns="0" tIns="0" rIns="0" bIns="0" rtlCol="0" anchor="ctr"/>
          <a:lstStyle/>
          <a:p>
            <a:pPr rtl="1" algn="r" indent="0" marL="0">
              <a:buNone/>
            </a:pPr>
            <a:r>
              <a:rPr lang="en-US" sz="1400" b="1" dirty="0">
                <a:solidFill>
                  <a:srgbClr val="6B5410"/>
                </a:solidFill>
                <a:latin typeface="Tahoma" pitchFamily="34" charset="0"/>
                <a:ea typeface="Tahoma" pitchFamily="34" charset="-122"/>
                <a:cs typeface="Tahoma" pitchFamily="34" charset="-120"/>
              </a:rPr>
              <a:t>نکته</a:t>
            </a:r>
            <a:endParaRPr lang="en-US" sz="1400" dirty="0"/>
          </a:p>
        </p:txBody>
      </p:sp>
      <p:sp>
        <p:nvSpPr>
          <p:cNvPr id="31" name="Text 27"/>
          <p:cNvSpPr txBox="1"/>
          <p:nvPr/>
        </p:nvSpPr>
        <p:spPr>
          <a:xfrm>
            <a:off x="548640" y="5696712"/>
            <a:ext cx="10360152" cy="658368"/>
          </a:xfrm>
          <a:prstGeom prst="rect">
            <a:avLst/>
          </a:prstGeom>
          <a:noFill/>
          <a:ln/>
        </p:spPr>
        <p:txBody>
          <a:bodyPr wrap="square" lIns="0" tIns="0" rIns="0" bIns="0" rtlCol="0" anchor="ctr"/>
          <a:lstStyle/>
          <a:p>
            <a:pPr rtl="1" algn="r" indent="0" marL="0">
              <a:buNone/>
            </a:pPr>
            <a:r>
              <a:rPr lang="en-US" sz="1300" dirty="0">
                <a:solidFill>
                  <a:srgbClr val="4A3B0B"/>
                </a:solidFill>
                <a:latin typeface="Tahoma" pitchFamily="34" charset="0"/>
                <a:ea typeface="Tahoma" pitchFamily="34" charset="-122"/>
                <a:cs typeface="Tahoma" pitchFamily="34" charset="-120"/>
              </a:rPr>
              <a:t>حواله: بهای تمام‌شده / موجودی کالا. فاکتور: دریافتنی (با تفصیلی مشتری) و تخفیف / فروش، خدمات و مالیات. برگشت: عکس فاکتور و بازگشت کالا به موجودی.</a:t>
            </a:r>
            <a:endParaRPr lang="en-US" sz="1300" dirty="0"/>
          </a:p>
        </p:txBody>
      </p:sp>
      <p:sp>
        <p:nvSpPr>
          <p:cNvPr id="32" name="Text 28"/>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فروش</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گام ۱۰ — سند قطعی و برگشت از فروش</a:t>
            </a:r>
            <a:endParaRPr lang="en-US" sz="2600" dirty="0"/>
          </a:p>
        </p:txBody>
      </p:sp>
      <p:sp>
        <p:nvSpPr>
          <p:cNvPr id="3" name="Shape 1"/>
          <p:cNvSpPr/>
          <p:nvPr/>
        </p:nvSpPr>
        <p:spPr>
          <a:xfrm>
            <a:off x="411480" y="1143000"/>
            <a:ext cx="7406640" cy="5212080"/>
          </a:xfrm>
          <a:prstGeom prst="roundRect">
            <a:avLst>
              <a:gd name="adj" fmla="val 1404"/>
            </a:avLst>
          </a:prstGeom>
          <a:solidFill>
            <a:srgbClr val="FFFFFF"/>
          </a:solidFill>
          <a:ln w="9525">
            <a:solidFill>
              <a:srgbClr val="D9DEE7"/>
            </a:solidFill>
            <a:prstDash val="solid"/>
          </a:ln>
          <a:effectLst>
            <a:outerShdw sx="100000" sy="100000" kx="0" ky="0" algn="bl" rotWithShape="0" blurRad="101600" dist="25400" dir="5400000">
              <a:srgbClr val="000000">
                <a:alpha val="12000"/>
              </a:srgbClr>
            </a:outerShdw>
          </a:effectLst>
        </p:spPr>
      </p:sp>
      <p:pic>
        <p:nvPicPr>
          <p:cNvPr id="4" name="Image 0" descr="sl13">    </p:cNvPr>
          <p:cNvPicPr>
            <a:picLocks noChangeAspect="1"/>
          </p:cNvPicPr>
          <p:nvPr/>
        </p:nvPicPr>
        <p:blipFill>
          <a:blip r:embed="rId1"/>
          <a:stretch>
            <a:fillRect/>
          </a:stretch>
        </p:blipFill>
        <p:spPr>
          <a:xfrm>
            <a:off x="564022" y="1216152"/>
            <a:ext cx="7101555" cy="5065776"/>
          </a:xfrm>
          <a:prstGeom prst="rect">
            <a:avLst/>
          </a:prstGeom>
        </p:spPr>
      </p:pic>
      <p:sp>
        <p:nvSpPr>
          <p:cNvPr id="5" name="Shape 2"/>
          <p:cNvSpPr/>
          <p:nvPr/>
        </p:nvSpPr>
        <p:spPr>
          <a:xfrm>
            <a:off x="11393424" y="1188720"/>
            <a:ext cx="347472" cy="347472"/>
          </a:xfrm>
          <a:prstGeom prst="ellipse">
            <a:avLst/>
          </a:prstGeom>
          <a:solidFill>
            <a:srgbClr val="C9A227"/>
          </a:solidFill>
          <a:ln w="12700">
            <a:solidFill>
              <a:srgbClr val="C9A227"/>
            </a:solidFill>
            <a:prstDash val="solid"/>
          </a:ln>
        </p:spPr>
      </p:sp>
      <p:sp>
        <p:nvSpPr>
          <p:cNvPr id="6" name="Text 3"/>
          <p:cNvSpPr txBox="1"/>
          <p:nvPr/>
        </p:nvSpPr>
        <p:spPr>
          <a:xfrm>
            <a:off x="11393424" y="1188720"/>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۱</a:t>
            </a:r>
            <a:endParaRPr lang="en-US" sz="1300" dirty="0"/>
          </a:p>
        </p:txBody>
      </p:sp>
      <p:sp>
        <p:nvSpPr>
          <p:cNvPr id="7" name="Text 4"/>
          <p:cNvSpPr txBox="1"/>
          <p:nvPr/>
        </p:nvSpPr>
        <p:spPr>
          <a:xfrm>
            <a:off x="8046720" y="1188720"/>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قفل</a:t>
            </a:r>
            <a:endParaRPr lang="en-US" sz="1400" dirty="0"/>
          </a:p>
        </p:txBody>
      </p:sp>
      <p:sp>
        <p:nvSpPr>
          <p:cNvPr id="8" name="Text 5"/>
          <p:cNvSpPr txBox="1"/>
          <p:nvPr/>
        </p:nvSpPr>
        <p:spPr>
          <a:xfrm>
            <a:off x="8046720" y="1517904"/>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سند قطعی ویرایش یا ابطال نمی‌شود؛ پیام قفل بالای صفحه همین را می‌گوید.</a:t>
            </a:r>
            <a:endParaRPr lang="en-US" sz="1300" dirty="0"/>
          </a:p>
        </p:txBody>
      </p:sp>
      <p:sp>
        <p:nvSpPr>
          <p:cNvPr id="9" name="Shape 6"/>
          <p:cNvSpPr/>
          <p:nvPr/>
        </p:nvSpPr>
        <p:spPr>
          <a:xfrm>
            <a:off x="11393424" y="2104034"/>
            <a:ext cx="347472" cy="347472"/>
          </a:xfrm>
          <a:prstGeom prst="ellipse">
            <a:avLst/>
          </a:prstGeom>
          <a:solidFill>
            <a:srgbClr val="C9A227"/>
          </a:solidFill>
          <a:ln w="12700">
            <a:solidFill>
              <a:srgbClr val="C9A227"/>
            </a:solidFill>
            <a:prstDash val="solid"/>
          </a:ln>
        </p:spPr>
      </p:sp>
      <p:sp>
        <p:nvSpPr>
          <p:cNvPr id="10" name="Text 7"/>
          <p:cNvSpPr txBox="1"/>
          <p:nvPr/>
        </p:nvSpPr>
        <p:spPr>
          <a:xfrm>
            <a:off x="11393424" y="2104034"/>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۲</a:t>
            </a:r>
            <a:endParaRPr lang="en-US" sz="1300" dirty="0"/>
          </a:p>
        </p:txBody>
      </p:sp>
      <p:sp>
        <p:nvSpPr>
          <p:cNvPr id="11" name="Text 8"/>
          <p:cNvSpPr txBox="1"/>
          <p:nvPr/>
        </p:nvSpPr>
        <p:spPr>
          <a:xfrm>
            <a:off x="8046720" y="2104034"/>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سند حسابداری</a:t>
            </a:r>
            <a:endParaRPr lang="en-US" sz="1400" dirty="0"/>
          </a:p>
        </p:txBody>
      </p:sp>
      <p:sp>
        <p:nvSpPr>
          <p:cNvPr id="12" name="Text 9"/>
          <p:cNvSpPr txBox="1"/>
          <p:nvPr/>
        </p:nvSpPr>
        <p:spPr>
          <a:xfrm>
            <a:off x="8046720" y="2433218"/>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«مشاهدهٔ سند حسابداری» سند موقت صادرشده را باز می‌کند.</a:t>
            </a:r>
            <a:endParaRPr lang="en-US" sz="1300" dirty="0"/>
          </a:p>
        </p:txBody>
      </p:sp>
      <p:sp>
        <p:nvSpPr>
          <p:cNvPr id="13" name="Shape 10"/>
          <p:cNvSpPr/>
          <p:nvPr/>
        </p:nvSpPr>
        <p:spPr>
          <a:xfrm>
            <a:off x="11393424" y="3019349"/>
            <a:ext cx="347472" cy="347472"/>
          </a:xfrm>
          <a:prstGeom prst="ellipse">
            <a:avLst/>
          </a:prstGeom>
          <a:solidFill>
            <a:srgbClr val="C9A227"/>
          </a:solidFill>
          <a:ln w="12700">
            <a:solidFill>
              <a:srgbClr val="C9A227"/>
            </a:solidFill>
            <a:prstDash val="solid"/>
          </a:ln>
        </p:spPr>
      </p:sp>
      <p:sp>
        <p:nvSpPr>
          <p:cNvPr id="14" name="Text 11"/>
          <p:cNvSpPr txBox="1"/>
          <p:nvPr/>
        </p:nvSpPr>
        <p:spPr>
          <a:xfrm>
            <a:off x="11393424" y="3019349"/>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۳</a:t>
            </a:r>
            <a:endParaRPr lang="en-US" sz="1300" dirty="0"/>
          </a:p>
        </p:txBody>
      </p:sp>
      <p:sp>
        <p:nvSpPr>
          <p:cNvPr id="15" name="Text 12"/>
          <p:cNvSpPr txBox="1"/>
          <p:nvPr/>
        </p:nvSpPr>
        <p:spPr>
          <a:xfrm>
            <a:off x="8046720" y="3019349"/>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برگشت</a:t>
            </a:r>
            <a:endParaRPr lang="en-US" sz="1400" dirty="0"/>
          </a:p>
        </p:txBody>
      </p:sp>
      <p:sp>
        <p:nvSpPr>
          <p:cNvPr id="16" name="Text 13"/>
          <p:cNvSpPr txBox="1"/>
          <p:nvPr/>
        </p:nvSpPr>
        <p:spPr>
          <a:xfrm>
            <a:off x="8046720" y="3348533"/>
            <a:ext cx="3227832" cy="696316"/>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برای اصلاح، «صدور برگشت از فروش» را بزنید و ردیف‌ها و مقدار برگشتی را تعیین کنید.</a:t>
            </a:r>
            <a:endParaRPr lang="en-US" sz="1300" dirty="0"/>
          </a:p>
        </p:txBody>
      </p:sp>
      <p:sp>
        <p:nvSpPr>
          <p:cNvPr id="17" name="Shape 14"/>
          <p:cNvSpPr/>
          <p:nvPr/>
        </p:nvSpPr>
        <p:spPr>
          <a:xfrm>
            <a:off x="11393424" y="4154576"/>
            <a:ext cx="347472" cy="347472"/>
          </a:xfrm>
          <a:prstGeom prst="ellipse">
            <a:avLst/>
          </a:prstGeom>
          <a:solidFill>
            <a:srgbClr val="C9A227"/>
          </a:solidFill>
          <a:ln w="12700">
            <a:solidFill>
              <a:srgbClr val="C9A227"/>
            </a:solidFill>
            <a:prstDash val="solid"/>
          </a:ln>
        </p:spPr>
      </p:sp>
      <p:sp>
        <p:nvSpPr>
          <p:cNvPr id="18" name="Text 15"/>
          <p:cNvSpPr txBox="1"/>
          <p:nvPr/>
        </p:nvSpPr>
        <p:spPr>
          <a:xfrm>
            <a:off x="11393424" y="4154576"/>
            <a:ext cx="347472" cy="347472"/>
          </a:xfrm>
          <a:prstGeom prst="rect">
            <a:avLst/>
          </a:prstGeom>
          <a:noFill/>
          <a:ln/>
        </p:spPr>
        <p:txBody>
          <a:bodyPr wrap="square" lIns="0" tIns="0" rIns="0" bIns="0" rtlCol="0" anchor="ctr"/>
          <a:lstStyle/>
          <a:p>
            <a:pPr rtl="1" algn="ctr" indent="0" marL="0">
              <a:buNone/>
            </a:pPr>
            <a:r>
              <a:rPr lang="en-US" sz="1300" b="1" dirty="0">
                <a:solidFill>
                  <a:srgbClr val="1B2A49"/>
                </a:solidFill>
                <a:latin typeface="Tahoma" pitchFamily="34" charset="0"/>
                <a:ea typeface="Tahoma" pitchFamily="34" charset="-122"/>
                <a:cs typeface="Tahoma" pitchFamily="34" charset="-120"/>
              </a:rPr>
              <a:t>۴</a:t>
            </a:r>
            <a:endParaRPr lang="en-US" sz="1300" dirty="0"/>
          </a:p>
        </p:txBody>
      </p:sp>
      <p:sp>
        <p:nvSpPr>
          <p:cNvPr id="19" name="Text 16"/>
          <p:cNvSpPr txBox="1"/>
          <p:nvPr/>
        </p:nvSpPr>
        <p:spPr>
          <a:xfrm>
            <a:off x="8046720" y="4154576"/>
            <a:ext cx="3227832" cy="329184"/>
          </a:xfrm>
          <a:prstGeom prst="rect">
            <a:avLst/>
          </a:prstGeom>
          <a:noFill/>
          <a:ln/>
        </p:spPr>
        <p:txBody>
          <a:bodyPr wrap="square" lIns="0" tIns="0" rIns="0" bIns="0" rtlCol="0" anchor="ctr"/>
          <a:lstStyle/>
          <a:p>
            <a:pPr rtl="1" algn="r" indent="0" marL="0">
              <a:buNone/>
            </a:pPr>
            <a:r>
              <a:rPr lang="en-US" sz="1400" b="1" dirty="0">
                <a:solidFill>
                  <a:srgbClr val="1B2A49"/>
                </a:solidFill>
                <a:latin typeface="Tahoma" pitchFamily="34" charset="0"/>
                <a:ea typeface="Tahoma" pitchFamily="34" charset="-122"/>
                <a:cs typeface="Tahoma" pitchFamily="34" charset="-120"/>
              </a:rPr>
              <a:t>ابطال</a:t>
            </a:r>
            <a:endParaRPr lang="en-US" sz="1400" dirty="0"/>
          </a:p>
        </p:txBody>
      </p:sp>
      <p:sp>
        <p:nvSpPr>
          <p:cNvPr id="20" name="Text 17"/>
          <p:cNvSpPr txBox="1"/>
          <p:nvPr/>
        </p:nvSpPr>
        <p:spPr>
          <a:xfrm>
            <a:off x="8046720" y="4483760"/>
            <a:ext cx="3227832" cy="476402"/>
          </a:xfrm>
          <a:prstGeom prst="rect">
            <a:avLst/>
          </a:prstGeom>
          <a:noFill/>
          <a:ln/>
        </p:spPr>
        <p:txBody>
          <a:bodyPr wrap="square" lIns="0" tIns="0" rIns="0" bIns="0" rtlCol="0" anchor="t"/>
          <a:lstStyle/>
          <a:p>
            <a:pPr rtl="1" algn="r" indent="0" marL="0">
              <a:lnSpc>
                <a:spcPct val="105000"/>
              </a:lnSpc>
              <a:buNone/>
            </a:pPr>
            <a:r>
              <a:rPr lang="en-US" sz="1300" dirty="0">
                <a:solidFill>
                  <a:srgbClr val="1F2937"/>
                </a:solidFill>
                <a:latin typeface="Tahoma" pitchFamily="34" charset="0"/>
                <a:ea typeface="Tahoma" pitchFamily="34" charset="-122"/>
                <a:cs typeface="Tahoma" pitchFamily="34" charset="-120"/>
              </a:rPr>
              <a:t>دکمهٔ «ابطال» فقط در سند قطعی‌نشده هست؛ سند باطل دیگر استفاده نمی‌شود.</a:t>
            </a:r>
            <a:endParaRPr lang="en-US" sz="1300" dirty="0"/>
          </a:p>
        </p:txBody>
      </p:sp>
      <p:sp>
        <p:nvSpPr>
          <p:cNvPr id="21" name="Text 18"/>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فروش</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txBox="1"/>
          <p:nvPr/>
        </p:nvSpPr>
        <p:spPr>
          <a:xfrm>
            <a:off x="411480" y="292608"/>
            <a:ext cx="11365992" cy="566928"/>
          </a:xfrm>
          <a:prstGeom prst="rect">
            <a:avLst/>
          </a:prstGeom>
          <a:noFill/>
          <a:ln/>
        </p:spPr>
        <p:txBody>
          <a:bodyPr wrap="square" lIns="0" tIns="0" rIns="0" bIns="0" rtlCol="0" anchor="ctr"/>
          <a:lstStyle/>
          <a:p>
            <a:pPr rtl="1" algn="r" indent="0" marL="0">
              <a:buNone/>
            </a:pPr>
            <a:r>
              <a:rPr lang="en-US" sz="2600" b="1" dirty="0">
                <a:solidFill>
                  <a:srgbClr val="1B2A49"/>
                </a:solidFill>
                <a:latin typeface="Tahoma" pitchFamily="34" charset="0"/>
                <a:ea typeface="Tahoma" pitchFamily="34" charset="-122"/>
                <a:cs typeface="Tahoma" pitchFamily="34" charset="-120"/>
              </a:rPr>
              <a:t>پیام‌های رایج و راه‌حل</a:t>
            </a:r>
            <a:endParaRPr lang="en-US" sz="26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4572000"/>
                <a:gridCol w="6793992"/>
              </a:tblGrid>
              <a:tr h="374904">
                <a:tc>
                  <a:txBody>
                    <a:bodyPr/>
                    <a:lstStyle/>
                    <a:p>
                      <a:pPr algn="r" indent="0" marL="0">
                        <a:buNone/>
                      </a:pPr>
                      <a:r>
                        <a:rPr lang="en-US" sz="1150" b="1" dirty="0">
                          <a:solidFill>
                            <a:srgbClr val="FFFFFF"/>
                          </a:solidFill>
                          <a:latin typeface="Tahoma" pitchFamily="34" charset="0"/>
                          <a:ea typeface="Tahoma" pitchFamily="34" charset="-122"/>
                          <a:cs typeface="Tahoma" pitchFamily="34" charset="-120"/>
                        </a:rPr>
                        <a:t>پیام</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B2A49"/>
                    </a:solidFill>
                  </a:tcPr>
                </a:tc>
                <a:tc>
                  <a:txBody>
                    <a:bodyPr/>
                    <a:lstStyle/>
                    <a:p>
                      <a:pPr algn="r" indent="0" marL="0">
                        <a:buNone/>
                      </a:pPr>
                      <a:r>
                        <a:rPr lang="en-US" sz="1150" b="1" dirty="0">
                          <a:solidFill>
                            <a:srgbClr val="FFFFFF"/>
                          </a:solidFill>
                          <a:latin typeface="Tahoma" pitchFamily="34" charset="0"/>
                          <a:ea typeface="Tahoma" pitchFamily="34" charset="-122"/>
                          <a:cs typeface="Tahoma" pitchFamily="34" charset="-120"/>
                        </a:rPr>
                        <a:t>چه باید کرد</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B2A49"/>
                    </a:solidFill>
                  </a:tcPr>
                </a:tc>
              </a:tr>
              <a:tr h="374904">
                <a:tc>
                  <a:txBody>
                    <a:bodyPr/>
                    <a:lstStyle/>
                    <a:p>
                      <a:pPr algn="r" indent="0" marL="0">
                        <a:buNone/>
                      </a:pPr>
                      <a:r>
                        <a:rPr lang="en-US" sz="1150" b="1" dirty="0">
                          <a:solidFill>
                            <a:srgbClr val="1B2A49"/>
                          </a:solidFill>
                          <a:latin typeface="Tahoma" pitchFamily="34" charset="0"/>
                          <a:ea typeface="Tahoma" pitchFamily="34" charset="-122"/>
                          <a:cs typeface="Tahoma" pitchFamily="34" charset="-120"/>
                        </a:rPr>
                        <a:t>شما تنخواه‌دار این تنخواه نیستید</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F2937"/>
                          </a:solidFill>
                          <a:latin typeface="Tahoma" pitchFamily="34" charset="0"/>
                          <a:ea typeface="Tahoma" pitchFamily="34" charset="-122"/>
                          <a:cs typeface="Tahoma" pitchFamily="34" charset="-120"/>
                        </a:rPr>
                        <a:t>فقط تنخواه‌دار تعریف‌شده در «تعریف تنخواه» صورت‌هزینه ثبت می‌کند</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74904">
                <a:tc>
                  <a:txBody>
                    <a:bodyPr/>
                    <a:lstStyle/>
                    <a:p>
                      <a:pPr algn="r" indent="0" marL="0">
                        <a:buNone/>
                      </a:pPr>
                      <a:r>
                        <a:rPr lang="en-US" sz="1150" b="1" dirty="0">
                          <a:solidFill>
                            <a:srgbClr val="1B2A49"/>
                          </a:solidFill>
                          <a:latin typeface="Tahoma" pitchFamily="34" charset="0"/>
                          <a:ea typeface="Tahoma" pitchFamily="34" charset="-122"/>
                          <a:cs typeface="Tahoma" pitchFamily="34" charset="-120"/>
                        </a:rPr>
                        <a:t>نمی‌توانید سند خودتان را بررسی کنید</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algn="r" indent="0" marL="0">
                        <a:buNone/>
                      </a:pPr>
                      <a:r>
                        <a:rPr lang="en-US" sz="1150" dirty="0">
                          <a:solidFill>
                            <a:srgbClr val="1F2937"/>
                          </a:solidFill>
                          <a:latin typeface="Tahoma" pitchFamily="34" charset="0"/>
                          <a:ea typeface="Tahoma" pitchFamily="34" charset="-122"/>
                          <a:cs typeface="Tahoma" pitchFamily="34" charset="-120"/>
                        </a:rPr>
                        <a:t>تفکیک وظایف؛ بررسی، تأیید و اجرا باید با کاربر دیگری انجام شود</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74904">
                <a:tc>
                  <a:txBody>
                    <a:bodyPr/>
                    <a:lstStyle/>
                    <a:p>
                      <a:pPr algn="r" indent="0" marL="0">
                        <a:buNone/>
                      </a:pPr>
                      <a:r>
                        <a:rPr lang="en-US" sz="1150" b="1" dirty="0">
                          <a:solidFill>
                            <a:srgbClr val="1B2A49"/>
                          </a:solidFill>
                          <a:latin typeface="Tahoma" pitchFamily="34" charset="0"/>
                          <a:ea typeface="Tahoma" pitchFamily="34" charset="-122"/>
                          <a:cs typeface="Tahoma" pitchFamily="34" charset="-120"/>
                        </a:rPr>
                        <a:t>هنوز کنترل بازرس انجام نشده</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F2937"/>
                          </a:solidFill>
                          <a:latin typeface="Tahoma" pitchFamily="34" charset="0"/>
                          <a:ea typeface="Tahoma" pitchFamily="34" charset="-122"/>
                          <a:cs typeface="Tahoma" pitchFamily="34" charset="-120"/>
                        </a:rPr>
                        <a:t>پیش از تأیید نهایی، بازرس مالی «تأیید کنترل» را ثبت کند</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74904">
                <a:tc>
                  <a:txBody>
                    <a:bodyPr/>
                    <a:lstStyle/>
                    <a:p>
                      <a:pPr algn="r" indent="0" marL="0">
                        <a:buNone/>
                      </a:pPr>
                      <a:r>
                        <a:rPr lang="en-US" sz="1150" b="1" dirty="0">
                          <a:solidFill>
                            <a:srgbClr val="1B2A49"/>
                          </a:solidFill>
                          <a:latin typeface="Tahoma" pitchFamily="34" charset="0"/>
                          <a:ea typeface="Tahoma" pitchFamily="34" charset="-122"/>
                          <a:cs typeface="Tahoma" pitchFamily="34" charset="-120"/>
                        </a:rPr>
                        <a:t>خارج از سقف اختیار شما</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algn="r" indent="0" marL="0">
                        <a:buNone/>
                      </a:pPr>
                      <a:r>
                        <a:rPr lang="en-US" sz="1150" dirty="0">
                          <a:solidFill>
                            <a:srgbClr val="1F2937"/>
                          </a:solidFill>
                          <a:latin typeface="Tahoma" pitchFamily="34" charset="0"/>
                          <a:ea typeface="Tahoma" pitchFamily="34" charset="-122"/>
                          <a:cs typeface="Tahoma" pitchFamily="34" charset="-120"/>
                        </a:rPr>
                        <a:t>مبلغ از سقف اختیار مدیر مالی بیشتر است؛ مدیرعامل تأیید کند</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74904">
                <a:tc>
                  <a:txBody>
                    <a:bodyPr/>
                    <a:lstStyle/>
                    <a:p>
                      <a:pPr algn="r" indent="0" marL="0">
                        <a:buNone/>
                      </a:pPr>
                      <a:r>
                        <a:rPr lang="en-US" sz="1150" b="1" dirty="0">
                          <a:solidFill>
                            <a:srgbClr val="1B2A49"/>
                          </a:solidFill>
                          <a:latin typeface="Tahoma" pitchFamily="34" charset="0"/>
                          <a:ea typeface="Tahoma" pitchFamily="34" charset="-122"/>
                          <a:cs typeface="Tahoma" pitchFamily="34" charset="-120"/>
                        </a:rPr>
                        <a:t>تنظیمات خزانه تعریف نشده / حساب … تعریف نشده</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F2937"/>
                          </a:solidFill>
                          <a:latin typeface="Tahoma" pitchFamily="34" charset="0"/>
                          <a:ea typeface="Tahoma" pitchFamily="34" charset="-122"/>
                          <a:cs typeface="Tahoma" pitchFamily="34" charset="-120"/>
                        </a:rPr>
                        <a:t>مدیر مالی «تنظیمات خزانه» را کامل و ذخیره کند</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74904">
                <a:tc>
                  <a:txBody>
                    <a:bodyPr/>
                    <a:lstStyle/>
                    <a:p>
                      <a:pPr algn="r" indent="0" marL="0">
                        <a:buNone/>
                      </a:pPr>
                      <a:r>
                        <a:rPr lang="en-US" sz="1150" b="1" dirty="0">
                          <a:solidFill>
                            <a:srgbClr val="1B2A49"/>
                          </a:solidFill>
                          <a:latin typeface="Tahoma" pitchFamily="34" charset="0"/>
                          <a:ea typeface="Tahoma" pitchFamily="34" charset="-122"/>
                          <a:cs typeface="Tahoma" pitchFamily="34" charset="-120"/>
                        </a:rPr>
                        <a:t>موجودی مبدأ کافی نیست / سقف روزانهٔ انتقال</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algn="r" indent="0" marL="0">
                        <a:buNone/>
                      </a:pPr>
                      <a:r>
                        <a:rPr lang="en-US" sz="1150" dirty="0">
                          <a:solidFill>
                            <a:srgbClr val="1F2937"/>
                          </a:solidFill>
                          <a:latin typeface="Tahoma" pitchFamily="34" charset="0"/>
                          <a:ea typeface="Tahoma" pitchFamily="34" charset="-122"/>
                          <a:cs typeface="Tahoma" pitchFamily="34" charset="-120"/>
                        </a:rPr>
                        <a:t>مبلغ انتقال را اصلاح یا سقف را در تنظیمات بازبینی کنید</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74904">
                <a:tc>
                  <a:txBody>
                    <a:bodyPr/>
                    <a:lstStyle/>
                    <a:p>
                      <a:pPr algn="r" indent="0" marL="0">
                        <a:buNone/>
                      </a:pPr>
                      <a:r>
                        <a:rPr lang="en-US" sz="1150" b="1" dirty="0">
                          <a:solidFill>
                            <a:srgbClr val="1B2A49"/>
                          </a:solidFill>
                          <a:latin typeface="Tahoma" pitchFamily="34" charset="0"/>
                          <a:ea typeface="Tahoma" pitchFamily="34" charset="-122"/>
                          <a:cs typeface="Tahoma" pitchFamily="34" charset="-120"/>
                        </a:rPr>
                        <a:t>کنترل مسدودکنندهٔ ناموفق — ارسال ممکن نیست</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F2937"/>
                          </a:solidFill>
                          <a:latin typeface="Tahoma" pitchFamily="34" charset="0"/>
                          <a:ea typeface="Tahoma" pitchFamily="34" charset="-122"/>
                          <a:cs typeface="Tahoma" pitchFamily="34" charset="-120"/>
                        </a:rPr>
                        <a:t>زبانهٔ «کنترل‌ها»: نگاشت حساب‌ها یا مقادیر دستی را اصلاح و دوباره تهیه کنید</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74904">
                <a:tc>
                  <a:txBody>
                    <a:bodyPr/>
                    <a:lstStyle/>
                    <a:p>
                      <a:pPr algn="r" indent="0" marL="0">
                        <a:buNone/>
                      </a:pPr>
                      <a:r>
                        <a:rPr lang="en-US" sz="1150" b="1" dirty="0">
                          <a:solidFill>
                            <a:srgbClr val="1B2A49"/>
                          </a:solidFill>
                          <a:latin typeface="Tahoma" pitchFamily="34" charset="0"/>
                          <a:ea typeface="Tahoma" pitchFamily="34" charset="-122"/>
                          <a:cs typeface="Tahoma" pitchFamily="34" charset="-120"/>
                        </a:rPr>
                        <a:t>اجرای آزمایشی قابل ارسال نیست</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algn="r" indent="0" marL="0">
                        <a:buNone/>
                      </a:pPr>
                      <a:r>
                        <a:rPr lang="en-US" sz="1150" dirty="0">
                          <a:solidFill>
                            <a:srgbClr val="1F2937"/>
                          </a:solidFill>
                          <a:latin typeface="Tahoma" pitchFamily="34" charset="0"/>
                          <a:ea typeface="Tahoma" pitchFamily="34" charset="-122"/>
                          <a:cs typeface="Tahoma" pitchFamily="34" charset="-120"/>
                        </a:rPr>
                        <a:t>قالب‌های پیش‌نویس را فعال کنید و بدون گزینهٔ «پیش‌نویس‌ها» تهیه کنید</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74904">
                <a:tc>
                  <a:txBody>
                    <a:bodyPr/>
                    <a:lstStyle/>
                    <a:p>
                      <a:pPr algn="r" indent="0" marL="0">
                        <a:buNone/>
                      </a:pPr>
                      <a:r>
                        <a:rPr lang="en-US" sz="1150" b="1" dirty="0">
                          <a:solidFill>
                            <a:srgbClr val="1B2A49"/>
                          </a:solidFill>
                          <a:latin typeface="Tahoma" pitchFamily="34" charset="0"/>
                          <a:ea typeface="Tahoma" pitchFamily="34" charset="-122"/>
                          <a:cs typeface="Tahoma" pitchFamily="34" charset="-120"/>
                        </a:rPr>
                        <a:t>انتشار ممکن نیست — دوره قفل نشده (V-11)</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F2937"/>
                          </a:solidFill>
                          <a:latin typeface="Tahoma" pitchFamily="34" charset="0"/>
                          <a:ea typeface="Tahoma" pitchFamily="34" charset="-122"/>
                          <a:cs typeface="Tahoma" pitchFamily="34" charset="-120"/>
                        </a:rPr>
                        <a:t>در «بستن دوره» دورهٔ همهٔ واحدهای دامنه را قفل کنید، سپس منتشر کنید</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74904">
                <a:tc>
                  <a:txBody>
                    <a:bodyPr/>
                    <a:lstStyle/>
                    <a:p>
                      <a:pPr algn="r" indent="0" marL="0">
                        <a:buNone/>
                      </a:pPr>
                      <a:r>
                        <a:rPr lang="en-US" sz="1150" b="1" dirty="0">
                          <a:solidFill>
                            <a:srgbClr val="1B2A49"/>
                          </a:solidFill>
                          <a:latin typeface="Tahoma" pitchFamily="34" charset="0"/>
                          <a:ea typeface="Tahoma" pitchFamily="34" charset="-122"/>
                          <a:cs typeface="Tahoma" pitchFamily="34" charset="-120"/>
                        </a:rPr>
                        <a:t>برای این عملیات دسترسی ندارید</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algn="r" indent="0" marL="0">
                        <a:buNone/>
                      </a:pPr>
                      <a:r>
                        <a:rPr lang="en-US" sz="1150" dirty="0">
                          <a:solidFill>
                            <a:srgbClr val="1F2937"/>
                          </a:solidFill>
                          <a:latin typeface="Tahoma" pitchFamily="34" charset="0"/>
                          <a:ea typeface="Tahoma" pitchFamily="34" charset="-122"/>
                          <a:cs typeface="Tahoma" pitchFamily="34" charset="-120"/>
                        </a:rPr>
                        <a:t>مدیر دسترسی در «دسترسی صورت‌های مالی» عملیات لازم را برای واحد و مجموعه بدهد</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74904">
                <a:tc>
                  <a:txBody>
                    <a:bodyPr/>
                    <a:lstStyle/>
                    <a:p>
                      <a:pPr algn="r" indent="0" marL="0">
                        <a:buNone/>
                      </a:pPr>
                      <a:r>
                        <a:rPr lang="en-US" sz="1150" b="1" dirty="0">
                          <a:solidFill>
                            <a:srgbClr val="1B2A49"/>
                          </a:solidFill>
                          <a:latin typeface="Tahoma" pitchFamily="34" charset="0"/>
                          <a:ea typeface="Tahoma" pitchFamily="34" charset="-122"/>
                          <a:cs typeface="Tahoma" pitchFamily="34" charset="-120"/>
                        </a:rPr>
                        <a:t>شما مرحلهٔ قبلی را تأیید کرده‌اید</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F2937"/>
                          </a:solidFill>
                          <a:latin typeface="Tahoma" pitchFamily="34" charset="0"/>
                          <a:ea typeface="Tahoma" pitchFamily="34" charset="-122"/>
                          <a:cs typeface="Tahoma" pitchFamily="34" charset="-120"/>
                        </a:rPr>
                        <a:t>هر مرحلهٔ تأیید باید با کاربر دیگری انجام شود</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74904">
                <a:tc>
                  <a:txBody>
                    <a:bodyPr/>
                    <a:lstStyle/>
                    <a:p>
                      <a:pPr algn="r" indent="0" marL="0">
                        <a:buNone/>
                      </a:pPr>
                      <a:r>
                        <a:rPr lang="en-US" sz="1150" b="1" dirty="0">
                          <a:solidFill>
                            <a:srgbClr val="1B2A49"/>
                          </a:solidFill>
                          <a:latin typeface="Tahoma" pitchFamily="34" charset="0"/>
                          <a:ea typeface="Tahoma" pitchFamily="34" charset="-122"/>
                          <a:cs typeface="Tahoma" pitchFamily="34" charset="-120"/>
                        </a:rPr>
                        <a:t>نقشی در سامانهٔ مالی تعریف نشده است</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algn="r" indent="0" marL="0">
                        <a:buNone/>
                      </a:pPr>
                      <a:r>
                        <a:rPr lang="en-US" sz="1150" dirty="0">
                          <a:solidFill>
                            <a:srgbClr val="1F2937"/>
                          </a:solidFill>
                          <a:latin typeface="Tahoma" pitchFamily="34" charset="0"/>
                          <a:ea typeface="Tahoma" pitchFamily="34" charset="-122"/>
                          <a:cs typeface="Tahoma" pitchFamily="34" charset="-120"/>
                        </a:rPr>
                        <a:t>مدیر سامانهٔ ورود سازمان یکی از نقش‌های سامانهٔ مالی را به شما بدهد</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74904">
                <a:tc>
                  <a:txBody>
                    <a:bodyPr/>
                    <a:lstStyle/>
                    <a:p>
                      <a:pPr algn="r" indent="0" marL="0">
                        <a:buNone/>
                      </a:pPr>
                      <a:r>
                        <a:rPr lang="en-US" sz="1150" b="1" dirty="0">
                          <a:solidFill>
                            <a:srgbClr val="1B2A49"/>
                          </a:solidFill>
                          <a:latin typeface="Tahoma" pitchFamily="34" charset="0"/>
                          <a:ea typeface="Tahoma" pitchFamily="34" charset="-122"/>
                          <a:cs typeface="Tahoma" pitchFamily="34" charset="-120"/>
                        </a:rPr>
                        <a:t>لایسنس منقضی شده؛ سامانه فقط‌خواندنی است</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F2937"/>
                          </a:solidFill>
                          <a:latin typeface="Tahoma" pitchFamily="34" charset="0"/>
                          <a:ea typeface="Tahoma" pitchFamily="34" charset="-122"/>
                          <a:cs typeface="Tahoma" pitchFamily="34" charset="-120"/>
                        </a:rPr>
                        <a:t>با پشتیبانی برای تمدید تماس بگیرید؛ فایل تازه در «اطلاعات پایه ← لایسنس» بارگذاری می‌شود</a:t>
                      </a:r>
                      <a:endParaRPr lang="en-US" sz="1150" dirty="0">
                        <a:latin typeface="Tahoma" charset="0"/>
                        <a:ea typeface="Tahoma" charset="0"/>
                        <a:cs typeface="Tahoma" charset="0"/>
                      </a:endParaRPr>
                    </a:p>
                  </a:txBody>
                  <a:tcPr marL="109728" marR="109728" marT="36576" marB="36576"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6217920" y="6446520"/>
            <a:ext cx="5559552" cy="274320"/>
          </a:xfrm>
          <a:prstGeom prst="rect">
            <a:avLst/>
          </a:prstGeom>
          <a:noFill/>
          <a:ln/>
        </p:spPr>
        <p:txBody>
          <a:bodyPr wrap="square" lIns="0" tIns="0" rIns="0" bIns="0" rtlCol="0" anchor="ctr"/>
          <a:lstStyle/>
          <a:p>
            <a:pPr rtl="1" algn="r" indent="0" marL="0">
              <a:buNone/>
            </a:pPr>
            <a:r>
              <a:rPr lang="en-US" sz="1000" dirty="0">
                <a:solidFill>
                  <a:srgbClr val="5B6678"/>
                </a:solidFill>
                <a:latin typeface="Tahoma" pitchFamily="34" charset="0"/>
                <a:ea typeface="Tahoma" pitchFamily="34" charset="-122"/>
                <a:cs typeface="Tahoma" pitchFamily="34" charset="-120"/>
              </a:rPr>
              <a:t>راهنمای کاربری سامانهٔ حسابداری  ·  پیوست</a:t>
            </a:r>
            <a:endParaRPr lang="en-US" sz="10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B2A49"/>
        </a:solidFill>
      </p:bgPr>
    </p:bg>
    <p:spTree>
      <p:nvGrpSpPr>
        <p:cNvPr id="1" name=""/>
        <p:cNvGrpSpPr/>
        <p:nvPr/>
      </p:nvGrpSpPr>
      <p:grpSpPr>
        <a:xfrm>
          <a:off x="0" y="0"/>
          <a:ext cx="0" cy="0"/>
          <a:chOff x="0" y="0"/>
          <a:chExt cx="0" cy="0"/>
        </a:xfrm>
      </p:grpSpPr>
      <p:sp>
        <p:nvSpPr>
          <p:cNvPr id="2" name="Shape 0"/>
          <p:cNvSpPr/>
          <p:nvPr/>
        </p:nvSpPr>
        <p:spPr>
          <a:xfrm>
            <a:off x="9326880" y="-1371600"/>
            <a:ext cx="4572000" cy="4572000"/>
          </a:xfrm>
          <a:prstGeom prst="ellipse">
            <a:avLst/>
          </a:prstGeom>
          <a:solidFill>
            <a:srgbClr val="25385F"/>
          </a:solidFill>
          <a:ln w="12700">
            <a:solidFill>
              <a:srgbClr val="25385F"/>
            </a:solidFill>
            <a:prstDash val="solid"/>
          </a:ln>
        </p:spPr>
      </p:sp>
      <p:sp>
        <p:nvSpPr>
          <p:cNvPr id="3" name="Text 1"/>
          <p:cNvSpPr txBox="1"/>
          <p:nvPr/>
        </p:nvSpPr>
        <p:spPr>
          <a:xfrm>
            <a:off x="731520" y="914400"/>
            <a:ext cx="10698480" cy="731520"/>
          </a:xfrm>
          <a:prstGeom prst="rect">
            <a:avLst/>
          </a:prstGeom>
          <a:noFill/>
          <a:ln/>
        </p:spPr>
        <p:txBody>
          <a:bodyPr wrap="square" lIns="0" tIns="0" rIns="0" bIns="0" rtlCol="0" anchor="ctr"/>
          <a:lstStyle/>
          <a:p>
            <a:pPr rtl="1" algn="r" indent="0" marL="0">
              <a:buNone/>
            </a:pPr>
            <a:r>
              <a:rPr lang="en-US" sz="3600" b="1" dirty="0">
                <a:solidFill>
                  <a:srgbClr val="FFFFFF"/>
                </a:solidFill>
                <a:latin typeface="Tahoma" pitchFamily="34" charset="0"/>
                <a:ea typeface="Tahoma" pitchFamily="34" charset="-122"/>
                <a:cs typeface="Tahoma" pitchFamily="34" charset="-120"/>
              </a:rPr>
              <a:t>جمع‌بندی</a:t>
            </a:r>
            <a:endParaRPr lang="en-US" sz="3600" dirty="0"/>
          </a:p>
        </p:txBody>
      </p:sp>
      <p:sp>
        <p:nvSpPr>
          <p:cNvPr id="4" name="Shape 2"/>
          <p:cNvSpPr/>
          <p:nvPr/>
        </p:nvSpPr>
        <p:spPr>
          <a:xfrm>
            <a:off x="10881360" y="1783080"/>
            <a:ext cx="502920" cy="502920"/>
          </a:xfrm>
          <a:prstGeom prst="ellipse">
            <a:avLst/>
          </a:prstGeom>
          <a:solidFill>
            <a:srgbClr val="C9A227"/>
          </a:solidFill>
          <a:ln w="12700">
            <a:solidFill>
              <a:srgbClr val="C9A227"/>
            </a:solidFill>
            <a:prstDash val="solid"/>
          </a:ln>
        </p:spPr>
      </p:sp>
      <p:sp>
        <p:nvSpPr>
          <p:cNvPr id="5" name="Text 3"/>
          <p:cNvSpPr txBox="1"/>
          <p:nvPr/>
        </p:nvSpPr>
        <p:spPr>
          <a:xfrm>
            <a:off x="10881360" y="1783080"/>
            <a:ext cx="502920" cy="50292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۱</a:t>
            </a:r>
            <a:endParaRPr lang="en-US" sz="1800" dirty="0"/>
          </a:p>
        </p:txBody>
      </p:sp>
      <p:sp>
        <p:nvSpPr>
          <p:cNvPr id="6" name="Text 4"/>
          <p:cNvSpPr txBox="1"/>
          <p:nvPr/>
        </p:nvSpPr>
        <p:spPr>
          <a:xfrm>
            <a:off x="6858000" y="1783080"/>
            <a:ext cx="3840480" cy="502920"/>
          </a:xfrm>
          <a:prstGeom prst="rect">
            <a:avLst/>
          </a:prstGeom>
          <a:noFill/>
          <a:ln/>
        </p:spPr>
        <p:txBody>
          <a:bodyPr wrap="square" lIns="0" tIns="0" rIns="0" bIns="0" rtlCol="0" anchor="ctr"/>
          <a:lstStyle/>
          <a:p>
            <a:pPr rtl="1" algn="r" indent="0" marL="0">
              <a:buNone/>
            </a:pPr>
            <a:r>
              <a:rPr lang="en-US" sz="2000" b="1" dirty="0">
                <a:solidFill>
                  <a:srgbClr val="C9A227"/>
                </a:solidFill>
                <a:latin typeface="Tahoma" pitchFamily="34" charset="0"/>
                <a:ea typeface="Tahoma" pitchFamily="34" charset="-122"/>
                <a:cs typeface="Tahoma" pitchFamily="34" charset="-120"/>
              </a:rPr>
              <a:t>تنخواه</a:t>
            </a:r>
            <a:endParaRPr lang="en-US" sz="2000" dirty="0"/>
          </a:p>
        </p:txBody>
      </p:sp>
      <p:sp>
        <p:nvSpPr>
          <p:cNvPr id="7" name="Text 5"/>
          <p:cNvSpPr txBox="1"/>
          <p:nvPr/>
        </p:nvSpPr>
        <p:spPr>
          <a:xfrm>
            <a:off x="731520" y="2240280"/>
            <a:ext cx="9966960" cy="457200"/>
          </a:xfrm>
          <a:prstGeom prst="rect">
            <a:avLst/>
          </a:prstGeom>
          <a:noFill/>
          <a:ln/>
        </p:spPr>
        <p:txBody>
          <a:bodyPr wrap="square" lIns="0" tIns="0" rIns="0" bIns="0" rtlCol="0" anchor="ctr"/>
          <a:lstStyle/>
          <a:p>
            <a:pPr rtl="1" algn="r" indent="0" marL="0">
              <a:buNone/>
            </a:pPr>
            <a:r>
              <a:rPr lang="en-US" sz="1500" dirty="0">
                <a:solidFill>
                  <a:srgbClr val="D7DEEA"/>
                </a:solidFill>
                <a:latin typeface="Tahoma" pitchFamily="34" charset="0"/>
                <a:ea typeface="Tahoma" pitchFamily="34" charset="-122"/>
                <a:cs typeface="Tahoma" pitchFamily="34" charset="-120"/>
              </a:rPr>
              <a:t>تعریف ← ثبت صورت‌هزینه ← کنترل و تأیید ← ترمیم ← تسویه و سند</a:t>
            </a:r>
            <a:endParaRPr lang="en-US" sz="1500" dirty="0"/>
          </a:p>
        </p:txBody>
      </p:sp>
      <p:sp>
        <p:nvSpPr>
          <p:cNvPr id="8" name="Shape 6"/>
          <p:cNvSpPr/>
          <p:nvPr/>
        </p:nvSpPr>
        <p:spPr>
          <a:xfrm>
            <a:off x="10881360" y="2743200"/>
            <a:ext cx="502920" cy="502920"/>
          </a:xfrm>
          <a:prstGeom prst="ellipse">
            <a:avLst/>
          </a:prstGeom>
          <a:solidFill>
            <a:srgbClr val="C9A227"/>
          </a:solidFill>
          <a:ln w="12700">
            <a:solidFill>
              <a:srgbClr val="C9A227"/>
            </a:solidFill>
            <a:prstDash val="solid"/>
          </a:ln>
        </p:spPr>
      </p:sp>
      <p:sp>
        <p:nvSpPr>
          <p:cNvPr id="9" name="Text 7"/>
          <p:cNvSpPr txBox="1"/>
          <p:nvPr/>
        </p:nvSpPr>
        <p:spPr>
          <a:xfrm>
            <a:off x="10881360" y="2743200"/>
            <a:ext cx="502920" cy="50292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۲</a:t>
            </a:r>
            <a:endParaRPr lang="en-US" sz="1800" dirty="0"/>
          </a:p>
        </p:txBody>
      </p:sp>
      <p:sp>
        <p:nvSpPr>
          <p:cNvPr id="10" name="Text 8"/>
          <p:cNvSpPr txBox="1"/>
          <p:nvPr/>
        </p:nvSpPr>
        <p:spPr>
          <a:xfrm>
            <a:off x="6858000" y="2743200"/>
            <a:ext cx="3840480" cy="502920"/>
          </a:xfrm>
          <a:prstGeom prst="rect">
            <a:avLst/>
          </a:prstGeom>
          <a:noFill/>
          <a:ln/>
        </p:spPr>
        <p:txBody>
          <a:bodyPr wrap="square" lIns="0" tIns="0" rIns="0" bIns="0" rtlCol="0" anchor="ctr"/>
          <a:lstStyle/>
          <a:p>
            <a:pPr rtl="1" algn="r" indent="0" marL="0">
              <a:buNone/>
            </a:pPr>
            <a:r>
              <a:rPr lang="en-US" sz="2000" b="1" dirty="0">
                <a:solidFill>
                  <a:srgbClr val="C9A227"/>
                </a:solidFill>
                <a:latin typeface="Tahoma" pitchFamily="34" charset="0"/>
                <a:ea typeface="Tahoma" pitchFamily="34" charset="-122"/>
                <a:cs typeface="Tahoma" pitchFamily="34" charset="-120"/>
              </a:rPr>
              <a:t>خزانه</a:t>
            </a:r>
            <a:endParaRPr lang="en-US" sz="2000" dirty="0"/>
          </a:p>
        </p:txBody>
      </p:sp>
      <p:sp>
        <p:nvSpPr>
          <p:cNvPr id="11" name="Text 9"/>
          <p:cNvSpPr txBox="1"/>
          <p:nvPr/>
        </p:nvSpPr>
        <p:spPr>
          <a:xfrm>
            <a:off x="731520" y="3200400"/>
            <a:ext cx="9966960" cy="457200"/>
          </a:xfrm>
          <a:prstGeom prst="rect">
            <a:avLst/>
          </a:prstGeom>
          <a:noFill/>
          <a:ln/>
        </p:spPr>
        <p:txBody>
          <a:bodyPr wrap="square" lIns="0" tIns="0" rIns="0" bIns="0" rtlCol="0" anchor="ctr"/>
          <a:lstStyle/>
          <a:p>
            <a:pPr rtl="1" algn="r" indent="0" marL="0">
              <a:buNone/>
            </a:pPr>
            <a:r>
              <a:rPr lang="en-US" sz="1500" dirty="0">
                <a:solidFill>
                  <a:srgbClr val="D7DEEA"/>
                </a:solidFill>
                <a:latin typeface="Tahoma" pitchFamily="34" charset="0"/>
                <a:ea typeface="Tahoma" pitchFamily="34" charset="-122"/>
                <a:cs typeface="Tahoma" pitchFamily="34" charset="-120"/>
              </a:rPr>
              <a:t>درخواست ← تأیید چندمرحله‌ای ← اجرا؛ دریافت، انتقال و مغایرت بانکی</a:t>
            </a:r>
            <a:endParaRPr lang="en-US" sz="1500" dirty="0"/>
          </a:p>
        </p:txBody>
      </p:sp>
      <p:sp>
        <p:nvSpPr>
          <p:cNvPr id="12" name="Shape 10"/>
          <p:cNvSpPr/>
          <p:nvPr/>
        </p:nvSpPr>
        <p:spPr>
          <a:xfrm>
            <a:off x="10881360" y="3703320"/>
            <a:ext cx="502920" cy="502920"/>
          </a:xfrm>
          <a:prstGeom prst="ellipse">
            <a:avLst/>
          </a:prstGeom>
          <a:solidFill>
            <a:srgbClr val="C9A227"/>
          </a:solidFill>
          <a:ln w="12700">
            <a:solidFill>
              <a:srgbClr val="C9A227"/>
            </a:solidFill>
            <a:prstDash val="solid"/>
          </a:ln>
        </p:spPr>
      </p:sp>
      <p:sp>
        <p:nvSpPr>
          <p:cNvPr id="13" name="Text 11"/>
          <p:cNvSpPr txBox="1"/>
          <p:nvPr/>
        </p:nvSpPr>
        <p:spPr>
          <a:xfrm>
            <a:off x="10881360" y="3703320"/>
            <a:ext cx="502920" cy="50292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۳</a:t>
            </a:r>
            <a:endParaRPr lang="en-US" sz="1800" dirty="0"/>
          </a:p>
        </p:txBody>
      </p:sp>
      <p:sp>
        <p:nvSpPr>
          <p:cNvPr id="14" name="Text 12"/>
          <p:cNvSpPr txBox="1"/>
          <p:nvPr/>
        </p:nvSpPr>
        <p:spPr>
          <a:xfrm>
            <a:off x="6858000" y="3703320"/>
            <a:ext cx="3840480" cy="502920"/>
          </a:xfrm>
          <a:prstGeom prst="rect">
            <a:avLst/>
          </a:prstGeom>
          <a:noFill/>
          <a:ln/>
        </p:spPr>
        <p:txBody>
          <a:bodyPr wrap="square" lIns="0" tIns="0" rIns="0" bIns="0" rtlCol="0" anchor="ctr"/>
          <a:lstStyle/>
          <a:p>
            <a:pPr rtl="1" algn="r" indent="0" marL="0">
              <a:buNone/>
            </a:pPr>
            <a:r>
              <a:rPr lang="en-US" sz="2000" b="1" dirty="0">
                <a:solidFill>
                  <a:srgbClr val="C9A227"/>
                </a:solidFill>
                <a:latin typeface="Tahoma" pitchFamily="34" charset="0"/>
                <a:ea typeface="Tahoma" pitchFamily="34" charset="-122"/>
                <a:cs typeface="Tahoma" pitchFamily="34" charset="-120"/>
              </a:rPr>
              <a:t>صورت‌های مالی</a:t>
            </a:r>
            <a:endParaRPr lang="en-US" sz="2000" dirty="0"/>
          </a:p>
        </p:txBody>
      </p:sp>
      <p:sp>
        <p:nvSpPr>
          <p:cNvPr id="15" name="Text 13"/>
          <p:cNvSpPr txBox="1"/>
          <p:nvPr/>
        </p:nvSpPr>
        <p:spPr>
          <a:xfrm>
            <a:off x="731520" y="4160520"/>
            <a:ext cx="9966960" cy="457200"/>
          </a:xfrm>
          <a:prstGeom prst="rect">
            <a:avLst/>
          </a:prstGeom>
          <a:noFill/>
          <a:ln/>
        </p:spPr>
        <p:txBody>
          <a:bodyPr wrap="square" lIns="0" tIns="0" rIns="0" bIns="0" rtlCol="0" anchor="ctr"/>
          <a:lstStyle/>
          <a:p>
            <a:pPr rtl="1" algn="r" indent="0" marL="0">
              <a:buNone/>
            </a:pPr>
            <a:r>
              <a:rPr lang="en-US" sz="1500" dirty="0">
                <a:solidFill>
                  <a:srgbClr val="D7DEEA"/>
                </a:solidFill>
                <a:latin typeface="Tahoma" pitchFamily="34" charset="0"/>
                <a:ea typeface="Tahoma" pitchFamily="34" charset="-122"/>
                <a:cs typeface="Tahoma" pitchFamily="34" charset="-120"/>
              </a:rPr>
              <a:t>قالب و نگاشت ← تهیه ← کنترل و یادداشت‌ها ← تأیید ← بستن دوره و انتشار</a:t>
            </a:r>
            <a:endParaRPr lang="en-US" sz="1500" dirty="0"/>
          </a:p>
        </p:txBody>
      </p:sp>
      <p:sp>
        <p:nvSpPr>
          <p:cNvPr id="16" name="Shape 14"/>
          <p:cNvSpPr/>
          <p:nvPr/>
        </p:nvSpPr>
        <p:spPr>
          <a:xfrm>
            <a:off x="10881360" y="4663440"/>
            <a:ext cx="502920" cy="502920"/>
          </a:xfrm>
          <a:prstGeom prst="ellipse">
            <a:avLst/>
          </a:prstGeom>
          <a:solidFill>
            <a:srgbClr val="C9A227"/>
          </a:solidFill>
          <a:ln w="12700">
            <a:solidFill>
              <a:srgbClr val="C9A227"/>
            </a:solidFill>
            <a:prstDash val="solid"/>
          </a:ln>
        </p:spPr>
      </p:sp>
      <p:sp>
        <p:nvSpPr>
          <p:cNvPr id="17" name="Text 15"/>
          <p:cNvSpPr txBox="1"/>
          <p:nvPr/>
        </p:nvSpPr>
        <p:spPr>
          <a:xfrm>
            <a:off x="10881360" y="4663440"/>
            <a:ext cx="502920" cy="502920"/>
          </a:xfrm>
          <a:prstGeom prst="rect">
            <a:avLst/>
          </a:prstGeom>
          <a:noFill/>
          <a:ln/>
        </p:spPr>
        <p:txBody>
          <a:bodyPr wrap="square" lIns="0" tIns="0" rIns="0" bIns="0" rtlCol="0" anchor="ctr"/>
          <a:lstStyle/>
          <a:p>
            <a:pPr rtl="1" algn="ctr" indent="0" marL="0">
              <a:buNone/>
            </a:pPr>
            <a:r>
              <a:rPr lang="en-US" sz="1800" b="1" dirty="0">
                <a:solidFill>
                  <a:srgbClr val="1B2A49"/>
                </a:solidFill>
                <a:latin typeface="Tahoma" pitchFamily="34" charset="0"/>
                <a:ea typeface="Tahoma" pitchFamily="34" charset="-122"/>
                <a:cs typeface="Tahoma" pitchFamily="34" charset="-120"/>
              </a:rPr>
              <a:t>۴</a:t>
            </a:r>
            <a:endParaRPr lang="en-US" sz="1800" dirty="0"/>
          </a:p>
        </p:txBody>
      </p:sp>
      <p:sp>
        <p:nvSpPr>
          <p:cNvPr id="18" name="Text 16"/>
          <p:cNvSpPr txBox="1"/>
          <p:nvPr/>
        </p:nvSpPr>
        <p:spPr>
          <a:xfrm>
            <a:off x="6858000" y="4663440"/>
            <a:ext cx="3840480" cy="502920"/>
          </a:xfrm>
          <a:prstGeom prst="rect">
            <a:avLst/>
          </a:prstGeom>
          <a:noFill/>
          <a:ln/>
        </p:spPr>
        <p:txBody>
          <a:bodyPr wrap="square" lIns="0" tIns="0" rIns="0" bIns="0" rtlCol="0" anchor="ctr"/>
          <a:lstStyle/>
          <a:p>
            <a:pPr rtl="1" algn="r" indent="0" marL="0">
              <a:buNone/>
            </a:pPr>
            <a:r>
              <a:rPr lang="en-US" sz="2000" b="1" dirty="0">
                <a:solidFill>
                  <a:srgbClr val="C9A227"/>
                </a:solidFill>
                <a:latin typeface="Tahoma" pitchFamily="34" charset="0"/>
                <a:ea typeface="Tahoma" pitchFamily="34" charset="-122"/>
                <a:cs typeface="Tahoma" pitchFamily="34" charset="-120"/>
              </a:rPr>
              <a:t>فروش</a:t>
            </a:r>
            <a:endParaRPr lang="en-US" sz="2000" dirty="0"/>
          </a:p>
        </p:txBody>
      </p:sp>
      <p:sp>
        <p:nvSpPr>
          <p:cNvPr id="19" name="Text 17"/>
          <p:cNvSpPr txBox="1"/>
          <p:nvPr/>
        </p:nvSpPr>
        <p:spPr>
          <a:xfrm>
            <a:off x="731520" y="5120640"/>
            <a:ext cx="9966960" cy="457200"/>
          </a:xfrm>
          <a:prstGeom prst="rect">
            <a:avLst/>
          </a:prstGeom>
          <a:noFill/>
          <a:ln/>
        </p:spPr>
        <p:txBody>
          <a:bodyPr wrap="square" lIns="0" tIns="0" rIns="0" bIns="0" rtlCol="0" anchor="ctr"/>
          <a:lstStyle/>
          <a:p>
            <a:pPr rtl="1" algn="r" indent="0" marL="0">
              <a:buNone/>
            </a:pPr>
            <a:r>
              <a:rPr lang="en-US" sz="1500" dirty="0">
                <a:solidFill>
                  <a:srgbClr val="D7DEEA"/>
                </a:solidFill>
                <a:latin typeface="Tahoma" pitchFamily="34" charset="0"/>
                <a:ea typeface="Tahoma" pitchFamily="34" charset="-122"/>
                <a:cs typeface="Tahoma" pitchFamily="34" charset="-120"/>
              </a:rPr>
              <a:t>پیش‌فاکتور ← سفارش ← حواله ← فاکتور ← (برگشت)؛ تأیید، قطعی‌سازی و سند حسابداری خودکار</a:t>
            </a:r>
            <a:endParaRPr lang="en-US" sz="1500" dirty="0"/>
          </a:p>
        </p:txBody>
      </p:sp>
      <p:sp>
        <p:nvSpPr>
          <p:cNvPr id="20" name="Text 18"/>
          <p:cNvSpPr txBox="1"/>
          <p:nvPr/>
        </p:nvSpPr>
        <p:spPr>
          <a:xfrm>
            <a:off x="731520" y="5806440"/>
            <a:ext cx="10698480" cy="457200"/>
          </a:xfrm>
          <a:prstGeom prst="rect">
            <a:avLst/>
          </a:prstGeom>
          <a:noFill/>
          <a:ln/>
        </p:spPr>
        <p:txBody>
          <a:bodyPr wrap="square" lIns="0" tIns="0" rIns="0" bIns="0" rtlCol="0" anchor="ctr"/>
          <a:lstStyle/>
          <a:p>
            <a:pPr rtl="1" algn="r" indent="0" marL="0">
              <a:buNone/>
            </a:pPr>
            <a:r>
              <a:rPr lang="en-US" sz="1500" dirty="0">
                <a:solidFill>
                  <a:srgbClr val="A9B4C8"/>
                </a:solidFill>
                <a:latin typeface="Tahoma" pitchFamily="34" charset="0"/>
                <a:ea typeface="Tahoma" pitchFamily="34" charset="-122"/>
                <a:cs typeface="Tahoma" pitchFamily="34" charset="-120"/>
              </a:rPr>
              <a:t>مرحلهٔ بعد: اطلاعات پایه، صدور سند، دفتر چک، اعلامیه، گزارش‌های حسابداری و حسابیار</a:t>
            </a:r>
            <a:endParaRPr lang="en-US" sz="1500" dirty="0"/>
          </a:p>
        </p:txBody>
      </p:sp>
      <p:sp>
        <p:nvSpPr>
          <p:cNvPr id="25" name="Slide Number Placeholder 0"/>
          <p:cNvSpPr>
            <a:spLocks noGrp="1"/>
          </p:cNvSpPr>
          <p:nvPr>
            <p:ph type="sldNum" sz="quarter" idx="4294967295"/>
          </p:nvPr>
        </p:nvSpPr>
        <p:spPr>
          <a:xfrm>
            <a:off x="4114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Tahoma"/>
                <a:ea typeface="Tahoma"/>
                <a:cs typeface="Tahoma"/>
              </a:defRPr>
            </a:lvl1pPr>
          </a:lstStyle>
          <a:p>
            <a:pPr algn="l"/>
            <a:fld id="{F7021451-1387-4CA6-816F-3879F97B5CBC}" type="slidenum">
              <a:rPr b="0" lang="en-US"/>
              <a:t>78</a:t>
            </a:fld>
            <a:endParaRPr lang="en-US"/>
          </a:p>
        </p:txBody>
      </p:sp>
    </p:spTree>
  </p:cSld>
  <p:clrMapOvr>
    <a:masterClrMapping/>
  </p:clrMapOvr>
</p:sld>
</file>

<file path=ppt/theme/theme1.xml><?xml version="1.0" encoding="utf-8"?>
<a:theme xmlns:a="http://schemas.openxmlformats.org/drawingml/2006/main" name="AccountCore Guide">
  <a:themeElements>
    <a:clrScheme name="AccountCore Guide">
      <a:dk1>
        <a:srgbClr val="1F2937"/>
      </a:dk1>
      <a:lt1>
        <a:srgbClr val="FFFFFF"/>
      </a:lt1>
      <a:dk2>
        <a:srgbClr val="1B2A49"/>
      </a:dk2>
      <a:lt2>
        <a:srgbClr val="F4F6FA"/>
      </a:lt2>
      <a:accent1>
        <a:srgbClr val="C9A227"/>
      </a:accent1>
      <a:accent2>
        <a:srgbClr val="25385F"/>
      </a:accent2>
      <a:accent3>
        <a:srgbClr val="1E8E5A"/>
      </a:accent3>
      <a:accent4>
        <a:srgbClr val="C2410C"/>
      </a:accent4>
      <a:accent5>
        <a:srgbClr val="2563EB"/>
      </a:accent5>
      <a:accent6>
        <a:srgbClr val="7C3AED"/>
      </a:accent6>
      <a:hlink>
        <a:srgbClr val="2563EB"/>
      </a:hlink>
      <a:folHlink>
        <a:srgbClr val="7C3AED"/>
      </a:folHlink>
    </a:clrScheme>
    <a:fontScheme name="AccountCore Guide">
      <a:majorFont>
        <a:latin typeface="Tah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78</Slides>
  <Notes>78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78</vt:i4>
      </vt:variant>
    </vt:vector>
  </HeadingPairs>
  <TitlesOfParts>
    <vt:vector size="8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راهنمای کاربری — تنخواه، دریافت و پرداخت، صورت‌های مالی، فروش</dc:title>
  <dc:subject>PptxGenJS Presentation</dc:subject>
  <dc:creator>Alireza Abouhossein</dc:creator>
  <cp:lastModifiedBy>Alireza Abouhossein</cp:lastModifiedBy>
  <cp:revision>1</cp:revision>
  <dcterms:created xsi:type="dcterms:W3CDTF">2026-10-17T10:05:03Z</dcterms:created>
  <dcterms:modified xsi:type="dcterms:W3CDTF">2026-10-17T10:05:03Z</dcterms:modified>
</cp:coreProperties>
</file>