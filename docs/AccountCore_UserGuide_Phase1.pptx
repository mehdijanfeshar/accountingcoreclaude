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مقدمه" id="{b6a06c61-b751-79e8-579b-098bace07336}">
          <p14:sldIdLst>
            <p14:sldId id="256"/>
            <p14:sldId id="257"/>
          </p14:sldIdLst>
        </p14:section>
        <p14:section name="شروع کار" id="{566561cd-8f5d-a7bc-1822-91eb20e61d56}">
          <p14:sldIdLst>
            <p14:sldId id="258"/>
            <p14:sldId id="259"/>
            <p14:sldId id="260"/>
          </p14:sldIdLst>
        </p14:section>
        <p14:section name="تنخواه‌گردان" id="{981ac4bf-b98d-7aa5-9be2-dadb492bc533}">
          <p14:sldIdLst>
            <p14:sldId id="261"/>
          </p14:sldIdLst>
        </p14:section>
        <p14:section name="تنخواه" id="{18ef20dc-9b61-da61-0523-4b930d46144a}">
          <p14:sldIdLst>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دریافت و پرداخت (خزانه‌داری)" id="{eca41b31-eba0-b023-3a30-f8a712e98b7f}">
          <p14:sldIdLst>
            <p14:sldId id="279"/>
          </p14:sldIdLst>
        </p14:section>
        <p14:section name="خزانه" id="{7e9d9e09-bfa5-66f5-0312-ef194882148f}">
          <p14:sldIdLst>
            <p14:sldId id="280"/>
            <p14:sldId id="281"/>
            <p14:sldId id="282"/>
            <p14:sldId id="283"/>
            <p14:sldId id="284"/>
            <p14:sldId id="285"/>
            <p14:sldId id="286"/>
            <p14:sldId id="287"/>
            <p14:sldId id="288"/>
            <p14:sldId id="289"/>
            <p14:sldId id="290"/>
            <p14:sldId id="291"/>
            <p14:sldId id="292"/>
            <p14:sldId id="293"/>
          </p14:sldIdLst>
        </p14:section>
        <p14:section name="صورت‌های مالی" id="{5da5206d-9057-6fac-0d25-6b819208773f}">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پیوست" id="{ec80fde3-0f05-cd89-1c58-1d98a7ed7227}">
          <p14:sldIdLst>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راهنما بر اساس فرم‌های واقعی نسخهٔ جاری برنامه تهیه شده است. اعداد و نام‌ها در تصاویر نمونه‌اند.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ورود: با دکمهٔ «ورود با حساب سازمانی» از سامانهٔ احراز هویت سازمان وارد شوید.
2. سال مالی و واحد: در نوار بالا روی نام واحد و سال کلیک کنید و سال مالی و واحدی را که می‌خواهید به نام آن کار کنید انتخاب کنید.
3. اثر انتخاب: همهٔ فرم‌ها، فهرست‌ها و گزارش‌ها فقط دادهٔ همین واحد و سال را نشان می‌دهند؛ واحدی که مجوزش را ندارید با خطای «دسترسی ندارید» رد می‌شود.
4. ستاد مرکزی: کاربر ستاد می‌تواند به جای هر واحد عمل کند و در صورت‌های مالی، ترکیبی همهٔ زیرمجموعه‌ها را ببیند.
5. نقش و منو: منوها و دکمه‌ها بر اساس نقش شما در سامانهٔ ورود سازمان نمایش داده می‌شوند؛ مدیر ستاد در «اطلاعات پایه ← دسترسی نقش‌ها» دسترسی هر منو و زبانه را تعیین می‌کند.
نکته: پیش از هر کاری سال مالی و واحد را بررسی کنید؛ بیشتر خطاهای «یافت نشد» به‌خاطر انتخاب واحد یا سال اشتباه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 هر گزینهٔ منو در یک زبانهٔ جدا باز می‌شود (حداکثر ۱۰)؛ ویرایش و جزئیات در همان زبانه.
2. جابه‌جایی و بستن: کلیک روی عنوان زبانه؛ × یا کلیک وسط ماوس می‌بندد و برای فرم ذخیره‌نشده هشدار می‌دهد.
3. کلیک راست: نسخهٔ دیگر در تب جدید یا کنار همین تب، نمایش کنار تب فعال، بستن بقیه یا همه.
4. کنار هم: دو فرم هم‌زمان؛ خط وسط را بکشید. «نمای تک‌صفحه» به حالت عادی برمی‌گردد.
5. لایسنس: نوار آبی بالای صفحه یعنی لایسنس نزدیک انقضاست؛ پس از پایان مهلت، سامانه فقط‌خواندنی می‌شود.
نکته: زبانه‌های پشتی باز می‌مانند و فرم نیمه‌پر، فیلتر و صفحهٔ جدولشان از دست نمی‌رود؛ ولی بعد از تازه‌سازی (F5) فقط فهرست زبانه‌ها برمی‌گردد، نه محتوای فرم‌ها.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مرتب‌سازی: روی سرستون کلیک کنید: صعودی ← نزولی ← ترتیب اصلی. مرتب‌سازی فقط روی ردیف‌های همین صفحه است.
2. ستون‌ها: دکمهٔ «ستون‌ها» فهرست تیک‌دار ستون‌ها را باز می‌کند؛ انتخاب شما برای همان جدول در مرورگرتان به خاطر سپرده می‌شود.
3. نمایش همه: «نمایش همهٔ ستون‌ها» تنظیم را برمی‌گرداند؛ ستون «عملیات» همیشه می‌ماند.
4. تعداد ردیف: پایین جدول، تعداد ردیف هر صفحه را عوض کنید و بین صفحه‌ها بروید.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تنخواه — سقف، تنخواه‌دار، بررسی‌کنندگان
2. ثبت صورت‌هزینه — تنخواه‌دار + پیوست
3. بررسی و تأیید — بازرس ← مدیر مالی/مدیرعامل
4. ترمیم (شارژ) — مدیر مالی ← خزانه‌دار
5. تسویهٔ دوره — شمارش صندوق + سند حسابداری
معادلهٔ تراز تنخواه:  سقف تنخواه = موجودی نقد + تأییدشدهٔ منتظر ترمیم + اسناد در جریان − استرداد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هر ردیف یک تنخواه است با کد، عنوان، تنخواه‌دار، سقف، سقف هر سند و موجودی نقد لحظه‌ای.
2. تنخواه جدید: دکمهٔ «تنخواه جدید» را بزنید تا فرم تعریف باز شود (اسلاید بعد).
3. آیکون‌های ردیف: ویرایش، «بررسی‌کنندگان»، «تفصیلی‌های حساب معین» و حذف.
4. غیرفعال‌سازی: تنخواه غیرفعال صورت‌هزینهٔ جدید نمی‌پذیرد؛ حذف فقط وقتی ممکن است که هیچ صورت‌هزینه‌ای نداشته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کد و عنوان: کد در هر واحد باید یکتا باشد؛ مثلاً TN-01 «تنخواه اداری ستاد».
2. تنخواه‌دار: کد کاربری و نام مسئول تنخواه؛ فقط او می‌تواند سند ثبت کند.
3. سقف‌ها: سقف تنخواه، سقف هر سند و سقف اختیار تأیید مدیر مالی (بیشتر از آن ⇐ مدیرعامل).
4. آستانهٔ هشدار: وقتی موجودی نقد از این درصد سقف کمتر شود داشبورد هشدار می‌دهد.
5. حساب معین و دورهٔ تسویه: حساب «تنخواه‌گردان‌ها» و ماهانه/فصلی؛ «ثبت‌کنندهٔ استرداد» را هم تعیین کنید.
6. ذخیره: وضعیت «فعال» را روشن بگذارید و ذخیره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فهرست تنخواه‌ها آیکون «بررسی‌کنندگان» را بزنید.
2. افزودن: کد کاربری، نام و نقش (بازرس مالی، مدیر مالی، مدیرعامل، حسابدار ارشد، خزانه‌دار) را وارد و «افزودن» کنید.
3. چند نقش: یک کاربر می‌تواند روی یک تنخواه بیش از یک نقش داشته باشد.
4. تفصیلی معین: از آیکون «تفصیلی‌های حساب معین» تفصیلی‌های لازم برای سند تسویه را تعیین کنید.
نکته: بدون بررسی‌کننده، اسناد ارسال‌شده در کارتابل کسی قابل اقدام نیستند. حداقل یک بازرس مالی و یک مدیر مالی تعریف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تنخواه و تاریخ: تنخواه را انتخاب کنید؛ کارت «ماندهٔ تنخواه» موجودی نقد و ماندهٔ پس از این سند را نشان می‌دهد.
2. فروشنده و فاکتور: نام و شناسهٔ ملی فروشنده، نوع مدرک، شماره و تاریخ فاکتور (در سال مالی جاری).
3. شرح و مبلغ: حساب هزینه، شرح، مبلغ قبل از مالیات و ارزش افزوده (۱۰٪ پیشنهاد می‌شود)؛ مبلغ کل خودکار است.
4. کنترل‌های لحظه‌ای: تیک سبز یعنی در سقف هر سند، موجودی کافی و تاریخ معتبر است.
5. ذخیره یا ارسال: «ذخیرهٔ پیش‌نویس» برای ادامه بعدی؛ «ارسال برای بررسی» سند را به کارتابل می‌فرستد.
6. پیوست: پس از اولین ذخیره، فاکتور و رسید را پیوست کنید.
نکته: فاکتور تکراری (همان شناسهٔ ملی + شماره فاکتور) پذیرفته نمی‌شود. فقط پیش‌نویس و برگشتی قابل ویرایش‌اند و فقط پیش‌نویس حذف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 «در جریان»، جدید، در انتظار بررسی، برگشتی، تأییدشده، ردشده، پیش‌نویس و همه — با تعداد هر وضعیت.
2. جستجو و فیلتر: بر اساس تنخواه، شرح، فروشنده یا شماره فاکتور.
3. ستون عمر: روزهای گذشته از ارسال؛ عمر بالای ۵ روز قرمز می‌شود.
4. اقدام‌ها: نمایش، شروع بررسی، تأیید کنترل، تأیید نهایی، برگشت و رد — فقط اقدام‌های مجاز نقش شما فعال است.
5. تأیید گروهی: اسناد کنترل‌شده را تیک بزنید و «تأیید گروهی» کنید؛ همه با هم تأیید می‌شوند یا هیچ‌کدام.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شروع بررسی: بازرس روی سند «جدید» «شروع بررسی» را می‌زند؛ وضعیت «در انتظار بررسی» می‌شود.
2. بررسی مدارک: فیلدها فقط‌خواندنی‌اند؛ پیوست‌ها را در پنل کناری باز و پیش‌نمایش کنید.
3. نوار اقدام: «تأیید نهایی»، «برگشت برای اصلاح» و «رد سند…»؛ برچسب آبی نشان می‌دهد چه کسی و کی کنترل کرده.
4. میانبر: کلید A برای تأیید و R برای برگشت؛ با پیکان‌ها به سند قبلی/بعدی بروید.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تأیید کنترل: بازرس پس از بررسی، «تأیید کنترل» را با یادداشت اختیاری ثبت می‌کند؛ وضعیت سند تغییر نمی‌کند.
2. تأیید نهایی: مدیر مالی (تا سقف اختیار) یا مدیرعامل (بالاتر از سقف) سند کنترل‌شده را تأیید می‌کند ⇐ «تأییدشده».
3. قید: تأییدکنندهٔ نهایی نباید همان بازرس یا ثبت‌کنندهٔ سند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دلایل: یک یا چند دلیل: پیوست ناقص، حساب هزینه نادرست، مبلغ با مدرک مطابقت ندارد، شرح نیازمند توضیح، سایر.
2. مهلت: تاریخ مهلت اصلاح (بعد از امروز) الزامی است.
3. توضیح: متن توضیح برای تنخواه‌دار الزامی است.
4. قفل فیلدها: تنخواه‌دار فقط فیلدهای مرتبط با دلیل را می‌تواند تغییر دهد؛ مثلاً «پیوست ناقص» فقط پیوست را باز می‌کند.
5. رد سند: برای رد، دلیل بنویسید؛ سند ردشده پایانی است و ترمیم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کادر نارنجی: مهلت، دلایل و توضیح بررسی‌کننده بالای فرم نمایش داده می‌شود.
2. فیلدهای مجاز: فقط فیلدهای قاب‌دار رنگی قابل ویرایش‌اند؛ بقیه قفل‌اند.
3. ارسال دوباره: «ارسال برای بررسی» را بزنید؛ سند دوباره باید کنترل بازرس شود.
4. تاریخچه: پنل «تاریخچهٔ اقدامات» همهٔ رویدادها را با کاربر، زمان و IP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کارت‌ها: موجودی نقد (و درصد از سقف)، تأییدشدهٔ منتظر ترمیم، در جریان بررسی و برگشتی‌ها.
2. تراز تنخواه: معادلهٔ سقف را با اعداد واقعی نشان می‌دهد؛ برچسب «متوازن» یعنی داده سالم است.
3. اقدامات امروز: اسنادی که منتظر اقدام‌اند؛ دکمهٔ «بررسی» یا «پیگیری» مستقیم سند را باز می‌کند.
4. هشدارها: اسناد معطل و مبلغ منتظر ترمیم؛ دکمهٔ «ایجاد درخواست ترمیم» میانبر گام بعدی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تنخواه: سامانه همهٔ صورت‌هزینه‌های تأییدشدهٔ ترمیم‌نشده را جمع می‌کند.
2. ریز حساب‌ها: جدول «مبلغ ترمیم بر اساس اسناد تأییدشده» جمع هر حساب هزینه و تعداد سند را نشان می‌دهد.
3. اطلاعات ترمیم: حساب بانکی مبدأ، روش پرداخت (پایا، چک، نقد، سایر)، تاریخ و یادداشت.
4. اثر ترمیم: موجودی نقد قبل و بعد؛ کنترل «در حد سقف» و «هیچ سندی دو بار ترمیم نمی‌شود».
5. ارسال: «ارسال برای تأیید»: مسیر ۱. مدیر مالی ← ۲. خزانه‌دار.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در «شارژ و ترمیم» همهٔ درخواست‌ها با وضعیت: پیش‌نویس، در انتظار مدیر مالی، در انتظار خزانه‌دار، پرداخت‌شده، ردشده.
2. تأیید مدیر مالی: مدیر مالی (غیر از سازنده) «تأیید» یا «رد» می‌کند.
3. ثبت پرداخت: خزانه‌دار پس از واریز، پرداخت را ثبت می‌کند ⇐ «پرداخت‌شده» و موجودی نقد افزایش می‌یابد.
4. مسیر تأیید: کارت «مسیر تأیید» مرحلهٔ جاری را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 تنخواه، از تاریخ، تا تاریخ و نوع (ترمیم، هزینه، استرداد).
2. ستون‌ها: دریافت (ترمیم/استرداد)، پرداخت (هزینه) و ماندهٔ جاری پس از هر ردیف.
3. مرجع: روی کد مرجع بزنید تا سند مبدأ باز شود.
4. خروجی: دکمهٔ «خروجی اکسل» گزارش را با جمع‌ها ذخیره می‌کند.
نکته: این گزارش حرکت واقعی وجه است؛ اسناد در جریان (هنوز تأییدنشده) در آن نیستند، پس ماندهٔ پایان آن با موجودی نقد داشبورد به اندازهٔ اسناد در جریان فرق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دورهٔ جاری: بر اساس دورهٔ تسویهٔ تنخواه (ماهانه/فصلی) خودکار تعیین می‌شود.
2. کارت‌ها: ماندهٔ ابتدای دوره، ترمیم و استرداد، هزینهٔ تأییدشده و ماندهٔ نقد پایان دوره.
3. اسناد در جریان: به دورهٔ بعد منتقل می‌شوند؛ پیام آبی تعداد و مبلغ آن‌ها را می‌گوید.
4. شمارش: مبلغ شمارش‌شدهٔ صندوق/حساب را وارد و «ذخیرهٔ شمارش» کنید؛ باید با ماندهٔ محاسبه‌شده برابر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پیش‌نمایش سند: بدهکار هر حساب هزینه با تفصیلی‌ها، بستانکار حساب تنخواه؛ برچسب «متوازن».
2. کنترل‌های پیش از بستن: اسناد منظورشده، برابری شمارش، اسناد در جریان و نقش کاربر.
3. تأیید انتقال: اگر سند در جریان هست، تیک «انتقال به دورهٔ بعد را تأیید می‌کنم» را بزنید.
4. نهایی‌سازی: حسابدار ارشد «نهایی‌سازی و صدور سند» را می‌زند ⇐ سند موقت صادر و اسناد «تسویه‌شده» می‌شوند.
5. تاریخچه: دوره‌های نهایی‌شده با شمارهٔ سند در جدول پایین صفحه.
نکته: پس از نهایی‌سازی، دوره قفل می‌شود و اصلاح فقط با سند اصلاحی ممکن است. حذف استردادی که در دورهٔ نهایی‌شده است مجاز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ثبت درخواست — ثبت‌کننده
2. تأیید مدیر واحد — مرحلهٔ ۱
3. تأیید مدیر مالی — مرحلهٔ ۲
4. تأیید مدیرعامل — فقط بالای آستانه
5. آمادهٔ اجرا — سند شناسایی بدهی
6. اجرای پرداخت — خزانه‌دار — سند پرداخت
از هر مرحلهٔ «در انتظار» می‌توان برگشت (دلیل اجباری) یا رد داد. یک کاربر دو مرحلهٔ پشت‌سرهم را تأیید نمی‌کند و ثبت‌کننده تأییدکننده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آستانه‌ها: آستانهٔ تأیید مدیرعامل و سقف تأیید گروهی (بدون مقدار پیش‌فرض؛ تا تعریف نشوند ارسال ممکن نیست).
2. تفصیلی ذی‌نفع: گروه تفصیلی تأمین‌کنندگان برای شناسایی ذی‌نفع.
3. حساب‌های سند خودکار: بستانکاران، اعتبار مالیات بر ارزش افزوده و کسور بیمه.
4. دریافت و انتقال: حساب دریافتنی، گروه تفصیلی مشتریان و سقف انتقال روزانه.
5. مغایرت بانکی: حساب کارمزد بانکی؛ سپس «ذخیره تنظیمات» (فقط مدیر مالی).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نقش‌ها: مدیر واحد، مدیر مالی، مدیرعامل، حسابدار ارشد و خزانه‌دار — فهرستی جدا از نقش‌های تنخواه.
2. افزودن: کد کاربری، نقش و نام را وارد و «افزودن» کنید.
3. اولین مدیر مالی: اگر واحد هنوز مدیر مالی ندارد هر کاربری می‌تواند اولین نقش را ثبت کند؛ بعد از آن فقط مدیر مالی.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زبانه‌های وضعیت: پیش‌نویس، در انتظار مدیر واحد/مالی/مدیرعامل، آمادهٔ اجرا، پرداخت شد، برگشتی، ردشده، معلق.
2. درخواست جدید: دکمهٔ «درخواست پرداخت جدید» در بالای صفحه.
3. اقدام ردیف: پیش‌نویس و برگشتی: ویرایش، ارسال و حذف؛ بقیه فقط نمایش.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ذی‌نفع: نام، نوع (تأمین‌کننده، کارمند، سایر)، شناسه ملی و تفصیلی ذی‌نفع.
2. فاکتور: شماره فاکتور و تیک «فاکتور تأیید شده» (اگر شماره وارد شود الزامی است).
3. حساب و مرکز هزینه: حساب هزینهٔ معین و تفصیلی‌های مرکز هزینه که آن معین لازم دارد.
4. مبلغ: مبلغ قبل از مالیات، درصد یا مبلغ ارزش افزوده و کسر بیمه؛ خالص قابل پرداخت خودکار.
5. سررسید و پرداخت: تاریخ سررسید (گذشته نباشد)، حساب بانکی و روش پرداخت (ساتنا، پایا، چک، نقد).
6. ذخیره/ارسال: «ذخیرهٔ پیش‌نویس» یا «ارسال برای تأیید».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یک کارتابل: درخواست‌های پرداخت، ترمیم‌های تنخواه منتظر خزانه‌دار و انتقال‌های وجه — قدیمی‌ترین در بالا.
2. برچسب «منتظر شما»: فقط مواردی که مرحلهٔ فعلی با نقش شما است اقدام‌پذیرند.
3. تأیید/برگشت/رد: برگشت و رد دلیل اجباری دارند؛ برگشتی دوباره از مدیر واحد شروع می‌شود.
4. تأیید گروهی: فقط برای مبالغ زیر «سقف تأیید گروهی».
نکته: در لحظهٔ آخرین تأیید (مدیر مالی یا مدیرعامل) سند «شناسایی بدهی» به‌صورت موقت و خودکار صادر می‌شود؛ اگر حساب‌های تنظیمات کامل نباشد، خود تأیید هم انجام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پرداخت در بانک: خزانه‌دار ابتدا وجه را در سامانهٔ بانک پرداخت می‌کند.
2. ثبت اجرا: شمارهٔ پیگیری بانک، تاریخ پرداخت، شبای مقصد و روش پرداخت را وارد و «اجرای پرداخت» کنید.
3. نتیجه: سند «پرداخت» موقت و رکورد دریافت/پرداخت صادر و وضعیت «پرداخت شد» می‌شود.
4. تعلیق: با دلیل، درخواست را معلق و بعداً «رفع تعلیق»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سند شناسایی بدهی: بدهکار هزینه (با مرکز هزینه) و اعتبار مالیات؛ بستانکار بستانکاران (ذی‌نفع) و کسور بیمه.
2. سند پرداخت: بدهکار بستانکاران، بستانکار بانک (با تفصیلی حساب بانکی).
3. کجا ببینیم: پایین صفحهٔ درخواست، پنل «اسناد حسابداری» با شمارهٔ سند و برچسب «متوازن».
4. وضعیت: هر دو سند «موقت»‌اند و در کارتابل اسناد قطعی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 زبانه: «دریافت وجه» از مشتریان/کارفرمایان و «انتقال وجه» بین حساب‌های بانکی واحد.
2. وضعیت دریافت: پیش‌نویس ← ثبت‌شده (فقط خزانه‌دار) یا لغوشده.
3. وضعیت انتقال: پیش‌نویس ← در انتظار خزانه‌دار ← اجراشده؛ یا برگشتی/ردشده.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پرداخت‌کننده: تفصیلی مشتری از گروه تفصیلی مشتریان (الزامی).
2. مبلغ و حساب: مبلغ، حساب بانکی مقصد، روش، تاریخ و شمارهٔ پیگیری بانک (تکراری پذیرفته نمی‌شود).
3. ثبت: خزانه‌دار «ثبت» را می‌زند ⇐ سند دریافت موقت: بدهکار بانک / بستانکار حساب دریافتنی.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مبدأ و مقصد: دو حساب بانکی متفاوت از همین واحد؛ موجودی دفتری مبدأ نمایش داده می‌شود.
2. مبلغ و روش: مبلغ، تاریخ، روش انتقال و دلیل انتقال.
3. ارسال: «ارسال برای تأیید» به خزانه‌دار.
4. کنترل‌های مسدودکننده: موجودی کافی مبدأ و سقف انتقال روزانه؛ تأییدکننده ≠ ثبت‌کننده.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صورت‌حساب جدید: حساب بانکی، بازهٔ تاریخ و ماندهٔ طبق بانک؛ ردیف‌ها را دستی اضافه یا با «بارگذاری فایل دیسکت» (بانک رفاه) وارد کنید.
2. تطبیق خودکار: بر اساس شمارهٔ چک/فیش، مرجع بانک و مبلغ در بازهٔ ±۳ روز.
3. تطبیق‌نیافته‌ها: تطبیق دستی، صدور سند کارمزد، اتصال به دریافت یا «نادیده» با یادداشت.
4. بستن: وقتی مغایرت صفر شد صورت‌حساب را «بستن»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جزئیات صورت‌حساب، دکمهٔ «صورت مغایرت» را بزنید.
2. ساختار: ماندهٔ دفتر ± واریز و برداشت‌های بانک که در دفتر نیامده و چک‌های وصول‌نشده = ماندهٔ تعدیل‌شده، در برابر ماندهٔ طبق بانک.
3. اختلاف: سطر «اختلاف توضیح‌داده‌نشده» باید صفر شود؛ اگر نشد، ردیف‌های تطبیق‌نیافته را بررسی کنید.
4. ریز اقلام: هر گروه با تاریخ، شماره/مرجع، شرح و مبلغ و جمع؛ پایین برگه جای امضای تهیه‌کننده، رئیس حسابداری و مدیر مالی.
5. چاپ: دکمهٔ «چاپ / PDF» را بزنید.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موجودی کل: جمع و تفکیک موجودی دفتری حساب‌های بانکی.
2. تعهدات ۷ روز: درخواست‌های آمادهٔ اجرا و نسبت پوشش آن با موجودی.
3. در انتظار تأیید و امروز: تعداد و مبلغ موارد منتظر تأیید؛ دریافت و پرداخت امروز.
4. اقلام باز و هشدارها: سررسیدهای نزدیک و ردیف‌های مغایرت؛ اقدام سریع برای درخواست، دریافت یا 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قالب و نگاشت — نسخهٔ فعال؛ هیچ معینی جا نماند
2. تهیهٔ صورت‌ها — ویزارد سه‌مرحله‌ای
3. بررسی و Drill-down — تا سند حسابداری
4. کنترل و یادداشت‌ها — ارجاع کنترل، متن یادداشت
5. تأیید مرحله‌ای — بازبین ← مدیرکل ← معاون
6. بستن دوره و انتشار — قفل دوره، PDF و XBRL
هر اجرا یک «عکس ثابت» از اعداد است؛ تغییر بعدی قالب یا اسناد، اجرای قبلی را عوض نمی‌کند — برای عدد تازه، اجرای جدید بگیرید.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شاخص‌ها: چهار نسبت اول از آخرین اجرای سال، در کنار مقدار سال قبل.
2. وضعیت بستن سال: کاشی هر زیرواحد با وضعیت دوره (باز، بستهٔ موقت، قفل)، تعداد خطا و درصد پیشرفت.
3. کارهای من: تأییدهای منتظر شما، کنترل‌های ارجاع‌شده، یادداشت‌های در بازبینی و درخواست‌های بازگشایی؛ با کلیک به همان صفحه می‌روید.
4. میانبرها: «تهیهٔ صورت‌ها»، «مشاهدهٔ صورت‌ها»، «تحلیل» و «یادداشت‌ها» در بالای صفحه.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سه بُعد: هر دسترسی می‌گوید چه کسی، روی کدام واحد (و زیرمجموعه‌ها)، در کدام مجموعهٔ صورت، چه کاری انجام دهد.
2. عملیات: مشاهده، تهیه، تغییر قالب، فعال‌سازی، تأیید/برگشت، انتشار، بستن دوره و مدیریت دسترسی.
3. تفکیک وظایف: تهیه‌کننده و تأییدکننده، و ویرایشگر قالب و فعال‌کننده را به افراد جدا بدهید.
4. دسترسی جدید: دکمهٔ «دسترسی جدید»: کد کاربری، واحد، مجموعه و تیک عملیات‌ها؛ فقط دارندهٔ «مدیریت دسترسی» این صفحه را تغییر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مجموعه‌ها: زبانه‌ها: طرح بیمه‌ای (استاندارد ۲۷)، واحد تجاری (استاندارد ۱)، بخش عمومی، مدیریتی.
2. قالب‌های پیش‌فرض: دکمهٔ «قالب‌های پیش‌فرض» صورت‌ها و یادداشت‌های نمونه را می‌سازد (فقط ستاد).
3. نسخه‌ها: هر قالب نسخه‌های فعال، پیش‌نویس و بازنشسته دارد؛ فقط پیش‌نویس ویرایش می‌شود.
4. مالکیت: «مشترک» برای همهٔ واحدها؛ قالب اختصاصی یک واحد، قالب مشترک هم‌کد را برای آن واحد جایگزین می‌کند.
5. قالب جدید: نوع صورت را انتخاب کنید؛ برای «یادداشت» صورت و ردیف والد را هم تعیین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ستون‌ها: کد، عنوان، نوع، حساب/فرمول، ماهیت و مقدار، یادداشت.
2. انواع ردیف: عنوان، حساب، فرمول، مقدار دستی، متن و خالی.
3. ترتیب: پیکان‌های بالا/پایین، یا نمای «درخت»: کشیدن و رها کردن.
4. بررسی قالب: خطاها (مانع فعال‌سازی) و هشدارها را نشان می‌دهد.
5. فعال‌سازی: سال شروع اعتبار را بدهید؛ نسخهٔ فعال قبلی با همان سال بازنشسته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صفحهٔ نسخهٔ پیش‌نویس، کلید «درخت» کنار «جدول» را بزنید.
2. جابه‌جایی: ردیف را با دستگیرهٔ کنارش بکشید و رها کنید؛ نیمهٔ بالا/پایین ⇐ پیش یا پس از ردیف، وسط «عنوان» ⇐ زیرمجموعهٔ آن.
3. زیرمجموعه: ردیف‌های زیر یک عنوان با هم جابه‌جا می‌شوند و تورفتگی خودکار تنظیم می‌شود.
4. جمع‌ها: فرمول‌های بازه‌ای مثل SUM(A01:A06) بر اساس ترتیب جدید محاسبه می‌شوند؛ بعد از جابه‌جایی «بررسی قالب» را بزنید.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انتخاب‌گر: 1301 معین دقیق · 13* پیشوند · 1301..1309 بازه · !1305 استثنا · [D]/[C] فقط مانده بدهکار/بستانکار.
2. نوع مقدار: مانده پایان، مانده ابتدا، گردش خالص، گردش بدهکار یا بستانکار.
3. فرمول: مثل SUM(A01:A08)، A99+L99، ROUND، IF، PRIOR و STMT(صورت دیگر، ردیف).
4. قالب‌بندی: تورفتگی، پررنگ، خط بالا/دو خط زیر، ستون داخلی، پنهان اگر صفر، صفحهٔ جدید.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کاربرد: پیش از فعال‌سازی، قالب پیش‌نویس را روی اسناد واقعی امتحان کنید؛ چیزی ذخیره نمی‌شود.
2. پارامترها: سال، پایان دوره، حداقل وضعیت سند، با زیرمجموعه‌ها و واحد مبلغ.
3. واترمارک: برچسب «آزمایشی» یعنی این عدد رسمی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نمای حساب‌محور: هر معین کدینگ به کدام ردیف و صورت رفته است.
2. بدون نگاشت: معین‌هایی که در هیچ صورت اصلی نیستند (قرمز) — اعدادشان از صورت جا می‌ماند.
3. دوبار شمرده: معینی که در یک صورت در دو ردیف آمده (نارنجی).
4. اصلاح: کلیک روی ردیف ⇐ قالب؛ یا «ورود از Excel» و «اعمال پیشنهادها» روی پیش‌نویس.
5. پیشنهاد: برای معین بی‌نگاشت، ردیفی که معین‌های هم‌گروهش در آن هستند پیشنهاد می‌شود؛ بعد از اعمال، قالب را فعال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شکل قاعده: عبارت چپ = عبارت راست با اختلاف مجاز؛ مثل «نقد صورت جریان = موجودی نقد خالص دارایی‌ها».
2. شدت: اطلاع، هشدار، یا مسدودکننده (مانع ارسال برای بازبینی).
3. کنترل‌های ثابت: تراز آزمایشی، پوشش حساب، مانده معکوس، جمع یادداشت، اسناد خارج از سال، حذف فی‌مابین (V-07) و قفل دوره (V-11) خودکار اجرا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هر ردیف یک اجرا: شماره، مجموعه، دوره، دامنه (ترکیبی/جداگانه)، وضعیت و تاریخ تهیه.
2. وضعیت‌ها: پیش‌نویس، در بازبینی، تأییدشده، منتشرشده، جایگزین‌شده.
3. تهیهٔ صورت‌ها: دکمهٔ بالای صفحه ویزارد را باز می‌کند.
4. حذف: فقط پیش‌نویس و جایگزین‌شده حذف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مجموعهٔ صورت، سال مالی و «پایان دوره» (از ابتدای سال تا پایان آن ماه).
2. صورت ترکیبی (همهٔ زیرمجموعه‌ها) یا جداگانه؛ در ترکیبی «گروه واحدها» (بیمه‌ای، درمانی یا ستادی) هم قابل انتخاب است؛ حداقل وضعیت سند (پیش‌فرض تأیید دائم).
3. ستون سال قبل، «تجدید ارائه‌شده»، تلفیق با شرکت‌های تابعه، اجرا در پس‌زمینه و شمارهٔ اولین یادداشت ⇐ «تهیهٔ صورت‌ها»؛ «ذخیره به‌عنوان پیش‌فرض» تنظیمات را نگه می‌دارد.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قالب رسمی: عنوان سه‌سطری، ستون یادداشت، سال جاری و قبل، خط جمع و پرانتز برای منفی.
2. ابزارها: واحد مبلغ، تغییرات، تحلیل عمودی، فشرده و جستجو؛ خروجی Excel، Word یادداشت‌ها، XBRL و «بستهٔ رسمی / PDF».
3. زبانه‌ها: هر صورت، یادداشت‌ها، کنترل‌ها و «کاربرگ ترکیب / تلفیق».
4. اثر انگشت: کد Hash محتوا برای اطمینان از تغییرنکردن اعداد.
5. شمارهٔ یادداشت: کلیک روی شماره همان یادداشت را باز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یادداشت: ریز ردیف صورت؛ مثلاً یادداشت ۵ «موجودی نقد» با صندوق، بانک و تنخواه.
2. شماره‌گذاری: خودکار به ترتیب ارائه؛ عنوان‌های داخل یادداشت ۵-۱، ۵-۲ می‌شوند.
3. کنترل V-08: برچسب سبز «جمع یادداشت = ردیف صورت»؛ قرمز یعنی مغایرت و مانع ارسال.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روی هر مبلغ ردیف «حساب» کلیک کنید (یا Enter)؛ پنل کناری سهم هر معین را نشان می‌دهد.
2. «به تفکیک واحد» سهم هر اداره کل را می‌دهد؛ با مسیر بالای پنل برگردید.
3. روی «اسناد …» بزنید: ریز اسناد با جمع بدهکار/بستانکار؛ آیکون کنار هر ردیف سند را باز می‌کند. هر سطح Excel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کنترل‌ها: هر کنترل با شدت، نتیجه و اختلاف؛ مسدودکنندهٔ ناموفق جلوی «ارسال برای بازبینی» را می‌گیرد.
2. مقادیر دستی: ردیف‌های «مقدار دستی» را با دلیل اجباری وارد کنید؛ اجرای تازه ساخته می‌شود.
3. گردش: پیش‌نویس ⇐ بازبینی ⇐ تأیید (یک یا چند مرحله) ⇐ انتشار؛ برگشت با دلیل.
4. تفکیک وظایف: تهیه‌کننده تأیید و منتشر نمی‌کند؛ انتشار، نسخهٔ منتشرشدهٔ قبلی همان دوره را «جایگزین‌شده» می‌کند.
5. کهنگی و مقایسه: نوار زرد یعنی اسناد بعد از اجرا عوض شده‌اند؛ «مقایسه با اجرای دیگر» تفاوت ردیف‌ها را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مراحل تأیید: برای هر مجموعه، مراحل (بازبین، مدیرکل، معاون…) را با کد کاربری تأییدکنندگان تعریف کنید.
2. تأیید مرحله‌به‌مرحله: دکمهٔ «تأیید» نام مرحلهٔ جاری را دارد؛ یک نفر دو مرحلهٔ یک اجرا را تأیید نمی‌کند.
3. بستن دوره: باز ⇐ بستهٔ موقت ⇐ قفل؛ قفل هر واحد، زیرواحدهایش را هم قفل‌شده حساب می‌کند.
4. بازگشایی: بستهٔ موقت مستقیم باز می‌شود؛ دورهٔ قفل با «درخواست بازگشایی» و تأیید ستاد.
5. تاریخچه: هر اقدام روی دوره با کاربر، زمان و دلیل در «تاریخچه» ثبت می‌شود.
نکته: انتشار فقط وقتی ممکن است که دورهٔ همهٔ واحدهای دامنه «قفل» شده باشد (کنترل V-11). این قفل ثبت سند را نمی‌بندد.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نوع یادداشت: مستقل (تاریخچه، مبنا، رویه‌ها) یا همراه یک یادداشت عددی که زیر جدول آن می‌آید.
2. ویرایشگر: پررنگ، فهرست، عنوان و «درج متغیر»؛ پیش‌نمایش زنده با اعداد یک اجرای همان سال.
3. بازبینی: ارسال ⇐ تأیید (نه آخرین ویرایشگر) ⇐ برگشت با دلیل؛ نوار پیشرفت بالای فهرست.
4. نسخه و انتقال: هر ذخیره یک نسخه است و بازگرداندنی؛ «انتقال از سال قبل» یادداشت‌ها را کپی می‌کند.
5. Word و انتشار: دکمهٔ «Word یادداشت‌ها» در صفحهٔ صورت؛ با انتشار، متن یادداشت‌ها ثابت می‌شود.
نکته: متغیرها به ترتیب: مبلغ جاری، سال قبل و درصد تغییر؛ مقدار از اعداد همان اجرا گرفته می‌شود.
{{A01}}   {{A01.prior}}   {{A01.change%}}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تحلیل عمودی: درصد هر ردیف از یک ردیف پایه (مثل جمع دارایی‌ها)؛ «فشرده» ردیف‌ها را نزدیک‌تر می‌کند.
2. میانبرها: ↑↓ حرکت بین ردیف‌ها، Enter ریز مبلغ، Esc بستن پنل، Ctrl+K جستجوی ردیف.
3. نظر روی ردیف: آیکون گفت‌وگو کنار عنوان ردیف؛ بازبین و تهیه‌کننده روی همان ردیف گفت‌وگو می‌کنند.
4. ارجاع کنترل: در زبانهٔ «کنترل‌ها» کنترل ناموفق را با مهلت به مسئول بدهید؛ بعد «رفع شد».
5. تجدید ارائه: در ویزارد، ستون سال قبل برچسب «تجدید ارائه‌شده» می‌گیرد؛ تنظیمات قابل ذخیره است.
نکته: دکمهٔ «بستهٔ رسمی / PDF» صفحهٔ چاپ رسمی را باز می‌کند؛ در پنجرهٔ چاپ «ذخیره به‌صورت PDF» را انتخاب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آیکون گفت‌وگو کنار عنوان ردیف را بزنید؛ عدد کنار آیکون تعداد نظرهاست.
2. گفت‌وگو: هر نظر با کد کاربر و زمان ثبت می‌شود؛ نظر خودتان را می‌توانید حذف کنید.
3. ثبت نظر: متن را در «نظر تازه» بنویسید و «ثبت نظر» را بزنید.
4. نظرهای کل اجرا: در زبانهٔ «کنترل‌ها»، دکمهٔ «نظرهای کل اجرا» همهٔ گفت‌وگوها را یک‌جا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نسبت‌ها: «نسبت‌های پیش‌فرض» ده نسبت رایج می‌سازد؛ هر نسبت یک صورت و یک مخرج دارد.
2. تحلیل: نسبت‌های اجرا در کنار سال قبل، و مقایسه و سهم اقلام اصلی هر صورت.
3. روند: نسبت‌های پنج سال اخیر از آخرین اجرای منتشرشدهٔ هر سال.
4. داشبورد: چهار نسبت اول به‌عنوان شاخص، و کاشی وضعیت بستن هر زیرواحد با درصد پیشرفت.
5. کارهای من: تأیید و انتشار، کنترل‌های ارجاع‌شده، بازبینی یادداشت و درخواست بازگشایی.
نکته: صورت و مخرج نسبت با همان زبان فرمول قالب نوشته می‌شود؛ مثلاً جمع مصارف:
STMT(PENSION.CHANGES_IN_NET_ASSETS, C99)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اجرا: اجرای ترکیبی و واحد مبلغ؛ همین بخش در زبانهٔ «کاربرگ» اجرا هم هست.
2. کاشی‌ها: پنج وضعیت تطبیق با تعداد جفت‌ها؛ کلیک روی هر کاشی فهرست را فیلتر می‌کند.
3. دامنه: زبانه‌های «همه»، «واحد اصلی ↔ زیرواحدها» و «بین زیرواحدها».
4. بررسی: ردیف‌های سند دو سو با شناسه و منبع تشخیص؛ آیکون کنار ردیف سند را باز می‌کند.
5. اصلاح: شناسهٔ ردیف یا سند اصلاحی را در واحد مربوط ثبت و صورت را دوباره تهیه کنید.
نکته: طرف مقابل هر ردیف از ۴ رقم اول شناسهٔ ردیف (حساب شناسه‌دار) یا از اعلامیهٔ همان سند شناخته می‌شود؛ اگر هیچ‌کدام نباشد «طرف مقابل نامعلوم»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کاربرگ: در صورت ترکیبی، ستون هر واحد، ستون حذفیات و جمع صورت کنار هم دیده می‌شود؛ دکمهٔ Excel کاربرگ را خروجی می‌دهد.
2. قاعدهٔ حذف: کد، عنوان، حساب‌های «سوی اول» و «سوی دوم» (مثل حساب جاری ستاد ↔ ادارات کل) و آستانهٔ اختلاف.
3. نتیجه: جدول «حذف فی‌مابین» بالای کاربرگ: تطبیق کامل (سبز) یا عدم تطبیق با مبلغ اختلاف.
4. اصلاح: اختلاف را با سند اصلاحی در واحد مربوط رفع و صورت را دوباره تهیه کنید.
نکته: اگر جمع دو سوی یک قاعده از آستانه بیشتر شود، کنترل V-07 مسدودکننده است و اجرا قابل ارسال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شرکت تابعه: کد، نام، ارز و درصد مالکیت؛ تراز آزمایشی هر دوره را از Excel وارد کنید.
2. تسعیر و NCI: مبالغ با نرخ‌های تسعیر به ریال برمی‌گردد؛ سهم غیرکنترلی و اختلاف تسعیر در حساب‌های جدا می‌نشیند.
3. جریان نقد: «حساب‌های نقد (انتخاب‌گر)» را تعیین کنید؛ ردیف‌های صورت جریان نقد از طرف مقابل اسناد نقدی پر می‌شوند.
4. تعدیلات سنواتی: «حساب تعدیلات سنواتی» برای ستون سال قبلِ تجدید ارائه‌شده به کار می‌رود.
5. XBRL: آدرس طبقه‌بندی، فضای نام و طرح شناسهٔ واحد را تنظیم و در «نگاشت XBRL» ردیف‌ها را به عناصر وصل کنید؛ خروجی از دکمهٔ XBRL صفحهٔ اجرا.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6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image" Target="../media/image-54-3.jpg"/><Relationship Id="rId4" Type="http://schemas.openxmlformats.org/officeDocument/2006/relationships/slideLayout" Target="../slideLayouts/slideLayout2.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image" Target="../media/image-60-2.jp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image" Target="../media/image-61-2.jpg"/><Relationship Id="rId3" Type="http://schemas.openxmlformats.org/officeDocument/2006/relationships/slideLayout" Target="../slideLayouts/slideLayout2.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image" Target="../media/image-62-2.jp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image" Target="../media/image-63-2.jp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011680" y="3291840"/>
            <a:ext cx="5669280" cy="5669280"/>
          </a:xfrm>
          <a:prstGeom prst="ellipse">
            <a:avLst/>
          </a:prstGeom>
          <a:solidFill>
            <a:srgbClr val="25385F"/>
          </a:solidFill>
          <a:ln w="12700">
            <a:solidFill>
              <a:srgbClr val="25385F"/>
            </a:solidFill>
            <a:prstDash val="solid"/>
          </a:ln>
        </p:spPr>
      </p:sp>
      <p:sp>
        <p:nvSpPr>
          <p:cNvPr id="3" name="Shape 1"/>
          <p:cNvSpPr/>
          <p:nvPr/>
        </p:nvSpPr>
        <p:spPr>
          <a:xfrm>
            <a:off x="822960" y="548640"/>
            <a:ext cx="1280160" cy="1280160"/>
          </a:xfrm>
          <a:prstGeom prst="ellipse">
            <a:avLst/>
          </a:prstGeom>
          <a:solidFill>
            <a:srgbClr val="C9A227"/>
          </a:solidFill>
          <a:ln w="12700">
            <a:solidFill>
              <a:srgbClr val="C9A227"/>
            </a:solidFill>
            <a:prstDash val="solid"/>
          </a:ln>
        </p:spPr>
      </p:sp>
      <p:sp>
        <p:nvSpPr>
          <p:cNvPr id="4" name="Text 2"/>
          <p:cNvSpPr txBox="1"/>
          <p:nvPr/>
        </p:nvSpPr>
        <p:spPr>
          <a:xfrm>
            <a:off x="2743200" y="1234440"/>
            <a:ext cx="9052560" cy="548640"/>
          </a:xfrm>
          <a:prstGeom prst="rect">
            <a:avLst/>
          </a:prstGeom>
          <a:noFill/>
          <a:ln/>
        </p:spPr>
        <p:txBody>
          <a:bodyPr wrap="square" lIns="0" tIns="0" rIns="0" bIns="0" rtlCol="0" anchor="ctr"/>
          <a:lstStyle/>
          <a:p>
            <a:pPr rtl="1" algn="r" indent="0" marL="0">
              <a:buNone/>
            </a:pPr>
            <a:r>
              <a:rPr lang="en-US" sz="2200" b="1" dirty="0">
                <a:solidFill>
                  <a:srgbClr val="C9A227"/>
                </a:solidFill>
                <a:latin typeface="Tahoma" pitchFamily="34" charset="0"/>
                <a:ea typeface="Tahoma" pitchFamily="34" charset="-122"/>
                <a:cs typeface="Tahoma" pitchFamily="34" charset="-120"/>
              </a:rPr>
              <a:t>راهنمای کاربری</a:t>
            </a:r>
            <a:endParaRPr lang="en-US" sz="2200" dirty="0"/>
          </a:p>
        </p:txBody>
      </p:sp>
      <p:sp>
        <p:nvSpPr>
          <p:cNvPr id="5" name="Text 3"/>
          <p:cNvSpPr txBox="1"/>
          <p:nvPr/>
        </p:nvSpPr>
        <p:spPr>
          <a:xfrm>
            <a:off x="2743200" y="1783080"/>
            <a:ext cx="9052560" cy="914400"/>
          </a:xfrm>
          <a:prstGeom prst="rect">
            <a:avLst/>
          </a:prstGeom>
          <a:noFill/>
          <a:ln/>
        </p:spPr>
        <p:txBody>
          <a:bodyPr wrap="square" lIns="0" tIns="0" rIns="0" bIns="0" rtlCol="0" anchor="ctr"/>
          <a:lstStyle/>
          <a:p>
            <a:pPr rtl="1" algn="r" indent="0" marL="0">
              <a:buNone/>
            </a:pPr>
            <a:r>
              <a:rPr lang="en-US" sz="4400" b="1" dirty="0">
                <a:solidFill>
                  <a:srgbClr val="FFFFFF"/>
                </a:solidFill>
                <a:latin typeface="Tahoma" pitchFamily="34" charset="0"/>
                <a:ea typeface="Tahoma" pitchFamily="34" charset="-122"/>
                <a:cs typeface="Tahoma" pitchFamily="34" charset="-120"/>
              </a:rPr>
              <a:t>سامانهٔ جامع حسابداری</a:t>
            </a:r>
            <a:endParaRPr lang="en-US" sz="4400" dirty="0"/>
          </a:p>
        </p:txBody>
      </p:sp>
      <p:sp>
        <p:nvSpPr>
          <p:cNvPr id="6" name="Text 4"/>
          <p:cNvSpPr txBox="1"/>
          <p:nvPr/>
        </p:nvSpPr>
        <p:spPr>
          <a:xfrm>
            <a:off x="2743200" y="2743200"/>
            <a:ext cx="9052560" cy="502920"/>
          </a:xfrm>
          <a:prstGeom prst="rect">
            <a:avLst/>
          </a:prstGeom>
          <a:noFill/>
          <a:ln/>
        </p:spPr>
        <p:txBody>
          <a:bodyPr wrap="square" lIns="0" tIns="0" rIns="0" bIns="0" rtlCol="0" anchor="ctr"/>
          <a:lstStyle/>
          <a:p>
            <a:pPr rtl="1" algn="r" indent="0" marL="0">
              <a:buNone/>
            </a:pPr>
            <a:r>
              <a:rPr lang="en-US" sz="2000" dirty="0">
                <a:solidFill>
                  <a:srgbClr val="C9D3E6"/>
                </a:solidFill>
                <a:latin typeface="Tahoma" pitchFamily="34" charset="0"/>
                <a:ea typeface="Tahoma" pitchFamily="34" charset="-122"/>
                <a:cs typeface="Tahoma" pitchFamily="34" charset="-120"/>
              </a:rPr>
              <a:t>آموزش گام‌به‌گام فرم‌ها و فرایندها، از صفر تا صد</a:t>
            </a:r>
            <a:endParaRPr lang="en-US" sz="2000" dirty="0"/>
          </a:p>
        </p:txBody>
      </p:sp>
      <p:sp>
        <p:nvSpPr>
          <p:cNvPr id="7" name="Shape 5"/>
          <p:cNvSpPr/>
          <p:nvPr/>
        </p:nvSpPr>
        <p:spPr>
          <a:xfrm>
            <a:off x="11384280" y="3657600"/>
            <a:ext cx="420624" cy="420624"/>
          </a:xfrm>
          <a:prstGeom prst="ellipse">
            <a:avLst/>
          </a:prstGeom>
          <a:solidFill>
            <a:srgbClr val="C9A227"/>
          </a:solidFill>
          <a:ln w="12700">
            <a:solidFill>
              <a:srgbClr val="C9A227"/>
            </a:solidFill>
            <a:prstDash val="solid"/>
          </a:ln>
        </p:spPr>
      </p:sp>
      <p:sp>
        <p:nvSpPr>
          <p:cNvPr id="8" name="Text 6"/>
          <p:cNvSpPr txBox="1"/>
          <p:nvPr/>
        </p:nvSpPr>
        <p:spPr>
          <a:xfrm>
            <a:off x="11384280" y="36576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7"/>
          <p:cNvSpPr txBox="1"/>
          <p:nvPr/>
        </p:nvSpPr>
        <p:spPr>
          <a:xfrm>
            <a:off x="5943600" y="3657600"/>
            <a:ext cx="5303520" cy="420624"/>
          </a:xfrm>
          <a:prstGeom prst="rect">
            <a:avLst/>
          </a:prstGeom>
          <a:noFill/>
          <a:ln/>
        </p:spPr>
        <p:txBody>
          <a:bodyPr wrap="square" lIns="0" tIns="0" rIns="0" bIns="0" rtlCol="0" anchor="ctr"/>
          <a:lstStyle/>
          <a:p>
            <a:pPr rtl="1" algn="r" indent="0" marL="0">
              <a:buNone/>
            </a:pPr>
            <a:r>
              <a:rPr lang="en-US" sz="1900" dirty="0">
                <a:solidFill>
                  <a:srgbClr val="FFFFFF"/>
                </a:solidFill>
                <a:latin typeface="Tahoma" pitchFamily="34" charset="0"/>
                <a:ea typeface="Tahoma" pitchFamily="34" charset="-122"/>
                <a:cs typeface="Tahoma" pitchFamily="34" charset="-120"/>
              </a:rPr>
              <a:t>تنخواه‌گردان</a:t>
            </a:r>
            <a:endParaRPr lang="en-US" sz="1900" dirty="0"/>
          </a:p>
        </p:txBody>
      </p:sp>
      <p:sp>
        <p:nvSpPr>
          <p:cNvPr id="10" name="Shape 8"/>
          <p:cNvSpPr/>
          <p:nvPr/>
        </p:nvSpPr>
        <p:spPr>
          <a:xfrm>
            <a:off x="11384280" y="4261104"/>
            <a:ext cx="420624" cy="420624"/>
          </a:xfrm>
          <a:prstGeom prst="ellipse">
            <a:avLst/>
          </a:prstGeom>
          <a:solidFill>
            <a:srgbClr val="C9A227"/>
          </a:solidFill>
          <a:ln w="12700">
            <a:solidFill>
              <a:srgbClr val="C9A227"/>
            </a:solidFill>
            <a:prstDash val="solid"/>
          </a:ln>
        </p:spPr>
      </p:sp>
      <p:sp>
        <p:nvSpPr>
          <p:cNvPr id="11" name="Text 9"/>
          <p:cNvSpPr txBox="1"/>
          <p:nvPr/>
        </p:nvSpPr>
        <p:spPr>
          <a:xfrm>
            <a:off x="11384280" y="4261104"/>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2" name="Text 10"/>
          <p:cNvSpPr txBox="1"/>
          <p:nvPr/>
        </p:nvSpPr>
        <p:spPr>
          <a:xfrm>
            <a:off x="5943600" y="4261104"/>
            <a:ext cx="5303520" cy="420624"/>
          </a:xfrm>
          <a:prstGeom prst="rect">
            <a:avLst/>
          </a:prstGeom>
          <a:noFill/>
          <a:ln/>
        </p:spPr>
        <p:txBody>
          <a:bodyPr wrap="square" lIns="0" tIns="0" rIns="0" bIns="0" rtlCol="0" anchor="ctr"/>
          <a:lstStyle/>
          <a:p>
            <a:pPr rtl="1" algn="r" indent="0" marL="0">
              <a:buNone/>
            </a:pPr>
            <a:r>
              <a:rPr lang="en-US" sz="1900" dirty="0">
                <a:solidFill>
                  <a:srgbClr val="FFFFFF"/>
                </a:solidFill>
                <a:latin typeface="Tahoma" pitchFamily="34" charset="0"/>
                <a:ea typeface="Tahoma" pitchFamily="34" charset="-122"/>
                <a:cs typeface="Tahoma" pitchFamily="34" charset="-120"/>
              </a:rPr>
              <a:t>دریافت و پرداخت (خزانه‌داری)</a:t>
            </a:r>
            <a:endParaRPr lang="en-US" sz="1900" dirty="0"/>
          </a:p>
        </p:txBody>
      </p:sp>
      <p:sp>
        <p:nvSpPr>
          <p:cNvPr id="13" name="Shape 11"/>
          <p:cNvSpPr/>
          <p:nvPr/>
        </p:nvSpPr>
        <p:spPr>
          <a:xfrm>
            <a:off x="11384280" y="4864608"/>
            <a:ext cx="420624" cy="420624"/>
          </a:xfrm>
          <a:prstGeom prst="ellipse">
            <a:avLst/>
          </a:prstGeom>
          <a:solidFill>
            <a:srgbClr val="C9A227"/>
          </a:solidFill>
          <a:ln w="12700">
            <a:solidFill>
              <a:srgbClr val="C9A227"/>
            </a:solidFill>
            <a:prstDash val="solid"/>
          </a:ln>
        </p:spPr>
      </p:sp>
      <p:sp>
        <p:nvSpPr>
          <p:cNvPr id="14" name="Text 12"/>
          <p:cNvSpPr txBox="1"/>
          <p:nvPr/>
        </p:nvSpPr>
        <p:spPr>
          <a:xfrm>
            <a:off x="11384280" y="4864608"/>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txBox="1"/>
          <p:nvPr/>
        </p:nvSpPr>
        <p:spPr>
          <a:xfrm>
            <a:off x="5943600" y="4864608"/>
            <a:ext cx="5303520" cy="420624"/>
          </a:xfrm>
          <a:prstGeom prst="rect">
            <a:avLst/>
          </a:prstGeom>
          <a:noFill/>
          <a:ln/>
        </p:spPr>
        <p:txBody>
          <a:bodyPr wrap="square" lIns="0" tIns="0" rIns="0" bIns="0" rtlCol="0" anchor="ctr"/>
          <a:lstStyle/>
          <a:p>
            <a:pPr rtl="1" algn="r" indent="0" marL="0">
              <a:buNone/>
            </a:pPr>
            <a:r>
              <a:rPr lang="en-US" sz="1900" dirty="0">
                <a:solidFill>
                  <a:srgbClr val="FFFFFF"/>
                </a:solidFill>
                <a:latin typeface="Tahoma" pitchFamily="34" charset="0"/>
                <a:ea typeface="Tahoma" pitchFamily="34" charset="-122"/>
                <a:cs typeface="Tahoma" pitchFamily="34" charset="-120"/>
              </a:rPr>
              <a:t>صورت‌های مالی</a:t>
            </a:r>
            <a:endParaRPr lang="en-US" sz="1900" dirty="0"/>
          </a:p>
        </p:txBody>
      </p:sp>
      <p:sp>
        <p:nvSpPr>
          <p:cNvPr id="16" name="Text 14"/>
          <p:cNvSpPr txBox="1"/>
          <p:nvPr/>
        </p:nvSpPr>
        <p:spPr>
          <a:xfrm>
            <a:off x="2743200" y="5989320"/>
            <a:ext cx="9052560" cy="365760"/>
          </a:xfrm>
          <a:prstGeom prst="rect">
            <a:avLst/>
          </a:prstGeom>
          <a:noFill/>
          <a:ln/>
        </p:spPr>
        <p:txBody>
          <a:bodyPr wrap="square" lIns="0" tIns="0" rIns="0" bIns="0" rtlCol="0" anchor="ctr"/>
          <a:lstStyle/>
          <a:p>
            <a:pPr rtl="1" algn="r" indent="0" marL="0">
              <a:buNone/>
            </a:pPr>
            <a:r>
              <a:rPr lang="en-US" sz="1300" dirty="0">
                <a:solidFill>
                  <a:srgbClr val="A9B4C8"/>
                </a:solidFill>
                <a:latin typeface="Tahoma" pitchFamily="34" charset="0"/>
                <a:ea typeface="Tahoma" pitchFamily="34" charset="-122"/>
                <a:cs typeface="Tahoma" pitchFamily="34" charset="-120"/>
              </a:rPr>
              <a:t>مرحلهٔ اول  ·  مهر ۱۴۰۵</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این راهنما را چگونه بخوانید</a:t>
            </a:r>
            <a:endParaRPr lang="en-US" sz="2600" dirty="0"/>
          </a:p>
        </p:txBody>
      </p:sp>
      <p:sp>
        <p:nvSpPr>
          <p:cNvPr id="3" name="Shape 1"/>
          <p:cNvSpPr/>
          <p:nvPr/>
        </p:nvSpPr>
        <p:spPr>
          <a:xfrm>
            <a:off x="8119872" y="1371600"/>
            <a:ext cx="3657600" cy="2240280"/>
          </a:xfrm>
          <a:prstGeom prst="roundRect">
            <a:avLst>
              <a:gd name="adj" fmla="val 408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1183112" y="1600200"/>
            <a:ext cx="420624" cy="420624"/>
          </a:xfrm>
          <a:prstGeom prst="ellipse">
            <a:avLst/>
          </a:prstGeom>
          <a:solidFill>
            <a:srgbClr val="C9A227"/>
          </a:solidFill>
          <a:ln w="12700">
            <a:solidFill>
              <a:srgbClr val="C9A227"/>
            </a:solidFill>
            <a:prstDash val="solid"/>
          </a:ln>
        </p:spPr>
      </p:sp>
      <p:sp>
        <p:nvSpPr>
          <p:cNvPr id="5" name="Text 3"/>
          <p:cNvSpPr txBox="1"/>
          <p:nvPr/>
        </p:nvSpPr>
        <p:spPr>
          <a:xfrm>
            <a:off x="11183112" y="16002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6" name="Text 4"/>
          <p:cNvSpPr txBox="1"/>
          <p:nvPr/>
        </p:nvSpPr>
        <p:spPr>
          <a:xfrm>
            <a:off x="8348472" y="1600200"/>
            <a:ext cx="2743200" cy="420624"/>
          </a:xfrm>
          <a:prstGeom prst="rect">
            <a:avLst/>
          </a:prstGeom>
          <a:noFill/>
          <a:ln/>
        </p:spPr>
        <p:txBody>
          <a:bodyPr wrap="square" lIns="0" tIns="0" rIns="0" bIns="0" rtlCol="0" anchor="ctr"/>
          <a:lstStyle/>
          <a:p>
            <a:pPr rtl="1" algn="r" indent="0" marL="0">
              <a:buNone/>
            </a:pPr>
            <a:r>
              <a:rPr lang="en-US" sz="1700" b="1" dirty="0">
                <a:solidFill>
                  <a:srgbClr val="1B2A49"/>
                </a:solidFill>
                <a:latin typeface="Tahoma" pitchFamily="34" charset="0"/>
                <a:ea typeface="Tahoma" pitchFamily="34" charset="-122"/>
                <a:cs typeface="Tahoma" pitchFamily="34" charset="-120"/>
              </a:rPr>
              <a:t>هر اسلاید = یک فرم</a:t>
            </a:r>
            <a:endParaRPr lang="en-US" sz="1700" dirty="0"/>
          </a:p>
        </p:txBody>
      </p:sp>
      <p:sp>
        <p:nvSpPr>
          <p:cNvPr id="7" name="Text 5"/>
          <p:cNvSpPr txBox="1"/>
          <p:nvPr/>
        </p:nvSpPr>
        <p:spPr>
          <a:xfrm>
            <a:off x="8348472" y="2194560"/>
            <a:ext cx="3246120" cy="128016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تصویر واقعی فرم در سمت چپ و گام‌های شماره‌دار کار با آن در سمت راست. مسیر منو در کادر طلایی زیر عنوان آمده است</a:t>
            </a:r>
            <a:endParaRPr lang="en-US" sz="1300" dirty="0"/>
          </a:p>
        </p:txBody>
      </p:sp>
      <p:sp>
        <p:nvSpPr>
          <p:cNvPr id="8" name="Shape 6"/>
          <p:cNvSpPr/>
          <p:nvPr/>
        </p:nvSpPr>
        <p:spPr>
          <a:xfrm>
            <a:off x="4279392" y="1371600"/>
            <a:ext cx="3657600" cy="2240280"/>
          </a:xfrm>
          <a:prstGeom prst="roundRect">
            <a:avLst>
              <a:gd name="adj" fmla="val 408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9" name="Shape 7"/>
          <p:cNvSpPr/>
          <p:nvPr/>
        </p:nvSpPr>
        <p:spPr>
          <a:xfrm>
            <a:off x="7342632" y="1600200"/>
            <a:ext cx="420624" cy="420624"/>
          </a:xfrm>
          <a:prstGeom prst="ellipse">
            <a:avLst/>
          </a:prstGeom>
          <a:solidFill>
            <a:srgbClr val="C9A227"/>
          </a:solidFill>
          <a:ln w="12700">
            <a:solidFill>
              <a:srgbClr val="C9A227"/>
            </a:solidFill>
            <a:prstDash val="solid"/>
          </a:ln>
        </p:spPr>
      </p:sp>
      <p:sp>
        <p:nvSpPr>
          <p:cNvPr id="10" name="Text 8"/>
          <p:cNvSpPr txBox="1"/>
          <p:nvPr/>
        </p:nvSpPr>
        <p:spPr>
          <a:xfrm>
            <a:off x="7342632" y="16002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txBox="1"/>
          <p:nvPr/>
        </p:nvSpPr>
        <p:spPr>
          <a:xfrm>
            <a:off x="4507992" y="1600200"/>
            <a:ext cx="2743200" cy="420624"/>
          </a:xfrm>
          <a:prstGeom prst="rect">
            <a:avLst/>
          </a:prstGeom>
          <a:noFill/>
          <a:ln/>
        </p:spPr>
        <p:txBody>
          <a:bodyPr wrap="square" lIns="0" tIns="0" rIns="0" bIns="0" rtlCol="0" anchor="ctr"/>
          <a:lstStyle/>
          <a:p>
            <a:pPr rtl="1" algn="r" indent="0" marL="0">
              <a:buNone/>
            </a:pPr>
            <a:r>
              <a:rPr lang="en-US" sz="1700" b="1" dirty="0">
                <a:solidFill>
                  <a:srgbClr val="1B2A49"/>
                </a:solidFill>
                <a:latin typeface="Tahoma" pitchFamily="34" charset="0"/>
                <a:ea typeface="Tahoma" pitchFamily="34" charset="-122"/>
                <a:cs typeface="Tahoma" pitchFamily="34" charset="-120"/>
              </a:rPr>
              <a:t>ترتیب = ترتیب کار</a:t>
            </a:r>
            <a:endParaRPr lang="en-US" sz="1700" dirty="0"/>
          </a:p>
        </p:txBody>
      </p:sp>
      <p:sp>
        <p:nvSpPr>
          <p:cNvPr id="12" name="Text 10"/>
          <p:cNvSpPr txBox="1"/>
          <p:nvPr/>
        </p:nvSpPr>
        <p:spPr>
          <a:xfrm>
            <a:off x="4507992" y="2194560"/>
            <a:ext cx="3246120" cy="128016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اسلایدهای هر بخش به همان ترتیبی چیده شده‌اند که کار در سازمان انجام می‌شود؛ از پیش‌نیازها تا سند حسابداری</a:t>
            </a:r>
            <a:endParaRPr lang="en-US" sz="1300" dirty="0"/>
          </a:p>
        </p:txBody>
      </p:sp>
      <p:sp>
        <p:nvSpPr>
          <p:cNvPr id="13" name="Shape 11"/>
          <p:cNvSpPr/>
          <p:nvPr/>
        </p:nvSpPr>
        <p:spPr>
          <a:xfrm>
            <a:off x="438912" y="1371600"/>
            <a:ext cx="3657600" cy="2240280"/>
          </a:xfrm>
          <a:prstGeom prst="roundRect">
            <a:avLst>
              <a:gd name="adj" fmla="val 408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3502152" y="1600200"/>
            <a:ext cx="420624" cy="420624"/>
          </a:xfrm>
          <a:prstGeom prst="ellipse">
            <a:avLst/>
          </a:prstGeom>
          <a:solidFill>
            <a:srgbClr val="C9A227"/>
          </a:solidFill>
          <a:ln w="12700">
            <a:solidFill>
              <a:srgbClr val="C9A227"/>
            </a:solidFill>
            <a:prstDash val="solid"/>
          </a:ln>
        </p:spPr>
      </p:sp>
      <p:sp>
        <p:nvSpPr>
          <p:cNvPr id="15" name="Text 13"/>
          <p:cNvSpPr txBox="1"/>
          <p:nvPr/>
        </p:nvSpPr>
        <p:spPr>
          <a:xfrm>
            <a:off x="3502152" y="1600200"/>
            <a:ext cx="420624" cy="42062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6" name="Text 14"/>
          <p:cNvSpPr txBox="1"/>
          <p:nvPr/>
        </p:nvSpPr>
        <p:spPr>
          <a:xfrm>
            <a:off x="667512" y="1600200"/>
            <a:ext cx="2743200" cy="420624"/>
          </a:xfrm>
          <a:prstGeom prst="rect">
            <a:avLst/>
          </a:prstGeom>
          <a:noFill/>
          <a:ln/>
        </p:spPr>
        <p:txBody>
          <a:bodyPr wrap="square" lIns="0" tIns="0" rIns="0" bIns="0" rtlCol="0" anchor="ctr"/>
          <a:lstStyle/>
          <a:p>
            <a:pPr rtl="1" algn="r" indent="0" marL="0">
              <a:buNone/>
            </a:pPr>
            <a:r>
              <a:rPr lang="en-US" sz="1700" b="1" dirty="0">
                <a:solidFill>
                  <a:srgbClr val="1B2A49"/>
                </a:solidFill>
                <a:latin typeface="Tahoma" pitchFamily="34" charset="0"/>
                <a:ea typeface="Tahoma" pitchFamily="34" charset="-122"/>
                <a:cs typeface="Tahoma" pitchFamily="34" charset="-120"/>
              </a:rPr>
              <a:t>نقش‌ها مهم‌اند</a:t>
            </a:r>
            <a:endParaRPr lang="en-US" sz="1700" dirty="0"/>
          </a:p>
        </p:txBody>
      </p:sp>
      <p:sp>
        <p:nvSpPr>
          <p:cNvPr id="17" name="Text 15"/>
          <p:cNvSpPr txBox="1"/>
          <p:nvPr/>
        </p:nvSpPr>
        <p:spPr>
          <a:xfrm>
            <a:off x="667512" y="2194560"/>
            <a:ext cx="3246120" cy="128016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اقدام فقط برای نقش مشخصی فعال است. اگر دکمه‌ای غیرفعال است، نشانگر را روی آن نگه دارید تا علتش را ببینید</a:t>
            </a:r>
            <a:endParaRPr lang="en-US" sz="1300" dirty="0"/>
          </a:p>
        </p:txBody>
      </p:sp>
      <p:sp>
        <p:nvSpPr>
          <p:cNvPr id="18" name="Text 16"/>
          <p:cNvSpPr txBox="1"/>
          <p:nvPr/>
        </p:nvSpPr>
        <p:spPr>
          <a:xfrm>
            <a:off x="411480" y="3931920"/>
            <a:ext cx="11365992" cy="411480"/>
          </a:xfrm>
          <a:prstGeom prst="rect">
            <a:avLst/>
          </a:prstGeom>
          <a:noFill/>
          <a:ln/>
        </p:spPr>
        <p:txBody>
          <a:bodyPr wrap="square" lIns="0" tIns="0" rIns="0" bIns="0" rtlCol="0" anchor="ctr"/>
          <a:lstStyle/>
          <a:p>
            <a:pPr rtl="1" algn="r" indent="0" marL="0">
              <a:buNone/>
            </a:pPr>
            <a:r>
              <a:rPr lang="en-US" sz="1800" b="1" dirty="0">
                <a:solidFill>
                  <a:srgbClr val="1B2A49"/>
                </a:solidFill>
                <a:latin typeface="Tahoma" pitchFamily="34" charset="0"/>
                <a:ea typeface="Tahoma" pitchFamily="34" charset="-122"/>
                <a:cs typeface="Tahoma" pitchFamily="34" charset="-120"/>
              </a:rPr>
              <a:t>قراردادهای مشترک همهٔ فرم‌ها</a:t>
            </a:r>
            <a:endParaRPr lang="en-US" sz="1800" dirty="0"/>
          </a:p>
        </p:txBody>
      </p:sp>
      <p:sp>
        <p:nvSpPr>
          <p:cNvPr id="19" name="Shape 17"/>
          <p:cNvSpPr/>
          <p:nvPr/>
        </p:nvSpPr>
        <p:spPr>
          <a:xfrm>
            <a:off x="8028432" y="4480560"/>
            <a:ext cx="3611880" cy="731520"/>
          </a:xfrm>
          <a:prstGeom prst="roundRect">
            <a:avLst>
              <a:gd name="adj" fmla="val 10000"/>
            </a:avLst>
          </a:prstGeom>
          <a:solidFill>
            <a:srgbClr val="FFFFFF"/>
          </a:solidFill>
          <a:ln w="6350">
            <a:solidFill>
              <a:srgbClr val="D9DEE7"/>
            </a:solidFill>
            <a:prstDash val="solid"/>
          </a:ln>
        </p:spPr>
      </p:sp>
      <p:sp>
        <p:nvSpPr>
          <p:cNvPr id="20" name="Text 18"/>
          <p:cNvSpPr txBox="1"/>
          <p:nvPr/>
        </p:nvSpPr>
        <p:spPr>
          <a:xfrm>
            <a:off x="8165592" y="448056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ستاره (*):  </a:t>
            </a:r>
            <a:pPr algn="r" indent="0" marL="0">
              <a:buNone/>
            </a:pPr>
            <a:r>
              <a:rPr lang="en-US" sz="1250" dirty="0">
                <a:solidFill>
                  <a:srgbClr val="1F2937"/>
                </a:solidFill>
                <a:latin typeface="Tahoma" pitchFamily="34" charset="0"/>
                <a:ea typeface="Tahoma" pitchFamily="34" charset="-122"/>
                <a:cs typeface="Tahoma" pitchFamily="34" charset="-120"/>
              </a:rPr>
              <a:t>فیلد الزامی</a:t>
            </a:r>
            <a:endParaRPr lang="en-US" sz="1250" dirty="0"/>
          </a:p>
        </p:txBody>
      </p:sp>
      <p:sp>
        <p:nvSpPr>
          <p:cNvPr id="21" name="Shape 19"/>
          <p:cNvSpPr/>
          <p:nvPr/>
        </p:nvSpPr>
        <p:spPr>
          <a:xfrm>
            <a:off x="4279392" y="4480560"/>
            <a:ext cx="3611880" cy="731520"/>
          </a:xfrm>
          <a:prstGeom prst="roundRect">
            <a:avLst>
              <a:gd name="adj" fmla="val 10000"/>
            </a:avLst>
          </a:prstGeom>
          <a:solidFill>
            <a:srgbClr val="FFFFFF"/>
          </a:solidFill>
          <a:ln w="6350">
            <a:solidFill>
              <a:srgbClr val="D9DEE7"/>
            </a:solidFill>
            <a:prstDash val="solid"/>
          </a:ln>
        </p:spPr>
      </p:sp>
      <p:sp>
        <p:nvSpPr>
          <p:cNvPr id="22" name="Text 20"/>
          <p:cNvSpPr txBox="1"/>
          <p:nvPr/>
        </p:nvSpPr>
        <p:spPr>
          <a:xfrm>
            <a:off x="4416552" y="448056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پیش‌نویس:  </a:t>
            </a:r>
            <a:pPr algn="r" indent="0" marL="0">
              <a:buNone/>
            </a:pPr>
            <a:r>
              <a:rPr lang="en-US" sz="1250" dirty="0">
                <a:solidFill>
                  <a:srgbClr val="1F2937"/>
                </a:solidFill>
                <a:latin typeface="Tahoma" pitchFamily="34" charset="0"/>
                <a:ea typeface="Tahoma" pitchFamily="34" charset="-122"/>
                <a:cs typeface="Tahoma" pitchFamily="34" charset="-120"/>
              </a:rPr>
              <a:t>ذخیره شده ولی هنوز ارسال نشده؛ تنها وضعیت قابل حذف</a:t>
            </a:r>
            <a:endParaRPr lang="en-US" sz="1250" dirty="0"/>
          </a:p>
        </p:txBody>
      </p:sp>
      <p:sp>
        <p:nvSpPr>
          <p:cNvPr id="23" name="Shape 21"/>
          <p:cNvSpPr/>
          <p:nvPr/>
        </p:nvSpPr>
        <p:spPr>
          <a:xfrm>
            <a:off x="530352" y="4480560"/>
            <a:ext cx="3611880" cy="731520"/>
          </a:xfrm>
          <a:prstGeom prst="roundRect">
            <a:avLst>
              <a:gd name="adj" fmla="val 10000"/>
            </a:avLst>
          </a:prstGeom>
          <a:solidFill>
            <a:srgbClr val="FFFFFF"/>
          </a:solidFill>
          <a:ln w="6350">
            <a:solidFill>
              <a:srgbClr val="D9DEE7"/>
            </a:solidFill>
            <a:prstDash val="solid"/>
          </a:ln>
        </p:spPr>
      </p:sp>
      <p:sp>
        <p:nvSpPr>
          <p:cNvPr id="24" name="Text 22"/>
          <p:cNvSpPr txBox="1"/>
          <p:nvPr/>
        </p:nvSpPr>
        <p:spPr>
          <a:xfrm>
            <a:off x="667512" y="448056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برگشتی:  </a:t>
            </a:r>
            <a:pPr algn="r" indent="0" marL="0">
              <a:buNone/>
            </a:pPr>
            <a:r>
              <a:rPr lang="en-US" sz="1250" dirty="0">
                <a:solidFill>
                  <a:srgbClr val="1F2937"/>
                </a:solidFill>
                <a:latin typeface="Tahoma" pitchFamily="34" charset="0"/>
                <a:ea typeface="Tahoma" pitchFamily="34" charset="-122"/>
                <a:cs typeface="Tahoma" pitchFamily="34" charset="-120"/>
              </a:rPr>
              <a:t>برای اصلاح برگشت خورده؛ دوباره قابل ویرایش و ارسال</a:t>
            </a:r>
            <a:endParaRPr lang="en-US" sz="1250" dirty="0"/>
          </a:p>
        </p:txBody>
      </p:sp>
      <p:sp>
        <p:nvSpPr>
          <p:cNvPr id="25" name="Shape 23"/>
          <p:cNvSpPr/>
          <p:nvPr/>
        </p:nvSpPr>
        <p:spPr>
          <a:xfrm>
            <a:off x="8028432" y="5349240"/>
            <a:ext cx="3611880" cy="731520"/>
          </a:xfrm>
          <a:prstGeom prst="roundRect">
            <a:avLst>
              <a:gd name="adj" fmla="val 10000"/>
            </a:avLst>
          </a:prstGeom>
          <a:solidFill>
            <a:srgbClr val="FFFFFF"/>
          </a:solidFill>
          <a:ln w="6350">
            <a:solidFill>
              <a:srgbClr val="D9DEE7"/>
            </a:solidFill>
            <a:prstDash val="solid"/>
          </a:ln>
        </p:spPr>
      </p:sp>
      <p:sp>
        <p:nvSpPr>
          <p:cNvPr id="26" name="Text 24"/>
          <p:cNvSpPr txBox="1"/>
          <p:nvPr/>
        </p:nvSpPr>
        <p:spPr>
          <a:xfrm>
            <a:off x="8165592" y="534924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اسناد خودکار:  </a:t>
            </a:r>
            <a:pPr algn="r" indent="0" marL="0">
              <a:buNone/>
            </a:pPr>
            <a:r>
              <a:rPr lang="en-US" sz="1250" dirty="0">
                <a:solidFill>
                  <a:srgbClr val="1F2937"/>
                </a:solidFill>
                <a:latin typeface="Tahoma" pitchFamily="34" charset="0"/>
                <a:ea typeface="Tahoma" pitchFamily="34" charset="-122"/>
                <a:cs typeface="Tahoma" pitchFamily="34" charset="-120"/>
              </a:rPr>
              <a:t>همه «موقت»‌اند و در کارتابل اسناد قطعی می‌شوند</a:t>
            </a:r>
            <a:endParaRPr lang="en-US" sz="1250" dirty="0"/>
          </a:p>
        </p:txBody>
      </p:sp>
      <p:sp>
        <p:nvSpPr>
          <p:cNvPr id="27" name="Shape 25"/>
          <p:cNvSpPr/>
          <p:nvPr/>
        </p:nvSpPr>
        <p:spPr>
          <a:xfrm>
            <a:off x="4279392" y="5349240"/>
            <a:ext cx="3611880" cy="731520"/>
          </a:xfrm>
          <a:prstGeom prst="roundRect">
            <a:avLst>
              <a:gd name="adj" fmla="val 10000"/>
            </a:avLst>
          </a:prstGeom>
          <a:solidFill>
            <a:srgbClr val="FFFFFF"/>
          </a:solidFill>
          <a:ln w="6350">
            <a:solidFill>
              <a:srgbClr val="D9DEE7"/>
            </a:solidFill>
            <a:prstDash val="solid"/>
          </a:ln>
        </p:spPr>
      </p:sp>
      <p:sp>
        <p:nvSpPr>
          <p:cNvPr id="28" name="Text 26"/>
          <p:cNvSpPr txBox="1"/>
          <p:nvPr/>
        </p:nvSpPr>
        <p:spPr>
          <a:xfrm>
            <a:off x="4416552" y="534924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تاریخ‌ها:  </a:t>
            </a:r>
            <a:pPr algn="r" indent="0" marL="0">
              <a:buNone/>
            </a:pPr>
            <a:r>
              <a:rPr lang="en-US" sz="1250" dirty="0">
                <a:solidFill>
                  <a:srgbClr val="1F2937"/>
                </a:solidFill>
                <a:latin typeface="Tahoma" pitchFamily="34" charset="0"/>
                <a:ea typeface="Tahoma" pitchFamily="34" charset="-122"/>
                <a:cs typeface="Tahoma" pitchFamily="34" charset="-120"/>
              </a:rPr>
              <a:t>شمسی؛ مبالغ به ریال مگر خلافش ذکر شود</a:t>
            </a:r>
            <a:endParaRPr lang="en-US" sz="1250" dirty="0"/>
          </a:p>
        </p:txBody>
      </p:sp>
      <p:sp>
        <p:nvSpPr>
          <p:cNvPr id="29" name="Shape 27"/>
          <p:cNvSpPr/>
          <p:nvPr/>
        </p:nvSpPr>
        <p:spPr>
          <a:xfrm>
            <a:off x="530352" y="5349240"/>
            <a:ext cx="3611880" cy="731520"/>
          </a:xfrm>
          <a:prstGeom prst="roundRect">
            <a:avLst>
              <a:gd name="adj" fmla="val 10000"/>
            </a:avLst>
          </a:prstGeom>
          <a:solidFill>
            <a:srgbClr val="FFFFFF"/>
          </a:solidFill>
          <a:ln w="6350">
            <a:solidFill>
              <a:srgbClr val="D9DEE7"/>
            </a:solidFill>
            <a:prstDash val="solid"/>
          </a:ln>
        </p:spPr>
      </p:sp>
      <p:sp>
        <p:nvSpPr>
          <p:cNvPr id="30" name="Text 28"/>
          <p:cNvSpPr txBox="1"/>
          <p:nvPr/>
        </p:nvSpPr>
        <p:spPr>
          <a:xfrm>
            <a:off x="667512" y="5349240"/>
            <a:ext cx="3337560" cy="731520"/>
          </a:xfrm>
          <a:prstGeom prst="rect">
            <a:avLst/>
          </a:prstGeom>
          <a:noFill/>
          <a:ln/>
        </p:spPr>
        <p:txBody>
          <a:bodyPr wrap="square" lIns="0" tIns="0" rIns="0" bIns="0" rtlCol="0" anchor="ctr"/>
          <a:lstStyle/>
          <a:p>
            <a:pPr algn="r" indent="0" marL="0">
              <a:buNone/>
            </a:pPr>
            <a:r>
              <a:rPr lang="en-US" sz="1250" b="1" dirty="0">
                <a:solidFill>
                  <a:srgbClr val="1B2A49"/>
                </a:solidFill>
                <a:latin typeface="Tahoma" pitchFamily="34" charset="0"/>
                <a:ea typeface="Tahoma" pitchFamily="34" charset="-122"/>
                <a:cs typeface="Tahoma" pitchFamily="34" charset="-120"/>
              </a:rPr>
              <a:t>تفکیک وظایف:  </a:t>
            </a:r>
            <a:pPr algn="r" indent="0" marL="0">
              <a:buNone/>
            </a:pPr>
            <a:r>
              <a:rPr lang="en-US" sz="1250" dirty="0">
                <a:solidFill>
                  <a:srgbClr val="1F2937"/>
                </a:solidFill>
                <a:latin typeface="Tahoma" pitchFamily="34" charset="0"/>
                <a:ea typeface="Tahoma" pitchFamily="34" charset="-122"/>
                <a:cs typeface="Tahoma" pitchFamily="34" charset="-120"/>
              </a:rPr>
              <a:t>ثبت‌کننده هرگز تأییدکنندهٔ همان سند نیست</a:t>
            </a:r>
            <a:endParaRPr lang="en-US" sz="1250" dirty="0"/>
          </a:p>
        </p:txBody>
      </p:sp>
      <p:sp>
        <p:nvSpPr>
          <p:cNvPr id="31" name="Text 29"/>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مقدمه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ورود، سال مالی و واحد سازمانی</a:t>
            </a:r>
            <a:endParaRPr lang="en-US" sz="2600" dirty="0"/>
          </a:p>
        </p:txBody>
      </p:sp>
      <p:sp>
        <p:nvSpPr>
          <p:cNvPr id="3" name="Shape 1"/>
          <p:cNvSpPr/>
          <p:nvPr/>
        </p:nvSpPr>
        <p:spPr>
          <a:xfrm>
            <a:off x="411480" y="1188720"/>
            <a:ext cx="11365992" cy="748142"/>
          </a:xfrm>
          <a:prstGeom prst="roundRect">
            <a:avLst>
              <a:gd name="adj" fmla="val 9778"/>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opbar">    </p:cNvPr>
          <p:cNvPicPr>
            <a:picLocks noChangeAspect="1"/>
          </p:cNvPicPr>
          <p:nvPr/>
        </p:nvPicPr>
        <p:blipFill>
          <a:blip r:embed="rId1"/>
          <a:stretch>
            <a:fillRect/>
          </a:stretch>
        </p:blipFill>
        <p:spPr>
          <a:xfrm>
            <a:off x="457200" y="1237082"/>
            <a:ext cx="11274552" cy="651419"/>
          </a:xfrm>
          <a:prstGeom prst="rect">
            <a:avLst/>
          </a:prstGeom>
        </p:spPr>
      </p:pic>
      <p:sp>
        <p:nvSpPr>
          <p:cNvPr id="5" name="Shape 2"/>
          <p:cNvSpPr/>
          <p:nvPr/>
        </p:nvSpPr>
        <p:spPr>
          <a:xfrm>
            <a:off x="9650578" y="2165462"/>
            <a:ext cx="2126894" cy="2496312"/>
          </a:xfrm>
          <a:prstGeom prst="roundRect">
            <a:avLst>
              <a:gd name="adj" fmla="val 4299"/>
            </a:avLst>
          </a:prstGeom>
          <a:solidFill>
            <a:srgbClr val="FFFFFF"/>
          </a:solidFill>
          <a:ln w="6350">
            <a:solidFill>
              <a:srgbClr val="D9DEE7"/>
            </a:solidFill>
            <a:prstDash val="solid"/>
          </a:ln>
        </p:spPr>
      </p:sp>
      <p:sp>
        <p:nvSpPr>
          <p:cNvPr id="6" name="Shape 3"/>
          <p:cNvSpPr/>
          <p:nvPr/>
        </p:nvSpPr>
        <p:spPr>
          <a:xfrm>
            <a:off x="11274552" y="2302622"/>
            <a:ext cx="365760" cy="365760"/>
          </a:xfrm>
          <a:prstGeom prst="ellipse">
            <a:avLst/>
          </a:prstGeom>
          <a:solidFill>
            <a:srgbClr val="C9A227"/>
          </a:solidFill>
          <a:ln w="12700">
            <a:solidFill>
              <a:srgbClr val="C9A227"/>
            </a:solidFill>
            <a:prstDash val="solid"/>
          </a:ln>
        </p:spPr>
      </p:sp>
      <p:sp>
        <p:nvSpPr>
          <p:cNvPr id="7" name="Text 4"/>
          <p:cNvSpPr txBox="1"/>
          <p:nvPr/>
        </p:nvSpPr>
        <p:spPr>
          <a:xfrm>
            <a:off x="11274552"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8" name="Text 5"/>
          <p:cNvSpPr txBox="1"/>
          <p:nvPr/>
        </p:nvSpPr>
        <p:spPr>
          <a:xfrm>
            <a:off x="9833458" y="2284334"/>
            <a:ext cx="1349654"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ورود</a:t>
            </a:r>
            <a:endParaRPr lang="en-US" sz="1400" dirty="0"/>
          </a:p>
        </p:txBody>
      </p:sp>
      <p:sp>
        <p:nvSpPr>
          <p:cNvPr id="9" name="Text 6"/>
          <p:cNvSpPr txBox="1"/>
          <p:nvPr/>
        </p:nvSpPr>
        <p:spPr>
          <a:xfrm>
            <a:off x="9833458" y="2732390"/>
            <a:ext cx="1761134" cy="1856232"/>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با دکمهٔ «ورود با حساب سازمانی» از سامانهٔ احراز هویت سازمان وارد شوید.</a:t>
            </a:r>
            <a:endParaRPr lang="en-US" sz="1250" dirty="0"/>
          </a:p>
        </p:txBody>
      </p:sp>
      <p:sp>
        <p:nvSpPr>
          <p:cNvPr id="10" name="Shape 7"/>
          <p:cNvSpPr/>
          <p:nvPr/>
        </p:nvSpPr>
        <p:spPr>
          <a:xfrm>
            <a:off x="7340803" y="2165462"/>
            <a:ext cx="2126894" cy="2496312"/>
          </a:xfrm>
          <a:prstGeom prst="roundRect">
            <a:avLst>
              <a:gd name="adj" fmla="val 4299"/>
            </a:avLst>
          </a:prstGeom>
          <a:solidFill>
            <a:srgbClr val="FFFFFF"/>
          </a:solidFill>
          <a:ln w="6350">
            <a:solidFill>
              <a:srgbClr val="D9DEE7"/>
            </a:solidFill>
            <a:prstDash val="solid"/>
          </a:ln>
        </p:spPr>
      </p:sp>
      <p:sp>
        <p:nvSpPr>
          <p:cNvPr id="11" name="Shape 8"/>
          <p:cNvSpPr/>
          <p:nvPr/>
        </p:nvSpPr>
        <p:spPr>
          <a:xfrm>
            <a:off x="8964778" y="2302622"/>
            <a:ext cx="365760" cy="365760"/>
          </a:xfrm>
          <a:prstGeom prst="ellipse">
            <a:avLst/>
          </a:prstGeom>
          <a:solidFill>
            <a:srgbClr val="C9A227"/>
          </a:solidFill>
          <a:ln w="12700">
            <a:solidFill>
              <a:srgbClr val="C9A227"/>
            </a:solidFill>
            <a:prstDash val="solid"/>
          </a:ln>
        </p:spPr>
      </p:sp>
      <p:sp>
        <p:nvSpPr>
          <p:cNvPr id="12" name="Text 9"/>
          <p:cNvSpPr txBox="1"/>
          <p:nvPr/>
        </p:nvSpPr>
        <p:spPr>
          <a:xfrm>
            <a:off x="8964778"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7523683" y="2284334"/>
            <a:ext cx="1349654"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سال مالی و واحد</a:t>
            </a:r>
            <a:endParaRPr lang="en-US" sz="1400" dirty="0"/>
          </a:p>
        </p:txBody>
      </p:sp>
      <p:sp>
        <p:nvSpPr>
          <p:cNvPr id="14" name="Text 11"/>
          <p:cNvSpPr txBox="1"/>
          <p:nvPr/>
        </p:nvSpPr>
        <p:spPr>
          <a:xfrm>
            <a:off x="7523683" y="2732390"/>
            <a:ext cx="1761134" cy="1856232"/>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نوار بالا روی نام واحد و سال کلیک کنید و سال مالی و واحدی را که می‌خواهید به نام آن کار کنید انتخاب کنید.</a:t>
            </a:r>
            <a:endParaRPr lang="en-US" sz="1250" dirty="0"/>
          </a:p>
        </p:txBody>
      </p:sp>
      <p:sp>
        <p:nvSpPr>
          <p:cNvPr id="15" name="Shape 12"/>
          <p:cNvSpPr/>
          <p:nvPr/>
        </p:nvSpPr>
        <p:spPr>
          <a:xfrm>
            <a:off x="5031029" y="2165462"/>
            <a:ext cx="2126894" cy="2496312"/>
          </a:xfrm>
          <a:prstGeom prst="roundRect">
            <a:avLst>
              <a:gd name="adj" fmla="val 4299"/>
            </a:avLst>
          </a:prstGeom>
          <a:solidFill>
            <a:srgbClr val="FFFFFF"/>
          </a:solidFill>
          <a:ln w="6350">
            <a:solidFill>
              <a:srgbClr val="D9DEE7"/>
            </a:solidFill>
            <a:prstDash val="solid"/>
          </a:ln>
        </p:spPr>
      </p:sp>
      <p:sp>
        <p:nvSpPr>
          <p:cNvPr id="16" name="Shape 13"/>
          <p:cNvSpPr/>
          <p:nvPr/>
        </p:nvSpPr>
        <p:spPr>
          <a:xfrm>
            <a:off x="6655003" y="2302622"/>
            <a:ext cx="365760" cy="365760"/>
          </a:xfrm>
          <a:prstGeom prst="ellipse">
            <a:avLst/>
          </a:prstGeom>
          <a:solidFill>
            <a:srgbClr val="C9A227"/>
          </a:solidFill>
          <a:ln w="12700">
            <a:solidFill>
              <a:srgbClr val="C9A227"/>
            </a:solidFill>
            <a:prstDash val="solid"/>
          </a:ln>
        </p:spPr>
      </p:sp>
      <p:sp>
        <p:nvSpPr>
          <p:cNvPr id="17" name="Text 14"/>
          <p:cNvSpPr txBox="1"/>
          <p:nvPr/>
        </p:nvSpPr>
        <p:spPr>
          <a:xfrm>
            <a:off x="6655003"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txBox="1"/>
          <p:nvPr/>
        </p:nvSpPr>
        <p:spPr>
          <a:xfrm>
            <a:off x="5213909" y="2284334"/>
            <a:ext cx="1349654"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اثر انتخاب</a:t>
            </a:r>
            <a:endParaRPr lang="en-US" sz="1400" dirty="0"/>
          </a:p>
        </p:txBody>
      </p:sp>
      <p:sp>
        <p:nvSpPr>
          <p:cNvPr id="19" name="Text 16"/>
          <p:cNvSpPr txBox="1"/>
          <p:nvPr/>
        </p:nvSpPr>
        <p:spPr>
          <a:xfrm>
            <a:off x="5213909" y="2732390"/>
            <a:ext cx="1761134" cy="1856232"/>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همهٔ فرم‌ها، فهرست‌ها و گزارش‌ها فقط دادهٔ همین واحد و سال را نشان می‌دهند؛ واحدی که مجوزش را ندارید با خطای «دسترسی ندارید» رد می‌شود.</a:t>
            </a:r>
            <a:endParaRPr lang="en-US" sz="1250" dirty="0"/>
          </a:p>
        </p:txBody>
      </p:sp>
      <p:sp>
        <p:nvSpPr>
          <p:cNvPr id="20" name="Shape 17"/>
          <p:cNvSpPr/>
          <p:nvPr/>
        </p:nvSpPr>
        <p:spPr>
          <a:xfrm>
            <a:off x="2721254" y="2165462"/>
            <a:ext cx="2126894" cy="2496312"/>
          </a:xfrm>
          <a:prstGeom prst="roundRect">
            <a:avLst>
              <a:gd name="adj" fmla="val 4299"/>
            </a:avLst>
          </a:prstGeom>
          <a:solidFill>
            <a:srgbClr val="FFFFFF"/>
          </a:solidFill>
          <a:ln w="6350">
            <a:solidFill>
              <a:srgbClr val="D9DEE7"/>
            </a:solidFill>
            <a:prstDash val="solid"/>
          </a:ln>
        </p:spPr>
      </p:sp>
      <p:sp>
        <p:nvSpPr>
          <p:cNvPr id="21" name="Shape 18"/>
          <p:cNvSpPr/>
          <p:nvPr/>
        </p:nvSpPr>
        <p:spPr>
          <a:xfrm>
            <a:off x="4345229" y="2302622"/>
            <a:ext cx="365760" cy="365760"/>
          </a:xfrm>
          <a:prstGeom prst="ellipse">
            <a:avLst/>
          </a:prstGeom>
          <a:solidFill>
            <a:srgbClr val="C9A227"/>
          </a:solidFill>
          <a:ln w="12700">
            <a:solidFill>
              <a:srgbClr val="C9A227"/>
            </a:solidFill>
            <a:prstDash val="solid"/>
          </a:ln>
        </p:spPr>
      </p:sp>
      <p:sp>
        <p:nvSpPr>
          <p:cNvPr id="22" name="Text 19"/>
          <p:cNvSpPr txBox="1"/>
          <p:nvPr/>
        </p:nvSpPr>
        <p:spPr>
          <a:xfrm>
            <a:off x="4345229"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3" name="Text 20"/>
          <p:cNvSpPr txBox="1"/>
          <p:nvPr/>
        </p:nvSpPr>
        <p:spPr>
          <a:xfrm>
            <a:off x="2904134" y="2284334"/>
            <a:ext cx="1349654"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ستاد مرکزی</a:t>
            </a:r>
            <a:endParaRPr lang="en-US" sz="1400" dirty="0"/>
          </a:p>
        </p:txBody>
      </p:sp>
      <p:sp>
        <p:nvSpPr>
          <p:cNvPr id="24" name="Text 21"/>
          <p:cNvSpPr txBox="1"/>
          <p:nvPr/>
        </p:nvSpPr>
        <p:spPr>
          <a:xfrm>
            <a:off x="2904134" y="2732390"/>
            <a:ext cx="1761134" cy="1856232"/>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کاربر ستاد می‌تواند به جای هر واحد عمل کند و در صورت‌های مالی، ترکیبی همهٔ زیرمجموعه‌ها را ببیند.</a:t>
            </a:r>
            <a:endParaRPr lang="en-US" sz="1250" dirty="0"/>
          </a:p>
        </p:txBody>
      </p:sp>
      <p:sp>
        <p:nvSpPr>
          <p:cNvPr id="25" name="Shape 22"/>
          <p:cNvSpPr/>
          <p:nvPr/>
        </p:nvSpPr>
        <p:spPr>
          <a:xfrm>
            <a:off x="411480" y="2165462"/>
            <a:ext cx="2126894" cy="2496312"/>
          </a:xfrm>
          <a:prstGeom prst="roundRect">
            <a:avLst>
              <a:gd name="adj" fmla="val 4299"/>
            </a:avLst>
          </a:prstGeom>
          <a:solidFill>
            <a:srgbClr val="FFFFFF"/>
          </a:solidFill>
          <a:ln w="6350">
            <a:solidFill>
              <a:srgbClr val="D9DEE7"/>
            </a:solidFill>
            <a:prstDash val="solid"/>
          </a:ln>
        </p:spPr>
      </p:sp>
      <p:sp>
        <p:nvSpPr>
          <p:cNvPr id="26" name="Shape 23"/>
          <p:cNvSpPr/>
          <p:nvPr/>
        </p:nvSpPr>
        <p:spPr>
          <a:xfrm>
            <a:off x="2035454" y="2302622"/>
            <a:ext cx="365760" cy="365760"/>
          </a:xfrm>
          <a:prstGeom prst="ellipse">
            <a:avLst/>
          </a:prstGeom>
          <a:solidFill>
            <a:srgbClr val="C9A227"/>
          </a:solidFill>
          <a:ln w="12700">
            <a:solidFill>
              <a:srgbClr val="C9A227"/>
            </a:solidFill>
            <a:prstDash val="solid"/>
          </a:ln>
        </p:spPr>
      </p:sp>
      <p:sp>
        <p:nvSpPr>
          <p:cNvPr id="27" name="Text 24"/>
          <p:cNvSpPr txBox="1"/>
          <p:nvPr/>
        </p:nvSpPr>
        <p:spPr>
          <a:xfrm>
            <a:off x="2035454" y="230262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txBox="1"/>
          <p:nvPr/>
        </p:nvSpPr>
        <p:spPr>
          <a:xfrm>
            <a:off x="594360" y="2284334"/>
            <a:ext cx="1349654" cy="402336"/>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نقش و منو</a:t>
            </a:r>
            <a:endParaRPr lang="en-US" sz="1400" dirty="0"/>
          </a:p>
        </p:txBody>
      </p:sp>
      <p:sp>
        <p:nvSpPr>
          <p:cNvPr id="29" name="Text 26"/>
          <p:cNvSpPr txBox="1"/>
          <p:nvPr/>
        </p:nvSpPr>
        <p:spPr>
          <a:xfrm>
            <a:off x="594360" y="2732390"/>
            <a:ext cx="1761134" cy="1856232"/>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منوها و دکمه‌ها بر اساس نقش شما در سامانهٔ ورود سازمان نمایش داده می‌شوند؛ مدیر ستاد در «اطلاعات پایه ← دسترسی نقش‌ها» دسترسی هر منو و زبانه را تعیین می‌کند.</a:t>
            </a:r>
            <a:endParaRPr lang="en-US" sz="1250" dirty="0"/>
          </a:p>
        </p:txBody>
      </p:sp>
      <p:sp>
        <p:nvSpPr>
          <p:cNvPr id="30" name="Text 27"/>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شروع کار</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محیط کار — زبانه‌ها و نمای کنار هم</a:t>
            </a:r>
            <a:endParaRPr lang="en-US" sz="2600" dirty="0"/>
          </a:p>
        </p:txBody>
      </p:sp>
      <p:sp>
        <p:nvSpPr>
          <p:cNvPr id="3" name="Text 1"/>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هر گزینهٔ منو یک زبانه؛ کلیک راست روی زبانه</a:t>
            </a:r>
            <a:endParaRPr lang="en-US" sz="1200" dirty="0"/>
          </a:p>
        </p:txBody>
      </p:sp>
      <p:sp>
        <p:nvSpPr>
          <p:cNvPr id="4" name="Shape 2"/>
          <p:cNvSpPr/>
          <p:nvPr/>
        </p:nvSpPr>
        <p:spPr>
          <a:xfrm>
            <a:off x="6208776" y="1618488"/>
            <a:ext cx="5568696" cy="2697480"/>
          </a:xfrm>
          <a:prstGeom prst="roundRect">
            <a:avLst>
              <a:gd name="adj" fmla="val 271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5" name="Image 0" descr="ws01s">    </p:cNvPr>
          <p:cNvPicPr>
            <a:picLocks noChangeAspect="1"/>
          </p:cNvPicPr>
          <p:nvPr/>
        </p:nvPicPr>
        <p:blipFill>
          <a:blip r:embed="rId1"/>
          <a:stretch>
            <a:fillRect/>
          </a:stretch>
        </p:blipFill>
        <p:spPr>
          <a:xfrm>
            <a:off x="6254496" y="1706277"/>
            <a:ext cx="5477256" cy="2521902"/>
          </a:xfrm>
          <a:prstGeom prst="rect">
            <a:avLst/>
          </a:prstGeom>
        </p:spPr>
      </p:pic>
      <p:sp>
        <p:nvSpPr>
          <p:cNvPr id="6" name="Text 3"/>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دو زبانه کنار هم</a:t>
            </a:r>
            <a:endParaRPr lang="en-US" sz="1200" dirty="0"/>
          </a:p>
        </p:txBody>
      </p:sp>
      <p:sp>
        <p:nvSpPr>
          <p:cNvPr id="7" name="Shape 4"/>
          <p:cNvSpPr/>
          <p:nvPr/>
        </p:nvSpPr>
        <p:spPr>
          <a:xfrm>
            <a:off x="411480" y="1618488"/>
            <a:ext cx="5568696" cy="2697480"/>
          </a:xfrm>
          <a:prstGeom prst="roundRect">
            <a:avLst>
              <a:gd name="adj" fmla="val 271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8" name="Image 1" descr="ws02s">    </p:cNvPr>
          <p:cNvPicPr>
            <a:picLocks noChangeAspect="1"/>
          </p:cNvPicPr>
          <p:nvPr/>
        </p:nvPicPr>
        <p:blipFill>
          <a:blip r:embed="rId2"/>
          <a:stretch>
            <a:fillRect/>
          </a:stretch>
        </p:blipFill>
        <p:spPr>
          <a:xfrm>
            <a:off x="812673" y="1664208"/>
            <a:ext cx="4766310" cy="2606040"/>
          </a:xfrm>
          <a:prstGeom prst="rect">
            <a:avLst/>
          </a:prstGeom>
        </p:spPr>
      </p:pic>
      <p:sp>
        <p:nvSpPr>
          <p:cNvPr id="9" name="Shape 5"/>
          <p:cNvSpPr/>
          <p:nvPr/>
        </p:nvSpPr>
        <p:spPr>
          <a:xfrm>
            <a:off x="9614002" y="4498848"/>
            <a:ext cx="2163470" cy="1060704"/>
          </a:xfrm>
          <a:prstGeom prst="roundRect">
            <a:avLst>
              <a:gd name="adj" fmla="val 6897"/>
            </a:avLst>
          </a:prstGeom>
          <a:solidFill>
            <a:srgbClr val="FFFFFF"/>
          </a:solidFill>
          <a:ln w="6350">
            <a:solidFill>
              <a:srgbClr val="D9DEE7"/>
            </a:solidFill>
            <a:prstDash val="solid"/>
          </a:ln>
        </p:spPr>
      </p:sp>
      <p:sp>
        <p:nvSpPr>
          <p:cNvPr id="10" name="Shape 6"/>
          <p:cNvSpPr/>
          <p:nvPr/>
        </p:nvSpPr>
        <p:spPr>
          <a:xfrm>
            <a:off x="11347704" y="4590288"/>
            <a:ext cx="329184" cy="329184"/>
          </a:xfrm>
          <a:prstGeom prst="ellipse">
            <a:avLst/>
          </a:prstGeom>
          <a:solidFill>
            <a:srgbClr val="C9A227"/>
          </a:solidFill>
          <a:ln w="12700">
            <a:solidFill>
              <a:srgbClr val="C9A227"/>
            </a:solidFill>
            <a:prstDash val="solid"/>
          </a:ln>
        </p:spPr>
      </p:sp>
      <p:sp>
        <p:nvSpPr>
          <p:cNvPr id="11" name="Text 7"/>
          <p:cNvSpPr txBox="1"/>
          <p:nvPr/>
        </p:nvSpPr>
        <p:spPr>
          <a:xfrm>
            <a:off x="11347704"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txBox="1"/>
          <p:nvPr/>
        </p:nvSpPr>
        <p:spPr>
          <a:xfrm>
            <a:off x="9705442"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زبانه</a:t>
            </a:r>
            <a:endParaRPr lang="en-US" sz="1300" dirty="0"/>
          </a:p>
        </p:txBody>
      </p:sp>
      <p:sp>
        <p:nvSpPr>
          <p:cNvPr id="13" name="Text 9"/>
          <p:cNvSpPr txBox="1"/>
          <p:nvPr/>
        </p:nvSpPr>
        <p:spPr>
          <a:xfrm>
            <a:off x="9723730"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هر گزینهٔ منو در یک زبانهٔ جدا باز می‌شود (حداکثر ۱۰)؛ ویرایش و جزئیات در همان زبانه.</a:t>
            </a:r>
            <a:endParaRPr lang="en-US" sz="1150" dirty="0"/>
          </a:p>
        </p:txBody>
      </p:sp>
      <p:sp>
        <p:nvSpPr>
          <p:cNvPr id="14" name="Shape 10"/>
          <p:cNvSpPr/>
          <p:nvPr/>
        </p:nvSpPr>
        <p:spPr>
          <a:xfrm>
            <a:off x="7313371" y="4498848"/>
            <a:ext cx="2163470" cy="1060704"/>
          </a:xfrm>
          <a:prstGeom prst="roundRect">
            <a:avLst>
              <a:gd name="adj" fmla="val 6897"/>
            </a:avLst>
          </a:prstGeom>
          <a:solidFill>
            <a:srgbClr val="FFFFFF"/>
          </a:solidFill>
          <a:ln w="6350">
            <a:solidFill>
              <a:srgbClr val="D9DEE7"/>
            </a:solidFill>
            <a:prstDash val="solid"/>
          </a:ln>
        </p:spPr>
      </p:sp>
      <p:sp>
        <p:nvSpPr>
          <p:cNvPr id="15" name="Shape 11"/>
          <p:cNvSpPr/>
          <p:nvPr/>
        </p:nvSpPr>
        <p:spPr>
          <a:xfrm>
            <a:off x="9047074" y="4590288"/>
            <a:ext cx="329184" cy="329184"/>
          </a:xfrm>
          <a:prstGeom prst="ellipse">
            <a:avLst/>
          </a:prstGeom>
          <a:solidFill>
            <a:srgbClr val="C9A227"/>
          </a:solidFill>
          <a:ln w="12700">
            <a:solidFill>
              <a:srgbClr val="C9A227"/>
            </a:solidFill>
            <a:prstDash val="solid"/>
          </a:ln>
        </p:spPr>
      </p:sp>
      <p:sp>
        <p:nvSpPr>
          <p:cNvPr id="16" name="Text 12"/>
          <p:cNvSpPr txBox="1"/>
          <p:nvPr/>
        </p:nvSpPr>
        <p:spPr>
          <a:xfrm>
            <a:off x="9047074"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txBox="1"/>
          <p:nvPr/>
        </p:nvSpPr>
        <p:spPr>
          <a:xfrm>
            <a:off x="7404811"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جابه‌جایی و بستن</a:t>
            </a:r>
            <a:endParaRPr lang="en-US" sz="1300" dirty="0"/>
          </a:p>
        </p:txBody>
      </p:sp>
      <p:sp>
        <p:nvSpPr>
          <p:cNvPr id="18" name="Text 14"/>
          <p:cNvSpPr txBox="1"/>
          <p:nvPr/>
        </p:nvSpPr>
        <p:spPr>
          <a:xfrm>
            <a:off x="7423099"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کلیک روی عنوان زبانه؛ × یا کلیک وسط ماوس می‌بندد و برای فرم ذخیره‌نشده هشدار می‌دهد.</a:t>
            </a:r>
            <a:endParaRPr lang="en-US" sz="1150" dirty="0"/>
          </a:p>
        </p:txBody>
      </p:sp>
      <p:sp>
        <p:nvSpPr>
          <p:cNvPr id="19" name="Shape 15"/>
          <p:cNvSpPr/>
          <p:nvPr/>
        </p:nvSpPr>
        <p:spPr>
          <a:xfrm>
            <a:off x="5012741" y="4498848"/>
            <a:ext cx="2163470" cy="1060704"/>
          </a:xfrm>
          <a:prstGeom prst="roundRect">
            <a:avLst>
              <a:gd name="adj" fmla="val 6897"/>
            </a:avLst>
          </a:prstGeom>
          <a:solidFill>
            <a:srgbClr val="FFFFFF"/>
          </a:solidFill>
          <a:ln w="6350">
            <a:solidFill>
              <a:srgbClr val="D9DEE7"/>
            </a:solidFill>
            <a:prstDash val="solid"/>
          </a:ln>
        </p:spPr>
      </p:sp>
      <p:sp>
        <p:nvSpPr>
          <p:cNvPr id="20" name="Shape 16"/>
          <p:cNvSpPr/>
          <p:nvPr/>
        </p:nvSpPr>
        <p:spPr>
          <a:xfrm>
            <a:off x="6746443" y="4590288"/>
            <a:ext cx="329184" cy="329184"/>
          </a:xfrm>
          <a:prstGeom prst="ellipse">
            <a:avLst/>
          </a:prstGeom>
          <a:solidFill>
            <a:srgbClr val="C9A227"/>
          </a:solidFill>
          <a:ln w="12700">
            <a:solidFill>
              <a:srgbClr val="C9A227"/>
            </a:solidFill>
            <a:prstDash val="solid"/>
          </a:ln>
        </p:spPr>
      </p:sp>
      <p:sp>
        <p:nvSpPr>
          <p:cNvPr id="21" name="Text 17"/>
          <p:cNvSpPr txBox="1"/>
          <p:nvPr/>
        </p:nvSpPr>
        <p:spPr>
          <a:xfrm>
            <a:off x="6746443"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txBox="1"/>
          <p:nvPr/>
        </p:nvSpPr>
        <p:spPr>
          <a:xfrm>
            <a:off x="5104181"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کلیک راست</a:t>
            </a:r>
            <a:endParaRPr lang="en-US" sz="1300" dirty="0"/>
          </a:p>
        </p:txBody>
      </p:sp>
      <p:sp>
        <p:nvSpPr>
          <p:cNvPr id="23" name="Text 19"/>
          <p:cNvSpPr txBox="1"/>
          <p:nvPr/>
        </p:nvSpPr>
        <p:spPr>
          <a:xfrm>
            <a:off x="5122469"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نسخهٔ دیگر در تب جدید یا کنار همین تب، نمایش کنار تب فعال، بستن بقیه یا همه.</a:t>
            </a:r>
            <a:endParaRPr lang="en-US" sz="1150" dirty="0"/>
          </a:p>
        </p:txBody>
      </p:sp>
      <p:sp>
        <p:nvSpPr>
          <p:cNvPr id="24" name="Shape 20"/>
          <p:cNvSpPr/>
          <p:nvPr/>
        </p:nvSpPr>
        <p:spPr>
          <a:xfrm>
            <a:off x="2712110" y="4498848"/>
            <a:ext cx="2163470" cy="1060704"/>
          </a:xfrm>
          <a:prstGeom prst="roundRect">
            <a:avLst>
              <a:gd name="adj" fmla="val 6897"/>
            </a:avLst>
          </a:prstGeom>
          <a:solidFill>
            <a:srgbClr val="FFFFFF"/>
          </a:solidFill>
          <a:ln w="6350">
            <a:solidFill>
              <a:srgbClr val="D9DEE7"/>
            </a:solidFill>
            <a:prstDash val="solid"/>
          </a:ln>
        </p:spPr>
      </p:sp>
      <p:sp>
        <p:nvSpPr>
          <p:cNvPr id="25" name="Shape 21"/>
          <p:cNvSpPr/>
          <p:nvPr/>
        </p:nvSpPr>
        <p:spPr>
          <a:xfrm>
            <a:off x="4445813" y="4590288"/>
            <a:ext cx="329184" cy="329184"/>
          </a:xfrm>
          <a:prstGeom prst="ellipse">
            <a:avLst/>
          </a:prstGeom>
          <a:solidFill>
            <a:srgbClr val="C9A227"/>
          </a:solidFill>
          <a:ln w="12700">
            <a:solidFill>
              <a:srgbClr val="C9A227"/>
            </a:solidFill>
            <a:prstDash val="solid"/>
          </a:ln>
        </p:spPr>
      </p:sp>
      <p:sp>
        <p:nvSpPr>
          <p:cNvPr id="26" name="Text 22"/>
          <p:cNvSpPr txBox="1"/>
          <p:nvPr/>
        </p:nvSpPr>
        <p:spPr>
          <a:xfrm>
            <a:off x="4445813"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txBox="1"/>
          <p:nvPr/>
        </p:nvSpPr>
        <p:spPr>
          <a:xfrm>
            <a:off x="2803550"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کنار هم</a:t>
            </a:r>
            <a:endParaRPr lang="en-US" sz="1300" dirty="0"/>
          </a:p>
        </p:txBody>
      </p:sp>
      <p:sp>
        <p:nvSpPr>
          <p:cNvPr id="28" name="Text 24"/>
          <p:cNvSpPr txBox="1"/>
          <p:nvPr/>
        </p:nvSpPr>
        <p:spPr>
          <a:xfrm>
            <a:off x="2821838"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دو فرم هم‌زمان؛ خط وسط را بکشید. «نمای تک‌صفحه» به حالت عادی برمی‌گردد.</a:t>
            </a:r>
            <a:endParaRPr lang="en-US" sz="1150" dirty="0"/>
          </a:p>
        </p:txBody>
      </p:sp>
      <p:sp>
        <p:nvSpPr>
          <p:cNvPr id="29" name="Shape 25"/>
          <p:cNvSpPr/>
          <p:nvPr/>
        </p:nvSpPr>
        <p:spPr>
          <a:xfrm>
            <a:off x="411480" y="4498848"/>
            <a:ext cx="2163470" cy="1060704"/>
          </a:xfrm>
          <a:prstGeom prst="roundRect">
            <a:avLst>
              <a:gd name="adj" fmla="val 6897"/>
            </a:avLst>
          </a:prstGeom>
          <a:solidFill>
            <a:srgbClr val="FFFFFF"/>
          </a:solidFill>
          <a:ln w="6350">
            <a:solidFill>
              <a:srgbClr val="D9DEE7"/>
            </a:solidFill>
            <a:prstDash val="solid"/>
          </a:ln>
        </p:spPr>
      </p:sp>
      <p:sp>
        <p:nvSpPr>
          <p:cNvPr id="30" name="Shape 26"/>
          <p:cNvSpPr/>
          <p:nvPr/>
        </p:nvSpPr>
        <p:spPr>
          <a:xfrm>
            <a:off x="2145182" y="4590288"/>
            <a:ext cx="329184" cy="329184"/>
          </a:xfrm>
          <a:prstGeom prst="ellipse">
            <a:avLst/>
          </a:prstGeom>
          <a:solidFill>
            <a:srgbClr val="C9A227"/>
          </a:solidFill>
          <a:ln w="12700">
            <a:solidFill>
              <a:srgbClr val="C9A227"/>
            </a:solidFill>
            <a:prstDash val="solid"/>
          </a:ln>
        </p:spPr>
      </p:sp>
      <p:sp>
        <p:nvSpPr>
          <p:cNvPr id="31" name="Text 27"/>
          <p:cNvSpPr txBox="1"/>
          <p:nvPr/>
        </p:nvSpPr>
        <p:spPr>
          <a:xfrm>
            <a:off x="2145182"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2" name="Text 28"/>
          <p:cNvSpPr txBox="1"/>
          <p:nvPr/>
        </p:nvSpPr>
        <p:spPr>
          <a:xfrm>
            <a:off x="502920"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لایسنس</a:t>
            </a:r>
            <a:endParaRPr lang="en-US" sz="1300" dirty="0"/>
          </a:p>
        </p:txBody>
      </p:sp>
      <p:sp>
        <p:nvSpPr>
          <p:cNvPr id="33" name="Text 29"/>
          <p:cNvSpPr txBox="1"/>
          <p:nvPr/>
        </p:nvSpPr>
        <p:spPr>
          <a:xfrm>
            <a:off x="521208"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نوار آبی بالای صفحه یعنی لایسنس نزدیک انقضاست؛ پس از پایان مهلت، سامانه فقط‌خواندنی می‌شود.</a:t>
            </a:r>
            <a:endParaRPr lang="en-US" sz="1150" dirty="0"/>
          </a:p>
        </p:txBody>
      </p:sp>
      <p:sp>
        <p:nvSpPr>
          <p:cNvPr id="34" name="Shape 30"/>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5" name="Text 31"/>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6" name="Text 32"/>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زبانه‌های پشتی باز می‌مانند و فرم نیمه‌پر، فیلتر و صفحهٔ جدولشان از دست نمی‌رود؛ ولی بعد از تازه‌سازی (F5) فقط فهرست زبانه‌ها برمی‌گردد، نه محتوای فرم‌ها.</a:t>
            </a:r>
            <a:endParaRPr lang="en-US" sz="1300" dirty="0"/>
          </a:p>
        </p:txBody>
      </p:sp>
      <p:sp>
        <p:nvSpPr>
          <p:cNvPr id="37" name="Text 3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شروع کار</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جدول‌ها — مرتب‌سازی، انتخاب ستون و تعداد ردیف</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ws03">    </p:cNvPr>
          <p:cNvPicPr>
            <a:picLocks noChangeAspect="1"/>
          </p:cNvPicPr>
          <p:nvPr/>
        </p:nvPicPr>
        <p:blipFill>
          <a:blip r:embed="rId1"/>
          <a:stretch>
            <a:fillRect/>
          </a:stretch>
        </p:blipFill>
        <p:spPr>
          <a:xfrm>
            <a:off x="484632" y="1302710"/>
            <a:ext cx="7260336" cy="4892660"/>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مرتب‌سازی</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روی سرستون کلیک کنید: صعودی ← نزولی ← ترتیب اصلی. مرتب‌سازی فقط روی ردیف‌های همین صفحه است.</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ستون‌ها</a:t>
            </a:r>
            <a:endParaRPr lang="en-US" sz="1400" dirty="0"/>
          </a:p>
        </p:txBody>
      </p:sp>
      <p:sp>
        <p:nvSpPr>
          <p:cNvPr id="12" name="Text 9"/>
          <p:cNvSpPr txBox="1"/>
          <p:nvPr/>
        </p:nvSpPr>
        <p:spPr>
          <a:xfrm>
            <a:off x="8046720" y="2653132"/>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«ستون‌ها» فهرست تیک‌دار ستون‌ها را باز می‌کند؛ انتخاب شما برای همان جدول در مرورگرتان به خاطر سپرده می‌شود.</a:t>
            </a:r>
            <a:endParaRPr lang="en-US" sz="1300" dirty="0"/>
          </a:p>
        </p:txBody>
      </p:sp>
      <p:sp>
        <p:nvSpPr>
          <p:cNvPr id="13" name="Shape 10"/>
          <p:cNvSpPr/>
          <p:nvPr/>
        </p:nvSpPr>
        <p:spPr>
          <a:xfrm>
            <a:off x="11393424" y="3679088"/>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67908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67908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نمایش همه</a:t>
            </a:r>
            <a:endParaRPr lang="en-US" sz="1400" dirty="0"/>
          </a:p>
        </p:txBody>
      </p:sp>
      <p:sp>
        <p:nvSpPr>
          <p:cNvPr id="16" name="Text 13"/>
          <p:cNvSpPr txBox="1"/>
          <p:nvPr/>
        </p:nvSpPr>
        <p:spPr>
          <a:xfrm>
            <a:off x="8046720" y="400827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«نمایش همهٔ ستون‌ها» تنظیم را برمی‌گرداند؛ ستون «عملیات» همیشه می‌ماند.</a:t>
            </a:r>
            <a:endParaRPr lang="en-US" sz="1300" dirty="0"/>
          </a:p>
        </p:txBody>
      </p:sp>
      <p:sp>
        <p:nvSpPr>
          <p:cNvPr id="17" name="Shape 14"/>
          <p:cNvSpPr/>
          <p:nvPr/>
        </p:nvSpPr>
        <p:spPr>
          <a:xfrm>
            <a:off x="11393424" y="459440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59440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59440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تعداد ردیف</a:t>
            </a:r>
            <a:endParaRPr lang="en-US" sz="1400" dirty="0"/>
          </a:p>
        </p:txBody>
      </p:sp>
      <p:sp>
        <p:nvSpPr>
          <p:cNvPr id="20" name="Text 17"/>
          <p:cNvSpPr txBox="1"/>
          <p:nvPr/>
        </p:nvSpPr>
        <p:spPr>
          <a:xfrm>
            <a:off x="8046720" y="492358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پایین جدول، تعداد ردیف هر صفحه را عوض کنید و بین صفحه‌ها بروید.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شروع کار</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3" name="Image 0" descr="menu_pc">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txBox="1"/>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۱</a:t>
            </a:r>
            <a:endParaRPr lang="en-US" sz="4000" dirty="0"/>
          </a:p>
        </p:txBody>
      </p:sp>
      <p:sp>
        <p:nvSpPr>
          <p:cNvPr id="6" name="Text 3"/>
          <p:cNvSpPr txBox="1"/>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۱</a:t>
            </a:r>
            <a:endParaRPr lang="en-US" sz="1800" dirty="0"/>
          </a:p>
        </p:txBody>
      </p:sp>
      <p:sp>
        <p:nvSpPr>
          <p:cNvPr id="7" name="Text 4"/>
          <p:cNvSpPr txBox="1"/>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800" b="1" dirty="0">
                <a:solidFill>
                  <a:srgbClr val="FFFFFF"/>
                </a:solidFill>
                <a:latin typeface="Tahoma" pitchFamily="34" charset="0"/>
                <a:ea typeface="Tahoma" pitchFamily="34" charset="-122"/>
                <a:cs typeface="Tahoma" pitchFamily="34" charset="-120"/>
              </a:rPr>
              <a:t>تنخواه‌گردان</a:t>
            </a:r>
            <a:endParaRPr lang="en-US" sz="3800" dirty="0"/>
          </a:p>
        </p:txBody>
      </p:sp>
      <p:sp>
        <p:nvSpPr>
          <p:cNvPr id="8" name="Text 5"/>
          <p:cNvSpPr txBox="1"/>
          <p:nvPr/>
        </p:nvSpPr>
        <p:spPr>
          <a:xfrm>
            <a:off x="5120640" y="4206240"/>
            <a:ext cx="6629400" cy="1097280"/>
          </a:xfrm>
          <a:prstGeom prst="rect">
            <a:avLst/>
          </a:prstGeom>
          <a:noFill/>
          <a:ln/>
        </p:spPr>
        <p:txBody>
          <a:bodyPr wrap="square" lIns="0" tIns="0" rIns="0" bIns="0" rtlCol="0" anchor="t"/>
          <a:lstStyle/>
          <a:p>
            <a:pPr rtl="1" algn="r" indent="0" marL="0">
              <a:buNone/>
            </a:pPr>
            <a:r>
              <a:rPr lang="en-US" sz="1700" dirty="0">
                <a:solidFill>
                  <a:srgbClr val="C9D3E6"/>
                </a:solidFill>
                <a:latin typeface="Tahoma" pitchFamily="34" charset="0"/>
                <a:ea typeface="Tahoma" pitchFamily="34" charset="-122"/>
                <a:cs typeface="Tahoma" pitchFamily="34" charset="-120"/>
              </a:rPr>
              <a:t>از تعریف تنخواه تا ثبت هزینه، تأیید، ترمیم و تسویهٔ دوره با سند حسابداری</a:t>
            </a:r>
            <a:endParaRPr lang="en-US" sz="1700" dirty="0"/>
          </a:p>
        </p:txBody>
      </p:sp>
      <p:sp>
        <p:nvSpPr>
          <p:cNvPr id="9" name="Text 6"/>
          <p:cNvSpPr txBox="1"/>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چرخهٔ کامل تنخواه در یک نگاه</a:t>
            </a:r>
            <a:endParaRPr lang="en-US" sz="2600" dirty="0"/>
          </a:p>
        </p:txBody>
      </p:sp>
      <p:sp>
        <p:nvSpPr>
          <p:cNvPr id="3" name="Shape 1"/>
          <p:cNvSpPr/>
          <p:nvPr/>
        </p:nvSpPr>
        <p:spPr>
          <a:xfrm>
            <a:off x="9796882"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0512857" y="1828800"/>
            <a:ext cx="548640" cy="548640"/>
          </a:xfrm>
          <a:prstGeom prst="ellipse">
            <a:avLst/>
          </a:prstGeom>
          <a:solidFill>
            <a:srgbClr val="C9A227"/>
          </a:solidFill>
          <a:ln w="12700">
            <a:solidFill>
              <a:srgbClr val="C9A227"/>
            </a:solidFill>
            <a:prstDash val="solid"/>
          </a:ln>
        </p:spPr>
      </p:sp>
      <p:sp>
        <p:nvSpPr>
          <p:cNvPr id="5" name="Text 3"/>
          <p:cNvSpPr txBox="1"/>
          <p:nvPr/>
        </p:nvSpPr>
        <p:spPr>
          <a:xfrm>
            <a:off x="10512857"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9906610"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تعریف تنخواه</a:t>
            </a:r>
            <a:endParaRPr lang="en-US" sz="1600" dirty="0"/>
          </a:p>
        </p:txBody>
      </p:sp>
      <p:sp>
        <p:nvSpPr>
          <p:cNvPr id="7" name="Text 5"/>
          <p:cNvSpPr txBox="1"/>
          <p:nvPr/>
        </p:nvSpPr>
        <p:spPr>
          <a:xfrm>
            <a:off x="9906610"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سقف، تنخواه‌دار، بررسی‌کنندگان</a:t>
            </a:r>
            <a:endParaRPr lang="en-US" sz="1250" dirty="0"/>
          </a:p>
        </p:txBody>
      </p:sp>
      <p:sp>
        <p:nvSpPr>
          <p:cNvPr id="8" name="Text 6"/>
          <p:cNvSpPr txBox="1"/>
          <p:nvPr/>
        </p:nvSpPr>
        <p:spPr>
          <a:xfrm>
            <a:off x="9431122"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9" name="Shape 7"/>
          <p:cNvSpPr/>
          <p:nvPr/>
        </p:nvSpPr>
        <p:spPr>
          <a:xfrm>
            <a:off x="7450531"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8166506" y="18288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816650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txBox="1"/>
          <p:nvPr/>
        </p:nvSpPr>
        <p:spPr>
          <a:xfrm>
            <a:off x="7560259"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ثبت صورت‌هزینه</a:t>
            </a:r>
            <a:endParaRPr lang="en-US" sz="1600" dirty="0"/>
          </a:p>
        </p:txBody>
      </p:sp>
      <p:sp>
        <p:nvSpPr>
          <p:cNvPr id="13" name="Text 11"/>
          <p:cNvSpPr txBox="1"/>
          <p:nvPr/>
        </p:nvSpPr>
        <p:spPr>
          <a:xfrm>
            <a:off x="7560259"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تنخواه‌دار + پیوست</a:t>
            </a:r>
            <a:endParaRPr lang="en-US" sz="1250" dirty="0"/>
          </a:p>
        </p:txBody>
      </p:sp>
      <p:sp>
        <p:nvSpPr>
          <p:cNvPr id="14" name="Text 12"/>
          <p:cNvSpPr txBox="1"/>
          <p:nvPr/>
        </p:nvSpPr>
        <p:spPr>
          <a:xfrm>
            <a:off x="7084771"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15" name="Shape 13"/>
          <p:cNvSpPr/>
          <p:nvPr/>
        </p:nvSpPr>
        <p:spPr>
          <a:xfrm>
            <a:off x="5104181"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5820156" y="18288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582015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txBox="1"/>
          <p:nvPr/>
        </p:nvSpPr>
        <p:spPr>
          <a:xfrm>
            <a:off x="5213909"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بررسی و تأیید</a:t>
            </a:r>
            <a:endParaRPr lang="en-US" sz="1600" dirty="0"/>
          </a:p>
        </p:txBody>
      </p:sp>
      <p:sp>
        <p:nvSpPr>
          <p:cNvPr id="19" name="Text 17"/>
          <p:cNvSpPr txBox="1"/>
          <p:nvPr/>
        </p:nvSpPr>
        <p:spPr>
          <a:xfrm>
            <a:off x="5213909"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بازرس ← مدیر مالی/مدیرعامل</a:t>
            </a:r>
            <a:endParaRPr lang="en-US" sz="1250" dirty="0"/>
          </a:p>
        </p:txBody>
      </p:sp>
      <p:sp>
        <p:nvSpPr>
          <p:cNvPr id="20" name="Text 18"/>
          <p:cNvSpPr txBox="1"/>
          <p:nvPr/>
        </p:nvSpPr>
        <p:spPr>
          <a:xfrm>
            <a:off x="4738421"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1" name="Shape 19"/>
          <p:cNvSpPr/>
          <p:nvPr/>
        </p:nvSpPr>
        <p:spPr>
          <a:xfrm>
            <a:off x="2757830" y="2103120"/>
            <a:ext cx="1980590" cy="2011680"/>
          </a:xfrm>
          <a:prstGeom prst="roundRect">
            <a:avLst>
              <a:gd name="adj" fmla="val 5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3473806" y="18288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347380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txBox="1"/>
          <p:nvPr/>
        </p:nvSpPr>
        <p:spPr>
          <a:xfrm>
            <a:off x="2867558" y="2560320"/>
            <a:ext cx="1761134"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ترمیم (شارژ)</a:t>
            </a:r>
            <a:endParaRPr lang="en-US" sz="1600" dirty="0"/>
          </a:p>
        </p:txBody>
      </p:sp>
      <p:sp>
        <p:nvSpPr>
          <p:cNvPr id="25" name="Text 23"/>
          <p:cNvSpPr txBox="1"/>
          <p:nvPr/>
        </p:nvSpPr>
        <p:spPr>
          <a:xfrm>
            <a:off x="2867558" y="3246120"/>
            <a:ext cx="1761134"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مدیر مالی ← خزانه‌دار</a:t>
            </a:r>
            <a:endParaRPr lang="en-US" sz="1250" dirty="0"/>
          </a:p>
        </p:txBody>
      </p:sp>
      <p:sp>
        <p:nvSpPr>
          <p:cNvPr id="26" name="Text 24"/>
          <p:cNvSpPr txBox="1"/>
          <p:nvPr/>
        </p:nvSpPr>
        <p:spPr>
          <a:xfrm>
            <a:off x="2392070"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7" name="Shape 25"/>
          <p:cNvSpPr/>
          <p:nvPr/>
        </p:nvSpPr>
        <p:spPr>
          <a:xfrm>
            <a:off x="411480" y="2103120"/>
            <a:ext cx="1980590" cy="2011680"/>
          </a:xfrm>
          <a:prstGeom prst="roundRect">
            <a:avLst>
              <a:gd name="adj" fmla="val 5540"/>
            </a:avLst>
          </a:prstGeom>
          <a:solidFill>
            <a:srgbClr val="1B2A49"/>
          </a:solidFill>
          <a:ln w="9525">
            <a:solidFill>
              <a:srgbClr val="1B2A49"/>
            </a:solidFill>
            <a:prstDash val="solid"/>
          </a:ln>
          <a:effectLst>
            <a:outerShdw sx="100000" sy="100000" kx="0" ky="0" algn="bl" rotWithShape="0" blurRad="101600" dist="25400" dir="5400000">
              <a:srgbClr val="000000">
                <a:alpha val="12000"/>
              </a:srgbClr>
            </a:outerShdw>
          </a:effectLst>
        </p:spPr>
      </p:sp>
      <p:sp>
        <p:nvSpPr>
          <p:cNvPr id="28" name="Shape 26"/>
          <p:cNvSpPr/>
          <p:nvPr/>
        </p:nvSpPr>
        <p:spPr>
          <a:xfrm>
            <a:off x="1127455" y="1828800"/>
            <a:ext cx="548640" cy="548640"/>
          </a:xfrm>
          <a:prstGeom prst="ellipse">
            <a:avLst/>
          </a:prstGeom>
          <a:solidFill>
            <a:srgbClr val="C9A227"/>
          </a:solidFill>
          <a:ln w="12700">
            <a:solidFill>
              <a:srgbClr val="C9A227"/>
            </a:solidFill>
            <a:prstDash val="solid"/>
          </a:ln>
        </p:spPr>
      </p:sp>
      <p:sp>
        <p:nvSpPr>
          <p:cNvPr id="29" name="Text 27"/>
          <p:cNvSpPr txBox="1"/>
          <p:nvPr/>
        </p:nvSpPr>
        <p:spPr>
          <a:xfrm>
            <a:off x="1127455"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txBox="1"/>
          <p:nvPr/>
        </p:nvSpPr>
        <p:spPr>
          <a:xfrm>
            <a:off x="521208" y="2560320"/>
            <a:ext cx="1761134" cy="685800"/>
          </a:xfrm>
          <a:prstGeom prst="rect">
            <a:avLst/>
          </a:prstGeom>
          <a:noFill/>
          <a:ln/>
        </p:spPr>
        <p:txBody>
          <a:bodyPr wrap="square" lIns="0" tIns="0" rIns="0" bIns="0" rtlCol="0" anchor="ctr"/>
          <a:lstStyle/>
          <a:p>
            <a:pPr rtl="1" algn="ctr" indent="0" marL="0">
              <a:buNone/>
            </a:pPr>
            <a:r>
              <a:rPr lang="en-US" sz="1600" b="1" dirty="0">
                <a:solidFill>
                  <a:srgbClr val="FFFFFF"/>
                </a:solidFill>
                <a:latin typeface="Tahoma" pitchFamily="34" charset="0"/>
                <a:ea typeface="Tahoma" pitchFamily="34" charset="-122"/>
                <a:cs typeface="Tahoma" pitchFamily="34" charset="-120"/>
              </a:rPr>
              <a:t>تسویهٔ دوره</a:t>
            </a:r>
            <a:endParaRPr lang="en-US" sz="1600" dirty="0"/>
          </a:p>
        </p:txBody>
      </p:sp>
      <p:sp>
        <p:nvSpPr>
          <p:cNvPr id="31" name="Text 29"/>
          <p:cNvSpPr txBox="1"/>
          <p:nvPr/>
        </p:nvSpPr>
        <p:spPr>
          <a:xfrm>
            <a:off x="521208" y="3246120"/>
            <a:ext cx="1761134" cy="685800"/>
          </a:xfrm>
          <a:prstGeom prst="rect">
            <a:avLst/>
          </a:prstGeom>
          <a:noFill/>
          <a:ln/>
        </p:spPr>
        <p:txBody>
          <a:bodyPr wrap="square" lIns="0" tIns="0" rIns="0" bIns="0" rtlCol="0" anchor="t"/>
          <a:lstStyle/>
          <a:p>
            <a:pPr rtl="1" algn="ctr" indent="0" marL="0">
              <a:buNone/>
            </a:pPr>
            <a:r>
              <a:rPr lang="en-US" sz="1250" dirty="0">
                <a:solidFill>
                  <a:srgbClr val="C9D3E6"/>
                </a:solidFill>
                <a:latin typeface="Tahoma" pitchFamily="34" charset="0"/>
                <a:ea typeface="Tahoma" pitchFamily="34" charset="-122"/>
                <a:cs typeface="Tahoma" pitchFamily="34" charset="-120"/>
              </a:rPr>
              <a:t>شمارش صندوق + سند حسابداری</a:t>
            </a:r>
            <a:endParaRPr lang="en-US" sz="1250" dirty="0"/>
          </a:p>
        </p:txBody>
      </p:sp>
      <p:sp>
        <p:nvSpPr>
          <p:cNvPr id="32" name="Shape 30"/>
          <p:cNvSpPr/>
          <p:nvPr/>
        </p:nvSpPr>
        <p:spPr>
          <a:xfrm>
            <a:off x="411480" y="4754880"/>
            <a:ext cx="11365992" cy="1143000"/>
          </a:xfrm>
          <a:prstGeom prst="roundRect">
            <a:avLst>
              <a:gd name="adj" fmla="val 8000"/>
            </a:avLst>
          </a:prstGeom>
          <a:solidFill>
            <a:srgbClr val="F6EDCF"/>
          </a:solidFill>
          <a:ln w="12700">
            <a:solidFill>
              <a:srgbClr val="F6EDCF"/>
            </a:solidFill>
            <a:prstDash val="solid"/>
          </a:ln>
        </p:spPr>
      </p:sp>
      <p:sp>
        <p:nvSpPr>
          <p:cNvPr id="33" name="Text 31"/>
          <p:cNvSpPr txBox="1"/>
          <p:nvPr/>
        </p:nvSpPr>
        <p:spPr>
          <a:xfrm>
            <a:off x="685800" y="4754880"/>
            <a:ext cx="10817352" cy="1143000"/>
          </a:xfrm>
          <a:prstGeom prst="rect">
            <a:avLst/>
          </a:prstGeom>
          <a:noFill/>
          <a:ln/>
        </p:spPr>
        <p:txBody>
          <a:bodyPr wrap="square" lIns="0" tIns="0" rIns="0" bIns="0" rtlCol="0" anchor="ctr"/>
          <a:lstStyle/>
          <a:p>
            <a:pPr rtl="1" algn="r" indent="0" marL="0">
              <a:buNone/>
            </a:pPr>
            <a:r>
              <a:rPr lang="en-US" sz="1500" dirty="0">
                <a:solidFill>
                  <a:srgbClr val="4A3B0B"/>
                </a:solidFill>
                <a:latin typeface="Tahoma" pitchFamily="34" charset="0"/>
                <a:ea typeface="Tahoma" pitchFamily="34" charset="-122"/>
                <a:cs typeface="Tahoma" pitchFamily="34" charset="-120"/>
              </a:rPr>
              <a:t>معادلهٔ تراز تنخواه:  سقف تنخواه = موجودی نقد + تأییدشدهٔ منتظر ترمیم + اسناد در جریان − استرداد</a:t>
            </a:r>
            <a:endParaRPr lang="en-US" sz="1500" dirty="0"/>
          </a:p>
        </p:txBody>
      </p:sp>
      <p:sp>
        <p:nvSpPr>
          <p:cNvPr id="34" name="Text 3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نقش‌ها و وضعیت‌های صورت‌هزینه</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45352" y="1234440"/>
          <a:ext cx="5532120" cy="914400"/>
        </p:xfrm>
        <a:graphic>
          <a:graphicData uri="http://schemas.openxmlformats.org/drawingml/2006/table">
            <a:tbl>
              <a:tblPr/>
              <a:tblGrid>
                <a:gridCol w="1659636"/>
                <a:gridCol w="3872484"/>
              </a:tblGrid>
              <a:tr h="475488">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نقش</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چه کاری می‌کند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تنخواه‌دار</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تنها کسی که صورت‌هزینه ثبت، ویرایش، ارسال یا حذف می‌کند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بازرس مالی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شروع بررسی و «تأیید کنترل» مدارک؛ برگشت یا رد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 مالی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تا «سقف اختیار مدیر مالی»؛ ساخت و تأیید ترمیم</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مدیرعامل</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اسناد بالاتر از سقف اختیار مدیر مالی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حسابدار ارشد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نهایی‌سازی تسویهٔ دوره و صدور سند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خزانه‌دار</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ثبت پرداخت ترمیم و ثبت استرداد وجه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11480" y="1234440"/>
          <a:ext cx="5532120" cy="914400"/>
        </p:xfrm>
        <a:graphic>
          <a:graphicData uri="http://schemas.openxmlformats.org/drawingml/2006/table">
            <a:tbl>
              <a:tblPr/>
              <a:tblGrid>
                <a:gridCol w="1659636"/>
                <a:gridCol w="3872484"/>
              </a:tblGrid>
              <a:tr h="475488">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وضعیت</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معنا</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پیش‌نویس</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ذخیره شده، هنوز ارسال نشده (قابل ویرایش و حذف)</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جدید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ارسال شده و در کارتابل بررسی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در انتظار بررسی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بازرس بررسی را شروع کرده است</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برگشتی</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برای اصلاح به تنخواه‌دار برگشته (با مهلت و دلیل)</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تأییدشده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شده و منتظر ترمیم است</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ردشده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پایانی؛ ترمیم نمی‌شود</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75488">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تسویه‌شده</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در سند تسویهٔ دوره منظور شده؛ قفل</a:t>
                      </a:r>
                      <a:endParaRPr lang="en-US" sz="1200" dirty="0">
                        <a:latin typeface="Tahoma" charset="0"/>
                        <a:ea typeface="Tahoma" charset="0"/>
                        <a:cs typeface="Tahoma" charset="0"/>
                      </a:endParaRPr>
                    </a:p>
                  </a:txBody>
                  <a:tcPr marL="91440" marR="91440"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5" name="Shape 1"/>
          <p:cNvSpPr/>
          <p:nvPr/>
        </p:nvSpPr>
        <p:spPr>
          <a:xfrm>
            <a:off x="411480" y="5532120"/>
            <a:ext cx="11365992" cy="731520"/>
          </a:xfrm>
          <a:prstGeom prst="roundRect">
            <a:avLst>
              <a:gd name="adj" fmla="val 10000"/>
            </a:avLst>
          </a:prstGeom>
          <a:solidFill>
            <a:srgbClr val="F6EDCF"/>
          </a:solidFill>
          <a:ln w="12700">
            <a:solidFill>
              <a:srgbClr val="F6EDCF"/>
            </a:solidFill>
            <a:prstDash val="solid"/>
          </a:ln>
        </p:spPr>
      </p:sp>
      <p:sp>
        <p:nvSpPr>
          <p:cNvPr id="6" name="Text 2"/>
          <p:cNvSpPr txBox="1"/>
          <p:nvPr/>
        </p:nvSpPr>
        <p:spPr>
          <a:xfrm>
            <a:off x="640080" y="5532120"/>
            <a:ext cx="10908792" cy="731520"/>
          </a:xfrm>
          <a:prstGeom prst="rect">
            <a:avLst/>
          </a:prstGeom>
          <a:noFill/>
          <a:ln/>
        </p:spPr>
        <p:txBody>
          <a:bodyPr wrap="square" lIns="0" tIns="0" rIns="0" bIns="0" rtlCol="0" anchor="ctr"/>
          <a:lstStyle/>
          <a:p>
            <a:pPr rtl="1" algn="r" indent="0" marL="0">
              <a:buNone/>
            </a:pPr>
            <a:r>
              <a:rPr lang="en-US" sz="1400" dirty="0">
                <a:solidFill>
                  <a:srgbClr val="4A3B0B"/>
                </a:solidFill>
                <a:latin typeface="Tahoma" pitchFamily="34" charset="0"/>
                <a:ea typeface="Tahoma" pitchFamily="34" charset="-122"/>
                <a:cs typeface="Tahoma" pitchFamily="34" charset="-120"/>
              </a:rPr>
              <a:t>تفکیک وظایف: ثبت‌کنندهٔ سند نمی‌تواند آن را بررسی کند و کنترل‌کننده (بازرس) نمی‌تواند همان سند را تأیید نهایی کند.</a:t>
            </a:r>
            <a:endParaRPr lang="en-US" sz="1400" dirty="0"/>
          </a:p>
        </p:txBody>
      </p:sp>
      <p:sp>
        <p:nvSpPr>
          <p:cNvPr id="7" name="Text 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 — فهرست و تعریف تنخواه‌ها</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تعریف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01">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فهرست</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ردیف یک تنخواه است با کد، عنوان، تنخواه‌دار، سقف، سقف هر سند و موجودی نقد لحظه‌ای.</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تنخواه جدید</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«تنخواه جدید» را بزنید تا فرم تعریف باز شود (اسلاید بعد).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آیکون‌های ردیف</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ویرایش، «بررسی‌کنندگان»، «تفصیلی‌های حساب معین» و حذف.</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غیرفعال‌سازی</a:t>
            </a:r>
            <a:endParaRPr lang="en-US" sz="1400" dirty="0"/>
          </a:p>
        </p:txBody>
      </p:sp>
      <p:sp>
        <p:nvSpPr>
          <p:cNvPr id="22" name="Text 19"/>
          <p:cNvSpPr txBox="1"/>
          <p:nvPr/>
        </p:nvSpPr>
        <p:spPr>
          <a:xfrm>
            <a:off x="8046720" y="466664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تنخواه غیرفعال صورت‌هزینهٔ جدید نمی‌پذیرد؛ حذف فقط وقتی ممکن است که هیچ صورت‌هزینه‌ای نداشته باشد.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۲ — فرم تعریف تنخواه</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2">    </p:cNvPr>
          <p:cNvPicPr>
            <a:picLocks noChangeAspect="1"/>
          </p:cNvPicPr>
          <p:nvPr/>
        </p:nvPicPr>
        <p:blipFill>
          <a:blip r:embed="rId1"/>
          <a:stretch>
            <a:fillRect/>
          </a:stretch>
        </p:blipFill>
        <p:spPr>
          <a:xfrm>
            <a:off x="1889715" y="1216152"/>
            <a:ext cx="4450169"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کد و عنوان</a:t>
            </a:r>
            <a:endParaRPr lang="en-US" sz="1400" dirty="0"/>
          </a:p>
        </p:txBody>
      </p:sp>
      <p:sp>
        <p:nvSpPr>
          <p:cNvPr id="8" name="Text 5"/>
          <p:cNvSpPr txBox="1"/>
          <p:nvPr/>
        </p:nvSpPr>
        <p:spPr>
          <a:xfrm>
            <a:off x="8046720" y="1517904"/>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کد در هر واحد باید یکتا باشد؛ مثلاً TN-01 «تنخواه اداری ستاد».</a:t>
            </a:r>
            <a:endParaRPr lang="en-US" sz="1250" dirty="0"/>
          </a:p>
        </p:txBody>
      </p:sp>
      <p:sp>
        <p:nvSpPr>
          <p:cNvPr id="9" name="Shape 6"/>
          <p:cNvSpPr/>
          <p:nvPr/>
        </p:nvSpPr>
        <p:spPr>
          <a:xfrm>
            <a:off x="11393424" y="208711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08711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08711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تنخواه‌دار</a:t>
            </a:r>
            <a:endParaRPr lang="en-US" sz="1400" dirty="0"/>
          </a:p>
        </p:txBody>
      </p:sp>
      <p:sp>
        <p:nvSpPr>
          <p:cNvPr id="12" name="Text 9"/>
          <p:cNvSpPr txBox="1"/>
          <p:nvPr/>
        </p:nvSpPr>
        <p:spPr>
          <a:xfrm>
            <a:off x="8046720" y="2416302"/>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کد کاربری و نام مسئول تنخواه؛ فقط او می‌تواند سند ثبت کند.</a:t>
            </a:r>
            <a:endParaRPr lang="en-US" sz="1250" dirty="0"/>
          </a:p>
        </p:txBody>
      </p:sp>
      <p:sp>
        <p:nvSpPr>
          <p:cNvPr id="13" name="Shape 10"/>
          <p:cNvSpPr/>
          <p:nvPr/>
        </p:nvSpPr>
        <p:spPr>
          <a:xfrm>
            <a:off x="11393424" y="2985516"/>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298551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298551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سقف‌ها</a:t>
            </a:r>
            <a:endParaRPr lang="en-US" sz="1400" dirty="0"/>
          </a:p>
        </p:txBody>
      </p:sp>
      <p:sp>
        <p:nvSpPr>
          <p:cNvPr id="16" name="Text 13"/>
          <p:cNvSpPr txBox="1"/>
          <p:nvPr/>
        </p:nvSpPr>
        <p:spPr>
          <a:xfrm>
            <a:off x="8046720" y="3314700"/>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سقف تنخواه، سقف هر سند و سقف اختیار تأیید مدیر مالی (بیشتر از آن ⇐ مدیرعامل).</a:t>
            </a:r>
            <a:endParaRPr lang="en-US" sz="1250" dirty="0"/>
          </a:p>
        </p:txBody>
      </p:sp>
      <p:sp>
        <p:nvSpPr>
          <p:cNvPr id="17" name="Shape 14"/>
          <p:cNvSpPr/>
          <p:nvPr/>
        </p:nvSpPr>
        <p:spPr>
          <a:xfrm>
            <a:off x="11393424" y="3883914"/>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883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883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آستانهٔ هشدار</a:t>
            </a:r>
            <a:endParaRPr lang="en-US" sz="1400" dirty="0"/>
          </a:p>
        </p:txBody>
      </p:sp>
      <p:sp>
        <p:nvSpPr>
          <p:cNvPr id="20" name="Text 17"/>
          <p:cNvSpPr txBox="1"/>
          <p:nvPr/>
        </p:nvSpPr>
        <p:spPr>
          <a:xfrm>
            <a:off x="8046720" y="4213098"/>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وقتی موجودی نقد از این درصد سقف کمتر شود داشبورد هشدار می‌دهد.</a:t>
            </a:r>
            <a:endParaRPr lang="en-US" sz="1250" dirty="0"/>
          </a:p>
        </p:txBody>
      </p:sp>
      <p:sp>
        <p:nvSpPr>
          <p:cNvPr id="21" name="Shape 18"/>
          <p:cNvSpPr/>
          <p:nvPr/>
        </p:nvSpPr>
        <p:spPr>
          <a:xfrm>
            <a:off x="11393424" y="4782312"/>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478231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478231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حساب معین و دورهٔ تسویه</a:t>
            </a:r>
            <a:endParaRPr lang="en-US" sz="1400" dirty="0"/>
          </a:p>
        </p:txBody>
      </p:sp>
      <p:sp>
        <p:nvSpPr>
          <p:cNvPr id="24" name="Text 21"/>
          <p:cNvSpPr txBox="1"/>
          <p:nvPr/>
        </p:nvSpPr>
        <p:spPr>
          <a:xfrm>
            <a:off x="8046720" y="5111496"/>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حساب «تنخواه‌گردان‌ها» و ماهانه/فصلی؛ «ثبت‌کنندهٔ استرداد» را هم تعیین کنید.</a:t>
            </a:r>
            <a:endParaRPr lang="en-US" sz="1250" dirty="0"/>
          </a:p>
        </p:txBody>
      </p:sp>
      <p:sp>
        <p:nvSpPr>
          <p:cNvPr id="25" name="Shape 22"/>
          <p:cNvSpPr/>
          <p:nvPr/>
        </p:nvSpPr>
        <p:spPr>
          <a:xfrm>
            <a:off x="11393424" y="5680710"/>
            <a:ext cx="347472" cy="347472"/>
          </a:xfrm>
          <a:prstGeom prst="ellipse">
            <a:avLst/>
          </a:prstGeom>
          <a:solidFill>
            <a:srgbClr val="C9A227"/>
          </a:solidFill>
          <a:ln w="12700">
            <a:solidFill>
              <a:srgbClr val="C9A227"/>
            </a:solidFill>
            <a:prstDash val="solid"/>
          </a:ln>
        </p:spPr>
      </p:sp>
      <p:sp>
        <p:nvSpPr>
          <p:cNvPr id="26" name="Text 23"/>
          <p:cNvSpPr txBox="1"/>
          <p:nvPr/>
        </p:nvSpPr>
        <p:spPr>
          <a:xfrm>
            <a:off x="11393424" y="568071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7" name="Text 24"/>
          <p:cNvSpPr txBox="1"/>
          <p:nvPr/>
        </p:nvSpPr>
        <p:spPr>
          <a:xfrm>
            <a:off x="8046720" y="568071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ذخیره</a:t>
            </a:r>
            <a:endParaRPr lang="en-US" sz="1400" dirty="0"/>
          </a:p>
        </p:txBody>
      </p:sp>
      <p:sp>
        <p:nvSpPr>
          <p:cNvPr id="28" name="Text 25"/>
          <p:cNvSpPr txBox="1"/>
          <p:nvPr/>
        </p:nvSpPr>
        <p:spPr>
          <a:xfrm>
            <a:off x="8046720" y="6009894"/>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وضعیت «فعال» را روشن بگذارید و ذخیره کنید.</a:t>
            </a:r>
            <a:endParaRPr lang="en-US" sz="1250" dirty="0"/>
          </a:p>
        </p:txBody>
      </p:sp>
      <p:sp>
        <p:nvSpPr>
          <p:cNvPr id="29" name="Text 2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۳ — تعیین بررسی‌کنندگان تنخواه</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3">    </p:cNvPr>
          <p:cNvPicPr>
            <a:picLocks noChangeAspect="1"/>
          </p:cNvPicPr>
          <p:nvPr/>
        </p:nvPicPr>
        <p:blipFill>
          <a:blip r:embed="rId1"/>
          <a:stretch>
            <a:fillRect/>
          </a:stretch>
        </p:blipFill>
        <p:spPr>
          <a:xfrm>
            <a:off x="1710159" y="1216152"/>
            <a:ext cx="4809281"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فهرست تنخواه‌ها آیکون «بررسی‌کنندگان» را بزنید.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افزودن</a:t>
            </a:r>
            <a:endParaRPr lang="en-US" sz="1400" dirty="0"/>
          </a:p>
        </p:txBody>
      </p:sp>
      <p:sp>
        <p:nvSpPr>
          <p:cNvPr id="12" name="Text 9"/>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کاربری، نام و نقش (بازرس مالی، مدیر مالی، مدیرعامل، حسابدار ارشد، خزانه‌دار) را وارد و «افزودن» کنید.</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چند نقش</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یک کاربر می‌تواند روی یک تنخواه بیش از یک نقش داشته باشد.</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تفصیلی معین</a:t>
            </a:r>
            <a:endParaRPr lang="en-US" sz="1400" dirty="0"/>
          </a:p>
        </p:txBody>
      </p:sp>
      <p:sp>
        <p:nvSpPr>
          <p:cNvPr id="20" name="Text 17"/>
          <p:cNvSpPr txBox="1"/>
          <p:nvPr/>
        </p:nvSpPr>
        <p:spPr>
          <a:xfrm>
            <a:off x="8046720" y="448376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از آیکون «تفصیلی‌های حساب معین» تفصیلی‌های لازم برای سند تسویه را تعیین کنید.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۴ — ثبت صورت‌هزینه (تنخواه‌دار)</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ثبت صورت‌هزینه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05">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تنخواه و تاریخ</a:t>
            </a:r>
            <a:endParaRPr lang="en-US" sz="1400" dirty="0"/>
          </a:p>
        </p:txBody>
      </p:sp>
      <p:sp>
        <p:nvSpPr>
          <p:cNvPr id="10" name="Text 7"/>
          <p:cNvSpPr txBox="1"/>
          <p:nvPr/>
        </p:nvSpPr>
        <p:spPr>
          <a:xfrm>
            <a:off x="8046720" y="1700784"/>
            <a:ext cx="3227832" cy="59481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تنخواه را انتخاب کنید؛ کارت «ماندهٔ تنخواه» موجودی نقد و ماندهٔ پس از این سند را نشان می‌دهد.</a:t>
            </a:r>
            <a:endParaRPr lang="en-US" sz="1100" dirty="0"/>
          </a:p>
        </p:txBody>
      </p:sp>
      <p:sp>
        <p:nvSpPr>
          <p:cNvPr id="11" name="Shape 8"/>
          <p:cNvSpPr/>
          <p:nvPr/>
        </p:nvSpPr>
        <p:spPr>
          <a:xfrm>
            <a:off x="11393424" y="2405329"/>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4053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4053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فروشنده و فاکتور</a:t>
            </a:r>
            <a:endParaRPr lang="en-US" sz="1400" dirty="0"/>
          </a:p>
        </p:txBody>
      </p:sp>
      <p:sp>
        <p:nvSpPr>
          <p:cNvPr id="14" name="Text 11"/>
          <p:cNvSpPr txBox="1"/>
          <p:nvPr/>
        </p:nvSpPr>
        <p:spPr>
          <a:xfrm>
            <a:off x="8046720" y="2734513"/>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نام و شناسهٔ ملی فروشنده، نوع مدرک، شماره و تاریخ فاکتور (در سال مالی جاری).</a:t>
            </a:r>
            <a:endParaRPr lang="en-US" sz="1100" dirty="0"/>
          </a:p>
        </p:txBody>
      </p:sp>
      <p:sp>
        <p:nvSpPr>
          <p:cNvPr id="15" name="Shape 12"/>
          <p:cNvSpPr/>
          <p:nvPr/>
        </p:nvSpPr>
        <p:spPr>
          <a:xfrm>
            <a:off x="11393424" y="3252978"/>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5297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5297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شرح و مبلغ</a:t>
            </a:r>
            <a:endParaRPr lang="en-US" sz="1400" dirty="0"/>
          </a:p>
        </p:txBody>
      </p:sp>
      <p:sp>
        <p:nvSpPr>
          <p:cNvPr id="18" name="Text 15"/>
          <p:cNvSpPr txBox="1"/>
          <p:nvPr/>
        </p:nvSpPr>
        <p:spPr>
          <a:xfrm>
            <a:off x="8046720" y="3582162"/>
            <a:ext cx="3227832" cy="59481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حساب هزینه، شرح، مبلغ قبل از مالیات و ارزش افزوده (۱۰٪ پیشنهاد می‌شود)؛ مبلغ کل خودکار است.</a:t>
            </a:r>
            <a:endParaRPr lang="en-US" sz="1100" dirty="0"/>
          </a:p>
        </p:txBody>
      </p:sp>
      <p:sp>
        <p:nvSpPr>
          <p:cNvPr id="19" name="Shape 16"/>
          <p:cNvSpPr/>
          <p:nvPr/>
        </p:nvSpPr>
        <p:spPr>
          <a:xfrm>
            <a:off x="11393424" y="4286707"/>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286707"/>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286707"/>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لحظه‌ای</a:t>
            </a:r>
            <a:endParaRPr lang="en-US" sz="1400" dirty="0"/>
          </a:p>
        </p:txBody>
      </p:sp>
      <p:sp>
        <p:nvSpPr>
          <p:cNvPr id="22" name="Text 19"/>
          <p:cNvSpPr txBox="1"/>
          <p:nvPr/>
        </p:nvSpPr>
        <p:spPr>
          <a:xfrm>
            <a:off x="8046720" y="4615891"/>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تیک سبز یعنی در سقف هر سند، موجودی کافی و تاریخ معتبر است.</a:t>
            </a:r>
            <a:endParaRPr lang="en-US" sz="1100" dirty="0"/>
          </a:p>
        </p:txBody>
      </p:sp>
      <p:sp>
        <p:nvSpPr>
          <p:cNvPr id="23" name="Shape 20"/>
          <p:cNvSpPr/>
          <p:nvPr/>
        </p:nvSpPr>
        <p:spPr>
          <a:xfrm>
            <a:off x="11393424" y="5134356"/>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1343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1343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ذخیره یا ارسال</a:t>
            </a:r>
            <a:endParaRPr lang="en-US" sz="1400" dirty="0"/>
          </a:p>
        </p:txBody>
      </p:sp>
      <p:sp>
        <p:nvSpPr>
          <p:cNvPr id="26" name="Text 23"/>
          <p:cNvSpPr txBox="1"/>
          <p:nvPr/>
        </p:nvSpPr>
        <p:spPr>
          <a:xfrm>
            <a:off x="8046720" y="5463540"/>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«ذخیرهٔ پیش‌نویس» برای ادامه بعدی؛ «ارسال برای بررسی» سند را به کارتابل می‌فرستد.</a:t>
            </a:r>
            <a:endParaRPr lang="en-US" sz="1100" dirty="0"/>
          </a:p>
        </p:txBody>
      </p:sp>
      <p:sp>
        <p:nvSpPr>
          <p:cNvPr id="27" name="Shape 24"/>
          <p:cNvSpPr/>
          <p:nvPr/>
        </p:nvSpPr>
        <p:spPr>
          <a:xfrm>
            <a:off x="11393424" y="5982005"/>
            <a:ext cx="347472" cy="347472"/>
          </a:xfrm>
          <a:prstGeom prst="ellipse">
            <a:avLst/>
          </a:prstGeom>
          <a:solidFill>
            <a:srgbClr val="C9A227"/>
          </a:solidFill>
          <a:ln w="12700">
            <a:solidFill>
              <a:srgbClr val="C9A227"/>
            </a:solidFill>
            <a:prstDash val="solid"/>
          </a:ln>
        </p:spPr>
      </p:sp>
      <p:sp>
        <p:nvSpPr>
          <p:cNvPr id="28" name="Text 25"/>
          <p:cNvSpPr txBox="1"/>
          <p:nvPr/>
        </p:nvSpPr>
        <p:spPr>
          <a:xfrm>
            <a:off x="11393424" y="598200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9" name="Text 26"/>
          <p:cNvSpPr txBox="1"/>
          <p:nvPr/>
        </p:nvSpPr>
        <p:spPr>
          <a:xfrm>
            <a:off x="8046720" y="598200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پیوست</a:t>
            </a:r>
            <a:endParaRPr lang="en-US" sz="1400" dirty="0"/>
          </a:p>
        </p:txBody>
      </p:sp>
      <p:sp>
        <p:nvSpPr>
          <p:cNvPr id="30" name="Text 27"/>
          <p:cNvSpPr txBox="1"/>
          <p:nvPr/>
        </p:nvSpPr>
        <p:spPr>
          <a:xfrm>
            <a:off x="8046720" y="6311189"/>
            <a:ext cx="3227832" cy="408737"/>
          </a:xfrm>
          <a:prstGeom prst="rect">
            <a:avLst/>
          </a:prstGeom>
          <a:noFill/>
          <a:ln/>
        </p:spPr>
        <p:txBody>
          <a:bodyPr wrap="square" lIns="0" tIns="0" rIns="0" bIns="0" rtlCol="0" anchor="t"/>
          <a:lstStyle/>
          <a:p>
            <a:pPr rtl="1" algn="r" indent="0" marL="0">
              <a:lnSpc>
                <a:spcPct val="105000"/>
              </a:lnSpc>
              <a:buNone/>
            </a:pPr>
            <a:r>
              <a:rPr lang="en-US" sz="1100" dirty="0">
                <a:solidFill>
                  <a:srgbClr val="1F2937"/>
                </a:solidFill>
                <a:latin typeface="Tahoma" pitchFamily="34" charset="0"/>
                <a:ea typeface="Tahoma" pitchFamily="34" charset="-122"/>
                <a:cs typeface="Tahoma" pitchFamily="34" charset="-120"/>
              </a:rPr>
              <a:t>پس از اولین ذخیره، فاکتور و رسید را پیوست کنید.</a:t>
            </a:r>
            <a:endParaRPr lang="en-US" sz="1100" dirty="0"/>
          </a:p>
        </p:txBody>
      </p:sp>
      <p:sp>
        <p:nvSpPr>
          <p:cNvPr id="31" name="Text 2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۵ — کارتابل تنخواه</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کارتابل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07">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زبانه‌ها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جریان»، جدید، در انتظار بررسی، برگشتی، تأییدشده، ردشده، پیش‌نویس و همه — با تعداد هر وضعیت.</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جستجو و فیلتر</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 اساس تنخواه، شرح، فروشنده یا شماره فاکتور.</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 عمر</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روزهای گذشته از ارسال؛ عمر بالای ۵ روز قرمز می‌شود.</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اقدام‌ها</a:t>
            </a:r>
            <a:endParaRPr lang="en-US" sz="1400" dirty="0"/>
          </a:p>
        </p:txBody>
      </p:sp>
      <p:sp>
        <p:nvSpPr>
          <p:cNvPr id="22" name="Text 19"/>
          <p:cNvSpPr txBox="1"/>
          <p:nvPr/>
        </p:nvSpPr>
        <p:spPr>
          <a:xfrm>
            <a:off x="8046720" y="466664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نمایش، شروع بررسی، تأیید کنترل، تأیید نهایی، برگشت و رد — فقط اقدام‌های مجاز نقش شما فعال است.</a:t>
            </a:r>
            <a:endParaRPr lang="en-US" sz="1300" dirty="0"/>
          </a:p>
        </p:txBody>
      </p:sp>
      <p:sp>
        <p:nvSpPr>
          <p:cNvPr id="23" name="Shape 20"/>
          <p:cNvSpPr/>
          <p:nvPr/>
        </p:nvSpPr>
        <p:spPr>
          <a:xfrm>
            <a:off x="11393424" y="5472684"/>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47268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47268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گروهی</a:t>
            </a:r>
            <a:endParaRPr lang="en-US" sz="1400" dirty="0"/>
          </a:p>
        </p:txBody>
      </p:sp>
      <p:sp>
        <p:nvSpPr>
          <p:cNvPr id="26" name="Text 23"/>
          <p:cNvSpPr txBox="1"/>
          <p:nvPr/>
        </p:nvSpPr>
        <p:spPr>
          <a:xfrm>
            <a:off x="8046720" y="580186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 کنترل‌شده را تیک بزنید و «تأیید گروهی» کنید؛ همه با هم تأیید می‌شوند یا هیچ‌کدام.</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۶ — بررسی سند در صفحهٔ جزئیات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8">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شروع بررسی</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بازرس روی سند «جدید» «شروع بررسی» را می‌زند؛ وضعیت «در انتظار بررسی» می‌شود.</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بررسی مدارک</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فیلدها فقط‌خواندنی‌اند؛ پیوست‌ها را در پنل کناری باز و پیش‌نمایش کنید.</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نوار اقدام</a:t>
            </a:r>
            <a:endParaRPr lang="en-US" sz="1400" dirty="0"/>
          </a:p>
        </p:txBody>
      </p:sp>
      <p:sp>
        <p:nvSpPr>
          <p:cNvPr id="16" name="Text 13"/>
          <p:cNvSpPr txBox="1"/>
          <p:nvPr/>
        </p:nvSpPr>
        <p:spPr>
          <a:xfrm>
            <a:off x="8046720" y="3568446"/>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«تأیید نهایی»، «برگشت برای اصلاح» و «رد سند…»؛ برچسب آبی نشان می‌دهد چه کسی و کی کنترل کرده.</a:t>
            </a:r>
            <a:endParaRPr lang="en-US" sz="1300" dirty="0"/>
          </a:p>
        </p:txBody>
      </p:sp>
      <p:sp>
        <p:nvSpPr>
          <p:cNvPr id="17" name="Shape 14"/>
          <p:cNvSpPr/>
          <p:nvPr/>
        </p:nvSpPr>
        <p:spPr>
          <a:xfrm>
            <a:off x="11393424" y="4374490"/>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37449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37449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میانبر</a:t>
            </a:r>
            <a:endParaRPr lang="en-US" sz="1400" dirty="0"/>
          </a:p>
        </p:txBody>
      </p:sp>
      <p:sp>
        <p:nvSpPr>
          <p:cNvPr id="20" name="Text 17"/>
          <p:cNvSpPr txBox="1"/>
          <p:nvPr/>
        </p:nvSpPr>
        <p:spPr>
          <a:xfrm>
            <a:off x="8046720" y="470367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کلید A برای تأیید و R برای برگشت؛ با پیکان‌ها به سند قبلی/بعدی بروید.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۷ — تأیید دومرحله‌ای: کنترل بازرس و تأیید نهایی</a:t>
            </a:r>
            <a:endParaRPr lang="en-US" sz="2600" dirty="0"/>
          </a:p>
        </p:txBody>
      </p:sp>
      <p:sp>
        <p:nvSpPr>
          <p:cNvPr id="3" name="Text 1"/>
          <p:cNvSpPr txBox="1"/>
          <p:nvPr/>
        </p:nvSpPr>
        <p:spPr>
          <a:xfrm>
            <a:off x="411480" y="114300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۱. تأیید کنترل — بازرس مالی</a:t>
            </a:r>
            <a:endParaRPr lang="en-US" sz="1200" dirty="0"/>
          </a:p>
        </p:txBody>
      </p:sp>
      <p:sp>
        <p:nvSpPr>
          <p:cNvPr id="4" name="Shape 2"/>
          <p:cNvSpPr/>
          <p:nvPr/>
        </p:nvSpPr>
        <p:spPr>
          <a:xfrm>
            <a:off x="411480" y="143560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5" name="Image 0" descr="pc09">    </p:cNvPr>
          <p:cNvPicPr>
            <a:picLocks noChangeAspect="1"/>
          </p:cNvPicPr>
          <p:nvPr/>
        </p:nvPicPr>
        <p:blipFill>
          <a:blip r:embed="rId1"/>
          <a:stretch>
            <a:fillRect/>
          </a:stretch>
        </p:blipFill>
        <p:spPr>
          <a:xfrm>
            <a:off x="1921876" y="1481328"/>
            <a:ext cx="4385848" cy="2153412"/>
          </a:xfrm>
          <a:prstGeom prst="rect">
            <a:avLst/>
          </a:prstGeom>
        </p:spPr>
      </p:pic>
      <p:sp>
        <p:nvSpPr>
          <p:cNvPr id="6" name="Text 3"/>
          <p:cNvSpPr txBox="1"/>
          <p:nvPr/>
        </p:nvSpPr>
        <p:spPr>
          <a:xfrm>
            <a:off x="411480" y="381762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۲. تأیید نهایی — مدیر مالی / مدیرعامل</a:t>
            </a:r>
            <a:endParaRPr lang="en-US" sz="1200" dirty="0"/>
          </a:p>
        </p:txBody>
      </p:sp>
      <p:sp>
        <p:nvSpPr>
          <p:cNvPr id="7" name="Shape 4"/>
          <p:cNvSpPr/>
          <p:nvPr/>
        </p:nvSpPr>
        <p:spPr>
          <a:xfrm>
            <a:off x="411480" y="411022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8" name="Image 1" descr="pc10b">    </p:cNvPr>
          <p:cNvPicPr>
            <a:picLocks noChangeAspect="1"/>
          </p:cNvPicPr>
          <p:nvPr/>
        </p:nvPicPr>
        <p:blipFill>
          <a:blip r:embed="rId2"/>
          <a:stretch>
            <a:fillRect/>
          </a:stretch>
        </p:blipFill>
        <p:spPr>
          <a:xfrm>
            <a:off x="1921876" y="4155948"/>
            <a:ext cx="4385848" cy="2153412"/>
          </a:xfrm>
          <a:prstGeom prst="rect">
            <a:avLst/>
          </a:prstGeom>
        </p:spPr>
      </p:pic>
      <p:sp>
        <p:nvSpPr>
          <p:cNvPr id="9" name="Shape 5"/>
          <p:cNvSpPr/>
          <p:nvPr/>
        </p:nvSpPr>
        <p:spPr>
          <a:xfrm>
            <a:off x="11393424" y="1188720"/>
            <a:ext cx="347472" cy="347472"/>
          </a:xfrm>
          <a:prstGeom prst="ellipse">
            <a:avLst/>
          </a:prstGeom>
          <a:solidFill>
            <a:srgbClr val="C9A227"/>
          </a:solidFill>
          <a:ln w="12700">
            <a:solidFill>
              <a:srgbClr val="C9A227"/>
            </a:solidFill>
            <a:prstDash val="solid"/>
          </a:ln>
        </p:spPr>
      </p:sp>
      <p:sp>
        <p:nvSpPr>
          <p:cNvPr id="10" name="Text 6"/>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1" name="Text 7"/>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کنترل</a:t>
            </a:r>
            <a:endParaRPr lang="en-US" sz="1400" dirty="0"/>
          </a:p>
        </p:txBody>
      </p:sp>
      <p:sp>
        <p:nvSpPr>
          <p:cNvPr id="12" name="Text 8"/>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بازرس پس از بررسی، «تأیید کنترل» را با یادداشت اختیاری ثبت می‌کند؛ وضعیت سند تغییر نمی‌کند.</a:t>
            </a:r>
            <a:endParaRPr lang="en-US" sz="1300" dirty="0"/>
          </a:p>
        </p:txBody>
      </p:sp>
      <p:sp>
        <p:nvSpPr>
          <p:cNvPr id="13" name="Shape 9"/>
          <p:cNvSpPr/>
          <p:nvPr/>
        </p:nvSpPr>
        <p:spPr>
          <a:xfrm>
            <a:off x="11393424" y="2323948"/>
            <a:ext cx="347472" cy="347472"/>
          </a:xfrm>
          <a:prstGeom prst="ellipse">
            <a:avLst/>
          </a:prstGeom>
          <a:solidFill>
            <a:srgbClr val="C9A227"/>
          </a:solidFill>
          <a:ln w="12700">
            <a:solidFill>
              <a:srgbClr val="C9A227"/>
            </a:solidFill>
            <a:prstDash val="solid"/>
          </a:ln>
        </p:spPr>
      </p:sp>
      <p:sp>
        <p:nvSpPr>
          <p:cNvPr id="14" name="Text 10"/>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1"/>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نهایی</a:t>
            </a:r>
            <a:endParaRPr lang="en-US" sz="1400" dirty="0"/>
          </a:p>
        </p:txBody>
      </p:sp>
      <p:sp>
        <p:nvSpPr>
          <p:cNvPr id="16" name="Text 12"/>
          <p:cNvSpPr txBox="1"/>
          <p:nvPr/>
        </p:nvSpPr>
        <p:spPr>
          <a:xfrm>
            <a:off x="8046720" y="265313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مدیر مالی (تا سقف اختیار) یا مدیرعامل (بالاتر از سقف) سند کنترل‌شده را تأیید می‌کند ⇐ «تأییدشده».</a:t>
            </a:r>
            <a:endParaRPr lang="en-US" sz="1300" dirty="0"/>
          </a:p>
        </p:txBody>
      </p:sp>
      <p:sp>
        <p:nvSpPr>
          <p:cNvPr id="17" name="Shape 13"/>
          <p:cNvSpPr/>
          <p:nvPr/>
        </p:nvSpPr>
        <p:spPr>
          <a:xfrm>
            <a:off x="11393424" y="3459175"/>
            <a:ext cx="347472" cy="347472"/>
          </a:xfrm>
          <a:prstGeom prst="ellipse">
            <a:avLst/>
          </a:prstGeom>
          <a:solidFill>
            <a:srgbClr val="C9A227"/>
          </a:solidFill>
          <a:ln w="12700">
            <a:solidFill>
              <a:srgbClr val="C9A227"/>
            </a:solidFill>
            <a:prstDash val="solid"/>
          </a:ln>
        </p:spPr>
      </p:sp>
      <p:sp>
        <p:nvSpPr>
          <p:cNvPr id="18" name="Text 14"/>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9" name="Text 15"/>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قید</a:t>
            </a:r>
            <a:endParaRPr lang="en-US" sz="1400" dirty="0"/>
          </a:p>
        </p:txBody>
      </p:sp>
      <p:sp>
        <p:nvSpPr>
          <p:cNvPr id="20" name="Text 16"/>
          <p:cNvSpPr txBox="1"/>
          <p:nvPr/>
        </p:nvSpPr>
        <p:spPr>
          <a:xfrm>
            <a:off x="8046720" y="3788359"/>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تأییدکنندهٔ نهایی نباید همان بازرس یا ثبت‌کنندهٔ سند باشد.</a:t>
            </a:r>
            <a:endParaRPr lang="en-US" sz="1300" dirty="0"/>
          </a:p>
        </p:txBody>
      </p:sp>
      <p:sp>
        <p:nvSpPr>
          <p:cNvPr id="21" name="Text 17"/>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۸ — برگشت سند برای اصلاح</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10">    </p:cNvPr>
          <p:cNvPicPr>
            <a:picLocks noChangeAspect="1"/>
          </p:cNvPicPr>
          <p:nvPr/>
        </p:nvPicPr>
        <p:blipFill>
          <a:blip r:embed="rId1"/>
          <a:stretch>
            <a:fillRect/>
          </a:stretch>
        </p:blipFill>
        <p:spPr>
          <a:xfrm>
            <a:off x="1471786" y="1216152"/>
            <a:ext cx="5286027"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دلایل</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یک یا چند دلیل: پیوست ناقص، حساب هزینه نادرست، مبلغ با مدرک مطابقت ندارد، شرح نیازمند توضیح، سایر.</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مهلت</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تاریخ مهلت اصلاح (بعد از امروز) الزامی است.</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توضیح</a:t>
            </a:r>
            <a:endParaRPr lang="en-US" sz="1400" dirty="0"/>
          </a:p>
        </p:txBody>
      </p:sp>
      <p:sp>
        <p:nvSpPr>
          <p:cNvPr id="16" name="Text 13"/>
          <p:cNvSpPr txBox="1"/>
          <p:nvPr/>
        </p:nvSpPr>
        <p:spPr>
          <a:xfrm>
            <a:off x="8046720" y="3568446"/>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متن توضیح برای تنخواه‌دار الزامی است.</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قفل فیلدها</a:t>
            </a:r>
            <a:endParaRPr lang="en-US" sz="1400" dirty="0"/>
          </a:p>
        </p:txBody>
      </p:sp>
      <p:sp>
        <p:nvSpPr>
          <p:cNvPr id="20" name="Text 17"/>
          <p:cNvSpPr txBox="1"/>
          <p:nvPr/>
        </p:nvSpPr>
        <p:spPr>
          <a:xfrm>
            <a:off x="8046720" y="426384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تنخواه‌دار فقط فیلدهای مرتبط با دلیل را می‌تواند تغییر دهد؛ مثلاً «پیوست ناقص» فقط پیوست را باز می‌کند.</a:t>
            </a:r>
            <a:endParaRPr lang="en-US" sz="1300" dirty="0"/>
          </a:p>
        </p:txBody>
      </p:sp>
      <p:sp>
        <p:nvSpPr>
          <p:cNvPr id="21" name="Shape 18"/>
          <p:cNvSpPr/>
          <p:nvPr/>
        </p:nvSpPr>
        <p:spPr>
          <a:xfrm>
            <a:off x="11393424" y="5069891"/>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06989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06989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رد سند</a:t>
            </a:r>
            <a:endParaRPr lang="en-US" sz="1400" dirty="0"/>
          </a:p>
        </p:txBody>
      </p:sp>
      <p:sp>
        <p:nvSpPr>
          <p:cNvPr id="24" name="Text 21"/>
          <p:cNvSpPr txBox="1"/>
          <p:nvPr/>
        </p:nvSpPr>
        <p:spPr>
          <a:xfrm>
            <a:off x="8046720" y="539907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برای رد، دلیل بنویسید؛ سند ردشده پایانی است و ترمیم نمی‌شود.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۹ — اصلاح سند برگشتی (تنخواه‌دار)</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06">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کادر نارنجی</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مهلت، دلایل و توضیح بررسی‌کننده بالای فرم نمایش داده می‌شود.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فیلدهای مجاز</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فیلدهای قاب‌دار رنگی قابل ویرایش‌اند؛ بقیه قفل‌اند.</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ارسال دوباره</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«ارسال برای بررسی» را بزنید؛ سند دوباره باید کنترل بازرس شود.</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تاریخچه</a:t>
            </a:r>
            <a:endParaRPr lang="en-US" sz="1400" dirty="0"/>
          </a:p>
        </p:txBody>
      </p:sp>
      <p:sp>
        <p:nvSpPr>
          <p:cNvPr id="20" name="Text 17"/>
          <p:cNvSpPr txBox="1"/>
          <p:nvPr/>
        </p:nvSpPr>
        <p:spPr>
          <a:xfrm>
            <a:off x="8046720" y="426384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پنل «تاریخچهٔ اقدامات» همهٔ رویدادها را با کاربر، زمان و IP نشان می‌دهد.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داشبورد تنخواه</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داشبورد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1">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کارت‌ها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موجودی نقد (و درصد از سقف)، تأییدشدهٔ منتظر ترمیم، در جریان بررسی و برگشتی‌ها.</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تراز تنخواه</a:t>
            </a:r>
            <a:endParaRPr lang="en-US" sz="1400" dirty="0"/>
          </a:p>
        </p:txBody>
      </p:sp>
      <p:sp>
        <p:nvSpPr>
          <p:cNvPr id="14" name="Text 11"/>
          <p:cNvSpPr txBox="1"/>
          <p:nvPr/>
        </p:nvSpPr>
        <p:spPr>
          <a:xfrm>
            <a:off x="8046720" y="283601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معادلهٔ سقف را با اعداد واقعی نشان می‌دهد؛ برچسب «متوازن» یعنی داده سالم است.</a:t>
            </a:r>
            <a:endParaRPr lang="en-US" sz="1300" dirty="0"/>
          </a:p>
        </p:txBody>
      </p:sp>
      <p:sp>
        <p:nvSpPr>
          <p:cNvPr id="15" name="Shape 12"/>
          <p:cNvSpPr/>
          <p:nvPr/>
        </p:nvSpPr>
        <p:spPr>
          <a:xfrm>
            <a:off x="11393424" y="3642055"/>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64205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64205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اقدامات امروز</a:t>
            </a:r>
            <a:endParaRPr lang="en-US" sz="1400" dirty="0"/>
          </a:p>
        </p:txBody>
      </p:sp>
      <p:sp>
        <p:nvSpPr>
          <p:cNvPr id="18" name="Text 15"/>
          <p:cNvSpPr txBox="1"/>
          <p:nvPr/>
        </p:nvSpPr>
        <p:spPr>
          <a:xfrm>
            <a:off x="8046720" y="397123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اسنادی که منتظر اقدام‌اند؛ دکمهٔ «بررسی» یا «پیگیری» مستقیم سند را باز می‌کند.</a:t>
            </a:r>
            <a:endParaRPr lang="en-US" sz="1300" dirty="0"/>
          </a:p>
        </p:txBody>
      </p:sp>
      <p:sp>
        <p:nvSpPr>
          <p:cNvPr id="19" name="Shape 16"/>
          <p:cNvSpPr/>
          <p:nvPr/>
        </p:nvSpPr>
        <p:spPr>
          <a:xfrm>
            <a:off x="11393424" y="477728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7772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7772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هشدارها</a:t>
            </a:r>
            <a:endParaRPr lang="en-US" sz="1400" dirty="0"/>
          </a:p>
        </p:txBody>
      </p:sp>
      <p:sp>
        <p:nvSpPr>
          <p:cNvPr id="22" name="Text 19"/>
          <p:cNvSpPr txBox="1"/>
          <p:nvPr/>
        </p:nvSpPr>
        <p:spPr>
          <a:xfrm>
            <a:off x="8046720" y="510646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 معطل و مبلغ منتظر ترمیم؛ دکمهٔ «ایجاد درخواست ترمیم» میانبر گام بعدی است.</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۱۰ — درخواست ترمیم (شارژ) تنخواه</a:t>
            </a:r>
            <a:endParaRPr lang="en-US" sz="2600" dirty="0"/>
          </a:p>
        </p:txBody>
      </p:sp>
      <p:sp>
        <p:nvSpPr>
          <p:cNvPr id="3" name="Shape 1"/>
          <p:cNvSpPr/>
          <p:nvPr/>
        </p:nvSpPr>
        <p:spPr>
          <a:xfrm>
            <a:off x="6954012" y="896112"/>
            <a:ext cx="482346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شارژ و ترمیم ← درخواست ترمیم جدید</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3">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انتخاب تنخواه</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سامانه همهٔ صورت‌هزینه‌های تأییدشدهٔ ترمیم‌نشده را جمع می‌کند.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ریز حساب‌ها</a:t>
            </a:r>
            <a:endParaRPr lang="en-US" sz="1400" dirty="0"/>
          </a:p>
        </p:txBody>
      </p:sp>
      <p:sp>
        <p:nvSpPr>
          <p:cNvPr id="14" name="Text 11"/>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جدول «مبلغ ترمیم بر اساس اسناد تأییدشده» جمع هر حساب هزینه و تعداد سند را نشان می‌دهد.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اطلاعات ترمیم</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بانکی مبدأ، روش پرداخت (پایا، چک، نقد، سایر)، تاریخ و یادداشت.</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اثر ترمیم</a:t>
            </a:r>
            <a:endParaRPr lang="en-US" sz="1400" dirty="0"/>
          </a:p>
        </p:txBody>
      </p:sp>
      <p:sp>
        <p:nvSpPr>
          <p:cNvPr id="22" name="Text 19"/>
          <p:cNvSpPr txBox="1"/>
          <p:nvPr/>
        </p:nvSpPr>
        <p:spPr>
          <a:xfrm>
            <a:off x="8046720" y="466664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موجودی نقد قبل و بعد؛ کنترل «در حد سقف» و «هیچ سندی دو بار ترمیم نمی‌شود».</a:t>
            </a:r>
            <a:endParaRPr lang="en-US" sz="1300" dirty="0"/>
          </a:p>
        </p:txBody>
      </p:sp>
      <p:sp>
        <p:nvSpPr>
          <p:cNvPr id="23" name="Shape 20"/>
          <p:cNvSpPr/>
          <p:nvPr/>
        </p:nvSpPr>
        <p:spPr>
          <a:xfrm>
            <a:off x="11393424" y="5252771"/>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25277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25277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ارسال</a:t>
            </a:r>
            <a:endParaRPr lang="en-US" sz="1400" dirty="0"/>
          </a:p>
        </p:txBody>
      </p:sp>
      <p:sp>
        <p:nvSpPr>
          <p:cNvPr id="26" name="Text 23"/>
          <p:cNvSpPr txBox="1"/>
          <p:nvPr/>
        </p:nvSpPr>
        <p:spPr>
          <a:xfrm>
            <a:off x="8046720" y="558195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«ارسال برای تأیید»: مسیر ۱. مدیر مالی ← ۲. خزانه‌دار.</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۱۱ — تأیید و پرداخت ترمیم</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14">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فهرست</a:t>
            </a:r>
            <a:endParaRPr lang="en-US" sz="1400" dirty="0"/>
          </a:p>
        </p:txBody>
      </p:sp>
      <p:sp>
        <p:nvSpPr>
          <p:cNvPr id="8" name="Text 5"/>
          <p:cNvSpPr txBox="1"/>
          <p:nvPr/>
        </p:nvSpPr>
        <p:spPr>
          <a:xfrm>
            <a:off x="8046720" y="1517904"/>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«شارژ و ترمیم» همهٔ درخواست‌ها با وضعیت: پیش‌نویس، در انتظار مدیر مالی، در انتظار خزانه‌دار، پرداخت‌شده، ردشده.</a:t>
            </a:r>
            <a:endParaRPr lang="en-US" sz="1300" dirty="0"/>
          </a:p>
        </p:txBody>
      </p:sp>
      <p:sp>
        <p:nvSpPr>
          <p:cNvPr id="9" name="Shape 6"/>
          <p:cNvSpPr/>
          <p:nvPr/>
        </p:nvSpPr>
        <p:spPr>
          <a:xfrm>
            <a:off x="11393424" y="2543861"/>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54386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54386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مدیر مالی</a:t>
            </a:r>
            <a:endParaRPr lang="en-US" sz="1400" dirty="0"/>
          </a:p>
        </p:txBody>
      </p:sp>
      <p:sp>
        <p:nvSpPr>
          <p:cNvPr id="12" name="Text 9"/>
          <p:cNvSpPr txBox="1"/>
          <p:nvPr/>
        </p:nvSpPr>
        <p:spPr>
          <a:xfrm>
            <a:off x="8046720" y="287304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مدیر مالی (غیر از سازنده) «تأیید» یا «رد» می‌کند.</a:t>
            </a:r>
            <a:endParaRPr lang="en-US" sz="1300" dirty="0"/>
          </a:p>
        </p:txBody>
      </p:sp>
      <p:sp>
        <p:nvSpPr>
          <p:cNvPr id="13" name="Shape 10"/>
          <p:cNvSpPr/>
          <p:nvPr/>
        </p:nvSpPr>
        <p:spPr>
          <a:xfrm>
            <a:off x="11393424" y="3459175"/>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 پرداخت</a:t>
            </a:r>
            <a:endParaRPr lang="en-US" sz="1400" dirty="0"/>
          </a:p>
        </p:txBody>
      </p:sp>
      <p:sp>
        <p:nvSpPr>
          <p:cNvPr id="16" name="Text 13"/>
          <p:cNvSpPr txBox="1"/>
          <p:nvPr/>
        </p:nvSpPr>
        <p:spPr>
          <a:xfrm>
            <a:off x="8046720" y="378835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خزانه‌دار پس از واریز، پرداخت را ثبت می‌کند ⇐ «پرداخت‌شده» و موجودی نقد افزایش می‌یابد.</a:t>
            </a:r>
            <a:endParaRPr lang="en-US" sz="1300" dirty="0"/>
          </a:p>
        </p:txBody>
      </p:sp>
      <p:sp>
        <p:nvSpPr>
          <p:cNvPr id="17" name="Shape 14"/>
          <p:cNvSpPr/>
          <p:nvPr/>
        </p:nvSpPr>
        <p:spPr>
          <a:xfrm>
            <a:off x="11393424" y="459440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59440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59440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مسیر تأیید</a:t>
            </a:r>
            <a:endParaRPr lang="en-US" sz="1400" dirty="0"/>
          </a:p>
        </p:txBody>
      </p:sp>
      <p:sp>
        <p:nvSpPr>
          <p:cNvPr id="20" name="Text 17"/>
          <p:cNvSpPr txBox="1"/>
          <p:nvPr/>
        </p:nvSpPr>
        <p:spPr>
          <a:xfrm>
            <a:off x="8046720" y="492358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کارت «مسیر تأیید» مرحلهٔ جاری را نشان می‌دهد.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گزارش گردش تنخواه</a:t>
            </a:r>
            <a:endParaRPr lang="en-US" sz="2600" dirty="0"/>
          </a:p>
        </p:txBody>
      </p:sp>
      <p:sp>
        <p:nvSpPr>
          <p:cNvPr id="3" name="Shape 1"/>
          <p:cNvSpPr/>
          <p:nvPr/>
        </p:nvSpPr>
        <p:spPr>
          <a:xfrm>
            <a:off x="8197596" y="896112"/>
            <a:ext cx="357987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گزارش گردش تنخواه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5">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فیلتر</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تنخواه، از تاریخ، تا تاریخ و نوع (ترمیم، هزینه، استرداد).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ستون‌ها</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دریافت (ترمیم/استرداد)، پرداخت (هزینه) و ماندهٔ جاری پس از هر ردیف.</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مرجع</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روی کد مرجع بزنید تا سند مبدأ باز شود.</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خروجی</a:t>
            </a:r>
            <a:endParaRPr lang="en-US" sz="1400" dirty="0"/>
          </a:p>
        </p:txBody>
      </p:sp>
      <p:sp>
        <p:nvSpPr>
          <p:cNvPr id="22" name="Text 19"/>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«خروجی اکسل» گزارش را با جمع‌ها ذخیره می‌کند.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۱۲ — تسویهٔ دوره: شمارش صندوق</a:t>
            </a:r>
            <a:endParaRPr lang="en-US" sz="2600" dirty="0"/>
          </a:p>
        </p:txBody>
      </p:sp>
      <p:sp>
        <p:nvSpPr>
          <p:cNvPr id="3" name="Shape 1"/>
          <p:cNvSpPr/>
          <p:nvPr/>
        </p:nvSpPr>
        <p:spPr>
          <a:xfrm>
            <a:off x="8741664" y="896112"/>
            <a:ext cx="3035808"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تسویه دوره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pc16a">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دورهٔ جاری</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 اساس دورهٔ تسویهٔ تنخواه (ماهانه/فصلی) خودکار تعیین می‌شود.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کارت‌ها</a:t>
            </a:r>
            <a:endParaRPr lang="en-US" sz="1400" dirty="0"/>
          </a:p>
        </p:txBody>
      </p:sp>
      <p:sp>
        <p:nvSpPr>
          <p:cNvPr id="14" name="Text 11"/>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ماندهٔ ابتدای دوره، ترمیم و استرداد، هزینهٔ تأییدشده و ماندهٔ نقد پایان دوره.</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اسناد در جریان</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به دورهٔ بعد منتقل می‌شوند؛ پیام آبی تعداد و مبلغ آن‌ها را می‌گوید.</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شمارش</a:t>
            </a:r>
            <a:endParaRPr lang="en-US" sz="1400" dirty="0"/>
          </a:p>
        </p:txBody>
      </p:sp>
      <p:sp>
        <p:nvSpPr>
          <p:cNvPr id="22" name="Text 19"/>
          <p:cNvSpPr txBox="1"/>
          <p:nvPr/>
        </p:nvSpPr>
        <p:spPr>
          <a:xfrm>
            <a:off x="8046720" y="466664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مبلغ شمارش‌شدهٔ صندوق/حساب را وارد و «ذخیرهٔ شمارش» کنید؛ باید با ماندهٔ محاسبه‌شده برابر باشد.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۱۳ — پیش‌نمایش سند و نهایی‌سازی تسویه</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pc16b">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پیش‌نمایش سند</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بدهکار هر حساب هزینه با تفصیلی‌ها، بستانکار حساب تنخواه؛ برچسب «متوازن».</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پیش از بستن</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اسناد منظورشده، برابری شمارش، اسناد در جریان و نقش کاربر.</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انتقال</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اگر سند در جریان هست، تیک «انتقال به دورهٔ بعد را تأیید می‌کنم» را بزنید.</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نهایی‌سازی</a:t>
            </a:r>
            <a:endParaRPr lang="en-US" sz="1400" dirty="0"/>
          </a:p>
        </p:txBody>
      </p:sp>
      <p:sp>
        <p:nvSpPr>
          <p:cNvPr id="20" name="Text 17"/>
          <p:cNvSpPr txBox="1"/>
          <p:nvPr/>
        </p:nvSpPr>
        <p:spPr>
          <a:xfrm>
            <a:off x="8046720" y="426384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حسابدار ارشد «نهایی‌سازی و صدور سند» را می‌زند ⇐ سند موقت صادر و اسناد «تسویه‌شده» می‌شوند.</a:t>
            </a:r>
            <a:endParaRPr lang="en-US" sz="1300" dirty="0"/>
          </a:p>
        </p:txBody>
      </p:sp>
      <p:sp>
        <p:nvSpPr>
          <p:cNvPr id="21" name="Shape 18"/>
          <p:cNvSpPr/>
          <p:nvPr/>
        </p:nvSpPr>
        <p:spPr>
          <a:xfrm>
            <a:off x="11393424" y="5069891"/>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06989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06989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تاریخچه</a:t>
            </a:r>
            <a:endParaRPr lang="en-US" sz="1400" dirty="0"/>
          </a:p>
        </p:txBody>
      </p:sp>
      <p:sp>
        <p:nvSpPr>
          <p:cNvPr id="24" name="Text 21"/>
          <p:cNvSpPr txBox="1"/>
          <p:nvPr/>
        </p:nvSpPr>
        <p:spPr>
          <a:xfrm>
            <a:off x="8046720" y="539907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دوره‌های نهایی‌شده با شمارهٔ سند در جدول پایین صفحه.</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تنخواه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3" name="Image 0" descr="menu_tr">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txBox="1"/>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۲</a:t>
            </a:r>
            <a:endParaRPr lang="en-US" sz="4000" dirty="0"/>
          </a:p>
        </p:txBody>
      </p:sp>
      <p:sp>
        <p:nvSpPr>
          <p:cNvPr id="6" name="Text 3"/>
          <p:cNvSpPr txBox="1"/>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۲</a:t>
            </a:r>
            <a:endParaRPr lang="en-US" sz="1800" dirty="0"/>
          </a:p>
        </p:txBody>
      </p:sp>
      <p:sp>
        <p:nvSpPr>
          <p:cNvPr id="7" name="Text 4"/>
          <p:cNvSpPr txBox="1"/>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800" b="1" dirty="0">
                <a:solidFill>
                  <a:srgbClr val="FFFFFF"/>
                </a:solidFill>
                <a:latin typeface="Tahoma" pitchFamily="34" charset="0"/>
                <a:ea typeface="Tahoma" pitchFamily="34" charset="-122"/>
                <a:cs typeface="Tahoma" pitchFamily="34" charset="-120"/>
              </a:rPr>
              <a:t>دریافت و پرداخت (خزانه‌داری)</a:t>
            </a:r>
            <a:endParaRPr lang="en-US" sz="3800" dirty="0"/>
          </a:p>
        </p:txBody>
      </p:sp>
      <p:sp>
        <p:nvSpPr>
          <p:cNvPr id="8" name="Text 5"/>
          <p:cNvSpPr txBox="1"/>
          <p:nvPr/>
        </p:nvSpPr>
        <p:spPr>
          <a:xfrm>
            <a:off x="5120640" y="4206240"/>
            <a:ext cx="6629400" cy="1097280"/>
          </a:xfrm>
          <a:prstGeom prst="rect">
            <a:avLst/>
          </a:prstGeom>
          <a:noFill/>
          <a:ln/>
        </p:spPr>
        <p:txBody>
          <a:bodyPr wrap="square" lIns="0" tIns="0" rIns="0" bIns="0" rtlCol="0" anchor="t"/>
          <a:lstStyle/>
          <a:p>
            <a:pPr rtl="1" algn="r" indent="0" marL="0">
              <a:buNone/>
            </a:pPr>
            <a:r>
              <a:rPr lang="en-US" sz="1700" dirty="0">
                <a:solidFill>
                  <a:srgbClr val="C9D3E6"/>
                </a:solidFill>
                <a:latin typeface="Tahoma" pitchFamily="34" charset="0"/>
                <a:ea typeface="Tahoma" pitchFamily="34" charset="-122"/>
                <a:cs typeface="Tahoma" pitchFamily="34" charset="-120"/>
              </a:rPr>
              <a:t>درخواست پرداخت، تأیید چندمرحله‌ای، اجرای پرداخت، دریافت وجه، انتقال وجه و مغایرت بانکی</a:t>
            </a:r>
            <a:endParaRPr lang="en-US" sz="1700" dirty="0"/>
          </a:p>
        </p:txBody>
      </p:sp>
      <p:sp>
        <p:nvSpPr>
          <p:cNvPr id="9" name="Text 6"/>
          <p:cNvSpPr txBox="1"/>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مسیر درخواست پرداخت و اسناد خودکار</a:t>
            </a:r>
            <a:endParaRPr lang="en-US" sz="2600" dirty="0"/>
          </a:p>
        </p:txBody>
      </p:sp>
      <p:sp>
        <p:nvSpPr>
          <p:cNvPr id="3" name="Shape 1"/>
          <p:cNvSpPr/>
          <p:nvPr/>
        </p:nvSpPr>
        <p:spPr>
          <a:xfrm>
            <a:off x="10187940"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0708386" y="1828800"/>
            <a:ext cx="548640" cy="548640"/>
          </a:xfrm>
          <a:prstGeom prst="ellipse">
            <a:avLst/>
          </a:prstGeom>
          <a:solidFill>
            <a:srgbClr val="C9A227"/>
          </a:solidFill>
          <a:ln w="12700">
            <a:solidFill>
              <a:srgbClr val="C9A227"/>
            </a:solidFill>
            <a:prstDash val="solid"/>
          </a:ln>
        </p:spPr>
      </p:sp>
      <p:sp>
        <p:nvSpPr>
          <p:cNvPr id="5" name="Text 3"/>
          <p:cNvSpPr txBox="1"/>
          <p:nvPr/>
        </p:nvSpPr>
        <p:spPr>
          <a:xfrm>
            <a:off x="1070838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10297668"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ثبت درخواست</a:t>
            </a:r>
            <a:endParaRPr lang="en-US" sz="1600" dirty="0"/>
          </a:p>
        </p:txBody>
      </p:sp>
      <p:sp>
        <p:nvSpPr>
          <p:cNvPr id="7" name="Text 5"/>
          <p:cNvSpPr txBox="1"/>
          <p:nvPr/>
        </p:nvSpPr>
        <p:spPr>
          <a:xfrm>
            <a:off x="10297668"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ثبت‌کننده</a:t>
            </a:r>
            <a:endParaRPr lang="en-US" sz="1250" dirty="0"/>
          </a:p>
        </p:txBody>
      </p:sp>
      <p:sp>
        <p:nvSpPr>
          <p:cNvPr id="8" name="Text 6"/>
          <p:cNvSpPr txBox="1"/>
          <p:nvPr/>
        </p:nvSpPr>
        <p:spPr>
          <a:xfrm>
            <a:off x="9822180"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9" name="Shape 7"/>
          <p:cNvSpPr/>
          <p:nvPr/>
        </p:nvSpPr>
        <p:spPr>
          <a:xfrm>
            <a:off x="8232648"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8753094" y="18288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8753094"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txBox="1"/>
          <p:nvPr/>
        </p:nvSpPr>
        <p:spPr>
          <a:xfrm>
            <a:off x="8342376"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مدیر واحد</a:t>
            </a:r>
            <a:endParaRPr lang="en-US" sz="1600" dirty="0"/>
          </a:p>
        </p:txBody>
      </p:sp>
      <p:sp>
        <p:nvSpPr>
          <p:cNvPr id="13" name="Text 11"/>
          <p:cNvSpPr txBox="1"/>
          <p:nvPr/>
        </p:nvSpPr>
        <p:spPr>
          <a:xfrm>
            <a:off x="8342376"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مرحلهٔ ۱</a:t>
            </a:r>
            <a:endParaRPr lang="en-US" sz="1250" dirty="0"/>
          </a:p>
        </p:txBody>
      </p:sp>
      <p:sp>
        <p:nvSpPr>
          <p:cNvPr id="14" name="Text 12"/>
          <p:cNvSpPr txBox="1"/>
          <p:nvPr/>
        </p:nvSpPr>
        <p:spPr>
          <a:xfrm>
            <a:off x="7866888"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15" name="Shape 13"/>
          <p:cNvSpPr/>
          <p:nvPr/>
        </p:nvSpPr>
        <p:spPr>
          <a:xfrm>
            <a:off x="6277356"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6797802" y="18288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6797802"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txBox="1"/>
          <p:nvPr/>
        </p:nvSpPr>
        <p:spPr>
          <a:xfrm>
            <a:off x="6387084"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مدیر مالی</a:t>
            </a:r>
            <a:endParaRPr lang="en-US" sz="1600" dirty="0"/>
          </a:p>
        </p:txBody>
      </p:sp>
      <p:sp>
        <p:nvSpPr>
          <p:cNvPr id="19" name="Text 17"/>
          <p:cNvSpPr txBox="1"/>
          <p:nvPr/>
        </p:nvSpPr>
        <p:spPr>
          <a:xfrm>
            <a:off x="6387084"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مرحلهٔ ۲</a:t>
            </a:r>
            <a:endParaRPr lang="en-US" sz="1250" dirty="0"/>
          </a:p>
        </p:txBody>
      </p:sp>
      <p:sp>
        <p:nvSpPr>
          <p:cNvPr id="20" name="Text 18"/>
          <p:cNvSpPr txBox="1"/>
          <p:nvPr/>
        </p:nvSpPr>
        <p:spPr>
          <a:xfrm>
            <a:off x="5911596"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1" name="Shape 19"/>
          <p:cNvSpPr/>
          <p:nvPr/>
        </p:nvSpPr>
        <p:spPr>
          <a:xfrm>
            <a:off x="4322064"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4842510" y="18288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4842510"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txBox="1"/>
          <p:nvPr/>
        </p:nvSpPr>
        <p:spPr>
          <a:xfrm>
            <a:off x="4431792"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مدیرعامل</a:t>
            </a:r>
            <a:endParaRPr lang="en-US" sz="1600" dirty="0"/>
          </a:p>
        </p:txBody>
      </p:sp>
      <p:sp>
        <p:nvSpPr>
          <p:cNvPr id="25" name="Text 23"/>
          <p:cNvSpPr txBox="1"/>
          <p:nvPr/>
        </p:nvSpPr>
        <p:spPr>
          <a:xfrm>
            <a:off x="4431792"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فقط بالای آستانه</a:t>
            </a:r>
            <a:endParaRPr lang="en-US" sz="1250" dirty="0"/>
          </a:p>
        </p:txBody>
      </p:sp>
      <p:sp>
        <p:nvSpPr>
          <p:cNvPr id="26" name="Text 24"/>
          <p:cNvSpPr txBox="1"/>
          <p:nvPr/>
        </p:nvSpPr>
        <p:spPr>
          <a:xfrm>
            <a:off x="3956304"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7" name="Shape 25"/>
          <p:cNvSpPr/>
          <p:nvPr/>
        </p:nvSpPr>
        <p:spPr>
          <a:xfrm>
            <a:off x="2366772"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8" name="Shape 26"/>
          <p:cNvSpPr/>
          <p:nvPr/>
        </p:nvSpPr>
        <p:spPr>
          <a:xfrm>
            <a:off x="2887218" y="1828800"/>
            <a:ext cx="548640" cy="548640"/>
          </a:xfrm>
          <a:prstGeom prst="ellipse">
            <a:avLst/>
          </a:prstGeom>
          <a:solidFill>
            <a:srgbClr val="C9A227"/>
          </a:solidFill>
          <a:ln w="12700">
            <a:solidFill>
              <a:srgbClr val="C9A227"/>
            </a:solidFill>
            <a:prstDash val="solid"/>
          </a:ln>
        </p:spPr>
      </p:sp>
      <p:sp>
        <p:nvSpPr>
          <p:cNvPr id="29" name="Text 27"/>
          <p:cNvSpPr txBox="1"/>
          <p:nvPr/>
        </p:nvSpPr>
        <p:spPr>
          <a:xfrm>
            <a:off x="2887218"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txBox="1"/>
          <p:nvPr/>
        </p:nvSpPr>
        <p:spPr>
          <a:xfrm>
            <a:off x="2476500"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آمادهٔ اجرا</a:t>
            </a:r>
            <a:endParaRPr lang="en-US" sz="1600" dirty="0"/>
          </a:p>
        </p:txBody>
      </p:sp>
      <p:sp>
        <p:nvSpPr>
          <p:cNvPr id="31" name="Text 29"/>
          <p:cNvSpPr txBox="1"/>
          <p:nvPr/>
        </p:nvSpPr>
        <p:spPr>
          <a:xfrm>
            <a:off x="2476500"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سند شناسایی بدهی</a:t>
            </a:r>
            <a:endParaRPr lang="en-US" sz="1250" dirty="0"/>
          </a:p>
        </p:txBody>
      </p:sp>
      <p:sp>
        <p:nvSpPr>
          <p:cNvPr id="32" name="Text 30"/>
          <p:cNvSpPr txBox="1"/>
          <p:nvPr/>
        </p:nvSpPr>
        <p:spPr>
          <a:xfrm>
            <a:off x="2001012"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33" name="Shape 31"/>
          <p:cNvSpPr/>
          <p:nvPr/>
        </p:nvSpPr>
        <p:spPr>
          <a:xfrm>
            <a:off x="411480" y="2103120"/>
            <a:ext cx="1589532" cy="2011680"/>
          </a:xfrm>
          <a:prstGeom prst="roundRect">
            <a:avLst>
              <a:gd name="adj" fmla="val 6903"/>
            </a:avLst>
          </a:prstGeom>
          <a:solidFill>
            <a:srgbClr val="1B2A49"/>
          </a:solidFill>
          <a:ln w="9525">
            <a:solidFill>
              <a:srgbClr val="1B2A49"/>
            </a:solidFill>
            <a:prstDash val="solid"/>
          </a:ln>
          <a:effectLst>
            <a:outerShdw sx="100000" sy="100000" kx="0" ky="0" algn="bl" rotWithShape="0" blurRad="101600" dist="25400" dir="5400000">
              <a:srgbClr val="000000">
                <a:alpha val="12000"/>
              </a:srgbClr>
            </a:outerShdw>
          </a:effectLst>
        </p:spPr>
      </p:sp>
      <p:sp>
        <p:nvSpPr>
          <p:cNvPr id="34" name="Shape 32"/>
          <p:cNvSpPr/>
          <p:nvPr/>
        </p:nvSpPr>
        <p:spPr>
          <a:xfrm>
            <a:off x="931926" y="1828800"/>
            <a:ext cx="548640" cy="548640"/>
          </a:xfrm>
          <a:prstGeom prst="ellipse">
            <a:avLst/>
          </a:prstGeom>
          <a:solidFill>
            <a:srgbClr val="C9A227"/>
          </a:solidFill>
          <a:ln w="12700">
            <a:solidFill>
              <a:srgbClr val="C9A227"/>
            </a:solidFill>
            <a:prstDash val="solid"/>
          </a:ln>
        </p:spPr>
      </p:sp>
      <p:sp>
        <p:nvSpPr>
          <p:cNvPr id="35" name="Text 33"/>
          <p:cNvSpPr txBox="1"/>
          <p:nvPr/>
        </p:nvSpPr>
        <p:spPr>
          <a:xfrm>
            <a:off x="93192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txBox="1"/>
          <p:nvPr/>
        </p:nvSpPr>
        <p:spPr>
          <a:xfrm>
            <a:off x="521208" y="2560320"/>
            <a:ext cx="1370076" cy="685800"/>
          </a:xfrm>
          <a:prstGeom prst="rect">
            <a:avLst/>
          </a:prstGeom>
          <a:noFill/>
          <a:ln/>
        </p:spPr>
        <p:txBody>
          <a:bodyPr wrap="square" lIns="0" tIns="0" rIns="0" bIns="0" rtlCol="0" anchor="ctr"/>
          <a:lstStyle/>
          <a:p>
            <a:pPr rtl="1" algn="ctr" indent="0" marL="0">
              <a:buNone/>
            </a:pPr>
            <a:r>
              <a:rPr lang="en-US" sz="1600" b="1" dirty="0">
                <a:solidFill>
                  <a:srgbClr val="FFFFFF"/>
                </a:solidFill>
                <a:latin typeface="Tahoma" pitchFamily="34" charset="0"/>
                <a:ea typeface="Tahoma" pitchFamily="34" charset="-122"/>
                <a:cs typeface="Tahoma" pitchFamily="34" charset="-120"/>
              </a:rPr>
              <a:t>اجرای پرداخت</a:t>
            </a:r>
            <a:endParaRPr lang="en-US" sz="1600" dirty="0"/>
          </a:p>
        </p:txBody>
      </p:sp>
      <p:sp>
        <p:nvSpPr>
          <p:cNvPr id="37" name="Text 35"/>
          <p:cNvSpPr txBox="1"/>
          <p:nvPr/>
        </p:nvSpPr>
        <p:spPr>
          <a:xfrm>
            <a:off x="521208" y="3246120"/>
            <a:ext cx="1370076" cy="685800"/>
          </a:xfrm>
          <a:prstGeom prst="rect">
            <a:avLst/>
          </a:prstGeom>
          <a:noFill/>
          <a:ln/>
        </p:spPr>
        <p:txBody>
          <a:bodyPr wrap="square" lIns="0" tIns="0" rIns="0" bIns="0" rtlCol="0" anchor="t"/>
          <a:lstStyle/>
          <a:p>
            <a:pPr rtl="1" algn="ctr" indent="0" marL="0">
              <a:buNone/>
            </a:pPr>
            <a:r>
              <a:rPr lang="en-US" sz="1250" dirty="0">
                <a:solidFill>
                  <a:srgbClr val="C9D3E6"/>
                </a:solidFill>
                <a:latin typeface="Tahoma" pitchFamily="34" charset="0"/>
                <a:ea typeface="Tahoma" pitchFamily="34" charset="-122"/>
                <a:cs typeface="Tahoma" pitchFamily="34" charset="-120"/>
              </a:rPr>
              <a:t>خزانه‌دار — سند پرداخت</a:t>
            </a:r>
            <a:endParaRPr lang="en-US" sz="1250" dirty="0"/>
          </a:p>
        </p:txBody>
      </p:sp>
      <p:sp>
        <p:nvSpPr>
          <p:cNvPr id="38" name="Shape 36"/>
          <p:cNvSpPr/>
          <p:nvPr/>
        </p:nvSpPr>
        <p:spPr>
          <a:xfrm>
            <a:off x="411480" y="4754880"/>
            <a:ext cx="11365992" cy="1143000"/>
          </a:xfrm>
          <a:prstGeom prst="roundRect">
            <a:avLst>
              <a:gd name="adj" fmla="val 8000"/>
            </a:avLst>
          </a:prstGeom>
          <a:solidFill>
            <a:srgbClr val="F6EDCF"/>
          </a:solidFill>
          <a:ln w="12700">
            <a:solidFill>
              <a:srgbClr val="F6EDCF"/>
            </a:solidFill>
            <a:prstDash val="solid"/>
          </a:ln>
        </p:spPr>
      </p:sp>
      <p:sp>
        <p:nvSpPr>
          <p:cNvPr id="39" name="Text 37"/>
          <p:cNvSpPr txBox="1"/>
          <p:nvPr/>
        </p:nvSpPr>
        <p:spPr>
          <a:xfrm>
            <a:off x="685800" y="4754880"/>
            <a:ext cx="10817352" cy="1143000"/>
          </a:xfrm>
          <a:prstGeom prst="rect">
            <a:avLst/>
          </a:prstGeom>
          <a:noFill/>
          <a:ln/>
        </p:spPr>
        <p:txBody>
          <a:bodyPr wrap="square" lIns="0" tIns="0" rIns="0" bIns="0" rtlCol="0" anchor="ctr"/>
          <a:lstStyle/>
          <a:p>
            <a:pPr rtl="1" algn="r" indent="0" marL="0">
              <a:buNone/>
            </a:pPr>
            <a:r>
              <a:rPr lang="en-US" sz="1500" dirty="0">
                <a:solidFill>
                  <a:srgbClr val="4A3B0B"/>
                </a:solidFill>
                <a:latin typeface="Tahoma" pitchFamily="34" charset="0"/>
                <a:ea typeface="Tahoma" pitchFamily="34" charset="-122"/>
                <a:cs typeface="Tahoma" pitchFamily="34" charset="-120"/>
              </a:rPr>
              <a:t>از هر مرحلهٔ «در انتظار» می‌توان برگشت (دلیل اجباری) یا رد داد. یک کاربر دو مرحلهٔ پشت‌سرهم را تأیید نمی‌کند و ثبت‌کننده تأییدکننده نیست.</a:t>
            </a:r>
            <a:endParaRPr lang="en-US" sz="1500" dirty="0"/>
          </a:p>
        </p:txBody>
      </p:sp>
      <p:sp>
        <p:nvSpPr>
          <p:cNvPr id="40" name="Text 3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پیش‌نیاز ۱ — تنظیمات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تنظیمات خزانه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2">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آستانه‌ها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آستانهٔ تأیید مدیرعامل و سقف تأیید گروهی (بدون مقدار پیش‌فرض؛ تا تعریف نشوند ارسال ممکن نیست).</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تفصیلی ذی‌نفع</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گروه تفصیلی تأمین‌کنندگان برای شناسایی ذی‌نفع.</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حساب‌های سند خودکار</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بستانکاران، اعتبار مالیات بر ارزش افزوده و کسور بیمه.</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دریافت و انتقال</a:t>
            </a:r>
            <a:endParaRPr lang="en-US" sz="1400" dirty="0"/>
          </a:p>
        </p:txBody>
      </p:sp>
      <p:sp>
        <p:nvSpPr>
          <p:cNvPr id="22" name="Text 19"/>
          <p:cNvSpPr txBox="1"/>
          <p:nvPr/>
        </p:nvSpPr>
        <p:spPr>
          <a:xfrm>
            <a:off x="8046720" y="466664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دریافتنی، گروه تفصیلی مشتریان و سقف انتقال روزانه.</a:t>
            </a:r>
            <a:endParaRPr lang="en-US" sz="1300" dirty="0"/>
          </a:p>
        </p:txBody>
      </p:sp>
      <p:sp>
        <p:nvSpPr>
          <p:cNvPr id="23" name="Shape 20"/>
          <p:cNvSpPr/>
          <p:nvPr/>
        </p:nvSpPr>
        <p:spPr>
          <a:xfrm>
            <a:off x="11393424" y="5252771"/>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25277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25277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مغایرت بانکی</a:t>
            </a:r>
            <a:endParaRPr lang="en-US" sz="1400" dirty="0"/>
          </a:p>
        </p:txBody>
      </p:sp>
      <p:sp>
        <p:nvSpPr>
          <p:cNvPr id="26" name="Text 23"/>
          <p:cNvSpPr txBox="1"/>
          <p:nvPr/>
        </p:nvSpPr>
        <p:spPr>
          <a:xfrm>
            <a:off x="8046720" y="558195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کارمزد بانکی؛ سپس «ذخیره تنظیمات» (فقط مدیر مالی).</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پیش‌نیاز ۲ — نقش‌های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نقش‌های خزانه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3">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نقش‌ها</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مدیر واحد، مدیر مالی، مدیرعامل، حسابدار ارشد و خزانه‌دار — فهرستی جدا از نقش‌های تنخواه.</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افزودن</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کاربری، نقش و نام را وارد و «افزودن» کنید.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اولین مدیر مالی</a:t>
            </a:r>
            <a:endParaRPr lang="en-US" sz="1400" dirty="0"/>
          </a:p>
        </p:txBody>
      </p:sp>
      <p:sp>
        <p:nvSpPr>
          <p:cNvPr id="18" name="Text 15"/>
          <p:cNvSpPr txBox="1"/>
          <p:nvPr/>
        </p:nvSpPr>
        <p:spPr>
          <a:xfrm>
            <a:off x="8046720" y="3751326"/>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اگر واحد هنوز مدیر مالی ندارد هر کاربری می‌تواند اولین نقش را ثبت کند؛ بعد از آن فقط مدیر مالی.</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 — فهرست درخواست‌های پرداخت</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درخواست پرداخت</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4">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زبانه‌های وضعیت</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در انتظار مدیر واحد/مالی/مدیرعامل، آمادهٔ اجرا، پرداخت شد، برگشتی، ردشده، معلق.</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درخواست جدید</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«درخواست پرداخت جدید» در بالای صفحه.</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اقدام ردیف</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و برگشتی: ویرایش، ارسال و حذف؛ بقیه فقط نمایش.</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۲ — فرم ثبت درخواست پرداخت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05">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ذی‌نفع</a:t>
            </a:r>
            <a:endParaRPr lang="en-US" sz="1400" dirty="0"/>
          </a:p>
        </p:txBody>
      </p:sp>
      <p:sp>
        <p:nvSpPr>
          <p:cNvPr id="8" name="Text 5"/>
          <p:cNvSpPr txBox="1"/>
          <p:nvPr/>
        </p:nvSpPr>
        <p:spPr>
          <a:xfrm>
            <a:off x="8046720" y="1517904"/>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نام، نوع (تأمین‌کننده، کارمند، سایر)، شناسه ملی و تفصیلی ذی‌نفع.</a:t>
            </a:r>
            <a:endParaRPr lang="en-US" sz="1200" dirty="0"/>
          </a:p>
        </p:txBody>
      </p:sp>
      <p:sp>
        <p:nvSpPr>
          <p:cNvPr id="9" name="Shape 6"/>
          <p:cNvSpPr/>
          <p:nvPr/>
        </p:nvSpPr>
        <p:spPr>
          <a:xfrm>
            <a:off x="11393424" y="2070202"/>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07020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07020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فاکتور</a:t>
            </a:r>
            <a:endParaRPr lang="en-US" sz="1400" dirty="0"/>
          </a:p>
        </p:txBody>
      </p:sp>
      <p:sp>
        <p:nvSpPr>
          <p:cNvPr id="12" name="Text 9"/>
          <p:cNvSpPr txBox="1"/>
          <p:nvPr/>
        </p:nvSpPr>
        <p:spPr>
          <a:xfrm>
            <a:off x="8046720" y="2399386"/>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شماره فاکتور و تیک «فاکتور تأیید شده» (اگر شماره وارد شود الزامی است).</a:t>
            </a:r>
            <a:endParaRPr lang="en-US" sz="1200" dirty="0"/>
          </a:p>
        </p:txBody>
      </p:sp>
      <p:sp>
        <p:nvSpPr>
          <p:cNvPr id="13" name="Shape 10"/>
          <p:cNvSpPr/>
          <p:nvPr/>
        </p:nvSpPr>
        <p:spPr>
          <a:xfrm>
            <a:off x="11393424" y="2951683"/>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29516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29516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حساب و مرکز هزینه</a:t>
            </a:r>
            <a:endParaRPr lang="en-US" sz="1400" dirty="0"/>
          </a:p>
        </p:txBody>
      </p:sp>
      <p:sp>
        <p:nvSpPr>
          <p:cNvPr id="16" name="Text 13"/>
          <p:cNvSpPr txBox="1"/>
          <p:nvPr/>
        </p:nvSpPr>
        <p:spPr>
          <a:xfrm>
            <a:off x="8046720" y="3280867"/>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حساب هزینهٔ معین و تفصیلی‌های مرکز هزینه که آن معین لازم دارد.</a:t>
            </a:r>
            <a:endParaRPr lang="en-US" sz="1200" dirty="0"/>
          </a:p>
        </p:txBody>
      </p:sp>
      <p:sp>
        <p:nvSpPr>
          <p:cNvPr id="17" name="Shape 14"/>
          <p:cNvSpPr/>
          <p:nvPr/>
        </p:nvSpPr>
        <p:spPr>
          <a:xfrm>
            <a:off x="11393424" y="3833165"/>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83316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83316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مبلغ</a:t>
            </a:r>
            <a:endParaRPr lang="en-US" sz="1400" dirty="0"/>
          </a:p>
        </p:txBody>
      </p:sp>
      <p:sp>
        <p:nvSpPr>
          <p:cNvPr id="20" name="Text 17"/>
          <p:cNvSpPr txBox="1"/>
          <p:nvPr/>
        </p:nvSpPr>
        <p:spPr>
          <a:xfrm>
            <a:off x="8046720" y="4162349"/>
            <a:ext cx="3227832" cy="645566"/>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مبلغ قبل از مالیات، درصد یا مبلغ ارزش افزوده و کسر بیمه؛ خالص قابل پرداخت خودکار.</a:t>
            </a:r>
            <a:endParaRPr lang="en-US" sz="1200" dirty="0"/>
          </a:p>
        </p:txBody>
      </p:sp>
      <p:sp>
        <p:nvSpPr>
          <p:cNvPr id="21" name="Shape 18"/>
          <p:cNvSpPr/>
          <p:nvPr/>
        </p:nvSpPr>
        <p:spPr>
          <a:xfrm>
            <a:off x="11393424" y="4917643"/>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49176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49176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سررسید و پرداخت</a:t>
            </a:r>
            <a:endParaRPr lang="en-US" sz="1400" dirty="0"/>
          </a:p>
        </p:txBody>
      </p:sp>
      <p:sp>
        <p:nvSpPr>
          <p:cNvPr id="24" name="Text 21"/>
          <p:cNvSpPr txBox="1"/>
          <p:nvPr/>
        </p:nvSpPr>
        <p:spPr>
          <a:xfrm>
            <a:off x="8046720" y="5246827"/>
            <a:ext cx="3227832" cy="442570"/>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تاریخ سررسید (گذشته نباشد)، حساب بانکی و روش پرداخت (ساتنا، پایا، چک، نقد).</a:t>
            </a:r>
            <a:endParaRPr lang="en-US" sz="1200" dirty="0"/>
          </a:p>
        </p:txBody>
      </p:sp>
      <p:sp>
        <p:nvSpPr>
          <p:cNvPr id="25" name="Shape 22"/>
          <p:cNvSpPr/>
          <p:nvPr/>
        </p:nvSpPr>
        <p:spPr>
          <a:xfrm>
            <a:off x="11393424" y="5799125"/>
            <a:ext cx="347472" cy="347472"/>
          </a:xfrm>
          <a:prstGeom prst="ellipse">
            <a:avLst/>
          </a:prstGeom>
          <a:solidFill>
            <a:srgbClr val="C9A227"/>
          </a:solidFill>
          <a:ln w="12700">
            <a:solidFill>
              <a:srgbClr val="C9A227"/>
            </a:solidFill>
            <a:prstDash val="solid"/>
          </a:ln>
        </p:spPr>
      </p:sp>
      <p:sp>
        <p:nvSpPr>
          <p:cNvPr id="26" name="Text 23"/>
          <p:cNvSpPr txBox="1"/>
          <p:nvPr/>
        </p:nvSpPr>
        <p:spPr>
          <a:xfrm>
            <a:off x="11393424" y="579912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7" name="Text 24"/>
          <p:cNvSpPr txBox="1"/>
          <p:nvPr/>
        </p:nvSpPr>
        <p:spPr>
          <a:xfrm>
            <a:off x="8046720" y="579912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ذخیره/ارسال</a:t>
            </a:r>
            <a:endParaRPr lang="en-US" sz="1400" dirty="0"/>
          </a:p>
        </p:txBody>
      </p:sp>
      <p:sp>
        <p:nvSpPr>
          <p:cNvPr id="28" name="Text 25"/>
          <p:cNvSpPr txBox="1"/>
          <p:nvPr/>
        </p:nvSpPr>
        <p:spPr>
          <a:xfrm>
            <a:off x="8046720" y="6128309"/>
            <a:ext cx="3227832" cy="239573"/>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«ذخیرهٔ پیش‌نویس» یا «ارسال برای تأیید».</a:t>
            </a:r>
            <a:endParaRPr lang="en-US" sz="1200" dirty="0"/>
          </a:p>
        </p:txBody>
      </p:sp>
      <p:sp>
        <p:nvSpPr>
          <p:cNvPr id="29" name="Text 2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۳ — کارتابل تأیید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کارتابل تأیید</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7">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یک کارتابل</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درخواست‌های پرداخت، ترمیم‌های تنخواه منتظر خزانه‌دار و انتقال‌های وجه — قدیمی‌ترین در بالا.</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برچسب «منتظر شما»</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مواردی که مرحلهٔ فعلی با نقش شما است اقدام‌پذیرند.</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تأیید/برگشت/رد</a:t>
            </a:r>
            <a:endParaRPr lang="en-US" sz="1400" dirty="0"/>
          </a:p>
        </p:txBody>
      </p:sp>
      <p:sp>
        <p:nvSpPr>
          <p:cNvPr id="18" name="Text 15"/>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برگشت و رد دلیل اجباری دارند؛ برگشتی دوباره از مدیر واحد شروع می‌شود.</a:t>
            </a:r>
            <a:endParaRPr lang="en-US" sz="1300" dirty="0"/>
          </a:p>
        </p:txBody>
      </p:sp>
      <p:sp>
        <p:nvSpPr>
          <p:cNvPr id="19" name="Shape 16"/>
          <p:cNvSpPr/>
          <p:nvPr/>
        </p:nvSpPr>
        <p:spPr>
          <a:xfrm>
            <a:off x="11393424" y="4337456"/>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تأیید گروهی</a:t>
            </a:r>
            <a:endParaRPr lang="en-US" sz="1400" dirty="0"/>
          </a:p>
        </p:txBody>
      </p:sp>
      <p:sp>
        <p:nvSpPr>
          <p:cNvPr id="22" name="Text 19"/>
          <p:cNvSpPr txBox="1"/>
          <p:nvPr/>
        </p:nvSpPr>
        <p:spPr>
          <a:xfrm>
            <a:off x="8046720" y="4666640"/>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برای مبالغ زیر «سقف تأیید گروهی».</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۴ — اجرای پرداخت (خزانه‌دار)</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اجرای پرداخت</a:t>
            </a:r>
            <a:endParaRPr lang="en-US" sz="1100" dirty="0"/>
          </a:p>
        </p:txBody>
      </p:sp>
      <p:sp>
        <p:nvSpPr>
          <p:cNvPr id="5" name="Text 3"/>
          <p:cNvSpPr txBox="1"/>
          <p:nvPr/>
        </p:nvSpPr>
        <p:spPr>
          <a:xfrm>
            <a:off x="411480" y="132588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فهرست آمادهٔ اجرا و معلق</a:t>
            </a:r>
            <a:endParaRPr lang="en-US" sz="1200" dirty="0"/>
          </a:p>
        </p:txBody>
      </p:sp>
      <p:sp>
        <p:nvSpPr>
          <p:cNvPr id="6" name="Shape 4"/>
          <p:cNvSpPr/>
          <p:nvPr/>
        </p:nvSpPr>
        <p:spPr>
          <a:xfrm>
            <a:off x="411480" y="161848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tr08">    </p:cNvPr>
          <p:cNvPicPr>
            <a:picLocks noChangeAspect="1"/>
          </p:cNvPicPr>
          <p:nvPr/>
        </p:nvPicPr>
        <p:blipFill>
          <a:blip r:embed="rId1"/>
          <a:stretch>
            <a:fillRect/>
          </a:stretch>
        </p:blipFill>
        <p:spPr>
          <a:xfrm>
            <a:off x="2584895" y="1664208"/>
            <a:ext cx="3059810" cy="2061972"/>
          </a:xfrm>
          <a:prstGeom prst="rect">
            <a:avLst/>
          </a:prstGeom>
        </p:spPr>
      </p:pic>
      <p:sp>
        <p:nvSpPr>
          <p:cNvPr id="8" name="Text 5"/>
          <p:cNvSpPr txBox="1"/>
          <p:nvPr/>
        </p:nvSpPr>
        <p:spPr>
          <a:xfrm>
            <a:off x="411480" y="390906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دیالوگ ثبت اجرا</a:t>
            </a:r>
            <a:endParaRPr lang="en-US" sz="1200" dirty="0"/>
          </a:p>
        </p:txBody>
      </p:sp>
      <p:sp>
        <p:nvSpPr>
          <p:cNvPr id="9" name="Shape 6"/>
          <p:cNvSpPr/>
          <p:nvPr/>
        </p:nvSpPr>
        <p:spPr>
          <a:xfrm>
            <a:off x="411480" y="420166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tr09">    </p:cNvPr>
          <p:cNvPicPr>
            <a:picLocks noChangeAspect="1"/>
          </p:cNvPicPr>
          <p:nvPr/>
        </p:nvPicPr>
        <p:blipFill>
          <a:blip r:embed="rId2"/>
          <a:stretch>
            <a:fillRect/>
          </a:stretch>
        </p:blipFill>
        <p:spPr>
          <a:xfrm>
            <a:off x="2715271" y="4247388"/>
            <a:ext cx="2799057" cy="2061972"/>
          </a:xfrm>
          <a:prstGeom prst="rect">
            <a:avLst/>
          </a:prstGeom>
        </p:spPr>
      </p:pic>
      <p:sp>
        <p:nvSpPr>
          <p:cNvPr id="11" name="Shape 7"/>
          <p:cNvSpPr/>
          <p:nvPr/>
        </p:nvSpPr>
        <p:spPr>
          <a:xfrm>
            <a:off x="11393424" y="1371600"/>
            <a:ext cx="347472" cy="347472"/>
          </a:xfrm>
          <a:prstGeom prst="ellipse">
            <a:avLst/>
          </a:prstGeom>
          <a:solidFill>
            <a:srgbClr val="C9A227"/>
          </a:solidFill>
          <a:ln w="12700">
            <a:solidFill>
              <a:srgbClr val="C9A227"/>
            </a:solidFill>
            <a:prstDash val="solid"/>
          </a:ln>
        </p:spPr>
      </p:sp>
      <p:sp>
        <p:nvSpPr>
          <p:cNvPr id="12" name="Text 8"/>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3" name="Text 9"/>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پرداخت در بانک</a:t>
            </a:r>
            <a:endParaRPr lang="en-US" sz="1400" dirty="0"/>
          </a:p>
        </p:txBody>
      </p:sp>
      <p:sp>
        <p:nvSpPr>
          <p:cNvPr id="14" name="Text 10"/>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خزانه‌دار ابتدا وجه را در سامانهٔ بانک پرداخت می‌کند.</a:t>
            </a:r>
            <a:endParaRPr lang="en-US" sz="1300" dirty="0"/>
          </a:p>
        </p:txBody>
      </p:sp>
      <p:sp>
        <p:nvSpPr>
          <p:cNvPr id="15" name="Shape 11"/>
          <p:cNvSpPr/>
          <p:nvPr/>
        </p:nvSpPr>
        <p:spPr>
          <a:xfrm>
            <a:off x="11393424" y="2286914"/>
            <a:ext cx="347472" cy="347472"/>
          </a:xfrm>
          <a:prstGeom prst="ellipse">
            <a:avLst/>
          </a:prstGeom>
          <a:solidFill>
            <a:srgbClr val="C9A227"/>
          </a:solidFill>
          <a:ln w="12700">
            <a:solidFill>
              <a:srgbClr val="C9A227"/>
            </a:solidFill>
            <a:prstDash val="solid"/>
          </a:ln>
        </p:spPr>
      </p:sp>
      <p:sp>
        <p:nvSpPr>
          <p:cNvPr id="16" name="Text 12"/>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 اجرا</a:t>
            </a:r>
            <a:endParaRPr lang="en-US" sz="1400" dirty="0"/>
          </a:p>
        </p:txBody>
      </p:sp>
      <p:sp>
        <p:nvSpPr>
          <p:cNvPr id="18" name="Text 14"/>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شمارهٔ پیگیری بانک، تاریخ پرداخت، شبای مقصد و روش پرداخت را وارد و «اجرای پرداخت» کنید.</a:t>
            </a:r>
            <a:endParaRPr lang="en-US" sz="1300" dirty="0"/>
          </a:p>
        </p:txBody>
      </p:sp>
      <p:sp>
        <p:nvSpPr>
          <p:cNvPr id="19" name="Shape 15"/>
          <p:cNvSpPr/>
          <p:nvPr/>
        </p:nvSpPr>
        <p:spPr>
          <a:xfrm>
            <a:off x="11393424" y="3422142"/>
            <a:ext cx="347472" cy="347472"/>
          </a:xfrm>
          <a:prstGeom prst="ellipse">
            <a:avLst/>
          </a:prstGeom>
          <a:solidFill>
            <a:srgbClr val="C9A227"/>
          </a:solidFill>
          <a:ln w="12700">
            <a:solidFill>
              <a:srgbClr val="C9A227"/>
            </a:solidFill>
            <a:prstDash val="solid"/>
          </a:ln>
        </p:spPr>
      </p:sp>
      <p:sp>
        <p:nvSpPr>
          <p:cNvPr id="20" name="Text 16"/>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1" name="Text 17"/>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نتیجه</a:t>
            </a:r>
            <a:endParaRPr lang="en-US" sz="1400" dirty="0"/>
          </a:p>
        </p:txBody>
      </p:sp>
      <p:sp>
        <p:nvSpPr>
          <p:cNvPr id="22" name="Text 18"/>
          <p:cNvSpPr txBox="1"/>
          <p:nvPr/>
        </p:nvSpPr>
        <p:spPr>
          <a:xfrm>
            <a:off x="8046720" y="375132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سند «پرداخت» موقت و رکورد دریافت/پرداخت صادر و وضعیت «پرداخت شد» می‌شود.</a:t>
            </a:r>
            <a:endParaRPr lang="en-US" sz="1300" dirty="0"/>
          </a:p>
        </p:txBody>
      </p:sp>
      <p:sp>
        <p:nvSpPr>
          <p:cNvPr id="23" name="Shape 19"/>
          <p:cNvSpPr/>
          <p:nvPr/>
        </p:nvSpPr>
        <p:spPr>
          <a:xfrm>
            <a:off x="11393424" y="4337456"/>
            <a:ext cx="347472" cy="347472"/>
          </a:xfrm>
          <a:prstGeom prst="ellipse">
            <a:avLst/>
          </a:prstGeom>
          <a:solidFill>
            <a:srgbClr val="C9A227"/>
          </a:solidFill>
          <a:ln w="12700">
            <a:solidFill>
              <a:srgbClr val="C9A227"/>
            </a:solidFill>
            <a:prstDash val="solid"/>
          </a:ln>
        </p:spPr>
      </p:sp>
      <p:sp>
        <p:nvSpPr>
          <p:cNvPr id="24" name="Text 20"/>
          <p:cNvSpPr txBox="1"/>
          <p:nvPr/>
        </p:nvSpPr>
        <p:spPr>
          <a:xfrm>
            <a:off x="11393424" y="433745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5" name="Text 21"/>
          <p:cNvSpPr txBox="1"/>
          <p:nvPr/>
        </p:nvSpPr>
        <p:spPr>
          <a:xfrm>
            <a:off x="8046720" y="433745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تعلیق</a:t>
            </a:r>
            <a:endParaRPr lang="en-US" sz="1400" dirty="0"/>
          </a:p>
        </p:txBody>
      </p:sp>
      <p:sp>
        <p:nvSpPr>
          <p:cNvPr id="26" name="Text 22"/>
          <p:cNvSpPr txBox="1"/>
          <p:nvPr/>
        </p:nvSpPr>
        <p:spPr>
          <a:xfrm>
            <a:off x="8046720" y="466664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با دلیل، درخواست را معلق و بعداً «رفع تعلیق» کنید.</a:t>
            </a:r>
            <a:endParaRPr lang="en-US" sz="1300" dirty="0"/>
          </a:p>
        </p:txBody>
      </p:sp>
      <p:sp>
        <p:nvSpPr>
          <p:cNvPr id="27" name="Text 2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اسناد حسابداری خودکار درخواست پرداخت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06b">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سند شناسایی بدهی</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بدهکار هزینه (با مرکز هزینه) و اعتبار مالیات؛ بستانکار بستانکاران (ذی‌نفع) و کسور بیمه.</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سند پرداخت</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بدهکار بستانکاران، بستانکار بانک (با تفصیلی حساب بانکی).</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کجا ببینیم</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پایین صفحهٔ درخواست، پنل «اسناد حسابداری» با شمارهٔ سند و برچسب «متوازن».</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a:t>
            </a:r>
            <a:endParaRPr lang="en-US" sz="1400" dirty="0"/>
          </a:p>
        </p:txBody>
      </p:sp>
      <p:sp>
        <p:nvSpPr>
          <p:cNvPr id="20" name="Text 17"/>
          <p:cNvSpPr txBox="1"/>
          <p:nvPr/>
        </p:nvSpPr>
        <p:spPr>
          <a:xfrm>
            <a:off x="8046720" y="448376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دو سند «موقت»‌اند و در کارتابل اسناد قطعی می‌شوند.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۵ — دریافت و انتقال وجه</a:t>
            </a:r>
            <a:endParaRPr lang="en-US" sz="2600" dirty="0"/>
          </a:p>
        </p:txBody>
      </p:sp>
      <p:sp>
        <p:nvSpPr>
          <p:cNvPr id="3" name="Shape 1"/>
          <p:cNvSpPr/>
          <p:nvPr/>
        </p:nvSpPr>
        <p:spPr>
          <a:xfrm>
            <a:off x="8353044" y="896112"/>
            <a:ext cx="3424428"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دریافت و انتقال</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10">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دو زبانه</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«دریافت وجه» از مشتریان/کارفرمایان و «انتقال وجه» بین حساب‌های بانکی واحد.</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 دریافت</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 ثبت‌شده (فقط خزانه‌دار) یا لغوشده.</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 انتقال</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 در انتظار خزانه‌دار ← اجراشده؛ یا برگشتی/ردشده.</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۶ — ثبت دریافت وجه</a:t>
            </a:r>
            <a:endParaRPr lang="en-US" sz="2600" dirty="0"/>
          </a:p>
        </p:txBody>
      </p:sp>
      <p:sp>
        <p:nvSpPr>
          <p:cNvPr id="3" name="Text 1"/>
          <p:cNvSpPr txBox="1"/>
          <p:nvPr/>
        </p:nvSpPr>
        <p:spPr>
          <a:xfrm>
            <a:off x="411480" y="114300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فرم دریافت جدید</a:t>
            </a:r>
            <a:endParaRPr lang="en-US" sz="1200" dirty="0"/>
          </a:p>
        </p:txBody>
      </p:sp>
      <p:sp>
        <p:nvSpPr>
          <p:cNvPr id="4" name="Shape 2"/>
          <p:cNvSpPr/>
          <p:nvPr/>
        </p:nvSpPr>
        <p:spPr>
          <a:xfrm>
            <a:off x="411480" y="143560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5" name="Image 0" descr="tr11">    </p:cNvPr>
          <p:cNvPicPr>
            <a:picLocks noChangeAspect="1"/>
          </p:cNvPicPr>
          <p:nvPr/>
        </p:nvPicPr>
        <p:blipFill>
          <a:blip r:embed="rId1"/>
          <a:stretch>
            <a:fillRect/>
          </a:stretch>
        </p:blipFill>
        <p:spPr>
          <a:xfrm>
            <a:off x="2659792" y="1481328"/>
            <a:ext cx="2910016" cy="2153412"/>
          </a:xfrm>
          <a:prstGeom prst="rect">
            <a:avLst/>
          </a:prstGeom>
        </p:spPr>
      </p:pic>
      <p:sp>
        <p:nvSpPr>
          <p:cNvPr id="6" name="Text 3"/>
          <p:cNvSpPr txBox="1"/>
          <p:nvPr/>
        </p:nvSpPr>
        <p:spPr>
          <a:xfrm>
            <a:off x="411480" y="381762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دریافت ثبت‌شده و سند آن</a:t>
            </a:r>
            <a:endParaRPr lang="en-US" sz="1200" dirty="0"/>
          </a:p>
        </p:txBody>
      </p:sp>
      <p:sp>
        <p:nvSpPr>
          <p:cNvPr id="7" name="Shape 4"/>
          <p:cNvSpPr/>
          <p:nvPr/>
        </p:nvSpPr>
        <p:spPr>
          <a:xfrm>
            <a:off x="411480" y="4110228"/>
            <a:ext cx="7406640" cy="2244852"/>
          </a:xfrm>
          <a:prstGeom prst="roundRect">
            <a:avLst>
              <a:gd name="adj" fmla="val 3259"/>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8" name="Image 1" descr="tr12">    </p:cNvPr>
          <p:cNvPicPr>
            <a:picLocks noChangeAspect="1"/>
          </p:cNvPicPr>
          <p:nvPr/>
        </p:nvPicPr>
        <p:blipFill>
          <a:blip r:embed="rId2"/>
          <a:stretch>
            <a:fillRect/>
          </a:stretch>
        </p:blipFill>
        <p:spPr>
          <a:xfrm>
            <a:off x="2659792" y="4155948"/>
            <a:ext cx="2910016" cy="2153412"/>
          </a:xfrm>
          <a:prstGeom prst="rect">
            <a:avLst/>
          </a:prstGeom>
        </p:spPr>
      </p:pic>
      <p:sp>
        <p:nvSpPr>
          <p:cNvPr id="9" name="Shape 5"/>
          <p:cNvSpPr/>
          <p:nvPr/>
        </p:nvSpPr>
        <p:spPr>
          <a:xfrm>
            <a:off x="11393424" y="1188720"/>
            <a:ext cx="347472" cy="347472"/>
          </a:xfrm>
          <a:prstGeom prst="ellipse">
            <a:avLst/>
          </a:prstGeom>
          <a:solidFill>
            <a:srgbClr val="C9A227"/>
          </a:solidFill>
          <a:ln w="12700">
            <a:solidFill>
              <a:srgbClr val="C9A227"/>
            </a:solidFill>
            <a:prstDash val="solid"/>
          </a:ln>
        </p:spPr>
      </p:sp>
      <p:sp>
        <p:nvSpPr>
          <p:cNvPr id="10" name="Text 6"/>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1" name="Text 7"/>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پرداخت‌کننده</a:t>
            </a:r>
            <a:endParaRPr lang="en-US" sz="1400" dirty="0"/>
          </a:p>
        </p:txBody>
      </p:sp>
      <p:sp>
        <p:nvSpPr>
          <p:cNvPr id="12" name="Text 8"/>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تفصیلی مشتری از گروه تفصیلی مشتریان (الزامی).</a:t>
            </a:r>
            <a:endParaRPr lang="en-US" sz="1300" dirty="0"/>
          </a:p>
        </p:txBody>
      </p:sp>
      <p:sp>
        <p:nvSpPr>
          <p:cNvPr id="13" name="Shape 9"/>
          <p:cNvSpPr/>
          <p:nvPr/>
        </p:nvSpPr>
        <p:spPr>
          <a:xfrm>
            <a:off x="11393424" y="2104034"/>
            <a:ext cx="347472" cy="347472"/>
          </a:xfrm>
          <a:prstGeom prst="ellipse">
            <a:avLst/>
          </a:prstGeom>
          <a:solidFill>
            <a:srgbClr val="C9A227"/>
          </a:solidFill>
          <a:ln w="12700">
            <a:solidFill>
              <a:srgbClr val="C9A227"/>
            </a:solidFill>
            <a:prstDash val="solid"/>
          </a:ln>
        </p:spPr>
      </p:sp>
      <p:sp>
        <p:nvSpPr>
          <p:cNvPr id="14" name="Text 10"/>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1"/>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مبلغ و حساب</a:t>
            </a:r>
            <a:endParaRPr lang="en-US" sz="1400" dirty="0"/>
          </a:p>
        </p:txBody>
      </p:sp>
      <p:sp>
        <p:nvSpPr>
          <p:cNvPr id="16" name="Text 12"/>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مبلغ، حساب بانکی مقصد، روش، تاریخ و شمارهٔ پیگیری بانک (تکراری پذیرفته نمی‌شود).</a:t>
            </a:r>
            <a:endParaRPr lang="en-US" sz="1300" dirty="0"/>
          </a:p>
        </p:txBody>
      </p:sp>
      <p:sp>
        <p:nvSpPr>
          <p:cNvPr id="17" name="Shape 13"/>
          <p:cNvSpPr/>
          <p:nvPr/>
        </p:nvSpPr>
        <p:spPr>
          <a:xfrm>
            <a:off x="11393424" y="3239262"/>
            <a:ext cx="347472" cy="347472"/>
          </a:xfrm>
          <a:prstGeom prst="ellipse">
            <a:avLst/>
          </a:prstGeom>
          <a:solidFill>
            <a:srgbClr val="C9A227"/>
          </a:solidFill>
          <a:ln w="12700">
            <a:solidFill>
              <a:srgbClr val="C9A227"/>
            </a:solidFill>
            <a:prstDash val="solid"/>
          </a:ln>
        </p:spPr>
      </p:sp>
      <p:sp>
        <p:nvSpPr>
          <p:cNvPr id="18" name="Text 14"/>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9" name="Text 15"/>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a:t>
            </a:r>
            <a:endParaRPr lang="en-US" sz="1400" dirty="0"/>
          </a:p>
        </p:txBody>
      </p:sp>
      <p:sp>
        <p:nvSpPr>
          <p:cNvPr id="20" name="Text 16"/>
          <p:cNvSpPr txBox="1"/>
          <p:nvPr/>
        </p:nvSpPr>
        <p:spPr>
          <a:xfrm>
            <a:off x="8046720" y="3568446"/>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خزانه‌دار «ثبت» را می‌زند ⇐ سند دریافت موقت: بدهکار بانک / بستانکار حساب دریافتنی.</a:t>
            </a:r>
            <a:endParaRPr lang="en-US" sz="1300" dirty="0"/>
          </a:p>
        </p:txBody>
      </p:sp>
      <p:sp>
        <p:nvSpPr>
          <p:cNvPr id="21" name="Text 17"/>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۷ — انتقال وجه بین حساب‌ها</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13">    </p:cNvPr>
          <p:cNvPicPr>
            <a:picLocks noChangeAspect="1"/>
          </p:cNvPicPr>
          <p:nvPr/>
        </p:nvPicPr>
        <p:blipFill>
          <a:blip r:embed="rId1"/>
          <a:stretch>
            <a:fillRect/>
          </a:stretch>
        </p:blipFill>
        <p:spPr>
          <a:xfrm>
            <a:off x="484632" y="1224056"/>
            <a:ext cx="7260336" cy="5049967"/>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مبدأ و مقصد</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دو حساب بانکی متفاوت از همین واحد؛ موجودی دفتری مبدأ نمایش داده می‌شود.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مبلغ و روش</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مبلغ، تاریخ، روش انتقال و دلیل انتقال.</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ارسال</a:t>
            </a:r>
            <a:endParaRPr lang="en-US" sz="1400" dirty="0"/>
          </a:p>
        </p:txBody>
      </p:sp>
      <p:sp>
        <p:nvSpPr>
          <p:cNvPr id="16" name="Text 13"/>
          <p:cNvSpPr txBox="1"/>
          <p:nvPr/>
        </p:nvSpPr>
        <p:spPr>
          <a:xfrm>
            <a:off x="8046720" y="3348533"/>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«ارسال برای تأیید» به خزانه‌دار.</a:t>
            </a:r>
            <a:endParaRPr lang="en-US" sz="1300" dirty="0"/>
          </a:p>
        </p:txBody>
      </p:sp>
      <p:sp>
        <p:nvSpPr>
          <p:cNvPr id="17" name="Shape 14"/>
          <p:cNvSpPr/>
          <p:nvPr/>
        </p:nvSpPr>
        <p:spPr>
          <a:xfrm>
            <a:off x="11393424" y="3714750"/>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71475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71475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مسدودکننده</a:t>
            </a:r>
            <a:endParaRPr lang="en-US" sz="1400" dirty="0"/>
          </a:p>
        </p:txBody>
      </p:sp>
      <p:sp>
        <p:nvSpPr>
          <p:cNvPr id="20" name="Text 17"/>
          <p:cNvSpPr txBox="1"/>
          <p:nvPr/>
        </p:nvSpPr>
        <p:spPr>
          <a:xfrm>
            <a:off x="8046720" y="404393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موجودی کافی مبدأ و سقف انتقال روزانه؛ تأییدکننده ≠ ثبت‌کننده.</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۸ — مغایرت‌گیری بانکی</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مغایرت بانکی</a:t>
            </a:r>
            <a:endParaRPr lang="en-US" sz="1100" dirty="0"/>
          </a:p>
        </p:txBody>
      </p:sp>
      <p:sp>
        <p:nvSpPr>
          <p:cNvPr id="5" name="Text 3"/>
          <p:cNvSpPr txBox="1"/>
          <p:nvPr/>
        </p:nvSpPr>
        <p:spPr>
          <a:xfrm>
            <a:off x="411480" y="132588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فهرست صورت‌حساب‌ها</a:t>
            </a:r>
            <a:endParaRPr lang="en-US" sz="1200" dirty="0"/>
          </a:p>
        </p:txBody>
      </p:sp>
      <p:sp>
        <p:nvSpPr>
          <p:cNvPr id="6" name="Shape 4"/>
          <p:cNvSpPr/>
          <p:nvPr/>
        </p:nvSpPr>
        <p:spPr>
          <a:xfrm>
            <a:off x="411480" y="161848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tr14">    </p:cNvPr>
          <p:cNvPicPr>
            <a:picLocks noChangeAspect="1"/>
          </p:cNvPicPr>
          <p:nvPr/>
        </p:nvPicPr>
        <p:blipFill>
          <a:blip r:embed="rId1"/>
          <a:stretch>
            <a:fillRect/>
          </a:stretch>
        </p:blipFill>
        <p:spPr>
          <a:xfrm>
            <a:off x="2584895" y="1664208"/>
            <a:ext cx="3059810" cy="2061972"/>
          </a:xfrm>
          <a:prstGeom prst="rect">
            <a:avLst/>
          </a:prstGeom>
        </p:spPr>
      </p:pic>
      <p:sp>
        <p:nvSpPr>
          <p:cNvPr id="8" name="Text 5"/>
          <p:cNvSpPr txBox="1"/>
          <p:nvPr/>
        </p:nvSpPr>
        <p:spPr>
          <a:xfrm>
            <a:off x="411480" y="3909060"/>
            <a:ext cx="7406640"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جزئیات و تطبیق ردیف‌ها</a:t>
            </a:r>
            <a:endParaRPr lang="en-US" sz="1200" dirty="0"/>
          </a:p>
        </p:txBody>
      </p:sp>
      <p:sp>
        <p:nvSpPr>
          <p:cNvPr id="9" name="Shape 6"/>
          <p:cNvSpPr/>
          <p:nvPr/>
        </p:nvSpPr>
        <p:spPr>
          <a:xfrm>
            <a:off x="411480" y="4201668"/>
            <a:ext cx="7406640" cy="2153412"/>
          </a:xfrm>
          <a:prstGeom prst="roundRect">
            <a:avLst>
              <a:gd name="adj" fmla="val 33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tr15">    </p:cNvPr>
          <p:cNvPicPr>
            <a:picLocks noChangeAspect="1"/>
          </p:cNvPicPr>
          <p:nvPr/>
        </p:nvPicPr>
        <p:blipFill>
          <a:blip r:embed="rId2"/>
          <a:stretch>
            <a:fillRect/>
          </a:stretch>
        </p:blipFill>
        <p:spPr>
          <a:xfrm>
            <a:off x="2721576" y="4247388"/>
            <a:ext cx="2786449" cy="2061972"/>
          </a:xfrm>
          <a:prstGeom prst="rect">
            <a:avLst/>
          </a:prstGeom>
        </p:spPr>
      </p:pic>
      <p:sp>
        <p:nvSpPr>
          <p:cNvPr id="11" name="Shape 7"/>
          <p:cNvSpPr/>
          <p:nvPr/>
        </p:nvSpPr>
        <p:spPr>
          <a:xfrm>
            <a:off x="11393424" y="1371600"/>
            <a:ext cx="347472" cy="347472"/>
          </a:xfrm>
          <a:prstGeom prst="ellipse">
            <a:avLst/>
          </a:prstGeom>
          <a:solidFill>
            <a:srgbClr val="C9A227"/>
          </a:solidFill>
          <a:ln w="12700">
            <a:solidFill>
              <a:srgbClr val="C9A227"/>
            </a:solidFill>
            <a:prstDash val="solid"/>
          </a:ln>
        </p:spPr>
      </p:sp>
      <p:sp>
        <p:nvSpPr>
          <p:cNvPr id="12" name="Text 8"/>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3" name="Text 9"/>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صورت‌حساب جدید</a:t>
            </a:r>
            <a:endParaRPr lang="en-US" sz="1400" dirty="0"/>
          </a:p>
        </p:txBody>
      </p:sp>
      <p:sp>
        <p:nvSpPr>
          <p:cNvPr id="14" name="Text 10"/>
          <p:cNvSpPr txBox="1"/>
          <p:nvPr/>
        </p:nvSpPr>
        <p:spPr>
          <a:xfrm>
            <a:off x="8046720" y="1700784"/>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حساب بانکی، بازهٔ تاریخ و ماندهٔ طبق بانک؛ ردیف‌ها را دستی اضافه یا با «بارگذاری فایل دیسکت» (بانک رفاه) وارد کنید.</a:t>
            </a:r>
            <a:endParaRPr lang="en-US" sz="1300" dirty="0"/>
          </a:p>
        </p:txBody>
      </p:sp>
      <p:sp>
        <p:nvSpPr>
          <p:cNvPr id="15" name="Shape 11"/>
          <p:cNvSpPr/>
          <p:nvPr/>
        </p:nvSpPr>
        <p:spPr>
          <a:xfrm>
            <a:off x="11393424" y="2726741"/>
            <a:ext cx="347472" cy="347472"/>
          </a:xfrm>
          <a:prstGeom prst="ellipse">
            <a:avLst/>
          </a:prstGeom>
          <a:solidFill>
            <a:srgbClr val="C9A227"/>
          </a:solidFill>
          <a:ln w="12700">
            <a:solidFill>
              <a:srgbClr val="C9A227"/>
            </a:solidFill>
            <a:prstDash val="solid"/>
          </a:ln>
        </p:spPr>
      </p:sp>
      <p:sp>
        <p:nvSpPr>
          <p:cNvPr id="16" name="Text 12"/>
          <p:cNvSpPr txBox="1"/>
          <p:nvPr/>
        </p:nvSpPr>
        <p:spPr>
          <a:xfrm>
            <a:off x="11393424" y="272674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txBox="1"/>
          <p:nvPr/>
        </p:nvSpPr>
        <p:spPr>
          <a:xfrm>
            <a:off x="8046720" y="272674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تطبیق خودکار</a:t>
            </a:r>
            <a:endParaRPr lang="en-US" sz="1400" dirty="0"/>
          </a:p>
        </p:txBody>
      </p:sp>
      <p:sp>
        <p:nvSpPr>
          <p:cNvPr id="18" name="Text 14"/>
          <p:cNvSpPr txBox="1"/>
          <p:nvPr/>
        </p:nvSpPr>
        <p:spPr>
          <a:xfrm>
            <a:off x="8046720" y="305592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 اساس شمارهٔ چک/فیش، مرجع بانک و مبلغ در بازهٔ ±۳ روز.</a:t>
            </a:r>
            <a:endParaRPr lang="en-US" sz="1300" dirty="0"/>
          </a:p>
        </p:txBody>
      </p:sp>
      <p:sp>
        <p:nvSpPr>
          <p:cNvPr id="19" name="Shape 15"/>
          <p:cNvSpPr/>
          <p:nvPr/>
        </p:nvSpPr>
        <p:spPr>
          <a:xfrm>
            <a:off x="11393424" y="3642055"/>
            <a:ext cx="347472" cy="347472"/>
          </a:xfrm>
          <a:prstGeom prst="ellipse">
            <a:avLst/>
          </a:prstGeom>
          <a:solidFill>
            <a:srgbClr val="C9A227"/>
          </a:solidFill>
          <a:ln w="12700">
            <a:solidFill>
              <a:srgbClr val="C9A227"/>
            </a:solidFill>
            <a:prstDash val="solid"/>
          </a:ln>
        </p:spPr>
      </p:sp>
      <p:sp>
        <p:nvSpPr>
          <p:cNvPr id="20" name="Text 16"/>
          <p:cNvSpPr txBox="1"/>
          <p:nvPr/>
        </p:nvSpPr>
        <p:spPr>
          <a:xfrm>
            <a:off x="11393424" y="364205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1" name="Text 17"/>
          <p:cNvSpPr txBox="1"/>
          <p:nvPr/>
        </p:nvSpPr>
        <p:spPr>
          <a:xfrm>
            <a:off x="8046720" y="364205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تطبیق‌نیافته‌ها</a:t>
            </a:r>
            <a:endParaRPr lang="en-US" sz="1400" dirty="0"/>
          </a:p>
        </p:txBody>
      </p:sp>
      <p:sp>
        <p:nvSpPr>
          <p:cNvPr id="22" name="Text 18"/>
          <p:cNvSpPr txBox="1"/>
          <p:nvPr/>
        </p:nvSpPr>
        <p:spPr>
          <a:xfrm>
            <a:off x="8046720" y="3971239"/>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تطبیق دستی، صدور سند کارمزد، اتصال به دریافت یا «نادیده» با یادداشت.</a:t>
            </a:r>
            <a:endParaRPr lang="en-US" sz="1300" dirty="0"/>
          </a:p>
        </p:txBody>
      </p:sp>
      <p:sp>
        <p:nvSpPr>
          <p:cNvPr id="23" name="Shape 19"/>
          <p:cNvSpPr/>
          <p:nvPr/>
        </p:nvSpPr>
        <p:spPr>
          <a:xfrm>
            <a:off x="11393424" y="4557370"/>
            <a:ext cx="347472" cy="347472"/>
          </a:xfrm>
          <a:prstGeom prst="ellipse">
            <a:avLst/>
          </a:prstGeom>
          <a:solidFill>
            <a:srgbClr val="C9A227"/>
          </a:solidFill>
          <a:ln w="12700">
            <a:solidFill>
              <a:srgbClr val="C9A227"/>
            </a:solidFill>
            <a:prstDash val="solid"/>
          </a:ln>
        </p:spPr>
      </p:sp>
      <p:sp>
        <p:nvSpPr>
          <p:cNvPr id="24" name="Text 20"/>
          <p:cNvSpPr txBox="1"/>
          <p:nvPr/>
        </p:nvSpPr>
        <p:spPr>
          <a:xfrm>
            <a:off x="11393424" y="455737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5" name="Text 21"/>
          <p:cNvSpPr txBox="1"/>
          <p:nvPr/>
        </p:nvSpPr>
        <p:spPr>
          <a:xfrm>
            <a:off x="8046720" y="455737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بستن</a:t>
            </a:r>
            <a:endParaRPr lang="en-US" sz="1400" dirty="0"/>
          </a:p>
        </p:txBody>
      </p:sp>
      <p:sp>
        <p:nvSpPr>
          <p:cNvPr id="26" name="Text 22"/>
          <p:cNvSpPr txBox="1"/>
          <p:nvPr/>
        </p:nvSpPr>
        <p:spPr>
          <a:xfrm>
            <a:off x="8046720" y="488655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وقتی مغایرت صفر شد صورت‌حساب را «بستن» کنید.</a:t>
            </a:r>
            <a:endParaRPr lang="en-US" sz="1300" dirty="0"/>
          </a:p>
        </p:txBody>
      </p:sp>
      <p:sp>
        <p:nvSpPr>
          <p:cNvPr id="27" name="Text 23"/>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صورت مغایرت بانکی (چاپ / PDF)</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tr16">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جزئیات صورت‌حساب، دکمهٔ «صورت مغایرت» را بزنید.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ساختار</a:t>
            </a:r>
            <a:endParaRPr lang="en-US" sz="1400" dirty="0"/>
          </a:p>
        </p:txBody>
      </p:sp>
      <p:sp>
        <p:nvSpPr>
          <p:cNvPr id="12" name="Text 9"/>
          <p:cNvSpPr txBox="1"/>
          <p:nvPr/>
        </p:nvSpPr>
        <p:spPr>
          <a:xfrm>
            <a:off x="8046720" y="2433218"/>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ماندهٔ دفتر ± واریز و برداشت‌های بانک که در دفتر نیامده و چک‌های وصول‌نشده = ماندهٔ تعدیل‌شده، در برابر ماندهٔ طبق بانک.</a:t>
            </a:r>
            <a:endParaRPr lang="en-US" sz="1300" dirty="0"/>
          </a:p>
        </p:txBody>
      </p:sp>
      <p:sp>
        <p:nvSpPr>
          <p:cNvPr id="13" name="Shape 10"/>
          <p:cNvSpPr/>
          <p:nvPr/>
        </p:nvSpPr>
        <p:spPr>
          <a:xfrm>
            <a:off x="11393424" y="3459175"/>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اختلاف</a:t>
            </a:r>
            <a:endParaRPr lang="en-US" sz="1400" dirty="0"/>
          </a:p>
        </p:txBody>
      </p:sp>
      <p:sp>
        <p:nvSpPr>
          <p:cNvPr id="16" name="Text 13"/>
          <p:cNvSpPr txBox="1"/>
          <p:nvPr/>
        </p:nvSpPr>
        <p:spPr>
          <a:xfrm>
            <a:off x="8046720" y="378835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سطر «اختلاف توضیح‌داده‌نشده» باید صفر شود؛ اگر نشد، ردیف‌های تطبیق‌نیافته را بررسی کنید.</a:t>
            </a:r>
            <a:endParaRPr lang="en-US" sz="1300" dirty="0"/>
          </a:p>
        </p:txBody>
      </p:sp>
      <p:sp>
        <p:nvSpPr>
          <p:cNvPr id="17" name="Shape 14"/>
          <p:cNvSpPr/>
          <p:nvPr/>
        </p:nvSpPr>
        <p:spPr>
          <a:xfrm>
            <a:off x="11393424" y="459440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59440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59440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ریز اقلام</a:t>
            </a:r>
            <a:endParaRPr lang="en-US" sz="1400" dirty="0"/>
          </a:p>
        </p:txBody>
      </p:sp>
      <p:sp>
        <p:nvSpPr>
          <p:cNvPr id="20" name="Text 17"/>
          <p:cNvSpPr txBox="1"/>
          <p:nvPr/>
        </p:nvSpPr>
        <p:spPr>
          <a:xfrm>
            <a:off x="8046720" y="492358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گروه با تاریخ، شماره/مرجع، شرح و مبلغ و جمع؛ پایین برگه جای امضای تهیه‌کننده، رئیس حسابداری و مدیر مالی.</a:t>
            </a:r>
            <a:endParaRPr lang="en-US" sz="1300" dirty="0"/>
          </a:p>
        </p:txBody>
      </p:sp>
      <p:sp>
        <p:nvSpPr>
          <p:cNvPr id="21" name="Shape 18"/>
          <p:cNvSpPr/>
          <p:nvPr/>
        </p:nvSpPr>
        <p:spPr>
          <a:xfrm>
            <a:off x="11393424" y="5729630"/>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72963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72963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چاپ</a:t>
            </a:r>
            <a:endParaRPr lang="en-US" sz="1400" dirty="0"/>
          </a:p>
        </p:txBody>
      </p:sp>
      <p:sp>
        <p:nvSpPr>
          <p:cNvPr id="24" name="Text 21"/>
          <p:cNvSpPr txBox="1"/>
          <p:nvPr/>
        </p:nvSpPr>
        <p:spPr>
          <a:xfrm>
            <a:off x="8046720" y="6058814"/>
            <a:ext cx="3227832" cy="25648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«چاپ / PDF» را بزنید.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داشبورد خزانه</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داشبورد خزانه</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tr01">    </p:cNvPr>
          <p:cNvPicPr>
            <a:picLocks noChangeAspect="1"/>
          </p:cNvPicPr>
          <p:nvPr/>
        </p:nvPicPr>
        <p:blipFill>
          <a:blip r:embed="rId1"/>
          <a:stretch>
            <a:fillRect/>
          </a:stretch>
        </p:blipFill>
        <p:spPr>
          <a:xfrm>
            <a:off x="815546" y="1399032"/>
            <a:ext cx="6598508"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موجودی کل</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جمع و تفکیک موجودی دفتری حساب‌های بانکی.</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تعهدات ۷ روز</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درخواست‌های آمادهٔ اجرا و نسبت پوشش آن با موجودی.</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در انتظار تأیید و امروز</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تعداد و مبلغ موارد منتظر تأیید؛ دریافت و پرداخت امروز.</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اقلام باز و هشدارها</a:t>
            </a:r>
            <a:endParaRPr lang="en-US" sz="1400" dirty="0"/>
          </a:p>
        </p:txBody>
      </p:sp>
      <p:sp>
        <p:nvSpPr>
          <p:cNvPr id="22" name="Text 19"/>
          <p:cNvSpPr txBox="1"/>
          <p:nvPr/>
        </p:nvSpPr>
        <p:spPr>
          <a:xfrm>
            <a:off x="8046720" y="444672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سررسیدهای نزدیک و ردیف‌های مغایرت؛ اقدام سریع برای درخواست، دریافت یا انتقال.</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خزانه</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3" name="Image 0" descr="menu_fs">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txBox="1"/>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۳</a:t>
            </a:r>
            <a:endParaRPr lang="en-US" sz="4000" dirty="0"/>
          </a:p>
        </p:txBody>
      </p:sp>
      <p:sp>
        <p:nvSpPr>
          <p:cNvPr id="6" name="Text 3"/>
          <p:cNvSpPr txBox="1"/>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۳</a:t>
            </a:r>
            <a:endParaRPr lang="en-US" sz="1800" dirty="0"/>
          </a:p>
        </p:txBody>
      </p:sp>
      <p:sp>
        <p:nvSpPr>
          <p:cNvPr id="7" name="Text 4"/>
          <p:cNvSpPr txBox="1"/>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800" b="1" dirty="0">
                <a:solidFill>
                  <a:srgbClr val="FFFFFF"/>
                </a:solidFill>
                <a:latin typeface="Tahoma" pitchFamily="34" charset="0"/>
                <a:ea typeface="Tahoma" pitchFamily="34" charset="-122"/>
                <a:cs typeface="Tahoma" pitchFamily="34" charset="-120"/>
              </a:rPr>
              <a:t>صورت‌های مالی</a:t>
            </a:r>
            <a:endParaRPr lang="en-US" sz="3800" dirty="0"/>
          </a:p>
        </p:txBody>
      </p:sp>
      <p:sp>
        <p:nvSpPr>
          <p:cNvPr id="8" name="Text 5"/>
          <p:cNvSpPr txBox="1"/>
          <p:nvPr/>
        </p:nvSpPr>
        <p:spPr>
          <a:xfrm>
            <a:off x="5120640" y="4206240"/>
            <a:ext cx="6629400" cy="1097280"/>
          </a:xfrm>
          <a:prstGeom prst="rect">
            <a:avLst/>
          </a:prstGeom>
          <a:noFill/>
          <a:ln/>
        </p:spPr>
        <p:txBody>
          <a:bodyPr wrap="square" lIns="0" tIns="0" rIns="0" bIns="0" rtlCol="0" anchor="t"/>
          <a:lstStyle/>
          <a:p>
            <a:pPr rtl="1" algn="r" indent="0" marL="0">
              <a:buNone/>
            </a:pPr>
            <a:r>
              <a:rPr lang="en-US" sz="1700" dirty="0">
                <a:solidFill>
                  <a:srgbClr val="C9D3E6"/>
                </a:solidFill>
                <a:latin typeface="Tahoma" pitchFamily="34" charset="0"/>
                <a:ea typeface="Tahoma" pitchFamily="34" charset="-122"/>
                <a:cs typeface="Tahoma" pitchFamily="34" charset="-120"/>
              </a:rPr>
              <a:t>قالب و نگاشت، تهیه و Drill-down، کنترل و یادداشت‌ها، تأیید مرحله‌ای، بستن دوره، تحلیل و تلفیق</a:t>
            </a:r>
            <a:endParaRPr lang="en-US" sz="1700" dirty="0"/>
          </a:p>
        </p:txBody>
      </p:sp>
      <p:sp>
        <p:nvSpPr>
          <p:cNvPr id="9" name="Text 6"/>
          <p:cNvSpPr txBox="1"/>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چرخهٔ تهیهٔ صورت‌های مالی</a:t>
            </a:r>
            <a:endParaRPr lang="en-US" sz="2600" dirty="0"/>
          </a:p>
        </p:txBody>
      </p:sp>
      <p:sp>
        <p:nvSpPr>
          <p:cNvPr id="3" name="Shape 1"/>
          <p:cNvSpPr/>
          <p:nvPr/>
        </p:nvSpPr>
        <p:spPr>
          <a:xfrm>
            <a:off x="10187940"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0708386" y="1828800"/>
            <a:ext cx="548640" cy="548640"/>
          </a:xfrm>
          <a:prstGeom prst="ellipse">
            <a:avLst/>
          </a:prstGeom>
          <a:solidFill>
            <a:srgbClr val="C9A227"/>
          </a:solidFill>
          <a:ln w="12700">
            <a:solidFill>
              <a:srgbClr val="C9A227"/>
            </a:solidFill>
            <a:prstDash val="solid"/>
          </a:ln>
        </p:spPr>
      </p:sp>
      <p:sp>
        <p:nvSpPr>
          <p:cNvPr id="5" name="Text 3"/>
          <p:cNvSpPr txBox="1"/>
          <p:nvPr/>
        </p:nvSpPr>
        <p:spPr>
          <a:xfrm>
            <a:off x="1070838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10297668"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قالب و نگاشت</a:t>
            </a:r>
            <a:endParaRPr lang="en-US" sz="1600" dirty="0"/>
          </a:p>
        </p:txBody>
      </p:sp>
      <p:sp>
        <p:nvSpPr>
          <p:cNvPr id="7" name="Text 5"/>
          <p:cNvSpPr txBox="1"/>
          <p:nvPr/>
        </p:nvSpPr>
        <p:spPr>
          <a:xfrm>
            <a:off x="10297668"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نسخهٔ فعال؛ هیچ معینی جا نماند</a:t>
            </a:r>
            <a:endParaRPr lang="en-US" sz="1250" dirty="0"/>
          </a:p>
        </p:txBody>
      </p:sp>
      <p:sp>
        <p:nvSpPr>
          <p:cNvPr id="8" name="Text 6"/>
          <p:cNvSpPr txBox="1"/>
          <p:nvPr/>
        </p:nvSpPr>
        <p:spPr>
          <a:xfrm>
            <a:off x="9822180"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9" name="Shape 7"/>
          <p:cNvSpPr/>
          <p:nvPr/>
        </p:nvSpPr>
        <p:spPr>
          <a:xfrm>
            <a:off x="8232648"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8753094" y="1828800"/>
            <a:ext cx="548640" cy="548640"/>
          </a:xfrm>
          <a:prstGeom prst="ellipse">
            <a:avLst/>
          </a:prstGeom>
          <a:solidFill>
            <a:srgbClr val="C9A227"/>
          </a:solidFill>
          <a:ln w="12700">
            <a:solidFill>
              <a:srgbClr val="C9A227"/>
            </a:solidFill>
            <a:prstDash val="solid"/>
          </a:ln>
        </p:spPr>
      </p:sp>
      <p:sp>
        <p:nvSpPr>
          <p:cNvPr id="11" name="Text 9"/>
          <p:cNvSpPr txBox="1"/>
          <p:nvPr/>
        </p:nvSpPr>
        <p:spPr>
          <a:xfrm>
            <a:off x="8753094"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txBox="1"/>
          <p:nvPr/>
        </p:nvSpPr>
        <p:spPr>
          <a:xfrm>
            <a:off x="8342376"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تهیهٔ صورت‌ها</a:t>
            </a:r>
            <a:endParaRPr lang="en-US" sz="1600" dirty="0"/>
          </a:p>
        </p:txBody>
      </p:sp>
      <p:sp>
        <p:nvSpPr>
          <p:cNvPr id="13" name="Text 11"/>
          <p:cNvSpPr txBox="1"/>
          <p:nvPr/>
        </p:nvSpPr>
        <p:spPr>
          <a:xfrm>
            <a:off x="8342376"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ویزارد سه‌مرحله‌ای</a:t>
            </a:r>
            <a:endParaRPr lang="en-US" sz="1250" dirty="0"/>
          </a:p>
        </p:txBody>
      </p:sp>
      <p:sp>
        <p:nvSpPr>
          <p:cNvPr id="14" name="Text 12"/>
          <p:cNvSpPr txBox="1"/>
          <p:nvPr/>
        </p:nvSpPr>
        <p:spPr>
          <a:xfrm>
            <a:off x="7866888"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15" name="Shape 13"/>
          <p:cNvSpPr/>
          <p:nvPr/>
        </p:nvSpPr>
        <p:spPr>
          <a:xfrm>
            <a:off x="6277356"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16" name="Shape 14"/>
          <p:cNvSpPr/>
          <p:nvPr/>
        </p:nvSpPr>
        <p:spPr>
          <a:xfrm>
            <a:off x="6797802" y="1828800"/>
            <a:ext cx="548640" cy="548640"/>
          </a:xfrm>
          <a:prstGeom prst="ellipse">
            <a:avLst/>
          </a:prstGeom>
          <a:solidFill>
            <a:srgbClr val="C9A227"/>
          </a:solidFill>
          <a:ln w="12700">
            <a:solidFill>
              <a:srgbClr val="C9A227"/>
            </a:solidFill>
            <a:prstDash val="solid"/>
          </a:ln>
        </p:spPr>
      </p:sp>
      <p:sp>
        <p:nvSpPr>
          <p:cNvPr id="17" name="Text 15"/>
          <p:cNvSpPr txBox="1"/>
          <p:nvPr/>
        </p:nvSpPr>
        <p:spPr>
          <a:xfrm>
            <a:off x="6797802"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txBox="1"/>
          <p:nvPr/>
        </p:nvSpPr>
        <p:spPr>
          <a:xfrm>
            <a:off x="6387084"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بررسی و Drill-down</a:t>
            </a:r>
            <a:endParaRPr lang="en-US" sz="1600" dirty="0"/>
          </a:p>
        </p:txBody>
      </p:sp>
      <p:sp>
        <p:nvSpPr>
          <p:cNvPr id="19" name="Text 17"/>
          <p:cNvSpPr txBox="1"/>
          <p:nvPr/>
        </p:nvSpPr>
        <p:spPr>
          <a:xfrm>
            <a:off x="6387084"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تا سند حسابداری</a:t>
            </a:r>
            <a:endParaRPr lang="en-US" sz="1250" dirty="0"/>
          </a:p>
        </p:txBody>
      </p:sp>
      <p:sp>
        <p:nvSpPr>
          <p:cNvPr id="20" name="Text 18"/>
          <p:cNvSpPr txBox="1"/>
          <p:nvPr/>
        </p:nvSpPr>
        <p:spPr>
          <a:xfrm>
            <a:off x="5911596"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1" name="Shape 19"/>
          <p:cNvSpPr/>
          <p:nvPr/>
        </p:nvSpPr>
        <p:spPr>
          <a:xfrm>
            <a:off x="4322064"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2" name="Shape 20"/>
          <p:cNvSpPr/>
          <p:nvPr/>
        </p:nvSpPr>
        <p:spPr>
          <a:xfrm>
            <a:off x="4842510" y="1828800"/>
            <a:ext cx="548640" cy="548640"/>
          </a:xfrm>
          <a:prstGeom prst="ellipse">
            <a:avLst/>
          </a:prstGeom>
          <a:solidFill>
            <a:srgbClr val="C9A227"/>
          </a:solidFill>
          <a:ln w="12700">
            <a:solidFill>
              <a:srgbClr val="C9A227"/>
            </a:solidFill>
            <a:prstDash val="solid"/>
          </a:ln>
        </p:spPr>
      </p:sp>
      <p:sp>
        <p:nvSpPr>
          <p:cNvPr id="23" name="Text 21"/>
          <p:cNvSpPr txBox="1"/>
          <p:nvPr/>
        </p:nvSpPr>
        <p:spPr>
          <a:xfrm>
            <a:off x="4842510"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txBox="1"/>
          <p:nvPr/>
        </p:nvSpPr>
        <p:spPr>
          <a:xfrm>
            <a:off x="4431792"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کنترل و یادداشت‌ها</a:t>
            </a:r>
            <a:endParaRPr lang="en-US" sz="1600" dirty="0"/>
          </a:p>
        </p:txBody>
      </p:sp>
      <p:sp>
        <p:nvSpPr>
          <p:cNvPr id="25" name="Text 23"/>
          <p:cNvSpPr txBox="1"/>
          <p:nvPr/>
        </p:nvSpPr>
        <p:spPr>
          <a:xfrm>
            <a:off x="4431792"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ارجاع کنترل، متن یادداشت</a:t>
            </a:r>
            <a:endParaRPr lang="en-US" sz="1250" dirty="0"/>
          </a:p>
        </p:txBody>
      </p:sp>
      <p:sp>
        <p:nvSpPr>
          <p:cNvPr id="26" name="Text 24"/>
          <p:cNvSpPr txBox="1"/>
          <p:nvPr/>
        </p:nvSpPr>
        <p:spPr>
          <a:xfrm>
            <a:off x="3956304"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27" name="Shape 25"/>
          <p:cNvSpPr/>
          <p:nvPr/>
        </p:nvSpPr>
        <p:spPr>
          <a:xfrm>
            <a:off x="2366772" y="2103120"/>
            <a:ext cx="1589532" cy="2011680"/>
          </a:xfrm>
          <a:prstGeom prst="roundRect">
            <a:avLst>
              <a:gd name="adj" fmla="val 690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sp>
        <p:nvSpPr>
          <p:cNvPr id="28" name="Shape 26"/>
          <p:cNvSpPr/>
          <p:nvPr/>
        </p:nvSpPr>
        <p:spPr>
          <a:xfrm>
            <a:off x="2887218" y="1828800"/>
            <a:ext cx="548640" cy="548640"/>
          </a:xfrm>
          <a:prstGeom prst="ellipse">
            <a:avLst/>
          </a:prstGeom>
          <a:solidFill>
            <a:srgbClr val="C9A227"/>
          </a:solidFill>
          <a:ln w="12700">
            <a:solidFill>
              <a:srgbClr val="C9A227"/>
            </a:solidFill>
            <a:prstDash val="solid"/>
          </a:ln>
        </p:spPr>
      </p:sp>
      <p:sp>
        <p:nvSpPr>
          <p:cNvPr id="29" name="Text 27"/>
          <p:cNvSpPr txBox="1"/>
          <p:nvPr/>
        </p:nvSpPr>
        <p:spPr>
          <a:xfrm>
            <a:off x="2887218"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txBox="1"/>
          <p:nvPr/>
        </p:nvSpPr>
        <p:spPr>
          <a:xfrm>
            <a:off x="2476500" y="2560320"/>
            <a:ext cx="1370076" cy="685800"/>
          </a:xfrm>
          <a:prstGeom prst="rect">
            <a:avLst/>
          </a:prstGeom>
          <a:noFill/>
          <a:ln/>
        </p:spPr>
        <p:txBody>
          <a:bodyPr wrap="square" lIns="0" tIns="0" rIns="0" bIns="0" rtlCol="0" anchor="ctr"/>
          <a:lstStyle/>
          <a:p>
            <a:pPr rtl="1" algn="ctr" indent="0" marL="0">
              <a:buNone/>
            </a:pPr>
            <a:r>
              <a:rPr lang="en-US" sz="1600" b="1" dirty="0">
                <a:solidFill>
                  <a:srgbClr val="1B2A49"/>
                </a:solidFill>
                <a:latin typeface="Tahoma" pitchFamily="34" charset="0"/>
                <a:ea typeface="Tahoma" pitchFamily="34" charset="-122"/>
                <a:cs typeface="Tahoma" pitchFamily="34" charset="-120"/>
              </a:rPr>
              <a:t>تأیید مرحله‌ای</a:t>
            </a:r>
            <a:endParaRPr lang="en-US" sz="1600" dirty="0"/>
          </a:p>
        </p:txBody>
      </p:sp>
      <p:sp>
        <p:nvSpPr>
          <p:cNvPr id="31" name="Text 29"/>
          <p:cNvSpPr txBox="1"/>
          <p:nvPr/>
        </p:nvSpPr>
        <p:spPr>
          <a:xfrm>
            <a:off x="2476500" y="3246120"/>
            <a:ext cx="1370076" cy="685800"/>
          </a:xfrm>
          <a:prstGeom prst="rect">
            <a:avLst/>
          </a:prstGeom>
          <a:noFill/>
          <a:ln/>
        </p:spPr>
        <p:txBody>
          <a:bodyPr wrap="square" lIns="0" tIns="0" rIns="0" bIns="0" rtlCol="0" anchor="t"/>
          <a:lstStyle/>
          <a:p>
            <a:pPr rtl="1" algn="ctr" indent="0" marL="0">
              <a:buNone/>
            </a:pPr>
            <a:r>
              <a:rPr lang="en-US" sz="1250" dirty="0">
                <a:solidFill>
                  <a:srgbClr val="5B6678"/>
                </a:solidFill>
                <a:latin typeface="Tahoma" pitchFamily="34" charset="0"/>
                <a:ea typeface="Tahoma" pitchFamily="34" charset="-122"/>
                <a:cs typeface="Tahoma" pitchFamily="34" charset="-120"/>
              </a:rPr>
              <a:t>بازبین ← مدیرکل ← معاون</a:t>
            </a:r>
            <a:endParaRPr lang="en-US" sz="1250" dirty="0"/>
          </a:p>
        </p:txBody>
      </p:sp>
      <p:sp>
        <p:nvSpPr>
          <p:cNvPr id="32" name="Text 30"/>
          <p:cNvSpPr txBox="1"/>
          <p:nvPr/>
        </p:nvSpPr>
        <p:spPr>
          <a:xfrm>
            <a:off x="2001012" y="2880360"/>
            <a:ext cx="365760" cy="457200"/>
          </a:xfrm>
          <a:prstGeom prst="rect">
            <a:avLst/>
          </a:prstGeom>
          <a:noFill/>
          <a:ln/>
        </p:spPr>
        <p:txBody>
          <a:bodyPr wrap="square" lIns="0" tIns="0" rIns="0" bIns="0" rtlCol="0" anchor="ctr"/>
          <a:lstStyle/>
          <a:p>
            <a:pPr rtl="1" algn="ctr" indent="0" marL="0">
              <a:buNone/>
            </a:pPr>
            <a:r>
              <a:rPr lang="en-US" sz="1600" dirty="0">
                <a:solidFill>
                  <a:srgbClr val="C9A227"/>
                </a:solidFill>
                <a:latin typeface="Tahoma" pitchFamily="34" charset="0"/>
                <a:ea typeface="Tahoma" pitchFamily="34" charset="-122"/>
                <a:cs typeface="Tahoma" pitchFamily="34" charset="-120"/>
              </a:rPr>
              <a:t>◀</a:t>
            </a:r>
            <a:endParaRPr lang="en-US" sz="1600" dirty="0"/>
          </a:p>
        </p:txBody>
      </p:sp>
      <p:sp>
        <p:nvSpPr>
          <p:cNvPr id="33" name="Shape 31"/>
          <p:cNvSpPr/>
          <p:nvPr/>
        </p:nvSpPr>
        <p:spPr>
          <a:xfrm>
            <a:off x="411480" y="2103120"/>
            <a:ext cx="1589532" cy="2011680"/>
          </a:xfrm>
          <a:prstGeom prst="roundRect">
            <a:avLst>
              <a:gd name="adj" fmla="val 6903"/>
            </a:avLst>
          </a:prstGeom>
          <a:solidFill>
            <a:srgbClr val="1B2A49"/>
          </a:solidFill>
          <a:ln w="9525">
            <a:solidFill>
              <a:srgbClr val="1B2A49"/>
            </a:solidFill>
            <a:prstDash val="solid"/>
          </a:ln>
          <a:effectLst>
            <a:outerShdw sx="100000" sy="100000" kx="0" ky="0" algn="bl" rotWithShape="0" blurRad="101600" dist="25400" dir="5400000">
              <a:srgbClr val="000000">
                <a:alpha val="12000"/>
              </a:srgbClr>
            </a:outerShdw>
          </a:effectLst>
        </p:spPr>
      </p:sp>
      <p:sp>
        <p:nvSpPr>
          <p:cNvPr id="34" name="Shape 32"/>
          <p:cNvSpPr/>
          <p:nvPr/>
        </p:nvSpPr>
        <p:spPr>
          <a:xfrm>
            <a:off x="931926" y="1828800"/>
            <a:ext cx="548640" cy="548640"/>
          </a:xfrm>
          <a:prstGeom prst="ellipse">
            <a:avLst/>
          </a:prstGeom>
          <a:solidFill>
            <a:srgbClr val="C9A227"/>
          </a:solidFill>
          <a:ln w="12700">
            <a:solidFill>
              <a:srgbClr val="C9A227"/>
            </a:solidFill>
            <a:prstDash val="solid"/>
          </a:ln>
        </p:spPr>
      </p:sp>
      <p:sp>
        <p:nvSpPr>
          <p:cNvPr id="35" name="Text 33"/>
          <p:cNvSpPr txBox="1"/>
          <p:nvPr/>
        </p:nvSpPr>
        <p:spPr>
          <a:xfrm>
            <a:off x="931926" y="182880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txBox="1"/>
          <p:nvPr/>
        </p:nvSpPr>
        <p:spPr>
          <a:xfrm>
            <a:off x="521208" y="2560320"/>
            <a:ext cx="1370076" cy="685800"/>
          </a:xfrm>
          <a:prstGeom prst="rect">
            <a:avLst/>
          </a:prstGeom>
          <a:noFill/>
          <a:ln/>
        </p:spPr>
        <p:txBody>
          <a:bodyPr wrap="square" lIns="0" tIns="0" rIns="0" bIns="0" rtlCol="0" anchor="ctr"/>
          <a:lstStyle/>
          <a:p>
            <a:pPr rtl="1" algn="ctr" indent="0" marL="0">
              <a:buNone/>
            </a:pPr>
            <a:r>
              <a:rPr lang="en-US" sz="1600" b="1" dirty="0">
                <a:solidFill>
                  <a:srgbClr val="FFFFFF"/>
                </a:solidFill>
                <a:latin typeface="Tahoma" pitchFamily="34" charset="0"/>
                <a:ea typeface="Tahoma" pitchFamily="34" charset="-122"/>
                <a:cs typeface="Tahoma" pitchFamily="34" charset="-120"/>
              </a:rPr>
              <a:t>بستن دوره و انتشار</a:t>
            </a:r>
            <a:endParaRPr lang="en-US" sz="1600" dirty="0"/>
          </a:p>
        </p:txBody>
      </p:sp>
      <p:sp>
        <p:nvSpPr>
          <p:cNvPr id="37" name="Text 35"/>
          <p:cNvSpPr txBox="1"/>
          <p:nvPr/>
        </p:nvSpPr>
        <p:spPr>
          <a:xfrm>
            <a:off x="521208" y="3246120"/>
            <a:ext cx="1370076" cy="685800"/>
          </a:xfrm>
          <a:prstGeom prst="rect">
            <a:avLst/>
          </a:prstGeom>
          <a:noFill/>
          <a:ln/>
        </p:spPr>
        <p:txBody>
          <a:bodyPr wrap="square" lIns="0" tIns="0" rIns="0" bIns="0" rtlCol="0" anchor="t"/>
          <a:lstStyle/>
          <a:p>
            <a:pPr rtl="1" algn="ctr" indent="0" marL="0">
              <a:buNone/>
            </a:pPr>
            <a:r>
              <a:rPr lang="en-US" sz="1250" dirty="0">
                <a:solidFill>
                  <a:srgbClr val="C9D3E6"/>
                </a:solidFill>
                <a:latin typeface="Tahoma" pitchFamily="34" charset="0"/>
                <a:ea typeface="Tahoma" pitchFamily="34" charset="-122"/>
                <a:cs typeface="Tahoma" pitchFamily="34" charset="-120"/>
              </a:rPr>
              <a:t>قفل دوره، PDF و XBRL</a:t>
            </a:r>
            <a:endParaRPr lang="en-US" sz="1250" dirty="0"/>
          </a:p>
        </p:txBody>
      </p:sp>
      <p:sp>
        <p:nvSpPr>
          <p:cNvPr id="38" name="Shape 36"/>
          <p:cNvSpPr/>
          <p:nvPr/>
        </p:nvSpPr>
        <p:spPr>
          <a:xfrm>
            <a:off x="411480" y="4754880"/>
            <a:ext cx="11365992" cy="1143000"/>
          </a:xfrm>
          <a:prstGeom prst="roundRect">
            <a:avLst>
              <a:gd name="adj" fmla="val 8000"/>
            </a:avLst>
          </a:prstGeom>
          <a:solidFill>
            <a:srgbClr val="F6EDCF"/>
          </a:solidFill>
          <a:ln w="12700">
            <a:solidFill>
              <a:srgbClr val="F6EDCF"/>
            </a:solidFill>
            <a:prstDash val="solid"/>
          </a:ln>
        </p:spPr>
      </p:sp>
      <p:sp>
        <p:nvSpPr>
          <p:cNvPr id="39" name="Text 37"/>
          <p:cNvSpPr txBox="1"/>
          <p:nvPr/>
        </p:nvSpPr>
        <p:spPr>
          <a:xfrm>
            <a:off x="685800" y="4754880"/>
            <a:ext cx="10817352" cy="1143000"/>
          </a:xfrm>
          <a:prstGeom prst="rect">
            <a:avLst/>
          </a:prstGeom>
          <a:noFill/>
          <a:ln/>
        </p:spPr>
        <p:txBody>
          <a:bodyPr wrap="square" lIns="0" tIns="0" rIns="0" bIns="0" rtlCol="0" anchor="ctr"/>
          <a:lstStyle/>
          <a:p>
            <a:pPr rtl="1" algn="r" indent="0" marL="0">
              <a:buNone/>
            </a:pPr>
            <a:r>
              <a:rPr lang="en-US" sz="1500" dirty="0">
                <a:solidFill>
                  <a:srgbClr val="4A3B0B"/>
                </a:solidFill>
                <a:latin typeface="Tahoma" pitchFamily="34" charset="0"/>
                <a:ea typeface="Tahoma" pitchFamily="34" charset="-122"/>
                <a:cs typeface="Tahoma" pitchFamily="34" charset="-120"/>
              </a:rPr>
              <a:t>هر اجرا یک «عکس ثابت» از اعداد است؛ تغییر بعدی قالب یا اسناد، اجرای قبلی را عوض نمی‌کند — برای عدد تازه، اجرای جدید بگیرید.</a:t>
            </a:r>
            <a:endParaRPr lang="en-US" sz="1500" dirty="0"/>
          </a:p>
        </p:txBody>
      </p:sp>
      <p:sp>
        <p:nvSpPr>
          <p:cNvPr id="40" name="Text 3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نقطهٔ شروع — داشبورد صورت‌ها و «کارهای من»</a:t>
            </a:r>
            <a:endParaRPr lang="en-US" sz="2600" dirty="0"/>
          </a:p>
        </p:txBody>
      </p:sp>
      <p:sp>
        <p:nvSpPr>
          <p:cNvPr id="3" name="Shape 1"/>
          <p:cNvSpPr/>
          <p:nvPr/>
        </p:nvSpPr>
        <p:spPr>
          <a:xfrm>
            <a:off x="8819388" y="896112"/>
            <a:ext cx="295808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داشبورد صورت‌ها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n01">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شاخص‌ها</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چهار نسبت اول از آخرین اجرای سال، در کنار مقدار سال قبل.</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 بستن سال</a:t>
            </a:r>
            <a:endParaRPr lang="en-US" sz="1400" dirty="0"/>
          </a:p>
        </p:txBody>
      </p:sp>
      <p:sp>
        <p:nvSpPr>
          <p:cNvPr id="14" name="Text 11"/>
          <p:cNvSpPr txBox="1"/>
          <p:nvPr/>
        </p:nvSpPr>
        <p:spPr>
          <a:xfrm>
            <a:off x="8046720" y="261609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کاشی هر زیرواحد با وضعیت دوره (باز، بستهٔ موقت، قفل)، تعداد خطا و درصد پیشرفت.</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کارهای من</a:t>
            </a:r>
            <a:endParaRPr lang="en-US" sz="1400" dirty="0"/>
          </a:p>
        </p:txBody>
      </p:sp>
      <p:sp>
        <p:nvSpPr>
          <p:cNvPr id="18" name="Text 15"/>
          <p:cNvSpPr txBox="1"/>
          <p:nvPr/>
        </p:nvSpPr>
        <p:spPr>
          <a:xfrm>
            <a:off x="8046720" y="3751326"/>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تأییدهای منتظر شما، کنترل‌های ارجاع‌شده، یادداشت‌های در بازبینی و درخواست‌های بازگشایی؛ با کلیک به همان صفحه می‌روید.</a:t>
            </a:r>
            <a:endParaRPr lang="en-US" sz="1300" dirty="0"/>
          </a:p>
        </p:txBody>
      </p:sp>
      <p:sp>
        <p:nvSpPr>
          <p:cNvPr id="19" name="Shape 16"/>
          <p:cNvSpPr/>
          <p:nvPr/>
        </p:nvSpPr>
        <p:spPr>
          <a:xfrm>
            <a:off x="11393424" y="477728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7772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7772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میانبرها</a:t>
            </a:r>
            <a:endParaRPr lang="en-US" sz="1400" dirty="0"/>
          </a:p>
        </p:txBody>
      </p:sp>
      <p:sp>
        <p:nvSpPr>
          <p:cNvPr id="22" name="Text 19"/>
          <p:cNvSpPr txBox="1"/>
          <p:nvPr/>
        </p:nvSpPr>
        <p:spPr>
          <a:xfrm>
            <a:off x="8046720" y="510646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«تهیهٔ صورت‌ها»، «مشاهدهٔ صورت‌ها»، «تحلیل» و «یادداشت‌ها» در بالای صفحه.</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پیش‌نیاز — دسترسی صورت‌های مالی</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دسترسی صورت‌های مالی</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n08">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سه بُعد</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دسترسی می‌گوید چه کسی، روی کدام واحد (و زیرمجموعه‌ها)، در کدام مجموعهٔ صورت، چه کاری انجام دهد.</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عملیات</a:t>
            </a:r>
            <a:endParaRPr lang="en-US" sz="1400" dirty="0"/>
          </a:p>
        </p:txBody>
      </p:sp>
      <p:sp>
        <p:nvSpPr>
          <p:cNvPr id="14" name="Text 11"/>
          <p:cNvSpPr txBox="1"/>
          <p:nvPr/>
        </p:nvSpPr>
        <p:spPr>
          <a:xfrm>
            <a:off x="8046720" y="283601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مشاهده، تهیه، تغییر قالب، فعال‌سازی، تأیید/برگشت، انتشار، بستن دوره و مدیریت دسترسی.</a:t>
            </a:r>
            <a:endParaRPr lang="en-US" sz="1300" dirty="0"/>
          </a:p>
        </p:txBody>
      </p:sp>
      <p:sp>
        <p:nvSpPr>
          <p:cNvPr id="15" name="Shape 12"/>
          <p:cNvSpPr/>
          <p:nvPr/>
        </p:nvSpPr>
        <p:spPr>
          <a:xfrm>
            <a:off x="11393424" y="3642055"/>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64205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64205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تفکیک وظایف</a:t>
            </a:r>
            <a:endParaRPr lang="en-US" sz="1400" dirty="0"/>
          </a:p>
        </p:txBody>
      </p:sp>
      <p:sp>
        <p:nvSpPr>
          <p:cNvPr id="18" name="Text 15"/>
          <p:cNvSpPr txBox="1"/>
          <p:nvPr/>
        </p:nvSpPr>
        <p:spPr>
          <a:xfrm>
            <a:off x="8046720" y="3971239"/>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تهیه‌کننده و تأییدکننده، و ویرایشگر قالب و فعال‌کننده را به افراد جدا بدهید.</a:t>
            </a:r>
            <a:endParaRPr lang="en-US" sz="1300" dirty="0"/>
          </a:p>
        </p:txBody>
      </p:sp>
      <p:sp>
        <p:nvSpPr>
          <p:cNvPr id="19" name="Shape 16"/>
          <p:cNvSpPr/>
          <p:nvPr/>
        </p:nvSpPr>
        <p:spPr>
          <a:xfrm>
            <a:off x="11393424" y="477728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77728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77728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دسترسی جدید</a:t>
            </a:r>
            <a:endParaRPr lang="en-US" sz="1400" dirty="0"/>
          </a:p>
        </p:txBody>
      </p:sp>
      <p:sp>
        <p:nvSpPr>
          <p:cNvPr id="22" name="Text 19"/>
          <p:cNvSpPr txBox="1"/>
          <p:nvPr/>
        </p:nvSpPr>
        <p:spPr>
          <a:xfrm>
            <a:off x="8046720" y="5106467"/>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«دسترسی جدید»: کد کاربری، واحد، مجموعه و تیک عملیات‌ها؛ فقط دارندهٔ «مدیریت دسترسی» این صفحه را تغییر می‌دهد.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 — قالب صورت‌ها</a:t>
            </a:r>
            <a:endParaRPr lang="en-US" sz="2600" dirty="0"/>
          </a:p>
        </p:txBody>
      </p:sp>
      <p:sp>
        <p:nvSpPr>
          <p:cNvPr id="3" name="Shape 1"/>
          <p:cNvSpPr/>
          <p:nvPr/>
        </p:nvSpPr>
        <p:spPr>
          <a:xfrm>
            <a:off x="9052560" y="896112"/>
            <a:ext cx="2724912"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قالب صورت‌ها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01">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مجموعه‌ها</a:t>
            </a:r>
            <a:endParaRPr lang="en-US" sz="1400" dirty="0"/>
          </a:p>
        </p:txBody>
      </p:sp>
      <p:sp>
        <p:nvSpPr>
          <p:cNvPr id="10" name="Text 7"/>
          <p:cNvSpPr txBox="1"/>
          <p:nvPr/>
        </p:nvSpPr>
        <p:spPr>
          <a:xfrm>
            <a:off x="8046720" y="1700784"/>
            <a:ext cx="3227832" cy="670941"/>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زبانه‌ها: طرح بیمه‌ای (استاندارد ۲۷)، واحد تجاری (استاندارد ۱)، بخش عمومی، مدیریتی.</a:t>
            </a:r>
            <a:endParaRPr lang="en-US" sz="1250" dirty="0"/>
          </a:p>
        </p:txBody>
      </p:sp>
      <p:sp>
        <p:nvSpPr>
          <p:cNvPr id="11" name="Shape 8"/>
          <p:cNvSpPr/>
          <p:nvPr/>
        </p:nvSpPr>
        <p:spPr>
          <a:xfrm>
            <a:off x="11393424" y="2481453"/>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48145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48145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قالب‌های پیش‌فرض</a:t>
            </a:r>
            <a:endParaRPr lang="en-US" sz="1400" dirty="0"/>
          </a:p>
        </p:txBody>
      </p:sp>
      <p:sp>
        <p:nvSpPr>
          <p:cNvPr id="14" name="Text 11"/>
          <p:cNvSpPr txBox="1"/>
          <p:nvPr/>
        </p:nvSpPr>
        <p:spPr>
          <a:xfrm>
            <a:off x="8046720" y="2810637"/>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دکمهٔ «قالب‌های پیش‌فرض» صورت‌ها و یادداشت‌های نمونه را می‌سازد (فقط ستاد).</a:t>
            </a:r>
            <a:endParaRPr lang="en-US" sz="1250" dirty="0"/>
          </a:p>
        </p:txBody>
      </p:sp>
      <p:sp>
        <p:nvSpPr>
          <p:cNvPr id="15" name="Shape 12"/>
          <p:cNvSpPr/>
          <p:nvPr/>
        </p:nvSpPr>
        <p:spPr>
          <a:xfrm>
            <a:off x="11393424" y="3379851"/>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37985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37985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نسخه‌ها</a:t>
            </a:r>
            <a:endParaRPr lang="en-US" sz="1400" dirty="0"/>
          </a:p>
        </p:txBody>
      </p:sp>
      <p:sp>
        <p:nvSpPr>
          <p:cNvPr id="18" name="Text 15"/>
          <p:cNvSpPr txBox="1"/>
          <p:nvPr/>
        </p:nvSpPr>
        <p:spPr>
          <a:xfrm>
            <a:off x="8046720" y="3709035"/>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هر قالب نسخه‌های فعال، پیش‌نویس و بازنشسته دارد؛ فقط پیش‌نویس ویرایش می‌شود.</a:t>
            </a:r>
            <a:endParaRPr lang="en-US" sz="1250" dirty="0"/>
          </a:p>
        </p:txBody>
      </p:sp>
      <p:sp>
        <p:nvSpPr>
          <p:cNvPr id="19" name="Shape 16"/>
          <p:cNvSpPr/>
          <p:nvPr/>
        </p:nvSpPr>
        <p:spPr>
          <a:xfrm>
            <a:off x="11393424" y="4278249"/>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2782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2782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مالکیت</a:t>
            </a:r>
            <a:endParaRPr lang="en-US" sz="1400" dirty="0"/>
          </a:p>
        </p:txBody>
      </p:sp>
      <p:sp>
        <p:nvSpPr>
          <p:cNvPr id="22" name="Text 19"/>
          <p:cNvSpPr txBox="1"/>
          <p:nvPr/>
        </p:nvSpPr>
        <p:spPr>
          <a:xfrm>
            <a:off x="8046720" y="4607433"/>
            <a:ext cx="3227832" cy="670941"/>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«مشترک» برای همهٔ واحدها؛ قالب اختصاصی یک واحد، قالب مشترک هم‌کد را برای آن واحد جایگزین می‌کند.</a:t>
            </a:r>
            <a:endParaRPr lang="en-US" sz="1250" dirty="0"/>
          </a:p>
        </p:txBody>
      </p:sp>
      <p:sp>
        <p:nvSpPr>
          <p:cNvPr id="23" name="Shape 20"/>
          <p:cNvSpPr/>
          <p:nvPr/>
        </p:nvSpPr>
        <p:spPr>
          <a:xfrm>
            <a:off x="11393424" y="5388102"/>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38810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38810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 جدید</a:t>
            </a:r>
            <a:endParaRPr lang="en-US" sz="1400" dirty="0"/>
          </a:p>
        </p:txBody>
      </p:sp>
      <p:sp>
        <p:nvSpPr>
          <p:cNvPr id="26" name="Text 23"/>
          <p:cNvSpPr txBox="1"/>
          <p:nvPr/>
        </p:nvSpPr>
        <p:spPr>
          <a:xfrm>
            <a:off x="8046720" y="5717286"/>
            <a:ext cx="3227832" cy="459486"/>
          </a:xfrm>
          <a:prstGeom prst="rect">
            <a:avLst/>
          </a:prstGeom>
          <a:noFill/>
          <a:ln/>
        </p:spPr>
        <p:txBody>
          <a:bodyPr wrap="square" lIns="0" tIns="0" rIns="0" bIns="0" rtlCol="0" anchor="t"/>
          <a:lstStyle/>
          <a:p>
            <a:pPr rtl="1" algn="r" indent="0" marL="0">
              <a:lnSpc>
                <a:spcPct val="105000"/>
              </a:lnSpc>
              <a:buNone/>
            </a:pPr>
            <a:r>
              <a:rPr lang="en-US" sz="1250" dirty="0">
                <a:solidFill>
                  <a:srgbClr val="1F2937"/>
                </a:solidFill>
                <a:latin typeface="Tahoma" pitchFamily="34" charset="0"/>
                <a:ea typeface="Tahoma" pitchFamily="34" charset="-122"/>
                <a:cs typeface="Tahoma" pitchFamily="34" charset="-120"/>
              </a:rPr>
              <a:t>نوع صورت را انتخاب کنید؛ برای «یادداشت» صورت و ردیف والد را هم تعیین کنید.</a:t>
            </a:r>
            <a:endParaRPr lang="en-US" sz="125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۲ — ردیف‌های نسخهٔ قالب</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2">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ستون‌ها</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عنوان، نوع، حساب/فرمول، ماهیت و مقدار، یادداشت.</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انواع ردیف</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عنوان، حساب، فرمول، مقدار دستی، متن و خالی.</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ترتیب</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پیکان‌های بالا/پایین، یا نمای «درخت»: کشیدن و رها کردن.</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بررسی قالب</a:t>
            </a:r>
            <a:endParaRPr lang="en-US" sz="1400" dirty="0"/>
          </a:p>
        </p:txBody>
      </p:sp>
      <p:sp>
        <p:nvSpPr>
          <p:cNvPr id="20" name="Text 17"/>
          <p:cNvSpPr txBox="1"/>
          <p:nvPr/>
        </p:nvSpPr>
        <p:spPr>
          <a:xfrm>
            <a:off x="8046720" y="426384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خطاها (مانع فعال‌سازی) و هشدارها را نشان می‌دهد.</a:t>
            </a:r>
            <a:endParaRPr lang="en-US" sz="1300" dirty="0"/>
          </a:p>
        </p:txBody>
      </p:sp>
      <p:sp>
        <p:nvSpPr>
          <p:cNvPr id="21" name="Shape 18"/>
          <p:cNvSpPr/>
          <p:nvPr/>
        </p:nvSpPr>
        <p:spPr>
          <a:xfrm>
            <a:off x="11393424" y="4849978"/>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484997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484997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فعال‌سازی</a:t>
            </a:r>
            <a:endParaRPr lang="en-US" sz="1400" dirty="0"/>
          </a:p>
        </p:txBody>
      </p:sp>
      <p:sp>
        <p:nvSpPr>
          <p:cNvPr id="24" name="Text 21"/>
          <p:cNvSpPr txBox="1"/>
          <p:nvPr/>
        </p:nvSpPr>
        <p:spPr>
          <a:xfrm>
            <a:off x="8046720" y="517916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سال شروع اعتبار را بدهید؛ نسخهٔ فعال قبلی با همان سال بازنشسته می‌شود.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طراح درختی قالب</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n17">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صفحهٔ نسخهٔ پیش‌نویس، کلید «درخت» کنار «جدول» را بزنید.</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جابه‌جایی</a:t>
            </a:r>
            <a:endParaRPr lang="en-US" sz="1400" dirty="0"/>
          </a:p>
        </p:txBody>
      </p:sp>
      <p:sp>
        <p:nvSpPr>
          <p:cNvPr id="12" name="Text 9"/>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ردیف را با دستگیرهٔ کنارش بکشید و رها کنید؛ نیمهٔ بالا/پایین ⇐ پیش یا پس از ردیف، وسط «عنوان» ⇐ زیرمجموعهٔ آن.</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زیرمجموعه</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ردیف‌های زیر یک عنوان با هم جابه‌جا می‌شوند و تورفتگی خودکار تنظیم می‌شود.</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جمع‌ها</a:t>
            </a:r>
            <a:endParaRPr lang="en-US" sz="1400" dirty="0"/>
          </a:p>
        </p:txBody>
      </p:sp>
      <p:sp>
        <p:nvSpPr>
          <p:cNvPr id="20" name="Text 17"/>
          <p:cNvSpPr txBox="1"/>
          <p:nvPr/>
        </p:nvSpPr>
        <p:spPr>
          <a:xfrm>
            <a:off x="8046720" y="4483760"/>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فرمول‌های بازه‌ای مثل SUM(A01:A06) بر اساس ترتیب جدید محاسبه می‌شوند؛ بعد از جابه‌جایی «بررسی قالب» را بزنید.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۳ — ویرایش ردیف: انتخاب‌گر حساب و فرمول</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3">    </p:cNvPr>
          <p:cNvPicPr>
            <a:picLocks noChangeAspect="1"/>
          </p:cNvPicPr>
          <p:nvPr/>
        </p:nvPicPr>
        <p:blipFill>
          <a:blip r:embed="rId1"/>
          <a:stretch>
            <a:fillRect/>
          </a:stretch>
        </p:blipFill>
        <p:spPr>
          <a:xfrm>
            <a:off x="484632" y="2079163"/>
            <a:ext cx="7260336" cy="3339755"/>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انتخاب‌گر</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1301 معین دقیق · 13* پیشوند · 1301..1309 بازه · !1305 استثنا · [D]/[C] فقط مانده بدهکار/بستانکار.</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نوع مقدار</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مانده پایان، مانده ابتدا، گردش خالص، گردش بدهکار یا بستانکار.</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فرمول</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مثل SUM(A01:A08)، A99+L99، ROUND، IF، PRIOR و STMT(صورت دیگر، ردیف).</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قالب‌بندی</a:t>
            </a:r>
            <a:endParaRPr lang="en-US" sz="1400" dirty="0"/>
          </a:p>
        </p:txBody>
      </p:sp>
      <p:sp>
        <p:nvSpPr>
          <p:cNvPr id="20" name="Text 17"/>
          <p:cNvSpPr txBox="1"/>
          <p:nvPr/>
        </p:nvSpPr>
        <p:spPr>
          <a:xfrm>
            <a:off x="8046720" y="448376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تورفتگی، پررنگ، خط بالا/دو خط زیر، ستون داخلی، پنهان اگر صفر، صفحهٔ جدید.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پیش‌نمایش زندهٔ قالب</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3b">    </p:cNvPr>
          <p:cNvPicPr>
            <a:picLocks noChangeAspect="1"/>
          </p:cNvPicPr>
          <p:nvPr/>
        </p:nvPicPr>
        <p:blipFill>
          <a:blip r:embed="rId1"/>
          <a:stretch>
            <a:fillRect/>
          </a:stretch>
        </p:blipFill>
        <p:spPr>
          <a:xfrm>
            <a:off x="484632" y="1347079"/>
            <a:ext cx="7260336" cy="4803922"/>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کاربرد</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 از فعال‌سازی، قالب پیش‌نویس را روی اسناد واقعی امتحان کنید؛ چیزی ذخیره نمی‌شود.</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پارامترها</a:t>
            </a:r>
            <a:endParaRPr lang="en-US" sz="1400" dirty="0"/>
          </a:p>
        </p:txBody>
      </p:sp>
      <p:sp>
        <p:nvSpPr>
          <p:cNvPr id="12" name="Text 9"/>
          <p:cNvSpPr txBox="1"/>
          <p:nvPr/>
        </p:nvSpPr>
        <p:spPr>
          <a:xfrm>
            <a:off x="8046720" y="265313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سال، پایان دوره، حداقل وضعیت سند، با زیرمجموعه‌ها و واحد مبلغ.</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واترمارک</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برچسب «آزمایشی» یعنی این عدد رسمی نیست.</a:t>
            </a:r>
            <a:endParaRPr lang="en-US" sz="1300" dirty="0"/>
          </a:p>
        </p:txBody>
      </p:sp>
      <p:sp>
        <p:nvSpPr>
          <p:cNvPr id="17" name="Text 1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۴ — نگاشت حساب‌ها</a:t>
            </a:r>
            <a:endParaRPr lang="en-US" sz="2600" dirty="0"/>
          </a:p>
        </p:txBody>
      </p:sp>
      <p:sp>
        <p:nvSpPr>
          <p:cNvPr id="3" name="Shape 1"/>
          <p:cNvSpPr/>
          <p:nvPr/>
        </p:nvSpPr>
        <p:spPr>
          <a:xfrm>
            <a:off x="8974836" y="896112"/>
            <a:ext cx="280263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نگاشت حساب‌ها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14">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نمای حساب‌محور</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معین کدینگ به کدام ردیف و صورت رفته است.</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بدون نگاشت</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معین‌هایی که در هیچ صورت اصلی نیستند (قرمز) — اعدادشان از صورت جا می‌ماند.</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دوبار شمرده</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معینی که در یک صورت در دو ردیف آمده (نارنجی).</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اصلاح</a:t>
            </a:r>
            <a:endParaRPr lang="en-US" sz="1400" dirty="0"/>
          </a:p>
        </p:txBody>
      </p:sp>
      <p:sp>
        <p:nvSpPr>
          <p:cNvPr id="22" name="Text 19"/>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کلیک روی ردیف ⇐ قالب؛ یا «ورود از Excel» و «اعمال پیشنهادها» روی پیش‌نویس.</a:t>
            </a:r>
            <a:endParaRPr lang="en-US" sz="1300" dirty="0"/>
          </a:p>
        </p:txBody>
      </p:sp>
      <p:sp>
        <p:nvSpPr>
          <p:cNvPr id="23" name="Shape 20"/>
          <p:cNvSpPr/>
          <p:nvPr/>
        </p:nvSpPr>
        <p:spPr>
          <a:xfrm>
            <a:off x="11393424" y="5032858"/>
            <a:ext cx="347472" cy="347472"/>
          </a:xfrm>
          <a:prstGeom prst="ellipse">
            <a:avLst/>
          </a:prstGeom>
          <a:solidFill>
            <a:srgbClr val="C9A227"/>
          </a:solidFill>
          <a:ln w="12700">
            <a:solidFill>
              <a:srgbClr val="C9A227"/>
            </a:solidFill>
            <a:prstDash val="solid"/>
          </a:ln>
        </p:spPr>
      </p:sp>
      <p:sp>
        <p:nvSpPr>
          <p:cNvPr id="24" name="Text 21"/>
          <p:cNvSpPr txBox="1"/>
          <p:nvPr/>
        </p:nvSpPr>
        <p:spPr>
          <a:xfrm>
            <a:off x="11393424" y="503285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txBox="1"/>
          <p:nvPr/>
        </p:nvSpPr>
        <p:spPr>
          <a:xfrm>
            <a:off x="8046720" y="503285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پیشنهاد</a:t>
            </a:r>
            <a:endParaRPr lang="en-US" sz="1400" dirty="0"/>
          </a:p>
        </p:txBody>
      </p:sp>
      <p:sp>
        <p:nvSpPr>
          <p:cNvPr id="26" name="Text 23"/>
          <p:cNvSpPr txBox="1"/>
          <p:nvPr/>
        </p:nvSpPr>
        <p:spPr>
          <a:xfrm>
            <a:off x="8046720" y="536204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برای معین بی‌نگاشت، ردیفی که معین‌های هم‌گروهش در آن هستند پیشنهاد می‌شود؛ بعد از اعمال، قالب را فعال کنید.</a:t>
            </a:r>
            <a:endParaRPr lang="en-US" sz="1300" dirty="0"/>
          </a:p>
        </p:txBody>
      </p:sp>
      <p:sp>
        <p:nvSpPr>
          <p:cNvPr id="27" name="Text 2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۵ — قواعد کنترل صورت‌ها</a:t>
            </a:r>
            <a:endParaRPr lang="en-US" sz="2600" dirty="0"/>
          </a:p>
        </p:txBody>
      </p:sp>
      <p:sp>
        <p:nvSpPr>
          <p:cNvPr id="3" name="Shape 1"/>
          <p:cNvSpPr/>
          <p:nvPr/>
        </p:nvSpPr>
        <p:spPr>
          <a:xfrm>
            <a:off x="8663940" y="896112"/>
            <a:ext cx="3113532"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کنترل‌های صورت‌ها</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13">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شکل قاعده</a:t>
            </a:r>
            <a:endParaRPr lang="en-US" sz="1400" dirty="0"/>
          </a:p>
        </p:txBody>
      </p:sp>
      <p:sp>
        <p:nvSpPr>
          <p:cNvPr id="10" name="Text 7"/>
          <p:cNvSpPr txBox="1"/>
          <p:nvPr/>
        </p:nvSpPr>
        <p:spPr>
          <a:xfrm>
            <a:off x="8046720" y="170078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عبارت چپ = عبارت راست با اختلاف مجاز؛ مثل «نقد صورت جریان = موجودی نقد خالص دارایی‌ها».</a:t>
            </a:r>
            <a:endParaRPr lang="en-US" sz="1300" dirty="0"/>
          </a:p>
        </p:txBody>
      </p:sp>
      <p:sp>
        <p:nvSpPr>
          <p:cNvPr id="11" name="Shape 8"/>
          <p:cNvSpPr/>
          <p:nvPr/>
        </p:nvSpPr>
        <p:spPr>
          <a:xfrm>
            <a:off x="11393424" y="2506828"/>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50682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50682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شدت</a:t>
            </a:r>
            <a:endParaRPr lang="en-US" sz="1400" dirty="0"/>
          </a:p>
        </p:txBody>
      </p:sp>
      <p:sp>
        <p:nvSpPr>
          <p:cNvPr id="14" name="Text 11"/>
          <p:cNvSpPr txBox="1"/>
          <p:nvPr/>
        </p:nvSpPr>
        <p:spPr>
          <a:xfrm>
            <a:off x="8046720" y="2836012"/>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اطلاع، هشدار، یا مسدودکننده (مانع ارسال برای بازبینی).</a:t>
            </a:r>
            <a:endParaRPr lang="en-US" sz="1300" dirty="0"/>
          </a:p>
        </p:txBody>
      </p:sp>
      <p:sp>
        <p:nvSpPr>
          <p:cNvPr id="15" name="Shape 12"/>
          <p:cNvSpPr/>
          <p:nvPr/>
        </p:nvSpPr>
        <p:spPr>
          <a:xfrm>
            <a:off x="11393424" y="3422142"/>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42214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42214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کنترل‌های ثابت</a:t>
            </a:r>
            <a:endParaRPr lang="en-US" sz="1400" dirty="0"/>
          </a:p>
        </p:txBody>
      </p:sp>
      <p:sp>
        <p:nvSpPr>
          <p:cNvPr id="18" name="Text 15"/>
          <p:cNvSpPr txBox="1"/>
          <p:nvPr/>
        </p:nvSpPr>
        <p:spPr>
          <a:xfrm>
            <a:off x="8046720" y="3751326"/>
            <a:ext cx="3227832" cy="916229"/>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تراز آزمایشی، پوشش حساب، مانده معکوس، جمع یادداشت، اسناد خارج از سال، حذف فی‌مابین (V-07) و قفل دوره (V-11) خودکار اجرا می‌شوند.</a:t>
            </a:r>
            <a:endParaRPr lang="en-US" sz="1300" dirty="0"/>
          </a:p>
        </p:txBody>
      </p:sp>
      <p:sp>
        <p:nvSpPr>
          <p:cNvPr id="19"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۶ — فهرست اجراها</a:t>
            </a:r>
            <a:endParaRPr lang="en-US" sz="2600" dirty="0"/>
          </a:p>
        </p:txBody>
      </p:sp>
      <p:sp>
        <p:nvSpPr>
          <p:cNvPr id="3" name="Shape 1"/>
          <p:cNvSpPr/>
          <p:nvPr/>
        </p:nvSpPr>
        <p:spPr>
          <a:xfrm>
            <a:off x="8508492" y="896112"/>
            <a:ext cx="326898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تهیهٔ صورت‌های مالی</a:t>
            </a:r>
            <a:endParaRPr lang="en-US" sz="1100" dirty="0"/>
          </a:p>
        </p:txBody>
      </p:sp>
      <p:sp>
        <p:nvSpPr>
          <p:cNvPr id="5" name="Shape 3"/>
          <p:cNvSpPr/>
          <p:nvPr/>
        </p:nvSpPr>
        <p:spPr>
          <a:xfrm>
            <a:off x="411480" y="1325880"/>
            <a:ext cx="740664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6" name="Image 0" descr="fs04">    </p:cNvPr>
          <p:cNvPicPr>
            <a:picLocks noChangeAspect="1"/>
          </p:cNvPicPr>
          <p:nvPr/>
        </p:nvPicPr>
        <p:blipFill>
          <a:blip r:embed="rId1"/>
          <a:stretch>
            <a:fillRect/>
          </a:stretch>
        </p:blipFill>
        <p:spPr>
          <a:xfrm>
            <a:off x="491876" y="1399032"/>
            <a:ext cx="7245847" cy="4882896"/>
          </a:xfrm>
          <a:prstGeom prst="rect">
            <a:avLst/>
          </a:prstGeom>
        </p:spPr>
      </p:pic>
      <p:sp>
        <p:nvSpPr>
          <p:cNvPr id="7" name="Shape 4"/>
          <p:cNvSpPr/>
          <p:nvPr/>
        </p:nvSpPr>
        <p:spPr>
          <a:xfrm>
            <a:off x="11393424" y="1371600"/>
            <a:ext cx="347472" cy="347472"/>
          </a:xfrm>
          <a:prstGeom prst="ellipse">
            <a:avLst/>
          </a:prstGeom>
          <a:solidFill>
            <a:srgbClr val="C9A227"/>
          </a:solidFill>
          <a:ln w="12700">
            <a:solidFill>
              <a:srgbClr val="C9A227"/>
            </a:solidFill>
            <a:prstDash val="solid"/>
          </a:ln>
        </p:spPr>
      </p:sp>
      <p:sp>
        <p:nvSpPr>
          <p:cNvPr id="8" name="Text 5"/>
          <p:cNvSpPr txBox="1"/>
          <p:nvPr/>
        </p:nvSpPr>
        <p:spPr>
          <a:xfrm>
            <a:off x="11393424" y="137160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txBox="1"/>
          <p:nvPr/>
        </p:nvSpPr>
        <p:spPr>
          <a:xfrm>
            <a:off x="8046720" y="137160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هر ردیف یک اجرا</a:t>
            </a:r>
            <a:endParaRPr lang="en-US" sz="1400" dirty="0"/>
          </a:p>
        </p:txBody>
      </p:sp>
      <p:sp>
        <p:nvSpPr>
          <p:cNvPr id="10" name="Text 7"/>
          <p:cNvSpPr txBox="1"/>
          <p:nvPr/>
        </p:nvSpPr>
        <p:spPr>
          <a:xfrm>
            <a:off x="8046720" y="170078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شماره، مجموعه، دوره، دامنه (ترکیبی/جداگانه)، وضعیت و تاریخ تهیه.</a:t>
            </a:r>
            <a:endParaRPr lang="en-US" sz="1300" dirty="0"/>
          </a:p>
        </p:txBody>
      </p:sp>
      <p:sp>
        <p:nvSpPr>
          <p:cNvPr id="11" name="Shape 8"/>
          <p:cNvSpPr/>
          <p:nvPr/>
        </p:nvSpPr>
        <p:spPr>
          <a:xfrm>
            <a:off x="11393424" y="2286914"/>
            <a:ext cx="347472" cy="347472"/>
          </a:xfrm>
          <a:prstGeom prst="ellipse">
            <a:avLst/>
          </a:prstGeom>
          <a:solidFill>
            <a:srgbClr val="C9A227"/>
          </a:solidFill>
          <a:ln w="12700">
            <a:solidFill>
              <a:srgbClr val="C9A227"/>
            </a:solidFill>
            <a:prstDash val="solid"/>
          </a:ln>
        </p:spPr>
      </p:sp>
      <p:sp>
        <p:nvSpPr>
          <p:cNvPr id="12" name="Text 9"/>
          <p:cNvSpPr txBox="1"/>
          <p:nvPr/>
        </p:nvSpPr>
        <p:spPr>
          <a:xfrm>
            <a:off x="11393424" y="228691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txBox="1"/>
          <p:nvPr/>
        </p:nvSpPr>
        <p:spPr>
          <a:xfrm>
            <a:off x="8046720" y="228691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وضعیت‌ها</a:t>
            </a:r>
            <a:endParaRPr lang="en-US" sz="1400" dirty="0"/>
          </a:p>
        </p:txBody>
      </p:sp>
      <p:sp>
        <p:nvSpPr>
          <p:cNvPr id="14" name="Text 11"/>
          <p:cNvSpPr txBox="1"/>
          <p:nvPr/>
        </p:nvSpPr>
        <p:spPr>
          <a:xfrm>
            <a:off x="8046720" y="261609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در بازبینی، تأییدشده، منتشرشده، جایگزین‌شده.</a:t>
            </a:r>
            <a:endParaRPr lang="en-US" sz="1300" dirty="0"/>
          </a:p>
        </p:txBody>
      </p:sp>
      <p:sp>
        <p:nvSpPr>
          <p:cNvPr id="15" name="Shape 12"/>
          <p:cNvSpPr/>
          <p:nvPr/>
        </p:nvSpPr>
        <p:spPr>
          <a:xfrm>
            <a:off x="11393424" y="3202229"/>
            <a:ext cx="347472" cy="347472"/>
          </a:xfrm>
          <a:prstGeom prst="ellipse">
            <a:avLst/>
          </a:prstGeom>
          <a:solidFill>
            <a:srgbClr val="C9A227"/>
          </a:solidFill>
          <a:ln w="12700">
            <a:solidFill>
              <a:srgbClr val="C9A227"/>
            </a:solidFill>
            <a:prstDash val="solid"/>
          </a:ln>
        </p:spPr>
      </p:sp>
      <p:sp>
        <p:nvSpPr>
          <p:cNvPr id="16" name="Text 13"/>
          <p:cNvSpPr txBox="1"/>
          <p:nvPr/>
        </p:nvSpPr>
        <p:spPr>
          <a:xfrm>
            <a:off x="11393424" y="320222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txBox="1"/>
          <p:nvPr/>
        </p:nvSpPr>
        <p:spPr>
          <a:xfrm>
            <a:off x="8046720" y="320222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تهیهٔ صورت‌ها</a:t>
            </a:r>
            <a:endParaRPr lang="en-US" sz="1400" dirty="0"/>
          </a:p>
        </p:txBody>
      </p:sp>
      <p:sp>
        <p:nvSpPr>
          <p:cNvPr id="18" name="Text 15"/>
          <p:cNvSpPr txBox="1"/>
          <p:nvPr/>
        </p:nvSpPr>
        <p:spPr>
          <a:xfrm>
            <a:off x="8046720" y="353141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دکمهٔ بالای صفحه ویزارد را باز می‌کند.</a:t>
            </a:r>
            <a:endParaRPr lang="en-US" sz="1300" dirty="0"/>
          </a:p>
        </p:txBody>
      </p:sp>
      <p:sp>
        <p:nvSpPr>
          <p:cNvPr id="19" name="Shape 16"/>
          <p:cNvSpPr/>
          <p:nvPr/>
        </p:nvSpPr>
        <p:spPr>
          <a:xfrm>
            <a:off x="11393424" y="4117543"/>
            <a:ext cx="347472" cy="347472"/>
          </a:xfrm>
          <a:prstGeom prst="ellipse">
            <a:avLst/>
          </a:prstGeom>
          <a:solidFill>
            <a:srgbClr val="C9A227"/>
          </a:solidFill>
          <a:ln w="12700">
            <a:solidFill>
              <a:srgbClr val="C9A227"/>
            </a:solidFill>
            <a:prstDash val="solid"/>
          </a:ln>
        </p:spPr>
      </p:sp>
      <p:sp>
        <p:nvSpPr>
          <p:cNvPr id="20" name="Text 17"/>
          <p:cNvSpPr txBox="1"/>
          <p:nvPr/>
        </p:nvSpPr>
        <p:spPr>
          <a:xfrm>
            <a:off x="11393424" y="411754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txBox="1"/>
          <p:nvPr/>
        </p:nvSpPr>
        <p:spPr>
          <a:xfrm>
            <a:off x="8046720" y="411754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حذف</a:t>
            </a:r>
            <a:endParaRPr lang="en-US" sz="1400" dirty="0"/>
          </a:p>
        </p:txBody>
      </p:sp>
      <p:sp>
        <p:nvSpPr>
          <p:cNvPr id="22" name="Text 19"/>
          <p:cNvSpPr txBox="1"/>
          <p:nvPr/>
        </p:nvSpPr>
        <p:spPr>
          <a:xfrm>
            <a:off x="8046720" y="4446727"/>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فقط پیش‌نویس و جایگزین‌شده حذف می‌شوند.</a:t>
            </a:r>
            <a:endParaRPr lang="en-US" sz="1300" dirty="0"/>
          </a:p>
        </p:txBody>
      </p:sp>
      <p:sp>
        <p:nvSpPr>
          <p:cNvPr id="23" name="Text 2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۷ — ویزارد تهیهٔ صورت‌ها</a:t>
            </a:r>
            <a:endParaRPr lang="en-US" sz="26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txBox="1"/>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txBox="1"/>
          <p:nvPr/>
        </p:nvSpPr>
        <p:spPr>
          <a:xfrm>
            <a:off x="8119872"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مجموعه و دوره</a:t>
            </a:r>
            <a:endParaRPr lang="en-US" sz="1500" dirty="0"/>
          </a:p>
        </p:txBody>
      </p:sp>
      <p:sp>
        <p:nvSpPr>
          <p:cNvPr id="6" name="Shape 4"/>
          <p:cNvSpPr/>
          <p:nvPr/>
        </p:nvSpPr>
        <p:spPr>
          <a:xfrm>
            <a:off x="8119872" y="1691640"/>
            <a:ext cx="3657600" cy="2880360"/>
          </a:xfrm>
          <a:prstGeom prst="roundRect">
            <a:avLst>
              <a:gd name="adj" fmla="val 2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05">    </p:cNvPr>
          <p:cNvPicPr>
            <a:picLocks noChangeAspect="1"/>
          </p:cNvPicPr>
          <p:nvPr/>
        </p:nvPicPr>
        <p:blipFill>
          <a:blip r:embed="rId1"/>
          <a:stretch>
            <a:fillRect/>
          </a:stretch>
        </p:blipFill>
        <p:spPr>
          <a:xfrm>
            <a:off x="8165592" y="1930222"/>
            <a:ext cx="3566160" cy="2403196"/>
          </a:xfrm>
          <a:prstGeom prst="rect">
            <a:avLst/>
          </a:prstGeom>
        </p:spPr>
      </p:pic>
      <p:sp>
        <p:nvSpPr>
          <p:cNvPr id="8" name="Text 5"/>
          <p:cNvSpPr txBox="1"/>
          <p:nvPr/>
        </p:nvSpPr>
        <p:spPr>
          <a:xfrm>
            <a:off x="8119872" y="4754880"/>
            <a:ext cx="3657600" cy="155448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مجموعهٔ صورت، سال مالی و «پایان دوره» (از ابتدای سال تا پایان آن ماه).</a:t>
            </a:r>
            <a:endParaRPr lang="en-US" sz="130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txBox="1"/>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4265676"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دامنه و اسناد</a:t>
            </a:r>
            <a:endParaRPr lang="en-US" sz="1500" dirty="0"/>
          </a:p>
        </p:txBody>
      </p:sp>
      <p:sp>
        <p:nvSpPr>
          <p:cNvPr id="12" name="Shape 9"/>
          <p:cNvSpPr/>
          <p:nvPr/>
        </p:nvSpPr>
        <p:spPr>
          <a:xfrm>
            <a:off x="4265676" y="1691640"/>
            <a:ext cx="3657600" cy="2880360"/>
          </a:xfrm>
          <a:prstGeom prst="roundRect">
            <a:avLst>
              <a:gd name="adj" fmla="val 2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3" name="Image 1" descr="fs06">    </p:cNvPr>
          <p:cNvPicPr>
            <a:picLocks noChangeAspect="1"/>
          </p:cNvPicPr>
          <p:nvPr/>
        </p:nvPicPr>
        <p:blipFill>
          <a:blip r:embed="rId2"/>
          <a:stretch>
            <a:fillRect/>
          </a:stretch>
        </p:blipFill>
        <p:spPr>
          <a:xfrm>
            <a:off x="4311396" y="1930222"/>
            <a:ext cx="3566160" cy="2403196"/>
          </a:xfrm>
          <a:prstGeom prst="rect">
            <a:avLst/>
          </a:prstGeom>
        </p:spPr>
      </p:pic>
      <p:sp>
        <p:nvSpPr>
          <p:cNvPr id="14" name="Text 10"/>
          <p:cNvSpPr txBox="1"/>
          <p:nvPr/>
        </p:nvSpPr>
        <p:spPr>
          <a:xfrm>
            <a:off x="4265676" y="4754880"/>
            <a:ext cx="3657600" cy="155448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صورت ترکیبی (همهٔ زیرمجموعه‌ها) یا جداگانه؛ در ترکیبی «گروه واحدها» (بیمه‌ای، درمانی یا ستادی) هم قابل انتخاب است؛ حداقل وضعیت سند (پیش‌فرض تأیید دائم).</a:t>
            </a:r>
            <a:endParaRPr lang="en-US" sz="130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txBox="1"/>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txBox="1"/>
          <p:nvPr/>
        </p:nvSpPr>
        <p:spPr>
          <a:xfrm>
            <a:off x="411480"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گزینه‌ها و اجرا</a:t>
            </a:r>
            <a:endParaRPr lang="en-US" sz="1500" dirty="0"/>
          </a:p>
        </p:txBody>
      </p:sp>
      <p:sp>
        <p:nvSpPr>
          <p:cNvPr id="18" name="Shape 14"/>
          <p:cNvSpPr/>
          <p:nvPr/>
        </p:nvSpPr>
        <p:spPr>
          <a:xfrm>
            <a:off x="411480" y="1691640"/>
            <a:ext cx="3657600" cy="2880360"/>
          </a:xfrm>
          <a:prstGeom prst="roundRect">
            <a:avLst>
              <a:gd name="adj" fmla="val 254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9" name="Image 2" descr="fs07">    </p:cNvPr>
          <p:cNvPicPr>
            <a:picLocks noChangeAspect="1"/>
          </p:cNvPicPr>
          <p:nvPr/>
        </p:nvPicPr>
        <p:blipFill>
          <a:blip r:embed="rId3"/>
          <a:stretch>
            <a:fillRect/>
          </a:stretch>
        </p:blipFill>
        <p:spPr>
          <a:xfrm>
            <a:off x="457200" y="1904467"/>
            <a:ext cx="3566160" cy="2454707"/>
          </a:xfrm>
          <a:prstGeom prst="rect">
            <a:avLst/>
          </a:prstGeom>
        </p:spPr>
      </p:pic>
      <p:sp>
        <p:nvSpPr>
          <p:cNvPr id="20" name="Text 15"/>
          <p:cNvSpPr txBox="1"/>
          <p:nvPr/>
        </p:nvSpPr>
        <p:spPr>
          <a:xfrm>
            <a:off x="411480" y="4754880"/>
            <a:ext cx="3657600" cy="155448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ستون سال قبل، «تجدید ارائه‌شده»، تلفیق با شرکت‌های تابعه، اجرا در پس‌زمینه و شمارهٔ اولین یادداشت ⇐ «تهیهٔ صورت‌ها»؛ «ذخیره به‌عنوان پیش‌فرض» تنظیمات را نگه می‌دارد.</a:t>
            </a:r>
            <a:endParaRPr lang="en-US" sz="1300" dirty="0"/>
          </a:p>
        </p:txBody>
      </p:sp>
      <p:sp>
        <p:nvSpPr>
          <p:cNvPr id="21"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۸ — مشاهدهٔ صورت مالی</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08">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قالب رسمی</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عنوان سه‌سطری، ستون یادداشت، سال جاری و قبل، خط جمع و پرانتز برای منفی.</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ابزارها</a:t>
            </a:r>
            <a:endParaRPr lang="en-US" sz="1400" dirty="0"/>
          </a:p>
        </p:txBody>
      </p:sp>
      <p:sp>
        <p:nvSpPr>
          <p:cNvPr id="12" name="Text 9"/>
          <p:cNvSpPr txBox="1"/>
          <p:nvPr/>
        </p:nvSpPr>
        <p:spPr>
          <a:xfrm>
            <a:off x="8046720" y="2433218"/>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واحد مبلغ، تغییرات، تحلیل عمودی، فشرده و جستجو؛ خروجی Excel، Word یادداشت‌ها، XBRL و «بستهٔ رسمی / PDF».</a:t>
            </a:r>
            <a:endParaRPr lang="en-US" sz="1300" dirty="0"/>
          </a:p>
        </p:txBody>
      </p:sp>
      <p:sp>
        <p:nvSpPr>
          <p:cNvPr id="13" name="Shape 10"/>
          <p:cNvSpPr/>
          <p:nvPr/>
        </p:nvSpPr>
        <p:spPr>
          <a:xfrm>
            <a:off x="11393424" y="3239262"/>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239262"/>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239262"/>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زبانه‌ها</a:t>
            </a:r>
            <a:endParaRPr lang="en-US" sz="1400" dirty="0"/>
          </a:p>
        </p:txBody>
      </p:sp>
      <p:sp>
        <p:nvSpPr>
          <p:cNvPr id="16" name="Text 13"/>
          <p:cNvSpPr txBox="1"/>
          <p:nvPr/>
        </p:nvSpPr>
        <p:spPr>
          <a:xfrm>
            <a:off x="8046720" y="3568446"/>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صورت، یادداشت‌ها، کنترل‌ها و «کاربرگ ترکیب / تلفیق».</a:t>
            </a:r>
            <a:endParaRPr lang="en-US" sz="1300" dirty="0"/>
          </a:p>
        </p:txBody>
      </p:sp>
      <p:sp>
        <p:nvSpPr>
          <p:cNvPr id="17" name="Shape 14"/>
          <p:cNvSpPr/>
          <p:nvPr/>
        </p:nvSpPr>
        <p:spPr>
          <a:xfrm>
            <a:off x="11393424" y="4154576"/>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154576"/>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154576"/>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اثر انگشت</a:t>
            </a:r>
            <a:endParaRPr lang="en-US" sz="1400" dirty="0"/>
          </a:p>
        </p:txBody>
      </p:sp>
      <p:sp>
        <p:nvSpPr>
          <p:cNvPr id="20" name="Text 17"/>
          <p:cNvSpPr txBox="1"/>
          <p:nvPr/>
        </p:nvSpPr>
        <p:spPr>
          <a:xfrm>
            <a:off x="8046720" y="4483760"/>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کد Hash محتوا برای اطمینان از تغییرنکردن اعداد.</a:t>
            </a:r>
            <a:endParaRPr lang="en-US" sz="1300" dirty="0"/>
          </a:p>
        </p:txBody>
      </p:sp>
      <p:sp>
        <p:nvSpPr>
          <p:cNvPr id="21" name="Shape 18"/>
          <p:cNvSpPr/>
          <p:nvPr/>
        </p:nvSpPr>
        <p:spPr>
          <a:xfrm>
            <a:off x="11393424" y="5069891"/>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069891"/>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069891"/>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شمارهٔ یادداشت</a:t>
            </a:r>
            <a:endParaRPr lang="en-US" sz="1400" dirty="0"/>
          </a:p>
        </p:txBody>
      </p:sp>
      <p:sp>
        <p:nvSpPr>
          <p:cNvPr id="24" name="Text 21"/>
          <p:cNvSpPr txBox="1"/>
          <p:nvPr/>
        </p:nvSpPr>
        <p:spPr>
          <a:xfrm>
            <a:off x="8046720" y="5399075"/>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کلیک روی شماره همان یادداشت را باز می‌کند.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یادداشت‌های عددی و کنترل جمع</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10">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یادداشت</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ریز ردیف صورت؛ مثلاً یادداشت ۵ «موجودی نقد» با صندوق، بانک و تنخواه.</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شماره‌گذاری</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خودکار به ترتیب ارائه؛ عنوان‌های داخل یادداشت ۵-۱، ۵-۲ می‌شوند.</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 V-08</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برچسب سبز «جمع یادداشت = ردیف صورت»؛ قرمز یعنی مغایرت و مانع ارسال.</a:t>
            </a:r>
            <a:endParaRPr lang="en-US" sz="1300" dirty="0"/>
          </a:p>
        </p:txBody>
      </p:sp>
      <p:sp>
        <p:nvSpPr>
          <p:cNvPr id="17" name="Text 14"/>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۹ — Drill-down از عدد صورت تا سند</a:t>
            </a:r>
            <a:endParaRPr lang="en-US" sz="26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txBox="1"/>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txBox="1"/>
          <p:nvPr/>
        </p:nvSpPr>
        <p:spPr>
          <a:xfrm>
            <a:off x="8119872"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معین‌های تشکیل‌دهنده</a:t>
            </a:r>
            <a:endParaRPr lang="en-US" sz="1500" dirty="0"/>
          </a:p>
        </p:txBody>
      </p:sp>
      <p:sp>
        <p:nvSpPr>
          <p:cNvPr id="6" name="Shape 4"/>
          <p:cNvSpPr/>
          <p:nvPr/>
        </p:nvSpPr>
        <p:spPr>
          <a:xfrm>
            <a:off x="8119872" y="1691640"/>
            <a:ext cx="3657600" cy="3657600"/>
          </a:xfrm>
          <a:prstGeom prst="roundRect">
            <a:avLst>
              <a:gd name="adj" fmla="val 200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12">    </p:cNvPr>
          <p:cNvPicPr>
            <a:picLocks noChangeAspect="1"/>
          </p:cNvPicPr>
          <p:nvPr/>
        </p:nvPicPr>
        <p:blipFill>
          <a:blip r:embed="rId1"/>
          <a:stretch>
            <a:fillRect/>
          </a:stretch>
        </p:blipFill>
        <p:spPr>
          <a:xfrm>
            <a:off x="8165592" y="2403841"/>
            <a:ext cx="3566160" cy="2233199"/>
          </a:xfrm>
          <a:prstGeom prst="rect">
            <a:avLst/>
          </a:prstGeom>
        </p:spPr>
      </p:pic>
      <p:sp>
        <p:nvSpPr>
          <p:cNvPr id="8" name="Text 5"/>
          <p:cNvSpPr txBox="1"/>
          <p:nvPr/>
        </p:nvSpPr>
        <p:spPr>
          <a:xfrm>
            <a:off x="8119872" y="5532120"/>
            <a:ext cx="3657600" cy="7772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هر مبلغ ردیف «حساب» کلیک کنید (یا Enter)؛ پنل کناری سهم هر معین را نشان می‌دهد.</a:t>
            </a:r>
            <a:endParaRPr lang="en-US" sz="125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txBox="1"/>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4265676"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تفکیک به واحدها</a:t>
            </a:r>
            <a:endParaRPr lang="en-US" sz="1500" dirty="0"/>
          </a:p>
        </p:txBody>
      </p:sp>
      <p:sp>
        <p:nvSpPr>
          <p:cNvPr id="12" name="Shape 9"/>
          <p:cNvSpPr/>
          <p:nvPr/>
        </p:nvSpPr>
        <p:spPr>
          <a:xfrm>
            <a:off x="4265676" y="1691640"/>
            <a:ext cx="3657600" cy="3657600"/>
          </a:xfrm>
          <a:prstGeom prst="roundRect">
            <a:avLst>
              <a:gd name="adj" fmla="val 200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3" name="Image 1" descr="fs12b">    </p:cNvPr>
          <p:cNvPicPr>
            <a:picLocks noChangeAspect="1"/>
          </p:cNvPicPr>
          <p:nvPr/>
        </p:nvPicPr>
        <p:blipFill>
          <a:blip r:embed="rId2"/>
          <a:stretch>
            <a:fillRect/>
          </a:stretch>
        </p:blipFill>
        <p:spPr>
          <a:xfrm>
            <a:off x="4311396" y="2254888"/>
            <a:ext cx="3566160" cy="2531104"/>
          </a:xfrm>
          <a:prstGeom prst="rect">
            <a:avLst/>
          </a:prstGeom>
        </p:spPr>
      </p:pic>
      <p:sp>
        <p:nvSpPr>
          <p:cNvPr id="14" name="Text 10"/>
          <p:cNvSpPr txBox="1"/>
          <p:nvPr/>
        </p:nvSpPr>
        <p:spPr>
          <a:xfrm>
            <a:off x="4265676" y="5532120"/>
            <a:ext cx="3657600" cy="7772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«به تفکیک واحد» سهم هر اداره کل را می‌دهد؛ با مسیر بالای پنل برگردید.</a:t>
            </a:r>
            <a:endParaRPr lang="en-US" sz="125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txBox="1"/>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txBox="1"/>
          <p:nvPr/>
        </p:nvSpPr>
        <p:spPr>
          <a:xfrm>
            <a:off x="411480" y="1188720"/>
            <a:ext cx="3154680" cy="384048"/>
          </a:xfrm>
          <a:prstGeom prst="rect">
            <a:avLst/>
          </a:prstGeom>
          <a:noFill/>
          <a:ln/>
        </p:spPr>
        <p:txBody>
          <a:bodyPr wrap="square" lIns="0" tIns="0" rIns="0" bIns="0" rtlCol="0" anchor="ctr"/>
          <a:lstStyle/>
          <a:p>
            <a:pPr rtl="1" algn="r" indent="0" marL="0">
              <a:buNone/>
            </a:pPr>
            <a:r>
              <a:rPr lang="en-US" sz="1500" b="1" dirty="0">
                <a:solidFill>
                  <a:srgbClr val="1B2A49"/>
                </a:solidFill>
                <a:latin typeface="Tahoma" pitchFamily="34" charset="0"/>
                <a:ea typeface="Tahoma" pitchFamily="34" charset="-122"/>
                <a:cs typeface="Tahoma" pitchFamily="34" charset="-120"/>
              </a:rPr>
              <a:t>اسناد حسابداری</a:t>
            </a:r>
            <a:endParaRPr lang="en-US" sz="1500" dirty="0"/>
          </a:p>
        </p:txBody>
      </p:sp>
      <p:sp>
        <p:nvSpPr>
          <p:cNvPr id="18" name="Shape 14"/>
          <p:cNvSpPr/>
          <p:nvPr/>
        </p:nvSpPr>
        <p:spPr>
          <a:xfrm>
            <a:off x="411480" y="1691640"/>
            <a:ext cx="3657600" cy="3657600"/>
          </a:xfrm>
          <a:prstGeom prst="roundRect">
            <a:avLst>
              <a:gd name="adj" fmla="val 2000"/>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9" name="Image 2" descr="fs12d">    </p:cNvPr>
          <p:cNvPicPr>
            <a:picLocks noChangeAspect="1"/>
          </p:cNvPicPr>
          <p:nvPr/>
        </p:nvPicPr>
        <p:blipFill>
          <a:blip r:embed="rId3"/>
          <a:stretch>
            <a:fillRect/>
          </a:stretch>
        </p:blipFill>
        <p:spPr>
          <a:xfrm>
            <a:off x="457200" y="1842823"/>
            <a:ext cx="3566160" cy="3355235"/>
          </a:xfrm>
          <a:prstGeom prst="rect">
            <a:avLst/>
          </a:prstGeom>
        </p:spPr>
      </p:pic>
      <p:sp>
        <p:nvSpPr>
          <p:cNvPr id="20" name="Text 15"/>
          <p:cNvSpPr txBox="1"/>
          <p:nvPr/>
        </p:nvSpPr>
        <p:spPr>
          <a:xfrm>
            <a:off x="411480" y="5532120"/>
            <a:ext cx="3657600" cy="7772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«اسناد …» بزنید: ریز اسناد با جمع بدهکار/بستانکار؛ آیکون کنار هر ردیف سند را باز می‌کند. هر سطح Excel دارد.</a:t>
            </a:r>
            <a:endParaRPr lang="en-US" sz="1250" dirty="0"/>
          </a:p>
        </p:txBody>
      </p:sp>
      <p:sp>
        <p:nvSpPr>
          <p:cNvPr id="21" name="Text 1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۱۰ — کنترل‌ها، مقادیر دستی و گردش تأیید</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n13">    </p:cNvPr>
          <p:cNvPicPr>
            <a:picLocks noChangeAspect="1"/>
          </p:cNvPicPr>
          <p:nvPr/>
        </p:nvPicPr>
        <p:blipFill>
          <a:blip r:embed="rId1"/>
          <a:stretch>
            <a:fillRect/>
          </a:stretch>
        </p:blipFill>
        <p:spPr>
          <a:xfrm>
            <a:off x="691978" y="1216152"/>
            <a:ext cx="6845643"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کنترل‌ها</a:t>
            </a:r>
            <a:endParaRPr lang="en-US" sz="1400" dirty="0"/>
          </a:p>
        </p:txBody>
      </p:sp>
      <p:sp>
        <p:nvSpPr>
          <p:cNvPr id="8" name="Text 5"/>
          <p:cNvSpPr txBox="1"/>
          <p:nvPr/>
        </p:nvSpPr>
        <p:spPr>
          <a:xfrm>
            <a:off x="8046720" y="151790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کنترل با شدت، نتیجه و اختلاف؛ مسدودکنندهٔ ناموفق جلوی «ارسال برای بازبینی» را می‌گیرد.</a:t>
            </a:r>
            <a:endParaRPr lang="en-US" sz="1300" dirty="0"/>
          </a:p>
        </p:txBody>
      </p:sp>
      <p:sp>
        <p:nvSpPr>
          <p:cNvPr id="9" name="Shape 6"/>
          <p:cNvSpPr/>
          <p:nvPr/>
        </p:nvSpPr>
        <p:spPr>
          <a:xfrm>
            <a:off x="11393424" y="2323948"/>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323948"/>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323948"/>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مقادیر دستی</a:t>
            </a:r>
            <a:endParaRPr lang="en-US" sz="1400" dirty="0"/>
          </a:p>
        </p:txBody>
      </p:sp>
      <p:sp>
        <p:nvSpPr>
          <p:cNvPr id="12" name="Text 9"/>
          <p:cNvSpPr txBox="1"/>
          <p:nvPr/>
        </p:nvSpPr>
        <p:spPr>
          <a:xfrm>
            <a:off x="8046720" y="2653132"/>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ردیف‌های «مقدار دستی» را با دلیل اجباری وارد کنید؛ اجرای تازه ساخته می‌شود.</a:t>
            </a:r>
            <a:endParaRPr lang="en-US" sz="1300" dirty="0"/>
          </a:p>
        </p:txBody>
      </p:sp>
      <p:sp>
        <p:nvSpPr>
          <p:cNvPr id="13" name="Shape 10"/>
          <p:cNvSpPr/>
          <p:nvPr/>
        </p:nvSpPr>
        <p:spPr>
          <a:xfrm>
            <a:off x="11393424" y="3459175"/>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459175"/>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459175"/>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گردش</a:t>
            </a:r>
            <a:endParaRPr lang="en-US" sz="1400" dirty="0"/>
          </a:p>
        </p:txBody>
      </p:sp>
      <p:sp>
        <p:nvSpPr>
          <p:cNvPr id="16" name="Text 13"/>
          <p:cNvSpPr txBox="1"/>
          <p:nvPr/>
        </p:nvSpPr>
        <p:spPr>
          <a:xfrm>
            <a:off x="8046720" y="3788359"/>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پیش‌نویس ⇐ بازبینی ⇐ تأیید (یک یا چند مرحله) ⇐ انتشار؛ برگشت با دلیل.</a:t>
            </a:r>
            <a:endParaRPr lang="en-US" sz="1300" dirty="0"/>
          </a:p>
        </p:txBody>
      </p:sp>
      <p:sp>
        <p:nvSpPr>
          <p:cNvPr id="17" name="Shape 14"/>
          <p:cNvSpPr/>
          <p:nvPr/>
        </p:nvSpPr>
        <p:spPr>
          <a:xfrm>
            <a:off x="11393424" y="4374490"/>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437449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437449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تفکیک وظایف</a:t>
            </a:r>
            <a:endParaRPr lang="en-US" sz="1400" dirty="0"/>
          </a:p>
        </p:txBody>
      </p:sp>
      <p:sp>
        <p:nvSpPr>
          <p:cNvPr id="20" name="Text 17"/>
          <p:cNvSpPr txBox="1"/>
          <p:nvPr/>
        </p:nvSpPr>
        <p:spPr>
          <a:xfrm>
            <a:off x="8046720" y="4703674"/>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تهیه‌کننده تأیید و منتشر نمی‌کند؛ انتشار، نسخهٔ منتشرشدهٔ قبلی همان دوره را «جایگزین‌شده» می‌کند.</a:t>
            </a:r>
            <a:endParaRPr lang="en-US" sz="1300" dirty="0"/>
          </a:p>
        </p:txBody>
      </p:sp>
      <p:sp>
        <p:nvSpPr>
          <p:cNvPr id="21" name="Shape 18"/>
          <p:cNvSpPr/>
          <p:nvPr/>
        </p:nvSpPr>
        <p:spPr>
          <a:xfrm>
            <a:off x="11393424" y="5509717"/>
            <a:ext cx="347472" cy="347472"/>
          </a:xfrm>
          <a:prstGeom prst="ellipse">
            <a:avLst/>
          </a:prstGeom>
          <a:solidFill>
            <a:srgbClr val="C9A227"/>
          </a:solidFill>
          <a:ln w="12700">
            <a:solidFill>
              <a:srgbClr val="C9A227"/>
            </a:solidFill>
            <a:prstDash val="solid"/>
          </a:ln>
        </p:spPr>
      </p:sp>
      <p:sp>
        <p:nvSpPr>
          <p:cNvPr id="22" name="Text 19"/>
          <p:cNvSpPr txBox="1"/>
          <p:nvPr/>
        </p:nvSpPr>
        <p:spPr>
          <a:xfrm>
            <a:off x="11393424" y="5509717"/>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txBox="1"/>
          <p:nvPr/>
        </p:nvSpPr>
        <p:spPr>
          <a:xfrm>
            <a:off x="8046720" y="5509717"/>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کهنگی و مقایسه</a:t>
            </a:r>
            <a:endParaRPr lang="en-US" sz="1400" dirty="0"/>
          </a:p>
        </p:txBody>
      </p:sp>
      <p:sp>
        <p:nvSpPr>
          <p:cNvPr id="24" name="Text 21"/>
          <p:cNvSpPr txBox="1"/>
          <p:nvPr/>
        </p:nvSpPr>
        <p:spPr>
          <a:xfrm>
            <a:off x="8046720" y="5838901"/>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نوار زرد یعنی اسناد بعد از اجرا عوض شده‌اند؛ «مقایسه با اجرای دیگر» تفاوت ردیف‌ها را می‌دهد.</a:t>
            </a:r>
            <a:endParaRPr lang="en-US" sz="1300" dirty="0"/>
          </a:p>
        </p:txBody>
      </p:sp>
      <p:sp>
        <p:nvSpPr>
          <p:cNvPr id="25" name="Text 2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۱۱ — مراحل تأیید و بستن دوره</a:t>
            </a:r>
            <a:endParaRPr lang="en-US" sz="2600" dirty="0"/>
          </a:p>
        </p:txBody>
      </p:sp>
      <p:sp>
        <p:nvSpPr>
          <p:cNvPr id="3" name="Shape 1"/>
          <p:cNvSpPr/>
          <p:nvPr/>
        </p:nvSpPr>
        <p:spPr>
          <a:xfrm>
            <a:off x="7653528" y="896112"/>
            <a:ext cx="412394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گردش تأیید صورت‌ها / بستن دوره</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گردش تأیید صورت‌ها</a:t>
            </a:r>
            <a:endParaRPr lang="en-US" sz="1200" dirty="0"/>
          </a:p>
        </p:txBody>
      </p:sp>
      <p:sp>
        <p:nvSpPr>
          <p:cNvPr id="6" name="Shape 4"/>
          <p:cNvSpPr/>
          <p:nvPr/>
        </p:nvSpPr>
        <p:spPr>
          <a:xfrm>
            <a:off x="6208776" y="1618488"/>
            <a:ext cx="5568696" cy="2411730"/>
          </a:xfrm>
          <a:prstGeom prst="roundRect">
            <a:avLst>
              <a:gd name="adj" fmla="val 303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02s">    </p:cNvPr>
          <p:cNvPicPr>
            <a:picLocks noChangeAspect="1"/>
          </p:cNvPicPr>
          <p:nvPr/>
        </p:nvPicPr>
        <p:blipFill>
          <a:blip r:embed="rId1"/>
          <a:stretch>
            <a:fillRect/>
          </a:stretch>
        </p:blipFill>
        <p:spPr>
          <a:xfrm>
            <a:off x="6254496" y="1728902"/>
            <a:ext cx="5477256" cy="2190902"/>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بستن دوره</a:t>
            </a:r>
            <a:endParaRPr lang="en-US" sz="1200" dirty="0"/>
          </a:p>
        </p:txBody>
      </p:sp>
      <p:sp>
        <p:nvSpPr>
          <p:cNvPr id="9" name="Shape 6"/>
          <p:cNvSpPr/>
          <p:nvPr/>
        </p:nvSpPr>
        <p:spPr>
          <a:xfrm>
            <a:off x="411480" y="1618488"/>
            <a:ext cx="5568696" cy="2411730"/>
          </a:xfrm>
          <a:prstGeom prst="roundRect">
            <a:avLst>
              <a:gd name="adj" fmla="val 3033"/>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3s">    </p:cNvPr>
          <p:cNvPicPr>
            <a:picLocks noChangeAspect="1"/>
          </p:cNvPicPr>
          <p:nvPr/>
        </p:nvPicPr>
        <p:blipFill>
          <a:blip r:embed="rId2"/>
          <a:stretch>
            <a:fillRect/>
          </a:stretch>
        </p:blipFill>
        <p:spPr>
          <a:xfrm>
            <a:off x="457200" y="1683258"/>
            <a:ext cx="5477256" cy="2282190"/>
          </a:xfrm>
          <a:prstGeom prst="rect">
            <a:avLst/>
          </a:prstGeom>
        </p:spPr>
      </p:pic>
      <p:sp>
        <p:nvSpPr>
          <p:cNvPr id="11" name="Shape 7"/>
          <p:cNvSpPr/>
          <p:nvPr/>
        </p:nvSpPr>
        <p:spPr>
          <a:xfrm>
            <a:off x="9614002" y="4213098"/>
            <a:ext cx="2163470" cy="1346454"/>
          </a:xfrm>
          <a:prstGeom prst="roundRect">
            <a:avLst>
              <a:gd name="adj" fmla="val 5433"/>
            </a:avLst>
          </a:prstGeom>
          <a:solidFill>
            <a:srgbClr val="FFFFFF"/>
          </a:solidFill>
          <a:ln w="6350">
            <a:solidFill>
              <a:srgbClr val="D9DEE7"/>
            </a:solidFill>
            <a:prstDash val="solid"/>
          </a:ln>
        </p:spPr>
      </p:sp>
      <p:sp>
        <p:nvSpPr>
          <p:cNvPr id="12" name="Shape 8"/>
          <p:cNvSpPr/>
          <p:nvPr/>
        </p:nvSpPr>
        <p:spPr>
          <a:xfrm>
            <a:off x="11347704" y="4304538"/>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28625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مراحل تأیید</a:t>
            </a:r>
            <a:endParaRPr lang="en-US" sz="1300" dirty="0"/>
          </a:p>
        </p:txBody>
      </p:sp>
      <p:sp>
        <p:nvSpPr>
          <p:cNvPr id="15" name="Text 11"/>
          <p:cNvSpPr txBox="1"/>
          <p:nvPr/>
        </p:nvSpPr>
        <p:spPr>
          <a:xfrm>
            <a:off x="9723730" y="4688586"/>
            <a:ext cx="1944014" cy="81610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برای هر مجموعه، مراحل (بازبین، مدیرکل، معاون…) را با کد کاربری تأییدکنندگان تعریف کنید.</a:t>
            </a:r>
            <a:endParaRPr lang="en-US" sz="1150" dirty="0"/>
          </a:p>
        </p:txBody>
      </p:sp>
      <p:sp>
        <p:nvSpPr>
          <p:cNvPr id="16" name="Shape 12"/>
          <p:cNvSpPr/>
          <p:nvPr/>
        </p:nvSpPr>
        <p:spPr>
          <a:xfrm>
            <a:off x="7313371" y="4213098"/>
            <a:ext cx="2163470" cy="1346454"/>
          </a:xfrm>
          <a:prstGeom prst="roundRect">
            <a:avLst>
              <a:gd name="adj" fmla="val 5433"/>
            </a:avLst>
          </a:prstGeom>
          <a:solidFill>
            <a:srgbClr val="FFFFFF"/>
          </a:solidFill>
          <a:ln w="6350">
            <a:solidFill>
              <a:srgbClr val="D9DEE7"/>
            </a:solidFill>
            <a:prstDash val="solid"/>
          </a:ln>
        </p:spPr>
      </p:sp>
      <p:sp>
        <p:nvSpPr>
          <p:cNvPr id="17" name="Shape 13"/>
          <p:cNvSpPr/>
          <p:nvPr/>
        </p:nvSpPr>
        <p:spPr>
          <a:xfrm>
            <a:off x="9047074" y="4304538"/>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28625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مرحله‌به‌مرحله</a:t>
            </a:r>
            <a:endParaRPr lang="en-US" sz="1300" dirty="0"/>
          </a:p>
        </p:txBody>
      </p:sp>
      <p:sp>
        <p:nvSpPr>
          <p:cNvPr id="20" name="Text 16"/>
          <p:cNvSpPr txBox="1"/>
          <p:nvPr/>
        </p:nvSpPr>
        <p:spPr>
          <a:xfrm>
            <a:off x="7423099" y="4688586"/>
            <a:ext cx="1944014" cy="81610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دکمهٔ «تأیید» نام مرحلهٔ جاری را دارد؛ یک نفر دو مرحلهٔ یک اجرا را تأیید نمی‌کند.</a:t>
            </a:r>
            <a:endParaRPr lang="en-US" sz="1150" dirty="0"/>
          </a:p>
        </p:txBody>
      </p:sp>
      <p:sp>
        <p:nvSpPr>
          <p:cNvPr id="21" name="Shape 17"/>
          <p:cNvSpPr/>
          <p:nvPr/>
        </p:nvSpPr>
        <p:spPr>
          <a:xfrm>
            <a:off x="5012741" y="4213098"/>
            <a:ext cx="2163470" cy="1346454"/>
          </a:xfrm>
          <a:prstGeom prst="roundRect">
            <a:avLst>
              <a:gd name="adj" fmla="val 5433"/>
            </a:avLst>
          </a:prstGeom>
          <a:solidFill>
            <a:srgbClr val="FFFFFF"/>
          </a:solidFill>
          <a:ln w="6350">
            <a:solidFill>
              <a:srgbClr val="D9DEE7"/>
            </a:solidFill>
            <a:prstDash val="solid"/>
          </a:ln>
        </p:spPr>
      </p:sp>
      <p:sp>
        <p:nvSpPr>
          <p:cNvPr id="22" name="Shape 18"/>
          <p:cNvSpPr/>
          <p:nvPr/>
        </p:nvSpPr>
        <p:spPr>
          <a:xfrm>
            <a:off x="6746443" y="4304538"/>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28625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بستن دوره</a:t>
            </a:r>
            <a:endParaRPr lang="en-US" sz="1300" dirty="0"/>
          </a:p>
        </p:txBody>
      </p:sp>
      <p:sp>
        <p:nvSpPr>
          <p:cNvPr id="25" name="Text 21"/>
          <p:cNvSpPr txBox="1"/>
          <p:nvPr/>
        </p:nvSpPr>
        <p:spPr>
          <a:xfrm>
            <a:off x="5122469" y="4688586"/>
            <a:ext cx="1944014" cy="81610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باز ⇐ بستهٔ موقت ⇐ قفل؛ قفل هر واحد، زیرواحدهایش را هم قفل‌شده حساب می‌کند.</a:t>
            </a:r>
            <a:endParaRPr lang="en-US" sz="1150" dirty="0"/>
          </a:p>
        </p:txBody>
      </p:sp>
      <p:sp>
        <p:nvSpPr>
          <p:cNvPr id="26" name="Shape 22"/>
          <p:cNvSpPr/>
          <p:nvPr/>
        </p:nvSpPr>
        <p:spPr>
          <a:xfrm>
            <a:off x="2712110" y="4213098"/>
            <a:ext cx="2163470" cy="1346454"/>
          </a:xfrm>
          <a:prstGeom prst="roundRect">
            <a:avLst>
              <a:gd name="adj" fmla="val 5433"/>
            </a:avLst>
          </a:prstGeom>
          <a:solidFill>
            <a:srgbClr val="FFFFFF"/>
          </a:solidFill>
          <a:ln w="6350">
            <a:solidFill>
              <a:srgbClr val="D9DEE7"/>
            </a:solidFill>
            <a:prstDash val="solid"/>
          </a:ln>
        </p:spPr>
      </p:sp>
      <p:sp>
        <p:nvSpPr>
          <p:cNvPr id="27" name="Shape 23"/>
          <p:cNvSpPr/>
          <p:nvPr/>
        </p:nvSpPr>
        <p:spPr>
          <a:xfrm>
            <a:off x="4445813" y="4304538"/>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28625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بازگشایی</a:t>
            </a:r>
            <a:endParaRPr lang="en-US" sz="1300" dirty="0"/>
          </a:p>
        </p:txBody>
      </p:sp>
      <p:sp>
        <p:nvSpPr>
          <p:cNvPr id="30" name="Text 26"/>
          <p:cNvSpPr txBox="1"/>
          <p:nvPr/>
        </p:nvSpPr>
        <p:spPr>
          <a:xfrm>
            <a:off x="2821838" y="4688586"/>
            <a:ext cx="1944014" cy="81610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بستهٔ موقت مستقیم باز می‌شود؛ دورهٔ قفل با «درخواست بازگشایی» و تأیید ستاد.</a:t>
            </a:r>
            <a:endParaRPr lang="en-US" sz="1150" dirty="0"/>
          </a:p>
        </p:txBody>
      </p:sp>
      <p:sp>
        <p:nvSpPr>
          <p:cNvPr id="31" name="Shape 27"/>
          <p:cNvSpPr/>
          <p:nvPr/>
        </p:nvSpPr>
        <p:spPr>
          <a:xfrm>
            <a:off x="411480" y="4213098"/>
            <a:ext cx="2163470" cy="1346454"/>
          </a:xfrm>
          <a:prstGeom prst="roundRect">
            <a:avLst>
              <a:gd name="adj" fmla="val 5433"/>
            </a:avLst>
          </a:prstGeom>
          <a:solidFill>
            <a:srgbClr val="FFFFFF"/>
          </a:solidFill>
          <a:ln w="6350">
            <a:solidFill>
              <a:srgbClr val="D9DEE7"/>
            </a:solidFill>
            <a:prstDash val="solid"/>
          </a:ln>
        </p:spPr>
      </p:sp>
      <p:sp>
        <p:nvSpPr>
          <p:cNvPr id="32" name="Shape 28"/>
          <p:cNvSpPr/>
          <p:nvPr/>
        </p:nvSpPr>
        <p:spPr>
          <a:xfrm>
            <a:off x="2145182" y="4304538"/>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28625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تاریخچه</a:t>
            </a:r>
            <a:endParaRPr lang="en-US" sz="1300" dirty="0"/>
          </a:p>
        </p:txBody>
      </p:sp>
      <p:sp>
        <p:nvSpPr>
          <p:cNvPr id="35" name="Text 31"/>
          <p:cNvSpPr txBox="1"/>
          <p:nvPr/>
        </p:nvSpPr>
        <p:spPr>
          <a:xfrm>
            <a:off x="521208" y="4688586"/>
            <a:ext cx="1944014" cy="81610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هر اقدام روی دوره با کاربر، زمان و دلیل در «تاریخچه» ثبت می‌شود.</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انتشار فقط وقتی ممکن است که دورهٔ همهٔ واحدهای دامنه «قفل» شده باشد (کنترل V-11). این قفل ثبت سند را نمی‌بندد.</a:t>
            </a:r>
            <a:endParaRPr lang="en-US" sz="1300" dirty="0"/>
          </a:p>
        </p:txBody>
      </p:sp>
      <p:sp>
        <p:nvSpPr>
          <p:cNvPr id="39" name="Text 35"/>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۱۲ — یادداشت‌های توضیحی</a:t>
            </a:r>
            <a:endParaRPr lang="en-US" sz="2600" dirty="0"/>
          </a:p>
        </p:txBody>
      </p:sp>
      <p:sp>
        <p:nvSpPr>
          <p:cNvPr id="3" name="Shape 1"/>
          <p:cNvSpPr/>
          <p:nvPr/>
        </p:nvSpPr>
        <p:spPr>
          <a:xfrm>
            <a:off x="8586216" y="896112"/>
            <a:ext cx="319125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یادداشت‌های توضیحی</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فهرست یادداشت‌ها و پیشرفت</a:t>
            </a:r>
            <a:endParaRPr lang="en-US" sz="1200" dirty="0"/>
          </a:p>
        </p:txBody>
      </p:sp>
      <p:sp>
        <p:nvSpPr>
          <p:cNvPr id="6" name="Shape 4"/>
          <p:cNvSpPr/>
          <p:nvPr/>
        </p:nvSpPr>
        <p:spPr>
          <a:xfrm>
            <a:off x="6208776" y="1618488"/>
            <a:ext cx="5568696" cy="2055952"/>
          </a:xfrm>
          <a:prstGeom prst="roundRect">
            <a:avLst>
              <a:gd name="adj" fmla="val 3558"/>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04s">    </p:cNvPr>
          <p:cNvPicPr>
            <a:picLocks noChangeAspect="1"/>
          </p:cNvPicPr>
          <p:nvPr/>
        </p:nvPicPr>
        <p:blipFill>
          <a:blip r:embed="rId1"/>
          <a:stretch>
            <a:fillRect/>
          </a:stretch>
        </p:blipFill>
        <p:spPr>
          <a:xfrm>
            <a:off x="6254496" y="1680337"/>
            <a:ext cx="5477256" cy="1932254"/>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یادداشت تازه و ویرایشگر</a:t>
            </a:r>
            <a:endParaRPr lang="en-US" sz="1200" dirty="0"/>
          </a:p>
        </p:txBody>
      </p:sp>
      <p:sp>
        <p:nvSpPr>
          <p:cNvPr id="9" name="Shape 6"/>
          <p:cNvSpPr/>
          <p:nvPr/>
        </p:nvSpPr>
        <p:spPr>
          <a:xfrm>
            <a:off x="411480" y="1618488"/>
            <a:ext cx="5568696" cy="2055952"/>
          </a:xfrm>
          <a:prstGeom prst="roundRect">
            <a:avLst>
              <a:gd name="adj" fmla="val 3558"/>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5s">    </p:cNvPr>
          <p:cNvPicPr>
            <a:picLocks noChangeAspect="1"/>
          </p:cNvPicPr>
          <p:nvPr/>
        </p:nvPicPr>
        <p:blipFill>
          <a:blip r:embed="rId2"/>
          <a:stretch>
            <a:fillRect/>
          </a:stretch>
        </p:blipFill>
        <p:spPr>
          <a:xfrm>
            <a:off x="457200" y="1764017"/>
            <a:ext cx="5477256" cy="1764894"/>
          </a:xfrm>
          <a:prstGeom prst="rect">
            <a:avLst/>
          </a:prstGeom>
        </p:spPr>
      </p:pic>
      <p:sp>
        <p:nvSpPr>
          <p:cNvPr id="11" name="Shape 7"/>
          <p:cNvSpPr/>
          <p:nvPr/>
        </p:nvSpPr>
        <p:spPr>
          <a:xfrm>
            <a:off x="9614002" y="3857320"/>
            <a:ext cx="2163470" cy="1702232"/>
          </a:xfrm>
          <a:prstGeom prst="roundRect">
            <a:avLst>
              <a:gd name="adj" fmla="val 4297"/>
            </a:avLst>
          </a:prstGeom>
          <a:solidFill>
            <a:srgbClr val="FFFFFF"/>
          </a:solidFill>
          <a:ln w="6350">
            <a:solidFill>
              <a:srgbClr val="D9DEE7"/>
            </a:solidFill>
            <a:prstDash val="solid"/>
          </a:ln>
        </p:spPr>
      </p:sp>
      <p:sp>
        <p:nvSpPr>
          <p:cNvPr id="12" name="Shape 8"/>
          <p:cNvSpPr/>
          <p:nvPr/>
        </p:nvSpPr>
        <p:spPr>
          <a:xfrm>
            <a:off x="11347704" y="3948760"/>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نوع یادداشت</a:t>
            </a:r>
            <a:endParaRPr lang="en-US" sz="1300" dirty="0"/>
          </a:p>
        </p:txBody>
      </p:sp>
      <p:sp>
        <p:nvSpPr>
          <p:cNvPr id="15" name="Text 11"/>
          <p:cNvSpPr txBox="1"/>
          <p:nvPr/>
        </p:nvSpPr>
        <p:spPr>
          <a:xfrm>
            <a:off x="9723730"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مستقل (تاریخچه، مبنا، رویه‌ها) یا همراه یک یادداشت عددی که زیر جدول آن می‌آید.</a:t>
            </a:r>
            <a:endParaRPr lang="en-US" sz="1150" dirty="0"/>
          </a:p>
        </p:txBody>
      </p:sp>
      <p:sp>
        <p:nvSpPr>
          <p:cNvPr id="16" name="Shape 12"/>
          <p:cNvSpPr/>
          <p:nvPr/>
        </p:nvSpPr>
        <p:spPr>
          <a:xfrm>
            <a:off x="7313371" y="3857320"/>
            <a:ext cx="2163470" cy="1702232"/>
          </a:xfrm>
          <a:prstGeom prst="roundRect">
            <a:avLst>
              <a:gd name="adj" fmla="val 4297"/>
            </a:avLst>
          </a:prstGeom>
          <a:solidFill>
            <a:srgbClr val="FFFFFF"/>
          </a:solidFill>
          <a:ln w="6350">
            <a:solidFill>
              <a:srgbClr val="D9DEE7"/>
            </a:solidFill>
            <a:prstDash val="solid"/>
          </a:ln>
        </p:spPr>
      </p:sp>
      <p:sp>
        <p:nvSpPr>
          <p:cNvPr id="17" name="Shape 13"/>
          <p:cNvSpPr/>
          <p:nvPr/>
        </p:nvSpPr>
        <p:spPr>
          <a:xfrm>
            <a:off x="9047074" y="3948760"/>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ویرایشگر</a:t>
            </a:r>
            <a:endParaRPr lang="en-US" sz="1300" dirty="0"/>
          </a:p>
        </p:txBody>
      </p:sp>
      <p:sp>
        <p:nvSpPr>
          <p:cNvPr id="20" name="Text 16"/>
          <p:cNvSpPr txBox="1"/>
          <p:nvPr/>
        </p:nvSpPr>
        <p:spPr>
          <a:xfrm>
            <a:off x="7423099"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پررنگ، فهرست، عنوان و «درج متغیر»؛ پیش‌نمایش زنده با اعداد یک اجرای همان سال.</a:t>
            </a:r>
            <a:endParaRPr lang="en-US" sz="1150" dirty="0"/>
          </a:p>
        </p:txBody>
      </p:sp>
      <p:sp>
        <p:nvSpPr>
          <p:cNvPr id="21" name="Shape 17"/>
          <p:cNvSpPr/>
          <p:nvPr/>
        </p:nvSpPr>
        <p:spPr>
          <a:xfrm>
            <a:off x="5012741" y="3857320"/>
            <a:ext cx="2163470" cy="1702232"/>
          </a:xfrm>
          <a:prstGeom prst="roundRect">
            <a:avLst>
              <a:gd name="adj" fmla="val 4297"/>
            </a:avLst>
          </a:prstGeom>
          <a:solidFill>
            <a:srgbClr val="FFFFFF"/>
          </a:solidFill>
          <a:ln w="6350">
            <a:solidFill>
              <a:srgbClr val="D9DEE7"/>
            </a:solidFill>
            <a:prstDash val="solid"/>
          </a:ln>
        </p:spPr>
      </p:sp>
      <p:sp>
        <p:nvSpPr>
          <p:cNvPr id="22" name="Shape 18"/>
          <p:cNvSpPr/>
          <p:nvPr/>
        </p:nvSpPr>
        <p:spPr>
          <a:xfrm>
            <a:off x="6746443" y="3948760"/>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بازبینی</a:t>
            </a:r>
            <a:endParaRPr lang="en-US" sz="1300" dirty="0"/>
          </a:p>
        </p:txBody>
      </p:sp>
      <p:sp>
        <p:nvSpPr>
          <p:cNvPr id="25" name="Text 21"/>
          <p:cNvSpPr txBox="1"/>
          <p:nvPr/>
        </p:nvSpPr>
        <p:spPr>
          <a:xfrm>
            <a:off x="5122469"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ارسال ⇐ تأیید (نه آخرین ویرایشگر) ⇐ برگشت با دلیل؛ نوار پیشرفت بالای فهرست.</a:t>
            </a:r>
            <a:endParaRPr lang="en-US" sz="1150" dirty="0"/>
          </a:p>
        </p:txBody>
      </p:sp>
      <p:sp>
        <p:nvSpPr>
          <p:cNvPr id="26" name="Shape 22"/>
          <p:cNvSpPr/>
          <p:nvPr/>
        </p:nvSpPr>
        <p:spPr>
          <a:xfrm>
            <a:off x="2712110" y="3857320"/>
            <a:ext cx="2163470" cy="1702232"/>
          </a:xfrm>
          <a:prstGeom prst="roundRect">
            <a:avLst>
              <a:gd name="adj" fmla="val 4297"/>
            </a:avLst>
          </a:prstGeom>
          <a:solidFill>
            <a:srgbClr val="FFFFFF"/>
          </a:solidFill>
          <a:ln w="6350">
            <a:solidFill>
              <a:srgbClr val="D9DEE7"/>
            </a:solidFill>
            <a:prstDash val="solid"/>
          </a:ln>
        </p:spPr>
      </p:sp>
      <p:sp>
        <p:nvSpPr>
          <p:cNvPr id="27" name="Shape 23"/>
          <p:cNvSpPr/>
          <p:nvPr/>
        </p:nvSpPr>
        <p:spPr>
          <a:xfrm>
            <a:off x="4445813" y="3948760"/>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نسخه و انتقال</a:t>
            </a:r>
            <a:endParaRPr lang="en-US" sz="1300" dirty="0"/>
          </a:p>
        </p:txBody>
      </p:sp>
      <p:sp>
        <p:nvSpPr>
          <p:cNvPr id="30" name="Text 26"/>
          <p:cNvSpPr txBox="1"/>
          <p:nvPr/>
        </p:nvSpPr>
        <p:spPr>
          <a:xfrm>
            <a:off x="2821838"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هر ذخیره یک نسخه است و بازگرداندنی؛ «انتقال از سال قبل» یادداشت‌ها را کپی می‌کند.</a:t>
            </a:r>
            <a:endParaRPr lang="en-US" sz="1150" dirty="0"/>
          </a:p>
        </p:txBody>
      </p:sp>
      <p:sp>
        <p:nvSpPr>
          <p:cNvPr id="31" name="Shape 27"/>
          <p:cNvSpPr/>
          <p:nvPr/>
        </p:nvSpPr>
        <p:spPr>
          <a:xfrm>
            <a:off x="411480" y="3857320"/>
            <a:ext cx="2163470" cy="1702232"/>
          </a:xfrm>
          <a:prstGeom prst="roundRect">
            <a:avLst>
              <a:gd name="adj" fmla="val 4297"/>
            </a:avLst>
          </a:prstGeom>
          <a:solidFill>
            <a:srgbClr val="FFFFFF"/>
          </a:solidFill>
          <a:ln w="6350">
            <a:solidFill>
              <a:srgbClr val="D9DEE7"/>
            </a:solidFill>
            <a:prstDash val="solid"/>
          </a:ln>
        </p:spPr>
      </p:sp>
      <p:sp>
        <p:nvSpPr>
          <p:cNvPr id="32" name="Shape 28"/>
          <p:cNvSpPr/>
          <p:nvPr/>
        </p:nvSpPr>
        <p:spPr>
          <a:xfrm>
            <a:off x="2145182" y="3948760"/>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3930472"/>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Word و انتشار</a:t>
            </a:r>
            <a:endParaRPr lang="en-US" sz="1300" dirty="0"/>
          </a:p>
        </p:txBody>
      </p:sp>
      <p:sp>
        <p:nvSpPr>
          <p:cNvPr id="35" name="Text 31"/>
          <p:cNvSpPr txBox="1"/>
          <p:nvPr/>
        </p:nvSpPr>
        <p:spPr>
          <a:xfrm>
            <a:off x="521208" y="4332808"/>
            <a:ext cx="1944014" cy="1171880"/>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دکمهٔ «Word یادداشت‌ها» در صفحهٔ صورت؛ با انتشار، متن یادداشت‌ها ثابت می‌شود.</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4754880" y="5696712"/>
            <a:ext cx="615391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متغیرها به ترتیب: مبلغ جاری، سال قبل و درصد تغییر؛ مقدار از اعداد همان اجرا گرفته می‌شود.</a:t>
            </a:r>
            <a:endParaRPr lang="en-US" sz="1300" dirty="0"/>
          </a:p>
        </p:txBody>
      </p:sp>
      <p:sp>
        <p:nvSpPr>
          <p:cNvPr id="39" name="Text 35"/>
          <p:cNvSpPr/>
          <p:nvPr/>
        </p:nvSpPr>
        <p:spPr>
          <a:xfrm>
            <a:off x="566928" y="5833872"/>
            <a:ext cx="4114800" cy="384048"/>
          </a:xfrm>
          <a:prstGeom prst="rect">
            <a:avLst/>
          </a:prstGeom>
          <a:solidFill>
            <a:srgbClr val="FFFFFF"/>
          </a:solidFill>
          <a:ln/>
        </p:spPr>
        <p:txBody>
          <a:bodyPr wrap="square" rtlCol="0" anchor="ctr"/>
          <a:lstStyle/>
          <a:p>
            <a:pPr algn="ctr" indent="0" marL="0">
              <a:buNone/>
            </a:pPr>
            <a:r>
              <a:rPr lang="en-US" sz="1100" dirty="0">
                <a:solidFill>
                  <a:srgbClr val="1B2A49"/>
                </a:solidFill>
                <a:latin typeface="Consolas" pitchFamily="34" charset="0"/>
                <a:ea typeface="Consolas" pitchFamily="34" charset="-122"/>
                <a:cs typeface="Consolas" pitchFamily="34" charset="-120"/>
              </a:rPr>
              <a:t>{{A01}}   {{A01.prior}}   {{A01.change%}}</a:t>
            </a:r>
            <a:endParaRPr lang="en-US" sz="1100" dirty="0"/>
          </a:p>
        </p:txBody>
      </p:sp>
      <p:sp>
        <p:nvSpPr>
          <p:cNvPr id="40" name="Text 3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۱۳ — ابزارهای صورت، نظرها و نسخهٔ چاپی</a:t>
            </a:r>
            <a:endParaRPr lang="en-US" sz="2600" dirty="0"/>
          </a:p>
        </p:txBody>
      </p:sp>
      <p:sp>
        <p:nvSpPr>
          <p:cNvPr id="3" name="Shape 1"/>
          <p:cNvSpPr/>
          <p:nvPr/>
        </p:nvSpPr>
        <p:spPr>
          <a:xfrm>
            <a:off x="7031736" y="896112"/>
            <a:ext cx="474573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تهیهٔ صورت‌های مالی ← باز کردن یک اجرا</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تحلیل عمودی (درصد از پایه)</a:t>
            </a:r>
            <a:endParaRPr lang="en-US" sz="1200" dirty="0"/>
          </a:p>
        </p:txBody>
      </p:sp>
      <p:sp>
        <p:nvSpPr>
          <p:cNvPr id="6" name="Shape 4"/>
          <p:cNvSpPr/>
          <p:nvPr/>
        </p:nvSpPr>
        <p:spPr>
          <a:xfrm>
            <a:off x="6208776" y="1618488"/>
            <a:ext cx="5568696" cy="2077608"/>
          </a:xfrm>
          <a:prstGeom prst="roundRect">
            <a:avLst>
              <a:gd name="adj" fmla="val 352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4s">    </p:cNvPr>
          <p:cNvPicPr>
            <a:picLocks noChangeAspect="1"/>
          </p:cNvPicPr>
          <p:nvPr/>
        </p:nvPicPr>
        <p:blipFill>
          <a:blip r:embed="rId1"/>
          <a:stretch>
            <a:fillRect/>
          </a:stretch>
        </p:blipFill>
        <p:spPr>
          <a:xfrm>
            <a:off x="6254496" y="1680515"/>
            <a:ext cx="5477256" cy="1953555"/>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بستهٔ رسمی / PDF</a:t>
            </a:r>
            <a:endParaRPr lang="en-US" sz="1200" dirty="0"/>
          </a:p>
        </p:txBody>
      </p:sp>
      <p:sp>
        <p:nvSpPr>
          <p:cNvPr id="9" name="Shape 6"/>
          <p:cNvSpPr/>
          <p:nvPr/>
        </p:nvSpPr>
        <p:spPr>
          <a:xfrm>
            <a:off x="411480" y="1618488"/>
            <a:ext cx="5568696" cy="2077608"/>
          </a:xfrm>
          <a:prstGeom prst="roundRect">
            <a:avLst>
              <a:gd name="adj" fmla="val 352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16s">    </p:cNvPr>
          <p:cNvPicPr>
            <a:picLocks noChangeAspect="1"/>
          </p:cNvPicPr>
          <p:nvPr/>
        </p:nvPicPr>
        <p:blipFill>
          <a:blip r:embed="rId2"/>
          <a:stretch>
            <a:fillRect/>
          </a:stretch>
        </p:blipFill>
        <p:spPr>
          <a:xfrm>
            <a:off x="457200" y="1805275"/>
            <a:ext cx="5477256" cy="1704035"/>
          </a:xfrm>
          <a:prstGeom prst="rect">
            <a:avLst/>
          </a:prstGeom>
        </p:spPr>
      </p:pic>
      <p:sp>
        <p:nvSpPr>
          <p:cNvPr id="11" name="Shape 7"/>
          <p:cNvSpPr/>
          <p:nvPr/>
        </p:nvSpPr>
        <p:spPr>
          <a:xfrm>
            <a:off x="9614002" y="3878976"/>
            <a:ext cx="2163470" cy="1680576"/>
          </a:xfrm>
          <a:prstGeom prst="roundRect">
            <a:avLst>
              <a:gd name="adj" fmla="val 4353"/>
            </a:avLst>
          </a:prstGeom>
          <a:solidFill>
            <a:srgbClr val="FFFFFF"/>
          </a:solidFill>
          <a:ln w="6350">
            <a:solidFill>
              <a:srgbClr val="D9DEE7"/>
            </a:solidFill>
            <a:prstDash val="solid"/>
          </a:ln>
        </p:spPr>
      </p:sp>
      <p:sp>
        <p:nvSpPr>
          <p:cNvPr id="12" name="Shape 8"/>
          <p:cNvSpPr/>
          <p:nvPr/>
        </p:nvSpPr>
        <p:spPr>
          <a:xfrm>
            <a:off x="11347704" y="3970416"/>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تحلیل عمودی</a:t>
            </a:r>
            <a:endParaRPr lang="en-US" sz="1300" dirty="0"/>
          </a:p>
        </p:txBody>
      </p:sp>
      <p:sp>
        <p:nvSpPr>
          <p:cNvPr id="15" name="Text 11"/>
          <p:cNvSpPr txBox="1"/>
          <p:nvPr/>
        </p:nvSpPr>
        <p:spPr>
          <a:xfrm>
            <a:off x="9723730"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درصد هر ردیف از یک ردیف پایه (مثل جمع دارایی‌ها)؛ «فشرده» ردیف‌ها را نزدیک‌تر می‌کند.</a:t>
            </a:r>
            <a:endParaRPr lang="en-US" sz="1150" dirty="0"/>
          </a:p>
        </p:txBody>
      </p:sp>
      <p:sp>
        <p:nvSpPr>
          <p:cNvPr id="16" name="Shape 12"/>
          <p:cNvSpPr/>
          <p:nvPr/>
        </p:nvSpPr>
        <p:spPr>
          <a:xfrm>
            <a:off x="7313371" y="3878976"/>
            <a:ext cx="2163470" cy="1680576"/>
          </a:xfrm>
          <a:prstGeom prst="roundRect">
            <a:avLst>
              <a:gd name="adj" fmla="val 4353"/>
            </a:avLst>
          </a:prstGeom>
          <a:solidFill>
            <a:srgbClr val="FFFFFF"/>
          </a:solidFill>
          <a:ln w="6350">
            <a:solidFill>
              <a:srgbClr val="D9DEE7"/>
            </a:solidFill>
            <a:prstDash val="solid"/>
          </a:ln>
        </p:spPr>
      </p:sp>
      <p:sp>
        <p:nvSpPr>
          <p:cNvPr id="17" name="Shape 13"/>
          <p:cNvSpPr/>
          <p:nvPr/>
        </p:nvSpPr>
        <p:spPr>
          <a:xfrm>
            <a:off x="9047074" y="3970416"/>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میانبرها</a:t>
            </a:r>
            <a:endParaRPr lang="en-US" sz="1300" dirty="0"/>
          </a:p>
        </p:txBody>
      </p:sp>
      <p:sp>
        <p:nvSpPr>
          <p:cNvPr id="20" name="Text 16"/>
          <p:cNvSpPr txBox="1"/>
          <p:nvPr/>
        </p:nvSpPr>
        <p:spPr>
          <a:xfrm>
            <a:off x="7423099"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 حرکت بین ردیف‌ها، Enter ریز مبلغ، Esc بستن پنل، Ctrl+K جستجوی ردیف.</a:t>
            </a:r>
            <a:endParaRPr lang="en-US" sz="1150" dirty="0"/>
          </a:p>
        </p:txBody>
      </p:sp>
      <p:sp>
        <p:nvSpPr>
          <p:cNvPr id="21" name="Shape 17"/>
          <p:cNvSpPr/>
          <p:nvPr/>
        </p:nvSpPr>
        <p:spPr>
          <a:xfrm>
            <a:off x="5012741" y="3878976"/>
            <a:ext cx="2163470" cy="1680576"/>
          </a:xfrm>
          <a:prstGeom prst="roundRect">
            <a:avLst>
              <a:gd name="adj" fmla="val 4353"/>
            </a:avLst>
          </a:prstGeom>
          <a:solidFill>
            <a:srgbClr val="FFFFFF"/>
          </a:solidFill>
          <a:ln w="6350">
            <a:solidFill>
              <a:srgbClr val="D9DEE7"/>
            </a:solidFill>
            <a:prstDash val="solid"/>
          </a:ln>
        </p:spPr>
      </p:sp>
      <p:sp>
        <p:nvSpPr>
          <p:cNvPr id="22" name="Shape 18"/>
          <p:cNvSpPr/>
          <p:nvPr/>
        </p:nvSpPr>
        <p:spPr>
          <a:xfrm>
            <a:off x="6746443" y="3970416"/>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نظر روی ردیف</a:t>
            </a:r>
            <a:endParaRPr lang="en-US" sz="1300" dirty="0"/>
          </a:p>
        </p:txBody>
      </p:sp>
      <p:sp>
        <p:nvSpPr>
          <p:cNvPr id="25" name="Text 21"/>
          <p:cNvSpPr txBox="1"/>
          <p:nvPr/>
        </p:nvSpPr>
        <p:spPr>
          <a:xfrm>
            <a:off x="5122469"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آیکون گفت‌وگو کنار عنوان ردیف؛ بازبین و تهیه‌کننده روی همان ردیف گفت‌وگو می‌کنند.</a:t>
            </a:r>
            <a:endParaRPr lang="en-US" sz="1150" dirty="0"/>
          </a:p>
        </p:txBody>
      </p:sp>
      <p:sp>
        <p:nvSpPr>
          <p:cNvPr id="26" name="Shape 22"/>
          <p:cNvSpPr/>
          <p:nvPr/>
        </p:nvSpPr>
        <p:spPr>
          <a:xfrm>
            <a:off x="2712110" y="3878976"/>
            <a:ext cx="2163470" cy="1680576"/>
          </a:xfrm>
          <a:prstGeom prst="roundRect">
            <a:avLst>
              <a:gd name="adj" fmla="val 4353"/>
            </a:avLst>
          </a:prstGeom>
          <a:solidFill>
            <a:srgbClr val="FFFFFF"/>
          </a:solidFill>
          <a:ln w="6350">
            <a:solidFill>
              <a:srgbClr val="D9DEE7"/>
            </a:solidFill>
            <a:prstDash val="solid"/>
          </a:ln>
        </p:spPr>
      </p:sp>
      <p:sp>
        <p:nvSpPr>
          <p:cNvPr id="27" name="Shape 23"/>
          <p:cNvSpPr/>
          <p:nvPr/>
        </p:nvSpPr>
        <p:spPr>
          <a:xfrm>
            <a:off x="4445813" y="3970416"/>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ارجاع کنترل</a:t>
            </a:r>
            <a:endParaRPr lang="en-US" sz="1300" dirty="0"/>
          </a:p>
        </p:txBody>
      </p:sp>
      <p:sp>
        <p:nvSpPr>
          <p:cNvPr id="30" name="Text 26"/>
          <p:cNvSpPr txBox="1"/>
          <p:nvPr/>
        </p:nvSpPr>
        <p:spPr>
          <a:xfrm>
            <a:off x="2821838"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در زبانهٔ «کنترل‌ها» کنترل ناموفق را با مهلت به مسئول بدهید؛ بعد «رفع شد».</a:t>
            </a:r>
            <a:endParaRPr lang="en-US" sz="1150" dirty="0"/>
          </a:p>
        </p:txBody>
      </p:sp>
      <p:sp>
        <p:nvSpPr>
          <p:cNvPr id="31" name="Shape 27"/>
          <p:cNvSpPr/>
          <p:nvPr/>
        </p:nvSpPr>
        <p:spPr>
          <a:xfrm>
            <a:off x="411480" y="3878976"/>
            <a:ext cx="2163470" cy="1680576"/>
          </a:xfrm>
          <a:prstGeom prst="roundRect">
            <a:avLst>
              <a:gd name="adj" fmla="val 4353"/>
            </a:avLst>
          </a:prstGeom>
          <a:solidFill>
            <a:srgbClr val="FFFFFF"/>
          </a:solidFill>
          <a:ln w="6350">
            <a:solidFill>
              <a:srgbClr val="D9DEE7"/>
            </a:solidFill>
            <a:prstDash val="solid"/>
          </a:ln>
        </p:spPr>
      </p:sp>
      <p:sp>
        <p:nvSpPr>
          <p:cNvPr id="32" name="Shape 28"/>
          <p:cNvSpPr/>
          <p:nvPr/>
        </p:nvSpPr>
        <p:spPr>
          <a:xfrm>
            <a:off x="2145182" y="3970416"/>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3970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3952128"/>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تجدید ارائه</a:t>
            </a:r>
            <a:endParaRPr lang="en-US" sz="1300" dirty="0"/>
          </a:p>
        </p:txBody>
      </p:sp>
      <p:sp>
        <p:nvSpPr>
          <p:cNvPr id="35" name="Text 31"/>
          <p:cNvSpPr txBox="1"/>
          <p:nvPr/>
        </p:nvSpPr>
        <p:spPr>
          <a:xfrm>
            <a:off x="521208" y="4354464"/>
            <a:ext cx="1944014" cy="1150224"/>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در ویزارد، ستون سال قبل برچسب «تجدید ارائه‌شده» می‌گیرد؛ تنظیمات قابل ذخیره است.</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دکمهٔ «بستهٔ رسمی / PDF» صفحهٔ چاپ رسمی را باز می‌کند؛ در پنجرهٔ چاپ «ذخیره به‌صورت PDF» را انتخاب کنید.</a:t>
            </a:r>
            <a:endParaRPr lang="en-US" sz="1300" dirty="0"/>
          </a:p>
        </p:txBody>
      </p:sp>
      <p:sp>
        <p:nvSpPr>
          <p:cNvPr id="39" name="Text 35"/>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نظرها روی ردیف صورت</a:t>
            </a:r>
            <a:endParaRPr lang="en-US" sz="2600" dirty="0"/>
          </a:p>
        </p:txBody>
      </p:sp>
      <p:sp>
        <p:nvSpPr>
          <p:cNvPr id="3" name="Shape 1"/>
          <p:cNvSpPr/>
          <p:nvPr/>
        </p:nvSpPr>
        <p:spPr>
          <a:xfrm>
            <a:off x="411480" y="1143000"/>
            <a:ext cx="740664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4" name="Image 0" descr="fsn15">    </p:cNvPr>
          <p:cNvPicPr>
            <a:picLocks noChangeAspect="1"/>
          </p:cNvPicPr>
          <p:nvPr/>
        </p:nvPicPr>
        <p:blipFill>
          <a:blip r:embed="rId1"/>
          <a:stretch>
            <a:fillRect/>
          </a:stretch>
        </p:blipFill>
        <p:spPr>
          <a:xfrm>
            <a:off x="1611711" y="1216152"/>
            <a:ext cx="5006179" cy="5065776"/>
          </a:xfrm>
          <a:prstGeom prst="rect">
            <a:avLst/>
          </a:prstGeom>
        </p:spPr>
      </p:pic>
      <p:sp>
        <p:nvSpPr>
          <p:cNvPr id="5" name="Shape 2"/>
          <p:cNvSpPr/>
          <p:nvPr/>
        </p:nvSpPr>
        <p:spPr>
          <a:xfrm>
            <a:off x="11393424" y="1188720"/>
            <a:ext cx="347472" cy="347472"/>
          </a:xfrm>
          <a:prstGeom prst="ellipse">
            <a:avLst/>
          </a:prstGeom>
          <a:solidFill>
            <a:srgbClr val="C9A227"/>
          </a:solidFill>
          <a:ln w="12700">
            <a:solidFill>
              <a:srgbClr val="C9A227"/>
            </a:solidFill>
            <a:prstDash val="solid"/>
          </a:ln>
        </p:spPr>
      </p:sp>
      <p:sp>
        <p:nvSpPr>
          <p:cNvPr id="6" name="Text 3"/>
          <p:cNvSpPr txBox="1"/>
          <p:nvPr/>
        </p:nvSpPr>
        <p:spPr>
          <a:xfrm>
            <a:off x="11393424" y="1188720"/>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txBox="1"/>
          <p:nvPr/>
        </p:nvSpPr>
        <p:spPr>
          <a:xfrm>
            <a:off x="8046720" y="1188720"/>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باز کردن</a:t>
            </a:r>
            <a:endParaRPr lang="en-US" sz="1400" dirty="0"/>
          </a:p>
        </p:txBody>
      </p:sp>
      <p:sp>
        <p:nvSpPr>
          <p:cNvPr id="8" name="Text 5"/>
          <p:cNvSpPr txBox="1"/>
          <p:nvPr/>
        </p:nvSpPr>
        <p:spPr>
          <a:xfrm>
            <a:off x="8046720" y="1517904"/>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آیکون گفت‌وگو کنار عنوان ردیف را بزنید؛ عدد کنار آیکون تعداد نظرهاست.</a:t>
            </a:r>
            <a:endParaRPr lang="en-US" sz="1300" dirty="0"/>
          </a:p>
        </p:txBody>
      </p:sp>
      <p:sp>
        <p:nvSpPr>
          <p:cNvPr id="9" name="Shape 6"/>
          <p:cNvSpPr/>
          <p:nvPr/>
        </p:nvSpPr>
        <p:spPr>
          <a:xfrm>
            <a:off x="11393424" y="2104034"/>
            <a:ext cx="347472" cy="347472"/>
          </a:xfrm>
          <a:prstGeom prst="ellipse">
            <a:avLst/>
          </a:prstGeom>
          <a:solidFill>
            <a:srgbClr val="C9A227"/>
          </a:solidFill>
          <a:ln w="12700">
            <a:solidFill>
              <a:srgbClr val="C9A227"/>
            </a:solidFill>
            <a:prstDash val="solid"/>
          </a:ln>
        </p:spPr>
      </p:sp>
      <p:sp>
        <p:nvSpPr>
          <p:cNvPr id="10" name="Text 7"/>
          <p:cNvSpPr txBox="1"/>
          <p:nvPr/>
        </p:nvSpPr>
        <p:spPr>
          <a:xfrm>
            <a:off x="11393424" y="2104034"/>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txBox="1"/>
          <p:nvPr/>
        </p:nvSpPr>
        <p:spPr>
          <a:xfrm>
            <a:off x="8046720" y="2104034"/>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گفت‌وگو</a:t>
            </a:r>
            <a:endParaRPr lang="en-US" sz="1400" dirty="0"/>
          </a:p>
        </p:txBody>
      </p:sp>
      <p:sp>
        <p:nvSpPr>
          <p:cNvPr id="12" name="Text 9"/>
          <p:cNvSpPr txBox="1"/>
          <p:nvPr/>
        </p:nvSpPr>
        <p:spPr>
          <a:xfrm>
            <a:off x="8046720" y="2433218"/>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هر نظر با کد کاربر و زمان ثبت می‌شود؛ نظر خودتان را می‌توانید حذف کنید.</a:t>
            </a:r>
            <a:endParaRPr lang="en-US" sz="1300" dirty="0"/>
          </a:p>
        </p:txBody>
      </p:sp>
      <p:sp>
        <p:nvSpPr>
          <p:cNvPr id="13" name="Shape 10"/>
          <p:cNvSpPr/>
          <p:nvPr/>
        </p:nvSpPr>
        <p:spPr>
          <a:xfrm>
            <a:off x="11393424" y="3019349"/>
            <a:ext cx="347472" cy="347472"/>
          </a:xfrm>
          <a:prstGeom prst="ellipse">
            <a:avLst/>
          </a:prstGeom>
          <a:solidFill>
            <a:srgbClr val="C9A227"/>
          </a:solidFill>
          <a:ln w="12700">
            <a:solidFill>
              <a:srgbClr val="C9A227"/>
            </a:solidFill>
            <a:prstDash val="solid"/>
          </a:ln>
        </p:spPr>
      </p:sp>
      <p:sp>
        <p:nvSpPr>
          <p:cNvPr id="14" name="Text 11"/>
          <p:cNvSpPr txBox="1"/>
          <p:nvPr/>
        </p:nvSpPr>
        <p:spPr>
          <a:xfrm>
            <a:off x="11393424" y="3019349"/>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txBox="1"/>
          <p:nvPr/>
        </p:nvSpPr>
        <p:spPr>
          <a:xfrm>
            <a:off x="8046720" y="3019349"/>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ثبت نظر</a:t>
            </a:r>
            <a:endParaRPr lang="en-US" sz="1400" dirty="0"/>
          </a:p>
        </p:txBody>
      </p:sp>
      <p:sp>
        <p:nvSpPr>
          <p:cNvPr id="16" name="Text 13"/>
          <p:cNvSpPr txBox="1"/>
          <p:nvPr/>
        </p:nvSpPr>
        <p:spPr>
          <a:xfrm>
            <a:off x="8046720" y="3348533"/>
            <a:ext cx="3227832" cy="476402"/>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متن را در «نظر تازه» بنویسید و «ثبت نظر» را بزنید.</a:t>
            </a:r>
            <a:endParaRPr lang="en-US" sz="1300" dirty="0"/>
          </a:p>
        </p:txBody>
      </p:sp>
      <p:sp>
        <p:nvSpPr>
          <p:cNvPr id="17" name="Shape 14"/>
          <p:cNvSpPr/>
          <p:nvPr/>
        </p:nvSpPr>
        <p:spPr>
          <a:xfrm>
            <a:off x="11393424" y="3934663"/>
            <a:ext cx="347472" cy="347472"/>
          </a:xfrm>
          <a:prstGeom prst="ellipse">
            <a:avLst/>
          </a:prstGeom>
          <a:solidFill>
            <a:srgbClr val="C9A227"/>
          </a:solidFill>
          <a:ln w="12700">
            <a:solidFill>
              <a:srgbClr val="C9A227"/>
            </a:solidFill>
            <a:prstDash val="solid"/>
          </a:ln>
        </p:spPr>
      </p:sp>
      <p:sp>
        <p:nvSpPr>
          <p:cNvPr id="18" name="Text 15"/>
          <p:cNvSpPr txBox="1"/>
          <p:nvPr/>
        </p:nvSpPr>
        <p:spPr>
          <a:xfrm>
            <a:off x="11393424" y="3934663"/>
            <a:ext cx="347472" cy="347472"/>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txBox="1"/>
          <p:nvPr/>
        </p:nvSpPr>
        <p:spPr>
          <a:xfrm>
            <a:off x="8046720" y="3934663"/>
            <a:ext cx="3227832" cy="329184"/>
          </a:xfrm>
          <a:prstGeom prst="rect">
            <a:avLst/>
          </a:prstGeom>
          <a:noFill/>
          <a:ln/>
        </p:spPr>
        <p:txBody>
          <a:bodyPr wrap="square" lIns="0" tIns="0" rIns="0" bIns="0" rtlCol="0" anchor="ctr"/>
          <a:lstStyle/>
          <a:p>
            <a:pPr rtl="1" algn="r" indent="0" marL="0">
              <a:buNone/>
            </a:pPr>
            <a:r>
              <a:rPr lang="en-US" sz="1400" b="1" dirty="0">
                <a:solidFill>
                  <a:srgbClr val="1B2A49"/>
                </a:solidFill>
                <a:latin typeface="Tahoma" pitchFamily="34" charset="0"/>
                <a:ea typeface="Tahoma" pitchFamily="34" charset="-122"/>
                <a:cs typeface="Tahoma" pitchFamily="34" charset="-120"/>
              </a:rPr>
              <a:t>نظرهای کل اجرا</a:t>
            </a:r>
            <a:endParaRPr lang="en-US" sz="1400" dirty="0"/>
          </a:p>
        </p:txBody>
      </p:sp>
      <p:sp>
        <p:nvSpPr>
          <p:cNvPr id="20" name="Text 17"/>
          <p:cNvSpPr txBox="1"/>
          <p:nvPr/>
        </p:nvSpPr>
        <p:spPr>
          <a:xfrm>
            <a:off x="8046720" y="4263847"/>
            <a:ext cx="3227832" cy="696316"/>
          </a:xfrm>
          <a:prstGeom prst="rect">
            <a:avLst/>
          </a:prstGeom>
          <a:noFill/>
          <a:ln/>
        </p:spPr>
        <p:txBody>
          <a:bodyPr wrap="square" lIns="0" tIns="0" rIns="0" bIns="0" rtlCol="0" anchor="t"/>
          <a:lstStyle/>
          <a:p>
            <a:pPr rtl="1" algn="r" indent="0" marL="0">
              <a:lnSpc>
                <a:spcPct val="105000"/>
              </a:lnSpc>
              <a:buNone/>
            </a:pPr>
            <a:r>
              <a:rPr lang="en-US" sz="1300" dirty="0">
                <a:solidFill>
                  <a:srgbClr val="1F2937"/>
                </a:solidFill>
                <a:latin typeface="Tahoma" pitchFamily="34" charset="0"/>
                <a:ea typeface="Tahoma" pitchFamily="34" charset="-122"/>
                <a:cs typeface="Tahoma" pitchFamily="34" charset="-120"/>
              </a:rPr>
              <a:t>در زبانهٔ «کنترل‌ها»، دکمهٔ «نظرهای کل اجرا» همهٔ گفت‌وگوها را یک‌جا نشان می‌دهد.</a:t>
            </a:r>
            <a:endParaRPr lang="en-US" sz="1300" dirty="0"/>
          </a:p>
        </p:txBody>
      </p:sp>
      <p:sp>
        <p:nvSpPr>
          <p:cNvPr id="21" name="Text 18"/>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۱۴ — تحلیل، نسبت‌ها و داشبورد</a:t>
            </a:r>
            <a:endParaRPr lang="en-US" sz="2600" dirty="0"/>
          </a:p>
        </p:txBody>
      </p:sp>
      <p:sp>
        <p:nvSpPr>
          <p:cNvPr id="3" name="Shape 1"/>
          <p:cNvSpPr/>
          <p:nvPr/>
        </p:nvSpPr>
        <p:spPr>
          <a:xfrm>
            <a:off x="6176772" y="896112"/>
            <a:ext cx="5600700"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داشبورد صورت‌ها / تحلیل و نسبت‌ها / تعریف نسبت‌ها</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تحلیل و نسبت‌ها — نسبت‌های کلیدی</a:t>
            </a:r>
            <a:endParaRPr lang="en-US" sz="1200" dirty="0"/>
          </a:p>
        </p:txBody>
      </p:sp>
      <p:sp>
        <p:nvSpPr>
          <p:cNvPr id="6" name="Shape 4"/>
          <p:cNvSpPr/>
          <p:nvPr/>
        </p:nvSpPr>
        <p:spPr>
          <a:xfrm>
            <a:off x="6208776" y="1618488"/>
            <a:ext cx="5568696" cy="2257044"/>
          </a:xfrm>
          <a:prstGeom prst="roundRect">
            <a:avLst>
              <a:gd name="adj" fmla="val 324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07s">    </p:cNvPr>
          <p:cNvPicPr>
            <a:picLocks noChangeAspect="1"/>
          </p:cNvPicPr>
          <p:nvPr/>
        </p:nvPicPr>
        <p:blipFill>
          <a:blip r:embed="rId1"/>
          <a:stretch>
            <a:fillRect/>
          </a:stretch>
        </p:blipFill>
        <p:spPr>
          <a:xfrm>
            <a:off x="6254496" y="1681988"/>
            <a:ext cx="5477256" cy="2130044"/>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تعریف نسبت‌ها</a:t>
            </a:r>
            <a:endParaRPr lang="en-US" sz="1200" dirty="0"/>
          </a:p>
        </p:txBody>
      </p:sp>
      <p:sp>
        <p:nvSpPr>
          <p:cNvPr id="9" name="Shape 6"/>
          <p:cNvSpPr/>
          <p:nvPr/>
        </p:nvSpPr>
        <p:spPr>
          <a:xfrm>
            <a:off x="411480" y="1618488"/>
            <a:ext cx="5568696" cy="2257044"/>
          </a:xfrm>
          <a:prstGeom prst="roundRect">
            <a:avLst>
              <a:gd name="adj" fmla="val 3241"/>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6s">    </p:cNvPr>
          <p:cNvPicPr>
            <a:picLocks noChangeAspect="1"/>
          </p:cNvPicPr>
          <p:nvPr/>
        </p:nvPicPr>
        <p:blipFill>
          <a:blip r:embed="rId2"/>
          <a:stretch>
            <a:fillRect/>
          </a:stretch>
        </p:blipFill>
        <p:spPr>
          <a:xfrm>
            <a:off x="457200" y="1727632"/>
            <a:ext cx="5477256" cy="2038756"/>
          </a:xfrm>
          <a:prstGeom prst="rect">
            <a:avLst/>
          </a:prstGeom>
        </p:spPr>
      </p:pic>
      <p:sp>
        <p:nvSpPr>
          <p:cNvPr id="11" name="Shape 7"/>
          <p:cNvSpPr/>
          <p:nvPr/>
        </p:nvSpPr>
        <p:spPr>
          <a:xfrm>
            <a:off x="9614002" y="4058412"/>
            <a:ext cx="2163470" cy="1501140"/>
          </a:xfrm>
          <a:prstGeom prst="roundRect">
            <a:avLst>
              <a:gd name="adj" fmla="val 4873"/>
            </a:avLst>
          </a:prstGeom>
          <a:solidFill>
            <a:srgbClr val="FFFFFF"/>
          </a:solidFill>
          <a:ln w="6350">
            <a:solidFill>
              <a:srgbClr val="D9DEE7"/>
            </a:solidFill>
            <a:prstDash val="solid"/>
          </a:ln>
        </p:spPr>
      </p:sp>
      <p:sp>
        <p:nvSpPr>
          <p:cNvPr id="12" name="Shape 8"/>
          <p:cNvSpPr/>
          <p:nvPr/>
        </p:nvSpPr>
        <p:spPr>
          <a:xfrm>
            <a:off x="11347704" y="4149852"/>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تعریف نسبت‌ها</a:t>
            </a:r>
            <a:endParaRPr lang="en-US" sz="1300" dirty="0"/>
          </a:p>
        </p:txBody>
      </p:sp>
      <p:sp>
        <p:nvSpPr>
          <p:cNvPr id="15" name="Text 11"/>
          <p:cNvSpPr txBox="1"/>
          <p:nvPr/>
        </p:nvSpPr>
        <p:spPr>
          <a:xfrm>
            <a:off x="9723730"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«نسبت‌های پیش‌فرض» ده نسبت رایج می‌سازد؛ هر نسبت یک صورت و یک مخرج دارد.</a:t>
            </a:r>
            <a:endParaRPr lang="en-US" sz="1150" dirty="0"/>
          </a:p>
        </p:txBody>
      </p:sp>
      <p:sp>
        <p:nvSpPr>
          <p:cNvPr id="16" name="Shape 12"/>
          <p:cNvSpPr/>
          <p:nvPr/>
        </p:nvSpPr>
        <p:spPr>
          <a:xfrm>
            <a:off x="7313371" y="4058412"/>
            <a:ext cx="2163470" cy="1501140"/>
          </a:xfrm>
          <a:prstGeom prst="roundRect">
            <a:avLst>
              <a:gd name="adj" fmla="val 4873"/>
            </a:avLst>
          </a:prstGeom>
          <a:solidFill>
            <a:srgbClr val="FFFFFF"/>
          </a:solidFill>
          <a:ln w="6350">
            <a:solidFill>
              <a:srgbClr val="D9DEE7"/>
            </a:solidFill>
            <a:prstDash val="solid"/>
          </a:ln>
        </p:spPr>
      </p:sp>
      <p:sp>
        <p:nvSpPr>
          <p:cNvPr id="17" name="Shape 13"/>
          <p:cNvSpPr/>
          <p:nvPr/>
        </p:nvSpPr>
        <p:spPr>
          <a:xfrm>
            <a:off x="9047074" y="4149852"/>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تحلیل</a:t>
            </a:r>
            <a:endParaRPr lang="en-US" sz="1300" dirty="0"/>
          </a:p>
        </p:txBody>
      </p:sp>
      <p:sp>
        <p:nvSpPr>
          <p:cNvPr id="20" name="Text 16"/>
          <p:cNvSpPr txBox="1"/>
          <p:nvPr/>
        </p:nvSpPr>
        <p:spPr>
          <a:xfrm>
            <a:off x="7423099"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نسبت‌های اجرا در کنار سال قبل، و مقایسه و سهم اقلام اصلی هر صورت.</a:t>
            </a:r>
            <a:endParaRPr lang="en-US" sz="1150" dirty="0"/>
          </a:p>
        </p:txBody>
      </p:sp>
      <p:sp>
        <p:nvSpPr>
          <p:cNvPr id="21" name="Shape 17"/>
          <p:cNvSpPr/>
          <p:nvPr/>
        </p:nvSpPr>
        <p:spPr>
          <a:xfrm>
            <a:off x="5012741" y="4058412"/>
            <a:ext cx="2163470" cy="1501140"/>
          </a:xfrm>
          <a:prstGeom prst="roundRect">
            <a:avLst>
              <a:gd name="adj" fmla="val 4873"/>
            </a:avLst>
          </a:prstGeom>
          <a:solidFill>
            <a:srgbClr val="FFFFFF"/>
          </a:solidFill>
          <a:ln w="6350">
            <a:solidFill>
              <a:srgbClr val="D9DEE7"/>
            </a:solidFill>
            <a:prstDash val="solid"/>
          </a:ln>
        </p:spPr>
      </p:sp>
      <p:sp>
        <p:nvSpPr>
          <p:cNvPr id="22" name="Shape 18"/>
          <p:cNvSpPr/>
          <p:nvPr/>
        </p:nvSpPr>
        <p:spPr>
          <a:xfrm>
            <a:off x="6746443" y="4149852"/>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روند</a:t>
            </a:r>
            <a:endParaRPr lang="en-US" sz="1300" dirty="0"/>
          </a:p>
        </p:txBody>
      </p:sp>
      <p:sp>
        <p:nvSpPr>
          <p:cNvPr id="25" name="Text 21"/>
          <p:cNvSpPr txBox="1"/>
          <p:nvPr/>
        </p:nvSpPr>
        <p:spPr>
          <a:xfrm>
            <a:off x="5122469"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نسبت‌های پنج سال اخیر از آخرین اجرای منتشرشدهٔ هر سال.</a:t>
            </a:r>
            <a:endParaRPr lang="en-US" sz="1150" dirty="0"/>
          </a:p>
        </p:txBody>
      </p:sp>
      <p:sp>
        <p:nvSpPr>
          <p:cNvPr id="26" name="Shape 22"/>
          <p:cNvSpPr/>
          <p:nvPr/>
        </p:nvSpPr>
        <p:spPr>
          <a:xfrm>
            <a:off x="2712110" y="4058412"/>
            <a:ext cx="2163470" cy="1501140"/>
          </a:xfrm>
          <a:prstGeom prst="roundRect">
            <a:avLst>
              <a:gd name="adj" fmla="val 4873"/>
            </a:avLst>
          </a:prstGeom>
          <a:solidFill>
            <a:srgbClr val="FFFFFF"/>
          </a:solidFill>
          <a:ln w="6350">
            <a:solidFill>
              <a:srgbClr val="D9DEE7"/>
            </a:solidFill>
            <a:prstDash val="solid"/>
          </a:ln>
        </p:spPr>
      </p:sp>
      <p:sp>
        <p:nvSpPr>
          <p:cNvPr id="27" name="Shape 23"/>
          <p:cNvSpPr/>
          <p:nvPr/>
        </p:nvSpPr>
        <p:spPr>
          <a:xfrm>
            <a:off x="4445813" y="4149852"/>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داشبورد</a:t>
            </a:r>
            <a:endParaRPr lang="en-US" sz="1300" dirty="0"/>
          </a:p>
        </p:txBody>
      </p:sp>
      <p:sp>
        <p:nvSpPr>
          <p:cNvPr id="30" name="Text 26"/>
          <p:cNvSpPr txBox="1"/>
          <p:nvPr/>
        </p:nvSpPr>
        <p:spPr>
          <a:xfrm>
            <a:off x="2821838"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چهار نسبت اول به‌عنوان شاخص، و کاشی وضعیت بستن هر زیرواحد با درصد پیشرفت.</a:t>
            </a:r>
            <a:endParaRPr lang="en-US" sz="1150" dirty="0"/>
          </a:p>
        </p:txBody>
      </p:sp>
      <p:sp>
        <p:nvSpPr>
          <p:cNvPr id="31" name="Shape 27"/>
          <p:cNvSpPr/>
          <p:nvPr/>
        </p:nvSpPr>
        <p:spPr>
          <a:xfrm>
            <a:off x="411480" y="4058412"/>
            <a:ext cx="2163470" cy="1501140"/>
          </a:xfrm>
          <a:prstGeom prst="roundRect">
            <a:avLst>
              <a:gd name="adj" fmla="val 4873"/>
            </a:avLst>
          </a:prstGeom>
          <a:solidFill>
            <a:srgbClr val="FFFFFF"/>
          </a:solidFill>
          <a:ln w="6350">
            <a:solidFill>
              <a:srgbClr val="D9DEE7"/>
            </a:solidFill>
            <a:prstDash val="solid"/>
          </a:ln>
        </p:spPr>
      </p:sp>
      <p:sp>
        <p:nvSpPr>
          <p:cNvPr id="32" name="Shape 28"/>
          <p:cNvSpPr/>
          <p:nvPr/>
        </p:nvSpPr>
        <p:spPr>
          <a:xfrm>
            <a:off x="2145182" y="4149852"/>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131564"/>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کارهای من</a:t>
            </a:r>
            <a:endParaRPr lang="en-US" sz="1300" dirty="0"/>
          </a:p>
        </p:txBody>
      </p:sp>
      <p:sp>
        <p:nvSpPr>
          <p:cNvPr id="35" name="Text 31"/>
          <p:cNvSpPr txBox="1"/>
          <p:nvPr/>
        </p:nvSpPr>
        <p:spPr>
          <a:xfrm>
            <a:off x="521208" y="4533900"/>
            <a:ext cx="1944014" cy="970788"/>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تأیید و انتشار، کنترل‌های ارجاع‌شده، بازبینی یادداشت و درخواست بازگشایی.</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4754880" y="5696712"/>
            <a:ext cx="615391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صورت و مخرج نسبت با همان زبان فرمول قالب نوشته می‌شود؛ مثلاً جمع مصارف:</a:t>
            </a:r>
            <a:endParaRPr lang="en-US" sz="1300" dirty="0"/>
          </a:p>
        </p:txBody>
      </p:sp>
      <p:sp>
        <p:nvSpPr>
          <p:cNvPr id="39" name="Text 35"/>
          <p:cNvSpPr/>
          <p:nvPr/>
        </p:nvSpPr>
        <p:spPr>
          <a:xfrm>
            <a:off x="566928" y="5833872"/>
            <a:ext cx="4114800" cy="384048"/>
          </a:xfrm>
          <a:prstGeom prst="rect">
            <a:avLst/>
          </a:prstGeom>
          <a:solidFill>
            <a:srgbClr val="FFFFFF"/>
          </a:solidFill>
          <a:ln/>
        </p:spPr>
        <p:txBody>
          <a:bodyPr wrap="square" rtlCol="0" anchor="ctr"/>
          <a:lstStyle/>
          <a:p>
            <a:pPr algn="ctr" indent="0" marL="0">
              <a:buNone/>
            </a:pPr>
            <a:r>
              <a:rPr lang="en-US" sz="1100" dirty="0">
                <a:solidFill>
                  <a:srgbClr val="1B2A49"/>
                </a:solidFill>
                <a:latin typeface="Consolas" pitchFamily="34" charset="0"/>
                <a:ea typeface="Consolas" pitchFamily="34" charset="-122"/>
                <a:cs typeface="Consolas" pitchFamily="34" charset="-120"/>
              </a:rPr>
              <a:t>STMT(PENSION.CHANGES_IN_NET_ASSETS, C99)</a:t>
            </a:r>
            <a:endParaRPr lang="en-US" sz="1100" dirty="0"/>
          </a:p>
        </p:txBody>
      </p:sp>
      <p:sp>
        <p:nvSpPr>
          <p:cNvPr id="40" name="Text 36"/>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۱۵ — تلفیق و تطبیق فی‌مابین به تفکیک واحد</a:t>
            </a:r>
            <a:endParaRPr lang="en-US" sz="2600" dirty="0"/>
          </a:p>
        </p:txBody>
      </p:sp>
      <p:sp>
        <p:nvSpPr>
          <p:cNvPr id="3" name="Shape 1"/>
          <p:cNvSpPr/>
          <p:nvPr/>
        </p:nvSpPr>
        <p:spPr>
          <a:xfrm>
            <a:off x="8430768" y="896112"/>
            <a:ext cx="3346704"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و حذف فی‌مابین</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جفت واحدها و وضعیت تطبیق</a:t>
            </a:r>
            <a:endParaRPr lang="en-US" sz="1200" dirty="0"/>
          </a:p>
        </p:txBody>
      </p:sp>
      <p:sp>
        <p:nvSpPr>
          <p:cNvPr id="6" name="Shape 4"/>
          <p:cNvSpPr/>
          <p:nvPr/>
        </p:nvSpPr>
        <p:spPr>
          <a:xfrm>
            <a:off x="6208776" y="1618488"/>
            <a:ext cx="5568696" cy="2697480"/>
          </a:xfrm>
          <a:prstGeom prst="roundRect">
            <a:avLst>
              <a:gd name="adj" fmla="val 271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8s">    </p:cNvPr>
          <p:cNvPicPr>
            <a:picLocks noChangeAspect="1"/>
          </p:cNvPicPr>
          <p:nvPr/>
        </p:nvPicPr>
        <p:blipFill>
          <a:blip r:embed="rId1"/>
          <a:stretch>
            <a:fillRect/>
          </a:stretch>
        </p:blipFill>
        <p:spPr>
          <a:xfrm>
            <a:off x="6387084" y="1664208"/>
            <a:ext cx="5212080" cy="2606040"/>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«بررسی»: ردیف‌های سند دو سو</a:t>
            </a:r>
            <a:endParaRPr lang="en-US" sz="1200" dirty="0"/>
          </a:p>
        </p:txBody>
      </p:sp>
      <p:sp>
        <p:nvSpPr>
          <p:cNvPr id="9" name="Shape 6"/>
          <p:cNvSpPr/>
          <p:nvPr/>
        </p:nvSpPr>
        <p:spPr>
          <a:xfrm>
            <a:off x="411480" y="1618488"/>
            <a:ext cx="5568696" cy="2697480"/>
          </a:xfrm>
          <a:prstGeom prst="roundRect">
            <a:avLst>
              <a:gd name="adj" fmla="val 2712"/>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19">    </p:cNvPr>
          <p:cNvPicPr>
            <a:picLocks noChangeAspect="1"/>
          </p:cNvPicPr>
          <p:nvPr/>
        </p:nvPicPr>
        <p:blipFill>
          <a:blip r:embed="rId2"/>
          <a:stretch>
            <a:fillRect/>
          </a:stretch>
        </p:blipFill>
        <p:spPr>
          <a:xfrm>
            <a:off x="457200" y="1818526"/>
            <a:ext cx="5477256" cy="2297405"/>
          </a:xfrm>
          <a:prstGeom prst="rect">
            <a:avLst/>
          </a:prstGeom>
        </p:spPr>
      </p:pic>
      <p:sp>
        <p:nvSpPr>
          <p:cNvPr id="11" name="Shape 7"/>
          <p:cNvSpPr/>
          <p:nvPr/>
        </p:nvSpPr>
        <p:spPr>
          <a:xfrm>
            <a:off x="9614002" y="4498848"/>
            <a:ext cx="2163470" cy="1060704"/>
          </a:xfrm>
          <a:prstGeom prst="roundRect">
            <a:avLst>
              <a:gd name="adj" fmla="val 6897"/>
            </a:avLst>
          </a:prstGeom>
          <a:solidFill>
            <a:srgbClr val="FFFFFF"/>
          </a:solidFill>
          <a:ln w="6350">
            <a:solidFill>
              <a:srgbClr val="D9DEE7"/>
            </a:solidFill>
            <a:prstDash val="solid"/>
          </a:ln>
        </p:spPr>
      </p:sp>
      <p:sp>
        <p:nvSpPr>
          <p:cNvPr id="12" name="Shape 8"/>
          <p:cNvSpPr/>
          <p:nvPr/>
        </p:nvSpPr>
        <p:spPr>
          <a:xfrm>
            <a:off x="11347704" y="4590288"/>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انتخاب اجرا</a:t>
            </a:r>
            <a:endParaRPr lang="en-US" sz="1300" dirty="0"/>
          </a:p>
        </p:txBody>
      </p:sp>
      <p:sp>
        <p:nvSpPr>
          <p:cNvPr id="15" name="Text 11"/>
          <p:cNvSpPr txBox="1"/>
          <p:nvPr/>
        </p:nvSpPr>
        <p:spPr>
          <a:xfrm>
            <a:off x="9723730"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اجرای ترکیبی و واحد مبلغ؛ همین بخش در زبانهٔ «کاربرگ» اجرا هم هست.</a:t>
            </a:r>
            <a:endParaRPr lang="en-US" sz="1150" dirty="0"/>
          </a:p>
        </p:txBody>
      </p:sp>
      <p:sp>
        <p:nvSpPr>
          <p:cNvPr id="16" name="Shape 12"/>
          <p:cNvSpPr/>
          <p:nvPr/>
        </p:nvSpPr>
        <p:spPr>
          <a:xfrm>
            <a:off x="7313371" y="4498848"/>
            <a:ext cx="2163470" cy="1060704"/>
          </a:xfrm>
          <a:prstGeom prst="roundRect">
            <a:avLst>
              <a:gd name="adj" fmla="val 6897"/>
            </a:avLst>
          </a:prstGeom>
          <a:solidFill>
            <a:srgbClr val="FFFFFF"/>
          </a:solidFill>
          <a:ln w="6350">
            <a:solidFill>
              <a:srgbClr val="D9DEE7"/>
            </a:solidFill>
            <a:prstDash val="solid"/>
          </a:ln>
        </p:spPr>
      </p:sp>
      <p:sp>
        <p:nvSpPr>
          <p:cNvPr id="17" name="Shape 13"/>
          <p:cNvSpPr/>
          <p:nvPr/>
        </p:nvSpPr>
        <p:spPr>
          <a:xfrm>
            <a:off x="9047074" y="4590288"/>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کاشی‌ها</a:t>
            </a:r>
            <a:endParaRPr lang="en-US" sz="1300" dirty="0"/>
          </a:p>
        </p:txBody>
      </p:sp>
      <p:sp>
        <p:nvSpPr>
          <p:cNvPr id="20" name="Text 16"/>
          <p:cNvSpPr txBox="1"/>
          <p:nvPr/>
        </p:nvSpPr>
        <p:spPr>
          <a:xfrm>
            <a:off x="7423099"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پنج وضعیت تطبیق با تعداد جفت‌ها؛ کلیک روی هر کاشی فهرست را فیلتر می‌کند.</a:t>
            </a:r>
            <a:endParaRPr lang="en-US" sz="1150" dirty="0"/>
          </a:p>
        </p:txBody>
      </p:sp>
      <p:sp>
        <p:nvSpPr>
          <p:cNvPr id="21" name="Shape 17"/>
          <p:cNvSpPr/>
          <p:nvPr/>
        </p:nvSpPr>
        <p:spPr>
          <a:xfrm>
            <a:off x="5012741" y="4498848"/>
            <a:ext cx="2163470" cy="1060704"/>
          </a:xfrm>
          <a:prstGeom prst="roundRect">
            <a:avLst>
              <a:gd name="adj" fmla="val 6897"/>
            </a:avLst>
          </a:prstGeom>
          <a:solidFill>
            <a:srgbClr val="FFFFFF"/>
          </a:solidFill>
          <a:ln w="6350">
            <a:solidFill>
              <a:srgbClr val="D9DEE7"/>
            </a:solidFill>
            <a:prstDash val="solid"/>
          </a:ln>
        </p:spPr>
      </p:sp>
      <p:sp>
        <p:nvSpPr>
          <p:cNvPr id="22" name="Shape 18"/>
          <p:cNvSpPr/>
          <p:nvPr/>
        </p:nvSpPr>
        <p:spPr>
          <a:xfrm>
            <a:off x="6746443" y="4590288"/>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دامنه</a:t>
            </a:r>
            <a:endParaRPr lang="en-US" sz="1300" dirty="0"/>
          </a:p>
        </p:txBody>
      </p:sp>
      <p:sp>
        <p:nvSpPr>
          <p:cNvPr id="25" name="Text 21"/>
          <p:cNvSpPr txBox="1"/>
          <p:nvPr/>
        </p:nvSpPr>
        <p:spPr>
          <a:xfrm>
            <a:off x="5122469"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زبانه‌های «همه»، «واحد اصلی ↔ زیرواحدها» و «بین زیرواحدها».</a:t>
            </a:r>
            <a:endParaRPr lang="en-US" sz="1150" dirty="0"/>
          </a:p>
        </p:txBody>
      </p:sp>
      <p:sp>
        <p:nvSpPr>
          <p:cNvPr id="26" name="Shape 22"/>
          <p:cNvSpPr/>
          <p:nvPr/>
        </p:nvSpPr>
        <p:spPr>
          <a:xfrm>
            <a:off x="2712110" y="4498848"/>
            <a:ext cx="2163470" cy="1060704"/>
          </a:xfrm>
          <a:prstGeom prst="roundRect">
            <a:avLst>
              <a:gd name="adj" fmla="val 6897"/>
            </a:avLst>
          </a:prstGeom>
          <a:solidFill>
            <a:srgbClr val="FFFFFF"/>
          </a:solidFill>
          <a:ln w="6350">
            <a:solidFill>
              <a:srgbClr val="D9DEE7"/>
            </a:solidFill>
            <a:prstDash val="solid"/>
          </a:ln>
        </p:spPr>
      </p:sp>
      <p:sp>
        <p:nvSpPr>
          <p:cNvPr id="27" name="Shape 23"/>
          <p:cNvSpPr/>
          <p:nvPr/>
        </p:nvSpPr>
        <p:spPr>
          <a:xfrm>
            <a:off x="4445813" y="4590288"/>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بررسی</a:t>
            </a:r>
            <a:endParaRPr lang="en-US" sz="1300" dirty="0"/>
          </a:p>
        </p:txBody>
      </p:sp>
      <p:sp>
        <p:nvSpPr>
          <p:cNvPr id="30" name="Text 26"/>
          <p:cNvSpPr txBox="1"/>
          <p:nvPr/>
        </p:nvSpPr>
        <p:spPr>
          <a:xfrm>
            <a:off x="2821838"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ردیف‌های سند دو سو با شناسه و منبع تشخیص؛ آیکون کنار ردیف سند را باز می‌کند.</a:t>
            </a:r>
            <a:endParaRPr lang="en-US" sz="1150" dirty="0"/>
          </a:p>
        </p:txBody>
      </p:sp>
      <p:sp>
        <p:nvSpPr>
          <p:cNvPr id="31" name="Shape 27"/>
          <p:cNvSpPr/>
          <p:nvPr/>
        </p:nvSpPr>
        <p:spPr>
          <a:xfrm>
            <a:off x="411480" y="4498848"/>
            <a:ext cx="2163470" cy="1060704"/>
          </a:xfrm>
          <a:prstGeom prst="roundRect">
            <a:avLst>
              <a:gd name="adj" fmla="val 6897"/>
            </a:avLst>
          </a:prstGeom>
          <a:solidFill>
            <a:srgbClr val="FFFFFF"/>
          </a:solidFill>
          <a:ln w="6350">
            <a:solidFill>
              <a:srgbClr val="D9DEE7"/>
            </a:solidFill>
            <a:prstDash val="solid"/>
          </a:ln>
        </p:spPr>
      </p:sp>
      <p:sp>
        <p:nvSpPr>
          <p:cNvPr id="32" name="Shape 28"/>
          <p:cNvSpPr/>
          <p:nvPr/>
        </p:nvSpPr>
        <p:spPr>
          <a:xfrm>
            <a:off x="2145182" y="4590288"/>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590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572000"/>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اصلاح</a:t>
            </a:r>
            <a:endParaRPr lang="en-US" sz="1300" dirty="0"/>
          </a:p>
        </p:txBody>
      </p:sp>
      <p:sp>
        <p:nvSpPr>
          <p:cNvPr id="35" name="Text 31"/>
          <p:cNvSpPr txBox="1"/>
          <p:nvPr/>
        </p:nvSpPr>
        <p:spPr>
          <a:xfrm>
            <a:off x="521208" y="4974336"/>
            <a:ext cx="1944014" cy="530352"/>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شناسهٔ ردیف یا سند اصلاحی را در واحد مربوط ثبت و صورت را دوباره تهیه کنید.</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8" name="Text 34"/>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طرف مقابل هر ردیف از ۴ رقم اول شناسهٔ ردیف (حساب شناسه‌دار) یا از اعلامیهٔ همان سند شناخته می‌شود؛ اگر هیچ‌کدام نباشد «طرف مقابل نامعلوم» است.</a:t>
            </a:r>
            <a:endParaRPr lang="en-US" sz="1300" dirty="0"/>
          </a:p>
        </p:txBody>
      </p:sp>
      <p:sp>
        <p:nvSpPr>
          <p:cNvPr id="39" name="Text 35"/>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کاربرگ تلفیق و قواعد حذف</a:t>
            </a:r>
            <a:endParaRPr lang="en-US" sz="2600" dirty="0"/>
          </a:p>
        </p:txBody>
      </p:sp>
      <p:sp>
        <p:nvSpPr>
          <p:cNvPr id="3" name="Shape 1"/>
          <p:cNvSpPr/>
          <p:nvPr/>
        </p:nvSpPr>
        <p:spPr>
          <a:xfrm>
            <a:off x="7031736" y="896112"/>
            <a:ext cx="474573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جریان نقد و XBRL ← حذف فی‌مابین</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زبانهٔ «کاربرگ ترکیب / تلفیق» در صفحهٔ اجرا</a:t>
            </a:r>
            <a:endParaRPr lang="en-US" sz="1200" dirty="0"/>
          </a:p>
        </p:txBody>
      </p:sp>
      <p:sp>
        <p:nvSpPr>
          <p:cNvPr id="6" name="Shape 4"/>
          <p:cNvSpPr/>
          <p:nvPr/>
        </p:nvSpPr>
        <p:spPr>
          <a:xfrm>
            <a:off x="6208776" y="1618488"/>
            <a:ext cx="5568696" cy="2653040"/>
          </a:xfrm>
          <a:prstGeom prst="roundRect">
            <a:avLst>
              <a:gd name="adj" fmla="val 275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2s">    </p:cNvPr>
          <p:cNvPicPr>
            <a:picLocks noChangeAspect="1"/>
          </p:cNvPicPr>
          <p:nvPr/>
        </p:nvPicPr>
        <p:blipFill>
          <a:blip r:embed="rId1"/>
          <a:stretch>
            <a:fillRect/>
          </a:stretch>
        </p:blipFill>
        <p:spPr>
          <a:xfrm>
            <a:off x="6254496" y="1685239"/>
            <a:ext cx="5477256" cy="2519538"/>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قواعد حذف فی‌مابین</a:t>
            </a:r>
            <a:endParaRPr lang="en-US" sz="1200" dirty="0"/>
          </a:p>
        </p:txBody>
      </p:sp>
      <p:sp>
        <p:nvSpPr>
          <p:cNvPr id="9" name="Shape 6"/>
          <p:cNvSpPr/>
          <p:nvPr/>
        </p:nvSpPr>
        <p:spPr>
          <a:xfrm>
            <a:off x="411480" y="1618488"/>
            <a:ext cx="5568696" cy="2653040"/>
          </a:xfrm>
          <a:prstGeom prst="roundRect">
            <a:avLst>
              <a:gd name="adj" fmla="val 275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10s">    </p:cNvPr>
          <p:cNvPicPr>
            <a:picLocks noChangeAspect="1"/>
          </p:cNvPicPr>
          <p:nvPr/>
        </p:nvPicPr>
        <p:blipFill>
          <a:blip r:embed="rId2"/>
          <a:stretch>
            <a:fillRect/>
          </a:stretch>
        </p:blipFill>
        <p:spPr>
          <a:xfrm>
            <a:off x="457200" y="2032132"/>
            <a:ext cx="5477256" cy="1825752"/>
          </a:xfrm>
          <a:prstGeom prst="rect">
            <a:avLst/>
          </a:prstGeom>
        </p:spPr>
      </p:pic>
      <p:sp>
        <p:nvSpPr>
          <p:cNvPr id="11" name="Shape 7"/>
          <p:cNvSpPr/>
          <p:nvPr/>
        </p:nvSpPr>
        <p:spPr>
          <a:xfrm>
            <a:off x="9038844" y="4454408"/>
            <a:ext cx="2738628" cy="1105144"/>
          </a:xfrm>
          <a:prstGeom prst="roundRect">
            <a:avLst>
              <a:gd name="adj" fmla="val 6619"/>
            </a:avLst>
          </a:prstGeom>
          <a:solidFill>
            <a:srgbClr val="FFFFFF"/>
          </a:solidFill>
          <a:ln w="6350">
            <a:solidFill>
              <a:srgbClr val="D9DEE7"/>
            </a:solidFill>
            <a:prstDash val="solid"/>
          </a:ln>
        </p:spPr>
      </p:sp>
      <p:sp>
        <p:nvSpPr>
          <p:cNvPr id="12" name="Shape 8"/>
          <p:cNvSpPr/>
          <p:nvPr/>
        </p:nvSpPr>
        <p:spPr>
          <a:xfrm>
            <a:off x="11347704" y="4545848"/>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5458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130284" y="452756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کاربرگ</a:t>
            </a:r>
            <a:endParaRPr lang="en-US" sz="1300" dirty="0"/>
          </a:p>
        </p:txBody>
      </p:sp>
      <p:sp>
        <p:nvSpPr>
          <p:cNvPr id="15" name="Text 11"/>
          <p:cNvSpPr txBox="1"/>
          <p:nvPr/>
        </p:nvSpPr>
        <p:spPr>
          <a:xfrm>
            <a:off x="9148572" y="4929896"/>
            <a:ext cx="2519172" cy="574792"/>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در صورت ترکیبی، ستون هر واحد، ستون حذفیات و جمع صورت کنار هم دیده می‌شود؛ دکمهٔ Excel کاربرگ را خروجی می‌دهد.</a:t>
            </a:r>
            <a:endParaRPr lang="en-US" sz="1200" dirty="0"/>
          </a:p>
        </p:txBody>
      </p:sp>
      <p:sp>
        <p:nvSpPr>
          <p:cNvPr id="16" name="Shape 12"/>
          <p:cNvSpPr/>
          <p:nvPr/>
        </p:nvSpPr>
        <p:spPr>
          <a:xfrm>
            <a:off x="6163056" y="4454408"/>
            <a:ext cx="2738628" cy="1105144"/>
          </a:xfrm>
          <a:prstGeom prst="roundRect">
            <a:avLst>
              <a:gd name="adj" fmla="val 6619"/>
            </a:avLst>
          </a:prstGeom>
          <a:solidFill>
            <a:srgbClr val="FFFFFF"/>
          </a:solidFill>
          <a:ln w="6350">
            <a:solidFill>
              <a:srgbClr val="D9DEE7"/>
            </a:solidFill>
            <a:prstDash val="solid"/>
          </a:ln>
        </p:spPr>
      </p:sp>
      <p:sp>
        <p:nvSpPr>
          <p:cNvPr id="17" name="Shape 13"/>
          <p:cNvSpPr/>
          <p:nvPr/>
        </p:nvSpPr>
        <p:spPr>
          <a:xfrm>
            <a:off x="8471916" y="4545848"/>
            <a:ext cx="329184" cy="329184"/>
          </a:xfrm>
          <a:prstGeom prst="ellipse">
            <a:avLst/>
          </a:prstGeom>
          <a:solidFill>
            <a:srgbClr val="C9A227"/>
          </a:solidFill>
          <a:ln w="12700">
            <a:solidFill>
              <a:srgbClr val="C9A227"/>
            </a:solidFill>
            <a:prstDash val="solid"/>
          </a:ln>
        </p:spPr>
      </p:sp>
      <p:sp>
        <p:nvSpPr>
          <p:cNvPr id="18" name="Text 14"/>
          <p:cNvSpPr txBox="1"/>
          <p:nvPr/>
        </p:nvSpPr>
        <p:spPr>
          <a:xfrm>
            <a:off x="8471916" y="45458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6254496" y="452756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قاعدهٔ حذف</a:t>
            </a:r>
            <a:endParaRPr lang="en-US" sz="1300" dirty="0"/>
          </a:p>
        </p:txBody>
      </p:sp>
      <p:sp>
        <p:nvSpPr>
          <p:cNvPr id="20" name="Text 16"/>
          <p:cNvSpPr txBox="1"/>
          <p:nvPr/>
        </p:nvSpPr>
        <p:spPr>
          <a:xfrm>
            <a:off x="6272784" y="4929896"/>
            <a:ext cx="2519172" cy="574792"/>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کد، عنوان، حساب‌های «سوی اول» و «سوی دوم» (مثل حساب جاری ستاد ↔ ادارات کل) و آستانهٔ اختلاف.</a:t>
            </a:r>
            <a:endParaRPr lang="en-US" sz="1200" dirty="0"/>
          </a:p>
        </p:txBody>
      </p:sp>
      <p:sp>
        <p:nvSpPr>
          <p:cNvPr id="21" name="Shape 17"/>
          <p:cNvSpPr/>
          <p:nvPr/>
        </p:nvSpPr>
        <p:spPr>
          <a:xfrm>
            <a:off x="3287268" y="4454408"/>
            <a:ext cx="2738628" cy="1105144"/>
          </a:xfrm>
          <a:prstGeom prst="roundRect">
            <a:avLst>
              <a:gd name="adj" fmla="val 6619"/>
            </a:avLst>
          </a:prstGeom>
          <a:solidFill>
            <a:srgbClr val="FFFFFF"/>
          </a:solidFill>
          <a:ln w="6350">
            <a:solidFill>
              <a:srgbClr val="D9DEE7"/>
            </a:solidFill>
            <a:prstDash val="solid"/>
          </a:ln>
        </p:spPr>
      </p:sp>
      <p:sp>
        <p:nvSpPr>
          <p:cNvPr id="22" name="Shape 18"/>
          <p:cNvSpPr/>
          <p:nvPr/>
        </p:nvSpPr>
        <p:spPr>
          <a:xfrm>
            <a:off x="5596128" y="4545848"/>
            <a:ext cx="329184" cy="329184"/>
          </a:xfrm>
          <a:prstGeom prst="ellipse">
            <a:avLst/>
          </a:prstGeom>
          <a:solidFill>
            <a:srgbClr val="C9A227"/>
          </a:solidFill>
          <a:ln w="12700">
            <a:solidFill>
              <a:srgbClr val="C9A227"/>
            </a:solidFill>
            <a:prstDash val="solid"/>
          </a:ln>
        </p:spPr>
      </p:sp>
      <p:sp>
        <p:nvSpPr>
          <p:cNvPr id="23" name="Text 19"/>
          <p:cNvSpPr txBox="1"/>
          <p:nvPr/>
        </p:nvSpPr>
        <p:spPr>
          <a:xfrm>
            <a:off x="5596128" y="45458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3378708" y="452756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نتیجه</a:t>
            </a:r>
            <a:endParaRPr lang="en-US" sz="1300" dirty="0"/>
          </a:p>
        </p:txBody>
      </p:sp>
      <p:sp>
        <p:nvSpPr>
          <p:cNvPr id="25" name="Text 21"/>
          <p:cNvSpPr txBox="1"/>
          <p:nvPr/>
        </p:nvSpPr>
        <p:spPr>
          <a:xfrm>
            <a:off x="3396996" y="4929896"/>
            <a:ext cx="2519172" cy="574792"/>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جدول «حذف فی‌مابین» بالای کاربرگ: تطبیق کامل (سبز) یا عدم تطبیق با مبلغ اختلاف.</a:t>
            </a:r>
            <a:endParaRPr lang="en-US" sz="1200" dirty="0"/>
          </a:p>
        </p:txBody>
      </p:sp>
      <p:sp>
        <p:nvSpPr>
          <p:cNvPr id="26" name="Shape 22"/>
          <p:cNvSpPr/>
          <p:nvPr/>
        </p:nvSpPr>
        <p:spPr>
          <a:xfrm>
            <a:off x="411480" y="4454408"/>
            <a:ext cx="2738628" cy="1105144"/>
          </a:xfrm>
          <a:prstGeom prst="roundRect">
            <a:avLst>
              <a:gd name="adj" fmla="val 6619"/>
            </a:avLst>
          </a:prstGeom>
          <a:solidFill>
            <a:srgbClr val="FFFFFF"/>
          </a:solidFill>
          <a:ln w="6350">
            <a:solidFill>
              <a:srgbClr val="D9DEE7"/>
            </a:solidFill>
            <a:prstDash val="solid"/>
          </a:ln>
        </p:spPr>
      </p:sp>
      <p:sp>
        <p:nvSpPr>
          <p:cNvPr id="27" name="Shape 23"/>
          <p:cNvSpPr/>
          <p:nvPr/>
        </p:nvSpPr>
        <p:spPr>
          <a:xfrm>
            <a:off x="2720340" y="4545848"/>
            <a:ext cx="329184" cy="329184"/>
          </a:xfrm>
          <a:prstGeom prst="ellipse">
            <a:avLst/>
          </a:prstGeom>
          <a:solidFill>
            <a:srgbClr val="C9A227"/>
          </a:solidFill>
          <a:ln w="12700">
            <a:solidFill>
              <a:srgbClr val="C9A227"/>
            </a:solidFill>
            <a:prstDash val="solid"/>
          </a:ln>
        </p:spPr>
      </p:sp>
      <p:sp>
        <p:nvSpPr>
          <p:cNvPr id="28" name="Text 24"/>
          <p:cNvSpPr txBox="1"/>
          <p:nvPr/>
        </p:nvSpPr>
        <p:spPr>
          <a:xfrm>
            <a:off x="2720340" y="45458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502920" y="452756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اصلاح</a:t>
            </a:r>
            <a:endParaRPr lang="en-US" sz="1300" dirty="0"/>
          </a:p>
        </p:txBody>
      </p:sp>
      <p:sp>
        <p:nvSpPr>
          <p:cNvPr id="30" name="Text 26"/>
          <p:cNvSpPr txBox="1"/>
          <p:nvPr/>
        </p:nvSpPr>
        <p:spPr>
          <a:xfrm>
            <a:off x="521208" y="4929896"/>
            <a:ext cx="2519172" cy="574792"/>
          </a:xfrm>
          <a:prstGeom prst="rect">
            <a:avLst/>
          </a:prstGeom>
          <a:noFill/>
          <a:ln/>
        </p:spPr>
        <p:txBody>
          <a:bodyPr wrap="square" lIns="0" tIns="0" rIns="0" bIns="0" rtlCol="0" anchor="t"/>
          <a:lstStyle/>
          <a:p>
            <a:pPr rtl="1" algn="r" indent="0" marL="0">
              <a:lnSpc>
                <a:spcPct val="105000"/>
              </a:lnSpc>
              <a:buNone/>
            </a:pPr>
            <a:r>
              <a:rPr lang="en-US" sz="1200" dirty="0">
                <a:solidFill>
                  <a:srgbClr val="1F2937"/>
                </a:solidFill>
                <a:latin typeface="Tahoma" pitchFamily="34" charset="0"/>
                <a:ea typeface="Tahoma" pitchFamily="34" charset="-122"/>
                <a:cs typeface="Tahoma" pitchFamily="34" charset="-120"/>
              </a:rPr>
              <a:t>اختلاف را با سند اصلاحی در واحد مربوط رفع و صورت را دوباره تهیه کنید.</a:t>
            </a:r>
            <a:endParaRPr lang="en-US" sz="120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txBox="1"/>
          <p:nvPr/>
        </p:nvSpPr>
        <p:spPr>
          <a:xfrm>
            <a:off x="10954512" y="5696712"/>
            <a:ext cx="731520" cy="658368"/>
          </a:xfrm>
          <a:prstGeom prst="rect">
            <a:avLst/>
          </a:prstGeom>
          <a:noFill/>
          <a:ln/>
        </p:spPr>
        <p:txBody>
          <a:bodyPr wrap="square" lIns="0" tIns="0" rIns="0" bIns="0" rtlCol="0" anchor="ctr"/>
          <a:lstStyle/>
          <a:p>
            <a:pPr rtl="1" algn="r" indent="0" marL="0">
              <a:buNone/>
            </a:pPr>
            <a:r>
              <a:rPr lang="en-US" sz="1400" b="1" dirty="0">
                <a:solidFill>
                  <a:srgbClr val="6B5410"/>
                </a:solidFill>
                <a:latin typeface="Tahoma" pitchFamily="34" charset="0"/>
                <a:ea typeface="Tahoma" pitchFamily="34" charset="-122"/>
                <a:cs typeface="Tahoma" pitchFamily="34" charset="-120"/>
              </a:rPr>
              <a:t>نکته</a:t>
            </a:r>
            <a:endParaRPr lang="en-US" sz="1400" dirty="0"/>
          </a:p>
        </p:txBody>
      </p:sp>
      <p:sp>
        <p:nvSpPr>
          <p:cNvPr id="33" name="Text 29"/>
          <p:cNvSpPr txBox="1"/>
          <p:nvPr/>
        </p:nvSpPr>
        <p:spPr>
          <a:xfrm>
            <a:off x="548640" y="5696712"/>
            <a:ext cx="10360152" cy="658368"/>
          </a:xfrm>
          <a:prstGeom prst="rect">
            <a:avLst/>
          </a:prstGeom>
          <a:noFill/>
          <a:ln/>
        </p:spPr>
        <p:txBody>
          <a:bodyPr wrap="square" lIns="0" tIns="0" rIns="0" bIns="0" rtlCol="0" anchor="ctr"/>
          <a:lstStyle/>
          <a:p>
            <a:pPr rtl="1" algn="r" indent="0" marL="0">
              <a:buNone/>
            </a:pPr>
            <a:r>
              <a:rPr lang="en-US" sz="1300" dirty="0">
                <a:solidFill>
                  <a:srgbClr val="4A3B0B"/>
                </a:solidFill>
                <a:latin typeface="Tahoma" pitchFamily="34" charset="0"/>
                <a:ea typeface="Tahoma" pitchFamily="34" charset="-122"/>
                <a:cs typeface="Tahoma" pitchFamily="34" charset="-120"/>
              </a:rPr>
              <a:t>اگر جمع دو سوی یک قاعده از آستانه بیشتر شود، کنترل V-07 مسدودکننده است و اجرا قابل ارسال نیست.</a:t>
            </a:r>
            <a:endParaRPr lang="en-US" sz="1300" dirty="0"/>
          </a:p>
        </p:txBody>
      </p:sp>
      <p:sp>
        <p:nvSpPr>
          <p:cNvPr id="34" name="Text 30"/>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گام ۱۶ — شرکت‌های تابعه، جریان نقد و XBRL</a:t>
            </a:r>
            <a:endParaRPr lang="en-US" sz="2600" dirty="0"/>
          </a:p>
        </p:txBody>
      </p:sp>
      <p:sp>
        <p:nvSpPr>
          <p:cNvPr id="3" name="Shape 1"/>
          <p:cNvSpPr/>
          <p:nvPr/>
        </p:nvSpPr>
        <p:spPr>
          <a:xfrm>
            <a:off x="8197596" y="896112"/>
            <a:ext cx="3579876" cy="292608"/>
          </a:xfrm>
          <a:prstGeom prst="roundRect">
            <a:avLst>
              <a:gd name="adj" fmla="val 25000"/>
            </a:avLst>
          </a:prstGeom>
          <a:solidFill>
            <a:srgbClr val="F6EDCF"/>
          </a:solidFill>
          <a:ln w="12700">
            <a:solidFill>
              <a:srgbClr val="F6EDCF"/>
            </a:solidFill>
            <a:prstDash val="solid"/>
          </a:ln>
        </p:spPr>
      </p:sp>
      <p:sp>
        <p:nvSpPr>
          <p:cNvPr id="4" name="Text 2"/>
          <p:cNvSpPr txBox="1"/>
          <p:nvPr/>
        </p:nvSpPr>
        <p:spPr>
          <a:xfrm>
            <a:off x="5760720" y="896112"/>
            <a:ext cx="590702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جریان نقد و XBRL</a:t>
            </a:r>
            <a:endParaRPr lang="en-US" sz="1100" dirty="0"/>
          </a:p>
        </p:txBody>
      </p:sp>
      <p:sp>
        <p:nvSpPr>
          <p:cNvPr id="5" name="Text 3"/>
          <p:cNvSpPr txBox="1"/>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شرکت‌های تابعه</a:t>
            </a:r>
            <a:endParaRPr lang="en-US" sz="1200" dirty="0"/>
          </a:p>
        </p:txBody>
      </p:sp>
      <p:sp>
        <p:nvSpPr>
          <p:cNvPr id="6" name="Shape 4"/>
          <p:cNvSpPr/>
          <p:nvPr/>
        </p:nvSpPr>
        <p:spPr>
          <a:xfrm>
            <a:off x="6208776" y="1618488"/>
            <a:ext cx="5568696" cy="2287981"/>
          </a:xfrm>
          <a:prstGeom prst="roundRect">
            <a:avLst>
              <a:gd name="adj" fmla="val 31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7" name="Image 0" descr="fsn11s">    </p:cNvPr>
          <p:cNvPicPr>
            <a:picLocks noChangeAspect="1"/>
          </p:cNvPicPr>
          <p:nvPr/>
        </p:nvPicPr>
        <p:blipFill>
          <a:blip r:embed="rId1"/>
          <a:stretch>
            <a:fillRect/>
          </a:stretch>
        </p:blipFill>
        <p:spPr>
          <a:xfrm>
            <a:off x="6254496" y="1758315"/>
            <a:ext cx="5477256" cy="2008327"/>
          </a:xfrm>
          <a:prstGeom prst="rect">
            <a:avLst/>
          </a:prstGeom>
        </p:spPr>
      </p:pic>
      <p:sp>
        <p:nvSpPr>
          <p:cNvPr id="8" name="Text 5"/>
          <p:cNvSpPr txBox="1"/>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678"/>
                </a:solidFill>
                <a:latin typeface="Tahoma" pitchFamily="34" charset="0"/>
                <a:ea typeface="Tahoma" pitchFamily="34" charset="-122"/>
                <a:cs typeface="Tahoma" pitchFamily="34" charset="-120"/>
              </a:rPr>
              <a:t>تنظیمات مجموعه</a:t>
            </a:r>
            <a:endParaRPr lang="en-US" sz="1200" dirty="0"/>
          </a:p>
        </p:txBody>
      </p:sp>
      <p:sp>
        <p:nvSpPr>
          <p:cNvPr id="9" name="Shape 6"/>
          <p:cNvSpPr/>
          <p:nvPr/>
        </p:nvSpPr>
        <p:spPr>
          <a:xfrm>
            <a:off x="411480" y="1618488"/>
            <a:ext cx="5568696" cy="2287981"/>
          </a:xfrm>
          <a:prstGeom prst="roundRect">
            <a:avLst>
              <a:gd name="adj" fmla="val 3197"/>
            </a:avLst>
          </a:prstGeom>
          <a:solidFill>
            <a:srgbClr val="FFFFFF"/>
          </a:solidFill>
          <a:ln w="9525">
            <a:solidFill>
              <a:srgbClr val="D9DEE7"/>
            </a:solidFill>
            <a:prstDash val="solid"/>
          </a:ln>
          <a:effectLst>
            <a:outerShdw sx="100000" sy="100000" kx="0" ky="0" algn="bl" rotWithShape="0" blurRad="101600" dist="25400" dir="5400000">
              <a:srgbClr val="000000">
                <a:alpha val="12000"/>
              </a:srgbClr>
            </a:outerShdw>
          </a:effectLst>
        </p:spPr>
      </p:sp>
      <p:pic>
        <p:nvPicPr>
          <p:cNvPr id="10" name="Image 1" descr="fsn09s">    </p:cNvPr>
          <p:cNvPicPr>
            <a:picLocks noChangeAspect="1"/>
          </p:cNvPicPr>
          <p:nvPr/>
        </p:nvPicPr>
        <p:blipFill>
          <a:blip r:embed="rId2"/>
          <a:stretch>
            <a:fillRect/>
          </a:stretch>
        </p:blipFill>
        <p:spPr>
          <a:xfrm>
            <a:off x="457200" y="1682242"/>
            <a:ext cx="5477256" cy="2160473"/>
          </a:xfrm>
          <a:prstGeom prst="rect">
            <a:avLst/>
          </a:prstGeom>
        </p:spPr>
      </p:pic>
      <p:sp>
        <p:nvSpPr>
          <p:cNvPr id="11" name="Shape 7"/>
          <p:cNvSpPr/>
          <p:nvPr/>
        </p:nvSpPr>
        <p:spPr>
          <a:xfrm>
            <a:off x="9614002" y="4089349"/>
            <a:ext cx="2163470" cy="2265731"/>
          </a:xfrm>
          <a:prstGeom prst="roundRect">
            <a:avLst>
              <a:gd name="adj" fmla="val 3381"/>
            </a:avLst>
          </a:prstGeom>
          <a:solidFill>
            <a:srgbClr val="FFFFFF"/>
          </a:solidFill>
          <a:ln w="6350">
            <a:solidFill>
              <a:srgbClr val="D9DEE7"/>
            </a:solidFill>
            <a:prstDash val="solid"/>
          </a:ln>
        </p:spPr>
      </p:sp>
      <p:sp>
        <p:nvSpPr>
          <p:cNvPr id="12" name="Shape 8"/>
          <p:cNvSpPr/>
          <p:nvPr/>
        </p:nvSpPr>
        <p:spPr>
          <a:xfrm>
            <a:off x="11347704" y="4180789"/>
            <a:ext cx="329184" cy="329184"/>
          </a:xfrm>
          <a:prstGeom prst="ellipse">
            <a:avLst/>
          </a:prstGeom>
          <a:solidFill>
            <a:srgbClr val="C9A227"/>
          </a:solidFill>
          <a:ln w="12700">
            <a:solidFill>
              <a:srgbClr val="C9A227"/>
            </a:solidFill>
            <a:prstDash val="solid"/>
          </a:ln>
        </p:spPr>
      </p:sp>
      <p:sp>
        <p:nvSpPr>
          <p:cNvPr id="13" name="Text 9"/>
          <p:cNvSpPr txBox="1"/>
          <p:nvPr/>
        </p:nvSpPr>
        <p:spPr>
          <a:xfrm>
            <a:off x="11347704"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txBox="1"/>
          <p:nvPr/>
        </p:nvSpPr>
        <p:spPr>
          <a:xfrm>
            <a:off x="9705442"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شرکت تابعه</a:t>
            </a:r>
            <a:endParaRPr lang="en-US" sz="1300" dirty="0"/>
          </a:p>
        </p:txBody>
      </p:sp>
      <p:sp>
        <p:nvSpPr>
          <p:cNvPr id="15" name="Text 11"/>
          <p:cNvSpPr txBox="1"/>
          <p:nvPr/>
        </p:nvSpPr>
        <p:spPr>
          <a:xfrm>
            <a:off x="9723730"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کد، نام، ارز و درصد مالکیت؛ تراز آزمایشی هر دوره را از Excel وارد کنید.</a:t>
            </a:r>
            <a:endParaRPr lang="en-US" sz="1150" dirty="0"/>
          </a:p>
        </p:txBody>
      </p:sp>
      <p:sp>
        <p:nvSpPr>
          <p:cNvPr id="16" name="Shape 12"/>
          <p:cNvSpPr/>
          <p:nvPr/>
        </p:nvSpPr>
        <p:spPr>
          <a:xfrm>
            <a:off x="7313371" y="4089349"/>
            <a:ext cx="2163470" cy="2265731"/>
          </a:xfrm>
          <a:prstGeom prst="roundRect">
            <a:avLst>
              <a:gd name="adj" fmla="val 3381"/>
            </a:avLst>
          </a:prstGeom>
          <a:solidFill>
            <a:srgbClr val="FFFFFF"/>
          </a:solidFill>
          <a:ln w="6350">
            <a:solidFill>
              <a:srgbClr val="D9DEE7"/>
            </a:solidFill>
            <a:prstDash val="solid"/>
          </a:ln>
        </p:spPr>
      </p:sp>
      <p:sp>
        <p:nvSpPr>
          <p:cNvPr id="17" name="Shape 13"/>
          <p:cNvSpPr/>
          <p:nvPr/>
        </p:nvSpPr>
        <p:spPr>
          <a:xfrm>
            <a:off x="9047074" y="4180789"/>
            <a:ext cx="329184" cy="329184"/>
          </a:xfrm>
          <a:prstGeom prst="ellipse">
            <a:avLst/>
          </a:prstGeom>
          <a:solidFill>
            <a:srgbClr val="C9A227"/>
          </a:solidFill>
          <a:ln w="12700">
            <a:solidFill>
              <a:srgbClr val="C9A227"/>
            </a:solidFill>
            <a:prstDash val="solid"/>
          </a:ln>
        </p:spPr>
      </p:sp>
      <p:sp>
        <p:nvSpPr>
          <p:cNvPr id="18" name="Text 14"/>
          <p:cNvSpPr txBox="1"/>
          <p:nvPr/>
        </p:nvSpPr>
        <p:spPr>
          <a:xfrm>
            <a:off x="9047074"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txBox="1"/>
          <p:nvPr/>
        </p:nvSpPr>
        <p:spPr>
          <a:xfrm>
            <a:off x="7404811"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تسعیر و NCI</a:t>
            </a:r>
            <a:endParaRPr lang="en-US" sz="1300" dirty="0"/>
          </a:p>
        </p:txBody>
      </p:sp>
      <p:sp>
        <p:nvSpPr>
          <p:cNvPr id="20" name="Text 16"/>
          <p:cNvSpPr txBox="1"/>
          <p:nvPr/>
        </p:nvSpPr>
        <p:spPr>
          <a:xfrm>
            <a:off x="7423099"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مبالغ با نرخ‌های تسعیر به ریال برمی‌گردد؛ سهم غیرکنترلی و اختلاف تسعیر در حساب‌های جدا می‌نشیند.</a:t>
            </a:r>
            <a:endParaRPr lang="en-US" sz="1150" dirty="0"/>
          </a:p>
        </p:txBody>
      </p:sp>
      <p:sp>
        <p:nvSpPr>
          <p:cNvPr id="21" name="Shape 17"/>
          <p:cNvSpPr/>
          <p:nvPr/>
        </p:nvSpPr>
        <p:spPr>
          <a:xfrm>
            <a:off x="5012741" y="4089349"/>
            <a:ext cx="2163470" cy="2265731"/>
          </a:xfrm>
          <a:prstGeom prst="roundRect">
            <a:avLst>
              <a:gd name="adj" fmla="val 3381"/>
            </a:avLst>
          </a:prstGeom>
          <a:solidFill>
            <a:srgbClr val="FFFFFF"/>
          </a:solidFill>
          <a:ln w="6350">
            <a:solidFill>
              <a:srgbClr val="D9DEE7"/>
            </a:solidFill>
            <a:prstDash val="solid"/>
          </a:ln>
        </p:spPr>
      </p:sp>
      <p:sp>
        <p:nvSpPr>
          <p:cNvPr id="22" name="Shape 18"/>
          <p:cNvSpPr/>
          <p:nvPr/>
        </p:nvSpPr>
        <p:spPr>
          <a:xfrm>
            <a:off x="6746443" y="4180789"/>
            <a:ext cx="329184" cy="329184"/>
          </a:xfrm>
          <a:prstGeom prst="ellipse">
            <a:avLst/>
          </a:prstGeom>
          <a:solidFill>
            <a:srgbClr val="C9A227"/>
          </a:solidFill>
          <a:ln w="12700">
            <a:solidFill>
              <a:srgbClr val="C9A227"/>
            </a:solidFill>
            <a:prstDash val="solid"/>
          </a:ln>
        </p:spPr>
      </p:sp>
      <p:sp>
        <p:nvSpPr>
          <p:cNvPr id="23" name="Text 19"/>
          <p:cNvSpPr txBox="1"/>
          <p:nvPr/>
        </p:nvSpPr>
        <p:spPr>
          <a:xfrm>
            <a:off x="6746443"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txBox="1"/>
          <p:nvPr/>
        </p:nvSpPr>
        <p:spPr>
          <a:xfrm>
            <a:off x="5104181"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جریان نقد</a:t>
            </a:r>
            <a:endParaRPr lang="en-US" sz="1300" dirty="0"/>
          </a:p>
        </p:txBody>
      </p:sp>
      <p:sp>
        <p:nvSpPr>
          <p:cNvPr id="25" name="Text 21"/>
          <p:cNvSpPr txBox="1"/>
          <p:nvPr/>
        </p:nvSpPr>
        <p:spPr>
          <a:xfrm>
            <a:off x="5122469"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«حساب‌های نقد (انتخاب‌گر)» را تعیین کنید؛ ردیف‌های صورت جریان نقد از طرف مقابل اسناد نقدی پر می‌شوند.</a:t>
            </a:r>
            <a:endParaRPr lang="en-US" sz="1150" dirty="0"/>
          </a:p>
        </p:txBody>
      </p:sp>
      <p:sp>
        <p:nvSpPr>
          <p:cNvPr id="26" name="Shape 22"/>
          <p:cNvSpPr/>
          <p:nvPr/>
        </p:nvSpPr>
        <p:spPr>
          <a:xfrm>
            <a:off x="2712110" y="4089349"/>
            <a:ext cx="2163470" cy="2265731"/>
          </a:xfrm>
          <a:prstGeom prst="roundRect">
            <a:avLst>
              <a:gd name="adj" fmla="val 3381"/>
            </a:avLst>
          </a:prstGeom>
          <a:solidFill>
            <a:srgbClr val="FFFFFF"/>
          </a:solidFill>
          <a:ln w="6350">
            <a:solidFill>
              <a:srgbClr val="D9DEE7"/>
            </a:solidFill>
            <a:prstDash val="solid"/>
          </a:ln>
        </p:spPr>
      </p:sp>
      <p:sp>
        <p:nvSpPr>
          <p:cNvPr id="27" name="Shape 23"/>
          <p:cNvSpPr/>
          <p:nvPr/>
        </p:nvSpPr>
        <p:spPr>
          <a:xfrm>
            <a:off x="4445813" y="4180789"/>
            <a:ext cx="329184" cy="329184"/>
          </a:xfrm>
          <a:prstGeom prst="ellipse">
            <a:avLst/>
          </a:prstGeom>
          <a:solidFill>
            <a:srgbClr val="C9A227"/>
          </a:solidFill>
          <a:ln w="12700">
            <a:solidFill>
              <a:srgbClr val="C9A227"/>
            </a:solidFill>
            <a:prstDash val="solid"/>
          </a:ln>
        </p:spPr>
      </p:sp>
      <p:sp>
        <p:nvSpPr>
          <p:cNvPr id="28" name="Text 24"/>
          <p:cNvSpPr txBox="1"/>
          <p:nvPr/>
        </p:nvSpPr>
        <p:spPr>
          <a:xfrm>
            <a:off x="4445813"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txBox="1"/>
          <p:nvPr/>
        </p:nvSpPr>
        <p:spPr>
          <a:xfrm>
            <a:off x="2803550"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تعدیلات سنواتی</a:t>
            </a:r>
            <a:endParaRPr lang="en-US" sz="1300" dirty="0"/>
          </a:p>
        </p:txBody>
      </p:sp>
      <p:sp>
        <p:nvSpPr>
          <p:cNvPr id="30" name="Text 26"/>
          <p:cNvSpPr txBox="1"/>
          <p:nvPr/>
        </p:nvSpPr>
        <p:spPr>
          <a:xfrm>
            <a:off x="2821838"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«حساب تعدیلات سنواتی» برای ستون سال قبلِ تجدید ارائه‌شده به کار می‌رود.</a:t>
            </a:r>
            <a:endParaRPr lang="en-US" sz="1150" dirty="0"/>
          </a:p>
        </p:txBody>
      </p:sp>
      <p:sp>
        <p:nvSpPr>
          <p:cNvPr id="31" name="Shape 27"/>
          <p:cNvSpPr/>
          <p:nvPr/>
        </p:nvSpPr>
        <p:spPr>
          <a:xfrm>
            <a:off x="411480" y="4089349"/>
            <a:ext cx="2163470" cy="2265731"/>
          </a:xfrm>
          <a:prstGeom prst="roundRect">
            <a:avLst>
              <a:gd name="adj" fmla="val 3381"/>
            </a:avLst>
          </a:prstGeom>
          <a:solidFill>
            <a:srgbClr val="FFFFFF"/>
          </a:solidFill>
          <a:ln w="6350">
            <a:solidFill>
              <a:srgbClr val="D9DEE7"/>
            </a:solidFill>
            <a:prstDash val="solid"/>
          </a:ln>
        </p:spPr>
      </p:sp>
      <p:sp>
        <p:nvSpPr>
          <p:cNvPr id="32" name="Shape 28"/>
          <p:cNvSpPr/>
          <p:nvPr/>
        </p:nvSpPr>
        <p:spPr>
          <a:xfrm>
            <a:off x="2145182" y="4180789"/>
            <a:ext cx="329184" cy="329184"/>
          </a:xfrm>
          <a:prstGeom prst="ellipse">
            <a:avLst/>
          </a:prstGeom>
          <a:solidFill>
            <a:srgbClr val="C9A227"/>
          </a:solidFill>
          <a:ln w="12700">
            <a:solidFill>
              <a:srgbClr val="C9A227"/>
            </a:solidFill>
            <a:prstDash val="solid"/>
          </a:ln>
        </p:spPr>
      </p:sp>
      <p:sp>
        <p:nvSpPr>
          <p:cNvPr id="33" name="Text 29"/>
          <p:cNvSpPr txBox="1"/>
          <p:nvPr/>
        </p:nvSpPr>
        <p:spPr>
          <a:xfrm>
            <a:off x="2145182"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txBox="1"/>
          <p:nvPr/>
        </p:nvSpPr>
        <p:spPr>
          <a:xfrm>
            <a:off x="502920" y="4162501"/>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XBRL</a:t>
            </a:r>
            <a:endParaRPr lang="en-US" sz="1300" dirty="0"/>
          </a:p>
        </p:txBody>
      </p:sp>
      <p:sp>
        <p:nvSpPr>
          <p:cNvPr id="35" name="Text 31"/>
          <p:cNvSpPr txBox="1"/>
          <p:nvPr/>
        </p:nvSpPr>
        <p:spPr>
          <a:xfrm>
            <a:off x="521208" y="4564837"/>
            <a:ext cx="1944014" cy="1735379"/>
          </a:xfrm>
          <a:prstGeom prst="rect">
            <a:avLst/>
          </a:prstGeom>
          <a:noFill/>
          <a:ln/>
        </p:spPr>
        <p:txBody>
          <a:bodyPr wrap="square" lIns="0" tIns="0" rIns="0" bIns="0" rtlCol="0" anchor="t"/>
          <a:lstStyle/>
          <a:p>
            <a:pPr rtl="1" algn="r" indent="0" marL="0">
              <a:lnSpc>
                <a:spcPct val="105000"/>
              </a:lnSpc>
              <a:buNone/>
            </a:pPr>
            <a:r>
              <a:rPr lang="en-US" sz="1150" dirty="0">
                <a:solidFill>
                  <a:srgbClr val="1F2937"/>
                </a:solidFill>
                <a:latin typeface="Tahoma" pitchFamily="34" charset="0"/>
                <a:ea typeface="Tahoma" pitchFamily="34" charset="-122"/>
                <a:cs typeface="Tahoma" pitchFamily="34" charset="-120"/>
              </a:rPr>
              <a:t>آدرس طبقه‌بندی، فضای نام و طرح شناسهٔ واحد را تنظیم و در «نگاشت XBRL» ردیف‌ها را به عناصر وصل کنید؛ خروجی از دکمهٔ XBRL صفحهٔ اجرا.</a:t>
            </a:r>
            <a:endParaRPr lang="en-US" sz="1150" dirty="0"/>
          </a:p>
        </p:txBody>
      </p:sp>
      <p:sp>
        <p:nvSpPr>
          <p:cNvPr id="36" name="Text 32"/>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11480" y="292608"/>
            <a:ext cx="11365992" cy="566928"/>
          </a:xfrm>
          <a:prstGeom prst="rect">
            <a:avLst/>
          </a:prstGeom>
          <a:noFill/>
          <a:ln/>
        </p:spPr>
        <p:txBody>
          <a:bodyPr wrap="square" lIns="0" tIns="0" rIns="0" bIns="0" rtlCol="0" anchor="ctr"/>
          <a:lstStyle/>
          <a:p>
            <a:pPr rtl="1" algn="r" indent="0" marL="0">
              <a:buNone/>
            </a:pPr>
            <a:r>
              <a:rPr lang="en-US" sz="2600" b="1" dirty="0">
                <a:solidFill>
                  <a:srgbClr val="1B2A49"/>
                </a:solidFill>
                <a:latin typeface="Tahoma" pitchFamily="34" charset="0"/>
                <a:ea typeface="Tahoma" pitchFamily="34" charset="-122"/>
                <a:cs typeface="Tahoma" pitchFamily="34" charset="-120"/>
              </a:rPr>
              <a:t>پیام‌های رایج و راه‌حل</a:t>
            </a:r>
            <a:endParaRPr lang="en-US" sz="2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a:tblGrid>
                <a:gridCol w="4572000"/>
                <a:gridCol w="6793992"/>
              </a:tblGrid>
              <a:tr h="37490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پیام</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چه باید کرد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شما تنخواه‌دار این تنخواه نیستید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فقط تنخواه‌دار تعریف‌شده در «تعریف تنخواه» صورت‌هزینه ثبت می‌کند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نمی‌توانید سند خودتان را بررسی کنید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تفکیک وظایف؛ بررسی، تأیید و اجرا باید با کاربر دیگری انجام شود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هنوز کنترل بازرس انجام نشده</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پیش از تأیید نهایی، بازرس مالی «تأیید کنترل» را ثبت کند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خارج از سقف اختیار شما</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مبلغ از سقف اختیار مدیر مالی بیشتر است؛ مدیرعامل تأیید کند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تنظیمات خزانه تعریف نشده / حساب … تعریف نشده</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مدیر مالی «تنظیمات خزانه» را کامل و ذخیره کند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موجودی مبدأ کافی نیست / سقف روزانهٔ انتقال</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مبلغ انتقال را اصلاح یا سقف را در تنظیمات بازبینی کنید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کنترل مسدودکنندهٔ ناموفق — ارسال ممکن نیست</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زبانهٔ «کنترل‌ها»: نگاشت حساب‌ها یا مقادیر دستی را اصلاح و دوباره تهیه کنید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اجرای آزمایشی قابل ارسال نیست</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قالب‌های پیش‌نویس را فعال کنید و بدون گزینهٔ «پیش‌نویس‌ها» تهیه کنید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انتشار ممکن نیست — دوره قفل نشده (V-11)</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در «بستن دوره» دورهٔ همهٔ واحدهای دامنه را قفل کنید، سپس منتشر کنید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برای این عملیات دسترسی ندارید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مدیر دسترسی در «دسترسی صورت‌های مالی» عملیات لازم را برای واحد و مجموعه بدهد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شما مرحلهٔ قبلی را تأیید کرده‌اید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هر مرحلهٔ تأیید باید با کاربر دیگری انجام شود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نقشی در سامانهٔ مالی تعریف نشده است</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مدیر سامانهٔ ورود سازمان یکی از نقش‌های سامانهٔ مالی را به شما بدهد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74904">
                <a:tc>
                  <a:txBody>
                    <a:bodyPr/>
                    <a:lstStyle/>
                    <a:p>
                      <a:pPr algn="r" indent="0" marL="0">
                        <a:buNone/>
                      </a:pPr>
                      <a:r>
                        <a:rPr lang="en-US" sz="1150" b="1" dirty="0">
                          <a:solidFill>
                            <a:srgbClr val="1B2A49"/>
                          </a:solidFill>
                          <a:latin typeface="Tahoma" pitchFamily="34" charset="0"/>
                          <a:ea typeface="Tahoma" pitchFamily="34" charset="-122"/>
                          <a:cs typeface="Tahoma" pitchFamily="34" charset="-120"/>
                        </a:rPr>
                        <a:t>لایسنس منقضی شده؛ سامانه فقط‌خواندنی است</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 پشتیبانی برای تمدید تماس بگیرید؛ فایل تازه در «اطلاعات پایه ← لایسنس» بارگذاری می‌شود</a:t>
                      </a:r>
                      <a:endParaRPr lang="en-US" sz="11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217920" y="6446520"/>
            <a:ext cx="5559552" cy="274320"/>
          </a:xfrm>
          <a:prstGeom prst="rect">
            <a:avLst/>
          </a:prstGeom>
          <a:noFill/>
          <a:ln/>
        </p:spPr>
        <p:txBody>
          <a:bodyPr wrap="square" lIns="0" tIns="0" rIns="0" bIns="0" rtlCol="0" anchor="ctr"/>
          <a:lstStyle/>
          <a:p>
            <a:pPr rtl="1" algn="r" indent="0" marL="0">
              <a:buNone/>
            </a:pPr>
            <a:r>
              <a:rPr lang="en-US" sz="1000" dirty="0">
                <a:solidFill>
                  <a:srgbClr val="5B6678"/>
                </a:solidFill>
                <a:latin typeface="Tahoma" pitchFamily="34" charset="0"/>
                <a:ea typeface="Tahoma" pitchFamily="34" charset="-122"/>
                <a:cs typeface="Tahoma" pitchFamily="34" charset="-120"/>
              </a:rPr>
              <a:t>راهنمای کاربری سامانهٔ حسابداری  ·  پیوست</a:t>
            </a:r>
            <a:endParaRPr lang="en-US" sz="10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B2A49"/>
        </a:solidFill>
      </p:bgPr>
    </p:bg>
    <p:spTree>
      <p:nvGrpSpPr>
        <p:cNvPr id="1" name=""/>
        <p:cNvGrpSpPr/>
        <p:nvPr/>
      </p:nvGrpSpPr>
      <p:grpSpPr>
        <a:xfrm>
          <a:off x="0" y="0"/>
          <a:ext cx="0" cy="0"/>
          <a:chOff x="0" y="0"/>
          <a:chExt cx="0" cy="0"/>
        </a:xfrm>
      </p:grpSpPr>
      <p:sp>
        <p:nvSpPr>
          <p:cNvPr id="2" name="Shape 0"/>
          <p:cNvSpPr/>
          <p:nvPr/>
        </p:nvSpPr>
        <p:spPr>
          <a:xfrm>
            <a:off x="9326880" y="-1371600"/>
            <a:ext cx="4572000" cy="4572000"/>
          </a:xfrm>
          <a:prstGeom prst="ellipse">
            <a:avLst/>
          </a:prstGeom>
          <a:solidFill>
            <a:srgbClr val="25385F"/>
          </a:solidFill>
          <a:ln w="12700">
            <a:solidFill>
              <a:srgbClr val="25385F"/>
            </a:solidFill>
            <a:prstDash val="solid"/>
          </a:ln>
        </p:spPr>
      </p:sp>
      <p:sp>
        <p:nvSpPr>
          <p:cNvPr id="3" name="Text 1"/>
          <p:cNvSpPr txBox="1"/>
          <p:nvPr/>
        </p:nvSpPr>
        <p:spPr>
          <a:xfrm>
            <a:off x="731520" y="914400"/>
            <a:ext cx="10698480" cy="73152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جمع‌بندی</a:t>
            </a:r>
            <a:endParaRPr lang="en-US" sz="3600" dirty="0"/>
          </a:p>
        </p:txBody>
      </p:sp>
      <p:sp>
        <p:nvSpPr>
          <p:cNvPr id="4" name="Shape 2"/>
          <p:cNvSpPr/>
          <p:nvPr/>
        </p:nvSpPr>
        <p:spPr>
          <a:xfrm>
            <a:off x="10881360" y="2011680"/>
            <a:ext cx="502920" cy="502920"/>
          </a:xfrm>
          <a:prstGeom prst="ellipse">
            <a:avLst/>
          </a:prstGeom>
          <a:solidFill>
            <a:srgbClr val="C9A227"/>
          </a:solidFill>
          <a:ln w="12700">
            <a:solidFill>
              <a:srgbClr val="C9A227"/>
            </a:solidFill>
            <a:prstDash val="solid"/>
          </a:ln>
        </p:spPr>
      </p:sp>
      <p:sp>
        <p:nvSpPr>
          <p:cNvPr id="5" name="Text 3"/>
          <p:cNvSpPr txBox="1"/>
          <p:nvPr/>
        </p:nvSpPr>
        <p:spPr>
          <a:xfrm>
            <a:off x="10881360" y="2011680"/>
            <a:ext cx="502920" cy="50292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txBox="1"/>
          <p:nvPr/>
        </p:nvSpPr>
        <p:spPr>
          <a:xfrm>
            <a:off x="6858000" y="2011680"/>
            <a:ext cx="3840480" cy="502920"/>
          </a:xfrm>
          <a:prstGeom prst="rect">
            <a:avLst/>
          </a:prstGeom>
          <a:noFill/>
          <a:ln/>
        </p:spPr>
        <p:txBody>
          <a:bodyPr wrap="square" lIns="0" tIns="0" rIns="0" bIns="0" rtlCol="0" anchor="ctr"/>
          <a:lstStyle/>
          <a:p>
            <a:pPr rtl="1" algn="r" indent="0" marL="0">
              <a:buNone/>
            </a:pPr>
            <a:r>
              <a:rPr lang="en-US" sz="2000" b="1" dirty="0">
                <a:solidFill>
                  <a:srgbClr val="C9A227"/>
                </a:solidFill>
                <a:latin typeface="Tahoma" pitchFamily="34" charset="0"/>
                <a:ea typeface="Tahoma" pitchFamily="34" charset="-122"/>
                <a:cs typeface="Tahoma" pitchFamily="34" charset="-120"/>
              </a:rPr>
              <a:t>تنخواه</a:t>
            </a:r>
            <a:endParaRPr lang="en-US" sz="2000" dirty="0"/>
          </a:p>
        </p:txBody>
      </p:sp>
      <p:sp>
        <p:nvSpPr>
          <p:cNvPr id="7" name="Text 5"/>
          <p:cNvSpPr txBox="1"/>
          <p:nvPr/>
        </p:nvSpPr>
        <p:spPr>
          <a:xfrm>
            <a:off x="731520" y="2468880"/>
            <a:ext cx="9966960" cy="457200"/>
          </a:xfrm>
          <a:prstGeom prst="rect">
            <a:avLst/>
          </a:prstGeom>
          <a:noFill/>
          <a:ln/>
        </p:spPr>
        <p:txBody>
          <a:bodyPr wrap="square" lIns="0" tIns="0" rIns="0" bIns="0" rtlCol="0" anchor="ctr"/>
          <a:lstStyle/>
          <a:p>
            <a:pPr rtl="1" algn="r" indent="0" marL="0">
              <a:buNone/>
            </a:pPr>
            <a:r>
              <a:rPr lang="en-US" sz="1500" dirty="0">
                <a:solidFill>
                  <a:srgbClr val="D7DEEA"/>
                </a:solidFill>
                <a:latin typeface="Tahoma" pitchFamily="34" charset="0"/>
                <a:ea typeface="Tahoma" pitchFamily="34" charset="-122"/>
                <a:cs typeface="Tahoma" pitchFamily="34" charset="-120"/>
              </a:rPr>
              <a:t>تعریف ← ثبت صورت‌هزینه ← کنترل و تأیید ← ترمیم ← تسویه و سند</a:t>
            </a:r>
            <a:endParaRPr lang="en-US" sz="1500" dirty="0"/>
          </a:p>
        </p:txBody>
      </p:sp>
      <p:sp>
        <p:nvSpPr>
          <p:cNvPr id="8" name="Shape 6"/>
          <p:cNvSpPr/>
          <p:nvPr/>
        </p:nvSpPr>
        <p:spPr>
          <a:xfrm>
            <a:off x="10881360" y="3063240"/>
            <a:ext cx="502920" cy="502920"/>
          </a:xfrm>
          <a:prstGeom prst="ellipse">
            <a:avLst/>
          </a:prstGeom>
          <a:solidFill>
            <a:srgbClr val="C9A227"/>
          </a:solidFill>
          <a:ln w="12700">
            <a:solidFill>
              <a:srgbClr val="C9A227"/>
            </a:solidFill>
            <a:prstDash val="solid"/>
          </a:ln>
        </p:spPr>
      </p:sp>
      <p:sp>
        <p:nvSpPr>
          <p:cNvPr id="9" name="Text 7"/>
          <p:cNvSpPr txBox="1"/>
          <p:nvPr/>
        </p:nvSpPr>
        <p:spPr>
          <a:xfrm>
            <a:off x="10881360" y="3063240"/>
            <a:ext cx="502920" cy="50292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0" name="Text 8"/>
          <p:cNvSpPr txBox="1"/>
          <p:nvPr/>
        </p:nvSpPr>
        <p:spPr>
          <a:xfrm>
            <a:off x="6858000" y="3063240"/>
            <a:ext cx="3840480" cy="502920"/>
          </a:xfrm>
          <a:prstGeom prst="rect">
            <a:avLst/>
          </a:prstGeom>
          <a:noFill/>
          <a:ln/>
        </p:spPr>
        <p:txBody>
          <a:bodyPr wrap="square" lIns="0" tIns="0" rIns="0" bIns="0" rtlCol="0" anchor="ctr"/>
          <a:lstStyle/>
          <a:p>
            <a:pPr rtl="1" algn="r" indent="0" marL="0">
              <a:buNone/>
            </a:pPr>
            <a:r>
              <a:rPr lang="en-US" sz="2000" b="1" dirty="0">
                <a:solidFill>
                  <a:srgbClr val="C9A227"/>
                </a:solidFill>
                <a:latin typeface="Tahoma" pitchFamily="34" charset="0"/>
                <a:ea typeface="Tahoma" pitchFamily="34" charset="-122"/>
                <a:cs typeface="Tahoma" pitchFamily="34" charset="-120"/>
              </a:rPr>
              <a:t>خزانه</a:t>
            </a:r>
            <a:endParaRPr lang="en-US" sz="2000" dirty="0"/>
          </a:p>
        </p:txBody>
      </p:sp>
      <p:sp>
        <p:nvSpPr>
          <p:cNvPr id="11" name="Text 9"/>
          <p:cNvSpPr txBox="1"/>
          <p:nvPr/>
        </p:nvSpPr>
        <p:spPr>
          <a:xfrm>
            <a:off x="731520" y="3520440"/>
            <a:ext cx="9966960" cy="457200"/>
          </a:xfrm>
          <a:prstGeom prst="rect">
            <a:avLst/>
          </a:prstGeom>
          <a:noFill/>
          <a:ln/>
        </p:spPr>
        <p:txBody>
          <a:bodyPr wrap="square" lIns="0" tIns="0" rIns="0" bIns="0" rtlCol="0" anchor="ctr"/>
          <a:lstStyle/>
          <a:p>
            <a:pPr rtl="1" algn="r" indent="0" marL="0">
              <a:buNone/>
            </a:pPr>
            <a:r>
              <a:rPr lang="en-US" sz="1500" dirty="0">
                <a:solidFill>
                  <a:srgbClr val="D7DEEA"/>
                </a:solidFill>
                <a:latin typeface="Tahoma" pitchFamily="34" charset="0"/>
                <a:ea typeface="Tahoma" pitchFamily="34" charset="-122"/>
                <a:cs typeface="Tahoma" pitchFamily="34" charset="-120"/>
              </a:rPr>
              <a:t>درخواست ← تأیید چندمرحله‌ای ← اجرا؛ دریافت، انتقال و مغایرت بانکی</a:t>
            </a:r>
            <a:endParaRPr lang="en-US" sz="1500" dirty="0"/>
          </a:p>
        </p:txBody>
      </p:sp>
      <p:sp>
        <p:nvSpPr>
          <p:cNvPr id="12" name="Shape 10"/>
          <p:cNvSpPr/>
          <p:nvPr/>
        </p:nvSpPr>
        <p:spPr>
          <a:xfrm>
            <a:off x="10881360" y="4114800"/>
            <a:ext cx="502920" cy="502920"/>
          </a:xfrm>
          <a:prstGeom prst="ellipse">
            <a:avLst/>
          </a:prstGeom>
          <a:solidFill>
            <a:srgbClr val="C9A227"/>
          </a:solidFill>
          <a:ln w="12700">
            <a:solidFill>
              <a:srgbClr val="C9A227"/>
            </a:solidFill>
            <a:prstDash val="solid"/>
          </a:ln>
        </p:spPr>
      </p:sp>
      <p:sp>
        <p:nvSpPr>
          <p:cNvPr id="13" name="Text 11"/>
          <p:cNvSpPr txBox="1"/>
          <p:nvPr/>
        </p:nvSpPr>
        <p:spPr>
          <a:xfrm>
            <a:off x="10881360" y="4114800"/>
            <a:ext cx="502920" cy="50292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4" name="Text 12"/>
          <p:cNvSpPr txBox="1"/>
          <p:nvPr/>
        </p:nvSpPr>
        <p:spPr>
          <a:xfrm>
            <a:off x="6858000" y="4114800"/>
            <a:ext cx="3840480" cy="502920"/>
          </a:xfrm>
          <a:prstGeom prst="rect">
            <a:avLst/>
          </a:prstGeom>
          <a:noFill/>
          <a:ln/>
        </p:spPr>
        <p:txBody>
          <a:bodyPr wrap="square" lIns="0" tIns="0" rIns="0" bIns="0" rtlCol="0" anchor="ctr"/>
          <a:lstStyle/>
          <a:p>
            <a:pPr rtl="1" algn="r" indent="0" marL="0">
              <a:buNone/>
            </a:pPr>
            <a:r>
              <a:rPr lang="en-US" sz="2000" b="1" dirty="0">
                <a:solidFill>
                  <a:srgbClr val="C9A227"/>
                </a:solidFill>
                <a:latin typeface="Tahoma" pitchFamily="34" charset="0"/>
                <a:ea typeface="Tahoma" pitchFamily="34" charset="-122"/>
                <a:cs typeface="Tahoma" pitchFamily="34" charset="-120"/>
              </a:rPr>
              <a:t>صورت‌های مالی</a:t>
            </a:r>
            <a:endParaRPr lang="en-US" sz="2000" dirty="0"/>
          </a:p>
        </p:txBody>
      </p:sp>
      <p:sp>
        <p:nvSpPr>
          <p:cNvPr id="15" name="Text 13"/>
          <p:cNvSpPr txBox="1"/>
          <p:nvPr/>
        </p:nvSpPr>
        <p:spPr>
          <a:xfrm>
            <a:off x="731520" y="4572000"/>
            <a:ext cx="9966960" cy="457200"/>
          </a:xfrm>
          <a:prstGeom prst="rect">
            <a:avLst/>
          </a:prstGeom>
          <a:noFill/>
          <a:ln/>
        </p:spPr>
        <p:txBody>
          <a:bodyPr wrap="square" lIns="0" tIns="0" rIns="0" bIns="0" rtlCol="0" anchor="ctr"/>
          <a:lstStyle/>
          <a:p>
            <a:pPr rtl="1" algn="r" indent="0" marL="0">
              <a:buNone/>
            </a:pPr>
            <a:r>
              <a:rPr lang="en-US" sz="1500" dirty="0">
                <a:solidFill>
                  <a:srgbClr val="D7DEEA"/>
                </a:solidFill>
                <a:latin typeface="Tahoma" pitchFamily="34" charset="0"/>
                <a:ea typeface="Tahoma" pitchFamily="34" charset="-122"/>
                <a:cs typeface="Tahoma" pitchFamily="34" charset="-120"/>
              </a:rPr>
              <a:t>قالب و نگاشت ← تهیه ← کنترل و یادداشت‌ها ← تأیید ← بستن دوره و انتشار</a:t>
            </a:r>
            <a:endParaRPr lang="en-US" sz="1500" dirty="0"/>
          </a:p>
        </p:txBody>
      </p:sp>
      <p:sp>
        <p:nvSpPr>
          <p:cNvPr id="16" name="Text 14"/>
          <p:cNvSpPr txBox="1"/>
          <p:nvPr/>
        </p:nvSpPr>
        <p:spPr>
          <a:xfrm>
            <a:off x="731520" y="5577840"/>
            <a:ext cx="10698480" cy="457200"/>
          </a:xfrm>
          <a:prstGeom prst="rect">
            <a:avLst/>
          </a:prstGeom>
          <a:noFill/>
          <a:ln/>
        </p:spPr>
        <p:txBody>
          <a:bodyPr wrap="square" lIns="0" tIns="0" rIns="0" bIns="0" rtlCol="0" anchor="ctr"/>
          <a:lstStyle/>
          <a:p>
            <a:pPr rtl="1" algn="r" indent="0" marL="0">
              <a:buNone/>
            </a:pPr>
            <a:r>
              <a:rPr lang="en-US" sz="1500" dirty="0">
                <a:solidFill>
                  <a:srgbClr val="A9B4C8"/>
                </a:solidFill>
                <a:latin typeface="Tahoma" pitchFamily="34" charset="0"/>
                <a:ea typeface="Tahoma" pitchFamily="34" charset="-122"/>
                <a:cs typeface="Tahoma" pitchFamily="34" charset="-120"/>
              </a:rPr>
              <a:t>مرحلهٔ بعد: اطلاعات پایه، صدور سند، دفتر چک، اعلامیه، گزارش‌های حسابداری و حسابیار</a:t>
            </a:r>
            <a:endParaRPr lang="en-US" sz="1500" dirty="0"/>
          </a:p>
        </p:txBody>
      </p:sp>
      <p:sp>
        <p:nvSpPr>
          <p:cNvPr id="25" name="Slide Number Placeholder 0"/>
          <p:cNvSpPr>
            <a:spLocks noGrp="1"/>
          </p:cNvSpPr>
          <p:nvPr>
            <p:ph type="sldNum" sz="quarter" idx="4294967295"/>
          </p:nvPr>
        </p:nvSpPr>
        <p:spPr>
          <a:xfrm>
            <a:off x="4114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8"/>
                </a:solidFill>
                <a:latin typeface="Tahoma"/>
                <a:ea typeface="Tahoma"/>
                <a:cs typeface="Tahoma"/>
              </a:defRPr>
            </a:lvl1pPr>
          </a:lstStyle>
          <a:p>
            <a:pPr algn="l"/>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AccountCore Guide">
  <a:themeElements>
    <a:clrScheme name="AccountCore Guide">
      <a:dk1>
        <a:srgbClr val="1F2937"/>
      </a:dk1>
      <a:lt1>
        <a:srgbClr val="FFFFFF"/>
      </a:lt1>
      <a:dk2>
        <a:srgbClr val="1B2A49"/>
      </a:dk2>
      <a:lt2>
        <a:srgbClr val="F4F6FA"/>
      </a:lt2>
      <a:accent1>
        <a:srgbClr val="C9A227"/>
      </a:accent1>
      <a:accent2>
        <a:srgbClr val="25385F"/>
      </a:accent2>
      <a:accent3>
        <a:srgbClr val="1E8E5A"/>
      </a:accent3>
      <a:accent4>
        <a:srgbClr val="C2410C"/>
      </a:accent4>
      <a:accent5>
        <a:srgbClr val="2563EB"/>
      </a:accent5>
      <a:accent6>
        <a:srgbClr val="7C3AED"/>
      </a:accent6>
      <a:hlink>
        <a:srgbClr val="2563EB"/>
      </a:hlink>
      <a:folHlink>
        <a:srgbClr val="7C3AED"/>
      </a:folHlink>
    </a:clrScheme>
    <a:fontScheme name="AccountCore Guid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راهنمای کاربری — تنخواه، دریافت و پرداخت، صورت‌های مالی</dc:title>
  <dc:subject>PptxGenJS Presentation</dc:subject>
  <dc:creator>Alireza Abouhossein</dc:creator>
  <cp:lastModifiedBy>Alireza Abouhossein</cp:lastModifiedBy>
  <cp:revision>1</cp:revision>
  <dcterms:created xsi:type="dcterms:W3CDTF">2026-10-15T12:05:29Z</dcterms:created>
  <dcterms:modified xsi:type="dcterms:W3CDTF">2026-10-15T12:05:29Z</dcterms:modified>
</cp:coreProperties>
</file>