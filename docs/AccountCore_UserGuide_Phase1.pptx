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مقدمه" id="{b4ec2da7-f45d-044b-6a07-7614bad2d613}">
          <p14:sldIdLst>
            <p14:sldId id="256"/>
            <p14:sldId id="257"/>
          </p14:sldIdLst>
        </p14:section>
        <p14:section name="شروع کار" id="{268110be-a6ad-acac-b244-6377477d9b6f}">
          <p14:sldIdLst>
            <p14:sldId id="258"/>
          </p14:sldIdLst>
        </p14:section>
        <p14:section name="تنخواه‌گردان" id="{3d775f85-cd32-4a3d-23b0-7af820507d25}">
          <p14:sldIdLst>
            <p14:sldId id="259"/>
          </p14:sldIdLst>
        </p14:section>
        <p14:section name="تنخواه" id="{97c6d1d7-a8a5-e756-f84c-e06cb0e01005}">
          <p14:sldIdLst>
            <p14:sldId id="260"/>
            <p14:sldId id="261"/>
            <p14:sldId id="262"/>
            <p14:sldId id="263"/>
            <p14:sldId id="264"/>
            <p14:sldId id="265"/>
            <p14:sldId id="266"/>
            <p14:sldId id="267"/>
            <p14:sldId id="268"/>
            <p14:sldId id="269"/>
            <p14:sldId id="270"/>
            <p14:sldId id="271"/>
            <p14:sldId id="272"/>
            <p14:sldId id="273"/>
            <p14:sldId id="274"/>
            <p14:sldId id="275"/>
            <p14:sldId id="276"/>
          </p14:sldIdLst>
        </p14:section>
        <p14:section name="دریافت و پرداخت (خزانه‌داری)" id="{ae335129-c712-a9a0-231d-eb9c6b010b44}">
          <p14:sldIdLst>
            <p14:sldId id="277"/>
          </p14:sldIdLst>
        </p14:section>
        <p14:section name="خزانه" id="{7013cbb7-0a9f-a376-ca73-af57198b5e9e}">
          <p14:sldIdLst>
            <p14:sldId id="278"/>
            <p14:sldId id="279"/>
            <p14:sldId id="280"/>
            <p14:sldId id="281"/>
            <p14:sldId id="282"/>
            <p14:sldId id="283"/>
            <p14:sldId id="284"/>
            <p14:sldId id="285"/>
            <p14:sldId id="286"/>
            <p14:sldId id="287"/>
            <p14:sldId id="288"/>
            <p14:sldId id="289"/>
            <p14:sldId id="290"/>
          </p14:sldIdLst>
        </p14:section>
        <p14:section name="صورت‌های مالی" id="{188f624e-d310-3205-0fba-6a62aaa579e9}">
          <p14:sldIdLst>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 name="پیوست" id="{59434bf2-65a0-dfcc-0b6c-0aa236724733}">
          <p14:sldIdLst>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راهنما بر اساس فرم‌های واقعی نسخهٔ جاری برنامه تهیه شده است. اعداد و نام‌ها در تصاویر نمونه‌اند.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ورود: با دکمهٔ «ورود با حساب سازمانی» از سامانهٔ احراز هویت سازمان وارد شوید.
2. سال مالی و واحد: در نوار بالا روی نام واحد و سال کلیک کنید و سال مالی و واحدی را که می‌خواهید به نام آن کار کنید انتخاب کنید.
3. اثر انتخاب: همهٔ فرم‌ها، فهرست‌ها و گزارش‌ها فقط دادهٔ همین واحد و سال را نشان می‌دهند؛ واحدی که مجوزش را ندارید با خطای «دسترسی ندارید» رد می‌شود.
4. ستاد مرکزی: کاربر ستاد می‌تواند به جای هر واحد عمل کند و در صورت‌های مالی، ترکیبی همهٔ زیرمجموعه‌ها را ببیند.
نکته: پیش از هر کاری سال مالی و واحد را بررسی کنید؛ بیشتر خطاهای «یافت نشد» به‌خاطر انتخاب واحد یا سال اشتباه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تنخواه — سقف، تنخواه‌دار، بررسی‌کنندگان
2. ثبت صورت‌هزینه — تنخواه‌دار + پیوست
3. بررسی و تأیید — بازرس ← مدیر مالی/مدیرعامل
4. ترمیم (شارژ) — مدیر مالی ← خزانه‌دار
5. تسویهٔ دوره — شمارش صندوق + سند حسابداری
معادلهٔ تراز تنخواه:  سقف تنخواه = موجودی نقد + تأییدشدهٔ منتظر ترمیم + اسناد در جریان − استرداد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هر ردیف یک تنخواه است با کد، عنوان، تنخواه‌دار، سقف، سقف هر سند و موجودی نقد لحظه‌ای.
2. تنخواه جدید: دکمهٔ «تنخواه جدید» را بزنید تا فرم تعریف باز شود (اسلاید بعد).
3. آیکون‌های ردیف: ویرایش، «بررسی‌کنندگان»، «تفصیلی‌های حساب معین» و حذف.
4. غیرفعال‌سازی: تنخواه غیرفعال صورت‌هزینهٔ جدید نمی‌پذیرد؛ حذف فقط وقتی ممکن است که هیچ صورت‌هزینه‌ای نداشته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کد و عنوان: کد در هر واحد باید یکتا باشد؛ مثلاً TN-01 «تنخواه اداری ستاد».
2. تنخواه‌دار: کد کاربری و نام مسئول تنخواه؛ فقط او می‌تواند سند ثبت کند.
3. سقف‌ها: سقف تنخواه، سقف هر سند و سقف اختیار تأیید مدیر مالی (بیشتر از آن ⇐ مدیرعامل).
4. آستانهٔ هشدار: وقتی موجودی نقد از این درصد سقف کمتر شود داشبورد هشدار می‌دهد.
5. حساب معین و دورهٔ تسویه: حساب «تنخواه‌گردان‌ها» و ماهانه/فصلی؛ «ثبت‌کنندهٔ استرداد» را هم تعیین کنید.
6. ذخیره: وضعیت «فعال» را روشن بگذارید و ذخیره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فهرست تنخواه‌ها آیکون «بررسی‌کنندگان» را بزنید.
2. افزودن: کد کاربری، نام و نقش (بازرس مالی، مدیر مالی، مدیرعامل، حسابدار ارشد، خزانه‌دار) را وارد و «افزودن» کنید.
3. چند نقش: یک کاربر می‌تواند روی یک تنخواه بیش از یک نقش داشته باشد.
4. تفصیلی معین: از آیکون «تفصیلی‌های حساب معین» تفصیلی‌های لازم برای سند تسویه را تعیین کنید.
نکته: بدون بررسی‌کننده، اسناد ارسال‌شده در کارتابل کسی قابل اقدام نیستند. حداقل یک بازرس مالی و یک مدیر مالی تعریف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تنخواه و تاریخ: تنخواه را انتخاب کنید؛ کارت «ماندهٔ تنخواه» موجودی نقد و ماندهٔ پس از این سند را نشان می‌دهد.
2. فروشنده و فاکتور: نام و شناسهٔ ملی فروشنده، نوع مدرک، شماره و تاریخ فاکتور (در سال مالی جاری).
3. شرح و مبلغ: حساب هزینه، شرح، مبلغ قبل از مالیات و ارزش افزوده (۱۰٪ پیشنهاد می‌شود)؛ مبلغ کل خودکار است.
4. کنترل‌های لحظه‌ای: تیک سبز یعنی در سقف هر سند، موجودی کافی و تاریخ معتبر است.
5. ذخیره یا ارسال: «ذخیرهٔ پیش‌نویس» برای ادامه بعدی؛ «ارسال برای بررسی» سند را به کارتابل می‌فرستد.
6. پیوست: پس از اولین ذخیره، فاکتور و رسید را پیوست کنید.
نکته: فاکتور تکراری (همان شناسهٔ ملی + شماره فاکتور) پذیرفته نمی‌شود. فقط پیش‌نویس و برگشتی قابل ویرایش‌اند و فقط پیش‌نویس حذف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«در جریان»، جدید، در انتظار بررسی، برگشتی، تأییدشده، ردشده، پیش‌نویس و همه — با تعداد هر وضعیت.
2. جستجو و فیلتر: بر اساس تنخواه، شرح، فروشنده یا شماره فاکتور.
3. ستون عمر: روزهای گذشته از ارسال؛ عمر بالای ۵ روز قرمز می‌شود.
4. اقدام‌ها: نمایش، شروع بررسی، تأیید کنترل، تأیید نهایی، برگشت و رد — فقط اقدام‌های مجاز نقش شما فعال است.
5. تأیید گروهی: اسناد کنترل‌شده را تیک بزنید و «تأیید گروهی» کنید؛ همه با هم تأیید می‌شوند یا هیچ‌کدام.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شروع بررسی: بازرس روی سند «جدید» «شروع بررسی» را می‌زند؛ وضعیت «در انتظار بررسی» می‌شود.
2. بررسی مدارک: فیلدها فقط‌خواندنی‌اند؛ پیوست‌ها را در پنل کناری باز و پیش‌نمایش کنید.
3. نوار اقدام: «تأیید نهایی»، «برگشت برای اصلاح» و «رد سند…»؛ برچسب آبی نشان می‌دهد چه کسی و کی کنترل کرده.
4. میانبر: کلید A برای تأیید و R برای برگشت؛ با پیکان‌ها به سند قبلی/بعدی بروید.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تأیید کنترل: بازرس پس از بررسی، «تأیید کنترل» را با یادداشت اختیاری ثبت می‌کند؛ وضعیت سند تغییر نمی‌کند.
2. تأیید نهایی: مدیر مالی (تا سقف اختیار) یا مدیرعامل (بالاتر از سقف) سند کنترل‌شده را تأیید می‌کند ⇐ «تأییدشده».
3. قید: تأییدکنندهٔ نهایی نباید همان بازرس یا ثبت‌کنندهٔ سند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دلایل: یک یا چند دلیل: پیوست ناقص، حساب هزینه نادرست، مبلغ با مدرک مطابقت ندارد، شرح نیازمند توضیح، سایر.
2. مهلت: تاریخ مهلت اصلاح (بعد از امروز) الزامی است.
3. توضیح: متن توضیح برای تنخواه‌دار الزامی است.
4. قفل فیلدها: تنخواه‌دار فقط فیلدهای مرتبط با دلیل را می‌تواند تغییر دهد؛ مثلاً «پیوست ناقص» فقط پیوست را باز می‌کند.
5. رد سند: برای رد، دلیل بنویسید؛ سند ردشده پایانی است و ترمیم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کادر نارنجی: مهلت، دلایل و توضیح بررسی‌کننده بالای فرم نمایش داده می‌شود.
2. فیلدهای مجاز: فقط فیلدهای قاب‌دار رنگی قابل ویرایش‌اند؛ بقیه قفل‌اند.
3. ارسال دوباره: «ارسال برای بررسی» را بزنید؛ سند دوباره باید کنترل بازرس شود.
4. تاریخچه: پنل «تاریخچهٔ اقدامات» همهٔ رویدادها را با کاربر، زمان و IP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کارت‌ها: موجودی نقد (و درصد از سقف)، تأییدشدهٔ منتظر ترمیم، در جریان بررسی و برگشتی‌ها.
2. تراز تنخواه: معادلهٔ سقف را با اعداد واقعی نشان می‌دهد؛ برچسب «متوازن» یعنی داده سالم است.
3. اقدامات امروز: اسنادی که منتظر اقدام‌اند؛ دکمهٔ «بررسی» یا «پیگیری» مستقیم سند را باز می‌کند.
4. هشدارها: اسناد معطل و مبلغ منتظر ترمیم؛ دکمهٔ «ایجاد درخواست ترمیم» میانبر گام بعدی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تنخواه: سامانه همهٔ صورت‌هزینه‌های تأییدشدهٔ ترمیم‌نشده را جمع می‌کند.
2. ریز حساب‌ها: جدول «مبلغ ترمیم بر اساس اسناد تأییدشده» جمع هر حساب هزینه و تعداد سند را نشان می‌دهد.
3. اطلاعات ترمیم: حساب بانکی مبدأ، روش پرداخت (پایا، چک، نقد، سایر)، تاریخ و یادداشت.
4. اثر ترمیم: موجودی نقد قبل و بعد؛ کنترل «در حد سقف» و «هیچ سندی دو بار ترمیم نمی‌شود».
5. ارسال: «ارسال برای تأیید»: مسیر ۱. مدیر مالی ← ۲. خزانه‌دار.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در «شارژ و ترمیم» همهٔ درخواست‌ها با وضعیت: پیش‌نویس، در انتظار مدیر مالی، در انتظار خزانه‌دار، پرداخت‌شده، ردشده.
2. تأیید مدیر مالی: مدیر مالی (غیر از سازنده) «تأیید» یا «رد» می‌کند.
3. ثبت پرداخت: خزانه‌دار پس از واریز، پرداخت را ثبت می‌کند ⇐ «پرداخت‌شده» و موجودی نقد افزایش می‌یابد.
4. مسیر تأیید: کارت «مسیر تأیید» مرحلهٔ جاری را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 تنخواه، از تاریخ، تا تاریخ و نوع (ترمیم، هزینه، استرداد).
2. ستون‌ها: دریافت (ترمیم/استرداد)، پرداخت (هزینه) و ماندهٔ جاری پس از هر ردیف.
3. مرجع: روی کد مرجع بزنید تا سند مبدأ باز شود.
4. خروجی: دکمهٔ «خروجی اکسل» گزارش را با جمع‌ها ذخیره می‌کند.
نکته: این گزارش حرکت واقعی وجه است؛ اسناد در جریان (هنوز تأییدنشده) در آن نیستند، پس ماندهٔ پایان آن با موجودی نقد داشبورد به اندازهٔ اسناد در جریان فرق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دورهٔ جاری: بر اساس دورهٔ تسویهٔ تنخواه (ماهانه/فصلی) خودکار تعیین می‌شود.
2. کارت‌ها: ماندهٔ ابتدای دوره، ترمیم و استرداد، هزینهٔ تأییدشده و ماندهٔ نقد پایان دوره.
3. اسناد در جریان: به دورهٔ بعد منتقل می‌شوند؛ پیام آبی تعداد و مبلغ آن‌ها را می‌گوید.
4. شمارش: مبلغ شمارش‌شدهٔ صندوق/حساب را وارد و «ذخیرهٔ شمارش» کنید؛ باید با ماندهٔ محاسبه‌شده برابر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پیش‌نمایش سند: بدهکار هر حساب هزینه با تفصیلی‌ها، بستانکار حساب تنخواه؛ برچسب «متوازن».
2. کنترل‌های پیش از بستن: اسناد منظورشده، برابری شمارش، اسناد در جریان و نقش کاربر.
3. تأیید انتقال: اگر سند در جریان هست، تیک «انتقال به دورهٔ بعد را تأیید می‌کنم» را بزنید.
4. نهایی‌سازی: حسابدار ارشد «نهایی‌سازی و صدور سند» را می‌زند ⇐ سند موقت صادر و اسناد «تسویه‌شده» می‌شوند.
5. تاریخچه: دوره‌های نهایی‌شده با شمارهٔ سند در جدول پایین صفحه.
نکته: پس از نهایی‌سازی، دوره قفل می‌شود و اصلاح فقط با سند اصلاحی ممکن است. حذف استردادی که در دورهٔ نهایی‌شده است مجاز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ثبت درخواست — ثبت‌کننده
2. تأیید مدیر واحد — مرحلهٔ ۱
3. تأیید مدیر مالی — مرحلهٔ ۲
4. تأیید مدیرعامل — فقط بالای آستانه
5. آمادهٔ اجرا — سند شناسایی بدهی
6. اجرای پرداخت — خزانه‌دار — سند پرداخت
از هر مرحلهٔ «در انتظار» می‌توان برگشت (دلیل اجباری) یا رد داد. یک کاربر دو مرحلهٔ پشت‌سرهم را تأیید نمی‌کند و ثبت‌کننده تأییدکننده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آستانه‌ها: آستانهٔ تأیید مدیرعامل و سقف تأیید گروهی (بدون مقدار پیش‌فرض؛ تا تعریف نشوند ارسال ممکن نیست).
2. تفصیلی ذی‌نفع: گروه تفصیلی تأمین‌کنندگان برای شناسایی ذی‌نفع.
3. حساب‌های سند خودکار: بستانکاران، اعتبار مالیات بر ارزش افزوده و کسور بیمه.
4. دریافت و انتقال: حساب دریافتنی، گروه تفصیلی مشتریان و سقف انتقال روزانه.
5. مغایرت بانکی: حساب کارمزد بانکی؛ سپس «ذخیره تنظیمات» (فقط مدیر مالی).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نقش‌ها: مدیر واحد، مدیر مالی، مدیرعامل، حسابدار ارشد و خزانه‌دار — فهرستی جدا از نقش‌های تنخواه.
2. افزودن: کد کاربری، نقش و نام را وارد و «افزودن» کنید.
3. اولین مدیر مالی: اگر واحد هنوز مدیر مالی ندارد هر کاربری می‌تواند اولین نقش را ثبت کند؛ بعد از آن فقط مدیر مالی.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زبانه‌های وضعیت: پیش‌نویس، در انتظار مدیر واحد/مالی/مدیرعامل، آمادهٔ اجرا، پرداخت شد، برگشتی، ردشده، معلق.
2. درخواست جدید: دکمهٔ «درخواست پرداخت جدید» در بالای صفحه.
3. اقدام ردیف: پیش‌نویس و برگشتی: ویرایش، ارسال و حذف؛ بقیه فقط نمایش.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ذی‌نفع: نام، نوع (تأمین‌کننده، کارمند، سایر)، شناسه ملی و تفصیلی ذی‌نفع.
2. فاکتور: شماره فاکتور و تیک «فاکتور تأیید شده» (اگر شماره وارد شود الزامی است).
3. حساب و مرکز هزینه: حساب هزینهٔ معین و تفصیلی‌های مرکز هزینه که آن معین لازم دارد.
4. مبلغ: مبلغ قبل از مالیات، درصد یا مبلغ ارزش افزوده و کسر بیمه؛ خالص قابل پرداخت خودکار.
5. سررسید و پرداخت: تاریخ سررسید (گذشته نباشد)، حساب بانکی و روش پرداخت (ساتنا، پایا، چک، نقد).
6. ذخیره/ارسال: «ذخیرهٔ پیش‌نویس» یا «ارسال برای تأیید».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یک کارتابل: درخواست‌های پرداخت، ترمیم‌های تنخواه منتظر خزانه‌دار و انتقال‌های وجه — قدیمی‌ترین در بالا.
2. برچسب «منتظر شما»: فقط مواردی که مرحلهٔ فعلی با نقش شما است اقدام‌پذیرند.
3. تأیید/برگشت/رد: برگشت و رد دلیل اجباری دارند؛ برگشتی دوباره از مدیر واحد شروع می‌شود.
4. تأیید گروهی: فقط برای مبالغ زیر «سقف تأیید گروهی».
نکته: در لحظهٔ آخرین تأیید (مدیر مالی یا مدیرعامل) سند «شناسایی بدهی» به‌صورت موقت و خودکار صادر می‌شود؛ اگر حساب‌های تنظیمات کامل نباشد، خود تأیید هم انجام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 در بانک: خزانه‌دار ابتدا وجه را در سامانهٔ بانک پرداخت می‌کند.
2. ثبت اجرا: شمارهٔ پیگیری بانک، تاریخ پرداخت، شبای مقصد و روش پرداخت را وارد و «اجرای پرداخت» کنید.
3. نتیجه: سند «پرداخت» موقت و رکورد دریافت/پرداخت صادر و وضعیت «پرداخت شد» می‌شود.
4. تعلیق: با دلیل، درخواست را معلق و بعداً «رفع تعلیق»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سند شناسایی بدهی: بدهکار هزینه (با مرکز هزینه) و اعتبار مالیات؛ بستانکار بستانکاران (ذی‌نفع) و کسور بیمه.
2. سند پرداخت: بدهکار بستانکاران، بستانکار بانک (با تفصیلی حساب بانکی).
3. کجا ببینیم: پایین صفحهٔ درخواست، پنل «اسناد حسابداری» با شمارهٔ سند و برچسب «متوازن».
4. وضعیت: هر دو سند «موقت»‌اند و در کارتابل اسناد قطعی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 زبانه: «دریافت وجه» از مشتریان/کارفرمایان و «انتقال وجه» بین حساب‌های بانکی واحد.
2. وضعیت دریافت: پیش‌نویس ← ثبت‌شده (فقط خزانه‌دار) یا لغوشده.
3. وضعیت انتقال: پیش‌نویس ← در انتظار خزانه‌دار ← اجراشده؛ یا برگشتی/ردشده.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پرداخت‌کننده: تفصیلی مشتری از گروه تفصیلی مشتریان (الزامی).
2. مبلغ و حساب: مبلغ، حساب بانکی مقصد، روش، تاریخ و شمارهٔ پیگیری بانک (تکراری پذیرفته نمی‌شود).
3. ثبت: خزانه‌دار «ثبت» را می‌زند ⇐ سند دریافت موقت: بدهکار بانک / بستانکار حساب دریافتنی.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مبدأ و مقصد: دو حساب بانکی متفاوت از همین واحد؛ موجودی دفتری مبدأ نمایش داده می‌شود.
2. مبلغ و روش: مبلغ، تاریخ، روش انتقال و دلیل انتقال.
3. ارسال: «ارسال برای تأیید» به خزانه‌دار.
4. کنترل‌های مسدودکننده: موجودی کافی مبدأ و سقف انتقال روزانه؛ تأییدکننده ≠ ثبت‌کننده.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صورت‌حساب جدید: حساب بانکی، بازهٔ تاریخ و ماندهٔ طبق بانک؛ ردیف‌ها را دستی اضافه کنید.
2. تطبیق خودکار: بر اساس مرجع بانک و مبلغ در بازهٔ ±۳ روز.
3. تطبیق‌نیافته‌ها: تطبیق دستی، صدور سند کارمزد، اتصال به دریافت یا «نادیده» با یادداشت.
4. بستن: وقتی مغایرت صفر شد صورت‌حساب را «بستن»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موجودی کل: جمع و تفکیک موجودی دفتری حساب‌های بانکی.
2. تعهدات ۷ روز: درخواست‌های آمادهٔ اجرا و نسبت پوشش آن با موجودی.
3. در انتظار تأیید و امروز: تعداد و مبلغ موارد منتظر تأیید؛ دریافت و پرداخت امروز.
4. اقلام باز و هشدارها: سررسیدهای نزدیک و ردیف‌های مغایرت؛ اقدام سریع برای درخواست، دریافت یا 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و نگاشت — نسخهٔ فعال؛ هیچ معینی جا نماند
2. تهیهٔ صورت‌ها — ویزارد سه‌مرحله‌ای
3. بررسی و Drill-down — تا سند حسابداری
4. کنترل و یادداشت‌ها — ارجاع کنترل، متن یادداشت
5. تأیید مرحله‌ای — بازبین ← مدیرکل ← معاون
6. بستن دوره و انتشار — قفل دوره، PDF و XBRL
هر اجرا یک «عکس ثابت» از اعداد است؛ تغییر بعدی قالب یا اسناد، اجرای قبلی را عوض نمی‌کند — برای عدد تازه، اجرای جدید بگیرید.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شاخص‌ها: چهار نسبت اول از آخرین اجرای سال، در کنار مقدار سال قبل.
2. وضعیت بستن سال: کاشی هر زیرواحد با وضعیت دوره (باز، بستهٔ موقت، قفل)، تعداد خطا و درصد پیشرفت.
3. کارهای من: تأییدهای منتظر شما، کنترل‌های ارجاع‌شده، یادداشت‌های در بازبینی و درخواست‌های بازگشایی؛ با کلیک به همان صفحه می‌روید.
4. میانبرها: «تهیهٔ صورت‌ها»، «مشاهدهٔ صورت‌ها»، «تحلیل» و «یادداشت‌ها» در بالای صفحه.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سه بُعد: هر دسترسی می‌گوید چه کسی، روی کدام واحد (و زیرمجموعه‌ها)، در کدام مجموعهٔ صورت، چه کاری انجام دهد.
2. عملیات: مشاهده، تهیه، تغییر قالب، فعال‌سازی، تأیید/برگشت، انتشار، بستن دوره و مدیریت دسترسی.
3. تفکیک وظایف: تهیه‌کننده و تأییدکننده، و ویرایشگر قالب و فعال‌کننده را به افراد جدا بدهید.
4. دسترسی جدید: دکمهٔ «دسترسی جدید»: کد کاربری، واحد، مجموعه و تیک عملیات‌ها؛ فقط دارندهٔ «مدیریت دسترسی» این صفحه را تغییر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مجموعه‌ها: زبانه‌ها: طرح بیمه‌ای (استاندارد ۲۷)، واحد تجاری (استاندارد ۱)، بخش عمومی، مدیریتی.
2. قالب‌های پیش‌فرض: دکمهٔ «قالب‌های پیش‌فرض» صورت‌ها و یادداشت‌های نمونه را می‌سازد (فقط ستاد).
3. نسخه‌ها: هر قالب نسخه‌های فعال، پیش‌نویس و بازنشسته دارد؛ فقط پیش‌نویس ویرایش می‌شود.
4. مالکیت: «مشترک» برای همهٔ واحدها؛ قالب اختصاصی یک واحد، قالب مشترک هم‌کد را برای آن واحد جایگزین می‌کند.
5. قالب جدید: نوع صورت را انتخاب کنید؛ برای «یادداشت» صورت و ردیف والد را هم تعیین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ستون‌ها: کد، عنوان، نوع، حساب/فرمول، ماهیت و مقدار، یادداشت.
2. انواع ردیف: عنوان، حساب، فرمول، مقدار دستی، متن و خالی.
3. ترتیب: پیکان‌های بالا/پایین، یا نمای «درخت»: کشیدن و رها کردن.
4. بررسی قالب: خطاها (مانع فعال‌سازی) و هشدارها را نشان می‌دهد.
5. فعال‌سازی: سال شروع اعتبار را بدهید؛ نسخهٔ فعال قبلی با همان سال بازنشسته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صفحهٔ نسخهٔ پیش‌نویس، کلید «درخت» کنار «جدول» را بزنید.
2. جابه‌جایی: ردیف را با دستگیرهٔ کنارش بکشید و رها کنید؛ نیمهٔ بالا/پایین ⇐ پیش یا پس از ردیف، وسط «عنوان» ⇐ زیرمجموعهٔ آن.
3. زیرمجموعه: ردیف‌های زیر یک عنوان با هم جابه‌جا می‌شوند و تورفتگی خودکار تنظیم می‌شود.
4. جمع‌ها: فرمول‌های بازه‌ای مثل SUM(A01:A06) بر اساس ترتیب جدید محاسبه می‌شوند؛ بعد از جابه‌جایی «بررسی قالب» را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انتخاب‌گر: 1301 معین دقیق · 13* پیشوند · 1301..1309 بازه · !1305 استثنا · [D]/[C] فقط مانده بدهکار/بستانکار.
2. نوع مقدار: مانده پایان، مانده ابتدا، گردش خالص، گردش بدهکار یا بستانکار.
3. فرمول: مثل SUM(A01:A08)، A99+L99، ROUND، IF، PRIOR و STMT(صورت دیگر، ردیف).
4. قالب‌بندی: تورفتگی، پررنگ، خط بالا/دو خط زیر، ستون داخلی، پنهان اگر صفر، صفحهٔ جدید.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کاربرد: پیش از فعال‌سازی، قالب پیش‌نویس را روی اسناد واقعی امتحان کنید؛ چیزی ذخیره نمی‌شود.
2. پارامترها: سال، پایان دوره، حداقل وضعیت سند، با زیرمجموعه‌ها و واحد مبلغ.
3. واترمارک: برچسب «آزمایشی» یعنی این عدد رسمی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نمای حساب‌محور: هر معین کدینگ به کدام ردیف و صورت رفته است.
2. بدون نگاشت: معین‌هایی که در هیچ صورت اصلی نیستند (قرمز) — اعدادشان از صورت جا می‌ماند.
3. دوبار شمرده: معینی که در یک صورت در دو ردیف آمده (نارنجی).
4. اصلاح: کلیک روی ردیف ⇐ قالب؛ یا «ورود از Excel» و «اعمال پیشنهادها» روی پیش‌نویس.
5. پیشنهاد: برای معین بی‌نگاشت، ردیفی که معین‌های هم‌گروهش در آن هستند پیشنهاد می‌شود؛ بعد از اعمال، قالب را فعال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شکل قاعده: عبارت چپ = عبارت راست با اختلاف مجاز؛ مثل «نقد صورت جریان = موجودی نقد خالص دارایی‌ها».
2. شدت: اطلاع، هشدار، یا مسدودکننده (مانع ارسال برای بازبینی).
3. کنترل‌های ثابت: تراز آزمایشی، پوشش حساب، مانده معکوس، جمع یادداشت، اسناد خارج از سال، حذف فی‌مابین (V-07) و قفل دوره (V-11) خودکار اجرا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هر ردیف یک اجرا: شماره، مجموعه، دوره، دامنه (ترکیبی/جداگانه)، وضعیت و تاریخ تهیه.
2. وضعیت‌ها: پیش‌نویس، در بازبینی، تأییدشده، منتشرشده، جایگزین‌شده.
3. تهیهٔ صورت‌ها: دکمهٔ بالای صفحه ویزارد را باز می‌کند.
4. حذف: فقط پیش‌نویس و جایگزین‌شده حذف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 صورت، سال مالی و «پایان دوره» (از ابتدای سال تا پایان آن ماه).
2. صورت ترکیبی (همهٔ زیرمجموعه‌ها) یا جداگانه؛ حداقل وضعیت سند (پیش‌فرض تأیید دائم).
3. 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رسمی: عنوان سه‌سطری، ستون یادداشت، سال جاری و قبل، خط جمع و پرانتز برای منفی.
2. ابزارها: واحد مبلغ، تغییرات، تحلیل عمودی، فشرده و جستجو؛ خروجی Excel، Word یادداشت‌ها، XBRL و «بستهٔ رسمی / PDF».
3. زبانه‌ها: هر صورت، یادداشت‌ها، کنترل‌ها و «کاربرگ ترکیب / تلفیق».
4. اثر انگشت: کد Hash محتوا برای اطمینان از تغییرنکردن اعداد.
5. شمارهٔ یادداشت: کلیک روی شماره همان یادداشت را باز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یادداشت: ریز ردیف صورت؛ مثلاً یادداشت ۵ «موجودی نقد» با صندوق، بانک و تنخواه.
2. شماره‌گذاری: خودکار به ترتیب ارائه؛ عنوان‌های داخل یادداشت ۵-۱، ۵-۲ می‌شوند.
3. کنترل V-08: برچسب سبز «جمع یادداشت = ردیف صورت»؛ قرمز یعنی مغایرت و مانع ارسال.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روی هر مبلغ ردیف «حساب» کلیک کنید (یا Enter)؛ پنل کناری سهم هر معین را نشان می‌دهد.
2. «به تفکیک واحد» سهم هر اداره کل را می‌دهد؛ با مسیر بالای پنل برگردید.
3. روی «اسناد …» بزنید: ریز اسناد با جمع بدهکار/بستانکار؛ آیکون کنار هر ردیف سند را باز می‌کند. هر سطح Excel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کنترل‌ها: هر کنترل با شدت، نتیجه و اختلاف؛ مسدودکنندهٔ ناموفق جلوی «ارسال برای بازبینی» را می‌گیرد.
2. مقادیر دستی: ردیف‌های «مقدار دستی» را با دلیل اجباری وارد کنید؛ اجرای تازه ساخته می‌شود.
3. گردش: پیش‌نویس ⇐ بازبینی ⇐ تأیید (یک یا چند مرحله) ⇐ انتشار؛ برگشت با دلیل.
4. تفکیک وظایف: تهیه‌کننده تأیید و منتشر نمی‌کند؛ انتشار، نسخهٔ منتشرشدهٔ قبلی همان دوره را «جایگزین‌شده» می‌کند.
5. کهنگی و مقایسه: نوار زرد یعنی اسناد بعد از اجرا عوض شده‌اند؛ «مقایسه با اجرای دیگر» تفاوت ردیف‌ها را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مراحل تأیید: برای هر مجموعه، مراحل (بازبین، مدیرکل، معاون…) را با کد کاربری تأییدکنندگان تعریف کنید.
2. تأیید مرحله‌به‌مرحله: دکمهٔ «تأیید» نام مرحلهٔ جاری را دارد؛ یک نفر دو مرحلهٔ یک اجرا را تأیید نمی‌کند.
3. بستن دوره: باز ⇐ بستهٔ موقت ⇐ قفل؛ قفل هر واحد، زیرواحدهایش را هم قفل‌شده حساب می‌کند.
4. بازگشایی: بستهٔ موقت مستقیم باز می‌شود؛ دورهٔ قفل با «درخواست بازگشایی» و تأیید ستاد.
5. تاریخچه: هر اقدام روی دوره با کاربر، زمان و دلیل در «تاریخچه» ثبت می‌شود.
نکته: انتشار فقط وقتی ممکن است که دورهٔ همهٔ واحدهای دامنه «قفل» شده باشد (کنترل V-11). این قفل ثبت سند را نمی‌بندد.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نوع یادداشت: مستقل (تاریخچه، مبنا، رویه‌ها) یا همراه یک یادداشت عددی که زیر جدول آن می‌آید.
2. ویرایشگر: پررنگ، فهرست، عنوان و «درج متغیر»؛ پیش‌نمایش زنده با اعداد یک اجرای همان سال.
3. بازبینی: ارسال ⇐ تأیید (نه آخرین ویرایشگر) ⇐ برگشت با دلیل؛ نوار پیشرفت بالای فهرست.
4. نسخه و انتقال: هر ذخیره یک نسخه است و بازگرداندنی؛ «انتقال از سال قبل» یادداشت‌ها را کپی می‌کند.
5. Word و انتشار: دکمهٔ «Word یادداشت‌ها» در صفحهٔ صورت؛ با انتشار، متن یادداشت‌ها ثابت می‌شود.
نکته: متغیرها به ترتیب: مبلغ جاری، سال قبل و درصد تغییر؛ مقدار از اعداد همان اجرا گرفته می‌شود.
{{A01}}   {{A01.prior}}   {{A01.change%}}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تحلیل عمودی: درصد هر ردیف از یک ردیف پایه (مثل جمع دارایی‌ها)؛ «فشرده» ردیف‌ها را نزدیک‌تر می‌کند.
2. میانبرها: ↑↓ حرکت بین ردیف‌ها، Enter ریز مبلغ، Esc بستن پنل، Ctrl+K جستجوی ردیف.
3. نظر روی ردیف: آیکون گفت‌وگو کنار عنوان ردیف؛ بازبین و تهیه‌کننده روی همان ردیف گفت‌وگو می‌کنند.
4. ارجاع کنترل: در زبانهٔ «کنترل‌ها» کنترل ناموفق را با مهلت به مسئول بدهید؛ بعد «رفع شد».
5. تجدید ارائه: در ویزارد، ستون سال قبل برچسب «تجدید ارائه‌شده» می‌گیرد؛ تنظیمات قابل ذخیره است.
نکته: دکمهٔ «بستهٔ رسمی / PDF» صفحهٔ چاپ رسمی را باز می‌کند؛ در پنجرهٔ چاپ «ذخیره به‌صورت PDF» را انتخاب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آیکون گفت‌وگو کنار عنوان ردیف را بزنید؛ عدد کنار آیکون تعداد نظرهاست.
2. گفت‌وگو: هر نظر با کد کاربر و زمان ثبت می‌شود؛ نظر خودتان را می‌توانید حذف کنید.
3. ثبت نظر: متن را در «نظر تازه» بنویسید و «ثبت نظر» را بزنید.
4. نظرهای کل اجرا: در زبانهٔ «کنترل‌ها»، دکمهٔ «نظرهای کل اجرا» همهٔ گفت‌وگوها را یک‌جا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نسبت‌ها: «نسبت‌های پیش‌فرض» ده نسبت رایج می‌سازد؛ هر نسبت یک صورت و یک مخرج دارد.
2. تحلیل: نسبت‌های اجرا در کنار سال قبل، و مقایسه و سهم اقلام اصلی هر صورت.
3. روند: نسبت‌های پنج سال اخیر از آخرین اجرای منتشرشدهٔ هر سال.
4. داشبورد: چهار نسبت اول به‌عنوان شاخص، و کاشی وضعیت بستن هر زیرواحد با درصد پیشرفت.
5. کارهای من: تأیید و انتشار، کنترل‌های ارجاع‌شده، بازبینی یادداشت و درخواست بازگشایی.
نکته: صورت و مخرج نسبت با همان زبان فرمول قالب نوشته می‌شود؛ مثلاً جمع مصارف:
STMT(PENSION.CHANGES_IN_NET_ASSETS, C99)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کاربرگ: در صورت ترکیبی، ستون هر واحد، ستون حذفیات و جمع صورت کنار هم دیده می‌شود.
2. قاعدهٔ حذف: کد، عنوان، حساب‌های «سوی اول» و «سوی دوم» (مثل حساب جاری ستاد ↔ ادارات کل) و آستانهٔ اختلاف.
3. نتیجه: جدول «حذف فی‌مابین» بالای کاربرگ: تطبیق کامل (سبز) یا عدم تطبیق با مبلغ اختلاف.
4. اصلاح: اختلاف را با سند اصلاحی در واحد مربوط رفع و صورت را دوباره تهیه کنید.
نکته: اگر جمع دو سوی یک قاعده از آستانه بیشتر شود، کنترل V-07 مسدودکننده است و اجرا قابل ارسال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شرکت تابعه: کد، نام، ارز و درصد مالکیت؛ تراز آزمایشی هر دوره را از Excel وارد کنید.
2. تسعیر و NCI: مبالغ با نرخ‌های تسعیر به ریال برمی‌گردد؛ سهم غیرکنترلی و اختلاف تسعیر در حساب‌های جدا می‌نشیند.
3. جریان نقد: «حساب‌های نقد (انتخاب‌گر)» را تعیین کنید؛ ردیف‌های صورت جریان نقد از طرف مقابل اسناد نقدی پر می‌شوند.
4. تعدیلات سنواتی: «حساب تعدیلات سنواتی» برای ستون سال قبلِ تجدید ارائه‌شده به کار می‌رود.
5. XBRL: آدرس طبقه‌بندی، فضای نام و طرح شناسهٔ واحد را تنظیم و در «نگاشت XBRL» ردیف‌ها را به عناصر وصل کنید؛ خروجی از دکمهٔ XBRL صفحهٔ اجرا.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6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slideLayout" Target="../slideLayouts/slideLayout2.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59-2.jp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011680" y="3291840"/>
            <a:ext cx="5669280" cy="5669280"/>
          </a:xfrm>
          <a:prstGeom prst="ellipse">
            <a:avLst/>
          </a:prstGeom>
          <a:solidFill>
            <a:srgbClr val="25385F"/>
          </a:solidFill>
          <a:ln w="12700">
            <a:solidFill>
              <a:srgbClr val="25385F"/>
            </a:solidFill>
            <a:prstDash val="solid"/>
          </a:ln>
        </p:spPr>
      </p:sp>
      <p:sp>
        <p:nvSpPr>
          <p:cNvPr id="3" name="Shape 1"/>
          <p:cNvSpPr/>
          <p:nvPr/>
        </p:nvSpPr>
        <p:spPr>
          <a:xfrm>
            <a:off x="822960" y="548640"/>
            <a:ext cx="1280160" cy="1280160"/>
          </a:xfrm>
          <a:prstGeom prst="ellipse">
            <a:avLst/>
          </a:prstGeom>
          <a:solidFill>
            <a:srgbClr val="C9A227"/>
          </a:solidFill>
          <a:ln w="12700">
            <a:solidFill>
              <a:srgbClr val="C9A227"/>
            </a:solidFill>
            <a:prstDash val="solid"/>
          </a:ln>
        </p:spPr>
      </p:sp>
      <p:sp>
        <p:nvSpPr>
          <p:cNvPr id="4" name="Text 2"/>
          <p:cNvSpPr txBox="1"/>
          <p:nvPr/>
        </p:nvSpPr>
        <p:spPr>
          <a:xfrm>
            <a:off x="2743200" y="1234440"/>
            <a:ext cx="9052560" cy="548640"/>
          </a:xfrm>
          <a:prstGeom prst="rect">
            <a:avLst/>
          </a:prstGeom>
          <a:noFill/>
          <a:ln/>
        </p:spPr>
        <p:txBody>
          <a:bodyPr wrap="square" lIns="0" tIns="0" rIns="0" bIns="0" rtlCol="0" anchor="ctr"/>
          <a:lstStyle/>
          <a:p>
            <a:pPr rtl="1" algn="r" indent="0" marL="0">
              <a:buNone/>
            </a:pPr>
            <a:r>
              <a:rPr lang="en-US" sz="2200" b="1" dirty="0">
                <a:solidFill>
                  <a:srgbClr val="C9A227"/>
                </a:solidFill>
                <a:latin typeface="Tahoma" pitchFamily="34" charset="0"/>
                <a:ea typeface="Tahoma" pitchFamily="34" charset="-122"/>
                <a:cs typeface="Tahoma" pitchFamily="34" charset="-120"/>
              </a:rPr>
              <a:t>راهنمای کاربری</a:t>
            </a:r>
            <a:endParaRPr lang="en-US" sz="2200" dirty="0"/>
          </a:p>
        </p:txBody>
      </p:sp>
      <p:sp>
        <p:nvSpPr>
          <p:cNvPr id="5" name="Text 3"/>
          <p:cNvSpPr txBox="1"/>
          <p:nvPr/>
        </p:nvSpPr>
        <p:spPr>
          <a:xfrm>
            <a:off x="2743200" y="1783080"/>
            <a:ext cx="9052560" cy="914400"/>
          </a:xfrm>
          <a:prstGeom prst="rect">
            <a:avLst/>
          </a:prstGeom>
          <a:noFill/>
          <a:ln/>
        </p:spPr>
        <p:txBody>
          <a:bodyPr wrap="square" lIns="0" tIns="0" rIns="0" bIns="0" rtlCol="0" anchor="ctr"/>
          <a:lstStyle/>
          <a:p>
            <a:pPr rtl="1" algn="r" indent="0" marL="0">
              <a:buNone/>
            </a:pPr>
            <a:r>
              <a:rPr lang="en-US" sz="4400" b="1" dirty="0">
                <a:solidFill>
                  <a:srgbClr val="FFFFFF"/>
                </a:solidFill>
                <a:latin typeface="Tahoma" pitchFamily="34" charset="0"/>
                <a:ea typeface="Tahoma" pitchFamily="34" charset="-122"/>
                <a:cs typeface="Tahoma" pitchFamily="34" charset="-120"/>
              </a:rPr>
              <a:t>سامانهٔ جامع حسابداری</a:t>
            </a:r>
            <a:endParaRPr lang="en-US" sz="4400" dirty="0"/>
          </a:p>
        </p:txBody>
      </p:sp>
      <p:sp>
        <p:nvSpPr>
          <p:cNvPr id="6" name="Text 4"/>
          <p:cNvSpPr txBox="1"/>
          <p:nvPr/>
        </p:nvSpPr>
        <p:spPr>
          <a:xfrm>
            <a:off x="2743200" y="2743200"/>
            <a:ext cx="9052560" cy="502920"/>
          </a:xfrm>
          <a:prstGeom prst="rect">
            <a:avLst/>
          </a:prstGeom>
          <a:noFill/>
          <a:ln/>
        </p:spPr>
        <p:txBody>
          <a:bodyPr wrap="square" lIns="0" tIns="0" rIns="0" bIns="0" rtlCol="0" anchor="ctr"/>
          <a:lstStyle/>
          <a:p>
            <a:pPr rtl="1" algn="r" indent="0" marL="0">
              <a:buNone/>
            </a:pPr>
            <a:r>
              <a:rPr lang="en-US" sz="2000" dirty="0">
                <a:solidFill>
                  <a:srgbClr val="C9D3E6"/>
                </a:solidFill>
                <a:latin typeface="Tahoma" pitchFamily="34" charset="0"/>
                <a:ea typeface="Tahoma" pitchFamily="34" charset="-122"/>
                <a:cs typeface="Tahoma" pitchFamily="34" charset="-120"/>
              </a:rPr>
              <a:t>آموزش گام‌به‌گام فرم‌ها و فرایندها، از صفر تا صد</a:t>
            </a:r>
            <a:endParaRPr lang="en-US" sz="2000" dirty="0"/>
          </a:p>
        </p:txBody>
      </p:sp>
      <p:sp>
        <p:nvSpPr>
          <p:cNvPr id="7" name="Shape 5"/>
          <p:cNvSpPr/>
          <p:nvPr/>
        </p:nvSpPr>
        <p:spPr>
          <a:xfrm>
            <a:off x="11384280" y="3657600"/>
            <a:ext cx="420624" cy="420624"/>
          </a:xfrm>
          <a:prstGeom prst="ellipse">
            <a:avLst/>
          </a:prstGeom>
          <a:solidFill>
            <a:srgbClr val="C9A227"/>
          </a:solidFill>
          <a:ln w="12700">
            <a:solidFill>
              <a:srgbClr val="C9A227"/>
            </a:solidFill>
            <a:prstDash val="solid"/>
          </a:ln>
        </p:spPr>
      </p:sp>
      <p:sp>
        <p:nvSpPr>
          <p:cNvPr id="8" name="Text 6"/>
          <p:cNvSpPr txBox="1"/>
          <p:nvPr/>
        </p:nvSpPr>
        <p:spPr>
          <a:xfrm>
            <a:off x="11384280" y="36576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7"/>
          <p:cNvSpPr txBox="1"/>
          <p:nvPr/>
        </p:nvSpPr>
        <p:spPr>
          <a:xfrm>
            <a:off x="5943600" y="3657600"/>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تنخواه‌گردان</a:t>
            </a:r>
            <a:endParaRPr lang="en-US" sz="1900" dirty="0"/>
          </a:p>
        </p:txBody>
      </p:sp>
      <p:sp>
        <p:nvSpPr>
          <p:cNvPr id="10" name="Shape 8"/>
          <p:cNvSpPr/>
          <p:nvPr/>
        </p:nvSpPr>
        <p:spPr>
          <a:xfrm>
            <a:off x="11384280" y="4261104"/>
            <a:ext cx="420624" cy="420624"/>
          </a:xfrm>
          <a:prstGeom prst="ellipse">
            <a:avLst/>
          </a:prstGeom>
          <a:solidFill>
            <a:srgbClr val="C9A227"/>
          </a:solidFill>
          <a:ln w="12700">
            <a:solidFill>
              <a:srgbClr val="C9A227"/>
            </a:solidFill>
            <a:prstDash val="solid"/>
          </a:ln>
        </p:spPr>
      </p:sp>
      <p:sp>
        <p:nvSpPr>
          <p:cNvPr id="11" name="Text 9"/>
          <p:cNvSpPr txBox="1"/>
          <p:nvPr/>
        </p:nvSpPr>
        <p:spPr>
          <a:xfrm>
            <a:off x="11384280" y="4261104"/>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2" name="Text 10"/>
          <p:cNvSpPr txBox="1"/>
          <p:nvPr/>
        </p:nvSpPr>
        <p:spPr>
          <a:xfrm>
            <a:off x="5943600" y="4261104"/>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دریافت و پرداخت (خزانه‌داری)</a:t>
            </a:r>
            <a:endParaRPr lang="en-US" sz="1900" dirty="0"/>
          </a:p>
        </p:txBody>
      </p:sp>
      <p:sp>
        <p:nvSpPr>
          <p:cNvPr id="13" name="Shape 11"/>
          <p:cNvSpPr/>
          <p:nvPr/>
        </p:nvSpPr>
        <p:spPr>
          <a:xfrm>
            <a:off x="11384280" y="4864608"/>
            <a:ext cx="420624" cy="420624"/>
          </a:xfrm>
          <a:prstGeom prst="ellipse">
            <a:avLst/>
          </a:prstGeom>
          <a:solidFill>
            <a:srgbClr val="C9A227"/>
          </a:solidFill>
          <a:ln w="12700">
            <a:solidFill>
              <a:srgbClr val="C9A227"/>
            </a:solidFill>
            <a:prstDash val="solid"/>
          </a:ln>
        </p:spPr>
      </p:sp>
      <p:sp>
        <p:nvSpPr>
          <p:cNvPr id="14" name="Text 12"/>
          <p:cNvSpPr txBox="1"/>
          <p:nvPr/>
        </p:nvSpPr>
        <p:spPr>
          <a:xfrm>
            <a:off x="11384280" y="4864608"/>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txBox="1"/>
          <p:nvPr/>
        </p:nvSpPr>
        <p:spPr>
          <a:xfrm>
            <a:off x="5943600" y="4864608"/>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صورت‌های مالی</a:t>
            </a:r>
            <a:endParaRPr lang="en-US" sz="1900" dirty="0"/>
          </a:p>
        </p:txBody>
      </p:sp>
      <p:sp>
        <p:nvSpPr>
          <p:cNvPr id="16" name="Text 14"/>
          <p:cNvSpPr txBox="1"/>
          <p:nvPr/>
        </p:nvSpPr>
        <p:spPr>
          <a:xfrm>
            <a:off x="2743200" y="5989320"/>
            <a:ext cx="9052560" cy="365760"/>
          </a:xfrm>
          <a:prstGeom prst="rect">
            <a:avLst/>
          </a:prstGeom>
          <a:noFill/>
          <a:ln/>
        </p:spPr>
        <p:txBody>
          <a:bodyPr wrap="square" lIns="0" tIns="0" rIns="0" bIns="0" rtlCol="0" anchor="ctr"/>
          <a:lstStyle/>
          <a:p>
            <a:pPr rtl="1" algn="r" indent="0" marL="0">
              <a:buNone/>
            </a:pPr>
            <a:r>
              <a:rPr lang="en-US" sz="1300" dirty="0">
                <a:solidFill>
                  <a:srgbClr val="A9B4C8"/>
                </a:solidFill>
                <a:latin typeface="Tahoma" pitchFamily="34" charset="0"/>
                <a:ea typeface="Tahoma" pitchFamily="34" charset="-122"/>
                <a:cs typeface="Tahoma" pitchFamily="34" charset="-120"/>
              </a:rPr>
              <a:t>مرحلهٔ اول  ·  مهر ۱۴۰۵</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این راهنما را چگونه بخوانید</a:t>
            </a:r>
            <a:endParaRPr lang="en-US" sz="2600" dirty="0"/>
          </a:p>
        </p:txBody>
      </p:sp>
      <p:sp>
        <p:nvSpPr>
          <p:cNvPr id="3" name="Shape 1"/>
          <p:cNvSpPr/>
          <p:nvPr/>
        </p:nvSpPr>
        <p:spPr>
          <a:xfrm>
            <a:off x="811987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1183112" y="1600200"/>
            <a:ext cx="420624" cy="420624"/>
          </a:xfrm>
          <a:prstGeom prst="ellipse">
            <a:avLst/>
          </a:prstGeom>
          <a:solidFill>
            <a:srgbClr val="C9A227"/>
          </a:solidFill>
          <a:ln w="12700">
            <a:solidFill>
              <a:srgbClr val="C9A227"/>
            </a:solidFill>
            <a:prstDash val="solid"/>
          </a:ln>
        </p:spPr>
      </p:sp>
      <p:sp>
        <p:nvSpPr>
          <p:cNvPr id="5" name="Text 3"/>
          <p:cNvSpPr txBox="1"/>
          <p:nvPr/>
        </p:nvSpPr>
        <p:spPr>
          <a:xfrm>
            <a:off x="1118311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6" name="Text 4"/>
          <p:cNvSpPr txBox="1"/>
          <p:nvPr/>
        </p:nvSpPr>
        <p:spPr>
          <a:xfrm>
            <a:off x="834847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هر اسلاید = یک فرم</a:t>
            </a:r>
            <a:endParaRPr lang="en-US" sz="1700" dirty="0"/>
          </a:p>
        </p:txBody>
      </p:sp>
      <p:sp>
        <p:nvSpPr>
          <p:cNvPr id="7" name="Text 5"/>
          <p:cNvSpPr txBox="1"/>
          <p:nvPr/>
        </p:nvSpPr>
        <p:spPr>
          <a:xfrm>
            <a:off x="834847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تصویر واقعی فرم در سمت چپ و گام‌های شماره‌دار کار با آن در سمت راست. مسیر منو در کادر طلایی زیر عنوان آمده است</a:t>
            </a:r>
            <a:endParaRPr lang="en-US" sz="1300" dirty="0"/>
          </a:p>
        </p:txBody>
      </p:sp>
      <p:sp>
        <p:nvSpPr>
          <p:cNvPr id="8" name="Shape 6"/>
          <p:cNvSpPr/>
          <p:nvPr/>
        </p:nvSpPr>
        <p:spPr>
          <a:xfrm>
            <a:off x="427939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9" name="Shape 7"/>
          <p:cNvSpPr/>
          <p:nvPr/>
        </p:nvSpPr>
        <p:spPr>
          <a:xfrm>
            <a:off x="7342632" y="1600200"/>
            <a:ext cx="420624" cy="420624"/>
          </a:xfrm>
          <a:prstGeom prst="ellipse">
            <a:avLst/>
          </a:prstGeom>
          <a:solidFill>
            <a:srgbClr val="C9A227"/>
          </a:solidFill>
          <a:ln w="12700">
            <a:solidFill>
              <a:srgbClr val="C9A227"/>
            </a:solidFill>
            <a:prstDash val="solid"/>
          </a:ln>
        </p:spPr>
      </p:sp>
      <p:sp>
        <p:nvSpPr>
          <p:cNvPr id="10" name="Text 8"/>
          <p:cNvSpPr txBox="1"/>
          <p:nvPr/>
        </p:nvSpPr>
        <p:spPr>
          <a:xfrm>
            <a:off x="734263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txBox="1"/>
          <p:nvPr/>
        </p:nvSpPr>
        <p:spPr>
          <a:xfrm>
            <a:off x="450799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ترتیب = ترتیب کار</a:t>
            </a:r>
            <a:endParaRPr lang="en-US" sz="1700" dirty="0"/>
          </a:p>
        </p:txBody>
      </p:sp>
      <p:sp>
        <p:nvSpPr>
          <p:cNvPr id="12" name="Text 10"/>
          <p:cNvSpPr txBox="1"/>
          <p:nvPr/>
        </p:nvSpPr>
        <p:spPr>
          <a:xfrm>
            <a:off x="450799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اسلایدهای هر بخش به همان ترتیبی چیده شده‌اند که کار در سازمان انجام می‌شود؛ از پیش‌نیازها تا سند حسابداری</a:t>
            </a:r>
            <a:endParaRPr lang="en-US" sz="1300" dirty="0"/>
          </a:p>
        </p:txBody>
      </p:sp>
      <p:sp>
        <p:nvSpPr>
          <p:cNvPr id="13" name="Shape 11"/>
          <p:cNvSpPr/>
          <p:nvPr/>
        </p:nvSpPr>
        <p:spPr>
          <a:xfrm>
            <a:off x="43891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3502152" y="1600200"/>
            <a:ext cx="420624" cy="420624"/>
          </a:xfrm>
          <a:prstGeom prst="ellipse">
            <a:avLst/>
          </a:prstGeom>
          <a:solidFill>
            <a:srgbClr val="C9A227"/>
          </a:solidFill>
          <a:ln w="12700">
            <a:solidFill>
              <a:srgbClr val="C9A227"/>
            </a:solidFill>
            <a:prstDash val="solid"/>
          </a:ln>
        </p:spPr>
      </p:sp>
      <p:sp>
        <p:nvSpPr>
          <p:cNvPr id="15" name="Text 13"/>
          <p:cNvSpPr txBox="1"/>
          <p:nvPr/>
        </p:nvSpPr>
        <p:spPr>
          <a:xfrm>
            <a:off x="350215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6" name="Text 14"/>
          <p:cNvSpPr txBox="1"/>
          <p:nvPr/>
        </p:nvSpPr>
        <p:spPr>
          <a:xfrm>
            <a:off x="66751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نقش‌ها مهم‌اند</a:t>
            </a:r>
            <a:endParaRPr lang="en-US" sz="1700" dirty="0"/>
          </a:p>
        </p:txBody>
      </p:sp>
      <p:sp>
        <p:nvSpPr>
          <p:cNvPr id="17" name="Text 15"/>
          <p:cNvSpPr txBox="1"/>
          <p:nvPr/>
        </p:nvSpPr>
        <p:spPr>
          <a:xfrm>
            <a:off x="66751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اقدام فقط برای نقش مشخصی فعال است. اگر دکمه‌ای غیرفعال است، نشانگر را روی آن نگه دارید تا علتش را ببینید</a:t>
            </a:r>
            <a:endParaRPr lang="en-US" sz="1300" dirty="0"/>
          </a:p>
        </p:txBody>
      </p:sp>
      <p:sp>
        <p:nvSpPr>
          <p:cNvPr id="18" name="Text 16"/>
          <p:cNvSpPr txBox="1"/>
          <p:nvPr/>
        </p:nvSpPr>
        <p:spPr>
          <a:xfrm>
            <a:off x="411480" y="3931920"/>
            <a:ext cx="11365992" cy="411480"/>
          </a:xfrm>
          <a:prstGeom prst="rect">
            <a:avLst/>
          </a:prstGeom>
          <a:noFill/>
          <a:ln/>
        </p:spPr>
        <p:txBody>
          <a:bodyPr wrap="square" lIns="0" tIns="0" rIns="0" bIns="0" rtlCol="0" anchor="ctr"/>
          <a:lstStyle/>
          <a:p>
            <a:pPr rtl="1" algn="r" indent="0" marL="0">
              <a:buNone/>
            </a:pPr>
            <a:r>
              <a:rPr lang="en-US" sz="1800" b="1" dirty="0">
                <a:solidFill>
                  <a:srgbClr val="1B2A49"/>
                </a:solidFill>
                <a:latin typeface="Tahoma" pitchFamily="34" charset="0"/>
                <a:ea typeface="Tahoma" pitchFamily="34" charset="-122"/>
                <a:cs typeface="Tahoma" pitchFamily="34" charset="-120"/>
              </a:rPr>
              <a:t>قراردادهای مشترک همهٔ فرم‌ها</a:t>
            </a:r>
            <a:endParaRPr lang="en-US" sz="1800" dirty="0"/>
          </a:p>
        </p:txBody>
      </p:sp>
      <p:sp>
        <p:nvSpPr>
          <p:cNvPr id="19" name="Shape 17"/>
          <p:cNvSpPr/>
          <p:nvPr/>
        </p:nvSpPr>
        <p:spPr>
          <a:xfrm>
            <a:off x="8028432" y="4480560"/>
            <a:ext cx="3611880" cy="731520"/>
          </a:xfrm>
          <a:prstGeom prst="roundRect">
            <a:avLst>
              <a:gd name="adj" fmla="val 10000"/>
            </a:avLst>
          </a:prstGeom>
          <a:solidFill>
            <a:srgbClr val="FFFFFF"/>
          </a:solidFill>
          <a:ln w="6350">
            <a:solidFill>
              <a:srgbClr val="D9DEE7"/>
            </a:solidFill>
            <a:prstDash val="solid"/>
          </a:ln>
        </p:spPr>
      </p:sp>
      <p:sp>
        <p:nvSpPr>
          <p:cNvPr id="20" name="Text 18"/>
          <p:cNvSpPr txBox="1"/>
          <p:nvPr/>
        </p:nvSpPr>
        <p:spPr>
          <a:xfrm>
            <a:off x="816559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ستاره (*):  </a:t>
            </a:r>
            <a:pPr algn="r" indent="0" marL="0">
              <a:buNone/>
            </a:pPr>
            <a:r>
              <a:rPr lang="en-US" sz="1250" dirty="0">
                <a:solidFill>
                  <a:srgbClr val="1F2937"/>
                </a:solidFill>
                <a:latin typeface="Tahoma" pitchFamily="34" charset="0"/>
                <a:ea typeface="Tahoma" pitchFamily="34" charset="-122"/>
                <a:cs typeface="Tahoma" pitchFamily="34" charset="-120"/>
              </a:rPr>
              <a:t>فیلد الزامی</a:t>
            </a:r>
            <a:endParaRPr lang="en-US" sz="1250" dirty="0"/>
          </a:p>
        </p:txBody>
      </p:sp>
      <p:sp>
        <p:nvSpPr>
          <p:cNvPr id="21" name="Shape 19"/>
          <p:cNvSpPr/>
          <p:nvPr/>
        </p:nvSpPr>
        <p:spPr>
          <a:xfrm>
            <a:off x="4279392" y="4480560"/>
            <a:ext cx="3611880" cy="731520"/>
          </a:xfrm>
          <a:prstGeom prst="roundRect">
            <a:avLst>
              <a:gd name="adj" fmla="val 10000"/>
            </a:avLst>
          </a:prstGeom>
          <a:solidFill>
            <a:srgbClr val="FFFFFF"/>
          </a:solidFill>
          <a:ln w="6350">
            <a:solidFill>
              <a:srgbClr val="D9DEE7"/>
            </a:solidFill>
            <a:prstDash val="solid"/>
          </a:ln>
        </p:spPr>
      </p:sp>
      <p:sp>
        <p:nvSpPr>
          <p:cNvPr id="22" name="Text 20"/>
          <p:cNvSpPr txBox="1"/>
          <p:nvPr/>
        </p:nvSpPr>
        <p:spPr>
          <a:xfrm>
            <a:off x="441655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پیش‌نویس:  </a:t>
            </a:r>
            <a:pPr algn="r" indent="0" marL="0">
              <a:buNone/>
            </a:pPr>
            <a:r>
              <a:rPr lang="en-US" sz="1250" dirty="0">
                <a:solidFill>
                  <a:srgbClr val="1F2937"/>
                </a:solidFill>
                <a:latin typeface="Tahoma" pitchFamily="34" charset="0"/>
                <a:ea typeface="Tahoma" pitchFamily="34" charset="-122"/>
                <a:cs typeface="Tahoma" pitchFamily="34" charset="-120"/>
              </a:rPr>
              <a:t>ذخیره شده ولی هنوز ارسال نشده؛ تنها وضعیت قابل حذف</a:t>
            </a:r>
            <a:endParaRPr lang="en-US" sz="1250" dirty="0"/>
          </a:p>
        </p:txBody>
      </p:sp>
      <p:sp>
        <p:nvSpPr>
          <p:cNvPr id="23" name="Shape 21"/>
          <p:cNvSpPr/>
          <p:nvPr/>
        </p:nvSpPr>
        <p:spPr>
          <a:xfrm>
            <a:off x="530352" y="4480560"/>
            <a:ext cx="3611880" cy="731520"/>
          </a:xfrm>
          <a:prstGeom prst="roundRect">
            <a:avLst>
              <a:gd name="adj" fmla="val 10000"/>
            </a:avLst>
          </a:prstGeom>
          <a:solidFill>
            <a:srgbClr val="FFFFFF"/>
          </a:solidFill>
          <a:ln w="6350">
            <a:solidFill>
              <a:srgbClr val="D9DEE7"/>
            </a:solidFill>
            <a:prstDash val="solid"/>
          </a:ln>
        </p:spPr>
      </p:sp>
      <p:sp>
        <p:nvSpPr>
          <p:cNvPr id="24" name="Text 22"/>
          <p:cNvSpPr txBox="1"/>
          <p:nvPr/>
        </p:nvSpPr>
        <p:spPr>
          <a:xfrm>
            <a:off x="66751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برگشتی:  </a:t>
            </a:r>
            <a:pPr algn="r" indent="0" marL="0">
              <a:buNone/>
            </a:pPr>
            <a:r>
              <a:rPr lang="en-US" sz="1250" dirty="0">
                <a:solidFill>
                  <a:srgbClr val="1F2937"/>
                </a:solidFill>
                <a:latin typeface="Tahoma" pitchFamily="34" charset="0"/>
                <a:ea typeface="Tahoma" pitchFamily="34" charset="-122"/>
                <a:cs typeface="Tahoma" pitchFamily="34" charset="-120"/>
              </a:rPr>
              <a:t>برای اصلاح برگشت خورده؛ دوباره قابل ویرایش و ارسال</a:t>
            </a:r>
            <a:endParaRPr lang="en-US" sz="1250" dirty="0"/>
          </a:p>
        </p:txBody>
      </p:sp>
      <p:sp>
        <p:nvSpPr>
          <p:cNvPr id="25" name="Shape 23"/>
          <p:cNvSpPr/>
          <p:nvPr/>
        </p:nvSpPr>
        <p:spPr>
          <a:xfrm>
            <a:off x="8028432" y="5349240"/>
            <a:ext cx="3611880" cy="731520"/>
          </a:xfrm>
          <a:prstGeom prst="roundRect">
            <a:avLst>
              <a:gd name="adj" fmla="val 10000"/>
            </a:avLst>
          </a:prstGeom>
          <a:solidFill>
            <a:srgbClr val="FFFFFF"/>
          </a:solidFill>
          <a:ln w="6350">
            <a:solidFill>
              <a:srgbClr val="D9DEE7"/>
            </a:solidFill>
            <a:prstDash val="solid"/>
          </a:ln>
        </p:spPr>
      </p:sp>
      <p:sp>
        <p:nvSpPr>
          <p:cNvPr id="26" name="Text 24"/>
          <p:cNvSpPr txBox="1"/>
          <p:nvPr/>
        </p:nvSpPr>
        <p:spPr>
          <a:xfrm>
            <a:off x="816559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اسناد خودکار:  </a:t>
            </a:r>
            <a:pPr algn="r" indent="0" marL="0">
              <a:buNone/>
            </a:pPr>
            <a:r>
              <a:rPr lang="en-US" sz="1250" dirty="0">
                <a:solidFill>
                  <a:srgbClr val="1F2937"/>
                </a:solidFill>
                <a:latin typeface="Tahoma" pitchFamily="34" charset="0"/>
                <a:ea typeface="Tahoma" pitchFamily="34" charset="-122"/>
                <a:cs typeface="Tahoma" pitchFamily="34" charset="-120"/>
              </a:rPr>
              <a:t>همه «موقت»‌اند و در کارتابل اسناد قطعی می‌شوند</a:t>
            </a:r>
            <a:endParaRPr lang="en-US" sz="1250" dirty="0"/>
          </a:p>
        </p:txBody>
      </p:sp>
      <p:sp>
        <p:nvSpPr>
          <p:cNvPr id="27" name="Shape 25"/>
          <p:cNvSpPr/>
          <p:nvPr/>
        </p:nvSpPr>
        <p:spPr>
          <a:xfrm>
            <a:off x="4279392" y="5349240"/>
            <a:ext cx="3611880" cy="731520"/>
          </a:xfrm>
          <a:prstGeom prst="roundRect">
            <a:avLst>
              <a:gd name="adj" fmla="val 10000"/>
            </a:avLst>
          </a:prstGeom>
          <a:solidFill>
            <a:srgbClr val="FFFFFF"/>
          </a:solidFill>
          <a:ln w="6350">
            <a:solidFill>
              <a:srgbClr val="D9DEE7"/>
            </a:solidFill>
            <a:prstDash val="solid"/>
          </a:ln>
        </p:spPr>
      </p:sp>
      <p:sp>
        <p:nvSpPr>
          <p:cNvPr id="28" name="Text 26"/>
          <p:cNvSpPr txBox="1"/>
          <p:nvPr/>
        </p:nvSpPr>
        <p:spPr>
          <a:xfrm>
            <a:off x="441655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تاریخ‌ها:  </a:t>
            </a:r>
            <a:pPr algn="r" indent="0" marL="0">
              <a:buNone/>
            </a:pPr>
            <a:r>
              <a:rPr lang="en-US" sz="1250" dirty="0">
                <a:solidFill>
                  <a:srgbClr val="1F2937"/>
                </a:solidFill>
                <a:latin typeface="Tahoma" pitchFamily="34" charset="0"/>
                <a:ea typeface="Tahoma" pitchFamily="34" charset="-122"/>
                <a:cs typeface="Tahoma" pitchFamily="34" charset="-120"/>
              </a:rPr>
              <a:t>شمسی؛ مبالغ به ریال مگر خلافش ذکر شود</a:t>
            </a:r>
            <a:endParaRPr lang="en-US" sz="1250" dirty="0"/>
          </a:p>
        </p:txBody>
      </p:sp>
      <p:sp>
        <p:nvSpPr>
          <p:cNvPr id="29" name="Shape 27"/>
          <p:cNvSpPr/>
          <p:nvPr/>
        </p:nvSpPr>
        <p:spPr>
          <a:xfrm>
            <a:off x="530352" y="5349240"/>
            <a:ext cx="3611880" cy="731520"/>
          </a:xfrm>
          <a:prstGeom prst="roundRect">
            <a:avLst>
              <a:gd name="adj" fmla="val 10000"/>
            </a:avLst>
          </a:prstGeom>
          <a:solidFill>
            <a:srgbClr val="FFFFFF"/>
          </a:solidFill>
          <a:ln w="6350">
            <a:solidFill>
              <a:srgbClr val="D9DEE7"/>
            </a:solidFill>
            <a:prstDash val="solid"/>
          </a:ln>
        </p:spPr>
      </p:sp>
      <p:sp>
        <p:nvSpPr>
          <p:cNvPr id="30" name="Text 28"/>
          <p:cNvSpPr txBox="1"/>
          <p:nvPr/>
        </p:nvSpPr>
        <p:spPr>
          <a:xfrm>
            <a:off x="66751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تفکیک وظایف:  </a:t>
            </a:r>
            <a:pPr algn="r" indent="0" marL="0">
              <a:buNone/>
            </a:pPr>
            <a:r>
              <a:rPr lang="en-US" sz="1250" dirty="0">
                <a:solidFill>
                  <a:srgbClr val="1F2937"/>
                </a:solidFill>
                <a:latin typeface="Tahoma" pitchFamily="34" charset="0"/>
                <a:ea typeface="Tahoma" pitchFamily="34" charset="-122"/>
                <a:cs typeface="Tahoma" pitchFamily="34" charset="-120"/>
              </a:rPr>
              <a:t>ثبت‌کننده هرگز تأییدکنندهٔ همان سند نیست</a:t>
            </a:r>
            <a:endParaRPr lang="en-US" sz="1250" dirty="0"/>
          </a:p>
        </p:txBody>
      </p:sp>
      <p:sp>
        <p:nvSpPr>
          <p:cNvPr id="31" name="Text 29"/>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مقدمه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ورود، سال مالی و واحد سازمانی</a:t>
            </a:r>
            <a:endParaRPr lang="en-US" sz="2600" dirty="0"/>
          </a:p>
        </p:txBody>
      </p:sp>
      <p:sp>
        <p:nvSpPr>
          <p:cNvPr id="3" name="Shape 1"/>
          <p:cNvSpPr/>
          <p:nvPr/>
        </p:nvSpPr>
        <p:spPr>
          <a:xfrm>
            <a:off x="411480" y="1188720"/>
            <a:ext cx="11365992" cy="748142"/>
          </a:xfrm>
          <a:prstGeom prst="roundRect">
            <a:avLst>
              <a:gd name="adj" fmla="val 977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opbar">    </p:cNvPr>
          <p:cNvPicPr>
            <a:picLocks noChangeAspect="1"/>
          </p:cNvPicPr>
          <p:nvPr/>
        </p:nvPicPr>
        <p:blipFill>
          <a:blip r:embed="rId1"/>
          <a:stretch>
            <a:fillRect/>
          </a:stretch>
        </p:blipFill>
        <p:spPr>
          <a:xfrm>
            <a:off x="457200" y="1237082"/>
            <a:ext cx="11274552" cy="651419"/>
          </a:xfrm>
          <a:prstGeom prst="rect">
            <a:avLst/>
          </a:prstGeom>
        </p:spPr>
      </p:pic>
      <p:sp>
        <p:nvSpPr>
          <p:cNvPr id="5" name="Shape 2"/>
          <p:cNvSpPr/>
          <p:nvPr/>
        </p:nvSpPr>
        <p:spPr>
          <a:xfrm>
            <a:off x="9073134" y="2165462"/>
            <a:ext cx="2704338" cy="1851660"/>
          </a:xfrm>
          <a:prstGeom prst="roundRect">
            <a:avLst>
              <a:gd name="adj" fmla="val 4938"/>
            </a:avLst>
          </a:prstGeom>
          <a:solidFill>
            <a:srgbClr val="FFFFFF"/>
          </a:solidFill>
          <a:ln w="6350">
            <a:solidFill>
              <a:srgbClr val="D9DEE7"/>
            </a:solidFill>
            <a:prstDash val="solid"/>
          </a:ln>
        </p:spPr>
      </p:sp>
      <p:sp>
        <p:nvSpPr>
          <p:cNvPr id="6" name="Shape 3"/>
          <p:cNvSpPr/>
          <p:nvPr/>
        </p:nvSpPr>
        <p:spPr>
          <a:xfrm>
            <a:off x="11274552" y="2302622"/>
            <a:ext cx="365760" cy="365760"/>
          </a:xfrm>
          <a:prstGeom prst="ellipse">
            <a:avLst/>
          </a:prstGeom>
          <a:solidFill>
            <a:srgbClr val="C9A227"/>
          </a:solidFill>
          <a:ln w="12700">
            <a:solidFill>
              <a:srgbClr val="C9A227"/>
            </a:solidFill>
            <a:prstDash val="solid"/>
          </a:ln>
        </p:spPr>
      </p:sp>
      <p:sp>
        <p:nvSpPr>
          <p:cNvPr id="7" name="Text 4"/>
          <p:cNvSpPr txBox="1"/>
          <p:nvPr/>
        </p:nvSpPr>
        <p:spPr>
          <a:xfrm>
            <a:off x="11274552"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8" name="Text 5"/>
          <p:cNvSpPr txBox="1"/>
          <p:nvPr/>
        </p:nvSpPr>
        <p:spPr>
          <a:xfrm>
            <a:off x="9256014" y="2284334"/>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ورود</a:t>
            </a:r>
            <a:endParaRPr lang="en-US" sz="1400" dirty="0"/>
          </a:p>
        </p:txBody>
      </p:sp>
      <p:sp>
        <p:nvSpPr>
          <p:cNvPr id="9" name="Text 6"/>
          <p:cNvSpPr txBox="1"/>
          <p:nvPr/>
        </p:nvSpPr>
        <p:spPr>
          <a:xfrm>
            <a:off x="9256014" y="2732390"/>
            <a:ext cx="2338578" cy="121158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با دکمهٔ «ورود با حساب سازمانی» از سامانهٔ احراز هویت سازمان وارد شوید.</a:t>
            </a:r>
            <a:endParaRPr lang="en-US" sz="1250" dirty="0"/>
          </a:p>
        </p:txBody>
      </p:sp>
      <p:sp>
        <p:nvSpPr>
          <p:cNvPr id="10" name="Shape 7"/>
          <p:cNvSpPr/>
          <p:nvPr/>
        </p:nvSpPr>
        <p:spPr>
          <a:xfrm>
            <a:off x="6185916" y="2165462"/>
            <a:ext cx="2704338" cy="1851660"/>
          </a:xfrm>
          <a:prstGeom prst="roundRect">
            <a:avLst>
              <a:gd name="adj" fmla="val 4938"/>
            </a:avLst>
          </a:prstGeom>
          <a:solidFill>
            <a:srgbClr val="FFFFFF"/>
          </a:solidFill>
          <a:ln w="6350">
            <a:solidFill>
              <a:srgbClr val="D9DEE7"/>
            </a:solidFill>
            <a:prstDash val="solid"/>
          </a:ln>
        </p:spPr>
      </p:sp>
      <p:sp>
        <p:nvSpPr>
          <p:cNvPr id="11" name="Shape 8"/>
          <p:cNvSpPr/>
          <p:nvPr/>
        </p:nvSpPr>
        <p:spPr>
          <a:xfrm>
            <a:off x="8387334" y="2302622"/>
            <a:ext cx="365760" cy="365760"/>
          </a:xfrm>
          <a:prstGeom prst="ellipse">
            <a:avLst/>
          </a:prstGeom>
          <a:solidFill>
            <a:srgbClr val="C9A227"/>
          </a:solidFill>
          <a:ln w="12700">
            <a:solidFill>
              <a:srgbClr val="C9A227"/>
            </a:solidFill>
            <a:prstDash val="solid"/>
          </a:ln>
        </p:spPr>
      </p:sp>
      <p:sp>
        <p:nvSpPr>
          <p:cNvPr id="12" name="Text 9"/>
          <p:cNvSpPr txBox="1"/>
          <p:nvPr/>
        </p:nvSpPr>
        <p:spPr>
          <a:xfrm>
            <a:off x="8387334"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6368796" y="2284334"/>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سال مالی و واحد</a:t>
            </a:r>
            <a:endParaRPr lang="en-US" sz="1400" dirty="0"/>
          </a:p>
        </p:txBody>
      </p:sp>
      <p:sp>
        <p:nvSpPr>
          <p:cNvPr id="14" name="Text 11"/>
          <p:cNvSpPr txBox="1"/>
          <p:nvPr/>
        </p:nvSpPr>
        <p:spPr>
          <a:xfrm>
            <a:off x="6368796" y="2732390"/>
            <a:ext cx="2338578" cy="121158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نوار بالا روی نام واحد و سال کلیک کنید و سال مالی و واحدی را که می‌خواهید به نام آن کار کنید انتخاب کنید.</a:t>
            </a:r>
            <a:endParaRPr lang="en-US" sz="1250" dirty="0"/>
          </a:p>
        </p:txBody>
      </p:sp>
      <p:sp>
        <p:nvSpPr>
          <p:cNvPr id="15" name="Shape 12"/>
          <p:cNvSpPr/>
          <p:nvPr/>
        </p:nvSpPr>
        <p:spPr>
          <a:xfrm>
            <a:off x="3298698" y="2165462"/>
            <a:ext cx="2704338" cy="1851660"/>
          </a:xfrm>
          <a:prstGeom prst="roundRect">
            <a:avLst>
              <a:gd name="adj" fmla="val 4938"/>
            </a:avLst>
          </a:prstGeom>
          <a:solidFill>
            <a:srgbClr val="FFFFFF"/>
          </a:solidFill>
          <a:ln w="6350">
            <a:solidFill>
              <a:srgbClr val="D9DEE7"/>
            </a:solidFill>
            <a:prstDash val="solid"/>
          </a:ln>
        </p:spPr>
      </p:sp>
      <p:sp>
        <p:nvSpPr>
          <p:cNvPr id="16" name="Shape 13"/>
          <p:cNvSpPr/>
          <p:nvPr/>
        </p:nvSpPr>
        <p:spPr>
          <a:xfrm>
            <a:off x="5500116" y="2302622"/>
            <a:ext cx="365760" cy="365760"/>
          </a:xfrm>
          <a:prstGeom prst="ellipse">
            <a:avLst/>
          </a:prstGeom>
          <a:solidFill>
            <a:srgbClr val="C9A227"/>
          </a:solidFill>
          <a:ln w="12700">
            <a:solidFill>
              <a:srgbClr val="C9A227"/>
            </a:solidFill>
            <a:prstDash val="solid"/>
          </a:ln>
        </p:spPr>
      </p:sp>
      <p:sp>
        <p:nvSpPr>
          <p:cNvPr id="17" name="Text 14"/>
          <p:cNvSpPr txBox="1"/>
          <p:nvPr/>
        </p:nvSpPr>
        <p:spPr>
          <a:xfrm>
            <a:off x="5500116"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txBox="1"/>
          <p:nvPr/>
        </p:nvSpPr>
        <p:spPr>
          <a:xfrm>
            <a:off x="3481578" y="2284334"/>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انتخاب</a:t>
            </a:r>
            <a:endParaRPr lang="en-US" sz="1400" dirty="0"/>
          </a:p>
        </p:txBody>
      </p:sp>
      <p:sp>
        <p:nvSpPr>
          <p:cNvPr id="19" name="Text 16"/>
          <p:cNvSpPr txBox="1"/>
          <p:nvPr/>
        </p:nvSpPr>
        <p:spPr>
          <a:xfrm>
            <a:off x="3481578" y="2732390"/>
            <a:ext cx="2338578" cy="121158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همهٔ فرم‌ها، فهرست‌ها و گزارش‌ها فقط دادهٔ همین واحد و سال را نشان می‌دهند؛ واحدی که مجوزش را ندارید با خطای «دسترسی ندارید» رد می‌شود.</a:t>
            </a:r>
            <a:endParaRPr lang="en-US" sz="1250" dirty="0"/>
          </a:p>
        </p:txBody>
      </p:sp>
      <p:sp>
        <p:nvSpPr>
          <p:cNvPr id="20" name="Shape 17"/>
          <p:cNvSpPr/>
          <p:nvPr/>
        </p:nvSpPr>
        <p:spPr>
          <a:xfrm>
            <a:off x="411480" y="2165462"/>
            <a:ext cx="2704338" cy="1851660"/>
          </a:xfrm>
          <a:prstGeom prst="roundRect">
            <a:avLst>
              <a:gd name="adj" fmla="val 4938"/>
            </a:avLst>
          </a:prstGeom>
          <a:solidFill>
            <a:srgbClr val="FFFFFF"/>
          </a:solidFill>
          <a:ln w="6350">
            <a:solidFill>
              <a:srgbClr val="D9DEE7"/>
            </a:solidFill>
            <a:prstDash val="solid"/>
          </a:ln>
        </p:spPr>
      </p:sp>
      <p:sp>
        <p:nvSpPr>
          <p:cNvPr id="21" name="Shape 18"/>
          <p:cNvSpPr/>
          <p:nvPr/>
        </p:nvSpPr>
        <p:spPr>
          <a:xfrm>
            <a:off x="2612898" y="2302622"/>
            <a:ext cx="365760" cy="365760"/>
          </a:xfrm>
          <a:prstGeom prst="ellipse">
            <a:avLst/>
          </a:prstGeom>
          <a:solidFill>
            <a:srgbClr val="C9A227"/>
          </a:solidFill>
          <a:ln w="12700">
            <a:solidFill>
              <a:srgbClr val="C9A227"/>
            </a:solidFill>
            <a:prstDash val="solid"/>
          </a:ln>
        </p:spPr>
      </p:sp>
      <p:sp>
        <p:nvSpPr>
          <p:cNvPr id="22" name="Text 19"/>
          <p:cNvSpPr txBox="1"/>
          <p:nvPr/>
        </p:nvSpPr>
        <p:spPr>
          <a:xfrm>
            <a:off x="2612898"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3" name="Text 20"/>
          <p:cNvSpPr txBox="1"/>
          <p:nvPr/>
        </p:nvSpPr>
        <p:spPr>
          <a:xfrm>
            <a:off x="594360" y="2284334"/>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ستاد مرکزی</a:t>
            </a:r>
            <a:endParaRPr lang="en-US" sz="1400" dirty="0"/>
          </a:p>
        </p:txBody>
      </p:sp>
      <p:sp>
        <p:nvSpPr>
          <p:cNvPr id="24" name="Text 21"/>
          <p:cNvSpPr txBox="1"/>
          <p:nvPr/>
        </p:nvSpPr>
        <p:spPr>
          <a:xfrm>
            <a:off x="594360" y="2732390"/>
            <a:ext cx="2338578" cy="121158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کاربر ستاد می‌تواند به جای هر واحد عمل کند و در صورت‌های مالی، ترکیبی همهٔ زیرمجموعه‌ها را ببیند.</a:t>
            </a:r>
            <a:endParaRPr lang="en-US" sz="125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شروع کار</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pc">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۱</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۱</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تنخواه‌گردان</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از تعریف تنخواه تا ثبت هزینه، تأیید، ترمیم و تسویهٔ دوره با سند حسابداری</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چرخهٔ کامل تنخواه در یک نگاه</a:t>
            </a:r>
            <a:endParaRPr lang="en-US" sz="2600" dirty="0"/>
          </a:p>
        </p:txBody>
      </p:sp>
      <p:sp>
        <p:nvSpPr>
          <p:cNvPr id="3" name="Shape 1"/>
          <p:cNvSpPr/>
          <p:nvPr/>
        </p:nvSpPr>
        <p:spPr>
          <a:xfrm>
            <a:off x="9796882"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512857"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512857"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9906610"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تعریف تنخواه</a:t>
            </a:r>
            <a:endParaRPr lang="en-US" sz="1600" dirty="0"/>
          </a:p>
        </p:txBody>
      </p:sp>
      <p:sp>
        <p:nvSpPr>
          <p:cNvPr id="7" name="Text 5"/>
          <p:cNvSpPr txBox="1"/>
          <p:nvPr/>
        </p:nvSpPr>
        <p:spPr>
          <a:xfrm>
            <a:off x="9906610"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سقف، تنخواه‌دار، بررسی‌کنندگان</a:t>
            </a:r>
            <a:endParaRPr lang="en-US" sz="1250" dirty="0"/>
          </a:p>
        </p:txBody>
      </p:sp>
      <p:sp>
        <p:nvSpPr>
          <p:cNvPr id="8" name="Text 6"/>
          <p:cNvSpPr txBox="1"/>
          <p:nvPr/>
        </p:nvSpPr>
        <p:spPr>
          <a:xfrm>
            <a:off x="943112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7450531"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166506"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16650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7560259"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ثبت صورت‌هزینه</a:t>
            </a:r>
            <a:endParaRPr lang="en-US" sz="1600" dirty="0"/>
          </a:p>
        </p:txBody>
      </p:sp>
      <p:sp>
        <p:nvSpPr>
          <p:cNvPr id="13" name="Text 11"/>
          <p:cNvSpPr txBox="1"/>
          <p:nvPr/>
        </p:nvSpPr>
        <p:spPr>
          <a:xfrm>
            <a:off x="7560259"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تنخواه‌دار + پیوست</a:t>
            </a:r>
            <a:endParaRPr lang="en-US" sz="1250" dirty="0"/>
          </a:p>
        </p:txBody>
      </p:sp>
      <p:sp>
        <p:nvSpPr>
          <p:cNvPr id="14" name="Text 12"/>
          <p:cNvSpPr txBox="1"/>
          <p:nvPr/>
        </p:nvSpPr>
        <p:spPr>
          <a:xfrm>
            <a:off x="7084771"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5104181"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5820156"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582015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5213909"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بررسی و تأیید</a:t>
            </a:r>
            <a:endParaRPr lang="en-US" sz="1600" dirty="0"/>
          </a:p>
        </p:txBody>
      </p:sp>
      <p:sp>
        <p:nvSpPr>
          <p:cNvPr id="19" name="Text 17"/>
          <p:cNvSpPr txBox="1"/>
          <p:nvPr/>
        </p:nvSpPr>
        <p:spPr>
          <a:xfrm>
            <a:off x="5213909"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بازرس ← مدیر مالی/مدیرعامل</a:t>
            </a:r>
            <a:endParaRPr lang="en-US" sz="1250" dirty="0"/>
          </a:p>
        </p:txBody>
      </p:sp>
      <p:sp>
        <p:nvSpPr>
          <p:cNvPr id="20" name="Text 18"/>
          <p:cNvSpPr txBox="1"/>
          <p:nvPr/>
        </p:nvSpPr>
        <p:spPr>
          <a:xfrm>
            <a:off x="4738421"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2757830"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3473806"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347380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2867558"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ترمیم (شارژ)</a:t>
            </a:r>
            <a:endParaRPr lang="en-US" sz="1600" dirty="0"/>
          </a:p>
        </p:txBody>
      </p:sp>
      <p:sp>
        <p:nvSpPr>
          <p:cNvPr id="25" name="Text 23"/>
          <p:cNvSpPr txBox="1"/>
          <p:nvPr/>
        </p:nvSpPr>
        <p:spPr>
          <a:xfrm>
            <a:off x="2867558"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مدیر مالی ← خزانه‌دار</a:t>
            </a:r>
            <a:endParaRPr lang="en-US" sz="1250" dirty="0"/>
          </a:p>
        </p:txBody>
      </p:sp>
      <p:sp>
        <p:nvSpPr>
          <p:cNvPr id="26" name="Text 24"/>
          <p:cNvSpPr txBox="1"/>
          <p:nvPr/>
        </p:nvSpPr>
        <p:spPr>
          <a:xfrm>
            <a:off x="239207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411480" y="2103120"/>
            <a:ext cx="1980590" cy="2011680"/>
          </a:xfrm>
          <a:prstGeom prst="roundRect">
            <a:avLst>
              <a:gd name="adj" fmla="val 5540"/>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1127455"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1127455"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521208" y="2560320"/>
            <a:ext cx="1761134"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تسویهٔ دوره</a:t>
            </a:r>
            <a:endParaRPr lang="en-US" sz="1600" dirty="0"/>
          </a:p>
        </p:txBody>
      </p:sp>
      <p:sp>
        <p:nvSpPr>
          <p:cNvPr id="31" name="Text 29"/>
          <p:cNvSpPr txBox="1"/>
          <p:nvPr/>
        </p:nvSpPr>
        <p:spPr>
          <a:xfrm>
            <a:off x="521208" y="3246120"/>
            <a:ext cx="1761134"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شمارش صندوق + سند حسابداری</a:t>
            </a:r>
            <a:endParaRPr lang="en-US" sz="1250" dirty="0"/>
          </a:p>
        </p:txBody>
      </p:sp>
      <p:sp>
        <p:nvSpPr>
          <p:cNvPr id="32" name="Shape 30"/>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3" name="Text 31"/>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معادلهٔ تراز تنخواه:  سقف تنخواه = موجودی نقد + تأییدشدهٔ منتظر ترمیم + اسناد در جریان − استرداد</a:t>
            </a:r>
            <a:endParaRPr lang="en-US" sz="1500" dirty="0"/>
          </a:p>
        </p:txBody>
      </p:sp>
      <p:sp>
        <p:nvSpPr>
          <p:cNvPr id="34" name="Text 3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نقش‌ها و وضعیت‌های صورت‌هزینه</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a:tblGrid>
                <a:gridCol w="1659636"/>
                <a:gridCol w="3872484"/>
              </a:tblGrid>
              <a:tr h="475488">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نقش</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چه کاری می‌کند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تنخواه‌دار</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تنها کسی که صورت‌هزینه ثبت، ویرایش، ارسال یا حذف می‌کند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بازرس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شروع بررسی و «تأیید کنترل» مدارک؛ برگشت یا رد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تا «سقف اختیار مدیر مالی»؛ ساخت و تأیید ترمیم</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مدیرعامل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اسناد بالاتر از سقف اختیار مدیر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حسابدار ارشد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نهایی‌سازی تسویهٔ دوره و صدور سند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خزانه‌دار</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ثبت پرداخت ترمیم و ثبت استرداد وجه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a:tblGrid>
                <a:gridCol w="1659636"/>
                <a:gridCol w="3872484"/>
              </a:tblGrid>
              <a:tr h="475488">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معنا</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پیش‌نویس</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ذخیره شده، هنوز ارسال نشده (قابل ویرایش و حذف)</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جدید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ارسال شده و در کارتابل بررسی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در انتظار بررسی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بازرس بررسی را شروع کرده است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برگشتی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برای اصلاح به تنخواه‌دار برگشته (با مهلت و دلیل)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تأییدشده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شده و منتظر ترمیم است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ردشده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پایانی؛ ترمیم نمی‌شود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تسویه‌شده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در سند تسویهٔ دوره منظور شده؛ قفل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5" name="Shape 1"/>
          <p:cNvSpPr/>
          <p:nvPr/>
        </p:nvSpPr>
        <p:spPr>
          <a:xfrm>
            <a:off x="411480" y="5532120"/>
            <a:ext cx="11365992" cy="731520"/>
          </a:xfrm>
          <a:prstGeom prst="roundRect">
            <a:avLst>
              <a:gd name="adj" fmla="val 10000"/>
            </a:avLst>
          </a:prstGeom>
          <a:solidFill>
            <a:srgbClr val="F6EDCF"/>
          </a:solidFill>
          <a:ln w="12700">
            <a:solidFill>
              <a:srgbClr val="F6EDCF"/>
            </a:solidFill>
            <a:prstDash val="solid"/>
          </a:ln>
        </p:spPr>
      </p:sp>
      <p:sp>
        <p:nvSpPr>
          <p:cNvPr id="6" name="Text 2"/>
          <p:cNvSpPr txBox="1"/>
          <p:nvPr/>
        </p:nvSpPr>
        <p:spPr>
          <a:xfrm>
            <a:off x="640080" y="5532120"/>
            <a:ext cx="10908792" cy="731520"/>
          </a:xfrm>
          <a:prstGeom prst="rect">
            <a:avLst/>
          </a:prstGeom>
          <a:noFill/>
          <a:ln/>
        </p:spPr>
        <p:txBody>
          <a:bodyPr wrap="square" lIns="0" tIns="0" rIns="0" bIns="0" rtlCol="0" anchor="ctr"/>
          <a:lstStyle/>
          <a:p>
            <a:pPr rtl="1" algn="r" indent="0" marL="0">
              <a:buNone/>
            </a:pPr>
            <a:r>
              <a:rPr lang="en-US" sz="1400" dirty="0">
                <a:solidFill>
                  <a:srgbClr val="4A3B0B"/>
                </a:solidFill>
                <a:latin typeface="Tahoma" pitchFamily="34" charset="0"/>
                <a:ea typeface="Tahoma" pitchFamily="34" charset="-122"/>
                <a:cs typeface="Tahoma" pitchFamily="34" charset="-120"/>
              </a:rPr>
              <a:t>تفکیک وظایف: ثبت‌کنندهٔ سند نمی‌تواند آن را بررسی کند و کنترل‌کننده (بازرس) نمی‌تواند همان سند را تأیید نهایی کند.</a:t>
            </a:r>
            <a:endParaRPr lang="en-US" sz="1400" dirty="0"/>
          </a:p>
        </p:txBody>
      </p:sp>
      <p:sp>
        <p:nvSpPr>
          <p:cNvPr id="7" name="Text 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فهرست و تعریف تنخواه‌ها</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تعریف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فهرست</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ردیف یک تنخواه است با کد، عنوان، تنخواه‌دار، سقف، سقف هر سند و موجودی نقد لحظه‌ای.</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 جدید</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«تنخواه جدید» را بزنید تا فرم تعریف باز شود (اسلاید بعد).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آیکون‌های ردیف</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ویرایش، «بررسی‌کنندگان»، «تفصیلی‌های حساب معین» و حذف.</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غیرفعال‌سازی</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 غیرفعال صورت‌هزینهٔ جدید نمی‌پذیرد؛ حذف فقط وقتی ممکن است که هیچ صورت‌هزینه‌ای نداشته باشد.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فرم تعریف تنخواه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2">    </p:cNvPr>
          <p:cNvPicPr>
            <a:picLocks noChangeAspect="1"/>
          </p:cNvPicPr>
          <p:nvPr/>
        </p:nvPicPr>
        <p:blipFill>
          <a:blip r:embed="rId1"/>
          <a:stretch>
            <a:fillRect/>
          </a:stretch>
        </p:blipFill>
        <p:spPr>
          <a:xfrm>
            <a:off x="1965306" y="1216152"/>
            <a:ext cx="4298987"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کد و عنوان</a:t>
            </a:r>
            <a:endParaRPr lang="en-US" sz="1400" dirty="0"/>
          </a:p>
        </p:txBody>
      </p:sp>
      <p:sp>
        <p:nvSpPr>
          <p:cNvPr id="8" name="Text 5"/>
          <p:cNvSpPr txBox="1"/>
          <p:nvPr/>
        </p:nvSpPr>
        <p:spPr>
          <a:xfrm>
            <a:off x="8046720" y="1517904"/>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کد در هر واحد باید یکتا باشد؛ مثلاً TN-01 «تنخواه اداری ستاد».</a:t>
            </a:r>
            <a:endParaRPr lang="en-US" sz="1250" dirty="0"/>
          </a:p>
        </p:txBody>
      </p:sp>
      <p:sp>
        <p:nvSpPr>
          <p:cNvPr id="9" name="Shape 6"/>
          <p:cNvSpPr/>
          <p:nvPr/>
        </p:nvSpPr>
        <p:spPr>
          <a:xfrm>
            <a:off x="11393424" y="208711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08711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08711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تنخواه‌دار</a:t>
            </a:r>
            <a:endParaRPr lang="en-US" sz="1400" dirty="0"/>
          </a:p>
        </p:txBody>
      </p:sp>
      <p:sp>
        <p:nvSpPr>
          <p:cNvPr id="12" name="Text 9"/>
          <p:cNvSpPr txBox="1"/>
          <p:nvPr/>
        </p:nvSpPr>
        <p:spPr>
          <a:xfrm>
            <a:off x="8046720" y="2416302"/>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کد کاربری و نام مسئول تنخواه؛ فقط او می‌تواند سند ثبت کند.</a:t>
            </a:r>
            <a:endParaRPr lang="en-US" sz="1250" dirty="0"/>
          </a:p>
        </p:txBody>
      </p:sp>
      <p:sp>
        <p:nvSpPr>
          <p:cNvPr id="13" name="Shape 10"/>
          <p:cNvSpPr/>
          <p:nvPr/>
        </p:nvSpPr>
        <p:spPr>
          <a:xfrm>
            <a:off x="11393424" y="2985516"/>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298551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298551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سقف‌ها</a:t>
            </a:r>
            <a:endParaRPr lang="en-US" sz="1400" dirty="0"/>
          </a:p>
        </p:txBody>
      </p:sp>
      <p:sp>
        <p:nvSpPr>
          <p:cNvPr id="16" name="Text 13"/>
          <p:cNvSpPr txBox="1"/>
          <p:nvPr/>
        </p:nvSpPr>
        <p:spPr>
          <a:xfrm>
            <a:off x="8046720" y="3314700"/>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سقف تنخواه، سقف هر سند و سقف اختیار تأیید مدیر مالی (بیشتر از آن ⇐ مدیرعامل).</a:t>
            </a:r>
            <a:endParaRPr lang="en-US" sz="1250" dirty="0"/>
          </a:p>
        </p:txBody>
      </p:sp>
      <p:sp>
        <p:nvSpPr>
          <p:cNvPr id="17" name="Shape 14"/>
          <p:cNvSpPr/>
          <p:nvPr/>
        </p:nvSpPr>
        <p:spPr>
          <a:xfrm>
            <a:off x="11393424" y="3883914"/>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883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883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آستانهٔ هشدار</a:t>
            </a:r>
            <a:endParaRPr lang="en-US" sz="1400" dirty="0"/>
          </a:p>
        </p:txBody>
      </p:sp>
      <p:sp>
        <p:nvSpPr>
          <p:cNvPr id="20" name="Text 17"/>
          <p:cNvSpPr txBox="1"/>
          <p:nvPr/>
        </p:nvSpPr>
        <p:spPr>
          <a:xfrm>
            <a:off x="8046720" y="4213098"/>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وقتی موجودی نقد از این درصد سقف کمتر شود داشبورد هشدار می‌دهد.</a:t>
            </a:r>
            <a:endParaRPr lang="en-US" sz="1250" dirty="0"/>
          </a:p>
        </p:txBody>
      </p:sp>
      <p:sp>
        <p:nvSpPr>
          <p:cNvPr id="21" name="Shape 18"/>
          <p:cNvSpPr/>
          <p:nvPr/>
        </p:nvSpPr>
        <p:spPr>
          <a:xfrm>
            <a:off x="11393424" y="4782312"/>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78231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78231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 معین و دورهٔ تسویه</a:t>
            </a:r>
            <a:endParaRPr lang="en-US" sz="1400" dirty="0"/>
          </a:p>
        </p:txBody>
      </p:sp>
      <p:sp>
        <p:nvSpPr>
          <p:cNvPr id="24" name="Text 21"/>
          <p:cNvSpPr txBox="1"/>
          <p:nvPr/>
        </p:nvSpPr>
        <p:spPr>
          <a:xfrm>
            <a:off x="8046720" y="5111496"/>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حساب «تنخواه‌گردان‌ها» و ماهانه/فصلی؛ «ثبت‌کنندهٔ استرداد» را هم تعیین کنید.</a:t>
            </a:r>
            <a:endParaRPr lang="en-US" sz="1250" dirty="0"/>
          </a:p>
        </p:txBody>
      </p:sp>
      <p:sp>
        <p:nvSpPr>
          <p:cNvPr id="25" name="Shape 22"/>
          <p:cNvSpPr/>
          <p:nvPr/>
        </p:nvSpPr>
        <p:spPr>
          <a:xfrm>
            <a:off x="11393424" y="5680710"/>
            <a:ext cx="347472" cy="347472"/>
          </a:xfrm>
          <a:prstGeom prst="ellipse">
            <a:avLst/>
          </a:prstGeom>
          <a:solidFill>
            <a:srgbClr val="C9A227"/>
          </a:solidFill>
          <a:ln w="12700">
            <a:solidFill>
              <a:srgbClr val="C9A227"/>
            </a:solidFill>
            <a:prstDash val="solid"/>
          </a:ln>
        </p:spPr>
      </p:sp>
      <p:sp>
        <p:nvSpPr>
          <p:cNvPr id="26" name="Text 23"/>
          <p:cNvSpPr txBox="1"/>
          <p:nvPr/>
        </p:nvSpPr>
        <p:spPr>
          <a:xfrm>
            <a:off x="11393424" y="568071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7" name="Text 24"/>
          <p:cNvSpPr txBox="1"/>
          <p:nvPr/>
        </p:nvSpPr>
        <p:spPr>
          <a:xfrm>
            <a:off x="8046720" y="568071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a:t>
            </a:r>
            <a:endParaRPr lang="en-US" sz="1400" dirty="0"/>
          </a:p>
        </p:txBody>
      </p:sp>
      <p:sp>
        <p:nvSpPr>
          <p:cNvPr id="28" name="Text 25"/>
          <p:cNvSpPr txBox="1"/>
          <p:nvPr/>
        </p:nvSpPr>
        <p:spPr>
          <a:xfrm>
            <a:off x="8046720" y="6009894"/>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وضعیت «فعال» را روشن بگذارید و ذخیره کنید.</a:t>
            </a:r>
            <a:endParaRPr lang="en-US" sz="1250" dirty="0"/>
          </a:p>
        </p:txBody>
      </p:sp>
      <p:sp>
        <p:nvSpPr>
          <p:cNvPr id="29" name="Text 2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تعیین بررسی‌کنندگان تنخواه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3">    </p:cNvPr>
          <p:cNvPicPr>
            <a:picLocks noChangeAspect="1"/>
          </p:cNvPicPr>
          <p:nvPr/>
        </p:nvPicPr>
        <p:blipFill>
          <a:blip r:embed="rId1"/>
          <a:stretch>
            <a:fillRect/>
          </a:stretch>
        </p:blipFill>
        <p:spPr>
          <a:xfrm>
            <a:off x="1670714" y="1216152"/>
            <a:ext cx="4888171"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فهرست تنخواه‌ها آیکون «بررسی‌کنندگان» را بزنید.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افزودن</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کاربری، نام و نقش (بازرس مالی، مدیر مالی، مدیرعامل، حسابدار ارشد، خزانه‌دار) را وارد و «افزودن» کنید.</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چند نقش</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یک کاربر می‌تواند روی یک تنخواه بیش از یک نقش داشته باشد.</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تفصیلی معین</a:t>
            </a:r>
            <a:endParaRPr lang="en-US" sz="1400" dirty="0"/>
          </a:p>
        </p:txBody>
      </p:sp>
      <p:sp>
        <p:nvSpPr>
          <p:cNvPr id="20" name="Text 17"/>
          <p:cNvSpPr txBox="1"/>
          <p:nvPr/>
        </p:nvSpPr>
        <p:spPr>
          <a:xfrm>
            <a:off x="8046720" y="448376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از آیکون «تفصیلی‌های حساب معین» تفصیلی‌های لازم برای سند تسویه را تعیین کنید.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ثبت صورت‌هزینه (تنخواه‌دار)</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ثبت صورت‌هزینه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5">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 و تاریخ</a:t>
            </a:r>
            <a:endParaRPr lang="en-US" sz="1400" dirty="0"/>
          </a:p>
        </p:txBody>
      </p:sp>
      <p:sp>
        <p:nvSpPr>
          <p:cNvPr id="10" name="Text 7"/>
          <p:cNvSpPr txBox="1"/>
          <p:nvPr/>
        </p:nvSpPr>
        <p:spPr>
          <a:xfrm>
            <a:off x="8046720" y="1700784"/>
            <a:ext cx="3227832" cy="59481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تنخواه را انتخاب کنید؛ کارت «ماندهٔ تنخواه» موجودی نقد و ماندهٔ پس از این سند را نشان می‌دهد.</a:t>
            </a:r>
            <a:endParaRPr lang="en-US" sz="1100" dirty="0"/>
          </a:p>
        </p:txBody>
      </p:sp>
      <p:sp>
        <p:nvSpPr>
          <p:cNvPr id="11" name="Shape 8"/>
          <p:cNvSpPr/>
          <p:nvPr/>
        </p:nvSpPr>
        <p:spPr>
          <a:xfrm>
            <a:off x="11393424" y="2405329"/>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4053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4053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فروشنده و فاکتور</a:t>
            </a:r>
            <a:endParaRPr lang="en-US" sz="1400" dirty="0"/>
          </a:p>
        </p:txBody>
      </p:sp>
      <p:sp>
        <p:nvSpPr>
          <p:cNvPr id="14" name="Text 11"/>
          <p:cNvSpPr txBox="1"/>
          <p:nvPr/>
        </p:nvSpPr>
        <p:spPr>
          <a:xfrm>
            <a:off x="8046720" y="2734513"/>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نام و شناسهٔ ملی فروشنده، نوع مدرک، شماره و تاریخ فاکتور (در سال مالی جاری).</a:t>
            </a:r>
            <a:endParaRPr lang="en-US" sz="1100" dirty="0"/>
          </a:p>
        </p:txBody>
      </p:sp>
      <p:sp>
        <p:nvSpPr>
          <p:cNvPr id="15" name="Shape 12"/>
          <p:cNvSpPr/>
          <p:nvPr/>
        </p:nvSpPr>
        <p:spPr>
          <a:xfrm>
            <a:off x="11393424" y="3252978"/>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5297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5297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شرح و مبلغ</a:t>
            </a:r>
            <a:endParaRPr lang="en-US" sz="1400" dirty="0"/>
          </a:p>
        </p:txBody>
      </p:sp>
      <p:sp>
        <p:nvSpPr>
          <p:cNvPr id="18" name="Text 15"/>
          <p:cNvSpPr txBox="1"/>
          <p:nvPr/>
        </p:nvSpPr>
        <p:spPr>
          <a:xfrm>
            <a:off x="8046720" y="3582162"/>
            <a:ext cx="3227832" cy="59481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حساب هزینه، شرح، مبلغ قبل از مالیات و ارزش افزوده (۱۰٪ پیشنهاد می‌شود)؛ مبلغ کل خودکار است.</a:t>
            </a:r>
            <a:endParaRPr lang="en-US" sz="1100" dirty="0"/>
          </a:p>
        </p:txBody>
      </p:sp>
      <p:sp>
        <p:nvSpPr>
          <p:cNvPr id="19" name="Shape 16"/>
          <p:cNvSpPr/>
          <p:nvPr/>
        </p:nvSpPr>
        <p:spPr>
          <a:xfrm>
            <a:off x="11393424" y="4286707"/>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286707"/>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286707"/>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لحظه‌ای</a:t>
            </a:r>
            <a:endParaRPr lang="en-US" sz="1400" dirty="0"/>
          </a:p>
        </p:txBody>
      </p:sp>
      <p:sp>
        <p:nvSpPr>
          <p:cNvPr id="22" name="Text 19"/>
          <p:cNvSpPr txBox="1"/>
          <p:nvPr/>
        </p:nvSpPr>
        <p:spPr>
          <a:xfrm>
            <a:off x="8046720" y="4615891"/>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تیک سبز یعنی در سقف هر سند، موجودی کافی و تاریخ معتبر است.</a:t>
            </a:r>
            <a:endParaRPr lang="en-US" sz="1100" dirty="0"/>
          </a:p>
        </p:txBody>
      </p:sp>
      <p:sp>
        <p:nvSpPr>
          <p:cNvPr id="23" name="Shape 20"/>
          <p:cNvSpPr/>
          <p:nvPr/>
        </p:nvSpPr>
        <p:spPr>
          <a:xfrm>
            <a:off x="11393424" y="5134356"/>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1343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1343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 یا ارسال</a:t>
            </a:r>
            <a:endParaRPr lang="en-US" sz="1400" dirty="0"/>
          </a:p>
        </p:txBody>
      </p:sp>
      <p:sp>
        <p:nvSpPr>
          <p:cNvPr id="26" name="Text 23"/>
          <p:cNvSpPr txBox="1"/>
          <p:nvPr/>
        </p:nvSpPr>
        <p:spPr>
          <a:xfrm>
            <a:off x="8046720" y="5463540"/>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«ذخیرهٔ پیش‌نویس» برای ادامه بعدی؛ «ارسال برای بررسی» سند را به کارتابل می‌فرستد.</a:t>
            </a:r>
            <a:endParaRPr lang="en-US" sz="1100" dirty="0"/>
          </a:p>
        </p:txBody>
      </p:sp>
      <p:sp>
        <p:nvSpPr>
          <p:cNvPr id="27" name="Shape 24"/>
          <p:cNvSpPr/>
          <p:nvPr/>
        </p:nvSpPr>
        <p:spPr>
          <a:xfrm>
            <a:off x="11393424" y="5982005"/>
            <a:ext cx="347472" cy="347472"/>
          </a:xfrm>
          <a:prstGeom prst="ellipse">
            <a:avLst/>
          </a:prstGeom>
          <a:solidFill>
            <a:srgbClr val="C9A227"/>
          </a:solidFill>
          <a:ln w="12700">
            <a:solidFill>
              <a:srgbClr val="C9A227"/>
            </a:solidFill>
            <a:prstDash val="solid"/>
          </a:ln>
        </p:spPr>
      </p:sp>
      <p:sp>
        <p:nvSpPr>
          <p:cNvPr id="28" name="Text 25"/>
          <p:cNvSpPr txBox="1"/>
          <p:nvPr/>
        </p:nvSpPr>
        <p:spPr>
          <a:xfrm>
            <a:off x="11393424" y="598200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9" name="Text 26"/>
          <p:cNvSpPr txBox="1"/>
          <p:nvPr/>
        </p:nvSpPr>
        <p:spPr>
          <a:xfrm>
            <a:off x="8046720" y="598200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پیوست</a:t>
            </a:r>
            <a:endParaRPr lang="en-US" sz="1400" dirty="0"/>
          </a:p>
        </p:txBody>
      </p:sp>
      <p:sp>
        <p:nvSpPr>
          <p:cNvPr id="30" name="Text 27"/>
          <p:cNvSpPr txBox="1"/>
          <p:nvPr/>
        </p:nvSpPr>
        <p:spPr>
          <a:xfrm>
            <a:off x="8046720" y="6311189"/>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پس از اولین ذخیره، فاکتور و رسید را پیوست کنید.</a:t>
            </a:r>
            <a:endParaRPr lang="en-US" sz="1100" dirty="0"/>
          </a:p>
        </p:txBody>
      </p:sp>
      <p:sp>
        <p:nvSpPr>
          <p:cNvPr id="31" name="Text 2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کارتابل تنخواه</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7">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جریان»، جدید، در انتظار بررسی، برگشتی، تأییدشده، ردشده، پیش‌نویس و همه — با تعداد هر وضعیت.</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جستجو و فیلتر</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تنخواه، شرح، فروشنده یا شماره فاکتور.</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 عمر</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روزهای گذشته از ارسال؛ عمر بالای ۵ روز قرمز می‌شود.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اقدام‌ها</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نمایش، شروع بررسی، تأیید کنترل، تأیید نهایی، برگشت و رد — فقط اقدام‌های مجاز نقش شما فعال است.</a:t>
            </a:r>
            <a:endParaRPr lang="en-US" sz="1300" dirty="0"/>
          </a:p>
        </p:txBody>
      </p:sp>
      <p:sp>
        <p:nvSpPr>
          <p:cNvPr id="23" name="Shape 20"/>
          <p:cNvSpPr/>
          <p:nvPr/>
        </p:nvSpPr>
        <p:spPr>
          <a:xfrm>
            <a:off x="11393424" y="5472684"/>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47268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47268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گروهی</a:t>
            </a:r>
            <a:endParaRPr lang="en-US" sz="1400" dirty="0"/>
          </a:p>
        </p:txBody>
      </p:sp>
      <p:sp>
        <p:nvSpPr>
          <p:cNvPr id="26" name="Text 23"/>
          <p:cNvSpPr txBox="1"/>
          <p:nvPr/>
        </p:nvSpPr>
        <p:spPr>
          <a:xfrm>
            <a:off x="8046720" y="580186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کنترل‌شده را تیک بزنید و «تأیید گروهی» کنید؛ همه با هم تأیید می‌شوند یا هیچ‌کدام.</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بررسی سند در صفحهٔ جزئیات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8">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شروع بررسی</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بازرس روی سند «جدید» «شروع بررسی» را می‌زند؛ وضعیت «در انتظار بررسی» می‌شود.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بررسی مدارک</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فیلدها فقط‌خواندنی‌اند؛ پیوست‌ها را در پنل کناری باز و پیش‌نمایش کنید.</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نوار اقدام</a:t>
            </a:r>
            <a:endParaRPr lang="en-US" sz="1400" dirty="0"/>
          </a:p>
        </p:txBody>
      </p:sp>
      <p:sp>
        <p:nvSpPr>
          <p:cNvPr id="16" name="Text 13"/>
          <p:cNvSpPr txBox="1"/>
          <p:nvPr/>
        </p:nvSpPr>
        <p:spPr>
          <a:xfrm>
            <a:off x="8046720" y="356844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 نهایی»، «برگشت برای اصلاح» و «رد سند…»؛ برچسب آبی نشان می‌دهد چه کسی و کی کنترل کرده.</a:t>
            </a:r>
            <a:endParaRPr lang="en-US" sz="1300" dirty="0"/>
          </a:p>
        </p:txBody>
      </p:sp>
      <p:sp>
        <p:nvSpPr>
          <p:cNvPr id="17" name="Shape 14"/>
          <p:cNvSpPr/>
          <p:nvPr/>
        </p:nvSpPr>
        <p:spPr>
          <a:xfrm>
            <a:off x="11393424" y="437449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37449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37449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میانبر</a:t>
            </a:r>
            <a:endParaRPr lang="en-US" sz="1400" dirty="0"/>
          </a:p>
        </p:txBody>
      </p:sp>
      <p:sp>
        <p:nvSpPr>
          <p:cNvPr id="20" name="Text 17"/>
          <p:cNvSpPr txBox="1"/>
          <p:nvPr/>
        </p:nvSpPr>
        <p:spPr>
          <a:xfrm>
            <a:off x="8046720" y="470367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کلید A برای تأیید و R برای برگشت؛ با پیکان‌ها به سند قبلی/بعدی بروید.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تأیید دومرحله‌ای: کنترل بازرس و تأیید نهایی</a:t>
            </a:r>
            <a:endParaRPr lang="en-US" sz="2600" dirty="0"/>
          </a:p>
        </p:txBody>
      </p:sp>
      <p:sp>
        <p:nvSpPr>
          <p:cNvPr id="3" name="Text 1"/>
          <p:cNvSpPr txBox="1"/>
          <p:nvPr/>
        </p:nvSpPr>
        <p:spPr>
          <a:xfrm>
            <a:off x="411480" y="114300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۱. تأیید کنترل — بازرس مالی</a:t>
            </a:r>
            <a:endParaRPr lang="en-US" sz="1200" dirty="0"/>
          </a:p>
        </p:txBody>
      </p:sp>
      <p:sp>
        <p:nvSpPr>
          <p:cNvPr id="4" name="Shape 2"/>
          <p:cNvSpPr/>
          <p:nvPr/>
        </p:nvSpPr>
        <p:spPr>
          <a:xfrm>
            <a:off x="411480" y="143560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5" name="Image 0" descr="pc09">    </p:cNvPr>
          <p:cNvPicPr>
            <a:picLocks noChangeAspect="1"/>
          </p:cNvPicPr>
          <p:nvPr/>
        </p:nvPicPr>
        <p:blipFill>
          <a:blip r:embed="rId1"/>
          <a:stretch>
            <a:fillRect/>
          </a:stretch>
        </p:blipFill>
        <p:spPr>
          <a:xfrm>
            <a:off x="2175003" y="1481328"/>
            <a:ext cx="3879594" cy="2153412"/>
          </a:xfrm>
          <a:prstGeom prst="rect">
            <a:avLst/>
          </a:prstGeom>
        </p:spPr>
      </p:pic>
      <p:sp>
        <p:nvSpPr>
          <p:cNvPr id="6" name="Text 3"/>
          <p:cNvSpPr txBox="1"/>
          <p:nvPr/>
        </p:nvSpPr>
        <p:spPr>
          <a:xfrm>
            <a:off x="411480" y="381762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۲. تأیید نهایی — مدیر مالی / مدیرعامل</a:t>
            </a:r>
            <a:endParaRPr lang="en-US" sz="1200" dirty="0"/>
          </a:p>
        </p:txBody>
      </p:sp>
      <p:sp>
        <p:nvSpPr>
          <p:cNvPr id="7" name="Shape 4"/>
          <p:cNvSpPr/>
          <p:nvPr/>
        </p:nvSpPr>
        <p:spPr>
          <a:xfrm>
            <a:off x="411480" y="411022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8" name="Image 1" descr="pc10b">    </p:cNvPr>
          <p:cNvPicPr>
            <a:picLocks noChangeAspect="1"/>
          </p:cNvPicPr>
          <p:nvPr/>
        </p:nvPicPr>
        <p:blipFill>
          <a:blip r:embed="rId2"/>
          <a:stretch>
            <a:fillRect/>
          </a:stretch>
        </p:blipFill>
        <p:spPr>
          <a:xfrm>
            <a:off x="2175003" y="4155948"/>
            <a:ext cx="3879594" cy="2153412"/>
          </a:xfrm>
          <a:prstGeom prst="rect">
            <a:avLst/>
          </a:prstGeom>
        </p:spPr>
      </p:pic>
      <p:sp>
        <p:nvSpPr>
          <p:cNvPr id="9" name="Shape 5"/>
          <p:cNvSpPr/>
          <p:nvPr/>
        </p:nvSpPr>
        <p:spPr>
          <a:xfrm>
            <a:off x="11393424" y="1188720"/>
            <a:ext cx="347472" cy="347472"/>
          </a:xfrm>
          <a:prstGeom prst="ellipse">
            <a:avLst/>
          </a:prstGeom>
          <a:solidFill>
            <a:srgbClr val="C9A227"/>
          </a:solidFill>
          <a:ln w="12700">
            <a:solidFill>
              <a:srgbClr val="C9A227"/>
            </a:solidFill>
            <a:prstDash val="solid"/>
          </a:ln>
        </p:spPr>
      </p:sp>
      <p:sp>
        <p:nvSpPr>
          <p:cNvPr id="10" name="Text 6"/>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1" name="Text 7"/>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کنترل</a:t>
            </a:r>
            <a:endParaRPr lang="en-US" sz="1400" dirty="0"/>
          </a:p>
        </p:txBody>
      </p:sp>
      <p:sp>
        <p:nvSpPr>
          <p:cNvPr id="12" name="Text 8"/>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بازرس پس از بررسی، «تأیید کنترل» را با یادداشت اختیاری ثبت می‌کند؛ وضعیت سند تغییر نمی‌کند.</a:t>
            </a:r>
            <a:endParaRPr lang="en-US" sz="1300" dirty="0"/>
          </a:p>
        </p:txBody>
      </p:sp>
      <p:sp>
        <p:nvSpPr>
          <p:cNvPr id="13" name="Shape 9"/>
          <p:cNvSpPr/>
          <p:nvPr/>
        </p:nvSpPr>
        <p:spPr>
          <a:xfrm>
            <a:off x="11393424" y="2323948"/>
            <a:ext cx="347472" cy="347472"/>
          </a:xfrm>
          <a:prstGeom prst="ellipse">
            <a:avLst/>
          </a:prstGeom>
          <a:solidFill>
            <a:srgbClr val="C9A227"/>
          </a:solidFill>
          <a:ln w="12700">
            <a:solidFill>
              <a:srgbClr val="C9A227"/>
            </a:solidFill>
            <a:prstDash val="solid"/>
          </a:ln>
        </p:spPr>
      </p:sp>
      <p:sp>
        <p:nvSpPr>
          <p:cNvPr id="14" name="Text 10"/>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1"/>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نهایی</a:t>
            </a:r>
            <a:endParaRPr lang="en-US" sz="1400" dirty="0"/>
          </a:p>
        </p:txBody>
      </p:sp>
      <p:sp>
        <p:nvSpPr>
          <p:cNvPr id="16" name="Text 12"/>
          <p:cNvSpPr txBox="1"/>
          <p:nvPr/>
        </p:nvSpPr>
        <p:spPr>
          <a:xfrm>
            <a:off x="8046720" y="265313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مالی (تا سقف اختیار) یا مدیرعامل (بالاتر از سقف) سند کنترل‌شده را تأیید می‌کند ⇐ «تأییدشده».</a:t>
            </a:r>
            <a:endParaRPr lang="en-US" sz="1300" dirty="0"/>
          </a:p>
        </p:txBody>
      </p:sp>
      <p:sp>
        <p:nvSpPr>
          <p:cNvPr id="17" name="Shape 13"/>
          <p:cNvSpPr/>
          <p:nvPr/>
        </p:nvSpPr>
        <p:spPr>
          <a:xfrm>
            <a:off x="11393424" y="3459175"/>
            <a:ext cx="347472" cy="347472"/>
          </a:xfrm>
          <a:prstGeom prst="ellipse">
            <a:avLst/>
          </a:prstGeom>
          <a:solidFill>
            <a:srgbClr val="C9A227"/>
          </a:solidFill>
          <a:ln w="12700">
            <a:solidFill>
              <a:srgbClr val="C9A227"/>
            </a:solidFill>
            <a:prstDash val="solid"/>
          </a:ln>
        </p:spPr>
      </p:sp>
      <p:sp>
        <p:nvSpPr>
          <p:cNvPr id="18" name="Text 14"/>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9" name="Text 15"/>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قید</a:t>
            </a:r>
            <a:endParaRPr lang="en-US" sz="1400" dirty="0"/>
          </a:p>
        </p:txBody>
      </p:sp>
      <p:sp>
        <p:nvSpPr>
          <p:cNvPr id="20" name="Text 16"/>
          <p:cNvSpPr txBox="1"/>
          <p:nvPr/>
        </p:nvSpPr>
        <p:spPr>
          <a:xfrm>
            <a:off x="8046720" y="3788359"/>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تأییدکنندهٔ نهایی نباید همان بازرس یا ثبت‌کنندهٔ سند باشد.</a:t>
            </a:r>
            <a:endParaRPr lang="en-US" sz="1300" dirty="0"/>
          </a:p>
        </p:txBody>
      </p:sp>
      <p:sp>
        <p:nvSpPr>
          <p:cNvPr id="21" name="Text 17"/>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برگشت سند برای اصلاح</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0">    </p:cNvPr>
          <p:cNvPicPr>
            <a:picLocks noChangeAspect="1"/>
          </p:cNvPicPr>
          <p:nvPr/>
        </p:nvPicPr>
        <p:blipFill>
          <a:blip r:embed="rId1"/>
          <a:stretch>
            <a:fillRect/>
          </a:stretch>
        </p:blipFill>
        <p:spPr>
          <a:xfrm>
            <a:off x="1581912" y="1216152"/>
            <a:ext cx="506577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دلایل</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یک یا چند دلیل: پیوست ناقص، حساب هزینه نادرست، مبلغ با مدرک مطابقت ندارد، شرح نیازمند توضیح، سایر.</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مهلت</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تاریخ مهلت اصلاح (بعد از امروز) الزامی است.</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توضیح</a:t>
            </a:r>
            <a:endParaRPr lang="en-US" sz="1400" dirty="0"/>
          </a:p>
        </p:txBody>
      </p:sp>
      <p:sp>
        <p:nvSpPr>
          <p:cNvPr id="16" name="Text 13"/>
          <p:cNvSpPr txBox="1"/>
          <p:nvPr/>
        </p:nvSpPr>
        <p:spPr>
          <a:xfrm>
            <a:off x="8046720" y="3568446"/>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متن توضیح برای تنخواه‌دار الزامی است.</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قفل فیلدها</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تنخواه‌دار فقط فیلدهای مرتبط با دلیل را می‌تواند تغییر دهد؛ مثلاً «پیوست ناقص» فقط پیوست را باز می‌کند.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رد سند</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برای رد، دلیل بنویسید؛ سند ردشده پایانی است و ترمیم نمی‌شود.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۹ — اصلاح سند برگشتی (تنخواه‌دار)</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6">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کادر نارنجی</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مهلت، دلایل و توضیح بررسی‌کننده بالای فرم نمایش داده می‌شود.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فیلدهای مجاز</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فیلدهای قاب‌دار رنگی قابل ویرایش‌اند؛ بقیه قفل‌اند.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 دوباره</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بررسی» را بزنید؛ سند دوباره باید کنترل بازرس شود.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تاریخچه</a:t>
            </a:r>
            <a:endParaRPr lang="en-US" sz="1400" dirty="0"/>
          </a:p>
        </p:txBody>
      </p:sp>
      <p:sp>
        <p:nvSpPr>
          <p:cNvPr id="20" name="Text 17"/>
          <p:cNvSpPr txBox="1"/>
          <p:nvPr/>
        </p:nvSpPr>
        <p:spPr>
          <a:xfrm>
            <a:off x="8046720" y="426384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پنل «تاریخچهٔ اقدامات» همهٔ رویدادها را با کاربر، زمان و IP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داشبورد تنخواه</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1">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کارت‌ها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نقد (و درصد از سقف)، تأییدشدهٔ منتظر ترمیم، در جریان بررسی و برگشتی‌ها.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تراز تنخواه</a:t>
            </a:r>
            <a:endParaRPr lang="en-US" sz="1400" dirty="0"/>
          </a:p>
        </p:txBody>
      </p:sp>
      <p:sp>
        <p:nvSpPr>
          <p:cNvPr id="14" name="Text 11"/>
          <p:cNvSpPr txBox="1"/>
          <p:nvPr/>
        </p:nvSpPr>
        <p:spPr>
          <a:xfrm>
            <a:off x="8046720" y="283601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معادلهٔ سقف را با اعداد واقعی نشان می‌دهد؛ برچسب «متوازن» یعنی داده سالم است.</a:t>
            </a:r>
            <a:endParaRPr lang="en-US" sz="1300" dirty="0"/>
          </a:p>
        </p:txBody>
      </p:sp>
      <p:sp>
        <p:nvSpPr>
          <p:cNvPr id="15" name="Shape 12"/>
          <p:cNvSpPr/>
          <p:nvPr/>
        </p:nvSpPr>
        <p:spPr>
          <a:xfrm>
            <a:off x="11393424" y="3642055"/>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64205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64205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اقدامات امروز</a:t>
            </a:r>
            <a:endParaRPr lang="en-US" sz="1400" dirty="0"/>
          </a:p>
        </p:txBody>
      </p:sp>
      <p:sp>
        <p:nvSpPr>
          <p:cNvPr id="18" name="Text 15"/>
          <p:cNvSpPr txBox="1"/>
          <p:nvPr/>
        </p:nvSpPr>
        <p:spPr>
          <a:xfrm>
            <a:off x="8046720" y="397123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اسنادی که منتظر اقدام‌اند؛ دکمهٔ «بررسی» یا «پیگیری» مستقیم سند را باز می‌کند.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هشدارها</a:t>
            </a:r>
            <a:endParaRPr lang="en-US" sz="1400" dirty="0"/>
          </a:p>
        </p:txBody>
      </p:sp>
      <p:sp>
        <p:nvSpPr>
          <p:cNvPr id="22" name="Text 19"/>
          <p:cNvSpPr txBox="1"/>
          <p:nvPr/>
        </p:nvSpPr>
        <p:spPr>
          <a:xfrm>
            <a:off x="8046720" y="510646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معطل و مبلغ منتظر ترمیم؛ دکمهٔ «ایجاد درخواست ترمیم» میانبر گام بعدی است.</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۱۰ — درخواست ترمیم (شارژ) تنخواه</a:t>
            </a:r>
            <a:endParaRPr lang="en-US" sz="2600" dirty="0"/>
          </a:p>
        </p:txBody>
      </p:sp>
      <p:sp>
        <p:nvSpPr>
          <p:cNvPr id="3" name="Shape 1"/>
          <p:cNvSpPr/>
          <p:nvPr/>
        </p:nvSpPr>
        <p:spPr>
          <a:xfrm>
            <a:off x="6954012" y="896112"/>
            <a:ext cx="482346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شارژ و ترمیم ← درخواست ترمیم جدید</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3">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انتخاب تنخواه</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سامانه همهٔ صورت‌هزینه‌های تأییدشدهٔ ترمیم‌نشده را جمع می‌کند.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ریز حساب‌ها</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جدول «مبلغ ترمیم بر اساس اسناد تأییدشده» جمع هر حساب هزینه و تعداد سند را نشان می‌دهد.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اطلاعات ترمیم</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بانکی مبدأ، روش پرداخت (پایا، چک، نقد، سایر)، تاریخ و یادداشت.</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ترمیم</a:t>
            </a:r>
            <a:endParaRPr lang="en-US" sz="1400" dirty="0"/>
          </a:p>
        </p:txBody>
      </p:sp>
      <p:sp>
        <p:nvSpPr>
          <p:cNvPr id="22" name="Text 19"/>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نقد قبل و بعد؛ کنترل «در حد سقف» و «هیچ سندی دو بار ترمیم نمی‌شود».</a:t>
            </a:r>
            <a:endParaRPr lang="en-US" sz="1300" dirty="0"/>
          </a:p>
        </p:txBody>
      </p:sp>
      <p:sp>
        <p:nvSpPr>
          <p:cNvPr id="23" name="Shape 20"/>
          <p:cNvSpPr/>
          <p:nvPr/>
        </p:nvSpPr>
        <p:spPr>
          <a:xfrm>
            <a:off x="11393424" y="5252771"/>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25277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25277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a:t>
            </a:r>
            <a:endParaRPr lang="en-US" sz="1400" dirty="0"/>
          </a:p>
        </p:txBody>
      </p:sp>
      <p:sp>
        <p:nvSpPr>
          <p:cNvPr id="26" name="Text 23"/>
          <p:cNvSpPr txBox="1"/>
          <p:nvPr/>
        </p:nvSpPr>
        <p:spPr>
          <a:xfrm>
            <a:off x="8046720" y="558195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تأیید»: مسیر ۱. مدیر مالی ← ۲. خزانه‌دار.</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۱۱ — تأیید و پرداخت ترمیم</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4">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فهرست</a:t>
            </a:r>
            <a:endParaRPr lang="en-US" sz="1400" dirty="0"/>
          </a:p>
        </p:txBody>
      </p:sp>
      <p:sp>
        <p:nvSpPr>
          <p:cNvPr id="8" name="Text 5"/>
          <p:cNvSpPr txBox="1"/>
          <p:nvPr/>
        </p:nvSpPr>
        <p:spPr>
          <a:xfrm>
            <a:off x="8046720" y="1517904"/>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«شارژ و ترمیم» همهٔ درخواست‌ها با وضعیت: پیش‌نویس، در انتظار مدیر مالی، در انتظار خزانه‌دار، پرداخت‌شده، ردشده.</a:t>
            </a:r>
            <a:endParaRPr lang="en-US" sz="1300" dirty="0"/>
          </a:p>
        </p:txBody>
      </p:sp>
      <p:sp>
        <p:nvSpPr>
          <p:cNvPr id="9" name="Shape 6"/>
          <p:cNvSpPr/>
          <p:nvPr/>
        </p:nvSpPr>
        <p:spPr>
          <a:xfrm>
            <a:off x="11393424" y="2543861"/>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54386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54386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مدیر مالی</a:t>
            </a:r>
            <a:endParaRPr lang="en-US" sz="1400" dirty="0"/>
          </a:p>
        </p:txBody>
      </p:sp>
      <p:sp>
        <p:nvSpPr>
          <p:cNvPr id="12" name="Text 9"/>
          <p:cNvSpPr txBox="1"/>
          <p:nvPr/>
        </p:nvSpPr>
        <p:spPr>
          <a:xfrm>
            <a:off x="8046720" y="287304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مالی (غیر از سازنده) «تأیید» یا «رد» می‌کند.</a:t>
            </a:r>
            <a:endParaRPr lang="en-US" sz="1300" dirty="0"/>
          </a:p>
        </p:txBody>
      </p:sp>
      <p:sp>
        <p:nvSpPr>
          <p:cNvPr id="13" name="Shape 10"/>
          <p:cNvSpPr/>
          <p:nvPr/>
        </p:nvSpPr>
        <p:spPr>
          <a:xfrm>
            <a:off x="11393424" y="3459175"/>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پرداخت</a:t>
            </a:r>
            <a:endParaRPr lang="en-US" sz="1400" dirty="0"/>
          </a:p>
        </p:txBody>
      </p:sp>
      <p:sp>
        <p:nvSpPr>
          <p:cNvPr id="16" name="Text 13"/>
          <p:cNvSpPr txBox="1"/>
          <p:nvPr/>
        </p:nvSpPr>
        <p:spPr>
          <a:xfrm>
            <a:off x="8046720" y="378835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پس از واریز، پرداخت را ثبت می‌کند ⇐ «پرداخت‌شده» و موجودی نقد افزایش می‌یابد.</a:t>
            </a:r>
            <a:endParaRPr lang="en-US" sz="1300" dirty="0"/>
          </a:p>
        </p:txBody>
      </p:sp>
      <p:sp>
        <p:nvSpPr>
          <p:cNvPr id="17" name="Shape 14"/>
          <p:cNvSpPr/>
          <p:nvPr/>
        </p:nvSpPr>
        <p:spPr>
          <a:xfrm>
            <a:off x="11393424" y="459440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59440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59440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مسیر تأیید</a:t>
            </a:r>
            <a:endParaRPr lang="en-US" sz="1400" dirty="0"/>
          </a:p>
        </p:txBody>
      </p:sp>
      <p:sp>
        <p:nvSpPr>
          <p:cNvPr id="20" name="Text 17"/>
          <p:cNvSpPr txBox="1"/>
          <p:nvPr/>
        </p:nvSpPr>
        <p:spPr>
          <a:xfrm>
            <a:off x="8046720" y="492358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کارت «مسیر تأیید» مرحلهٔ جاری را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گزارش گردش تنخواه</a:t>
            </a:r>
            <a:endParaRPr lang="en-US" sz="2600" dirty="0"/>
          </a:p>
        </p:txBody>
      </p:sp>
      <p:sp>
        <p:nvSpPr>
          <p:cNvPr id="3" name="Shape 1"/>
          <p:cNvSpPr/>
          <p:nvPr/>
        </p:nvSpPr>
        <p:spPr>
          <a:xfrm>
            <a:off x="8197596" y="896112"/>
            <a:ext cx="357987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گزارش گردش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5">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فیلتر</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 از تاریخ، تا تاریخ و نوع (ترمیم، هزینه، استرداد).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ستون‌ها</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دریافت (ترمیم/استرداد)، پرداخت (هزینه) و ماندهٔ جاری پس از هر ردیف.</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مرجع</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روی کد مرجع بزنید تا سند مبدأ باز شود.</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خروجی</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«خروجی اکسل» گزارش را با جمع‌ها ذخیره می‌کند.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۱۲ — تسویهٔ دوره: شمارش صندوق</a:t>
            </a:r>
            <a:endParaRPr lang="en-US" sz="2600" dirty="0"/>
          </a:p>
        </p:txBody>
      </p:sp>
      <p:sp>
        <p:nvSpPr>
          <p:cNvPr id="3" name="Shape 1"/>
          <p:cNvSpPr/>
          <p:nvPr/>
        </p:nvSpPr>
        <p:spPr>
          <a:xfrm>
            <a:off x="8741664" y="896112"/>
            <a:ext cx="3035808"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تسویه دوره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6a">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دورهٔ جاری</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دورهٔ تسویهٔ تنخواه (ماهانه/فصلی) خودکار تعیین می‌شود.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کارت‌ها</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ماندهٔ ابتدای دوره، ترمیم و استرداد، هزینهٔ تأییدشده و ماندهٔ نقد پایان دوره.</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اسناد در جریان</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به دورهٔ بعد منتقل می‌شوند؛ پیام آبی تعداد و مبلغ آن‌ها را می‌گوید.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شمارش</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شمارش‌شدهٔ صندوق/حساب را وارد و «ذخیرهٔ شمارش» کنید؛ باید با ماندهٔ محاسبه‌شده برابر باشد.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۱۳ — پیش‌نمایش سند و نهایی‌سازی تسویه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6b">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پیش‌نمایش سند</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هر حساب هزینه با تفصیلی‌ها، بستانکار حساب تنخواه؛ برچسب «متوازن».</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پیش از بستن</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منظورشده، برابری شمارش، اسناد در جریان و نقش کاربر.</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انتقال</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اگر سند در جریان هست، تیک «انتقال به دورهٔ بعد را تأیید می‌کنم» را بزنید.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نهایی‌سازی</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حسابدار ارشد «نهایی‌سازی و صدور سند» را می‌زند ⇐ سند موقت صادر و اسناد «تسویه‌شده» می‌شوند.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تاریخچه</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دوره‌های نهایی‌شده با شمارهٔ سند در جدول پایین صفحه.</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tr">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۲</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۲</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دریافت و پرداخت (خزانه‌داری)</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درخواست پرداخت، تأیید چندمرحله‌ای، اجرای پرداخت، دریافت وجه، انتقال وجه و مغایرت بانکی</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مسیر درخواست پرداخت و اسناد خودکار</a:t>
            </a:r>
            <a:endParaRPr lang="en-US" sz="2600" dirty="0"/>
          </a:p>
        </p:txBody>
      </p:sp>
      <p:sp>
        <p:nvSpPr>
          <p:cNvPr id="3" name="Shape 1"/>
          <p:cNvSpPr/>
          <p:nvPr/>
        </p:nvSpPr>
        <p:spPr>
          <a:xfrm>
            <a:off x="10187940"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708386"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70838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10297668"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ثبت درخواست</a:t>
            </a:r>
            <a:endParaRPr lang="en-US" sz="1600" dirty="0"/>
          </a:p>
        </p:txBody>
      </p:sp>
      <p:sp>
        <p:nvSpPr>
          <p:cNvPr id="7" name="Text 5"/>
          <p:cNvSpPr txBox="1"/>
          <p:nvPr/>
        </p:nvSpPr>
        <p:spPr>
          <a:xfrm>
            <a:off x="10297668"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ثبت‌کننده</a:t>
            </a:r>
            <a:endParaRPr lang="en-US" sz="1250" dirty="0"/>
          </a:p>
        </p:txBody>
      </p:sp>
      <p:sp>
        <p:nvSpPr>
          <p:cNvPr id="8" name="Text 6"/>
          <p:cNvSpPr txBox="1"/>
          <p:nvPr/>
        </p:nvSpPr>
        <p:spPr>
          <a:xfrm>
            <a:off x="982218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8232648"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753094"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753094"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8342376"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 واحد</a:t>
            </a:r>
            <a:endParaRPr lang="en-US" sz="1600" dirty="0"/>
          </a:p>
        </p:txBody>
      </p:sp>
      <p:sp>
        <p:nvSpPr>
          <p:cNvPr id="13" name="Text 11"/>
          <p:cNvSpPr txBox="1"/>
          <p:nvPr/>
        </p:nvSpPr>
        <p:spPr>
          <a:xfrm>
            <a:off x="8342376"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مرحلهٔ ۱</a:t>
            </a:r>
            <a:endParaRPr lang="en-US" sz="1250" dirty="0"/>
          </a:p>
        </p:txBody>
      </p:sp>
      <p:sp>
        <p:nvSpPr>
          <p:cNvPr id="14" name="Text 12"/>
          <p:cNvSpPr txBox="1"/>
          <p:nvPr/>
        </p:nvSpPr>
        <p:spPr>
          <a:xfrm>
            <a:off x="7866888"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6277356"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6797802"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797802"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6387084"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 مالی</a:t>
            </a:r>
            <a:endParaRPr lang="en-US" sz="1600" dirty="0"/>
          </a:p>
        </p:txBody>
      </p:sp>
      <p:sp>
        <p:nvSpPr>
          <p:cNvPr id="19" name="Text 17"/>
          <p:cNvSpPr txBox="1"/>
          <p:nvPr/>
        </p:nvSpPr>
        <p:spPr>
          <a:xfrm>
            <a:off x="6387084"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مرحلهٔ ۲</a:t>
            </a:r>
            <a:endParaRPr lang="en-US" sz="1250" dirty="0"/>
          </a:p>
        </p:txBody>
      </p:sp>
      <p:sp>
        <p:nvSpPr>
          <p:cNvPr id="20" name="Text 18"/>
          <p:cNvSpPr txBox="1"/>
          <p:nvPr/>
        </p:nvSpPr>
        <p:spPr>
          <a:xfrm>
            <a:off x="5911596"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4322064"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4842510"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4842510"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4431792"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مدیرعامل</a:t>
            </a:r>
            <a:endParaRPr lang="en-US" sz="1600" dirty="0"/>
          </a:p>
        </p:txBody>
      </p:sp>
      <p:sp>
        <p:nvSpPr>
          <p:cNvPr id="25" name="Text 23"/>
          <p:cNvSpPr txBox="1"/>
          <p:nvPr/>
        </p:nvSpPr>
        <p:spPr>
          <a:xfrm>
            <a:off x="4431792"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فقط بالای آستانه</a:t>
            </a:r>
            <a:endParaRPr lang="en-US" sz="1250" dirty="0"/>
          </a:p>
        </p:txBody>
      </p:sp>
      <p:sp>
        <p:nvSpPr>
          <p:cNvPr id="26" name="Text 24"/>
          <p:cNvSpPr txBox="1"/>
          <p:nvPr/>
        </p:nvSpPr>
        <p:spPr>
          <a:xfrm>
            <a:off x="3956304"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2366772"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2887218"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2887218"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2476500"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آمادهٔ اجرا</a:t>
            </a:r>
            <a:endParaRPr lang="en-US" sz="1600" dirty="0"/>
          </a:p>
        </p:txBody>
      </p:sp>
      <p:sp>
        <p:nvSpPr>
          <p:cNvPr id="31" name="Text 29"/>
          <p:cNvSpPr txBox="1"/>
          <p:nvPr/>
        </p:nvSpPr>
        <p:spPr>
          <a:xfrm>
            <a:off x="2476500"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سند شناسایی بدهی</a:t>
            </a:r>
            <a:endParaRPr lang="en-US" sz="1250" dirty="0"/>
          </a:p>
        </p:txBody>
      </p:sp>
      <p:sp>
        <p:nvSpPr>
          <p:cNvPr id="32" name="Text 30"/>
          <p:cNvSpPr txBox="1"/>
          <p:nvPr/>
        </p:nvSpPr>
        <p:spPr>
          <a:xfrm>
            <a:off x="200101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33" name="Shape 31"/>
          <p:cNvSpPr/>
          <p:nvPr/>
        </p:nvSpPr>
        <p:spPr>
          <a:xfrm>
            <a:off x="411480" y="2103120"/>
            <a:ext cx="1589532" cy="2011680"/>
          </a:xfrm>
          <a:prstGeom prst="roundRect">
            <a:avLst>
              <a:gd name="adj" fmla="val 6903"/>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34" name="Shape 32"/>
          <p:cNvSpPr/>
          <p:nvPr/>
        </p:nvSpPr>
        <p:spPr>
          <a:xfrm>
            <a:off x="931926" y="1828800"/>
            <a:ext cx="548640" cy="548640"/>
          </a:xfrm>
          <a:prstGeom prst="ellipse">
            <a:avLst/>
          </a:prstGeom>
          <a:solidFill>
            <a:srgbClr val="C9A227"/>
          </a:solidFill>
          <a:ln w="12700">
            <a:solidFill>
              <a:srgbClr val="C9A227"/>
            </a:solidFill>
            <a:prstDash val="solid"/>
          </a:ln>
        </p:spPr>
      </p:sp>
      <p:sp>
        <p:nvSpPr>
          <p:cNvPr id="35" name="Text 33"/>
          <p:cNvSpPr txBox="1"/>
          <p:nvPr/>
        </p:nvSpPr>
        <p:spPr>
          <a:xfrm>
            <a:off x="93192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txBox="1"/>
          <p:nvPr/>
        </p:nvSpPr>
        <p:spPr>
          <a:xfrm>
            <a:off x="521208" y="2560320"/>
            <a:ext cx="1370076"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اجرای پرداخت</a:t>
            </a:r>
            <a:endParaRPr lang="en-US" sz="1600" dirty="0"/>
          </a:p>
        </p:txBody>
      </p:sp>
      <p:sp>
        <p:nvSpPr>
          <p:cNvPr id="37" name="Text 35"/>
          <p:cNvSpPr txBox="1"/>
          <p:nvPr/>
        </p:nvSpPr>
        <p:spPr>
          <a:xfrm>
            <a:off x="521208" y="3246120"/>
            <a:ext cx="1370076"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خزانه‌دار — سند پرداخت</a:t>
            </a:r>
            <a:endParaRPr lang="en-US" sz="1250" dirty="0"/>
          </a:p>
        </p:txBody>
      </p:sp>
      <p:sp>
        <p:nvSpPr>
          <p:cNvPr id="38" name="Shape 36"/>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9" name="Text 37"/>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از هر مرحلهٔ «در انتظار» می‌توان برگشت (دلیل اجباری) یا رد داد. یک کاربر دو مرحلهٔ پشت‌سرهم را تأیید نمی‌کند و ثبت‌کننده تأییدکننده نیست.</a:t>
            </a:r>
            <a:endParaRPr lang="en-US" sz="1500" dirty="0"/>
          </a:p>
        </p:txBody>
      </p:sp>
      <p:sp>
        <p:nvSpPr>
          <p:cNvPr id="40" name="Text 3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۱ — تنظیمات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تنظیمات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2">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آستانه‌ها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آستانهٔ تأیید مدیرعامل و سقف تأیید گروهی (بدون مقدار پیش‌فرض؛ تا تعریف نشوند ارسال ممکن نیست).</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تفصیلی ذی‌نفع</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گروه تفصیلی تأمین‌کنندگان برای شناسایی ذی‌نفع.</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حساب‌های سند خودکار</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بستانکاران، اعتبار مالیات بر ارزش افزوده و کسور بیمه.</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دریافت و انتقال</a:t>
            </a:r>
            <a:endParaRPr lang="en-US" sz="1400" dirty="0"/>
          </a:p>
        </p:txBody>
      </p:sp>
      <p:sp>
        <p:nvSpPr>
          <p:cNvPr id="22" name="Text 19"/>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دریافتنی، گروه تفصیلی مشتریان و سقف انتقال روزانه.</a:t>
            </a:r>
            <a:endParaRPr lang="en-US" sz="1300" dirty="0"/>
          </a:p>
        </p:txBody>
      </p:sp>
      <p:sp>
        <p:nvSpPr>
          <p:cNvPr id="23" name="Shape 20"/>
          <p:cNvSpPr/>
          <p:nvPr/>
        </p:nvSpPr>
        <p:spPr>
          <a:xfrm>
            <a:off x="11393424" y="5252771"/>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25277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25277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مغایرت بانکی</a:t>
            </a:r>
            <a:endParaRPr lang="en-US" sz="1400" dirty="0"/>
          </a:p>
        </p:txBody>
      </p:sp>
      <p:sp>
        <p:nvSpPr>
          <p:cNvPr id="26" name="Text 23"/>
          <p:cNvSpPr txBox="1"/>
          <p:nvPr/>
        </p:nvSpPr>
        <p:spPr>
          <a:xfrm>
            <a:off x="8046720" y="558195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کارمزد بانکی؛ سپس «ذخیره تنظیمات» (فقط مدیر مالی).</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۲ — نقش‌های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نقش‌های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3">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نقش‌ها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واحد، مدیر مالی، مدیرعامل، حسابدار ارشد و خزانه‌دار — فهرستی جدا از نقش‌های تنخواه.</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افزودن</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کاربری، نقش و نام را وارد و «افزودن» کنید.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اولین مدیر مالی</a:t>
            </a:r>
            <a:endParaRPr lang="en-US" sz="1400" dirty="0"/>
          </a:p>
        </p:txBody>
      </p:sp>
      <p:sp>
        <p:nvSpPr>
          <p:cNvPr id="18" name="Text 15"/>
          <p:cNvSpPr txBox="1"/>
          <p:nvPr/>
        </p:nvSpPr>
        <p:spPr>
          <a:xfrm>
            <a:off x="8046720" y="375132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اگر واحد هنوز مدیر مالی ندارد هر کاربری می‌تواند اولین نقش را ثبت کند؛ بعد از آن فقط مدیر مالی.</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فهرست درخواست‌های پرداخت</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درخواست پرداخت</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زبانه‌های وضعیت</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در انتظار مدیر واحد/مالی/مدیرعامل، آمادهٔ اجرا، پرداخت شد، برگشتی، ردشده، معلق.</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درخواست جدید</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«درخواست پرداخت جدید» در بالای صفحه.</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 ردیف</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و برگشتی: ویرایش، ارسال و حذف؛ بقیه فقط نمایش.</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فرم ثبت درخواست پرداخت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05">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ذی‌نفع</a:t>
            </a:r>
            <a:endParaRPr lang="en-US" sz="1400" dirty="0"/>
          </a:p>
        </p:txBody>
      </p:sp>
      <p:sp>
        <p:nvSpPr>
          <p:cNvPr id="8" name="Text 5"/>
          <p:cNvSpPr txBox="1"/>
          <p:nvPr/>
        </p:nvSpPr>
        <p:spPr>
          <a:xfrm>
            <a:off x="8046720" y="1517904"/>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نام، نوع (تأمین‌کننده، کارمند، سایر)، شناسه ملی و تفصیلی ذی‌نفع.</a:t>
            </a:r>
            <a:endParaRPr lang="en-US" sz="1200" dirty="0"/>
          </a:p>
        </p:txBody>
      </p:sp>
      <p:sp>
        <p:nvSpPr>
          <p:cNvPr id="9" name="Shape 6"/>
          <p:cNvSpPr/>
          <p:nvPr/>
        </p:nvSpPr>
        <p:spPr>
          <a:xfrm>
            <a:off x="11393424" y="2070202"/>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07020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07020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فاکتور</a:t>
            </a:r>
            <a:endParaRPr lang="en-US" sz="1400" dirty="0"/>
          </a:p>
        </p:txBody>
      </p:sp>
      <p:sp>
        <p:nvSpPr>
          <p:cNvPr id="12" name="Text 9"/>
          <p:cNvSpPr txBox="1"/>
          <p:nvPr/>
        </p:nvSpPr>
        <p:spPr>
          <a:xfrm>
            <a:off x="8046720" y="2399386"/>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شماره فاکتور و تیک «فاکتور تأیید شده» (اگر شماره وارد شود الزامی است).</a:t>
            </a:r>
            <a:endParaRPr lang="en-US" sz="1200" dirty="0"/>
          </a:p>
        </p:txBody>
      </p:sp>
      <p:sp>
        <p:nvSpPr>
          <p:cNvPr id="13" name="Shape 10"/>
          <p:cNvSpPr/>
          <p:nvPr/>
        </p:nvSpPr>
        <p:spPr>
          <a:xfrm>
            <a:off x="11393424" y="2951683"/>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29516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29516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 و مرکز هزینه</a:t>
            </a:r>
            <a:endParaRPr lang="en-US" sz="1400" dirty="0"/>
          </a:p>
        </p:txBody>
      </p:sp>
      <p:sp>
        <p:nvSpPr>
          <p:cNvPr id="16" name="Text 13"/>
          <p:cNvSpPr txBox="1"/>
          <p:nvPr/>
        </p:nvSpPr>
        <p:spPr>
          <a:xfrm>
            <a:off x="8046720" y="3280867"/>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حساب هزینهٔ معین و تفصیلی‌های مرکز هزینه که آن معین لازم دارد.</a:t>
            </a:r>
            <a:endParaRPr lang="en-US" sz="1200" dirty="0"/>
          </a:p>
        </p:txBody>
      </p:sp>
      <p:sp>
        <p:nvSpPr>
          <p:cNvPr id="17" name="Shape 14"/>
          <p:cNvSpPr/>
          <p:nvPr/>
        </p:nvSpPr>
        <p:spPr>
          <a:xfrm>
            <a:off x="11393424" y="3833165"/>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83316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83316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a:t>
            </a:r>
            <a:endParaRPr lang="en-US" sz="1400" dirty="0"/>
          </a:p>
        </p:txBody>
      </p:sp>
      <p:sp>
        <p:nvSpPr>
          <p:cNvPr id="20" name="Text 17"/>
          <p:cNvSpPr txBox="1"/>
          <p:nvPr/>
        </p:nvSpPr>
        <p:spPr>
          <a:xfrm>
            <a:off x="8046720" y="4162349"/>
            <a:ext cx="3227832" cy="645566"/>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مبلغ قبل از مالیات، درصد یا مبلغ ارزش افزوده و کسر بیمه؛ خالص قابل پرداخت خودکار.</a:t>
            </a:r>
            <a:endParaRPr lang="en-US" sz="1200" dirty="0"/>
          </a:p>
        </p:txBody>
      </p:sp>
      <p:sp>
        <p:nvSpPr>
          <p:cNvPr id="21" name="Shape 18"/>
          <p:cNvSpPr/>
          <p:nvPr/>
        </p:nvSpPr>
        <p:spPr>
          <a:xfrm>
            <a:off x="11393424" y="4917643"/>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9176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9176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سررسید و پرداخت</a:t>
            </a:r>
            <a:endParaRPr lang="en-US" sz="1400" dirty="0"/>
          </a:p>
        </p:txBody>
      </p:sp>
      <p:sp>
        <p:nvSpPr>
          <p:cNvPr id="24" name="Text 21"/>
          <p:cNvSpPr txBox="1"/>
          <p:nvPr/>
        </p:nvSpPr>
        <p:spPr>
          <a:xfrm>
            <a:off x="8046720" y="5246827"/>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تاریخ سررسید (گذشته نباشد)، حساب بانکی و روش پرداخت (ساتنا، پایا، چک، نقد).</a:t>
            </a:r>
            <a:endParaRPr lang="en-US" sz="1200" dirty="0"/>
          </a:p>
        </p:txBody>
      </p:sp>
      <p:sp>
        <p:nvSpPr>
          <p:cNvPr id="25" name="Shape 22"/>
          <p:cNvSpPr/>
          <p:nvPr/>
        </p:nvSpPr>
        <p:spPr>
          <a:xfrm>
            <a:off x="11393424" y="5799125"/>
            <a:ext cx="347472" cy="347472"/>
          </a:xfrm>
          <a:prstGeom prst="ellipse">
            <a:avLst/>
          </a:prstGeom>
          <a:solidFill>
            <a:srgbClr val="C9A227"/>
          </a:solidFill>
          <a:ln w="12700">
            <a:solidFill>
              <a:srgbClr val="C9A227"/>
            </a:solidFill>
            <a:prstDash val="solid"/>
          </a:ln>
        </p:spPr>
      </p:sp>
      <p:sp>
        <p:nvSpPr>
          <p:cNvPr id="26" name="Text 23"/>
          <p:cNvSpPr txBox="1"/>
          <p:nvPr/>
        </p:nvSpPr>
        <p:spPr>
          <a:xfrm>
            <a:off x="11393424" y="579912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7" name="Text 24"/>
          <p:cNvSpPr txBox="1"/>
          <p:nvPr/>
        </p:nvSpPr>
        <p:spPr>
          <a:xfrm>
            <a:off x="8046720" y="579912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ذخیره/ارسال</a:t>
            </a:r>
            <a:endParaRPr lang="en-US" sz="1400" dirty="0"/>
          </a:p>
        </p:txBody>
      </p:sp>
      <p:sp>
        <p:nvSpPr>
          <p:cNvPr id="28" name="Text 25"/>
          <p:cNvSpPr txBox="1"/>
          <p:nvPr/>
        </p:nvSpPr>
        <p:spPr>
          <a:xfrm>
            <a:off x="8046720" y="6128309"/>
            <a:ext cx="3227832" cy="239573"/>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«ذخیرهٔ پیش‌نویس» یا «ارسال برای تأیید».</a:t>
            </a:r>
            <a:endParaRPr lang="en-US" sz="1200" dirty="0"/>
          </a:p>
        </p:txBody>
      </p:sp>
      <p:sp>
        <p:nvSpPr>
          <p:cNvPr id="29" name="Text 2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کارتابل تأیید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تأیید</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7">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یک کارتابل</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درخواست‌های پرداخت، ترمیم‌های تنخواه منتظر خزانه‌دار و انتقال‌های وجه — قدیمی‌ترین در بالا.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برچسب «منتظر شما»</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مواردی که مرحلهٔ فعلی با نقش شما است اقدام‌پذیرند.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تأیید/برگشت/رد</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برگشت و رد دلیل اجباری دارند؛ برگشتی دوباره از مدیر واحد شروع می‌شود.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گروهی</a:t>
            </a:r>
            <a:endParaRPr lang="en-US" sz="1400" dirty="0"/>
          </a:p>
        </p:txBody>
      </p:sp>
      <p:sp>
        <p:nvSpPr>
          <p:cNvPr id="22" name="Text 19"/>
          <p:cNvSpPr txBox="1"/>
          <p:nvPr/>
        </p:nvSpPr>
        <p:spPr>
          <a:xfrm>
            <a:off x="8046720" y="4666640"/>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برای مبالغ زیر «سقف تأیید گروهی».</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اجرای پرداخت (خزانه‌دار)</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اجرای پرداخت</a:t>
            </a:r>
            <a:endParaRPr lang="en-US" sz="1100" dirty="0"/>
          </a:p>
        </p:txBody>
      </p:sp>
      <p:sp>
        <p:nvSpPr>
          <p:cNvPr id="5" name="Text 3"/>
          <p:cNvSpPr txBox="1"/>
          <p:nvPr/>
        </p:nvSpPr>
        <p:spPr>
          <a:xfrm>
            <a:off x="411480" y="132588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آمادهٔ اجرا و معلق</a:t>
            </a:r>
            <a:endParaRPr lang="en-US" sz="1200" dirty="0"/>
          </a:p>
        </p:txBody>
      </p:sp>
      <p:sp>
        <p:nvSpPr>
          <p:cNvPr id="6" name="Shape 4"/>
          <p:cNvSpPr/>
          <p:nvPr/>
        </p:nvSpPr>
        <p:spPr>
          <a:xfrm>
            <a:off x="411480" y="161848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tr08">    </p:cNvPr>
          <p:cNvPicPr>
            <a:picLocks noChangeAspect="1"/>
          </p:cNvPicPr>
          <p:nvPr/>
        </p:nvPicPr>
        <p:blipFill>
          <a:blip r:embed="rId1"/>
          <a:stretch>
            <a:fillRect/>
          </a:stretch>
        </p:blipFill>
        <p:spPr>
          <a:xfrm>
            <a:off x="2584895" y="1664208"/>
            <a:ext cx="3059810" cy="2061972"/>
          </a:xfrm>
          <a:prstGeom prst="rect">
            <a:avLst/>
          </a:prstGeom>
        </p:spPr>
      </p:pic>
      <p:sp>
        <p:nvSpPr>
          <p:cNvPr id="8" name="Text 5"/>
          <p:cNvSpPr txBox="1"/>
          <p:nvPr/>
        </p:nvSpPr>
        <p:spPr>
          <a:xfrm>
            <a:off x="411480" y="390906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دیالوگ ثبت اجرا</a:t>
            </a:r>
            <a:endParaRPr lang="en-US" sz="1200" dirty="0"/>
          </a:p>
        </p:txBody>
      </p:sp>
      <p:sp>
        <p:nvSpPr>
          <p:cNvPr id="9" name="Shape 6"/>
          <p:cNvSpPr/>
          <p:nvPr/>
        </p:nvSpPr>
        <p:spPr>
          <a:xfrm>
            <a:off x="411480" y="420166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tr09">    </p:cNvPr>
          <p:cNvPicPr>
            <a:picLocks noChangeAspect="1"/>
          </p:cNvPicPr>
          <p:nvPr/>
        </p:nvPicPr>
        <p:blipFill>
          <a:blip r:embed="rId2"/>
          <a:stretch>
            <a:fillRect/>
          </a:stretch>
        </p:blipFill>
        <p:spPr>
          <a:xfrm>
            <a:off x="2796401" y="4247388"/>
            <a:ext cx="2636798" cy="2061972"/>
          </a:xfrm>
          <a:prstGeom prst="rect">
            <a:avLst/>
          </a:prstGeom>
        </p:spPr>
      </p:pic>
      <p:sp>
        <p:nvSpPr>
          <p:cNvPr id="11" name="Shape 7"/>
          <p:cNvSpPr/>
          <p:nvPr/>
        </p:nvSpPr>
        <p:spPr>
          <a:xfrm>
            <a:off x="11393424" y="1371600"/>
            <a:ext cx="347472" cy="347472"/>
          </a:xfrm>
          <a:prstGeom prst="ellipse">
            <a:avLst/>
          </a:prstGeom>
          <a:solidFill>
            <a:srgbClr val="C9A227"/>
          </a:solidFill>
          <a:ln w="12700">
            <a:solidFill>
              <a:srgbClr val="C9A227"/>
            </a:solidFill>
            <a:prstDash val="solid"/>
          </a:ln>
        </p:spPr>
      </p:sp>
      <p:sp>
        <p:nvSpPr>
          <p:cNvPr id="12" name="Text 8"/>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3" name="Text 9"/>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پرداخت در بانک</a:t>
            </a:r>
            <a:endParaRPr lang="en-US" sz="1400" dirty="0"/>
          </a:p>
        </p:txBody>
      </p:sp>
      <p:sp>
        <p:nvSpPr>
          <p:cNvPr id="14" name="Text 10"/>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ابتدا وجه را در سامانهٔ بانک پرداخت می‌کند.</a:t>
            </a:r>
            <a:endParaRPr lang="en-US" sz="1300" dirty="0"/>
          </a:p>
        </p:txBody>
      </p:sp>
      <p:sp>
        <p:nvSpPr>
          <p:cNvPr id="15" name="Shape 11"/>
          <p:cNvSpPr/>
          <p:nvPr/>
        </p:nvSpPr>
        <p:spPr>
          <a:xfrm>
            <a:off x="11393424" y="2286914"/>
            <a:ext cx="347472" cy="347472"/>
          </a:xfrm>
          <a:prstGeom prst="ellipse">
            <a:avLst/>
          </a:prstGeom>
          <a:solidFill>
            <a:srgbClr val="C9A227"/>
          </a:solidFill>
          <a:ln w="12700">
            <a:solidFill>
              <a:srgbClr val="C9A227"/>
            </a:solidFill>
            <a:prstDash val="solid"/>
          </a:ln>
        </p:spPr>
      </p:sp>
      <p:sp>
        <p:nvSpPr>
          <p:cNvPr id="16" name="Text 12"/>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اجرا</a:t>
            </a:r>
            <a:endParaRPr lang="en-US" sz="1400" dirty="0"/>
          </a:p>
        </p:txBody>
      </p:sp>
      <p:sp>
        <p:nvSpPr>
          <p:cNvPr id="18" name="Text 14"/>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شمارهٔ پیگیری بانک، تاریخ پرداخت، شبای مقصد و روش پرداخت را وارد و «اجرای پرداخت» کنید.</a:t>
            </a:r>
            <a:endParaRPr lang="en-US" sz="1300" dirty="0"/>
          </a:p>
        </p:txBody>
      </p:sp>
      <p:sp>
        <p:nvSpPr>
          <p:cNvPr id="19" name="Shape 15"/>
          <p:cNvSpPr/>
          <p:nvPr/>
        </p:nvSpPr>
        <p:spPr>
          <a:xfrm>
            <a:off x="11393424" y="3422142"/>
            <a:ext cx="347472" cy="347472"/>
          </a:xfrm>
          <a:prstGeom prst="ellipse">
            <a:avLst/>
          </a:prstGeom>
          <a:solidFill>
            <a:srgbClr val="C9A227"/>
          </a:solidFill>
          <a:ln w="12700">
            <a:solidFill>
              <a:srgbClr val="C9A227"/>
            </a:solidFill>
            <a:prstDash val="solid"/>
          </a:ln>
        </p:spPr>
      </p:sp>
      <p:sp>
        <p:nvSpPr>
          <p:cNvPr id="20" name="Text 16"/>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1" name="Text 17"/>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نتیجه</a:t>
            </a:r>
            <a:endParaRPr lang="en-US" sz="1400" dirty="0"/>
          </a:p>
        </p:txBody>
      </p:sp>
      <p:sp>
        <p:nvSpPr>
          <p:cNvPr id="22" name="Text 18"/>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سند «پرداخت» موقت و رکورد دریافت/پرداخت صادر و وضعیت «پرداخت شد» می‌شود.</a:t>
            </a:r>
            <a:endParaRPr lang="en-US" sz="1300" dirty="0"/>
          </a:p>
        </p:txBody>
      </p:sp>
      <p:sp>
        <p:nvSpPr>
          <p:cNvPr id="23" name="Shape 19"/>
          <p:cNvSpPr/>
          <p:nvPr/>
        </p:nvSpPr>
        <p:spPr>
          <a:xfrm>
            <a:off x="11393424" y="4337456"/>
            <a:ext cx="347472" cy="347472"/>
          </a:xfrm>
          <a:prstGeom prst="ellipse">
            <a:avLst/>
          </a:prstGeom>
          <a:solidFill>
            <a:srgbClr val="C9A227"/>
          </a:solidFill>
          <a:ln w="12700">
            <a:solidFill>
              <a:srgbClr val="C9A227"/>
            </a:solidFill>
            <a:prstDash val="solid"/>
          </a:ln>
        </p:spPr>
      </p:sp>
      <p:sp>
        <p:nvSpPr>
          <p:cNvPr id="24" name="Text 20"/>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1"/>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تعلیق</a:t>
            </a:r>
            <a:endParaRPr lang="en-US" sz="1400" dirty="0"/>
          </a:p>
        </p:txBody>
      </p:sp>
      <p:sp>
        <p:nvSpPr>
          <p:cNvPr id="26" name="Text 22"/>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 دلیل، درخواست را معلق و بعداً «رفع تعلیق» کنید.</a:t>
            </a:r>
            <a:endParaRPr lang="en-US" sz="1300" dirty="0"/>
          </a:p>
        </p:txBody>
      </p:sp>
      <p:sp>
        <p:nvSpPr>
          <p:cNvPr id="27" name="Text 2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اسناد حسابداری خودکار درخواست پرداخت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06b">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سند شناسایی بدهی</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هزینه (با مرکز هزینه) و اعتبار مالیات؛ بستانکار بستانکاران (ذی‌نفع) و کسور بیمه.</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سند پرداخت</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بستانکاران، بستانکار بانک (با تفصیلی حساب بانکی).</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کجا ببینیم</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پایین صفحهٔ درخواست، پنل «اسناد حسابداری» با شمارهٔ سند و برچسب «متوازن».</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a:t>
            </a:r>
            <a:endParaRPr lang="en-US" sz="1400" dirty="0"/>
          </a:p>
        </p:txBody>
      </p:sp>
      <p:sp>
        <p:nvSpPr>
          <p:cNvPr id="20" name="Text 17"/>
          <p:cNvSpPr txBox="1"/>
          <p:nvPr/>
        </p:nvSpPr>
        <p:spPr>
          <a:xfrm>
            <a:off x="8046720" y="448376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دو سند «موقت»‌اند و در کارتابل اسناد قطعی می‌شوند.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دریافت و انتقال وجه</a:t>
            </a:r>
            <a:endParaRPr lang="en-US" sz="2600" dirty="0"/>
          </a:p>
        </p:txBody>
      </p:sp>
      <p:sp>
        <p:nvSpPr>
          <p:cNvPr id="3" name="Shape 1"/>
          <p:cNvSpPr/>
          <p:nvPr/>
        </p:nvSpPr>
        <p:spPr>
          <a:xfrm>
            <a:off x="8353044" y="896112"/>
            <a:ext cx="3424428"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دریافت و انتقال</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10">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 زبانه</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«دریافت وجه» از مشتریان/کارفرمایان و «انتقال وجه» بین حساب‌های بانکی واحد.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دریافت</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ثبت‌شده (فقط خزانه‌دار) یا لغوشده.</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انتقال</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در انتظار خزانه‌دار ← اجراشده؛ یا برگشتی/ردشده.</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ثبت دریافت وجه</a:t>
            </a:r>
            <a:endParaRPr lang="en-US" sz="2600" dirty="0"/>
          </a:p>
        </p:txBody>
      </p:sp>
      <p:sp>
        <p:nvSpPr>
          <p:cNvPr id="3" name="Text 1"/>
          <p:cNvSpPr txBox="1"/>
          <p:nvPr/>
        </p:nvSpPr>
        <p:spPr>
          <a:xfrm>
            <a:off x="411480" y="114300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فرم دریافت جدید</a:t>
            </a:r>
            <a:endParaRPr lang="en-US" sz="1200" dirty="0"/>
          </a:p>
        </p:txBody>
      </p:sp>
      <p:sp>
        <p:nvSpPr>
          <p:cNvPr id="4" name="Shape 2"/>
          <p:cNvSpPr/>
          <p:nvPr/>
        </p:nvSpPr>
        <p:spPr>
          <a:xfrm>
            <a:off x="411480" y="143560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5" name="Image 0" descr="tr11">    </p:cNvPr>
          <p:cNvPicPr>
            <a:picLocks noChangeAspect="1"/>
          </p:cNvPicPr>
          <p:nvPr/>
        </p:nvPicPr>
        <p:blipFill>
          <a:blip r:embed="rId1"/>
          <a:stretch>
            <a:fillRect/>
          </a:stretch>
        </p:blipFill>
        <p:spPr>
          <a:xfrm>
            <a:off x="2658699" y="1481328"/>
            <a:ext cx="2912203" cy="2153412"/>
          </a:xfrm>
          <a:prstGeom prst="rect">
            <a:avLst/>
          </a:prstGeom>
        </p:spPr>
      </p:pic>
      <p:sp>
        <p:nvSpPr>
          <p:cNvPr id="6" name="Text 3"/>
          <p:cNvSpPr txBox="1"/>
          <p:nvPr/>
        </p:nvSpPr>
        <p:spPr>
          <a:xfrm>
            <a:off x="411480" y="381762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دریافت ثبت‌شده و سند آن</a:t>
            </a:r>
            <a:endParaRPr lang="en-US" sz="1200" dirty="0"/>
          </a:p>
        </p:txBody>
      </p:sp>
      <p:sp>
        <p:nvSpPr>
          <p:cNvPr id="7" name="Shape 4"/>
          <p:cNvSpPr/>
          <p:nvPr/>
        </p:nvSpPr>
        <p:spPr>
          <a:xfrm>
            <a:off x="411480" y="411022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8" name="Image 1" descr="tr12">    </p:cNvPr>
          <p:cNvPicPr>
            <a:picLocks noChangeAspect="1"/>
          </p:cNvPicPr>
          <p:nvPr/>
        </p:nvPicPr>
        <p:blipFill>
          <a:blip r:embed="rId2"/>
          <a:stretch>
            <a:fillRect/>
          </a:stretch>
        </p:blipFill>
        <p:spPr>
          <a:xfrm>
            <a:off x="2658699" y="4155948"/>
            <a:ext cx="2912203" cy="2153412"/>
          </a:xfrm>
          <a:prstGeom prst="rect">
            <a:avLst/>
          </a:prstGeom>
        </p:spPr>
      </p:pic>
      <p:sp>
        <p:nvSpPr>
          <p:cNvPr id="9" name="Shape 5"/>
          <p:cNvSpPr/>
          <p:nvPr/>
        </p:nvSpPr>
        <p:spPr>
          <a:xfrm>
            <a:off x="11393424" y="1188720"/>
            <a:ext cx="347472" cy="347472"/>
          </a:xfrm>
          <a:prstGeom prst="ellipse">
            <a:avLst/>
          </a:prstGeom>
          <a:solidFill>
            <a:srgbClr val="C9A227"/>
          </a:solidFill>
          <a:ln w="12700">
            <a:solidFill>
              <a:srgbClr val="C9A227"/>
            </a:solidFill>
            <a:prstDash val="solid"/>
          </a:ln>
        </p:spPr>
      </p:sp>
      <p:sp>
        <p:nvSpPr>
          <p:cNvPr id="10" name="Text 6"/>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1" name="Text 7"/>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پرداخت‌کننده</a:t>
            </a:r>
            <a:endParaRPr lang="en-US" sz="1400" dirty="0"/>
          </a:p>
        </p:txBody>
      </p:sp>
      <p:sp>
        <p:nvSpPr>
          <p:cNvPr id="12" name="Text 8"/>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تفصیلی مشتری از گروه تفصیلی مشتریان (الزامی).</a:t>
            </a:r>
            <a:endParaRPr lang="en-US" sz="1300" dirty="0"/>
          </a:p>
        </p:txBody>
      </p:sp>
      <p:sp>
        <p:nvSpPr>
          <p:cNvPr id="13" name="Shape 9"/>
          <p:cNvSpPr/>
          <p:nvPr/>
        </p:nvSpPr>
        <p:spPr>
          <a:xfrm>
            <a:off x="11393424" y="2104034"/>
            <a:ext cx="347472" cy="347472"/>
          </a:xfrm>
          <a:prstGeom prst="ellipse">
            <a:avLst/>
          </a:prstGeom>
          <a:solidFill>
            <a:srgbClr val="C9A227"/>
          </a:solidFill>
          <a:ln w="12700">
            <a:solidFill>
              <a:srgbClr val="C9A227"/>
            </a:solidFill>
            <a:prstDash val="solid"/>
          </a:ln>
        </p:spPr>
      </p:sp>
      <p:sp>
        <p:nvSpPr>
          <p:cNvPr id="14" name="Text 10"/>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1"/>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 و حساب</a:t>
            </a:r>
            <a:endParaRPr lang="en-US" sz="1400" dirty="0"/>
          </a:p>
        </p:txBody>
      </p:sp>
      <p:sp>
        <p:nvSpPr>
          <p:cNvPr id="16" name="Text 12"/>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حساب بانکی مقصد، روش، تاریخ و شمارهٔ پیگیری بانک (تکراری پذیرفته نمی‌شود).</a:t>
            </a:r>
            <a:endParaRPr lang="en-US" sz="1300" dirty="0"/>
          </a:p>
        </p:txBody>
      </p:sp>
      <p:sp>
        <p:nvSpPr>
          <p:cNvPr id="17" name="Shape 13"/>
          <p:cNvSpPr/>
          <p:nvPr/>
        </p:nvSpPr>
        <p:spPr>
          <a:xfrm>
            <a:off x="11393424" y="3239262"/>
            <a:ext cx="347472" cy="347472"/>
          </a:xfrm>
          <a:prstGeom prst="ellipse">
            <a:avLst/>
          </a:prstGeom>
          <a:solidFill>
            <a:srgbClr val="C9A227"/>
          </a:solidFill>
          <a:ln w="12700">
            <a:solidFill>
              <a:srgbClr val="C9A227"/>
            </a:solidFill>
            <a:prstDash val="solid"/>
          </a:ln>
        </p:spPr>
      </p:sp>
      <p:sp>
        <p:nvSpPr>
          <p:cNvPr id="18" name="Text 14"/>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9" name="Text 15"/>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a:t>
            </a:r>
            <a:endParaRPr lang="en-US" sz="1400" dirty="0"/>
          </a:p>
        </p:txBody>
      </p:sp>
      <p:sp>
        <p:nvSpPr>
          <p:cNvPr id="20" name="Text 16"/>
          <p:cNvSpPr txBox="1"/>
          <p:nvPr/>
        </p:nvSpPr>
        <p:spPr>
          <a:xfrm>
            <a:off x="8046720" y="356844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«ثبت» را می‌زند ⇐ سند دریافت موقت: بدهکار بانک / بستانکار حساب دریافتنی.</a:t>
            </a:r>
            <a:endParaRPr lang="en-US" sz="1300" dirty="0"/>
          </a:p>
        </p:txBody>
      </p:sp>
      <p:sp>
        <p:nvSpPr>
          <p:cNvPr id="21" name="Text 17"/>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انتقال وجه بین حساب‌ها</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13">    </p:cNvPr>
          <p:cNvPicPr>
            <a:picLocks noChangeAspect="1"/>
          </p:cNvPicPr>
          <p:nvPr/>
        </p:nvPicPr>
        <p:blipFill>
          <a:blip r:embed="rId1"/>
          <a:stretch>
            <a:fillRect/>
          </a:stretch>
        </p:blipFill>
        <p:spPr>
          <a:xfrm>
            <a:off x="484632" y="1226073"/>
            <a:ext cx="7260336" cy="5045934"/>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مبدأ و مقصد</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دو حساب بانکی متفاوت از همین واحد؛ موجودی دفتری مبدأ نمایش داده می‌شود.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 و روش</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تاریخ، روش انتقال و دلیل انتقال.</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a:t>
            </a:r>
            <a:endParaRPr lang="en-US" sz="1400" dirty="0"/>
          </a:p>
        </p:txBody>
      </p:sp>
      <p:sp>
        <p:nvSpPr>
          <p:cNvPr id="16" name="Text 13"/>
          <p:cNvSpPr txBox="1"/>
          <p:nvPr/>
        </p:nvSpPr>
        <p:spPr>
          <a:xfrm>
            <a:off x="8046720" y="3348533"/>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تأیید» به خزانه‌دار.</a:t>
            </a:r>
            <a:endParaRPr lang="en-US" sz="1300" dirty="0"/>
          </a:p>
        </p:txBody>
      </p:sp>
      <p:sp>
        <p:nvSpPr>
          <p:cNvPr id="17" name="Shape 14"/>
          <p:cNvSpPr/>
          <p:nvPr/>
        </p:nvSpPr>
        <p:spPr>
          <a:xfrm>
            <a:off x="11393424" y="371475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71475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71475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مسدودکننده</a:t>
            </a:r>
            <a:endParaRPr lang="en-US" sz="1400" dirty="0"/>
          </a:p>
        </p:txBody>
      </p:sp>
      <p:sp>
        <p:nvSpPr>
          <p:cNvPr id="20" name="Text 17"/>
          <p:cNvSpPr txBox="1"/>
          <p:nvPr/>
        </p:nvSpPr>
        <p:spPr>
          <a:xfrm>
            <a:off x="8046720" y="404393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کافی مبدأ و سقف انتقال روزانه؛ تأییدکننده ≠ ثبت‌کننده.</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مغایرت‌گیری بانکی</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مغایرت بانکی</a:t>
            </a:r>
            <a:endParaRPr lang="en-US" sz="1100" dirty="0"/>
          </a:p>
        </p:txBody>
      </p:sp>
      <p:sp>
        <p:nvSpPr>
          <p:cNvPr id="5" name="Text 3"/>
          <p:cNvSpPr txBox="1"/>
          <p:nvPr/>
        </p:nvSpPr>
        <p:spPr>
          <a:xfrm>
            <a:off x="411480" y="132588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صورت‌حساب‌ها</a:t>
            </a:r>
            <a:endParaRPr lang="en-US" sz="1200" dirty="0"/>
          </a:p>
        </p:txBody>
      </p:sp>
      <p:sp>
        <p:nvSpPr>
          <p:cNvPr id="6" name="Shape 4"/>
          <p:cNvSpPr/>
          <p:nvPr/>
        </p:nvSpPr>
        <p:spPr>
          <a:xfrm>
            <a:off x="411480" y="161848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tr14">    </p:cNvPr>
          <p:cNvPicPr>
            <a:picLocks noChangeAspect="1"/>
          </p:cNvPicPr>
          <p:nvPr/>
        </p:nvPicPr>
        <p:blipFill>
          <a:blip r:embed="rId1"/>
          <a:stretch>
            <a:fillRect/>
          </a:stretch>
        </p:blipFill>
        <p:spPr>
          <a:xfrm>
            <a:off x="2584895" y="1664208"/>
            <a:ext cx="3059810" cy="2061972"/>
          </a:xfrm>
          <a:prstGeom prst="rect">
            <a:avLst/>
          </a:prstGeom>
        </p:spPr>
      </p:pic>
      <p:sp>
        <p:nvSpPr>
          <p:cNvPr id="8" name="Text 5"/>
          <p:cNvSpPr txBox="1"/>
          <p:nvPr/>
        </p:nvSpPr>
        <p:spPr>
          <a:xfrm>
            <a:off x="411480" y="390906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جزئیات و تطبیق ردیف‌ها</a:t>
            </a:r>
            <a:endParaRPr lang="en-US" sz="1200" dirty="0"/>
          </a:p>
        </p:txBody>
      </p:sp>
      <p:sp>
        <p:nvSpPr>
          <p:cNvPr id="9" name="Shape 6"/>
          <p:cNvSpPr/>
          <p:nvPr/>
        </p:nvSpPr>
        <p:spPr>
          <a:xfrm>
            <a:off x="411480" y="420166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tr15">    </p:cNvPr>
          <p:cNvPicPr>
            <a:picLocks noChangeAspect="1"/>
          </p:cNvPicPr>
          <p:nvPr/>
        </p:nvPicPr>
        <p:blipFill>
          <a:blip r:embed="rId2"/>
          <a:stretch>
            <a:fillRect/>
          </a:stretch>
        </p:blipFill>
        <p:spPr>
          <a:xfrm>
            <a:off x="2720529" y="4247388"/>
            <a:ext cx="2788542" cy="2061972"/>
          </a:xfrm>
          <a:prstGeom prst="rect">
            <a:avLst/>
          </a:prstGeom>
        </p:spPr>
      </p:pic>
      <p:sp>
        <p:nvSpPr>
          <p:cNvPr id="11" name="Shape 7"/>
          <p:cNvSpPr/>
          <p:nvPr/>
        </p:nvSpPr>
        <p:spPr>
          <a:xfrm>
            <a:off x="11393424" y="1371600"/>
            <a:ext cx="347472" cy="347472"/>
          </a:xfrm>
          <a:prstGeom prst="ellipse">
            <a:avLst/>
          </a:prstGeom>
          <a:solidFill>
            <a:srgbClr val="C9A227"/>
          </a:solidFill>
          <a:ln w="12700">
            <a:solidFill>
              <a:srgbClr val="C9A227"/>
            </a:solidFill>
            <a:prstDash val="solid"/>
          </a:ln>
        </p:spPr>
      </p:sp>
      <p:sp>
        <p:nvSpPr>
          <p:cNvPr id="12" name="Text 8"/>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3" name="Text 9"/>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صورت‌حساب جدید</a:t>
            </a:r>
            <a:endParaRPr lang="en-US" sz="1400" dirty="0"/>
          </a:p>
        </p:txBody>
      </p:sp>
      <p:sp>
        <p:nvSpPr>
          <p:cNvPr id="14" name="Text 10"/>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بانکی، بازهٔ تاریخ و ماندهٔ طبق بانک؛ ردیف‌ها را دستی اضافه کنید.</a:t>
            </a:r>
            <a:endParaRPr lang="en-US" sz="1300" dirty="0"/>
          </a:p>
        </p:txBody>
      </p:sp>
      <p:sp>
        <p:nvSpPr>
          <p:cNvPr id="15" name="Shape 11"/>
          <p:cNvSpPr/>
          <p:nvPr/>
        </p:nvSpPr>
        <p:spPr>
          <a:xfrm>
            <a:off x="11393424" y="2286914"/>
            <a:ext cx="347472" cy="347472"/>
          </a:xfrm>
          <a:prstGeom prst="ellipse">
            <a:avLst/>
          </a:prstGeom>
          <a:solidFill>
            <a:srgbClr val="C9A227"/>
          </a:solidFill>
          <a:ln w="12700">
            <a:solidFill>
              <a:srgbClr val="C9A227"/>
            </a:solidFill>
            <a:prstDash val="solid"/>
          </a:ln>
        </p:spPr>
      </p:sp>
      <p:sp>
        <p:nvSpPr>
          <p:cNvPr id="16" name="Text 12"/>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تطبیق خودکار</a:t>
            </a:r>
            <a:endParaRPr lang="en-US" sz="1400" dirty="0"/>
          </a:p>
        </p:txBody>
      </p:sp>
      <p:sp>
        <p:nvSpPr>
          <p:cNvPr id="18" name="Text 14"/>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مرجع بانک و مبلغ در بازهٔ ±۳ روز.</a:t>
            </a:r>
            <a:endParaRPr lang="en-US" sz="1300" dirty="0"/>
          </a:p>
        </p:txBody>
      </p:sp>
      <p:sp>
        <p:nvSpPr>
          <p:cNvPr id="19" name="Shape 15"/>
          <p:cNvSpPr/>
          <p:nvPr/>
        </p:nvSpPr>
        <p:spPr>
          <a:xfrm>
            <a:off x="11393424" y="3202229"/>
            <a:ext cx="347472" cy="347472"/>
          </a:xfrm>
          <a:prstGeom prst="ellipse">
            <a:avLst/>
          </a:prstGeom>
          <a:solidFill>
            <a:srgbClr val="C9A227"/>
          </a:solidFill>
          <a:ln w="12700">
            <a:solidFill>
              <a:srgbClr val="C9A227"/>
            </a:solidFill>
            <a:prstDash val="solid"/>
          </a:ln>
        </p:spPr>
      </p:sp>
      <p:sp>
        <p:nvSpPr>
          <p:cNvPr id="20" name="Text 16"/>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1" name="Text 17"/>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تطبیق‌نیافته‌ها</a:t>
            </a:r>
            <a:endParaRPr lang="en-US" sz="1400" dirty="0"/>
          </a:p>
        </p:txBody>
      </p:sp>
      <p:sp>
        <p:nvSpPr>
          <p:cNvPr id="22" name="Text 18"/>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تطبیق دستی، صدور سند کارمزد، اتصال به دریافت یا «نادیده» با یادداشت.</a:t>
            </a:r>
            <a:endParaRPr lang="en-US" sz="1300" dirty="0"/>
          </a:p>
        </p:txBody>
      </p:sp>
      <p:sp>
        <p:nvSpPr>
          <p:cNvPr id="23" name="Shape 19"/>
          <p:cNvSpPr/>
          <p:nvPr/>
        </p:nvSpPr>
        <p:spPr>
          <a:xfrm>
            <a:off x="11393424" y="4117543"/>
            <a:ext cx="347472" cy="347472"/>
          </a:xfrm>
          <a:prstGeom prst="ellipse">
            <a:avLst/>
          </a:prstGeom>
          <a:solidFill>
            <a:srgbClr val="C9A227"/>
          </a:solidFill>
          <a:ln w="12700">
            <a:solidFill>
              <a:srgbClr val="C9A227"/>
            </a:solidFill>
            <a:prstDash val="solid"/>
          </a:ln>
        </p:spPr>
      </p:sp>
      <p:sp>
        <p:nvSpPr>
          <p:cNvPr id="24" name="Text 20"/>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1"/>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بستن</a:t>
            </a:r>
            <a:endParaRPr lang="en-US" sz="1400" dirty="0"/>
          </a:p>
        </p:txBody>
      </p:sp>
      <p:sp>
        <p:nvSpPr>
          <p:cNvPr id="26" name="Text 22"/>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وقتی مغایرت صفر شد صورت‌حساب را «بستن» کنید.</a:t>
            </a:r>
            <a:endParaRPr lang="en-US" sz="1300" dirty="0"/>
          </a:p>
        </p:txBody>
      </p:sp>
      <p:sp>
        <p:nvSpPr>
          <p:cNvPr id="27" name="Text 2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داشبورد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1">    </p:cNvPr>
          <p:cNvPicPr>
            <a:picLocks noChangeAspect="1"/>
          </p:cNvPicPr>
          <p:nvPr/>
        </p:nvPicPr>
        <p:blipFill>
          <a:blip r:embed="rId1"/>
          <a:stretch>
            <a:fillRect/>
          </a:stretch>
        </p:blipFill>
        <p:spPr>
          <a:xfrm>
            <a:off x="813067" y="1399032"/>
            <a:ext cx="6603466"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موجودی کل</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جمع و تفکیک موجودی دفتری حساب‌های بانکی.</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تعهدات ۷ روز</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درخواست‌های آمادهٔ اجرا و نسبت پوشش آن با موجودی.</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 انتظار تأیید و امروز</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تعداد و مبلغ موارد منتظر تأیید؛ دریافت و پرداخت امروز.</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اقلام باز و هشدارها</a:t>
            </a:r>
            <a:endParaRPr lang="en-US" sz="1400" dirty="0"/>
          </a:p>
        </p:txBody>
      </p:sp>
      <p:sp>
        <p:nvSpPr>
          <p:cNvPr id="22" name="Text 19"/>
          <p:cNvSpPr txBox="1"/>
          <p:nvPr/>
        </p:nvSpPr>
        <p:spPr>
          <a:xfrm>
            <a:off x="8046720" y="444672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سررسیدهای نزدیک و ردیف‌های مغایرت؛ اقدام سریع برای درخواست، دریافت یا انتقال.</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fs">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۳</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۳</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صورت‌های مالی</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قالب و نگاشت، تهیه و Drill-down، کنترل و یادداشت‌ها، تأیید مرحله‌ای، بستن دوره، تحلیل و تلفیق</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چرخهٔ تهیهٔ صورت‌های مالی</a:t>
            </a:r>
            <a:endParaRPr lang="en-US" sz="2600" dirty="0"/>
          </a:p>
        </p:txBody>
      </p:sp>
      <p:sp>
        <p:nvSpPr>
          <p:cNvPr id="3" name="Shape 1"/>
          <p:cNvSpPr/>
          <p:nvPr/>
        </p:nvSpPr>
        <p:spPr>
          <a:xfrm>
            <a:off x="10187940"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708386"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70838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10297668"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قالب و نگاشت</a:t>
            </a:r>
            <a:endParaRPr lang="en-US" sz="1600" dirty="0"/>
          </a:p>
        </p:txBody>
      </p:sp>
      <p:sp>
        <p:nvSpPr>
          <p:cNvPr id="7" name="Text 5"/>
          <p:cNvSpPr txBox="1"/>
          <p:nvPr/>
        </p:nvSpPr>
        <p:spPr>
          <a:xfrm>
            <a:off x="10297668"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نسخهٔ فعال؛ هیچ معینی جا نماند</a:t>
            </a:r>
            <a:endParaRPr lang="en-US" sz="1250" dirty="0"/>
          </a:p>
        </p:txBody>
      </p:sp>
      <p:sp>
        <p:nvSpPr>
          <p:cNvPr id="8" name="Text 6"/>
          <p:cNvSpPr txBox="1"/>
          <p:nvPr/>
        </p:nvSpPr>
        <p:spPr>
          <a:xfrm>
            <a:off x="982218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8232648"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753094"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753094"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8342376"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تهیهٔ صورت‌ها</a:t>
            </a:r>
            <a:endParaRPr lang="en-US" sz="1600" dirty="0"/>
          </a:p>
        </p:txBody>
      </p:sp>
      <p:sp>
        <p:nvSpPr>
          <p:cNvPr id="13" name="Text 11"/>
          <p:cNvSpPr txBox="1"/>
          <p:nvPr/>
        </p:nvSpPr>
        <p:spPr>
          <a:xfrm>
            <a:off x="8342376"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ویزارد سه‌مرحله‌ای</a:t>
            </a:r>
            <a:endParaRPr lang="en-US" sz="1250" dirty="0"/>
          </a:p>
        </p:txBody>
      </p:sp>
      <p:sp>
        <p:nvSpPr>
          <p:cNvPr id="14" name="Text 12"/>
          <p:cNvSpPr txBox="1"/>
          <p:nvPr/>
        </p:nvSpPr>
        <p:spPr>
          <a:xfrm>
            <a:off x="7866888"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6277356"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6797802"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797802"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6387084"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بررسی و Drill-down</a:t>
            </a:r>
            <a:endParaRPr lang="en-US" sz="1600" dirty="0"/>
          </a:p>
        </p:txBody>
      </p:sp>
      <p:sp>
        <p:nvSpPr>
          <p:cNvPr id="19" name="Text 17"/>
          <p:cNvSpPr txBox="1"/>
          <p:nvPr/>
        </p:nvSpPr>
        <p:spPr>
          <a:xfrm>
            <a:off x="6387084"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تا سند حسابداری</a:t>
            </a:r>
            <a:endParaRPr lang="en-US" sz="1250" dirty="0"/>
          </a:p>
        </p:txBody>
      </p:sp>
      <p:sp>
        <p:nvSpPr>
          <p:cNvPr id="20" name="Text 18"/>
          <p:cNvSpPr txBox="1"/>
          <p:nvPr/>
        </p:nvSpPr>
        <p:spPr>
          <a:xfrm>
            <a:off x="5911596"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4322064"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4842510"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4842510"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4431792"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کنترل و یادداشت‌ها</a:t>
            </a:r>
            <a:endParaRPr lang="en-US" sz="1600" dirty="0"/>
          </a:p>
        </p:txBody>
      </p:sp>
      <p:sp>
        <p:nvSpPr>
          <p:cNvPr id="25" name="Text 23"/>
          <p:cNvSpPr txBox="1"/>
          <p:nvPr/>
        </p:nvSpPr>
        <p:spPr>
          <a:xfrm>
            <a:off x="4431792"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ارجاع کنترل، متن یادداشت</a:t>
            </a:r>
            <a:endParaRPr lang="en-US" sz="1250" dirty="0"/>
          </a:p>
        </p:txBody>
      </p:sp>
      <p:sp>
        <p:nvSpPr>
          <p:cNvPr id="26" name="Text 24"/>
          <p:cNvSpPr txBox="1"/>
          <p:nvPr/>
        </p:nvSpPr>
        <p:spPr>
          <a:xfrm>
            <a:off x="3956304"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2366772"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2887218"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2887218"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2476500"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مرحله‌ای</a:t>
            </a:r>
            <a:endParaRPr lang="en-US" sz="1600" dirty="0"/>
          </a:p>
        </p:txBody>
      </p:sp>
      <p:sp>
        <p:nvSpPr>
          <p:cNvPr id="31" name="Text 29"/>
          <p:cNvSpPr txBox="1"/>
          <p:nvPr/>
        </p:nvSpPr>
        <p:spPr>
          <a:xfrm>
            <a:off x="2476500"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بازبین ← مدیرکل ← معاون</a:t>
            </a:r>
            <a:endParaRPr lang="en-US" sz="1250" dirty="0"/>
          </a:p>
        </p:txBody>
      </p:sp>
      <p:sp>
        <p:nvSpPr>
          <p:cNvPr id="32" name="Text 30"/>
          <p:cNvSpPr txBox="1"/>
          <p:nvPr/>
        </p:nvSpPr>
        <p:spPr>
          <a:xfrm>
            <a:off x="200101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33" name="Shape 31"/>
          <p:cNvSpPr/>
          <p:nvPr/>
        </p:nvSpPr>
        <p:spPr>
          <a:xfrm>
            <a:off x="411480" y="2103120"/>
            <a:ext cx="1589532" cy="2011680"/>
          </a:xfrm>
          <a:prstGeom prst="roundRect">
            <a:avLst>
              <a:gd name="adj" fmla="val 6903"/>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34" name="Shape 32"/>
          <p:cNvSpPr/>
          <p:nvPr/>
        </p:nvSpPr>
        <p:spPr>
          <a:xfrm>
            <a:off x="931926" y="1828800"/>
            <a:ext cx="548640" cy="548640"/>
          </a:xfrm>
          <a:prstGeom prst="ellipse">
            <a:avLst/>
          </a:prstGeom>
          <a:solidFill>
            <a:srgbClr val="C9A227"/>
          </a:solidFill>
          <a:ln w="12700">
            <a:solidFill>
              <a:srgbClr val="C9A227"/>
            </a:solidFill>
            <a:prstDash val="solid"/>
          </a:ln>
        </p:spPr>
      </p:sp>
      <p:sp>
        <p:nvSpPr>
          <p:cNvPr id="35" name="Text 33"/>
          <p:cNvSpPr txBox="1"/>
          <p:nvPr/>
        </p:nvSpPr>
        <p:spPr>
          <a:xfrm>
            <a:off x="93192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txBox="1"/>
          <p:nvPr/>
        </p:nvSpPr>
        <p:spPr>
          <a:xfrm>
            <a:off x="521208" y="2560320"/>
            <a:ext cx="1370076"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بستن دوره و انتشار</a:t>
            </a:r>
            <a:endParaRPr lang="en-US" sz="1600" dirty="0"/>
          </a:p>
        </p:txBody>
      </p:sp>
      <p:sp>
        <p:nvSpPr>
          <p:cNvPr id="37" name="Text 35"/>
          <p:cNvSpPr txBox="1"/>
          <p:nvPr/>
        </p:nvSpPr>
        <p:spPr>
          <a:xfrm>
            <a:off x="521208" y="3246120"/>
            <a:ext cx="1370076"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قفل دوره، PDF و XBRL</a:t>
            </a:r>
            <a:endParaRPr lang="en-US" sz="1250" dirty="0"/>
          </a:p>
        </p:txBody>
      </p:sp>
      <p:sp>
        <p:nvSpPr>
          <p:cNvPr id="38" name="Shape 36"/>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9" name="Text 37"/>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هر اجرا یک «عکس ثابت» از اعداد است؛ تغییر بعدی قالب یا اسناد، اجرای قبلی را عوض نمی‌کند — برای عدد تازه، اجرای جدید بگیرید.</a:t>
            </a:r>
            <a:endParaRPr lang="en-US" sz="1500" dirty="0"/>
          </a:p>
        </p:txBody>
      </p:sp>
      <p:sp>
        <p:nvSpPr>
          <p:cNvPr id="40" name="Text 3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نقطهٔ شروع — داشبورد صورت‌ها و «کارهای من»</a:t>
            </a:r>
            <a:endParaRPr lang="en-US" sz="2600" dirty="0"/>
          </a:p>
        </p:txBody>
      </p:sp>
      <p:sp>
        <p:nvSpPr>
          <p:cNvPr id="3" name="Shape 1"/>
          <p:cNvSpPr/>
          <p:nvPr/>
        </p:nvSpPr>
        <p:spPr>
          <a:xfrm>
            <a:off x="8819388" y="896112"/>
            <a:ext cx="295808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داشبورد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n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شاخص‌ها</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چهار نسبت اول از آخرین اجرای سال، در کنار مقدار سال قبل.</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بستن سال</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کاشی هر زیرواحد با وضعیت دوره (باز، بستهٔ موقت، قفل)، تعداد خطا و درصد پیشرفت.</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کارهای من</a:t>
            </a:r>
            <a:endParaRPr lang="en-US" sz="1400" dirty="0"/>
          </a:p>
        </p:txBody>
      </p:sp>
      <p:sp>
        <p:nvSpPr>
          <p:cNvPr id="18" name="Text 15"/>
          <p:cNvSpPr txBox="1"/>
          <p:nvPr/>
        </p:nvSpPr>
        <p:spPr>
          <a:xfrm>
            <a:off x="8046720" y="3751326"/>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تأییدهای منتظر شما، کنترل‌های ارجاع‌شده، یادداشت‌های در بازبینی و درخواست‌های بازگشایی؛ با کلیک به همان صفحه می‌روید.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میانبرها</a:t>
            </a:r>
            <a:endParaRPr lang="en-US" sz="1400" dirty="0"/>
          </a:p>
        </p:txBody>
      </p:sp>
      <p:sp>
        <p:nvSpPr>
          <p:cNvPr id="22" name="Text 19"/>
          <p:cNvSpPr txBox="1"/>
          <p:nvPr/>
        </p:nvSpPr>
        <p:spPr>
          <a:xfrm>
            <a:off x="8046720" y="510646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 صورت‌ها»، «مشاهدهٔ صورت‌ها»، «تحلیل» و «یادداشت‌ها» در بالای صفحه.</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 دسترسی صورت‌های مالی</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دسترسی صورت‌های مالی</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n08">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سه بُعد</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دسترسی می‌گوید چه کسی، روی کدام واحد (و زیرمجموعه‌ها)، در کدام مجموعهٔ صورت، چه کاری انجام دهد.</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عملیات</a:t>
            </a:r>
            <a:endParaRPr lang="en-US" sz="1400" dirty="0"/>
          </a:p>
        </p:txBody>
      </p:sp>
      <p:sp>
        <p:nvSpPr>
          <p:cNvPr id="14" name="Text 11"/>
          <p:cNvSpPr txBox="1"/>
          <p:nvPr/>
        </p:nvSpPr>
        <p:spPr>
          <a:xfrm>
            <a:off x="8046720" y="283601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مشاهده، تهیه، تغییر قالب، فعال‌سازی، تأیید/برگشت، انتشار، بستن دوره و مدیریت دسترسی.</a:t>
            </a:r>
            <a:endParaRPr lang="en-US" sz="1300" dirty="0"/>
          </a:p>
        </p:txBody>
      </p:sp>
      <p:sp>
        <p:nvSpPr>
          <p:cNvPr id="15" name="Shape 12"/>
          <p:cNvSpPr/>
          <p:nvPr/>
        </p:nvSpPr>
        <p:spPr>
          <a:xfrm>
            <a:off x="11393424" y="3642055"/>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64205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64205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تفکیک وظایف</a:t>
            </a:r>
            <a:endParaRPr lang="en-US" sz="1400" dirty="0"/>
          </a:p>
        </p:txBody>
      </p:sp>
      <p:sp>
        <p:nvSpPr>
          <p:cNvPr id="18" name="Text 15"/>
          <p:cNvSpPr txBox="1"/>
          <p:nvPr/>
        </p:nvSpPr>
        <p:spPr>
          <a:xfrm>
            <a:off x="8046720" y="397123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تهیه‌کننده و تأییدکننده، و ویرایشگر قالب و فعال‌کننده را به افراد جدا بدهید.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دسترسی جدید</a:t>
            </a:r>
            <a:endParaRPr lang="en-US" sz="1400" dirty="0"/>
          </a:p>
        </p:txBody>
      </p:sp>
      <p:sp>
        <p:nvSpPr>
          <p:cNvPr id="22" name="Text 19"/>
          <p:cNvSpPr txBox="1"/>
          <p:nvPr/>
        </p:nvSpPr>
        <p:spPr>
          <a:xfrm>
            <a:off x="8046720" y="5106467"/>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«دسترسی جدید»: کد کاربری، واحد، مجموعه و تیک عملیات‌ها؛ فقط دارندهٔ «مدیریت دسترسی» این صفحه را تغییر می‌دهد.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قالب صورت‌ها</a:t>
            </a:r>
            <a:endParaRPr lang="en-US" sz="2600" dirty="0"/>
          </a:p>
        </p:txBody>
      </p:sp>
      <p:sp>
        <p:nvSpPr>
          <p:cNvPr id="3" name="Shape 1"/>
          <p:cNvSpPr/>
          <p:nvPr/>
        </p:nvSpPr>
        <p:spPr>
          <a:xfrm>
            <a:off x="9052560" y="896112"/>
            <a:ext cx="2724912"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قالب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مجموعه‌ها</a:t>
            </a:r>
            <a:endParaRPr lang="en-US" sz="1400" dirty="0"/>
          </a:p>
        </p:txBody>
      </p:sp>
      <p:sp>
        <p:nvSpPr>
          <p:cNvPr id="10" name="Text 7"/>
          <p:cNvSpPr txBox="1"/>
          <p:nvPr/>
        </p:nvSpPr>
        <p:spPr>
          <a:xfrm>
            <a:off x="8046720" y="1700784"/>
            <a:ext cx="3227832" cy="670941"/>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زبانه‌ها: طرح بیمه‌ای (استاندارد ۲۷)، واحد تجاری (استاندارد ۱)، بخش عمومی، مدیریتی.</a:t>
            </a:r>
            <a:endParaRPr lang="en-US" sz="1250" dirty="0"/>
          </a:p>
        </p:txBody>
      </p:sp>
      <p:sp>
        <p:nvSpPr>
          <p:cNvPr id="11" name="Shape 8"/>
          <p:cNvSpPr/>
          <p:nvPr/>
        </p:nvSpPr>
        <p:spPr>
          <a:xfrm>
            <a:off x="11393424" y="2481453"/>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48145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48145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قالب‌های پیش‌فرض</a:t>
            </a:r>
            <a:endParaRPr lang="en-US" sz="1400" dirty="0"/>
          </a:p>
        </p:txBody>
      </p:sp>
      <p:sp>
        <p:nvSpPr>
          <p:cNvPr id="14" name="Text 11"/>
          <p:cNvSpPr txBox="1"/>
          <p:nvPr/>
        </p:nvSpPr>
        <p:spPr>
          <a:xfrm>
            <a:off x="8046720" y="2810637"/>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دکمهٔ «قالب‌های پیش‌فرض» صورت‌ها و یادداشت‌های نمونه را می‌سازد (فقط ستاد).</a:t>
            </a:r>
            <a:endParaRPr lang="en-US" sz="1250" dirty="0"/>
          </a:p>
        </p:txBody>
      </p:sp>
      <p:sp>
        <p:nvSpPr>
          <p:cNvPr id="15" name="Shape 12"/>
          <p:cNvSpPr/>
          <p:nvPr/>
        </p:nvSpPr>
        <p:spPr>
          <a:xfrm>
            <a:off x="11393424" y="3379851"/>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37985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37985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نسخه‌ها</a:t>
            </a:r>
            <a:endParaRPr lang="en-US" sz="1400" dirty="0"/>
          </a:p>
        </p:txBody>
      </p:sp>
      <p:sp>
        <p:nvSpPr>
          <p:cNvPr id="18" name="Text 15"/>
          <p:cNvSpPr txBox="1"/>
          <p:nvPr/>
        </p:nvSpPr>
        <p:spPr>
          <a:xfrm>
            <a:off x="8046720" y="3709035"/>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هر قالب نسخه‌های فعال، پیش‌نویس و بازنشسته دارد؛ فقط پیش‌نویس ویرایش می‌شود.</a:t>
            </a:r>
            <a:endParaRPr lang="en-US" sz="1250" dirty="0"/>
          </a:p>
        </p:txBody>
      </p:sp>
      <p:sp>
        <p:nvSpPr>
          <p:cNvPr id="19" name="Shape 16"/>
          <p:cNvSpPr/>
          <p:nvPr/>
        </p:nvSpPr>
        <p:spPr>
          <a:xfrm>
            <a:off x="11393424" y="4278249"/>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2782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2782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مالکیت</a:t>
            </a:r>
            <a:endParaRPr lang="en-US" sz="1400" dirty="0"/>
          </a:p>
        </p:txBody>
      </p:sp>
      <p:sp>
        <p:nvSpPr>
          <p:cNvPr id="22" name="Text 19"/>
          <p:cNvSpPr txBox="1"/>
          <p:nvPr/>
        </p:nvSpPr>
        <p:spPr>
          <a:xfrm>
            <a:off x="8046720" y="4607433"/>
            <a:ext cx="3227832" cy="670941"/>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«مشترک» برای همهٔ واحدها؛ قالب اختصاصی یک واحد، قالب مشترک هم‌کد را برای آن واحد جایگزین می‌کند.</a:t>
            </a:r>
            <a:endParaRPr lang="en-US" sz="1250" dirty="0"/>
          </a:p>
        </p:txBody>
      </p:sp>
      <p:sp>
        <p:nvSpPr>
          <p:cNvPr id="23" name="Shape 20"/>
          <p:cNvSpPr/>
          <p:nvPr/>
        </p:nvSpPr>
        <p:spPr>
          <a:xfrm>
            <a:off x="11393424" y="5388102"/>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38810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38810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 جدید</a:t>
            </a:r>
            <a:endParaRPr lang="en-US" sz="1400" dirty="0"/>
          </a:p>
        </p:txBody>
      </p:sp>
      <p:sp>
        <p:nvSpPr>
          <p:cNvPr id="26" name="Text 23"/>
          <p:cNvSpPr txBox="1"/>
          <p:nvPr/>
        </p:nvSpPr>
        <p:spPr>
          <a:xfrm>
            <a:off x="8046720" y="5717286"/>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نوع صورت را انتخاب کنید؛ برای «یادداشت» صورت و ردیف والد را هم تعیین کنید.</a:t>
            </a:r>
            <a:endParaRPr lang="en-US" sz="125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ردیف‌های نسخهٔ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2">    </p:cNvPr>
          <p:cNvPicPr>
            <a:picLocks noChangeAspect="1"/>
          </p:cNvPicPr>
          <p:nvPr/>
        </p:nvPicPr>
        <p:blipFill>
          <a:blip r:embed="rId1"/>
          <a:stretch>
            <a:fillRect/>
          </a:stretch>
        </p:blipFill>
        <p:spPr>
          <a:xfrm>
            <a:off x="484632" y="1218006"/>
            <a:ext cx="7260336" cy="5062068"/>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ستون‌ها</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عنوان، نوع، حساب/فرمول، ماهیت و مقدار، یادداشت.</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انواع ردیف</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عنوان، حساب، فرمول، مقدار دستی، متن و خالی.</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ترتیب</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پیکان‌های بالا/پایین، یا نمای «درخت»: کشیدن و رها کردن.</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بررسی قالب</a:t>
            </a:r>
            <a:endParaRPr lang="en-US" sz="1400" dirty="0"/>
          </a:p>
        </p:txBody>
      </p:sp>
      <p:sp>
        <p:nvSpPr>
          <p:cNvPr id="20" name="Text 17"/>
          <p:cNvSpPr txBox="1"/>
          <p:nvPr/>
        </p:nvSpPr>
        <p:spPr>
          <a:xfrm>
            <a:off x="8046720" y="426384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خطاها (مانع فعال‌سازی) و هشدارها را نشان می‌دهد.</a:t>
            </a:r>
            <a:endParaRPr lang="en-US" sz="1300" dirty="0"/>
          </a:p>
        </p:txBody>
      </p:sp>
      <p:sp>
        <p:nvSpPr>
          <p:cNvPr id="21" name="Shape 18"/>
          <p:cNvSpPr/>
          <p:nvPr/>
        </p:nvSpPr>
        <p:spPr>
          <a:xfrm>
            <a:off x="11393424" y="4849978"/>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84997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84997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فعال‌سازی</a:t>
            </a:r>
            <a:endParaRPr lang="en-US" sz="1400" dirty="0"/>
          </a:p>
        </p:txBody>
      </p:sp>
      <p:sp>
        <p:nvSpPr>
          <p:cNvPr id="24" name="Text 21"/>
          <p:cNvSpPr txBox="1"/>
          <p:nvPr/>
        </p:nvSpPr>
        <p:spPr>
          <a:xfrm>
            <a:off x="8046720" y="517916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سال شروع اعتبار را بدهید؛ نسخهٔ فعال قبلی با همان سال بازنشسته می‌شود.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طراح درختی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7">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صفحهٔ نسخهٔ پیش‌نویس، کلید «درخت» کنار «جدول» را بزنید.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جابه‌جایی</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 را با دستگیرهٔ کنارش بکشید و رها کنید؛ نیمهٔ بالا/پایین ⇐ پیش یا پس از ردیف، وسط «عنوان» ⇐ زیرمجموعهٔ آن.</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زیرمجموعه</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ردیف‌های زیر یک عنوان با هم جابه‌جا می‌شوند و تورفتگی خودکار تنظیم می‌شود.</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جمع‌ها</a:t>
            </a:r>
            <a:endParaRPr lang="en-US" sz="1400" dirty="0"/>
          </a:p>
        </p:txBody>
      </p:sp>
      <p:sp>
        <p:nvSpPr>
          <p:cNvPr id="20" name="Text 17"/>
          <p:cNvSpPr txBox="1"/>
          <p:nvPr/>
        </p:nvSpPr>
        <p:spPr>
          <a:xfrm>
            <a:off x="8046720" y="448376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فرمول‌های بازه‌ای مثل SUM(A01:A06) بر اساس ترتیب جدید محاسبه می‌شوند؛ بعد از جابه‌جایی «بررسی قالب» را بزنید.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ویرایش ردیف: انتخاب‌گر حساب و فرمول</a:t>
            </a:r>
            <a:endParaRPr lang="en-US" sz="2600" dirty="0"/>
          </a:p>
        </p:txBody>
      </p:sp>
      <p:sp>
        <p:nvSpPr>
          <p:cNvPr id="3" name="Shape 1"/>
          <p:cNvSpPr/>
          <p:nvPr/>
        </p:nvSpPr>
        <p:spPr>
          <a:xfrm>
            <a:off x="411480" y="1188720"/>
            <a:ext cx="11365992" cy="3255264"/>
          </a:xfrm>
          <a:prstGeom prst="roundRect">
            <a:avLst>
              <a:gd name="adj" fmla="val 224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3">    </p:cNvPr>
          <p:cNvPicPr>
            <a:picLocks noChangeAspect="1"/>
          </p:cNvPicPr>
          <p:nvPr/>
        </p:nvPicPr>
        <p:blipFill>
          <a:blip r:embed="rId1"/>
          <a:stretch>
            <a:fillRect/>
          </a:stretch>
        </p:blipFill>
        <p:spPr>
          <a:xfrm>
            <a:off x="1991534" y="1234440"/>
            <a:ext cx="8205884" cy="3163824"/>
          </a:xfrm>
          <a:prstGeom prst="rect">
            <a:avLst/>
          </a:prstGeom>
        </p:spPr>
      </p:pic>
      <p:sp>
        <p:nvSpPr>
          <p:cNvPr id="5" name="Shape 2"/>
          <p:cNvSpPr/>
          <p:nvPr/>
        </p:nvSpPr>
        <p:spPr>
          <a:xfrm>
            <a:off x="9073134" y="4672584"/>
            <a:ext cx="2704338" cy="1636776"/>
          </a:xfrm>
          <a:prstGeom prst="roundRect">
            <a:avLst>
              <a:gd name="adj" fmla="val 5587"/>
            </a:avLst>
          </a:prstGeom>
          <a:solidFill>
            <a:srgbClr val="FFFFFF"/>
          </a:solidFill>
          <a:ln w="6350">
            <a:solidFill>
              <a:srgbClr val="D9DEE7"/>
            </a:solidFill>
            <a:prstDash val="solid"/>
          </a:ln>
        </p:spPr>
      </p:sp>
      <p:sp>
        <p:nvSpPr>
          <p:cNvPr id="6" name="Shape 3"/>
          <p:cNvSpPr/>
          <p:nvPr/>
        </p:nvSpPr>
        <p:spPr>
          <a:xfrm>
            <a:off x="11274552" y="4809744"/>
            <a:ext cx="365760" cy="365760"/>
          </a:xfrm>
          <a:prstGeom prst="ellipse">
            <a:avLst/>
          </a:prstGeom>
          <a:solidFill>
            <a:srgbClr val="C9A227"/>
          </a:solidFill>
          <a:ln w="12700">
            <a:solidFill>
              <a:srgbClr val="C9A227"/>
            </a:solidFill>
            <a:prstDash val="solid"/>
          </a:ln>
        </p:spPr>
      </p:sp>
      <p:sp>
        <p:nvSpPr>
          <p:cNvPr id="7" name="Text 4"/>
          <p:cNvSpPr txBox="1"/>
          <p:nvPr/>
        </p:nvSpPr>
        <p:spPr>
          <a:xfrm>
            <a:off x="11274552" y="4809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8" name="Text 5"/>
          <p:cNvSpPr txBox="1"/>
          <p:nvPr/>
        </p:nvSpPr>
        <p:spPr>
          <a:xfrm>
            <a:off x="9256014" y="4791456"/>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انتخاب‌گر</a:t>
            </a:r>
            <a:endParaRPr lang="en-US" sz="1400" dirty="0"/>
          </a:p>
        </p:txBody>
      </p:sp>
      <p:sp>
        <p:nvSpPr>
          <p:cNvPr id="9" name="Text 6"/>
          <p:cNvSpPr txBox="1"/>
          <p:nvPr/>
        </p:nvSpPr>
        <p:spPr>
          <a:xfrm>
            <a:off x="9256014" y="5239512"/>
            <a:ext cx="2338578" cy="996696"/>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1301 معین دقیق · 13* پیشوند · 1301..1309 بازه · !1305 استثنا · [D]/[C] فقط مانده بدهکار/بستانکار.</a:t>
            </a:r>
            <a:endParaRPr lang="en-US" sz="1250" dirty="0"/>
          </a:p>
        </p:txBody>
      </p:sp>
      <p:sp>
        <p:nvSpPr>
          <p:cNvPr id="10" name="Shape 7"/>
          <p:cNvSpPr/>
          <p:nvPr/>
        </p:nvSpPr>
        <p:spPr>
          <a:xfrm>
            <a:off x="6185916" y="4672584"/>
            <a:ext cx="2704338" cy="1636776"/>
          </a:xfrm>
          <a:prstGeom prst="roundRect">
            <a:avLst>
              <a:gd name="adj" fmla="val 5587"/>
            </a:avLst>
          </a:prstGeom>
          <a:solidFill>
            <a:srgbClr val="FFFFFF"/>
          </a:solidFill>
          <a:ln w="6350">
            <a:solidFill>
              <a:srgbClr val="D9DEE7"/>
            </a:solidFill>
            <a:prstDash val="solid"/>
          </a:ln>
        </p:spPr>
      </p:sp>
      <p:sp>
        <p:nvSpPr>
          <p:cNvPr id="11" name="Shape 8"/>
          <p:cNvSpPr/>
          <p:nvPr/>
        </p:nvSpPr>
        <p:spPr>
          <a:xfrm>
            <a:off x="8387334" y="4809744"/>
            <a:ext cx="365760" cy="365760"/>
          </a:xfrm>
          <a:prstGeom prst="ellipse">
            <a:avLst/>
          </a:prstGeom>
          <a:solidFill>
            <a:srgbClr val="C9A227"/>
          </a:solidFill>
          <a:ln w="12700">
            <a:solidFill>
              <a:srgbClr val="C9A227"/>
            </a:solidFill>
            <a:prstDash val="solid"/>
          </a:ln>
        </p:spPr>
      </p:sp>
      <p:sp>
        <p:nvSpPr>
          <p:cNvPr id="12" name="Text 9"/>
          <p:cNvSpPr txBox="1"/>
          <p:nvPr/>
        </p:nvSpPr>
        <p:spPr>
          <a:xfrm>
            <a:off x="8387334" y="4809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6368796" y="4791456"/>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نوع مقدار</a:t>
            </a:r>
            <a:endParaRPr lang="en-US" sz="1400" dirty="0"/>
          </a:p>
        </p:txBody>
      </p:sp>
      <p:sp>
        <p:nvSpPr>
          <p:cNvPr id="14" name="Text 11"/>
          <p:cNvSpPr txBox="1"/>
          <p:nvPr/>
        </p:nvSpPr>
        <p:spPr>
          <a:xfrm>
            <a:off x="6368796" y="5239512"/>
            <a:ext cx="2338578" cy="996696"/>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مانده پایان، مانده ابتدا، گردش خالص، گردش بدهکار یا بستانکار.</a:t>
            </a:r>
            <a:endParaRPr lang="en-US" sz="1250" dirty="0"/>
          </a:p>
        </p:txBody>
      </p:sp>
      <p:sp>
        <p:nvSpPr>
          <p:cNvPr id="15" name="Shape 12"/>
          <p:cNvSpPr/>
          <p:nvPr/>
        </p:nvSpPr>
        <p:spPr>
          <a:xfrm>
            <a:off x="3298698" y="4672584"/>
            <a:ext cx="2704338" cy="1636776"/>
          </a:xfrm>
          <a:prstGeom prst="roundRect">
            <a:avLst>
              <a:gd name="adj" fmla="val 5587"/>
            </a:avLst>
          </a:prstGeom>
          <a:solidFill>
            <a:srgbClr val="FFFFFF"/>
          </a:solidFill>
          <a:ln w="6350">
            <a:solidFill>
              <a:srgbClr val="D9DEE7"/>
            </a:solidFill>
            <a:prstDash val="solid"/>
          </a:ln>
        </p:spPr>
      </p:sp>
      <p:sp>
        <p:nvSpPr>
          <p:cNvPr id="16" name="Shape 13"/>
          <p:cNvSpPr/>
          <p:nvPr/>
        </p:nvSpPr>
        <p:spPr>
          <a:xfrm>
            <a:off x="5500116" y="4809744"/>
            <a:ext cx="365760" cy="365760"/>
          </a:xfrm>
          <a:prstGeom prst="ellipse">
            <a:avLst/>
          </a:prstGeom>
          <a:solidFill>
            <a:srgbClr val="C9A227"/>
          </a:solidFill>
          <a:ln w="12700">
            <a:solidFill>
              <a:srgbClr val="C9A227"/>
            </a:solidFill>
            <a:prstDash val="solid"/>
          </a:ln>
        </p:spPr>
      </p:sp>
      <p:sp>
        <p:nvSpPr>
          <p:cNvPr id="17" name="Text 14"/>
          <p:cNvSpPr txBox="1"/>
          <p:nvPr/>
        </p:nvSpPr>
        <p:spPr>
          <a:xfrm>
            <a:off x="5500116" y="4809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txBox="1"/>
          <p:nvPr/>
        </p:nvSpPr>
        <p:spPr>
          <a:xfrm>
            <a:off x="3481578" y="4791456"/>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فرمول</a:t>
            </a:r>
            <a:endParaRPr lang="en-US" sz="1400" dirty="0"/>
          </a:p>
        </p:txBody>
      </p:sp>
      <p:sp>
        <p:nvSpPr>
          <p:cNvPr id="19" name="Text 16"/>
          <p:cNvSpPr txBox="1"/>
          <p:nvPr/>
        </p:nvSpPr>
        <p:spPr>
          <a:xfrm>
            <a:off x="3481578" y="5239512"/>
            <a:ext cx="2338578" cy="996696"/>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مثل SUM(A01:A08)، A99+L99، ROUND، IF، PRIOR و STMT(صورت دیگر، ردیف).</a:t>
            </a:r>
            <a:endParaRPr lang="en-US" sz="1250" dirty="0"/>
          </a:p>
        </p:txBody>
      </p:sp>
      <p:sp>
        <p:nvSpPr>
          <p:cNvPr id="20" name="Shape 17"/>
          <p:cNvSpPr/>
          <p:nvPr/>
        </p:nvSpPr>
        <p:spPr>
          <a:xfrm>
            <a:off x="411480" y="4672584"/>
            <a:ext cx="2704338" cy="1636776"/>
          </a:xfrm>
          <a:prstGeom prst="roundRect">
            <a:avLst>
              <a:gd name="adj" fmla="val 5587"/>
            </a:avLst>
          </a:prstGeom>
          <a:solidFill>
            <a:srgbClr val="FFFFFF"/>
          </a:solidFill>
          <a:ln w="6350">
            <a:solidFill>
              <a:srgbClr val="D9DEE7"/>
            </a:solidFill>
            <a:prstDash val="solid"/>
          </a:ln>
        </p:spPr>
      </p:sp>
      <p:sp>
        <p:nvSpPr>
          <p:cNvPr id="21" name="Shape 18"/>
          <p:cNvSpPr/>
          <p:nvPr/>
        </p:nvSpPr>
        <p:spPr>
          <a:xfrm>
            <a:off x="2612898" y="4809744"/>
            <a:ext cx="365760" cy="365760"/>
          </a:xfrm>
          <a:prstGeom prst="ellipse">
            <a:avLst/>
          </a:prstGeom>
          <a:solidFill>
            <a:srgbClr val="C9A227"/>
          </a:solidFill>
          <a:ln w="12700">
            <a:solidFill>
              <a:srgbClr val="C9A227"/>
            </a:solidFill>
            <a:prstDash val="solid"/>
          </a:ln>
        </p:spPr>
      </p:sp>
      <p:sp>
        <p:nvSpPr>
          <p:cNvPr id="22" name="Text 19"/>
          <p:cNvSpPr txBox="1"/>
          <p:nvPr/>
        </p:nvSpPr>
        <p:spPr>
          <a:xfrm>
            <a:off x="2612898" y="4809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3" name="Text 20"/>
          <p:cNvSpPr txBox="1"/>
          <p:nvPr/>
        </p:nvSpPr>
        <p:spPr>
          <a:xfrm>
            <a:off x="594360" y="4791456"/>
            <a:ext cx="1927098"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قالب‌بندی</a:t>
            </a:r>
            <a:endParaRPr lang="en-US" sz="1400" dirty="0"/>
          </a:p>
        </p:txBody>
      </p:sp>
      <p:sp>
        <p:nvSpPr>
          <p:cNvPr id="24" name="Text 21"/>
          <p:cNvSpPr txBox="1"/>
          <p:nvPr/>
        </p:nvSpPr>
        <p:spPr>
          <a:xfrm>
            <a:off x="594360" y="5239512"/>
            <a:ext cx="2338578" cy="996696"/>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تورفتگی، پررنگ، خط بالا/دو خط زیر، ستون داخلی، پنهان اگر صفر، صفحهٔ جدید.</a:t>
            </a:r>
            <a:endParaRPr lang="en-US" sz="125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پیش‌نمایش زندهٔ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3b">    </p:cNvPr>
          <p:cNvPicPr>
            <a:picLocks noChangeAspect="1"/>
          </p:cNvPicPr>
          <p:nvPr/>
        </p:nvPicPr>
        <p:blipFill>
          <a:blip r:embed="rId1"/>
          <a:stretch>
            <a:fillRect/>
          </a:stretch>
        </p:blipFill>
        <p:spPr>
          <a:xfrm>
            <a:off x="583275" y="1216152"/>
            <a:ext cx="7063049"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کاربرد</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 از فعال‌سازی، قالب پیش‌نویس را روی اسناد واقعی امتحان کنید؛ چیزی ذخیره نمی‌شود.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پارامترها</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سال، پایان دوره، حداقل وضعیت سند، با زیرمجموعه‌ها و واحد مبلغ.</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واترمارک</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برچسب «آزمایشی» یعنی این عدد رسمی نیست.</a:t>
            </a:r>
            <a:endParaRPr lang="en-US" sz="1300" dirty="0"/>
          </a:p>
        </p:txBody>
      </p:sp>
      <p:sp>
        <p:nvSpPr>
          <p:cNvPr id="17" name="Text 1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نگاشت حساب‌ها</a:t>
            </a:r>
            <a:endParaRPr lang="en-US" sz="2600" dirty="0"/>
          </a:p>
        </p:txBody>
      </p:sp>
      <p:sp>
        <p:nvSpPr>
          <p:cNvPr id="3" name="Shape 1"/>
          <p:cNvSpPr/>
          <p:nvPr/>
        </p:nvSpPr>
        <p:spPr>
          <a:xfrm>
            <a:off x="8974836" y="896112"/>
            <a:ext cx="28026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نگاشت حساب‌ها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1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نمای حساب‌محور</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معین کدینگ به کدام ردیف و صورت رفته است.</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بدون نگاشت</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معین‌هایی که در هیچ صورت اصلی نیستند (قرمز) — اعدادشان از صورت جا می‌ماند.</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دوبار شمرده</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معینی که در یک صورت در دو ردیف آمده (نارنجی).</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اصلاح</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کلیک روی ردیف ⇐ قالب؛ یا «ورود از Excel» و «اعمال پیشنهادها» روی پیش‌نویس.</a:t>
            </a:r>
            <a:endParaRPr lang="en-US" sz="1300" dirty="0"/>
          </a:p>
        </p:txBody>
      </p:sp>
      <p:sp>
        <p:nvSpPr>
          <p:cNvPr id="23" name="Shape 20"/>
          <p:cNvSpPr/>
          <p:nvPr/>
        </p:nvSpPr>
        <p:spPr>
          <a:xfrm>
            <a:off x="11393424" y="5032858"/>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03285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03285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پیشنهاد</a:t>
            </a:r>
            <a:endParaRPr lang="en-US" sz="1400" dirty="0"/>
          </a:p>
        </p:txBody>
      </p:sp>
      <p:sp>
        <p:nvSpPr>
          <p:cNvPr id="26" name="Text 23"/>
          <p:cNvSpPr txBox="1"/>
          <p:nvPr/>
        </p:nvSpPr>
        <p:spPr>
          <a:xfrm>
            <a:off x="8046720" y="536204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برای معین بی‌نگاشت، ردیفی که معین‌های هم‌گروهش در آن هستند پیشنهاد می‌شود؛ بعد از اعمال، قالب را فعال کنید.</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قواعد کنترل صورت‌ها</a:t>
            </a:r>
            <a:endParaRPr lang="en-US" sz="2600" dirty="0"/>
          </a:p>
        </p:txBody>
      </p:sp>
      <p:sp>
        <p:nvSpPr>
          <p:cNvPr id="3" name="Shape 1"/>
          <p:cNvSpPr/>
          <p:nvPr/>
        </p:nvSpPr>
        <p:spPr>
          <a:xfrm>
            <a:off x="8663940" y="896112"/>
            <a:ext cx="3113532"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کنترل‌های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13">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شکل قاعده</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عبارت چپ = عبارت راست با اختلاف مجاز؛ مثل «نقد صورت جریان = موجودی نقد خالص دارایی‌ها».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شدت</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اطلاع، هشدار، یا مسدودکننده (مانع ارسال برای بازبینی).</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ثابت</a:t>
            </a:r>
            <a:endParaRPr lang="en-US" sz="1400" dirty="0"/>
          </a:p>
        </p:txBody>
      </p:sp>
      <p:sp>
        <p:nvSpPr>
          <p:cNvPr id="18" name="Text 15"/>
          <p:cNvSpPr txBox="1"/>
          <p:nvPr/>
        </p:nvSpPr>
        <p:spPr>
          <a:xfrm>
            <a:off x="8046720" y="3751326"/>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تراز آزمایشی، پوشش حساب، مانده معکوس، جمع یادداشت، اسناد خارج از سال، حذف فی‌مابین (V-07) و قفل دوره (V-11) خودکار اجرا می‌شوند.</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فهرست اجراها</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تهیهٔ صورت‌های مالی</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0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هر ردیف یک اجرا</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شماره، مجموعه، دوره، دامنه (ترکیبی/جداگانه)، وضعیت و تاریخ تهیه.</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وضعیت‌ها</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در بازبینی، تأییدشده، منتشرشده، جایگزین‌شده.</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تهیهٔ صورت‌ها</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بالای صفحه ویزارد را باز می‌کند.</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حذف</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پیش‌نویس و جایگزین‌شده حذف می‌شوند.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ویزارد تهیهٔ صورت‌ها</a:t>
            </a:r>
            <a:endParaRPr lang="en-US" sz="26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txBox="1"/>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txBox="1"/>
          <p:nvPr/>
        </p:nvSpPr>
        <p:spPr>
          <a:xfrm>
            <a:off x="8119872"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مجموعه و دوره</a:t>
            </a:r>
            <a:endParaRPr lang="en-US" sz="1500" dirty="0"/>
          </a:p>
        </p:txBody>
      </p:sp>
      <p:sp>
        <p:nvSpPr>
          <p:cNvPr id="6" name="Shape 4"/>
          <p:cNvSpPr/>
          <p:nvPr/>
        </p:nvSpPr>
        <p:spPr>
          <a:xfrm>
            <a:off x="8119872"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05">    </p:cNvPr>
          <p:cNvPicPr>
            <a:picLocks noChangeAspect="1"/>
          </p:cNvPicPr>
          <p:nvPr/>
        </p:nvPicPr>
        <p:blipFill>
          <a:blip r:embed="rId1"/>
          <a:stretch>
            <a:fillRect/>
          </a:stretch>
        </p:blipFill>
        <p:spPr>
          <a:xfrm>
            <a:off x="8165592" y="1930222"/>
            <a:ext cx="3566160" cy="2403196"/>
          </a:xfrm>
          <a:prstGeom prst="rect">
            <a:avLst/>
          </a:prstGeom>
        </p:spPr>
      </p:pic>
      <p:sp>
        <p:nvSpPr>
          <p:cNvPr id="8" name="Text 5"/>
          <p:cNvSpPr txBox="1"/>
          <p:nvPr/>
        </p:nvSpPr>
        <p:spPr>
          <a:xfrm>
            <a:off x="8119872"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مجموعهٔ صورت، سال مالی و «پایان دوره» (از ابتدای سال تا پایان آن ماه).</a:t>
            </a:r>
            <a:endParaRPr lang="en-US" sz="130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txBox="1"/>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4265676"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دامنه و اسناد</a:t>
            </a:r>
            <a:endParaRPr lang="en-US" sz="1500" dirty="0"/>
          </a:p>
        </p:txBody>
      </p:sp>
      <p:sp>
        <p:nvSpPr>
          <p:cNvPr id="12" name="Shape 9"/>
          <p:cNvSpPr/>
          <p:nvPr/>
        </p:nvSpPr>
        <p:spPr>
          <a:xfrm>
            <a:off x="4265676"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3" name="Image 1" descr="fs06">    </p:cNvPr>
          <p:cNvPicPr>
            <a:picLocks noChangeAspect="1"/>
          </p:cNvPicPr>
          <p:nvPr/>
        </p:nvPicPr>
        <p:blipFill>
          <a:blip r:embed="rId2"/>
          <a:stretch>
            <a:fillRect/>
          </a:stretch>
        </p:blipFill>
        <p:spPr>
          <a:xfrm>
            <a:off x="4311396" y="1930222"/>
            <a:ext cx="3566160" cy="2403196"/>
          </a:xfrm>
          <a:prstGeom prst="rect">
            <a:avLst/>
          </a:prstGeom>
        </p:spPr>
      </p:pic>
      <p:sp>
        <p:nvSpPr>
          <p:cNvPr id="14" name="Text 10"/>
          <p:cNvSpPr txBox="1"/>
          <p:nvPr/>
        </p:nvSpPr>
        <p:spPr>
          <a:xfrm>
            <a:off x="4265676"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صورت ترکیبی (همهٔ زیرمجموعه‌ها) یا جداگانه؛ حداقل وضعیت سند (پیش‌فرض تأیید دائم).</a:t>
            </a:r>
            <a:endParaRPr lang="en-US" sz="130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txBox="1"/>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txBox="1"/>
          <p:nvPr/>
        </p:nvSpPr>
        <p:spPr>
          <a:xfrm>
            <a:off x="411480"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گزینه‌ها و اجرا</a:t>
            </a:r>
            <a:endParaRPr lang="en-US" sz="1500" dirty="0"/>
          </a:p>
        </p:txBody>
      </p:sp>
      <p:sp>
        <p:nvSpPr>
          <p:cNvPr id="18" name="Shape 14"/>
          <p:cNvSpPr/>
          <p:nvPr/>
        </p:nvSpPr>
        <p:spPr>
          <a:xfrm>
            <a:off x="411480"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9" name="Image 2" descr="fs07">    </p:cNvPr>
          <p:cNvPicPr>
            <a:picLocks noChangeAspect="1"/>
          </p:cNvPicPr>
          <p:nvPr/>
        </p:nvPicPr>
        <p:blipFill>
          <a:blip r:embed="rId3"/>
          <a:stretch>
            <a:fillRect/>
          </a:stretch>
        </p:blipFill>
        <p:spPr>
          <a:xfrm>
            <a:off x="457200" y="1904467"/>
            <a:ext cx="3566160" cy="2454707"/>
          </a:xfrm>
          <a:prstGeom prst="rect">
            <a:avLst/>
          </a:prstGeom>
        </p:spPr>
      </p:pic>
      <p:sp>
        <p:nvSpPr>
          <p:cNvPr id="20" name="Text 15"/>
          <p:cNvSpPr txBox="1"/>
          <p:nvPr/>
        </p:nvSpPr>
        <p:spPr>
          <a:xfrm>
            <a:off x="411480"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sz="1300" dirty="0"/>
          </a:p>
        </p:txBody>
      </p:sp>
      <p:sp>
        <p:nvSpPr>
          <p:cNvPr id="21"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مشاهدهٔ صورت مالی</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8">    </p:cNvPr>
          <p:cNvPicPr>
            <a:picLocks noChangeAspect="1"/>
          </p:cNvPicPr>
          <p:nvPr/>
        </p:nvPicPr>
        <p:blipFill>
          <a:blip r:embed="rId1"/>
          <a:stretch>
            <a:fillRect/>
          </a:stretch>
        </p:blipFill>
        <p:spPr>
          <a:xfrm>
            <a:off x="689407" y="1216152"/>
            <a:ext cx="6850786"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 رسمی</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عنوان سه‌سطری، ستون یادداشت، سال جاری و قبل، خط جمع و پرانتز برای منفی.</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ابزارها</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واحد مبلغ، تغییرات، تحلیل عمودی، فشرده و جستجو؛ خروجی Excel، Word یادداشت‌ها، XBRL و «بستهٔ رسمی / PDF».</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صورت، یادداشت‌ها، کنترل‌ها و «کاربرگ ترکیب / تلفیق».</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انگشت</a:t>
            </a:r>
            <a:endParaRPr lang="en-US" sz="1400" dirty="0"/>
          </a:p>
        </p:txBody>
      </p:sp>
      <p:sp>
        <p:nvSpPr>
          <p:cNvPr id="20" name="Text 17"/>
          <p:cNvSpPr txBox="1"/>
          <p:nvPr/>
        </p:nvSpPr>
        <p:spPr>
          <a:xfrm>
            <a:off x="8046720" y="448376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Hash محتوا برای اطمینان از تغییرنکردن اعداد.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شمارهٔ یادداشت</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کلیک روی شماره همان یادداشت را باز می‌کند.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یادداشت‌های عددی و کنترل جمع</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10">    </p:cNvPr>
          <p:cNvPicPr>
            <a:picLocks noChangeAspect="1"/>
          </p:cNvPicPr>
          <p:nvPr/>
        </p:nvPicPr>
        <p:blipFill>
          <a:blip r:embed="rId1"/>
          <a:stretch>
            <a:fillRect/>
          </a:stretch>
        </p:blipFill>
        <p:spPr>
          <a:xfrm>
            <a:off x="484632" y="1302710"/>
            <a:ext cx="7260336" cy="4892660"/>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یادداشت</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ریز ردیف صورت؛ مثلاً یادداشت ۵ «موجودی نقد» با صندوق، بانک و تنخواه.</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شماره‌گذاری</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خودکار به ترتیب ارائه؛ عنوان‌های داخل یادداشت ۵-۱، ۵-۲ می‌شوند.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 V-08</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برچسب سبز «جمع یادداشت = ردیف صورت»؛ قرمز یعنی مغایرت و مانع ارسال.</a:t>
            </a:r>
            <a:endParaRPr lang="en-US" sz="1300" dirty="0"/>
          </a:p>
        </p:txBody>
      </p:sp>
      <p:sp>
        <p:nvSpPr>
          <p:cNvPr id="17" name="Text 1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۹ — Drill-down از عدد صورت تا سند</a:t>
            </a:r>
            <a:endParaRPr lang="en-US" sz="26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txBox="1"/>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txBox="1"/>
          <p:nvPr/>
        </p:nvSpPr>
        <p:spPr>
          <a:xfrm>
            <a:off x="8119872"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معین‌های تشکیل‌دهنده</a:t>
            </a:r>
            <a:endParaRPr lang="en-US" sz="1500" dirty="0"/>
          </a:p>
        </p:txBody>
      </p:sp>
      <p:sp>
        <p:nvSpPr>
          <p:cNvPr id="6" name="Shape 4"/>
          <p:cNvSpPr/>
          <p:nvPr/>
        </p:nvSpPr>
        <p:spPr>
          <a:xfrm>
            <a:off x="8119872"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12">    </p:cNvPr>
          <p:cNvPicPr>
            <a:picLocks noChangeAspect="1"/>
          </p:cNvPicPr>
          <p:nvPr/>
        </p:nvPicPr>
        <p:blipFill>
          <a:blip r:embed="rId1"/>
          <a:stretch>
            <a:fillRect/>
          </a:stretch>
        </p:blipFill>
        <p:spPr>
          <a:xfrm>
            <a:off x="8165592" y="2468684"/>
            <a:ext cx="3566160" cy="2103511"/>
          </a:xfrm>
          <a:prstGeom prst="rect">
            <a:avLst/>
          </a:prstGeom>
        </p:spPr>
      </p:pic>
      <p:sp>
        <p:nvSpPr>
          <p:cNvPr id="8" name="Text 5"/>
          <p:cNvSpPr txBox="1"/>
          <p:nvPr/>
        </p:nvSpPr>
        <p:spPr>
          <a:xfrm>
            <a:off x="8119872"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هر مبلغ ردیف «حساب» کلیک کنید (یا Enter)؛ پنل کناری سهم هر معین را نشان می‌دهد.</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txBox="1"/>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4265676"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تفکیک به واحدها</a:t>
            </a:r>
            <a:endParaRPr lang="en-US" sz="1500" dirty="0"/>
          </a:p>
        </p:txBody>
      </p:sp>
      <p:sp>
        <p:nvSpPr>
          <p:cNvPr id="12" name="Shape 9"/>
          <p:cNvSpPr/>
          <p:nvPr/>
        </p:nvSpPr>
        <p:spPr>
          <a:xfrm>
            <a:off x="4265676"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3" name="Image 1" descr="fs12b">    </p:cNvPr>
          <p:cNvPicPr>
            <a:picLocks noChangeAspect="1"/>
          </p:cNvPicPr>
          <p:nvPr/>
        </p:nvPicPr>
        <p:blipFill>
          <a:blip r:embed="rId2"/>
          <a:stretch>
            <a:fillRect/>
          </a:stretch>
        </p:blipFill>
        <p:spPr>
          <a:xfrm>
            <a:off x="4311396" y="2319368"/>
            <a:ext cx="3566160" cy="2402144"/>
          </a:xfrm>
          <a:prstGeom prst="rect">
            <a:avLst/>
          </a:prstGeom>
        </p:spPr>
      </p:pic>
      <p:sp>
        <p:nvSpPr>
          <p:cNvPr id="14" name="Text 10"/>
          <p:cNvSpPr txBox="1"/>
          <p:nvPr/>
        </p:nvSpPr>
        <p:spPr>
          <a:xfrm>
            <a:off x="4265676"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«به تفکیک واحد» سهم هر اداره کل را می‌دهد؛ با مسیر بالای پنل برگردید.</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txBox="1"/>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txBox="1"/>
          <p:nvPr/>
        </p:nvSpPr>
        <p:spPr>
          <a:xfrm>
            <a:off x="411480"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اسناد حسابداری</a:t>
            </a:r>
            <a:endParaRPr lang="en-US" sz="1500" dirty="0"/>
          </a:p>
        </p:txBody>
      </p:sp>
      <p:sp>
        <p:nvSpPr>
          <p:cNvPr id="18" name="Shape 14"/>
          <p:cNvSpPr/>
          <p:nvPr/>
        </p:nvSpPr>
        <p:spPr>
          <a:xfrm>
            <a:off x="411480"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9" name="Image 2" descr="fs12d">    </p:cNvPr>
          <p:cNvPicPr>
            <a:picLocks noChangeAspect="1"/>
          </p:cNvPicPr>
          <p:nvPr/>
        </p:nvPicPr>
        <p:blipFill>
          <a:blip r:embed="rId3"/>
          <a:stretch>
            <a:fillRect/>
          </a:stretch>
        </p:blipFill>
        <p:spPr>
          <a:xfrm>
            <a:off x="457200" y="2050162"/>
            <a:ext cx="3566160" cy="2940556"/>
          </a:xfrm>
          <a:prstGeom prst="rect">
            <a:avLst/>
          </a:prstGeom>
        </p:spPr>
      </p:pic>
      <p:sp>
        <p:nvSpPr>
          <p:cNvPr id="20" name="Text 15"/>
          <p:cNvSpPr txBox="1"/>
          <p:nvPr/>
        </p:nvSpPr>
        <p:spPr>
          <a:xfrm>
            <a:off x="411480"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«اسناد …» بزنید: ریز اسناد با جمع بدهکار/بستانکار؛ آیکون کنار هر ردیف سند را باز می‌کند. هر سطح Excel دارد.</a:t>
            </a:r>
            <a:endParaRPr lang="en-US" sz="1250" dirty="0"/>
          </a:p>
        </p:txBody>
      </p:sp>
      <p:sp>
        <p:nvSpPr>
          <p:cNvPr id="21"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۱۰ — کنترل‌ها، مقادیر دستی و گردش تأیید</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3">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کنترل با شدت، نتیجه و اختلاف؛ مسدودکنندهٔ ناموفق جلوی «ارسال برای بازبینی» را می‌گیرد.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مقادیر دستی</a:t>
            </a:r>
            <a:endParaRPr lang="en-US" sz="1400" dirty="0"/>
          </a:p>
        </p:txBody>
      </p:sp>
      <p:sp>
        <p:nvSpPr>
          <p:cNvPr id="12" name="Text 9"/>
          <p:cNvSpPr txBox="1"/>
          <p:nvPr/>
        </p:nvSpPr>
        <p:spPr>
          <a:xfrm>
            <a:off x="8046720" y="265313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ردیف‌های «مقدار دستی» را با دلیل اجباری وارد کنید؛ اجرای تازه ساخته می‌شود.</a:t>
            </a:r>
            <a:endParaRPr lang="en-US" sz="1300" dirty="0"/>
          </a:p>
        </p:txBody>
      </p:sp>
      <p:sp>
        <p:nvSpPr>
          <p:cNvPr id="13" name="Shape 10"/>
          <p:cNvSpPr/>
          <p:nvPr/>
        </p:nvSpPr>
        <p:spPr>
          <a:xfrm>
            <a:off x="11393424" y="3459175"/>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گردش</a:t>
            </a:r>
            <a:endParaRPr lang="en-US" sz="1400" dirty="0"/>
          </a:p>
        </p:txBody>
      </p:sp>
      <p:sp>
        <p:nvSpPr>
          <p:cNvPr id="16" name="Text 13"/>
          <p:cNvSpPr txBox="1"/>
          <p:nvPr/>
        </p:nvSpPr>
        <p:spPr>
          <a:xfrm>
            <a:off x="8046720" y="3788359"/>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بازبینی ⇐ تأیید (یک یا چند مرحله) ⇐ انتشار؛ برگشت با دلیل.</a:t>
            </a:r>
            <a:endParaRPr lang="en-US" sz="1300" dirty="0"/>
          </a:p>
        </p:txBody>
      </p:sp>
      <p:sp>
        <p:nvSpPr>
          <p:cNvPr id="17" name="Shape 14"/>
          <p:cNvSpPr/>
          <p:nvPr/>
        </p:nvSpPr>
        <p:spPr>
          <a:xfrm>
            <a:off x="11393424" y="437449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37449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37449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تفکیک وظایف</a:t>
            </a:r>
            <a:endParaRPr lang="en-US" sz="1400" dirty="0"/>
          </a:p>
        </p:txBody>
      </p:sp>
      <p:sp>
        <p:nvSpPr>
          <p:cNvPr id="20" name="Text 17"/>
          <p:cNvSpPr txBox="1"/>
          <p:nvPr/>
        </p:nvSpPr>
        <p:spPr>
          <a:xfrm>
            <a:off x="8046720" y="470367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تهیه‌کننده تأیید و منتشر نمی‌کند؛ انتشار، نسخهٔ منتشرشدهٔ قبلی همان دوره را «جایگزین‌شده» می‌کند.</a:t>
            </a:r>
            <a:endParaRPr lang="en-US" sz="1300" dirty="0"/>
          </a:p>
        </p:txBody>
      </p:sp>
      <p:sp>
        <p:nvSpPr>
          <p:cNvPr id="21" name="Shape 18"/>
          <p:cNvSpPr/>
          <p:nvPr/>
        </p:nvSpPr>
        <p:spPr>
          <a:xfrm>
            <a:off x="11393424" y="5509717"/>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509717"/>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509717"/>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کهنگی و مقایسه</a:t>
            </a:r>
            <a:endParaRPr lang="en-US" sz="1400" dirty="0"/>
          </a:p>
        </p:txBody>
      </p:sp>
      <p:sp>
        <p:nvSpPr>
          <p:cNvPr id="24" name="Text 21"/>
          <p:cNvSpPr txBox="1"/>
          <p:nvPr/>
        </p:nvSpPr>
        <p:spPr>
          <a:xfrm>
            <a:off x="8046720" y="5838901"/>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نوار زرد یعنی اسناد بعد از اجرا عوض شده‌اند؛ «مقایسه با اجرای دیگر» تفاوت ردیف‌ها را می‌دهد.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۱۱ — مراحل تأیید و بستن دوره</a:t>
            </a:r>
            <a:endParaRPr lang="en-US" sz="2600" dirty="0"/>
          </a:p>
        </p:txBody>
      </p:sp>
      <p:sp>
        <p:nvSpPr>
          <p:cNvPr id="3" name="Shape 1"/>
          <p:cNvSpPr/>
          <p:nvPr/>
        </p:nvSpPr>
        <p:spPr>
          <a:xfrm>
            <a:off x="7653528" y="896112"/>
            <a:ext cx="412394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گردش تأیید صورت‌ها / بستن دوره</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گردش تأیید صورت‌ها</a:t>
            </a:r>
            <a:endParaRPr lang="en-US" sz="1200" dirty="0"/>
          </a:p>
        </p:txBody>
      </p:sp>
      <p:sp>
        <p:nvSpPr>
          <p:cNvPr id="6" name="Shape 4"/>
          <p:cNvSpPr/>
          <p:nvPr/>
        </p:nvSpPr>
        <p:spPr>
          <a:xfrm>
            <a:off x="6208776" y="1618488"/>
            <a:ext cx="5568696" cy="2349856"/>
          </a:xfrm>
          <a:prstGeom prst="roundRect">
            <a:avLst>
              <a:gd name="adj" fmla="val 311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2s">    </p:cNvPr>
          <p:cNvPicPr>
            <a:picLocks noChangeAspect="1"/>
          </p:cNvPicPr>
          <p:nvPr/>
        </p:nvPicPr>
        <p:blipFill>
          <a:blip r:embed="rId1"/>
          <a:stretch>
            <a:fillRect/>
          </a:stretch>
        </p:blipFill>
        <p:spPr>
          <a:xfrm>
            <a:off x="6254496" y="1728394"/>
            <a:ext cx="5477256" cy="2130044"/>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بستن دوره</a:t>
            </a:r>
            <a:endParaRPr lang="en-US" sz="1200" dirty="0"/>
          </a:p>
        </p:txBody>
      </p:sp>
      <p:sp>
        <p:nvSpPr>
          <p:cNvPr id="9" name="Shape 6"/>
          <p:cNvSpPr/>
          <p:nvPr/>
        </p:nvSpPr>
        <p:spPr>
          <a:xfrm>
            <a:off x="411480" y="1618488"/>
            <a:ext cx="5568696" cy="2349856"/>
          </a:xfrm>
          <a:prstGeom prst="roundRect">
            <a:avLst>
              <a:gd name="adj" fmla="val 311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3s">    </p:cNvPr>
          <p:cNvPicPr>
            <a:picLocks noChangeAspect="1"/>
          </p:cNvPicPr>
          <p:nvPr/>
        </p:nvPicPr>
        <p:blipFill>
          <a:blip r:embed="rId2"/>
          <a:stretch>
            <a:fillRect/>
          </a:stretch>
        </p:blipFill>
        <p:spPr>
          <a:xfrm>
            <a:off x="457200" y="1682750"/>
            <a:ext cx="5477256" cy="2221332"/>
          </a:xfrm>
          <a:prstGeom prst="rect">
            <a:avLst/>
          </a:prstGeom>
        </p:spPr>
      </p:pic>
      <p:sp>
        <p:nvSpPr>
          <p:cNvPr id="11" name="Shape 7"/>
          <p:cNvSpPr/>
          <p:nvPr/>
        </p:nvSpPr>
        <p:spPr>
          <a:xfrm>
            <a:off x="9614002" y="4151224"/>
            <a:ext cx="2163470" cy="1408328"/>
          </a:xfrm>
          <a:prstGeom prst="roundRect">
            <a:avLst>
              <a:gd name="adj" fmla="val 5194"/>
            </a:avLst>
          </a:prstGeom>
          <a:solidFill>
            <a:srgbClr val="FFFFFF"/>
          </a:solidFill>
          <a:ln w="6350">
            <a:solidFill>
              <a:srgbClr val="D9DEE7"/>
            </a:solidFill>
            <a:prstDash val="solid"/>
          </a:ln>
        </p:spPr>
      </p:sp>
      <p:sp>
        <p:nvSpPr>
          <p:cNvPr id="12" name="Shape 8"/>
          <p:cNvSpPr/>
          <p:nvPr/>
        </p:nvSpPr>
        <p:spPr>
          <a:xfrm>
            <a:off x="11347704" y="4242664"/>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2426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224376"/>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مراحل تأیید</a:t>
            </a:r>
            <a:endParaRPr lang="en-US" sz="1300" dirty="0"/>
          </a:p>
        </p:txBody>
      </p:sp>
      <p:sp>
        <p:nvSpPr>
          <p:cNvPr id="15" name="Text 11"/>
          <p:cNvSpPr txBox="1"/>
          <p:nvPr/>
        </p:nvSpPr>
        <p:spPr>
          <a:xfrm>
            <a:off x="9723730" y="4626712"/>
            <a:ext cx="1944014" cy="877976"/>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برای هر مجموعه، مراحل (بازبین، مدیرکل، معاون…) را با کد کاربری تأییدکنندگان تعریف کنید.</a:t>
            </a:r>
            <a:endParaRPr lang="en-US" sz="1150" dirty="0"/>
          </a:p>
        </p:txBody>
      </p:sp>
      <p:sp>
        <p:nvSpPr>
          <p:cNvPr id="16" name="Shape 12"/>
          <p:cNvSpPr/>
          <p:nvPr/>
        </p:nvSpPr>
        <p:spPr>
          <a:xfrm>
            <a:off x="7313371" y="4151224"/>
            <a:ext cx="2163470" cy="1408328"/>
          </a:xfrm>
          <a:prstGeom prst="roundRect">
            <a:avLst>
              <a:gd name="adj" fmla="val 5194"/>
            </a:avLst>
          </a:prstGeom>
          <a:solidFill>
            <a:srgbClr val="FFFFFF"/>
          </a:solidFill>
          <a:ln w="6350">
            <a:solidFill>
              <a:srgbClr val="D9DEE7"/>
            </a:solidFill>
            <a:prstDash val="solid"/>
          </a:ln>
        </p:spPr>
      </p:sp>
      <p:sp>
        <p:nvSpPr>
          <p:cNvPr id="17" name="Shape 13"/>
          <p:cNvSpPr/>
          <p:nvPr/>
        </p:nvSpPr>
        <p:spPr>
          <a:xfrm>
            <a:off x="9047074" y="4242664"/>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2426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224376"/>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مرحله‌به‌مرحله</a:t>
            </a:r>
            <a:endParaRPr lang="en-US" sz="1300" dirty="0"/>
          </a:p>
        </p:txBody>
      </p:sp>
      <p:sp>
        <p:nvSpPr>
          <p:cNvPr id="20" name="Text 16"/>
          <p:cNvSpPr txBox="1"/>
          <p:nvPr/>
        </p:nvSpPr>
        <p:spPr>
          <a:xfrm>
            <a:off x="7423099" y="4626712"/>
            <a:ext cx="1944014" cy="877976"/>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دکمهٔ «تأیید» نام مرحلهٔ جاری را دارد؛ یک نفر دو مرحلهٔ یک اجرا را تأیید نمی‌کند.</a:t>
            </a:r>
            <a:endParaRPr lang="en-US" sz="1150" dirty="0"/>
          </a:p>
        </p:txBody>
      </p:sp>
      <p:sp>
        <p:nvSpPr>
          <p:cNvPr id="21" name="Shape 17"/>
          <p:cNvSpPr/>
          <p:nvPr/>
        </p:nvSpPr>
        <p:spPr>
          <a:xfrm>
            <a:off x="5012741" y="4151224"/>
            <a:ext cx="2163470" cy="1408328"/>
          </a:xfrm>
          <a:prstGeom prst="roundRect">
            <a:avLst>
              <a:gd name="adj" fmla="val 5194"/>
            </a:avLst>
          </a:prstGeom>
          <a:solidFill>
            <a:srgbClr val="FFFFFF"/>
          </a:solidFill>
          <a:ln w="6350">
            <a:solidFill>
              <a:srgbClr val="D9DEE7"/>
            </a:solidFill>
            <a:prstDash val="solid"/>
          </a:ln>
        </p:spPr>
      </p:sp>
      <p:sp>
        <p:nvSpPr>
          <p:cNvPr id="22" name="Shape 18"/>
          <p:cNvSpPr/>
          <p:nvPr/>
        </p:nvSpPr>
        <p:spPr>
          <a:xfrm>
            <a:off x="6746443" y="4242664"/>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2426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224376"/>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بستن دوره</a:t>
            </a:r>
            <a:endParaRPr lang="en-US" sz="1300" dirty="0"/>
          </a:p>
        </p:txBody>
      </p:sp>
      <p:sp>
        <p:nvSpPr>
          <p:cNvPr id="25" name="Text 21"/>
          <p:cNvSpPr txBox="1"/>
          <p:nvPr/>
        </p:nvSpPr>
        <p:spPr>
          <a:xfrm>
            <a:off x="5122469" y="4626712"/>
            <a:ext cx="1944014" cy="877976"/>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باز ⇐ بستهٔ موقت ⇐ قفل؛ قفل هر واحد، زیرواحدهایش را هم قفل‌شده حساب می‌کند.</a:t>
            </a:r>
            <a:endParaRPr lang="en-US" sz="1150" dirty="0"/>
          </a:p>
        </p:txBody>
      </p:sp>
      <p:sp>
        <p:nvSpPr>
          <p:cNvPr id="26" name="Shape 22"/>
          <p:cNvSpPr/>
          <p:nvPr/>
        </p:nvSpPr>
        <p:spPr>
          <a:xfrm>
            <a:off x="2712110" y="4151224"/>
            <a:ext cx="2163470" cy="1408328"/>
          </a:xfrm>
          <a:prstGeom prst="roundRect">
            <a:avLst>
              <a:gd name="adj" fmla="val 5194"/>
            </a:avLst>
          </a:prstGeom>
          <a:solidFill>
            <a:srgbClr val="FFFFFF"/>
          </a:solidFill>
          <a:ln w="6350">
            <a:solidFill>
              <a:srgbClr val="D9DEE7"/>
            </a:solidFill>
            <a:prstDash val="solid"/>
          </a:ln>
        </p:spPr>
      </p:sp>
      <p:sp>
        <p:nvSpPr>
          <p:cNvPr id="27" name="Shape 23"/>
          <p:cNvSpPr/>
          <p:nvPr/>
        </p:nvSpPr>
        <p:spPr>
          <a:xfrm>
            <a:off x="4445813" y="4242664"/>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2426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224376"/>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بازگشایی</a:t>
            </a:r>
            <a:endParaRPr lang="en-US" sz="1300" dirty="0"/>
          </a:p>
        </p:txBody>
      </p:sp>
      <p:sp>
        <p:nvSpPr>
          <p:cNvPr id="30" name="Text 26"/>
          <p:cNvSpPr txBox="1"/>
          <p:nvPr/>
        </p:nvSpPr>
        <p:spPr>
          <a:xfrm>
            <a:off x="2821838" y="4626712"/>
            <a:ext cx="1944014" cy="877976"/>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بستهٔ موقت مستقیم باز می‌شود؛ دورهٔ قفل با «درخواست بازگشایی» و تأیید ستاد.</a:t>
            </a:r>
            <a:endParaRPr lang="en-US" sz="1150" dirty="0"/>
          </a:p>
        </p:txBody>
      </p:sp>
      <p:sp>
        <p:nvSpPr>
          <p:cNvPr id="31" name="Shape 27"/>
          <p:cNvSpPr/>
          <p:nvPr/>
        </p:nvSpPr>
        <p:spPr>
          <a:xfrm>
            <a:off x="411480" y="4151224"/>
            <a:ext cx="2163470" cy="1408328"/>
          </a:xfrm>
          <a:prstGeom prst="roundRect">
            <a:avLst>
              <a:gd name="adj" fmla="val 5194"/>
            </a:avLst>
          </a:prstGeom>
          <a:solidFill>
            <a:srgbClr val="FFFFFF"/>
          </a:solidFill>
          <a:ln w="6350">
            <a:solidFill>
              <a:srgbClr val="D9DEE7"/>
            </a:solidFill>
            <a:prstDash val="solid"/>
          </a:ln>
        </p:spPr>
      </p:sp>
      <p:sp>
        <p:nvSpPr>
          <p:cNvPr id="32" name="Shape 28"/>
          <p:cNvSpPr/>
          <p:nvPr/>
        </p:nvSpPr>
        <p:spPr>
          <a:xfrm>
            <a:off x="2145182" y="4242664"/>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2426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224376"/>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تاریخچه</a:t>
            </a:r>
            <a:endParaRPr lang="en-US" sz="1300" dirty="0"/>
          </a:p>
        </p:txBody>
      </p:sp>
      <p:sp>
        <p:nvSpPr>
          <p:cNvPr id="35" name="Text 31"/>
          <p:cNvSpPr txBox="1"/>
          <p:nvPr/>
        </p:nvSpPr>
        <p:spPr>
          <a:xfrm>
            <a:off x="521208" y="4626712"/>
            <a:ext cx="1944014" cy="877976"/>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هر اقدام روی دوره با کاربر، زمان و دلیل در «تاریخچه» ثبت می‌شود.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انتشار فقط وقتی ممکن است که دورهٔ همهٔ واحدهای دامنه «قفل» شده باشد (کنترل V-11). این قفل ثبت سند را نمی‌بندد.</a:t>
            </a:r>
            <a:endParaRPr lang="en-US" sz="1300" dirty="0"/>
          </a:p>
        </p:txBody>
      </p:sp>
      <p:sp>
        <p:nvSpPr>
          <p:cNvPr id="39" name="Text 35"/>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۱۲ — یادداشت‌های توضیحی</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یادداشت‌های توضیحی</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یادداشت‌ها و پیشرفت</a:t>
            </a:r>
            <a:endParaRPr lang="en-US" sz="1200" dirty="0"/>
          </a:p>
        </p:txBody>
      </p:sp>
      <p:sp>
        <p:nvSpPr>
          <p:cNvPr id="6" name="Shape 4"/>
          <p:cNvSpPr/>
          <p:nvPr/>
        </p:nvSpPr>
        <p:spPr>
          <a:xfrm>
            <a:off x="6208776"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4s">    </p:cNvPr>
          <p:cNvPicPr>
            <a:picLocks noChangeAspect="1"/>
          </p:cNvPicPr>
          <p:nvPr/>
        </p:nvPicPr>
        <p:blipFill>
          <a:blip r:embed="rId1"/>
          <a:stretch>
            <a:fillRect/>
          </a:stretch>
        </p:blipFill>
        <p:spPr>
          <a:xfrm>
            <a:off x="6254496" y="1680337"/>
            <a:ext cx="5477256" cy="1932254"/>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یادداشت تازه و ویرایشگر</a:t>
            </a:r>
            <a:endParaRPr lang="en-US" sz="1200" dirty="0"/>
          </a:p>
        </p:txBody>
      </p:sp>
      <p:sp>
        <p:nvSpPr>
          <p:cNvPr id="9" name="Shape 6"/>
          <p:cNvSpPr/>
          <p:nvPr/>
        </p:nvSpPr>
        <p:spPr>
          <a:xfrm>
            <a:off x="411480"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5s">    </p:cNvPr>
          <p:cNvPicPr>
            <a:picLocks noChangeAspect="1"/>
          </p:cNvPicPr>
          <p:nvPr/>
        </p:nvPicPr>
        <p:blipFill>
          <a:blip r:embed="rId2"/>
          <a:stretch>
            <a:fillRect/>
          </a:stretch>
        </p:blipFill>
        <p:spPr>
          <a:xfrm>
            <a:off x="457200" y="1764017"/>
            <a:ext cx="5477256" cy="1764894"/>
          </a:xfrm>
          <a:prstGeom prst="rect">
            <a:avLst/>
          </a:prstGeom>
        </p:spPr>
      </p:pic>
      <p:sp>
        <p:nvSpPr>
          <p:cNvPr id="11" name="Shape 7"/>
          <p:cNvSpPr/>
          <p:nvPr/>
        </p:nvSpPr>
        <p:spPr>
          <a:xfrm>
            <a:off x="9614002" y="3857320"/>
            <a:ext cx="2163470" cy="1702232"/>
          </a:xfrm>
          <a:prstGeom prst="roundRect">
            <a:avLst>
              <a:gd name="adj" fmla="val 4297"/>
            </a:avLst>
          </a:prstGeom>
          <a:solidFill>
            <a:srgbClr val="FFFFFF"/>
          </a:solidFill>
          <a:ln w="6350">
            <a:solidFill>
              <a:srgbClr val="D9DEE7"/>
            </a:solidFill>
            <a:prstDash val="solid"/>
          </a:ln>
        </p:spPr>
      </p:sp>
      <p:sp>
        <p:nvSpPr>
          <p:cNvPr id="12" name="Shape 8"/>
          <p:cNvSpPr/>
          <p:nvPr/>
        </p:nvSpPr>
        <p:spPr>
          <a:xfrm>
            <a:off x="11347704" y="3948760"/>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نوع یادداشت</a:t>
            </a:r>
            <a:endParaRPr lang="en-US" sz="1300" dirty="0"/>
          </a:p>
        </p:txBody>
      </p:sp>
      <p:sp>
        <p:nvSpPr>
          <p:cNvPr id="15" name="Text 11"/>
          <p:cNvSpPr txBox="1"/>
          <p:nvPr/>
        </p:nvSpPr>
        <p:spPr>
          <a:xfrm>
            <a:off x="9723730"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مستقل (تاریخچه، مبنا، رویه‌ها) یا همراه یک یادداشت عددی که زیر جدول آن می‌آید.</a:t>
            </a:r>
            <a:endParaRPr lang="en-US" sz="1150" dirty="0"/>
          </a:p>
        </p:txBody>
      </p:sp>
      <p:sp>
        <p:nvSpPr>
          <p:cNvPr id="16" name="Shape 12"/>
          <p:cNvSpPr/>
          <p:nvPr/>
        </p:nvSpPr>
        <p:spPr>
          <a:xfrm>
            <a:off x="7313371" y="3857320"/>
            <a:ext cx="2163470" cy="1702232"/>
          </a:xfrm>
          <a:prstGeom prst="roundRect">
            <a:avLst>
              <a:gd name="adj" fmla="val 4297"/>
            </a:avLst>
          </a:prstGeom>
          <a:solidFill>
            <a:srgbClr val="FFFFFF"/>
          </a:solidFill>
          <a:ln w="6350">
            <a:solidFill>
              <a:srgbClr val="D9DEE7"/>
            </a:solidFill>
            <a:prstDash val="solid"/>
          </a:ln>
        </p:spPr>
      </p:sp>
      <p:sp>
        <p:nvSpPr>
          <p:cNvPr id="17" name="Shape 13"/>
          <p:cNvSpPr/>
          <p:nvPr/>
        </p:nvSpPr>
        <p:spPr>
          <a:xfrm>
            <a:off x="9047074" y="3948760"/>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ویرایشگر</a:t>
            </a:r>
            <a:endParaRPr lang="en-US" sz="1300" dirty="0"/>
          </a:p>
        </p:txBody>
      </p:sp>
      <p:sp>
        <p:nvSpPr>
          <p:cNvPr id="20" name="Text 16"/>
          <p:cNvSpPr txBox="1"/>
          <p:nvPr/>
        </p:nvSpPr>
        <p:spPr>
          <a:xfrm>
            <a:off x="7423099"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پررنگ، فهرست، عنوان و «درج متغیر»؛ پیش‌نمایش زنده با اعداد یک اجرای همان سال.</a:t>
            </a:r>
            <a:endParaRPr lang="en-US" sz="1150" dirty="0"/>
          </a:p>
        </p:txBody>
      </p:sp>
      <p:sp>
        <p:nvSpPr>
          <p:cNvPr id="21" name="Shape 17"/>
          <p:cNvSpPr/>
          <p:nvPr/>
        </p:nvSpPr>
        <p:spPr>
          <a:xfrm>
            <a:off x="5012741" y="3857320"/>
            <a:ext cx="2163470" cy="1702232"/>
          </a:xfrm>
          <a:prstGeom prst="roundRect">
            <a:avLst>
              <a:gd name="adj" fmla="val 4297"/>
            </a:avLst>
          </a:prstGeom>
          <a:solidFill>
            <a:srgbClr val="FFFFFF"/>
          </a:solidFill>
          <a:ln w="6350">
            <a:solidFill>
              <a:srgbClr val="D9DEE7"/>
            </a:solidFill>
            <a:prstDash val="solid"/>
          </a:ln>
        </p:spPr>
      </p:sp>
      <p:sp>
        <p:nvSpPr>
          <p:cNvPr id="22" name="Shape 18"/>
          <p:cNvSpPr/>
          <p:nvPr/>
        </p:nvSpPr>
        <p:spPr>
          <a:xfrm>
            <a:off x="6746443" y="3948760"/>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بازبینی</a:t>
            </a:r>
            <a:endParaRPr lang="en-US" sz="1300" dirty="0"/>
          </a:p>
        </p:txBody>
      </p:sp>
      <p:sp>
        <p:nvSpPr>
          <p:cNvPr id="25" name="Text 21"/>
          <p:cNvSpPr txBox="1"/>
          <p:nvPr/>
        </p:nvSpPr>
        <p:spPr>
          <a:xfrm>
            <a:off x="5122469"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ارسال ⇐ تأیید (نه آخرین ویرایشگر) ⇐ برگشت با دلیل؛ نوار پیشرفت بالای فهرست.</a:t>
            </a:r>
            <a:endParaRPr lang="en-US" sz="1150" dirty="0"/>
          </a:p>
        </p:txBody>
      </p:sp>
      <p:sp>
        <p:nvSpPr>
          <p:cNvPr id="26" name="Shape 22"/>
          <p:cNvSpPr/>
          <p:nvPr/>
        </p:nvSpPr>
        <p:spPr>
          <a:xfrm>
            <a:off x="2712110" y="3857320"/>
            <a:ext cx="2163470" cy="1702232"/>
          </a:xfrm>
          <a:prstGeom prst="roundRect">
            <a:avLst>
              <a:gd name="adj" fmla="val 4297"/>
            </a:avLst>
          </a:prstGeom>
          <a:solidFill>
            <a:srgbClr val="FFFFFF"/>
          </a:solidFill>
          <a:ln w="6350">
            <a:solidFill>
              <a:srgbClr val="D9DEE7"/>
            </a:solidFill>
            <a:prstDash val="solid"/>
          </a:ln>
        </p:spPr>
      </p:sp>
      <p:sp>
        <p:nvSpPr>
          <p:cNvPr id="27" name="Shape 23"/>
          <p:cNvSpPr/>
          <p:nvPr/>
        </p:nvSpPr>
        <p:spPr>
          <a:xfrm>
            <a:off x="4445813" y="3948760"/>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نسخه و انتقال</a:t>
            </a:r>
            <a:endParaRPr lang="en-US" sz="1300" dirty="0"/>
          </a:p>
        </p:txBody>
      </p:sp>
      <p:sp>
        <p:nvSpPr>
          <p:cNvPr id="30" name="Text 26"/>
          <p:cNvSpPr txBox="1"/>
          <p:nvPr/>
        </p:nvSpPr>
        <p:spPr>
          <a:xfrm>
            <a:off x="2821838"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هر ذخیره یک نسخه است و بازگرداندنی؛ «انتقال از سال قبل» یادداشت‌ها را کپی می‌کند.</a:t>
            </a:r>
            <a:endParaRPr lang="en-US" sz="1150" dirty="0"/>
          </a:p>
        </p:txBody>
      </p:sp>
      <p:sp>
        <p:nvSpPr>
          <p:cNvPr id="31" name="Shape 27"/>
          <p:cNvSpPr/>
          <p:nvPr/>
        </p:nvSpPr>
        <p:spPr>
          <a:xfrm>
            <a:off x="411480" y="3857320"/>
            <a:ext cx="2163470" cy="1702232"/>
          </a:xfrm>
          <a:prstGeom prst="roundRect">
            <a:avLst>
              <a:gd name="adj" fmla="val 4297"/>
            </a:avLst>
          </a:prstGeom>
          <a:solidFill>
            <a:srgbClr val="FFFFFF"/>
          </a:solidFill>
          <a:ln w="6350">
            <a:solidFill>
              <a:srgbClr val="D9DEE7"/>
            </a:solidFill>
            <a:prstDash val="solid"/>
          </a:ln>
        </p:spPr>
      </p:sp>
      <p:sp>
        <p:nvSpPr>
          <p:cNvPr id="32" name="Shape 28"/>
          <p:cNvSpPr/>
          <p:nvPr/>
        </p:nvSpPr>
        <p:spPr>
          <a:xfrm>
            <a:off x="2145182" y="3948760"/>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Word و انتشار</a:t>
            </a:r>
            <a:endParaRPr lang="en-US" sz="1300" dirty="0"/>
          </a:p>
        </p:txBody>
      </p:sp>
      <p:sp>
        <p:nvSpPr>
          <p:cNvPr id="35" name="Text 31"/>
          <p:cNvSpPr txBox="1"/>
          <p:nvPr/>
        </p:nvSpPr>
        <p:spPr>
          <a:xfrm>
            <a:off x="521208"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دکمهٔ «Word یادداشت‌ها» در صفحهٔ صورت؛ با انتشار، متن یادداشت‌ها ثابت می‌شود.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4754880" y="5696712"/>
            <a:ext cx="615391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متغیرها به ترتیب: مبلغ جاری، سال قبل و درصد تغییر؛ مقدار از اعداد همان اجرا گرفته می‌شود.</a:t>
            </a:r>
            <a:endParaRPr lang="en-US" sz="1300" dirty="0"/>
          </a:p>
        </p:txBody>
      </p:sp>
      <p:sp>
        <p:nvSpPr>
          <p:cNvPr id="39" name="Text 35"/>
          <p:cNvSpPr/>
          <p:nvPr/>
        </p:nvSpPr>
        <p:spPr>
          <a:xfrm>
            <a:off x="566928" y="5833872"/>
            <a:ext cx="4114800" cy="384048"/>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{{A01}}   {{A01.prior}}   {{A01.change%}}</a:t>
            </a:r>
            <a:endParaRPr lang="en-US" sz="1100" dirty="0"/>
          </a:p>
        </p:txBody>
      </p:sp>
      <p:sp>
        <p:nvSpPr>
          <p:cNvPr id="40" name="Text 3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۱۳ — ابزارهای صورت، نظرها و نسخهٔ چاپی</a:t>
            </a:r>
            <a:endParaRPr lang="en-US" sz="2600" dirty="0"/>
          </a:p>
        </p:txBody>
      </p:sp>
      <p:sp>
        <p:nvSpPr>
          <p:cNvPr id="3" name="Shape 1"/>
          <p:cNvSpPr/>
          <p:nvPr/>
        </p:nvSpPr>
        <p:spPr>
          <a:xfrm>
            <a:off x="7031736" y="896112"/>
            <a:ext cx="47457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تهیهٔ صورت‌های مالی ← باز کردن یک اجرا</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تحلیل عمودی (درصد از پایه)</a:t>
            </a:r>
            <a:endParaRPr lang="en-US" sz="1200" dirty="0"/>
          </a:p>
        </p:txBody>
      </p:sp>
      <p:sp>
        <p:nvSpPr>
          <p:cNvPr id="6" name="Shape 4"/>
          <p:cNvSpPr/>
          <p:nvPr/>
        </p:nvSpPr>
        <p:spPr>
          <a:xfrm>
            <a:off x="6208776" y="161848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4s">    </p:cNvPr>
          <p:cNvPicPr>
            <a:picLocks noChangeAspect="1"/>
          </p:cNvPicPr>
          <p:nvPr/>
        </p:nvPicPr>
        <p:blipFill>
          <a:blip r:embed="rId1"/>
          <a:stretch>
            <a:fillRect/>
          </a:stretch>
        </p:blipFill>
        <p:spPr>
          <a:xfrm>
            <a:off x="6254496" y="1680515"/>
            <a:ext cx="5477256" cy="1953555"/>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بستهٔ رسمی / PDF</a:t>
            </a:r>
            <a:endParaRPr lang="en-US" sz="1200" dirty="0"/>
          </a:p>
        </p:txBody>
      </p:sp>
      <p:sp>
        <p:nvSpPr>
          <p:cNvPr id="9" name="Shape 6"/>
          <p:cNvSpPr/>
          <p:nvPr/>
        </p:nvSpPr>
        <p:spPr>
          <a:xfrm>
            <a:off x="411480" y="161848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16s">    </p:cNvPr>
          <p:cNvPicPr>
            <a:picLocks noChangeAspect="1"/>
          </p:cNvPicPr>
          <p:nvPr/>
        </p:nvPicPr>
        <p:blipFill>
          <a:blip r:embed="rId2"/>
          <a:stretch>
            <a:fillRect/>
          </a:stretch>
        </p:blipFill>
        <p:spPr>
          <a:xfrm>
            <a:off x="457200" y="1805275"/>
            <a:ext cx="5477256" cy="1704035"/>
          </a:xfrm>
          <a:prstGeom prst="rect">
            <a:avLst/>
          </a:prstGeom>
        </p:spPr>
      </p:pic>
      <p:sp>
        <p:nvSpPr>
          <p:cNvPr id="11" name="Shape 7"/>
          <p:cNvSpPr/>
          <p:nvPr/>
        </p:nvSpPr>
        <p:spPr>
          <a:xfrm>
            <a:off x="9614002" y="3878976"/>
            <a:ext cx="2163470" cy="1680576"/>
          </a:xfrm>
          <a:prstGeom prst="roundRect">
            <a:avLst>
              <a:gd name="adj" fmla="val 4353"/>
            </a:avLst>
          </a:prstGeom>
          <a:solidFill>
            <a:srgbClr val="FFFFFF"/>
          </a:solidFill>
          <a:ln w="6350">
            <a:solidFill>
              <a:srgbClr val="D9DEE7"/>
            </a:solidFill>
            <a:prstDash val="solid"/>
          </a:ln>
        </p:spPr>
      </p:sp>
      <p:sp>
        <p:nvSpPr>
          <p:cNvPr id="12" name="Shape 8"/>
          <p:cNvSpPr/>
          <p:nvPr/>
        </p:nvSpPr>
        <p:spPr>
          <a:xfrm>
            <a:off x="11347704" y="3970416"/>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 عمودی</a:t>
            </a:r>
            <a:endParaRPr lang="en-US" sz="1300" dirty="0"/>
          </a:p>
        </p:txBody>
      </p:sp>
      <p:sp>
        <p:nvSpPr>
          <p:cNvPr id="15" name="Text 11"/>
          <p:cNvSpPr txBox="1"/>
          <p:nvPr/>
        </p:nvSpPr>
        <p:spPr>
          <a:xfrm>
            <a:off x="9723730"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درصد هر ردیف از یک ردیف پایه (مثل جمع دارایی‌ها)؛ «فشرده» ردیف‌ها را نزدیک‌تر می‌کند.</a:t>
            </a:r>
            <a:endParaRPr lang="en-US" sz="1150" dirty="0"/>
          </a:p>
        </p:txBody>
      </p:sp>
      <p:sp>
        <p:nvSpPr>
          <p:cNvPr id="16" name="Shape 12"/>
          <p:cNvSpPr/>
          <p:nvPr/>
        </p:nvSpPr>
        <p:spPr>
          <a:xfrm>
            <a:off x="7313371" y="3878976"/>
            <a:ext cx="2163470" cy="1680576"/>
          </a:xfrm>
          <a:prstGeom prst="roundRect">
            <a:avLst>
              <a:gd name="adj" fmla="val 4353"/>
            </a:avLst>
          </a:prstGeom>
          <a:solidFill>
            <a:srgbClr val="FFFFFF"/>
          </a:solidFill>
          <a:ln w="6350">
            <a:solidFill>
              <a:srgbClr val="D9DEE7"/>
            </a:solidFill>
            <a:prstDash val="solid"/>
          </a:ln>
        </p:spPr>
      </p:sp>
      <p:sp>
        <p:nvSpPr>
          <p:cNvPr id="17" name="Shape 13"/>
          <p:cNvSpPr/>
          <p:nvPr/>
        </p:nvSpPr>
        <p:spPr>
          <a:xfrm>
            <a:off x="9047074" y="3970416"/>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میانبرها</a:t>
            </a:r>
            <a:endParaRPr lang="en-US" sz="1300" dirty="0"/>
          </a:p>
        </p:txBody>
      </p:sp>
      <p:sp>
        <p:nvSpPr>
          <p:cNvPr id="20" name="Text 16"/>
          <p:cNvSpPr txBox="1"/>
          <p:nvPr/>
        </p:nvSpPr>
        <p:spPr>
          <a:xfrm>
            <a:off x="7423099"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 حرکت بین ردیف‌ها، Enter ریز مبلغ، Esc بستن پنل، Ctrl+K جستجوی ردیف.</a:t>
            </a:r>
            <a:endParaRPr lang="en-US" sz="1150" dirty="0"/>
          </a:p>
        </p:txBody>
      </p:sp>
      <p:sp>
        <p:nvSpPr>
          <p:cNvPr id="21" name="Shape 17"/>
          <p:cNvSpPr/>
          <p:nvPr/>
        </p:nvSpPr>
        <p:spPr>
          <a:xfrm>
            <a:off x="5012741" y="3878976"/>
            <a:ext cx="2163470" cy="1680576"/>
          </a:xfrm>
          <a:prstGeom prst="roundRect">
            <a:avLst>
              <a:gd name="adj" fmla="val 4353"/>
            </a:avLst>
          </a:prstGeom>
          <a:solidFill>
            <a:srgbClr val="FFFFFF"/>
          </a:solidFill>
          <a:ln w="6350">
            <a:solidFill>
              <a:srgbClr val="D9DEE7"/>
            </a:solidFill>
            <a:prstDash val="solid"/>
          </a:ln>
        </p:spPr>
      </p:sp>
      <p:sp>
        <p:nvSpPr>
          <p:cNvPr id="22" name="Shape 18"/>
          <p:cNvSpPr/>
          <p:nvPr/>
        </p:nvSpPr>
        <p:spPr>
          <a:xfrm>
            <a:off x="6746443" y="3970416"/>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نظر روی ردیف</a:t>
            </a:r>
            <a:endParaRPr lang="en-US" sz="1300" dirty="0"/>
          </a:p>
        </p:txBody>
      </p:sp>
      <p:sp>
        <p:nvSpPr>
          <p:cNvPr id="25" name="Text 21"/>
          <p:cNvSpPr txBox="1"/>
          <p:nvPr/>
        </p:nvSpPr>
        <p:spPr>
          <a:xfrm>
            <a:off x="5122469"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آیکون گفت‌وگو کنار عنوان ردیف؛ بازبین و تهیه‌کننده روی همان ردیف گفت‌وگو می‌کنند.</a:t>
            </a:r>
            <a:endParaRPr lang="en-US" sz="1150" dirty="0"/>
          </a:p>
        </p:txBody>
      </p:sp>
      <p:sp>
        <p:nvSpPr>
          <p:cNvPr id="26" name="Shape 22"/>
          <p:cNvSpPr/>
          <p:nvPr/>
        </p:nvSpPr>
        <p:spPr>
          <a:xfrm>
            <a:off x="2712110" y="3878976"/>
            <a:ext cx="2163470" cy="1680576"/>
          </a:xfrm>
          <a:prstGeom prst="roundRect">
            <a:avLst>
              <a:gd name="adj" fmla="val 4353"/>
            </a:avLst>
          </a:prstGeom>
          <a:solidFill>
            <a:srgbClr val="FFFFFF"/>
          </a:solidFill>
          <a:ln w="6350">
            <a:solidFill>
              <a:srgbClr val="D9DEE7"/>
            </a:solidFill>
            <a:prstDash val="solid"/>
          </a:ln>
        </p:spPr>
      </p:sp>
      <p:sp>
        <p:nvSpPr>
          <p:cNvPr id="27" name="Shape 23"/>
          <p:cNvSpPr/>
          <p:nvPr/>
        </p:nvSpPr>
        <p:spPr>
          <a:xfrm>
            <a:off x="4445813" y="3970416"/>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ارجاع کنترل</a:t>
            </a:r>
            <a:endParaRPr lang="en-US" sz="1300" dirty="0"/>
          </a:p>
        </p:txBody>
      </p:sp>
      <p:sp>
        <p:nvSpPr>
          <p:cNvPr id="30" name="Text 26"/>
          <p:cNvSpPr txBox="1"/>
          <p:nvPr/>
        </p:nvSpPr>
        <p:spPr>
          <a:xfrm>
            <a:off x="2821838"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 زبانهٔ «کنترل‌ها» کنترل ناموفق را با مهلت به مسئول بدهید؛ بعد «رفع شد».</a:t>
            </a:r>
            <a:endParaRPr lang="en-US" sz="1150" dirty="0"/>
          </a:p>
        </p:txBody>
      </p:sp>
      <p:sp>
        <p:nvSpPr>
          <p:cNvPr id="31" name="Shape 27"/>
          <p:cNvSpPr/>
          <p:nvPr/>
        </p:nvSpPr>
        <p:spPr>
          <a:xfrm>
            <a:off x="411480" y="3878976"/>
            <a:ext cx="2163470" cy="1680576"/>
          </a:xfrm>
          <a:prstGeom prst="roundRect">
            <a:avLst>
              <a:gd name="adj" fmla="val 4353"/>
            </a:avLst>
          </a:prstGeom>
          <a:solidFill>
            <a:srgbClr val="FFFFFF"/>
          </a:solidFill>
          <a:ln w="6350">
            <a:solidFill>
              <a:srgbClr val="D9DEE7"/>
            </a:solidFill>
            <a:prstDash val="solid"/>
          </a:ln>
        </p:spPr>
      </p:sp>
      <p:sp>
        <p:nvSpPr>
          <p:cNvPr id="32" name="Shape 28"/>
          <p:cNvSpPr/>
          <p:nvPr/>
        </p:nvSpPr>
        <p:spPr>
          <a:xfrm>
            <a:off x="2145182" y="3970416"/>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تجدید ارائه</a:t>
            </a:r>
            <a:endParaRPr lang="en-US" sz="1300" dirty="0"/>
          </a:p>
        </p:txBody>
      </p:sp>
      <p:sp>
        <p:nvSpPr>
          <p:cNvPr id="35" name="Text 31"/>
          <p:cNvSpPr txBox="1"/>
          <p:nvPr/>
        </p:nvSpPr>
        <p:spPr>
          <a:xfrm>
            <a:off x="521208"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 ویزارد، ستون سال قبل برچسب «تجدید ارائه‌شده» می‌گیرد؛ تنظیمات قابل ذخیره است.</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دکمهٔ «بستهٔ رسمی / PDF» صفحهٔ چاپ رسمی را باز می‌کند؛ در پنجرهٔ چاپ «ذخیره به‌صورت PDF» را انتخاب کنید.</a:t>
            </a:r>
            <a:endParaRPr lang="en-US" sz="1300" dirty="0"/>
          </a:p>
        </p:txBody>
      </p:sp>
      <p:sp>
        <p:nvSpPr>
          <p:cNvPr id="39" name="Text 35"/>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نظرها روی ردیف صورت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5">    </p:cNvPr>
          <p:cNvPicPr>
            <a:picLocks noChangeAspect="1"/>
          </p:cNvPicPr>
          <p:nvPr/>
        </p:nvPicPr>
        <p:blipFill>
          <a:blip r:embed="rId1"/>
          <a:stretch>
            <a:fillRect/>
          </a:stretch>
        </p:blipFill>
        <p:spPr>
          <a:xfrm>
            <a:off x="1611711" y="1216152"/>
            <a:ext cx="5006179"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آیکون گفت‌وگو کنار عنوان ردیف را بزنید؛ عدد کنار آیکون تعداد نظرهاست.</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گفت‌وگو</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نظر با کد کاربر و زمان ثبت می‌شود؛ نظر خودتان را می‌توانید حذف کنید.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نظر</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متن را در «نظر تازه» بنویسید و «ثبت نظر» را بزنید.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نظرهای کل اجرا</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زبانهٔ «کنترل‌ها»، دکمهٔ «نظرهای کل اجرا» همهٔ گفت‌وگوها را یک‌جا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۱۴ — تحلیل، نسبت‌ها و داشبورد</a:t>
            </a:r>
            <a:endParaRPr lang="en-US" sz="2600" dirty="0"/>
          </a:p>
        </p:txBody>
      </p:sp>
      <p:sp>
        <p:nvSpPr>
          <p:cNvPr id="3" name="Shape 1"/>
          <p:cNvSpPr/>
          <p:nvPr/>
        </p:nvSpPr>
        <p:spPr>
          <a:xfrm>
            <a:off x="6176772" y="896112"/>
            <a:ext cx="560070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داشبورد صورت‌ها / تحلیل و نسبت‌ها / تعریف نسبت‌ها</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تحلیل و نسبت‌ها — نسبت‌های کلیدی</a:t>
            </a:r>
            <a:endParaRPr lang="en-US" sz="1200" dirty="0"/>
          </a:p>
        </p:txBody>
      </p:sp>
      <p:sp>
        <p:nvSpPr>
          <p:cNvPr id="6" name="Shape 4"/>
          <p:cNvSpPr/>
          <p:nvPr/>
        </p:nvSpPr>
        <p:spPr>
          <a:xfrm>
            <a:off x="6208776"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7s">    </p:cNvPr>
          <p:cNvPicPr>
            <a:picLocks noChangeAspect="1"/>
          </p:cNvPicPr>
          <p:nvPr/>
        </p:nvPicPr>
        <p:blipFill>
          <a:blip r:embed="rId1"/>
          <a:stretch>
            <a:fillRect/>
          </a:stretch>
        </p:blipFill>
        <p:spPr>
          <a:xfrm>
            <a:off x="6254496" y="1681988"/>
            <a:ext cx="5477256" cy="2130044"/>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تعریف نسبت‌ها</a:t>
            </a:r>
            <a:endParaRPr lang="en-US" sz="1200" dirty="0"/>
          </a:p>
        </p:txBody>
      </p:sp>
      <p:sp>
        <p:nvSpPr>
          <p:cNvPr id="9" name="Shape 6"/>
          <p:cNvSpPr/>
          <p:nvPr/>
        </p:nvSpPr>
        <p:spPr>
          <a:xfrm>
            <a:off x="411480"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6s">    </p:cNvPr>
          <p:cNvPicPr>
            <a:picLocks noChangeAspect="1"/>
          </p:cNvPicPr>
          <p:nvPr/>
        </p:nvPicPr>
        <p:blipFill>
          <a:blip r:embed="rId2"/>
          <a:stretch>
            <a:fillRect/>
          </a:stretch>
        </p:blipFill>
        <p:spPr>
          <a:xfrm>
            <a:off x="457200" y="1727632"/>
            <a:ext cx="5477256" cy="2038756"/>
          </a:xfrm>
          <a:prstGeom prst="rect">
            <a:avLst/>
          </a:prstGeom>
        </p:spPr>
      </p:pic>
      <p:sp>
        <p:nvSpPr>
          <p:cNvPr id="11" name="Shape 7"/>
          <p:cNvSpPr/>
          <p:nvPr/>
        </p:nvSpPr>
        <p:spPr>
          <a:xfrm>
            <a:off x="9614002" y="4058412"/>
            <a:ext cx="2163470" cy="1501140"/>
          </a:xfrm>
          <a:prstGeom prst="roundRect">
            <a:avLst>
              <a:gd name="adj" fmla="val 4873"/>
            </a:avLst>
          </a:prstGeom>
          <a:solidFill>
            <a:srgbClr val="FFFFFF"/>
          </a:solidFill>
          <a:ln w="6350">
            <a:solidFill>
              <a:srgbClr val="D9DEE7"/>
            </a:solidFill>
            <a:prstDash val="solid"/>
          </a:ln>
        </p:spPr>
      </p:sp>
      <p:sp>
        <p:nvSpPr>
          <p:cNvPr id="12" name="Shape 8"/>
          <p:cNvSpPr/>
          <p:nvPr/>
        </p:nvSpPr>
        <p:spPr>
          <a:xfrm>
            <a:off x="11347704" y="4149852"/>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تعریف نسبت‌ها</a:t>
            </a:r>
            <a:endParaRPr lang="en-US" sz="1300" dirty="0"/>
          </a:p>
        </p:txBody>
      </p:sp>
      <p:sp>
        <p:nvSpPr>
          <p:cNvPr id="15" name="Text 11"/>
          <p:cNvSpPr txBox="1"/>
          <p:nvPr/>
        </p:nvSpPr>
        <p:spPr>
          <a:xfrm>
            <a:off x="9723730"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پیش‌فرض» ده نسبت رایج می‌سازد؛ هر نسبت یک صورت و یک مخرج دارد.</a:t>
            </a:r>
            <a:endParaRPr lang="en-US" sz="1150" dirty="0"/>
          </a:p>
        </p:txBody>
      </p:sp>
      <p:sp>
        <p:nvSpPr>
          <p:cNvPr id="16" name="Shape 12"/>
          <p:cNvSpPr/>
          <p:nvPr/>
        </p:nvSpPr>
        <p:spPr>
          <a:xfrm>
            <a:off x="7313371" y="4058412"/>
            <a:ext cx="2163470" cy="1501140"/>
          </a:xfrm>
          <a:prstGeom prst="roundRect">
            <a:avLst>
              <a:gd name="adj" fmla="val 4873"/>
            </a:avLst>
          </a:prstGeom>
          <a:solidFill>
            <a:srgbClr val="FFFFFF"/>
          </a:solidFill>
          <a:ln w="6350">
            <a:solidFill>
              <a:srgbClr val="D9DEE7"/>
            </a:solidFill>
            <a:prstDash val="solid"/>
          </a:ln>
        </p:spPr>
      </p:sp>
      <p:sp>
        <p:nvSpPr>
          <p:cNvPr id="17" name="Shape 13"/>
          <p:cNvSpPr/>
          <p:nvPr/>
        </p:nvSpPr>
        <p:spPr>
          <a:xfrm>
            <a:off x="9047074" y="4149852"/>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a:t>
            </a:r>
            <a:endParaRPr lang="en-US" sz="1300" dirty="0"/>
          </a:p>
        </p:txBody>
      </p:sp>
      <p:sp>
        <p:nvSpPr>
          <p:cNvPr id="20" name="Text 16"/>
          <p:cNvSpPr txBox="1"/>
          <p:nvPr/>
        </p:nvSpPr>
        <p:spPr>
          <a:xfrm>
            <a:off x="7423099"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اجرا در کنار سال قبل، و مقایسه و سهم اقلام اصلی هر صورت.</a:t>
            </a:r>
            <a:endParaRPr lang="en-US" sz="1150" dirty="0"/>
          </a:p>
        </p:txBody>
      </p:sp>
      <p:sp>
        <p:nvSpPr>
          <p:cNvPr id="21" name="Shape 17"/>
          <p:cNvSpPr/>
          <p:nvPr/>
        </p:nvSpPr>
        <p:spPr>
          <a:xfrm>
            <a:off x="5012741" y="4058412"/>
            <a:ext cx="2163470" cy="1501140"/>
          </a:xfrm>
          <a:prstGeom prst="roundRect">
            <a:avLst>
              <a:gd name="adj" fmla="val 4873"/>
            </a:avLst>
          </a:prstGeom>
          <a:solidFill>
            <a:srgbClr val="FFFFFF"/>
          </a:solidFill>
          <a:ln w="6350">
            <a:solidFill>
              <a:srgbClr val="D9DEE7"/>
            </a:solidFill>
            <a:prstDash val="solid"/>
          </a:ln>
        </p:spPr>
      </p:sp>
      <p:sp>
        <p:nvSpPr>
          <p:cNvPr id="22" name="Shape 18"/>
          <p:cNvSpPr/>
          <p:nvPr/>
        </p:nvSpPr>
        <p:spPr>
          <a:xfrm>
            <a:off x="6746443" y="4149852"/>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روند</a:t>
            </a:r>
            <a:endParaRPr lang="en-US" sz="1300" dirty="0"/>
          </a:p>
        </p:txBody>
      </p:sp>
      <p:sp>
        <p:nvSpPr>
          <p:cNvPr id="25" name="Text 21"/>
          <p:cNvSpPr txBox="1"/>
          <p:nvPr/>
        </p:nvSpPr>
        <p:spPr>
          <a:xfrm>
            <a:off x="5122469"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پنج سال اخیر از آخرین اجرای منتشرشدهٔ هر سال.</a:t>
            </a:r>
            <a:endParaRPr lang="en-US" sz="1150" dirty="0"/>
          </a:p>
        </p:txBody>
      </p:sp>
      <p:sp>
        <p:nvSpPr>
          <p:cNvPr id="26" name="Shape 22"/>
          <p:cNvSpPr/>
          <p:nvPr/>
        </p:nvSpPr>
        <p:spPr>
          <a:xfrm>
            <a:off x="2712110" y="4058412"/>
            <a:ext cx="2163470" cy="1501140"/>
          </a:xfrm>
          <a:prstGeom prst="roundRect">
            <a:avLst>
              <a:gd name="adj" fmla="val 4873"/>
            </a:avLst>
          </a:prstGeom>
          <a:solidFill>
            <a:srgbClr val="FFFFFF"/>
          </a:solidFill>
          <a:ln w="6350">
            <a:solidFill>
              <a:srgbClr val="D9DEE7"/>
            </a:solidFill>
            <a:prstDash val="solid"/>
          </a:ln>
        </p:spPr>
      </p:sp>
      <p:sp>
        <p:nvSpPr>
          <p:cNvPr id="27" name="Shape 23"/>
          <p:cNvSpPr/>
          <p:nvPr/>
        </p:nvSpPr>
        <p:spPr>
          <a:xfrm>
            <a:off x="4445813" y="4149852"/>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داشبورد</a:t>
            </a:r>
            <a:endParaRPr lang="en-US" sz="1300" dirty="0"/>
          </a:p>
        </p:txBody>
      </p:sp>
      <p:sp>
        <p:nvSpPr>
          <p:cNvPr id="30" name="Text 26"/>
          <p:cNvSpPr txBox="1"/>
          <p:nvPr/>
        </p:nvSpPr>
        <p:spPr>
          <a:xfrm>
            <a:off x="2821838"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چهار نسبت اول به‌عنوان شاخص، و کاشی وضعیت بستن هر زیرواحد با درصد پیشرفت.</a:t>
            </a:r>
            <a:endParaRPr lang="en-US" sz="1150" dirty="0"/>
          </a:p>
        </p:txBody>
      </p:sp>
      <p:sp>
        <p:nvSpPr>
          <p:cNvPr id="31" name="Shape 27"/>
          <p:cNvSpPr/>
          <p:nvPr/>
        </p:nvSpPr>
        <p:spPr>
          <a:xfrm>
            <a:off x="411480" y="4058412"/>
            <a:ext cx="2163470" cy="1501140"/>
          </a:xfrm>
          <a:prstGeom prst="roundRect">
            <a:avLst>
              <a:gd name="adj" fmla="val 4873"/>
            </a:avLst>
          </a:prstGeom>
          <a:solidFill>
            <a:srgbClr val="FFFFFF"/>
          </a:solidFill>
          <a:ln w="6350">
            <a:solidFill>
              <a:srgbClr val="D9DEE7"/>
            </a:solidFill>
            <a:prstDash val="solid"/>
          </a:ln>
        </p:spPr>
      </p:sp>
      <p:sp>
        <p:nvSpPr>
          <p:cNvPr id="32" name="Shape 28"/>
          <p:cNvSpPr/>
          <p:nvPr/>
        </p:nvSpPr>
        <p:spPr>
          <a:xfrm>
            <a:off x="2145182" y="4149852"/>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کارهای من</a:t>
            </a:r>
            <a:endParaRPr lang="en-US" sz="1300" dirty="0"/>
          </a:p>
        </p:txBody>
      </p:sp>
      <p:sp>
        <p:nvSpPr>
          <p:cNvPr id="35" name="Text 31"/>
          <p:cNvSpPr txBox="1"/>
          <p:nvPr/>
        </p:nvSpPr>
        <p:spPr>
          <a:xfrm>
            <a:off x="521208"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تأیید و انتشار، کنترل‌های ارجاع‌شده، بازبینی یادداشت و درخواست بازگشایی.</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4754880" y="5696712"/>
            <a:ext cx="615391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صورت و مخرج نسبت با همان زبان فرمول قالب نوشته می‌شود؛ مثلاً جمع مصارف:</a:t>
            </a:r>
            <a:endParaRPr lang="en-US" sz="1300" dirty="0"/>
          </a:p>
        </p:txBody>
      </p:sp>
      <p:sp>
        <p:nvSpPr>
          <p:cNvPr id="39" name="Text 35"/>
          <p:cNvSpPr/>
          <p:nvPr/>
        </p:nvSpPr>
        <p:spPr>
          <a:xfrm>
            <a:off x="566928" y="5833872"/>
            <a:ext cx="4114800" cy="384048"/>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STMT(PENSION.CHANGES_IN_NET_ASSETS, C99)</a:t>
            </a:r>
            <a:endParaRPr lang="en-US" sz="1100" dirty="0"/>
          </a:p>
        </p:txBody>
      </p:sp>
      <p:sp>
        <p:nvSpPr>
          <p:cNvPr id="40" name="Text 3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۱۵ — کاربرگ ترکیب و حذف فی‌مابین</a:t>
            </a:r>
            <a:endParaRPr lang="en-US" sz="2600" dirty="0"/>
          </a:p>
        </p:txBody>
      </p:sp>
      <p:sp>
        <p:nvSpPr>
          <p:cNvPr id="3" name="Shape 1"/>
          <p:cNvSpPr/>
          <p:nvPr/>
        </p:nvSpPr>
        <p:spPr>
          <a:xfrm>
            <a:off x="7031736" y="896112"/>
            <a:ext cx="47457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 ← حذف فی‌مابین</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زبانهٔ «کاربرگ ترکیب / تلفیق» در صفحهٔ اجرا</a:t>
            </a:r>
            <a:endParaRPr lang="en-US" sz="1200" dirty="0"/>
          </a:p>
        </p:txBody>
      </p:sp>
      <p:sp>
        <p:nvSpPr>
          <p:cNvPr id="6" name="Shape 4"/>
          <p:cNvSpPr/>
          <p:nvPr/>
        </p:nvSpPr>
        <p:spPr>
          <a:xfrm>
            <a:off x="6208776" y="1618488"/>
            <a:ext cx="5568696" cy="2201357"/>
          </a:xfrm>
          <a:prstGeom prst="roundRect">
            <a:avLst>
              <a:gd name="adj" fmla="val 332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2s">    </p:cNvPr>
          <p:cNvPicPr>
            <a:picLocks noChangeAspect="1"/>
          </p:cNvPicPr>
          <p:nvPr/>
        </p:nvPicPr>
        <p:blipFill>
          <a:blip r:embed="rId1"/>
          <a:stretch>
            <a:fillRect/>
          </a:stretch>
        </p:blipFill>
        <p:spPr>
          <a:xfrm>
            <a:off x="6254496" y="1681531"/>
            <a:ext cx="5477256" cy="2075271"/>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قواعد حذف فی‌مابین</a:t>
            </a:r>
            <a:endParaRPr lang="en-US" sz="1200" dirty="0"/>
          </a:p>
        </p:txBody>
      </p:sp>
      <p:sp>
        <p:nvSpPr>
          <p:cNvPr id="9" name="Shape 6"/>
          <p:cNvSpPr/>
          <p:nvPr/>
        </p:nvSpPr>
        <p:spPr>
          <a:xfrm>
            <a:off x="411480" y="1618488"/>
            <a:ext cx="5568696" cy="2201357"/>
          </a:xfrm>
          <a:prstGeom prst="roundRect">
            <a:avLst>
              <a:gd name="adj" fmla="val 332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10s">    </p:cNvPr>
          <p:cNvPicPr>
            <a:picLocks noChangeAspect="1"/>
          </p:cNvPicPr>
          <p:nvPr/>
        </p:nvPicPr>
        <p:blipFill>
          <a:blip r:embed="rId2"/>
          <a:stretch>
            <a:fillRect/>
          </a:stretch>
        </p:blipFill>
        <p:spPr>
          <a:xfrm>
            <a:off x="457200" y="1806291"/>
            <a:ext cx="5477256" cy="1825752"/>
          </a:xfrm>
          <a:prstGeom prst="rect">
            <a:avLst/>
          </a:prstGeom>
        </p:spPr>
      </p:pic>
      <p:sp>
        <p:nvSpPr>
          <p:cNvPr id="11" name="Shape 7"/>
          <p:cNvSpPr/>
          <p:nvPr/>
        </p:nvSpPr>
        <p:spPr>
          <a:xfrm>
            <a:off x="9038844" y="4002725"/>
            <a:ext cx="2738628" cy="1556827"/>
          </a:xfrm>
          <a:prstGeom prst="roundRect">
            <a:avLst>
              <a:gd name="adj" fmla="val 4699"/>
            </a:avLst>
          </a:prstGeom>
          <a:solidFill>
            <a:srgbClr val="FFFFFF"/>
          </a:solidFill>
          <a:ln w="6350">
            <a:solidFill>
              <a:srgbClr val="D9DEE7"/>
            </a:solidFill>
            <a:prstDash val="solid"/>
          </a:ln>
        </p:spPr>
      </p:sp>
      <p:sp>
        <p:nvSpPr>
          <p:cNvPr id="12" name="Shape 8"/>
          <p:cNvSpPr/>
          <p:nvPr/>
        </p:nvSpPr>
        <p:spPr>
          <a:xfrm>
            <a:off x="11347704" y="4094165"/>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09416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130284" y="407587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کاربرگ</a:t>
            </a:r>
            <a:endParaRPr lang="en-US" sz="1300" dirty="0"/>
          </a:p>
        </p:txBody>
      </p:sp>
      <p:sp>
        <p:nvSpPr>
          <p:cNvPr id="15" name="Text 11"/>
          <p:cNvSpPr txBox="1"/>
          <p:nvPr/>
        </p:nvSpPr>
        <p:spPr>
          <a:xfrm>
            <a:off x="9148572" y="4478213"/>
            <a:ext cx="2519172" cy="1026475"/>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در صورت ترکیبی، ستون هر واحد، ستون حذفیات و جمع صورت کنار هم دیده می‌شود.</a:t>
            </a:r>
            <a:endParaRPr lang="en-US" sz="1200" dirty="0"/>
          </a:p>
        </p:txBody>
      </p:sp>
      <p:sp>
        <p:nvSpPr>
          <p:cNvPr id="16" name="Shape 12"/>
          <p:cNvSpPr/>
          <p:nvPr/>
        </p:nvSpPr>
        <p:spPr>
          <a:xfrm>
            <a:off x="6163056" y="4002725"/>
            <a:ext cx="2738628" cy="1556827"/>
          </a:xfrm>
          <a:prstGeom prst="roundRect">
            <a:avLst>
              <a:gd name="adj" fmla="val 4699"/>
            </a:avLst>
          </a:prstGeom>
          <a:solidFill>
            <a:srgbClr val="FFFFFF"/>
          </a:solidFill>
          <a:ln w="6350">
            <a:solidFill>
              <a:srgbClr val="D9DEE7"/>
            </a:solidFill>
            <a:prstDash val="solid"/>
          </a:ln>
        </p:spPr>
      </p:sp>
      <p:sp>
        <p:nvSpPr>
          <p:cNvPr id="17" name="Shape 13"/>
          <p:cNvSpPr/>
          <p:nvPr/>
        </p:nvSpPr>
        <p:spPr>
          <a:xfrm>
            <a:off x="8471916" y="4094165"/>
            <a:ext cx="329184" cy="329184"/>
          </a:xfrm>
          <a:prstGeom prst="ellipse">
            <a:avLst/>
          </a:prstGeom>
          <a:solidFill>
            <a:srgbClr val="C9A227"/>
          </a:solidFill>
          <a:ln w="12700">
            <a:solidFill>
              <a:srgbClr val="C9A227"/>
            </a:solidFill>
            <a:prstDash val="solid"/>
          </a:ln>
        </p:spPr>
      </p:sp>
      <p:sp>
        <p:nvSpPr>
          <p:cNvPr id="18" name="Text 14"/>
          <p:cNvSpPr txBox="1"/>
          <p:nvPr/>
        </p:nvSpPr>
        <p:spPr>
          <a:xfrm>
            <a:off x="8471916" y="409416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6254496" y="407587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قاعدهٔ حذف</a:t>
            </a:r>
            <a:endParaRPr lang="en-US" sz="1300" dirty="0"/>
          </a:p>
        </p:txBody>
      </p:sp>
      <p:sp>
        <p:nvSpPr>
          <p:cNvPr id="20" name="Text 16"/>
          <p:cNvSpPr txBox="1"/>
          <p:nvPr/>
        </p:nvSpPr>
        <p:spPr>
          <a:xfrm>
            <a:off x="6272784" y="4478213"/>
            <a:ext cx="2519172" cy="1026475"/>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کد، عنوان، حساب‌های «سوی اول» و «سوی دوم» (مثل حساب جاری ستاد ↔ ادارات کل) و آستانهٔ اختلاف.</a:t>
            </a:r>
            <a:endParaRPr lang="en-US" sz="1200" dirty="0"/>
          </a:p>
        </p:txBody>
      </p:sp>
      <p:sp>
        <p:nvSpPr>
          <p:cNvPr id="21" name="Shape 17"/>
          <p:cNvSpPr/>
          <p:nvPr/>
        </p:nvSpPr>
        <p:spPr>
          <a:xfrm>
            <a:off x="3287268" y="4002725"/>
            <a:ext cx="2738628" cy="1556827"/>
          </a:xfrm>
          <a:prstGeom prst="roundRect">
            <a:avLst>
              <a:gd name="adj" fmla="val 4699"/>
            </a:avLst>
          </a:prstGeom>
          <a:solidFill>
            <a:srgbClr val="FFFFFF"/>
          </a:solidFill>
          <a:ln w="6350">
            <a:solidFill>
              <a:srgbClr val="D9DEE7"/>
            </a:solidFill>
            <a:prstDash val="solid"/>
          </a:ln>
        </p:spPr>
      </p:sp>
      <p:sp>
        <p:nvSpPr>
          <p:cNvPr id="22" name="Shape 18"/>
          <p:cNvSpPr/>
          <p:nvPr/>
        </p:nvSpPr>
        <p:spPr>
          <a:xfrm>
            <a:off x="5596128" y="4094165"/>
            <a:ext cx="329184" cy="329184"/>
          </a:xfrm>
          <a:prstGeom prst="ellipse">
            <a:avLst/>
          </a:prstGeom>
          <a:solidFill>
            <a:srgbClr val="C9A227"/>
          </a:solidFill>
          <a:ln w="12700">
            <a:solidFill>
              <a:srgbClr val="C9A227"/>
            </a:solidFill>
            <a:prstDash val="solid"/>
          </a:ln>
        </p:spPr>
      </p:sp>
      <p:sp>
        <p:nvSpPr>
          <p:cNvPr id="23" name="Text 19"/>
          <p:cNvSpPr txBox="1"/>
          <p:nvPr/>
        </p:nvSpPr>
        <p:spPr>
          <a:xfrm>
            <a:off x="5596128" y="409416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3378708" y="407587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نتیجه</a:t>
            </a:r>
            <a:endParaRPr lang="en-US" sz="1300" dirty="0"/>
          </a:p>
        </p:txBody>
      </p:sp>
      <p:sp>
        <p:nvSpPr>
          <p:cNvPr id="25" name="Text 21"/>
          <p:cNvSpPr txBox="1"/>
          <p:nvPr/>
        </p:nvSpPr>
        <p:spPr>
          <a:xfrm>
            <a:off x="3396996" y="4478213"/>
            <a:ext cx="2519172" cy="1026475"/>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جدول «حذف فی‌مابین» بالای کاربرگ: تطبیق کامل (سبز) یا عدم تطبیق با مبلغ اختلاف.</a:t>
            </a:r>
            <a:endParaRPr lang="en-US" sz="1200" dirty="0"/>
          </a:p>
        </p:txBody>
      </p:sp>
      <p:sp>
        <p:nvSpPr>
          <p:cNvPr id="26" name="Shape 22"/>
          <p:cNvSpPr/>
          <p:nvPr/>
        </p:nvSpPr>
        <p:spPr>
          <a:xfrm>
            <a:off x="411480" y="4002725"/>
            <a:ext cx="2738628" cy="1556827"/>
          </a:xfrm>
          <a:prstGeom prst="roundRect">
            <a:avLst>
              <a:gd name="adj" fmla="val 4699"/>
            </a:avLst>
          </a:prstGeom>
          <a:solidFill>
            <a:srgbClr val="FFFFFF"/>
          </a:solidFill>
          <a:ln w="6350">
            <a:solidFill>
              <a:srgbClr val="D9DEE7"/>
            </a:solidFill>
            <a:prstDash val="solid"/>
          </a:ln>
        </p:spPr>
      </p:sp>
      <p:sp>
        <p:nvSpPr>
          <p:cNvPr id="27" name="Shape 23"/>
          <p:cNvSpPr/>
          <p:nvPr/>
        </p:nvSpPr>
        <p:spPr>
          <a:xfrm>
            <a:off x="2720340" y="4094165"/>
            <a:ext cx="329184" cy="329184"/>
          </a:xfrm>
          <a:prstGeom prst="ellipse">
            <a:avLst/>
          </a:prstGeom>
          <a:solidFill>
            <a:srgbClr val="C9A227"/>
          </a:solidFill>
          <a:ln w="12700">
            <a:solidFill>
              <a:srgbClr val="C9A227"/>
            </a:solidFill>
            <a:prstDash val="solid"/>
          </a:ln>
        </p:spPr>
      </p:sp>
      <p:sp>
        <p:nvSpPr>
          <p:cNvPr id="28" name="Text 24"/>
          <p:cNvSpPr txBox="1"/>
          <p:nvPr/>
        </p:nvSpPr>
        <p:spPr>
          <a:xfrm>
            <a:off x="2720340" y="409416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502920" y="407587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30" name="Text 26"/>
          <p:cNvSpPr txBox="1"/>
          <p:nvPr/>
        </p:nvSpPr>
        <p:spPr>
          <a:xfrm>
            <a:off x="521208" y="4478213"/>
            <a:ext cx="2519172" cy="1026475"/>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اختلاف را با سند اصلاحی در واحد مربوط رفع و صورت را دوباره تهیه کنید.</a:t>
            </a:r>
            <a:endParaRPr lang="en-US" sz="120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3" name="Text 29"/>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اگر جمع دو سوی یک قاعده از آستانه بیشتر شود، کنترل V-07 مسدودکننده است و اجرا قابل ارسال نیست.</a:t>
            </a:r>
            <a:endParaRPr lang="en-US" sz="1300" dirty="0"/>
          </a:p>
        </p:txBody>
      </p:sp>
      <p:sp>
        <p:nvSpPr>
          <p:cNvPr id="34" name="Text 3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۱۶ — شرکت‌های تابعه، جریان نقد و XBRL</a:t>
            </a:r>
            <a:endParaRPr lang="en-US" sz="2600" dirty="0"/>
          </a:p>
        </p:txBody>
      </p:sp>
      <p:sp>
        <p:nvSpPr>
          <p:cNvPr id="3" name="Shape 1"/>
          <p:cNvSpPr/>
          <p:nvPr/>
        </p:nvSpPr>
        <p:spPr>
          <a:xfrm>
            <a:off x="8197596" y="896112"/>
            <a:ext cx="357987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شرکت‌های تابعه</a:t>
            </a:r>
            <a:endParaRPr lang="en-US" sz="1200" dirty="0"/>
          </a:p>
        </p:txBody>
      </p:sp>
      <p:sp>
        <p:nvSpPr>
          <p:cNvPr id="6" name="Shape 4"/>
          <p:cNvSpPr/>
          <p:nvPr/>
        </p:nvSpPr>
        <p:spPr>
          <a:xfrm>
            <a:off x="6208776"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1s">    </p:cNvPr>
          <p:cNvPicPr>
            <a:picLocks noChangeAspect="1"/>
          </p:cNvPicPr>
          <p:nvPr/>
        </p:nvPicPr>
        <p:blipFill>
          <a:blip r:embed="rId1"/>
          <a:stretch>
            <a:fillRect/>
          </a:stretch>
        </p:blipFill>
        <p:spPr>
          <a:xfrm>
            <a:off x="6254496" y="1758315"/>
            <a:ext cx="5477256" cy="2008327"/>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تنظیمات مجموعه</a:t>
            </a:r>
            <a:endParaRPr lang="en-US" sz="1200" dirty="0"/>
          </a:p>
        </p:txBody>
      </p:sp>
      <p:sp>
        <p:nvSpPr>
          <p:cNvPr id="9" name="Shape 6"/>
          <p:cNvSpPr/>
          <p:nvPr/>
        </p:nvSpPr>
        <p:spPr>
          <a:xfrm>
            <a:off x="411480"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9s">    </p:cNvPr>
          <p:cNvPicPr>
            <a:picLocks noChangeAspect="1"/>
          </p:cNvPicPr>
          <p:nvPr/>
        </p:nvPicPr>
        <p:blipFill>
          <a:blip r:embed="rId2"/>
          <a:stretch>
            <a:fillRect/>
          </a:stretch>
        </p:blipFill>
        <p:spPr>
          <a:xfrm>
            <a:off x="457200" y="1682242"/>
            <a:ext cx="5477256" cy="2160473"/>
          </a:xfrm>
          <a:prstGeom prst="rect">
            <a:avLst/>
          </a:prstGeom>
        </p:spPr>
      </p:pic>
      <p:sp>
        <p:nvSpPr>
          <p:cNvPr id="11" name="Shape 7"/>
          <p:cNvSpPr/>
          <p:nvPr/>
        </p:nvSpPr>
        <p:spPr>
          <a:xfrm>
            <a:off x="9614002" y="4089349"/>
            <a:ext cx="2163470" cy="2265731"/>
          </a:xfrm>
          <a:prstGeom prst="roundRect">
            <a:avLst>
              <a:gd name="adj" fmla="val 3381"/>
            </a:avLst>
          </a:prstGeom>
          <a:solidFill>
            <a:srgbClr val="FFFFFF"/>
          </a:solidFill>
          <a:ln w="6350">
            <a:solidFill>
              <a:srgbClr val="D9DEE7"/>
            </a:solidFill>
            <a:prstDash val="solid"/>
          </a:ln>
        </p:spPr>
      </p:sp>
      <p:sp>
        <p:nvSpPr>
          <p:cNvPr id="12" name="Shape 8"/>
          <p:cNvSpPr/>
          <p:nvPr/>
        </p:nvSpPr>
        <p:spPr>
          <a:xfrm>
            <a:off x="11347704" y="4180789"/>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شرکت تابعه</a:t>
            </a:r>
            <a:endParaRPr lang="en-US" sz="1300" dirty="0"/>
          </a:p>
        </p:txBody>
      </p:sp>
      <p:sp>
        <p:nvSpPr>
          <p:cNvPr id="15" name="Text 11"/>
          <p:cNvSpPr txBox="1"/>
          <p:nvPr/>
        </p:nvSpPr>
        <p:spPr>
          <a:xfrm>
            <a:off x="9723730"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کد، نام، ارز و درصد مالکیت؛ تراز آزمایشی هر دوره را از Excel وارد کنید.</a:t>
            </a:r>
            <a:endParaRPr lang="en-US" sz="1150" dirty="0"/>
          </a:p>
        </p:txBody>
      </p:sp>
      <p:sp>
        <p:nvSpPr>
          <p:cNvPr id="16" name="Shape 12"/>
          <p:cNvSpPr/>
          <p:nvPr/>
        </p:nvSpPr>
        <p:spPr>
          <a:xfrm>
            <a:off x="7313371" y="4089349"/>
            <a:ext cx="2163470" cy="2265731"/>
          </a:xfrm>
          <a:prstGeom prst="roundRect">
            <a:avLst>
              <a:gd name="adj" fmla="val 3381"/>
            </a:avLst>
          </a:prstGeom>
          <a:solidFill>
            <a:srgbClr val="FFFFFF"/>
          </a:solidFill>
          <a:ln w="6350">
            <a:solidFill>
              <a:srgbClr val="D9DEE7"/>
            </a:solidFill>
            <a:prstDash val="solid"/>
          </a:ln>
        </p:spPr>
      </p:sp>
      <p:sp>
        <p:nvSpPr>
          <p:cNvPr id="17" name="Shape 13"/>
          <p:cNvSpPr/>
          <p:nvPr/>
        </p:nvSpPr>
        <p:spPr>
          <a:xfrm>
            <a:off x="9047074" y="4180789"/>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تسعیر و NCI</a:t>
            </a:r>
            <a:endParaRPr lang="en-US" sz="1300" dirty="0"/>
          </a:p>
        </p:txBody>
      </p:sp>
      <p:sp>
        <p:nvSpPr>
          <p:cNvPr id="20" name="Text 16"/>
          <p:cNvSpPr txBox="1"/>
          <p:nvPr/>
        </p:nvSpPr>
        <p:spPr>
          <a:xfrm>
            <a:off x="7423099"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مبالغ با نرخ‌های تسعیر به ریال برمی‌گردد؛ سهم غیرکنترلی و اختلاف تسعیر در حساب‌های جدا می‌نشیند.</a:t>
            </a:r>
            <a:endParaRPr lang="en-US" sz="1150" dirty="0"/>
          </a:p>
        </p:txBody>
      </p:sp>
      <p:sp>
        <p:nvSpPr>
          <p:cNvPr id="21" name="Shape 17"/>
          <p:cNvSpPr/>
          <p:nvPr/>
        </p:nvSpPr>
        <p:spPr>
          <a:xfrm>
            <a:off x="5012741" y="4089349"/>
            <a:ext cx="2163470" cy="2265731"/>
          </a:xfrm>
          <a:prstGeom prst="roundRect">
            <a:avLst>
              <a:gd name="adj" fmla="val 3381"/>
            </a:avLst>
          </a:prstGeom>
          <a:solidFill>
            <a:srgbClr val="FFFFFF"/>
          </a:solidFill>
          <a:ln w="6350">
            <a:solidFill>
              <a:srgbClr val="D9DEE7"/>
            </a:solidFill>
            <a:prstDash val="solid"/>
          </a:ln>
        </p:spPr>
      </p:sp>
      <p:sp>
        <p:nvSpPr>
          <p:cNvPr id="22" name="Shape 18"/>
          <p:cNvSpPr/>
          <p:nvPr/>
        </p:nvSpPr>
        <p:spPr>
          <a:xfrm>
            <a:off x="6746443" y="4180789"/>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جریان نقد</a:t>
            </a:r>
            <a:endParaRPr lang="en-US" sz="1300" dirty="0"/>
          </a:p>
        </p:txBody>
      </p:sp>
      <p:sp>
        <p:nvSpPr>
          <p:cNvPr id="25" name="Text 21"/>
          <p:cNvSpPr txBox="1"/>
          <p:nvPr/>
        </p:nvSpPr>
        <p:spPr>
          <a:xfrm>
            <a:off x="5122469"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«حساب‌های نقد (انتخاب‌گر)» را تعیین کنید؛ ردیف‌های صورت جریان نقد از طرف مقابل اسناد نقدی پر می‌شوند.</a:t>
            </a:r>
            <a:endParaRPr lang="en-US" sz="1150" dirty="0"/>
          </a:p>
        </p:txBody>
      </p:sp>
      <p:sp>
        <p:nvSpPr>
          <p:cNvPr id="26" name="Shape 22"/>
          <p:cNvSpPr/>
          <p:nvPr/>
        </p:nvSpPr>
        <p:spPr>
          <a:xfrm>
            <a:off x="2712110" y="4089349"/>
            <a:ext cx="2163470" cy="2265731"/>
          </a:xfrm>
          <a:prstGeom prst="roundRect">
            <a:avLst>
              <a:gd name="adj" fmla="val 3381"/>
            </a:avLst>
          </a:prstGeom>
          <a:solidFill>
            <a:srgbClr val="FFFFFF"/>
          </a:solidFill>
          <a:ln w="6350">
            <a:solidFill>
              <a:srgbClr val="D9DEE7"/>
            </a:solidFill>
            <a:prstDash val="solid"/>
          </a:ln>
        </p:spPr>
      </p:sp>
      <p:sp>
        <p:nvSpPr>
          <p:cNvPr id="27" name="Shape 23"/>
          <p:cNvSpPr/>
          <p:nvPr/>
        </p:nvSpPr>
        <p:spPr>
          <a:xfrm>
            <a:off x="4445813" y="4180789"/>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تعدیلات سنواتی</a:t>
            </a:r>
            <a:endParaRPr lang="en-US" sz="1300" dirty="0"/>
          </a:p>
        </p:txBody>
      </p:sp>
      <p:sp>
        <p:nvSpPr>
          <p:cNvPr id="30" name="Text 26"/>
          <p:cNvSpPr txBox="1"/>
          <p:nvPr/>
        </p:nvSpPr>
        <p:spPr>
          <a:xfrm>
            <a:off x="2821838"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«حساب تعدیلات سنواتی» برای ستون سال قبلِ تجدید ارائه‌شده به کار می‌رود.</a:t>
            </a:r>
            <a:endParaRPr lang="en-US" sz="1150" dirty="0"/>
          </a:p>
        </p:txBody>
      </p:sp>
      <p:sp>
        <p:nvSpPr>
          <p:cNvPr id="31" name="Shape 27"/>
          <p:cNvSpPr/>
          <p:nvPr/>
        </p:nvSpPr>
        <p:spPr>
          <a:xfrm>
            <a:off x="411480" y="4089349"/>
            <a:ext cx="2163470" cy="2265731"/>
          </a:xfrm>
          <a:prstGeom prst="roundRect">
            <a:avLst>
              <a:gd name="adj" fmla="val 3381"/>
            </a:avLst>
          </a:prstGeom>
          <a:solidFill>
            <a:srgbClr val="FFFFFF"/>
          </a:solidFill>
          <a:ln w="6350">
            <a:solidFill>
              <a:srgbClr val="D9DEE7"/>
            </a:solidFill>
            <a:prstDash val="solid"/>
          </a:ln>
        </p:spPr>
      </p:sp>
      <p:sp>
        <p:nvSpPr>
          <p:cNvPr id="32" name="Shape 28"/>
          <p:cNvSpPr/>
          <p:nvPr/>
        </p:nvSpPr>
        <p:spPr>
          <a:xfrm>
            <a:off x="2145182" y="4180789"/>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XBRL</a:t>
            </a:r>
            <a:endParaRPr lang="en-US" sz="1300" dirty="0"/>
          </a:p>
        </p:txBody>
      </p:sp>
      <p:sp>
        <p:nvSpPr>
          <p:cNvPr id="35" name="Text 31"/>
          <p:cNvSpPr txBox="1"/>
          <p:nvPr/>
        </p:nvSpPr>
        <p:spPr>
          <a:xfrm>
            <a:off x="521208"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آدرس طبقه‌بندی، فضای نام و طرح شناسهٔ واحد را تنظیم و در «نگاشت XBRL» ردیف‌ها را به عناصر وصل کنید؛ خروجی از دکمهٔ XBRL صفحهٔ اجرا.</a:t>
            </a:r>
            <a:endParaRPr lang="en-US" sz="1150" dirty="0"/>
          </a:p>
        </p:txBody>
      </p:sp>
      <p:sp>
        <p:nvSpPr>
          <p:cNvPr id="36" name="Text 3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پیام‌های رایج و راه‌حل</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a:tblGrid>
                <a:gridCol w="4572000"/>
                <a:gridCol w="6793992"/>
              </a:tblGrid>
              <a:tr h="429768">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پیام</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چه باید کرد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شما تنخواه‌دار این تنخواه نیستید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فقط تنخواه‌دار تعریف‌شده در «تعریف تنخواه» صورت‌هزینه ثبت می‌کند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نمی‌توانید سند خودتان را بررسی کنید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تفکیک وظایف؛ بررسی، تأیید و اجرا باید با کاربر دیگری انجام شود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هنوز کنترل بازرس انجام نشده</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پیش از تأیید نهایی، بازرس مالی «تأیید کنترل» را ثبت کند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خارج از سقف اختیار شما</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مبلغ از سقف اختیار مدیر مالی بیشتر است؛ مدیرعامل تأیید کند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تنظیمات خزانه تعریف نشده / حساب … تعریف نشده</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مدیر مالی «تنظیمات خزانه» را کامل و ذخیره کند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موجودی مبدأ کافی نیست / سقف روزانهٔ انتقال</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مبلغ انتقال را اصلاح یا سقف را در تنظیمات بازبینی کنید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کنترل مسدودکنندهٔ ناموفق — ارسال ممکن نیست</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زبانهٔ «کنترل‌ها»: نگاشت حساب‌ها یا مقادیر دستی را اصلاح و دوباره تهیه کنید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اجرای آزمایشی قابل ارسال نیست</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قالب‌های پیش‌نویس را فعال کنید و بدون گزینهٔ «پیش‌نویس‌ها» تهیه کنید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انتشار ممکن نیست — دوره قفل نشده (V-11)</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در «بستن دوره» دورهٔ همهٔ واحدهای دامنه را قفل کنید، سپس منتشر کنید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برای این عملیات دسترسی ندارید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مدیر دسترسی در «دسترسی صورت‌های مالی» عملیات لازم را برای واحد و مجموعه بدهد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2976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شما مرحلهٔ قبلی را تأیید کرده‌اید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هر مرحلهٔ تأیید باید با کاربر دیگری انجام شود</a:t>
                      </a:r>
                      <a:endParaRPr lang="en-US" sz="120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پیوست</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B2A49"/>
        </a:solidFill>
      </p:bgPr>
    </p:bg>
    <p:spTree>
      <p:nvGrpSpPr>
        <p:cNvPr id="1" name=""/>
        <p:cNvGrpSpPr/>
        <p:nvPr/>
      </p:nvGrpSpPr>
      <p:grpSpPr>
        <a:xfrm>
          <a:off x="0" y="0"/>
          <a:ext cx="0" cy="0"/>
          <a:chOff x="0" y="0"/>
          <a:chExt cx="0" cy="0"/>
        </a:xfrm>
      </p:grpSpPr>
      <p:sp>
        <p:nvSpPr>
          <p:cNvPr id="2" name="Shape 0"/>
          <p:cNvSpPr/>
          <p:nvPr/>
        </p:nvSpPr>
        <p:spPr>
          <a:xfrm>
            <a:off x="9326880" y="-1371600"/>
            <a:ext cx="4572000" cy="4572000"/>
          </a:xfrm>
          <a:prstGeom prst="ellipse">
            <a:avLst/>
          </a:prstGeom>
          <a:solidFill>
            <a:srgbClr val="25385F"/>
          </a:solidFill>
          <a:ln w="12700">
            <a:solidFill>
              <a:srgbClr val="25385F"/>
            </a:solidFill>
            <a:prstDash val="solid"/>
          </a:ln>
        </p:spPr>
      </p:sp>
      <p:sp>
        <p:nvSpPr>
          <p:cNvPr id="3" name="Text 1"/>
          <p:cNvSpPr txBox="1"/>
          <p:nvPr/>
        </p:nvSpPr>
        <p:spPr>
          <a:xfrm>
            <a:off x="731520" y="914400"/>
            <a:ext cx="10698480" cy="73152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جمع‌بندی</a:t>
            </a:r>
            <a:endParaRPr lang="en-US" sz="3600" dirty="0"/>
          </a:p>
        </p:txBody>
      </p:sp>
      <p:sp>
        <p:nvSpPr>
          <p:cNvPr id="4" name="Shape 2"/>
          <p:cNvSpPr/>
          <p:nvPr/>
        </p:nvSpPr>
        <p:spPr>
          <a:xfrm>
            <a:off x="10881360" y="2011680"/>
            <a:ext cx="502920" cy="502920"/>
          </a:xfrm>
          <a:prstGeom prst="ellipse">
            <a:avLst/>
          </a:prstGeom>
          <a:solidFill>
            <a:srgbClr val="C9A227"/>
          </a:solidFill>
          <a:ln w="12700">
            <a:solidFill>
              <a:srgbClr val="C9A227"/>
            </a:solidFill>
            <a:prstDash val="solid"/>
          </a:ln>
        </p:spPr>
      </p:sp>
      <p:sp>
        <p:nvSpPr>
          <p:cNvPr id="5" name="Text 3"/>
          <p:cNvSpPr txBox="1"/>
          <p:nvPr/>
        </p:nvSpPr>
        <p:spPr>
          <a:xfrm>
            <a:off x="10881360" y="201168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6858000" y="201168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تنخواه</a:t>
            </a:r>
            <a:endParaRPr lang="en-US" sz="2000" dirty="0"/>
          </a:p>
        </p:txBody>
      </p:sp>
      <p:sp>
        <p:nvSpPr>
          <p:cNvPr id="7" name="Text 5"/>
          <p:cNvSpPr txBox="1"/>
          <p:nvPr/>
        </p:nvSpPr>
        <p:spPr>
          <a:xfrm>
            <a:off x="731520" y="246888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تعریف ← ثبت صورت‌هزینه ← کنترل و تأیید ← ترمیم ← تسویه و سند</a:t>
            </a:r>
            <a:endParaRPr lang="en-US" sz="1500" dirty="0"/>
          </a:p>
        </p:txBody>
      </p:sp>
      <p:sp>
        <p:nvSpPr>
          <p:cNvPr id="8" name="Shape 6"/>
          <p:cNvSpPr/>
          <p:nvPr/>
        </p:nvSpPr>
        <p:spPr>
          <a:xfrm>
            <a:off x="10881360" y="3063240"/>
            <a:ext cx="502920" cy="502920"/>
          </a:xfrm>
          <a:prstGeom prst="ellipse">
            <a:avLst/>
          </a:prstGeom>
          <a:solidFill>
            <a:srgbClr val="C9A227"/>
          </a:solidFill>
          <a:ln w="12700">
            <a:solidFill>
              <a:srgbClr val="C9A227"/>
            </a:solidFill>
            <a:prstDash val="solid"/>
          </a:ln>
        </p:spPr>
      </p:sp>
      <p:sp>
        <p:nvSpPr>
          <p:cNvPr id="9" name="Text 7"/>
          <p:cNvSpPr txBox="1"/>
          <p:nvPr/>
        </p:nvSpPr>
        <p:spPr>
          <a:xfrm>
            <a:off x="10881360" y="306324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0" name="Text 8"/>
          <p:cNvSpPr txBox="1"/>
          <p:nvPr/>
        </p:nvSpPr>
        <p:spPr>
          <a:xfrm>
            <a:off x="6858000" y="306324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خزانه</a:t>
            </a:r>
            <a:endParaRPr lang="en-US" sz="2000" dirty="0"/>
          </a:p>
        </p:txBody>
      </p:sp>
      <p:sp>
        <p:nvSpPr>
          <p:cNvPr id="11" name="Text 9"/>
          <p:cNvSpPr txBox="1"/>
          <p:nvPr/>
        </p:nvSpPr>
        <p:spPr>
          <a:xfrm>
            <a:off x="731520" y="352044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درخواست ← تأیید چندمرحله‌ای ← اجرا؛ دریافت، انتقال و مغایرت بانکی</a:t>
            </a:r>
            <a:endParaRPr lang="en-US" sz="1500" dirty="0"/>
          </a:p>
        </p:txBody>
      </p:sp>
      <p:sp>
        <p:nvSpPr>
          <p:cNvPr id="12" name="Shape 10"/>
          <p:cNvSpPr/>
          <p:nvPr/>
        </p:nvSpPr>
        <p:spPr>
          <a:xfrm>
            <a:off x="10881360" y="4114800"/>
            <a:ext cx="502920" cy="502920"/>
          </a:xfrm>
          <a:prstGeom prst="ellipse">
            <a:avLst/>
          </a:prstGeom>
          <a:solidFill>
            <a:srgbClr val="C9A227"/>
          </a:solidFill>
          <a:ln w="12700">
            <a:solidFill>
              <a:srgbClr val="C9A227"/>
            </a:solidFill>
            <a:prstDash val="solid"/>
          </a:ln>
        </p:spPr>
      </p:sp>
      <p:sp>
        <p:nvSpPr>
          <p:cNvPr id="13" name="Text 11"/>
          <p:cNvSpPr txBox="1"/>
          <p:nvPr/>
        </p:nvSpPr>
        <p:spPr>
          <a:xfrm>
            <a:off x="10881360" y="411480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4" name="Text 12"/>
          <p:cNvSpPr txBox="1"/>
          <p:nvPr/>
        </p:nvSpPr>
        <p:spPr>
          <a:xfrm>
            <a:off x="6858000" y="411480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صورت‌های مالی</a:t>
            </a:r>
            <a:endParaRPr lang="en-US" sz="2000" dirty="0"/>
          </a:p>
        </p:txBody>
      </p:sp>
      <p:sp>
        <p:nvSpPr>
          <p:cNvPr id="15" name="Text 13"/>
          <p:cNvSpPr txBox="1"/>
          <p:nvPr/>
        </p:nvSpPr>
        <p:spPr>
          <a:xfrm>
            <a:off x="731520" y="457200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قالب و نگاشت ← تهیه ← کنترل و یادداشت‌ها ← تأیید ← بستن دوره و انتشار</a:t>
            </a:r>
            <a:endParaRPr lang="en-US" sz="1500" dirty="0"/>
          </a:p>
        </p:txBody>
      </p:sp>
      <p:sp>
        <p:nvSpPr>
          <p:cNvPr id="16" name="Text 14"/>
          <p:cNvSpPr txBox="1"/>
          <p:nvPr/>
        </p:nvSpPr>
        <p:spPr>
          <a:xfrm>
            <a:off x="731520" y="5577840"/>
            <a:ext cx="10698480" cy="457200"/>
          </a:xfrm>
          <a:prstGeom prst="rect">
            <a:avLst/>
          </a:prstGeom>
          <a:noFill/>
          <a:ln/>
        </p:spPr>
        <p:txBody>
          <a:bodyPr wrap="square" lIns="0" tIns="0" rIns="0" bIns="0" rtlCol="0" anchor="ctr"/>
          <a:lstStyle/>
          <a:p>
            <a:pPr rtl="1" algn="r" indent="0" marL="0">
              <a:buNone/>
            </a:pPr>
            <a:r>
              <a:rPr lang="en-US" sz="1500" dirty="0">
                <a:solidFill>
                  <a:srgbClr val="A9B4C8"/>
                </a:solidFill>
                <a:latin typeface="Tahoma" pitchFamily="34" charset="0"/>
                <a:ea typeface="Tahoma" pitchFamily="34" charset="-122"/>
                <a:cs typeface="Tahoma" pitchFamily="34" charset="-120"/>
              </a:rPr>
              <a:t>مرحلهٔ بعد: اطلاعات پایه، صدور سند و گزارش‌های حسابداری</a:t>
            </a:r>
            <a:endParaRPr lang="en-US" sz="15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61</a:t>
            </a:fld>
            <a:endParaRPr lang="en-US"/>
          </a:p>
        </p:txBody>
      </p:sp>
    </p:spTree>
  </p:cSld>
  <p:clrMapOvr>
    <a:masterClrMapping/>
  </p:clrMapOvr>
</p:sld>
</file>

<file path=ppt/theme/theme1.xml><?xml version="1.0" encoding="utf-8"?>
<a:theme xmlns:a="http://schemas.openxmlformats.org/drawingml/2006/main" name="AccountCore Guide">
  <a:themeElements>
    <a:clrScheme name="AccountCore Guide">
      <a:dk1>
        <a:srgbClr val="1F2937"/>
      </a:dk1>
      <a:lt1>
        <a:srgbClr val="FFFFFF"/>
      </a:lt1>
      <a:dk2>
        <a:srgbClr val="1B2A49"/>
      </a:dk2>
      <a:lt2>
        <a:srgbClr val="F4F6FA"/>
      </a:lt2>
      <a:accent1>
        <a:srgbClr val="C9A227"/>
      </a:accent1>
      <a:accent2>
        <a:srgbClr val="25385F"/>
      </a:accent2>
      <a:accent3>
        <a:srgbClr val="1E8E5A"/>
      </a:accent3>
      <a:accent4>
        <a:srgbClr val="C2410C"/>
      </a:accent4>
      <a:accent5>
        <a:srgbClr val="2563EB"/>
      </a:accent5>
      <a:accent6>
        <a:srgbClr val="7C3AED"/>
      </a:accent6>
      <a:hlink>
        <a:srgbClr val="2563EB"/>
      </a:hlink>
      <a:folHlink>
        <a:srgbClr val="7C3AED"/>
      </a:folHlink>
    </a:clrScheme>
    <a:fontScheme name="AccountCore Guid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راهنمای کاربری — تنخواه، دریافت و پرداخت، صورت‌های مالی</dc:title>
  <dc:subject>PptxGenJS Presentation</dc:subject>
  <dc:creator>Alireza Abouhossein</dc:creator>
  <cp:lastModifiedBy>Alireza Abouhossein</cp:lastModifiedBy>
  <cp:revision>1</cp:revision>
  <dcterms:created xsi:type="dcterms:W3CDTF">2026-10-05T05:18:14Z</dcterms:created>
  <dcterms:modified xsi:type="dcterms:W3CDTF">2026-10-05T05:18:14Z</dcterms:modified>
</cp:coreProperties>
</file>